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1" r:id="rId2"/>
    <p:sldId id="261" r:id="rId3"/>
    <p:sldId id="291" r:id="rId4"/>
    <p:sldId id="292" r:id="rId5"/>
    <p:sldId id="283" r:id="rId6"/>
    <p:sldId id="284" r:id="rId7"/>
    <p:sldId id="285" r:id="rId8"/>
    <p:sldId id="288" r:id="rId9"/>
    <p:sldId id="289" r:id="rId10"/>
    <p:sldId id="286" r:id="rId11"/>
    <p:sldId id="287" r:id="rId1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47BA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51" autoAdjust="0"/>
    <p:restoredTop sz="86384" autoAdjust="0"/>
  </p:normalViewPr>
  <p:slideViewPr>
    <p:cSldViewPr snapToGrid="0" showGuides="1">
      <p:cViewPr varScale="1">
        <p:scale>
          <a:sx n="127" d="100"/>
          <a:sy n="127" d="100"/>
        </p:scale>
        <p:origin x="656" y="19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2016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MI!$D$2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C5C-DA4F-9F1D-8A9447855207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EC5C-DA4F-9F1D-8A9447855207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EC5C-DA4F-9F1D-8A9447855207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EC5C-DA4F-9F1D-8A9447855207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EC5C-DA4F-9F1D-8A9447855207}"/>
                </c:ext>
              </c:extLst>
            </c:dLbl>
            <c:dLbl>
              <c:idx val="4"/>
              <c:layout>
                <c:manualLayout>
                  <c:x val="1.1738810541143761E-2"/>
                  <c:y val="-1.6443985892700186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EC5C-DA4F-9F1D-8A9447855207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MI!$D$3:$D$7</c:f>
              <c:numCache>
                <c:formatCode>General</c:formatCode>
                <c:ptCount val="5"/>
                <c:pt idx="0">
                  <c:v>1560</c:v>
                </c:pt>
                <c:pt idx="1">
                  <c:v>168</c:v>
                </c:pt>
                <c:pt idx="2">
                  <c:v>96</c:v>
                </c:pt>
                <c:pt idx="3">
                  <c:v>96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5C-DA4F-9F1D-8A9447855207}"/>
            </c:ext>
          </c:extLst>
        </c:ser>
        <c:ser>
          <c:idx val="1"/>
          <c:order val="1"/>
          <c:tx>
            <c:strRef>
              <c:f>MI!$I$2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EC5C-DA4F-9F1D-8A944785520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EC5C-DA4F-9F1D-8A944785520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EC5C-DA4F-9F1D-8A944785520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EC5C-DA4F-9F1D-8A944785520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EC5C-DA4F-9F1D-8A944785520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EC5C-DA4F-9F1D-8A944785520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MI!$I$3:$I$7</c:f>
              <c:numCache>
                <c:formatCode>General</c:formatCode>
                <c:ptCount val="5"/>
                <c:pt idx="0">
                  <c:v>0.77380952380952384</c:v>
                </c:pt>
                <c:pt idx="1">
                  <c:v>8.3333333333333329E-2</c:v>
                </c:pt>
                <c:pt idx="2">
                  <c:v>4.7619047619047616E-2</c:v>
                </c:pt>
                <c:pt idx="3">
                  <c:v>4.7619047619047616E-2</c:v>
                </c:pt>
                <c:pt idx="4">
                  <c:v>4.7619047619047616E-2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C5C-DA4F-9F1D-8A944785520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1100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SAN!$D$2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74-5A4B-8311-55090FFE2166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4374-5A4B-8311-55090FFE2166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4374-5A4B-8311-55090FFE2166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4374-5A4B-8311-55090FFE2166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4374-5A4B-8311-55090FFE2166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SAN!$D$3:$D$6</c:f>
              <c:numCache>
                <c:formatCode>General</c:formatCode>
                <c:ptCount val="4"/>
                <c:pt idx="0">
                  <c:v>72</c:v>
                </c:pt>
                <c:pt idx="1">
                  <c:v>276</c:v>
                </c:pt>
                <c:pt idx="2">
                  <c:v>656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74-5A4B-8311-55090FFE2166}"/>
            </c:ext>
          </c:extLst>
        </c:ser>
        <c:ser>
          <c:idx val="1"/>
          <c:order val="1"/>
          <c:tx>
            <c:strRef>
              <c:f>SAN!$I$2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4374-5A4B-8311-55090FFE216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4374-5A4B-8311-55090FFE216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4374-5A4B-8311-55090FFE216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4374-5A4B-8311-55090FFE216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4374-5A4B-8311-55090FFE216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SAN!$I$3:$I$6</c:f>
              <c:numCache>
                <c:formatCode>General</c:formatCode>
                <c:ptCount val="4"/>
                <c:pt idx="0">
                  <c:v>6.545454545454546E-2</c:v>
                </c:pt>
                <c:pt idx="1">
                  <c:v>0.25090909090909091</c:v>
                </c:pt>
                <c:pt idx="2">
                  <c:v>0.59636363636363632</c:v>
                </c:pt>
                <c:pt idx="3">
                  <c:v>8.727272727272728E-2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374-5A4B-8311-55090FFE216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2/24/20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2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8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50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05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chemeClr val="bg2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4210050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9" y="654528"/>
            <a:ext cx="2876309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4" y="1502876"/>
            <a:ext cx="8520709" cy="481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07174" y="669956"/>
            <a:ext cx="4217788" cy="564468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669956"/>
            <a:ext cx="3590925" cy="564468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05650" y="1868400"/>
            <a:ext cx="38025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7344" y="1868400"/>
            <a:ext cx="3808909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7173" y="771526"/>
            <a:ext cx="4581525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7173" y="771526"/>
            <a:ext cx="4581525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9" y="542926"/>
            <a:ext cx="8567141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1114425"/>
            <a:ext cx="5154216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 dirty="0">
                <a:solidFill>
                  <a:srgbClr val="000000"/>
                </a:solidFill>
              </a:rPr>
              <a:t>ku.ac.ae</a:t>
            </a:r>
            <a:endParaRPr lang="en-US" sz="691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762001"/>
            <a:ext cx="3018234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tx2"/>
                </a:solidFill>
              </a:rPr>
              <a:t>ku.ac.ae</a:t>
            </a:r>
            <a:endParaRPr lang="en-US" sz="691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6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2049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000500"/>
            <a:ext cx="8543925" cy="1584326"/>
          </a:xfrm>
        </p:spPr>
        <p:txBody>
          <a:bodyPr>
            <a:normAutofit/>
          </a:bodyPr>
          <a:lstStyle>
            <a:lvl1pPr marL="0" indent="0" algn="ctr">
              <a:buNone/>
              <a:defRPr sz="3088">
                <a:solidFill>
                  <a:srgbClr val="000000"/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0525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7" y="891158"/>
            <a:ext cx="1924556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611386" y="2711687"/>
            <a:ext cx="8652272" cy="14379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9344" b="1" spc="-81" baseline="0" noProof="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210051" y="6146801"/>
            <a:ext cx="1493638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16" b="1" noProof="0" dirty="0">
                <a:solidFill>
                  <a:srgbClr val="FFFFFF"/>
                </a:solidFill>
              </a:rPr>
              <a:t>ku.ac.ae</a:t>
            </a: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6" y="542925"/>
            <a:ext cx="8286851" cy="8241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873" y="1530037"/>
            <a:ext cx="8321486" cy="4839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0464" y="203201"/>
            <a:ext cx="1408509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9458" y="203201"/>
            <a:ext cx="33432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222" y="203201"/>
            <a:ext cx="425648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742950" rtl="0" eaLnBrk="1" latinLnBrk="0" hangingPunct="1">
        <a:lnSpc>
          <a:spcPct val="100000"/>
        </a:lnSpc>
        <a:spcBef>
          <a:spcPct val="0"/>
        </a:spcBef>
        <a:buNone/>
        <a:defRPr sz="2925" b="1" kern="1200" spc="4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704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41127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580430" indent="-139303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874514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.xlsx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35" y="2271472"/>
            <a:ext cx="7240504" cy="1393031"/>
          </a:xfrm>
        </p:spPr>
        <p:txBody>
          <a:bodyPr>
            <a:normAutofit fontScale="90000"/>
          </a:bodyPr>
          <a:lstStyle/>
          <a:p>
            <a:pPr algn="l"/>
            <a:r>
              <a:rPr lang="en-US" noProof="0" dirty="0"/>
              <a:t>Research Computing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535" y="3695460"/>
            <a:ext cx="7240504" cy="1013817"/>
          </a:xfrm>
        </p:spPr>
        <p:txBody>
          <a:bodyPr/>
          <a:lstStyle/>
          <a:p>
            <a:pPr algn="l"/>
            <a:r>
              <a:rPr lang="en-US" dirty="0"/>
              <a:t>January</a:t>
            </a:r>
            <a:r>
              <a:rPr lang="en-US" noProof="0" dirty="0"/>
              <a:t> 2020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535" y="5103968"/>
            <a:ext cx="5468259" cy="255389"/>
          </a:xfrm>
        </p:spPr>
        <p:txBody>
          <a:bodyPr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HPC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noProof="0" dirty="0"/>
              <a:t>MI HPC Cluster</a:t>
            </a:r>
          </a:p>
          <a:p>
            <a:pPr lvl="1"/>
            <a:r>
              <a:rPr lang="en-US" sz="2200" noProof="0" dirty="0"/>
              <a:t> </a:t>
            </a:r>
            <a:r>
              <a:rPr lang="en-US" sz="2200" dirty="0"/>
              <a:t>In final stages of testing before moving critical HPC servers to news hardware.</a:t>
            </a:r>
          </a:p>
          <a:p>
            <a:pPr lvl="2"/>
            <a:r>
              <a:rPr lang="en-US" sz="1997" dirty="0"/>
              <a:t> The continued delay is partially attributed to PO for the HPC management software support still being in process</a:t>
            </a:r>
          </a:p>
          <a:p>
            <a:pPr lvl="2"/>
            <a:r>
              <a:rPr lang="en-US" sz="1997" dirty="0"/>
              <a:t>PO to renew support for h/w was cancelled at end of 2019. Will need to reinitiate</a:t>
            </a:r>
            <a:endParaRPr lang="en-US" noProof="0" dirty="0"/>
          </a:p>
          <a:p>
            <a:endParaRPr lang="en-US" sz="2400" dirty="0"/>
          </a:p>
          <a:p>
            <a:r>
              <a:rPr lang="en-US" sz="2400" dirty="0"/>
              <a:t>New HPC Procurement via ANKABUT</a:t>
            </a:r>
          </a:p>
          <a:p>
            <a:pPr lvl="1"/>
            <a:r>
              <a:rPr lang="en-US" sz="2400" dirty="0"/>
              <a:t>Still in process.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dirty="0"/>
              <a:t>“Introduction to Linux” course developed and delivered</a:t>
            </a:r>
          </a:p>
          <a:p>
            <a:pPr lvl="1"/>
            <a:r>
              <a:rPr lang="en-US" sz="2400" dirty="0"/>
              <a:t>Successfully delivered course, which includes students, faculty and researchers.</a:t>
            </a:r>
          </a:p>
          <a:p>
            <a:pPr lvl="1"/>
            <a:r>
              <a:rPr lang="en-US" sz="2400" dirty="0"/>
              <a:t>Course was well received and well attended.</a:t>
            </a:r>
          </a:p>
          <a:p>
            <a:pPr lvl="1"/>
            <a:r>
              <a:rPr lang="en-US" sz="2400" dirty="0"/>
              <a:t>Course is a prerequisite to existing “Intro to HPC”</a:t>
            </a:r>
          </a:p>
          <a:p>
            <a:pPr lvl="1"/>
            <a:r>
              <a:rPr lang="en-US" sz="2400" dirty="0"/>
              <a:t>New instances of  course scheduled for early December.</a:t>
            </a:r>
          </a:p>
          <a:p>
            <a:r>
              <a:rPr lang="en-US" sz="2400" dirty="0"/>
              <a:t>“Introduction to HPC” course delivered</a:t>
            </a:r>
          </a:p>
          <a:p>
            <a:r>
              <a:rPr lang="en-US" sz="2400" dirty="0"/>
              <a:t>Currently developing an short, approximately 1 hour course to HPC with intention of making it a prerequisite to getting an account on HPC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44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F31104-3D8A-0B44-9CC2-F61A30B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9926-E230-B042-AAAC-E240A106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F346-C148-3D45-B589-43294848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B75F-FBEC-2A43-82EA-CF342289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5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7222D7C-BAC1-C443-B54C-AF8CEA0618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6910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AE5E67-33DE-5048-8C47-95C2C0D1F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38" y="1366574"/>
            <a:ext cx="9749262" cy="466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41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0AD9F2-C6E4-9441-B96C-09BE95B42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7063"/>
            <a:ext cx="9906000" cy="492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284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7C8244-D9D8-6D42-ADF2-DA70EB298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2231"/>
            <a:ext cx="9906000" cy="471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5D356-119E-BF46-9F72-A9AC75C905C0}"/>
              </a:ext>
            </a:extLst>
          </p:cNvPr>
          <p:cNvSpPr txBox="1"/>
          <p:nvPr/>
        </p:nvSpPr>
        <p:spPr>
          <a:xfrm>
            <a:off x="753626" y="894303"/>
            <a:ext cx="6089301" cy="2846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/>
              <a:t>MI HPC Group Utilization for January 2020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4D0248C-E22A-E249-A7EA-81AC2FE905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932590"/>
              </p:ext>
            </p:extLst>
          </p:nvPr>
        </p:nvGraphicFramePr>
        <p:xfrm>
          <a:off x="1103575" y="1453801"/>
          <a:ext cx="6794500" cy="515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Worksheet" r:id="rId4" imgW="6794500" imgH="5156200" progId="Excel.Sheet.12">
                  <p:embed/>
                </p:oleObj>
              </mc:Choice>
              <mc:Fallback>
                <p:oleObj name="Worksheet" r:id="rId4" imgW="6794500" imgH="5156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3575" y="1453801"/>
                        <a:ext cx="6794500" cy="515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71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0C76DE-7CD8-CE4D-B768-A45CAEDDB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4753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F455B-40DE-A041-94B1-C73C000BE2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4967"/>
            <a:ext cx="9906000" cy="518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75746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03_dureid" id="{E5C0B40D-4810-4141-950B-63592BF28D0C}" vid="{E0DD810D-9114-6044-9274-3619F9170D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KU_presentation_template_v03_dureid</Template>
  <TotalTime>2117</TotalTime>
  <Words>260</Words>
  <Application>Microsoft Macintosh PowerPoint</Application>
  <PresentationFormat>A4 Paper (210x297 mm)</PresentationFormat>
  <Paragraphs>53</Paragraphs>
  <Slides>11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KU Theme</vt:lpstr>
      <vt:lpstr>Microsoft Excel Worksheet</vt:lpstr>
      <vt:lpstr>Research Computing Update</vt:lpstr>
      <vt:lpstr>HPC Resources</vt:lpstr>
      <vt:lpstr>Training</vt:lpstr>
      <vt:lpstr>Resource Utilization</vt:lpstr>
      <vt:lpstr>MI Cluster core distribution</vt:lpstr>
      <vt:lpstr>PowerPoint Presentation</vt:lpstr>
      <vt:lpstr>PowerPoint Presentation</vt:lpstr>
      <vt:lpstr>PowerPoint Presentation</vt:lpstr>
      <vt:lpstr>PowerPoint Presentation</vt:lpstr>
      <vt:lpstr>PI Cluster core distribution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Update</dc:title>
  <dc:creator>Dureid El-Moghraby</dc:creator>
  <cp:lastModifiedBy>Dureid El-Moghraby</cp:lastModifiedBy>
  <cp:revision>53</cp:revision>
  <dcterms:created xsi:type="dcterms:W3CDTF">2018-11-13T08:10:11Z</dcterms:created>
  <dcterms:modified xsi:type="dcterms:W3CDTF">2020-02-25T08:55:43Z</dcterms:modified>
</cp:coreProperties>
</file>