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1" r:id="rId4"/>
    <p:sldId id="273" r:id="rId5"/>
    <p:sldId id="263" r:id="rId6"/>
    <p:sldId id="264" r:id="rId7"/>
    <p:sldId id="267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KPI%202021\Statistics%20for%20Dr.%20Abdulla%20-%202021\Headcount%20Statistics%20202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Public%20Services\Statistical%20Reports\Statistics%20for%20Dr.%20Abdulla\2021\Statistics%20for%20Dr.%20Abdulla%20-%202021\For%20Dr.%20Abdulla%20-%20shared%2019-JAN-2022\Document%20Delivery%20Services\DDS%202021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KPI%202021\Statistics%20for%20Dr.%20Abdulla%20-%202021\Public%20Services%20Dataset%20-%202021.xls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KPI%202021\Statistics%20for%20Dr.%20Abdulla%20-%202021\Statistics%202021%20-%20breakdow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Room%20Bookings%20Statistics%20-Sept-Dec%202021-%20HAB%20and%20Main.xls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Room%20Bookings%20Statistics%20-Sept-Dec%202021-%20HAB%20and%20Main.xls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Copy%20of%20KU%20Medical%20Library%20-%20Statistic%20Recording%20Form%20-%20Jason%20202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Copy%20of%20KU%20Medical%20Library%20-%20Statistic%20Recording%20Form%20-%20Jason%20202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bdulla\Desktop\Copy%20of%20KU%20Medical%20Library%20-%20Statistic%20Recording%20Form%20-%20Jason%20202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9599701451891158E-2"/>
          <c:y val="0.1185553093761314"/>
          <c:w val="0.88441681357474056"/>
          <c:h val="0.800538899840578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graphs!$B$33</c:f>
              <c:strCache>
                <c:ptCount val="1"/>
                <c:pt idx="0">
                  <c:v>Main Campus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2089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AC0D-47D0-BC0F-066708CD76C2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15929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AC0D-47D0-BC0F-066708CD76C2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15246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AC0D-47D0-BC0F-066708CD76C2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13926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2-AC0D-47D0-BC0F-066708CD76C2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smtClean="0"/>
                      <a:t>6278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AC0D-47D0-BC0F-066708CD76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graphs!$C$32:$G$32</c:f>
              <c:strCache>
                <c:ptCount val="5"/>
                <c:pt idx="0">
                  <c:v>August</c:v>
                </c:pt>
                <c:pt idx="1">
                  <c:v>September</c:v>
                </c:pt>
                <c:pt idx="2">
                  <c:v>October </c:v>
                </c:pt>
                <c:pt idx="3">
                  <c:v>November </c:v>
                </c:pt>
                <c:pt idx="4">
                  <c:v>December</c:v>
                </c:pt>
              </c:strCache>
            </c:strRef>
          </c:cat>
          <c:val>
            <c:numRef>
              <c:f>graphs!$C$33:$G$33</c:f>
              <c:numCache>
                <c:formatCode>#,##0</c:formatCode>
                <c:ptCount val="5"/>
                <c:pt idx="0">
                  <c:v>2089</c:v>
                </c:pt>
                <c:pt idx="1">
                  <c:v>15929</c:v>
                </c:pt>
                <c:pt idx="2">
                  <c:v>15246</c:v>
                </c:pt>
                <c:pt idx="3">
                  <c:v>13926</c:v>
                </c:pt>
                <c:pt idx="4">
                  <c:v>6278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6D-4908-B510-4D3410395E97}"/>
            </c:ext>
          </c:extLst>
        </c:ser>
        <c:ser>
          <c:idx val="1"/>
          <c:order val="1"/>
          <c:tx>
            <c:strRef>
              <c:f>graphs!$B$34</c:f>
              <c:strCache>
                <c:ptCount val="1"/>
                <c:pt idx="0">
                  <c:v>Habshan Campus</c:v>
                </c:pt>
              </c:strCache>
            </c:strRef>
          </c:tx>
          <c:spPr>
            <a:solidFill>
              <a:srgbClr val="00CC66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1339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6-AC0D-47D0-BC0F-066708CD76C2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smtClean="0"/>
                      <a:t>1479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AC0D-47D0-BC0F-066708CD76C2}"/>
                </c:ext>
              </c:extLst>
            </c:dLbl>
            <c:dLbl>
              <c:idx val="4"/>
              <c:layout/>
              <c:tx>
                <c:rich>
                  <a:bodyPr/>
                  <a:lstStyle/>
                  <a:p>
                    <a:r>
                      <a:rPr lang="en-US" smtClean="0"/>
                      <a:t>1182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4-AC0D-47D0-BC0F-066708CD76C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graphs!$C$32:$G$32</c:f>
              <c:strCache>
                <c:ptCount val="5"/>
                <c:pt idx="0">
                  <c:v>August</c:v>
                </c:pt>
                <c:pt idx="1">
                  <c:v>September</c:v>
                </c:pt>
                <c:pt idx="2">
                  <c:v>October </c:v>
                </c:pt>
                <c:pt idx="3">
                  <c:v>November </c:v>
                </c:pt>
                <c:pt idx="4">
                  <c:v>December</c:v>
                </c:pt>
              </c:strCache>
            </c:strRef>
          </c:cat>
          <c:val>
            <c:numRef>
              <c:f>graphs!$C$34:$G$34</c:f>
              <c:numCache>
                <c:formatCode>#,##0</c:formatCode>
                <c:ptCount val="5"/>
                <c:pt idx="0" formatCode="General">
                  <c:v>107</c:v>
                </c:pt>
                <c:pt idx="1">
                  <c:v>1339</c:v>
                </c:pt>
                <c:pt idx="2">
                  <c:v>1479</c:v>
                </c:pt>
                <c:pt idx="3" formatCode="General">
                  <c:v>898</c:v>
                </c:pt>
                <c:pt idx="4">
                  <c:v>1182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6D-4908-B510-4D3410395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702220208"/>
        <c:axId val="702239344"/>
      </c:barChart>
      <c:catAx>
        <c:axId val="70222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1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239344"/>
        <c:crosses val="autoZero"/>
        <c:auto val="1"/>
        <c:lblAlgn val="ctr"/>
        <c:lblOffset val="100"/>
        <c:noMultiLvlLbl val="0"/>
      </c:catAx>
      <c:valAx>
        <c:axId val="70223934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70222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r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238512605253045E-2"/>
          <c:y val="0.14053865874856888"/>
          <c:w val="0.93380743697373481"/>
          <c:h val="0.74314384291731816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2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5086-46CE-B2F2-9F400993522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5086-46CE-B2F2-9F400993522D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5086-46CE-B2F2-9F400993522D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7-5086-46CE-B2F2-9F400993522D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9-5086-46CE-B2F2-9F400993522D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B-5086-46CE-B2F2-9F40099352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Sheet1!$D$13:$O$13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Sheet1!$D$14:$O$14</c:f>
              <c:numCache>
                <c:formatCode>General</c:formatCode>
                <c:ptCount val="12"/>
                <c:pt idx="0">
                  <c:v>82</c:v>
                </c:pt>
                <c:pt idx="1">
                  <c:v>99</c:v>
                </c:pt>
                <c:pt idx="2">
                  <c:v>145</c:v>
                </c:pt>
                <c:pt idx="3">
                  <c:v>142</c:v>
                </c:pt>
                <c:pt idx="4">
                  <c:v>111</c:v>
                </c:pt>
                <c:pt idx="5">
                  <c:v>180</c:v>
                </c:pt>
                <c:pt idx="6">
                  <c:v>103</c:v>
                </c:pt>
                <c:pt idx="7">
                  <c:v>121</c:v>
                </c:pt>
                <c:pt idx="8">
                  <c:v>172</c:v>
                </c:pt>
                <c:pt idx="9">
                  <c:v>155</c:v>
                </c:pt>
                <c:pt idx="10">
                  <c:v>144</c:v>
                </c:pt>
                <c:pt idx="11">
                  <c:v>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086-46CE-B2F2-9F40099352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39210240"/>
        <c:axId val="139202752"/>
      </c:barChart>
      <c:catAx>
        <c:axId val="139210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1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202752"/>
        <c:crosses val="autoZero"/>
        <c:auto val="1"/>
        <c:lblAlgn val="ctr"/>
        <c:lblOffset val="100"/>
        <c:noMultiLvlLbl val="0"/>
      </c:catAx>
      <c:valAx>
        <c:axId val="1392027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9210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D27C-46BF-A90F-483B4D3A2EA4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D27C-46BF-A90F-483B4D3A2EA4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Spring</a:t>
                    </a:r>
                    <a:r>
                      <a:rPr lang="en-US" baseline="0" smtClean="0"/>
                      <a:t> </a:t>
                    </a:r>
                  </a:p>
                  <a:p>
                    <a:r>
                      <a:rPr lang="en-US" baseline="0" smtClean="0"/>
                      <a:t>862</a:t>
                    </a:r>
                    <a:endParaRPr lang="en-US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D27C-46BF-A90F-483B4D3A2EA4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Fall </a:t>
                    </a:r>
                  </a:p>
                  <a:p>
                    <a:r>
                      <a:rPr lang="en-US"/>
                      <a:t>713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D27C-46BF-A90F-483B4D3A2EA4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Sheet1!$D$5:$E$5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Sheet1!$D$6:$E$6</c:f>
              <c:numCache>
                <c:formatCode>General</c:formatCode>
                <c:ptCount val="2"/>
                <c:pt idx="0">
                  <c:v>862</c:v>
                </c:pt>
                <c:pt idx="1">
                  <c:v>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27C-46BF-A90F-483B4D3A2EA4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mtClean="0"/>
                      <a:t>1431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7EC6-4916-8035-FC12C666A0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Monthly!$G$5:$G$11</c:f>
              <c:strCache>
                <c:ptCount val="7"/>
                <c:pt idx="0">
                  <c:v>Check-in/check-Out (KOHA report)</c:v>
                </c:pt>
                <c:pt idx="1">
                  <c:v>Holds (KOHA report)</c:v>
                </c:pt>
                <c:pt idx="2">
                  <c:v>Directional Questions </c:v>
                </c:pt>
                <c:pt idx="3">
                  <c:v>LibChat Service</c:v>
                </c:pt>
                <c:pt idx="4">
                  <c:v>Various Queries (Other)</c:v>
                </c:pt>
                <c:pt idx="5">
                  <c:v>Research/Reference</c:v>
                </c:pt>
                <c:pt idx="6">
                  <c:v>Technology/printing Assistance</c:v>
                </c:pt>
              </c:strCache>
            </c:strRef>
          </c:cat>
          <c:val>
            <c:numRef>
              <c:f>Monthly!$H$5:$H$11</c:f>
              <c:numCache>
                <c:formatCode>General</c:formatCode>
                <c:ptCount val="7"/>
                <c:pt idx="0">
                  <c:v>5117</c:v>
                </c:pt>
                <c:pt idx="1">
                  <c:v>2211</c:v>
                </c:pt>
                <c:pt idx="2">
                  <c:v>775</c:v>
                </c:pt>
                <c:pt idx="3">
                  <c:v>128</c:v>
                </c:pt>
                <c:pt idx="4">
                  <c:v>956</c:v>
                </c:pt>
                <c:pt idx="5">
                  <c:v>675</c:v>
                </c:pt>
                <c:pt idx="6">
                  <c:v>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2E-44B8-A685-C868D28BAB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99784143"/>
        <c:axId val="499789135"/>
      </c:barChart>
      <c:catAx>
        <c:axId val="4997841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9789135"/>
        <c:crosses val="autoZero"/>
        <c:auto val="1"/>
        <c:lblAlgn val="ctr"/>
        <c:lblOffset val="100"/>
        <c:noMultiLvlLbl val="0"/>
      </c:catAx>
      <c:valAx>
        <c:axId val="49978913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9784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803149606299209E-2"/>
          <c:y val="0.18300925925925926"/>
          <c:w val="0.90286351706036749"/>
          <c:h val="0.6036880285797608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Outreach!$J$7</c:f>
              <c:strCache>
                <c:ptCount val="1"/>
                <c:pt idx="0">
                  <c:v>Workshops/Events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Outreach!$K$6:$L$6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Outreach!$K$7:$L$7</c:f>
              <c:numCache>
                <c:formatCode>General</c:formatCode>
                <c:ptCount val="2"/>
                <c:pt idx="0">
                  <c:v>24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8B-4A92-89E6-5C8C25D54671}"/>
            </c:ext>
          </c:extLst>
        </c:ser>
        <c:ser>
          <c:idx val="1"/>
          <c:order val="1"/>
          <c:tx>
            <c:strRef>
              <c:f>Outreach!$J$8</c:f>
              <c:strCache>
                <c:ptCount val="1"/>
                <c:pt idx="0">
                  <c:v>IL Sessions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Outreach!$K$6:$L$6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Outreach!$K$8:$L$8</c:f>
              <c:numCache>
                <c:formatCode>General</c:formatCode>
                <c:ptCount val="2"/>
                <c:pt idx="0">
                  <c:v>49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8B-4A92-89E6-5C8C25D5467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498499167"/>
        <c:axId val="498491679"/>
      </c:barChart>
      <c:catAx>
        <c:axId val="4984991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cap="none" spc="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491679"/>
        <c:crosses val="autoZero"/>
        <c:auto val="1"/>
        <c:lblAlgn val="ctr"/>
        <c:lblOffset val="100"/>
        <c:noMultiLvlLbl val="0"/>
      </c:catAx>
      <c:valAx>
        <c:axId val="4984916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98499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5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solidFill>
                  <a:sysClr val="windowText" lastClr="000000"/>
                </a:solidFill>
              </a:rPr>
              <a:t>USAGE OF SAN STUDY </a:t>
            </a:r>
            <a:r>
              <a:rPr lang="en-US" sz="1600" dirty="0">
                <a:solidFill>
                  <a:schemeClr val="tx1"/>
                </a:solidFill>
              </a:rPr>
              <a:t>ROOMS</a:t>
            </a:r>
            <a:r>
              <a:rPr lang="en-US" sz="1600" dirty="0">
                <a:solidFill>
                  <a:sysClr val="windowText" lastClr="000000"/>
                </a:solidFill>
              </a:rPr>
              <a:t> (8)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5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Sheet1!$F$8</c:f>
              <c:strCache>
                <c:ptCount val="1"/>
                <c:pt idx="0">
                  <c:v>SAN Study Rooms (8)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930-45B7-BCE6-C995202CA4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930-45B7-BCE6-C995202CA45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E930-45B7-BCE6-C995202CA452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E930-45B7-BCE6-C995202CA452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baseline="0"/>
                      <a:t> 48</a:t>
                    </a:r>
                  </a:p>
                  <a:p>
                    <a:r>
                      <a:rPr lang="en-US" baseline="0"/>
                      <a:t>September</a:t>
                    </a:r>
                    <a:endParaRPr lang="en-U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E930-45B7-BCE6-C995202CA452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65CB5930-8927-4FB9-B961-5400E5EDFA0D}" type="VALUE">
                      <a:rPr lang="en-US"/>
                      <a:pPr/>
                      <a:t>[VALUE]</a:t>
                    </a:fld>
                    <a:endParaRPr lang="en-US"/>
                  </a:p>
                  <a:p>
                    <a:r>
                      <a:rPr lang="en-US" baseline="0"/>
                      <a:t>October</a:t>
                    </a:r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930-45B7-BCE6-C995202CA452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fld id="{2A8368A8-FF22-4E48-BF7D-8FB96F100675}" type="VALUE">
                      <a:rPr lang="en-US"/>
                      <a:pPr/>
                      <a:t>[VALUE]</a:t>
                    </a:fld>
                    <a:endParaRPr lang="en-US" baseline="0"/>
                  </a:p>
                  <a:p>
                    <a:r>
                      <a:rPr lang="en-US" baseline="0"/>
                      <a:t>November</a:t>
                    </a:r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930-45B7-BCE6-C995202CA452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/>
                      <a:t>144</a:t>
                    </a:r>
                  </a:p>
                  <a:p>
                    <a:r>
                      <a:rPr lang="en-US"/>
                      <a:t>December</a:t>
                    </a:r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E930-45B7-BCE6-C995202CA452}"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Sheet1!$E$9:$E$12</c:f>
              <c:strCache>
                <c:ptCount val="4"/>
                <c:pt idx="0">
                  <c:v>September 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</c:strCache>
            </c:strRef>
          </c:cat>
          <c:val>
            <c:numRef>
              <c:f>Sheet1!$F$9:$F$12</c:f>
              <c:numCache>
                <c:formatCode>General</c:formatCode>
                <c:ptCount val="4"/>
                <c:pt idx="0">
                  <c:v>48</c:v>
                </c:pt>
                <c:pt idx="1">
                  <c:v>303</c:v>
                </c:pt>
                <c:pt idx="2">
                  <c:v>216</c:v>
                </c:pt>
                <c:pt idx="3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30-45B7-BCE6-C995202CA452}"/>
            </c:ext>
          </c:extLst>
        </c:ser>
        <c:ser>
          <c:idx val="1"/>
          <c:order val="1"/>
          <c:tx>
            <c:strRef>
              <c:f>Sheet1!$G$8</c:f>
              <c:strCache>
                <c:ptCount val="1"/>
                <c:pt idx="0">
                  <c:v>MC Study Rooms (17)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A-E930-45B7-BCE6-C995202CA45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C-E930-45B7-BCE6-C995202CA45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E-E930-45B7-BCE6-C995202CA45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0-E930-45B7-BCE6-C995202CA45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Sheet1!$E$9:$E$12</c:f>
              <c:strCache>
                <c:ptCount val="4"/>
                <c:pt idx="0">
                  <c:v>September 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</c:strCache>
            </c:strRef>
          </c:cat>
          <c:val>
            <c:numRef>
              <c:f>Sheet1!$G$9:$G$12</c:f>
              <c:numCache>
                <c:formatCode>General</c:formatCode>
                <c:ptCount val="4"/>
                <c:pt idx="0">
                  <c:v>130</c:v>
                </c:pt>
                <c:pt idx="1">
                  <c:v>1255</c:v>
                </c:pt>
                <c:pt idx="2">
                  <c:v>1794</c:v>
                </c:pt>
                <c:pt idx="3">
                  <c:v>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E930-45B7-BCE6-C995202CA45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>
                <a:solidFill>
                  <a:schemeClr val="tx1"/>
                </a:solidFill>
              </a:rPr>
              <a:t>Usage of MC Study Rooms (17)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Sheet1!$F$14</c:f>
              <c:strCache>
                <c:ptCount val="1"/>
                <c:pt idx="0">
                  <c:v>MC Study Rooms (17)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5091-4727-924A-87406C063DF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5091-4727-924A-87406C063DF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5091-4727-924A-87406C063DFA}"/>
              </c:ext>
            </c:extLst>
          </c:dPt>
          <c:dPt>
            <c:idx val="3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5091-4727-924A-87406C063DFA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fld id="{25FBE6F8-5215-4AFC-A2D7-4544F82B902E}" type="VALUE">
                      <a:rPr lang="en-US"/>
                      <a:pPr/>
                      <a:t>[VALUE]</a:t>
                    </a:fld>
                    <a:r>
                      <a:rPr lang="en-US" baseline="0"/>
                      <a:t> </a:t>
                    </a:r>
                  </a:p>
                  <a:p>
                    <a:r>
                      <a:rPr lang="en-US" baseline="0"/>
                      <a:t>September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091-4727-924A-87406C063DFA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fld id="{B4C1DB6B-9508-4E0C-AE8E-F249FEC831F8}" type="VALUE">
                      <a:rPr lang="en-US"/>
                      <a:pPr/>
                      <a:t>[VALUE]</a:t>
                    </a:fld>
                    <a:endParaRPr lang="en-US"/>
                  </a:p>
                  <a:p>
                    <a:r>
                      <a:rPr lang="en-US"/>
                      <a:t>October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091-4727-924A-87406C063DFA}"/>
                </c:ext>
              </c:extLst>
            </c:dLbl>
            <c:dLbl>
              <c:idx val="2"/>
              <c:layout>
                <c:manualLayout>
                  <c:x val="9.4273017852966393E-2"/>
                  <c:y val="-0.17429365446966189"/>
                </c:manualLayout>
              </c:layout>
              <c:tx>
                <c:rich>
                  <a:bodyPr/>
                  <a:lstStyle/>
                  <a:p>
                    <a:fld id="{0C5A533D-1464-4FD5-A2BC-4D49B0A0B882}" type="VALUE">
                      <a:rPr lang="en-US"/>
                      <a:pPr/>
                      <a:t>[VALUE]</a:t>
                    </a:fld>
                    <a:endParaRPr lang="en-US" baseline="0"/>
                  </a:p>
                  <a:p>
                    <a:r>
                      <a:rPr lang="en-US" baseline="0"/>
                      <a:t>November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091-4727-924A-87406C063DFA}"/>
                </c:ext>
              </c:extLst>
            </c:dLbl>
            <c:dLbl>
              <c:idx val="3"/>
              <c:layout>
                <c:manualLayout>
                  <c:x val="8.5047339379607206E-2"/>
                  <c:y val="0.15950007719623283"/>
                </c:manualLayout>
              </c:layout>
              <c:tx>
                <c:rich>
                  <a:bodyPr/>
                  <a:lstStyle/>
                  <a:p>
                    <a:fld id="{26B3C812-7487-4EC1-A671-79EAFFB463E9}" type="VALUE">
                      <a:rPr lang="en-US"/>
                      <a:pPr/>
                      <a:t>[VALUE]</a:t>
                    </a:fld>
                    <a:endParaRPr lang="en-US" baseline="0"/>
                  </a:p>
                  <a:p>
                    <a:r>
                      <a:rPr lang="en-US" baseline="0"/>
                      <a:t>December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091-4727-924A-87406C063DFA}"/>
                </c:ext>
              </c:extLst>
            </c:dLbl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Sheet1!$E$15:$E$18</c:f>
              <c:strCache>
                <c:ptCount val="4"/>
                <c:pt idx="0">
                  <c:v>September </c:v>
                </c:pt>
                <c:pt idx="1">
                  <c:v>October</c:v>
                </c:pt>
                <c:pt idx="2">
                  <c:v>November</c:v>
                </c:pt>
                <c:pt idx="3">
                  <c:v>December</c:v>
                </c:pt>
              </c:strCache>
            </c:strRef>
          </c:cat>
          <c:val>
            <c:numRef>
              <c:f>Sheet1!$F$15:$F$18</c:f>
              <c:numCache>
                <c:formatCode>General</c:formatCode>
                <c:ptCount val="4"/>
                <c:pt idx="0">
                  <c:v>130</c:v>
                </c:pt>
                <c:pt idx="1">
                  <c:v>1255</c:v>
                </c:pt>
                <c:pt idx="2">
                  <c:v>1794</c:v>
                </c:pt>
                <c:pt idx="3">
                  <c:v>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91-4727-924A-87406C063DF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4864864864864866E-2"/>
          <c:y val="3.2046613255644577E-2"/>
          <c:w val="0.87837837837837851"/>
          <c:h val="0.83422679229917818"/>
        </c:manualLayout>
      </c:layout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DD8F-4C04-B704-ED22D20A4150}"/>
              </c:ext>
            </c:extLst>
          </c:dPt>
          <c:dPt>
            <c:idx val="1"/>
            <c:bubble3D val="0"/>
            <c:spPr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84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DD8F-4C04-B704-ED22D20A4150}"/>
              </c:ext>
            </c:extLst>
          </c:dPt>
          <c:dLbls>
            <c:dLbl>
              <c:idx val="0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000" smtClean="0"/>
                      <a:t>Spring</a:t>
                    </a:r>
                  </a:p>
                  <a:p>
                    <a:pPr>
                      <a:defRPr sz="2000">
                        <a:solidFill>
                          <a:schemeClr val="tx1"/>
                        </a:solidFill>
                      </a:defRPr>
                    </a:pPr>
                    <a:fld id="{97FAFE40-6781-4380-82FF-C1536CC8BB50}" type="VALUE">
                      <a:rPr lang="en-US" sz="2000" smtClean="0"/>
                      <a:pPr>
                        <a:defRPr sz="20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DD8F-4C04-B704-ED22D20A4150}"/>
                </c:ext>
              </c:extLst>
            </c:dLbl>
            <c:dLbl>
              <c:idx val="1"/>
              <c:layout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20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2000" smtClean="0"/>
                      <a:t>Fall</a:t>
                    </a:r>
                  </a:p>
                  <a:p>
                    <a:pPr>
                      <a:defRPr sz="2000">
                        <a:solidFill>
                          <a:schemeClr val="tx1"/>
                        </a:solidFill>
                      </a:defRPr>
                    </a:pPr>
                    <a:fld id="{2988413E-171E-4528-9248-73A155567A0D}" type="VALUE">
                      <a:rPr lang="en-US" sz="2000" smtClean="0"/>
                      <a:pPr>
                        <a:defRPr sz="2000">
                          <a:solidFill>
                            <a:schemeClr val="tx1"/>
                          </a:solidFill>
                        </a:defRPr>
                      </a:pPr>
                      <a:t>[VALUE]</a:t>
                    </a:fld>
                    <a:endParaRPr lang="en-US"/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D8F-4C04-B704-ED22D20A41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Sheet1!$D$4:$E$4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Sheet1!$D$5:$E$5</c:f>
              <c:numCache>
                <c:formatCode>General</c:formatCode>
                <c:ptCount val="2"/>
                <c:pt idx="0">
                  <c:v>117</c:v>
                </c:pt>
                <c:pt idx="1">
                  <c:v>162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8F-4C04-B704-ED22D20A41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295597484276729E-2"/>
          <c:y val="0.16599869379645302"/>
          <c:w val="0.89302431535680682"/>
          <c:h val="0.732462837589226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Sheet1!$E$13</c:f>
              <c:strCache>
                <c:ptCount val="1"/>
                <c:pt idx="0">
                  <c:v>Workshops &amp; Events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Sheet1!$D$14:$D$15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Sheet1!$E$14:$E$15</c:f>
              <c:numCache>
                <c:formatCode>General</c:formatCode>
                <c:ptCount val="2"/>
                <c:pt idx="0">
                  <c:v>15</c:v>
                </c:pt>
                <c:pt idx="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45-4219-A529-8A43DD035F15}"/>
            </c:ext>
          </c:extLst>
        </c:ser>
        <c:ser>
          <c:idx val="1"/>
          <c:order val="1"/>
          <c:tx>
            <c:strRef>
              <c:f>Sheet1!$F$13</c:f>
              <c:strCache>
                <c:ptCount val="1"/>
                <c:pt idx="0">
                  <c:v>Training 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Sheet1!$D$14:$D$15</c:f>
              <c:strCache>
                <c:ptCount val="2"/>
                <c:pt idx="0">
                  <c:v>Spring</c:v>
                </c:pt>
                <c:pt idx="1">
                  <c:v>Fall</c:v>
                </c:pt>
              </c:strCache>
            </c:strRef>
          </c:cat>
          <c:val>
            <c:numRef>
              <c:f>Sheet1!$F$14:$F$15</c:f>
              <c:numCache>
                <c:formatCode>General</c:formatCode>
                <c:ptCount val="2"/>
                <c:pt idx="0">
                  <c:v>4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45-4219-A529-8A43DD035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733985263"/>
        <c:axId val="733988591"/>
      </c:barChart>
      <c:catAx>
        <c:axId val="7339852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3988591"/>
        <c:crosses val="autoZero"/>
        <c:auto val="1"/>
        <c:lblAlgn val="ctr"/>
        <c:lblOffset val="100"/>
        <c:noMultiLvlLbl val="0"/>
      </c:catAx>
      <c:valAx>
        <c:axId val="7339885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3398526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69491110780963705"/>
          <c:y val="0.23948598130841123"/>
          <c:w val="0.305088892190363"/>
          <c:h val="0.14798274339539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11F1-4489-8D34-7D1AF82CA5FF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11F1-4489-8D34-7D1AF82CA5FF}"/>
              </c:ext>
            </c:extLst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z="2000" dirty="0"/>
                      <a:t>Fall</a:t>
                    </a:r>
                  </a:p>
                  <a:p>
                    <a:fld id="{56CB826C-DB6E-4138-9523-D668AA7A3068}" type="VALUE">
                      <a:rPr lang="en-US" sz="200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11F1-4489-8D34-7D1AF82CA5FF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 sz="2000"/>
                      <a:t>Spring</a:t>
                    </a:r>
                  </a:p>
                  <a:p>
                    <a:fld id="{96CD3ECA-84F7-4F71-8584-6C4CD57A0F44}" type="VALUE">
                      <a:rPr lang="en-US" sz="200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11F1-4489-8D34-7D1AF82CA5FF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Sheet1!$D$19:$E$19</c:f>
              <c:strCache>
                <c:ptCount val="2"/>
                <c:pt idx="0">
                  <c:v>Fall</c:v>
                </c:pt>
                <c:pt idx="1">
                  <c:v>Spring</c:v>
                </c:pt>
              </c:strCache>
            </c:strRef>
          </c:cat>
          <c:val>
            <c:numRef>
              <c:f>Sheet1!$D$20:$E$20</c:f>
              <c:numCache>
                <c:formatCode>General</c:formatCode>
                <c:ptCount val="2"/>
                <c:pt idx="0">
                  <c:v>13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F1-4489-8D34-7D1AF82CA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0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3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797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1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47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93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1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3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85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2">
    <p:bg>
      <p:bgPr>
        <a:solidFill>
          <a:srgbClr val="0057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527050"/>
            <a:ext cx="3254375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8475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uora yhdysviiva 7">
            <a:extLst>
              <a:ext uri="{FF2B5EF4-FFF2-40B4-BE49-F238E27FC236}">
                <a16:creationId xmlns:a16="http://schemas.microsoft.com/office/drawing/2014/main" id="{7719C45D-29AC-47C4-96CB-A06616449D77}"/>
              </a:ext>
            </a:extLst>
          </p:cNvPr>
          <p:cNvCxnSpPr/>
          <p:nvPr userDrawn="1"/>
        </p:nvCxnSpPr>
        <p:spPr>
          <a:xfrm>
            <a:off x="1341438" y="2760663"/>
            <a:ext cx="2239962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36" y="2676525"/>
            <a:ext cx="9317764" cy="1714500"/>
          </a:xfrm>
        </p:spPr>
        <p:txBody>
          <a:bodyPr anchor="b"/>
          <a:lstStyle>
            <a:lvl1pPr algn="l">
              <a:defRPr sz="4773" spc="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236" y="4429125"/>
            <a:ext cx="9317764" cy="894905"/>
          </a:xfrm>
        </p:spPr>
        <p:txBody>
          <a:bodyPr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3023">
                <a:solidFill>
                  <a:srgbClr val="FFFFFF"/>
                </a:solidFill>
              </a:defRPr>
            </a:lvl1pPr>
            <a:lvl2pPr marL="363734" indent="0" algn="ctr">
              <a:buNone/>
              <a:defRPr sz="1591"/>
            </a:lvl2pPr>
            <a:lvl3pPr marL="727468" indent="0" algn="ctr">
              <a:buNone/>
              <a:defRPr sz="1432"/>
            </a:lvl3pPr>
            <a:lvl4pPr marL="1091202" indent="0" algn="ctr">
              <a:buNone/>
              <a:defRPr sz="1273"/>
            </a:lvl4pPr>
            <a:lvl5pPr marL="1454937" indent="0" algn="ctr">
              <a:buNone/>
              <a:defRPr sz="1273"/>
            </a:lvl5pPr>
            <a:lvl6pPr marL="1818671" indent="0" algn="ctr">
              <a:buNone/>
              <a:defRPr sz="1273"/>
            </a:lvl6pPr>
            <a:lvl7pPr marL="2182405" indent="0" algn="ctr">
              <a:buNone/>
              <a:defRPr sz="1273"/>
            </a:lvl7pPr>
            <a:lvl8pPr marL="2546139" indent="0" algn="ctr">
              <a:buNone/>
              <a:defRPr sz="1273"/>
            </a:lvl8pPr>
            <a:lvl9pPr marL="2909873" indent="0" algn="ctr">
              <a:buNone/>
              <a:defRPr sz="127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0237" y="5497790"/>
            <a:ext cx="5435926" cy="314325"/>
          </a:xfrm>
        </p:spPr>
        <p:txBody>
          <a:bodyPr>
            <a:normAutofit/>
          </a:bodyPr>
          <a:lstStyle>
            <a:lvl1pPr marL="0" indent="0" algn="l">
              <a:buNone/>
              <a:defRPr sz="1074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840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4AEE5-052D-48E3-BC1D-C6E2F39E88DB}" type="datetimeFigureOut">
              <a:rPr lang="en-US" smtClean="0"/>
              <a:t>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73ABC-FEDE-49DE-AE65-F4F537FD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87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4250" y="1039813"/>
            <a:ext cx="7412038" cy="139541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i-FI" sz="4355" dirty="0">
                <a:latin typeface="Arial" panose="020B0604020202020204" pitchFamily="34" charset="0"/>
                <a:cs typeface="Arial" panose="020B0604020202020204" pitchFamily="34" charset="0"/>
              </a:rPr>
              <a:t>Khalifa University Libraries</a:t>
            </a:r>
            <a:endParaRPr lang="en-US" sz="244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4250" y="3292475"/>
            <a:ext cx="7412038" cy="1147763"/>
          </a:xfrm>
        </p:spPr>
        <p:txBody>
          <a:bodyPr rtlCol="0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i-FI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(headings)"/>
              </a:rPr>
              <a:t>Library Statistical Report 2021</a:t>
            </a:r>
            <a:endParaRPr lang="fi-FI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(headings)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US" sz="18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077" name="Rectangle 6"/>
          <p:cNvSpPr>
            <a:spLocks noChangeArrowheads="1"/>
          </p:cNvSpPr>
          <p:nvPr/>
        </p:nvSpPr>
        <p:spPr bwMode="auto">
          <a:xfrm>
            <a:off x="3002107" y="3902076"/>
            <a:ext cx="609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 smtClean="0">
                <a:solidFill>
                  <a:schemeClr val="bg1"/>
                </a:solidFill>
                <a:latin typeface="Arial" panose="020B0604020202020204" pitchFamily="34" charset="0"/>
              </a:rPr>
              <a:t>January 26, 2022</a:t>
            </a:r>
            <a:endParaRPr lang="en-US" altLang="en-US" sz="1800" b="1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476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Headcount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3495346249"/>
              </p:ext>
            </p:extLst>
          </p:nvPr>
        </p:nvGraphicFramePr>
        <p:xfrm>
          <a:off x="391471" y="1699924"/>
          <a:ext cx="11045456" cy="4518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5478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6815595"/>
              </p:ext>
            </p:extLst>
          </p:nvPr>
        </p:nvGraphicFramePr>
        <p:xfrm>
          <a:off x="660399" y="1699924"/>
          <a:ext cx="11319164" cy="4497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ounded Rectangle 2"/>
          <p:cNvSpPr/>
          <p:nvPr/>
        </p:nvSpPr>
        <p:spPr>
          <a:xfrm>
            <a:off x="10171543" y="2068945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1,575 Requests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27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 Services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171543" y="2068945"/>
            <a:ext cx="1856511" cy="462251"/>
          </a:xfrm>
          <a:prstGeom prst="roundRect">
            <a:avLst/>
          </a:prstGeom>
          <a:noFill/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</a:rPr>
              <a:t>1,575 Requests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7682840"/>
              </p:ext>
            </p:extLst>
          </p:nvPr>
        </p:nvGraphicFramePr>
        <p:xfrm>
          <a:off x="3434080" y="2300070"/>
          <a:ext cx="5852160" cy="365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4305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29742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Public Services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619874"/>
              </p:ext>
            </p:extLst>
          </p:nvPr>
        </p:nvGraphicFramePr>
        <p:xfrm>
          <a:off x="563129" y="1496291"/>
          <a:ext cx="10704946" cy="39439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761038"/>
            <a:ext cx="10506075" cy="3683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/>
              <a:t>* Please refer to the Public Services excel sheet document for more information about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various queries </a:t>
            </a:r>
            <a:r>
              <a:rPr lang="en-US" dirty="0"/>
              <a:t>(other). </a:t>
            </a:r>
          </a:p>
        </p:txBody>
      </p:sp>
    </p:spTree>
    <p:extLst>
      <p:ext uri="{BB962C8B-B14F-4D97-AF65-F5344CB8AC3E}">
        <p14:creationId xmlns:p14="http://schemas.microsoft.com/office/powerpoint/2010/main" val="1515618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43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Workshops &amp; Information Literacy Sessions</a:t>
            </a:r>
            <a: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/>
            </a:r>
            <a:br>
              <a:rPr lang="en-US" sz="4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199650"/>
              </p:ext>
            </p:extLst>
          </p:nvPr>
        </p:nvGraphicFramePr>
        <p:xfrm>
          <a:off x="855749" y="1911927"/>
          <a:ext cx="10498051" cy="4073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631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2" y="0"/>
            <a:ext cx="10515600" cy="1325563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Study Rooms Booking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089036375"/>
              </p:ext>
            </p:extLst>
          </p:nvPr>
        </p:nvGraphicFramePr>
        <p:xfrm>
          <a:off x="506266" y="2318904"/>
          <a:ext cx="5137151" cy="3814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4109329309"/>
              </p:ext>
            </p:extLst>
          </p:nvPr>
        </p:nvGraphicFramePr>
        <p:xfrm>
          <a:off x="6040582" y="2318903"/>
          <a:ext cx="4927599" cy="38140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8996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619"/>
            <a:ext cx="10515600" cy="1441306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Medical Library Statistics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Document Delivery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527526"/>
              </p:ext>
            </p:extLst>
          </p:nvPr>
        </p:nvGraphicFramePr>
        <p:xfrm>
          <a:off x="1397000" y="2018228"/>
          <a:ext cx="10185400" cy="46873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702800" y="3718560"/>
            <a:ext cx="1757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339 Requests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1332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619"/>
            <a:ext cx="10515600" cy="1441306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Medical Library Statistics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Workshops &amp; Training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4157960"/>
              </p:ext>
            </p:extLst>
          </p:nvPr>
        </p:nvGraphicFramePr>
        <p:xfrm>
          <a:off x="1301404" y="2023687"/>
          <a:ext cx="9246524" cy="43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667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8619"/>
            <a:ext cx="10515600" cy="1441306"/>
          </a:xfrm>
          <a:effectLst>
            <a:outerShdw blurRad="50800" dist="50800" dir="5400000" algn="ctr" rotWithShape="0">
              <a:schemeClr val="bg1"/>
            </a:outerShdw>
          </a:effectLst>
        </p:spPr>
        <p:txBody>
          <a:bodyPr>
            <a:noAutofit/>
          </a:bodyPr>
          <a:lstStyle/>
          <a:p>
            <a:pPr algn="ctr"/>
            <a: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Medical Library Statistics</a:t>
            </a:r>
            <a:br>
              <a:rPr lang="en-US" sz="40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</a:br>
            <a:r>
              <a:rPr lang="en-US" sz="3600" b="1" dirty="0" smtClean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 panose="020B0602020104020603" pitchFamily="34" charset="0"/>
              </a:rPr>
              <a:t>Information Literacy Classes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863462"/>
              </p:ext>
            </p:extLst>
          </p:nvPr>
        </p:nvGraphicFramePr>
        <p:xfrm>
          <a:off x="2428240" y="1864360"/>
          <a:ext cx="6685280" cy="432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27166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132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(headings)</vt:lpstr>
      <vt:lpstr>Calibri</vt:lpstr>
      <vt:lpstr>Calibri Light</vt:lpstr>
      <vt:lpstr>Tw Cen MT</vt:lpstr>
      <vt:lpstr>Office Theme</vt:lpstr>
      <vt:lpstr>Khalifa University Libraries</vt:lpstr>
      <vt:lpstr>Headcount </vt:lpstr>
      <vt:lpstr>Document Delivery Services </vt:lpstr>
      <vt:lpstr>Document Delivery Services </vt:lpstr>
      <vt:lpstr>Public Services </vt:lpstr>
      <vt:lpstr>Workshops &amp; Information Literacy Sessions </vt:lpstr>
      <vt:lpstr>Study Rooms Booking</vt:lpstr>
      <vt:lpstr>Medical Library Statistics Document Delivery</vt:lpstr>
      <vt:lpstr>Medical Library Statistics Workshops &amp; Training</vt:lpstr>
      <vt:lpstr>Medical Library Statistics Information Literacy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Khalifa University Libraries</dc:title>
  <dc:creator>Muna Ahmad Abdulla</dc:creator>
  <cp:lastModifiedBy>Muna Ahmad Abdulla</cp:lastModifiedBy>
  <cp:revision>61</cp:revision>
  <dcterms:created xsi:type="dcterms:W3CDTF">2022-01-12T12:36:27Z</dcterms:created>
  <dcterms:modified xsi:type="dcterms:W3CDTF">2022-01-27T08:38:21Z</dcterms:modified>
</cp:coreProperties>
</file>