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9" r:id="rId2"/>
    <p:sldMasterId id="2147483735" r:id="rId3"/>
  </p:sldMasterIdLst>
  <p:notesMasterIdLst>
    <p:notesMasterId r:id="rId15"/>
  </p:notesMasterIdLst>
  <p:sldIdLst>
    <p:sldId id="257" r:id="rId4"/>
    <p:sldId id="411" r:id="rId5"/>
    <p:sldId id="398" r:id="rId6"/>
    <p:sldId id="399" r:id="rId7"/>
    <p:sldId id="397" r:id="rId8"/>
    <p:sldId id="323" r:id="rId9"/>
    <p:sldId id="412" r:id="rId10"/>
    <p:sldId id="364" r:id="rId11"/>
    <p:sldId id="400" r:id="rId12"/>
    <p:sldId id="403" r:id="rId13"/>
    <p:sldId id="413" r:id="rId1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FDA"/>
    <a:srgbClr val="305496"/>
    <a:srgbClr val="0000B8"/>
    <a:srgbClr val="0047BA"/>
    <a:srgbClr val="7DAFFF"/>
    <a:srgbClr val="5B81E1"/>
    <a:srgbClr val="4D60EF"/>
    <a:srgbClr val="3D87FF"/>
    <a:srgbClr val="BED7FF"/>
    <a:srgbClr val="1A1A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6736A-9088-463C-B787-0EC4C25A687D}" v="4" dt="2020-05-04T09:34:10.399"/>
    <p1510:client id="{1AF48960-E328-4193-83AB-7E9FCFB64666}" v="25" dt="2020-05-04T08:15:58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4BADF-440A-464B-801A-7AE23B810119}" type="datetimeFigureOut">
              <a:rPr lang="en-US" smtClean="0"/>
              <a:t>7/7/2022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6DA89-2106-4B21-9C3B-C8CA894D5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4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6" y="881632"/>
            <a:ext cx="4778509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247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7" y="881632"/>
            <a:ext cx="4778507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8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6" y="881632"/>
            <a:ext cx="4778509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53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4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75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96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4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1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732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4435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595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09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016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596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95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1500" b="1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 You</a:t>
            </a:r>
            <a:endParaRPr kumimoji="0" lang="en-US" sz="11500" b="1" i="0" u="none" strike="noStrike" kern="120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12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4773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</a:t>
            </a:r>
            <a:fld id="{EEA042A3-62D8-48B4-BDE9-00E69FEA138A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8525933" y="6278563"/>
            <a:ext cx="2658632" cy="914400"/>
          </a:xfrm>
        </p:spPr>
        <p:txBody>
          <a:bodyPr/>
          <a:lstStyle>
            <a:lvl1pPr algn="r">
              <a:defRPr sz="1100" baseline="0"/>
            </a:lvl1pPr>
          </a:lstStyle>
          <a:p>
            <a:pPr lvl="0"/>
            <a:r>
              <a:rPr lang="en-US" dirty="0"/>
              <a:t>KHALIFA UNIVERSITY</a:t>
            </a:r>
          </a:p>
        </p:txBody>
      </p:sp>
    </p:spTree>
    <p:extLst>
      <p:ext uri="{BB962C8B-B14F-4D97-AF65-F5344CB8AC3E}">
        <p14:creationId xmlns:p14="http://schemas.microsoft.com/office/powerpoint/2010/main" val="211905877"/>
      </p:ext>
    </p:extLst>
  </p:cSld>
  <p:clrMapOvr>
    <a:masterClrMapping/>
  </p:clrMapOvr>
  <p:transition spd="med">
    <p:pull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53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4987990"/>
            <a:ext cx="10363200" cy="610820"/>
          </a:xfrm>
        </p:spPr>
        <p:txBody>
          <a:bodyPr/>
          <a:lstStyle>
            <a:lvl1pPr algn="ctr">
              <a:defRPr lang="en-US" sz="3999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9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170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613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43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22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4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6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89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1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5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5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7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134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294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95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8907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4781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346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273050"/>
            <a:ext cx="4011084" cy="1162051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4" y="1435103"/>
            <a:ext cx="4011084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253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2"/>
            <a:ext cx="7315200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266"/>
            </a:lvl1pPr>
            <a:lvl2pPr marL="609422" indent="0">
              <a:buNone/>
              <a:defRPr sz="3732"/>
            </a:lvl2pPr>
            <a:lvl3pPr marL="1218845" indent="0">
              <a:buNone/>
              <a:defRPr sz="3199"/>
            </a:lvl3pPr>
            <a:lvl4pPr marL="1828267" indent="0">
              <a:buNone/>
              <a:defRPr sz="2666"/>
            </a:lvl4pPr>
            <a:lvl5pPr marL="2437689" indent="0">
              <a:buNone/>
              <a:defRPr sz="2666"/>
            </a:lvl5pPr>
            <a:lvl6pPr marL="3047111" indent="0">
              <a:buNone/>
              <a:defRPr sz="2666"/>
            </a:lvl6pPr>
            <a:lvl7pPr marL="3656534" indent="0">
              <a:buNone/>
              <a:defRPr sz="2666"/>
            </a:lvl7pPr>
            <a:lvl8pPr marL="4265955" indent="0">
              <a:buNone/>
              <a:defRPr sz="2666"/>
            </a:lvl8pPr>
            <a:lvl9pPr marL="4875378" indent="0">
              <a:buNone/>
              <a:defRPr sz="266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40"/>
            <a:ext cx="7315200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963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5422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913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892451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bg>
      <p:bgPr>
        <a:gradFill flip="none" rotWithShape="1">
          <a:gsLst>
            <a:gs pos="81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42"/>
            <a:ext cx="6705600" cy="711081"/>
          </a:xfrm>
        </p:spPr>
        <p:txBody>
          <a:bodyPr>
            <a:noAutofit/>
          </a:bodyPr>
          <a:lstStyle>
            <a:lvl1pPr>
              <a:defRPr sz="359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0000" y="6356354"/>
            <a:ext cx="762001" cy="36512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91440" rIns="0" bIns="91440" numCol="1" anchor="ctr" anchorCtr="1" compatLnSpc="1">
            <a:prstTxWarp prst="textNoShape">
              <a:avLst/>
            </a:prstTxWarp>
          </a:bodyPr>
          <a:lstStyle>
            <a:lvl1pPr algn="r">
              <a:defRPr lang="en-US" sz="1400" kern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69268-9C8B-4EBF-A9EE-DC5DC2D48DC3}" type="slidenum">
              <a:rPr kumimoji="0" lang="es-UY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UY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480301" y="362139"/>
            <a:ext cx="4114800" cy="533400"/>
          </a:xfrm>
        </p:spPr>
        <p:txBody>
          <a:bodyPr anchor="ctr">
            <a:noAutofit/>
          </a:bodyPr>
          <a:lstStyle>
            <a:lvl1pPr marL="0" indent="0" algn="r">
              <a:buNone/>
              <a:defRPr sz="1999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Breadcrumb 1 &gt; Breadcrumb 2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11751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Clipart Righ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69268-9C8B-4EBF-A9EE-DC5DC2D48DC3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84391" y="1066800"/>
            <a:ext cx="4192092" cy="762000"/>
          </a:xfrm>
        </p:spPr>
        <p:txBody>
          <a:bodyPr>
            <a:noAutofit/>
          </a:bodyPr>
          <a:lstStyle>
            <a:lvl1pPr>
              <a:defRPr sz="3999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/>
          </p:nvPr>
        </p:nvSpPr>
        <p:spPr>
          <a:xfrm>
            <a:off x="684391" y="2057400"/>
            <a:ext cx="419209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602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Pictur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3D880977-7262-4385-A8E0-0086619778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5497789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689" y="2760293"/>
            <a:ext cx="223899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3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937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779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747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224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70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4077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2551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8898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2194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45823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345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107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4433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3579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4069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8585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1500" b="1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</a:t>
            </a:r>
            <a:r>
              <a:rPr kumimoji="0" lang="fi-FI" sz="11500" b="1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fi-FI" sz="11500" b="1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</a:t>
            </a:r>
            <a:endParaRPr kumimoji="0" lang="en-US" sz="11500" b="1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12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24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75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3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2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01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hdr="0" ftr="0" dt="0"/>
  <p:txStyles>
    <p:titleStyle>
      <a:lvl1pPr algn="l" defTabSz="1218845" rtl="0" eaLnBrk="1" latinLnBrk="0" hangingPunct="1">
        <a:spcBef>
          <a:spcPct val="0"/>
        </a:spcBef>
        <a:buNone/>
        <a:defRPr sz="3199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067" indent="-457067" algn="l" defTabSz="1218845" rtl="0" eaLnBrk="1" latinLnBrk="0" hangingPunct="1">
        <a:spcBef>
          <a:spcPct val="20000"/>
        </a:spcBef>
        <a:buFont typeface="Arial" pitchFamily="34" charset="0"/>
        <a:buChar char="•"/>
        <a:defRPr sz="3599" kern="1200">
          <a:solidFill>
            <a:schemeClr val="tx1"/>
          </a:solidFill>
          <a:latin typeface="+mj-lt"/>
          <a:ea typeface="+mn-ea"/>
          <a:cs typeface="+mn-cs"/>
        </a:defRPr>
      </a:lvl1pPr>
      <a:lvl2pPr marL="990311" indent="-380889" algn="l" defTabSz="1218845" rtl="0" eaLnBrk="1" latinLnBrk="0" hangingPunct="1">
        <a:spcBef>
          <a:spcPct val="20000"/>
        </a:spcBef>
        <a:buFont typeface="Arial" pitchFamily="34" charset="0"/>
        <a:buChar char="–"/>
        <a:defRPr sz="3199" kern="1200">
          <a:solidFill>
            <a:schemeClr val="tx1"/>
          </a:solidFill>
          <a:latin typeface="+mj-lt"/>
          <a:ea typeface="+mn-ea"/>
          <a:cs typeface="+mn-cs"/>
        </a:defRPr>
      </a:lvl2pPr>
      <a:lvl3pPr marL="1523555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3pPr>
      <a:lvl4pPr marL="2132979" indent="-304712" algn="l" defTabSz="12188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00" indent="-304712" algn="l" defTabSz="12188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822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244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666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089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22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4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67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89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111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534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78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0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8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0120-6120-4C9B-B8E3-CB56D8E6B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5907"/>
            <a:ext cx="9144000" cy="1714500"/>
          </a:xfrm>
        </p:spPr>
        <p:txBody>
          <a:bodyPr>
            <a:normAutofit/>
          </a:bodyPr>
          <a:lstStyle/>
          <a:p>
            <a:r>
              <a:rPr lang="fi-FI" sz="4400" dirty="0" smtClean="0"/>
              <a:t>2023 – 2025  Budget </a:t>
            </a:r>
            <a:r>
              <a:rPr lang="en-US" sz="4400" dirty="0" smtClean="0"/>
              <a:t>Proposal</a:t>
            </a:r>
            <a:endParaRPr lang="en-US" sz="3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0F00F70-315A-4BC8-B180-182E13F5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532" y="4383211"/>
            <a:ext cx="9144000" cy="1247775"/>
          </a:xfrm>
        </p:spPr>
        <p:txBody>
          <a:bodyPr>
            <a:normAutofit/>
          </a:bodyPr>
          <a:lstStyle/>
          <a:p>
            <a:r>
              <a:rPr lang="fi-FI" sz="3200" dirty="0" smtClean="0"/>
              <a:t>Presentation of the President</a:t>
            </a:r>
            <a:endParaRPr lang="fi-FI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50EF1-9BD2-4F18-AEE8-DD1F61C99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 fontScale="62500" lnSpcReduction="20000"/>
          </a:bodyPr>
          <a:lstStyle/>
          <a:p>
            <a:r>
              <a:rPr lang="fi-FI" sz="3800" dirty="0" smtClean="0"/>
              <a:t>07 Jul 2022</a:t>
            </a:r>
            <a:endParaRPr lang="fi-FI" sz="3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11668125" y="203200"/>
            <a:ext cx="523875" cy="24447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569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679605"/>
          </a:xfrm>
        </p:spPr>
        <p:txBody>
          <a:bodyPr>
            <a:normAutofit/>
          </a:bodyPr>
          <a:lstStyle/>
          <a:p>
            <a:r>
              <a:rPr lang="en-US" sz="3000" dirty="0" smtClean="0"/>
              <a:t>2021 – 2025 </a:t>
            </a:r>
            <a:r>
              <a:rPr lang="en-US" sz="3000" dirty="0"/>
              <a:t>Budget </a:t>
            </a:r>
            <a:r>
              <a:rPr lang="en-US" sz="3200" dirty="0"/>
              <a:t>Proposal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409861"/>
              </p:ext>
            </p:extLst>
          </p:nvPr>
        </p:nvGraphicFramePr>
        <p:xfrm>
          <a:off x="63762" y="1411663"/>
          <a:ext cx="12093575" cy="21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5" name="Worksheet" r:id="rId3" imgW="7439156" imgH="1343065" progId="Excel.Sheet.12">
                  <p:embed/>
                </p:oleObj>
              </mc:Choice>
              <mc:Fallback>
                <p:oleObj name="Worksheet" r:id="rId3" imgW="7439156" imgH="1343065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762" y="1411663"/>
                        <a:ext cx="12093575" cy="217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634064"/>
              </p:ext>
            </p:extLst>
          </p:nvPr>
        </p:nvGraphicFramePr>
        <p:xfrm>
          <a:off x="92652" y="4189038"/>
          <a:ext cx="478472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6" name="Worksheet" r:id="rId5" imgW="2943326" imgH="962158" progId="Excel.Sheet.12">
                  <p:embed/>
                </p:oleObj>
              </mc:Choice>
              <mc:Fallback>
                <p:oleObj name="Worksheet" r:id="rId5" imgW="2943326" imgH="962158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652" y="4189038"/>
                        <a:ext cx="4784725" cy="156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19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32732"/>
          </a:xfrm>
        </p:spPr>
        <p:txBody>
          <a:bodyPr>
            <a:normAutofit fontScale="90000"/>
          </a:bodyPr>
          <a:lstStyle/>
          <a:p>
            <a:r>
              <a:rPr lang="en-US" sz="3000" dirty="0" smtClean="0"/>
              <a:t>Chapter – 02 (Opex) : 2023 Budget </a:t>
            </a:r>
            <a:r>
              <a:rPr lang="en-US" sz="3200" dirty="0" smtClean="0"/>
              <a:t>Proposal (</a:t>
            </a:r>
            <a:r>
              <a:rPr lang="en-US" sz="2800" dirty="0" smtClean="0"/>
              <a:t>Top 18 Accounts</a:t>
            </a:r>
            <a:r>
              <a:rPr lang="en-US" sz="3200" dirty="0" smtClean="0"/>
              <a:t>)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672918"/>
              </p:ext>
            </p:extLst>
          </p:nvPr>
        </p:nvGraphicFramePr>
        <p:xfrm>
          <a:off x="430213" y="1306514"/>
          <a:ext cx="9882629" cy="5407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" name="Worksheet" r:id="rId3" imgW="12468176" imgH="8534253" progId="Excel.Sheet.12">
                  <p:embed/>
                </p:oleObj>
              </mc:Choice>
              <mc:Fallback>
                <p:oleObj name="Worksheet" r:id="rId3" imgW="12468176" imgH="853425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213" y="1306514"/>
                        <a:ext cx="9882629" cy="5407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84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15" y="649764"/>
            <a:ext cx="11517903" cy="56072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Chapter – 03 (Capex) : 2023 Budget </a:t>
            </a:r>
            <a:r>
              <a:rPr lang="en-US" sz="3200" dirty="0"/>
              <a:t>Proposal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872150"/>
              </p:ext>
            </p:extLst>
          </p:nvPr>
        </p:nvGraphicFramePr>
        <p:xfrm>
          <a:off x="425450" y="1355725"/>
          <a:ext cx="9629775" cy="492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Worksheet" r:id="rId3" imgW="11982413" imgH="6134073" progId="Excel.Sheet.12">
                  <p:embed/>
                </p:oleObj>
              </mc:Choice>
              <mc:Fallback>
                <p:oleObj name="Worksheet" r:id="rId3" imgW="11982413" imgH="613407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5450" y="1355725"/>
                        <a:ext cx="9629775" cy="492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829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9031-A8B4-4AF5-ADC2-43CDD2D6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1" y="566639"/>
            <a:ext cx="9991725" cy="553091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2023 </a:t>
            </a:r>
            <a:r>
              <a:rPr lang="en-US" sz="3000" b="1" dirty="0"/>
              <a:t>Manpower Budget Proposal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695812"/>
              </p:ext>
            </p:extLst>
          </p:nvPr>
        </p:nvGraphicFramePr>
        <p:xfrm>
          <a:off x="381171" y="1197565"/>
          <a:ext cx="4304040" cy="534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Worksheet" r:id="rId3" imgW="5486400" imgH="6810282" progId="Excel.Sheet.12">
                  <p:embed/>
                </p:oleObj>
              </mc:Choice>
              <mc:Fallback>
                <p:oleObj name="Worksheet" r:id="rId3" imgW="5486400" imgH="681028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171" y="1197565"/>
                        <a:ext cx="4304040" cy="5349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64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57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9031-A8B4-4AF5-ADC2-43CDD2D6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1" y="566639"/>
            <a:ext cx="9991725" cy="553091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2023 </a:t>
            </a:r>
            <a:r>
              <a:rPr lang="en-US" sz="3000" b="1" dirty="0"/>
              <a:t>Manpower Budget Proposal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23048"/>
              </p:ext>
            </p:extLst>
          </p:nvPr>
        </p:nvGraphicFramePr>
        <p:xfrm>
          <a:off x="381000" y="1196975"/>
          <a:ext cx="8089900" cy="482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Worksheet" r:id="rId3" imgW="9515509" imgH="6924662" progId="Excel.Sheet.12">
                  <p:embed/>
                </p:oleObj>
              </mc:Choice>
              <mc:Fallback>
                <p:oleObj name="Worksheet" r:id="rId3" imgW="9515509" imgH="6924662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196975"/>
                        <a:ext cx="8089900" cy="482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500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1"/>
            <a:ext cx="9991725" cy="647278"/>
          </a:xfrm>
        </p:spPr>
        <p:txBody>
          <a:bodyPr>
            <a:normAutofit/>
          </a:bodyPr>
          <a:lstStyle/>
          <a:p>
            <a:r>
              <a:rPr lang="en-US" dirty="0" smtClean="0"/>
              <a:t>Budget Performance as of Jun 2022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77" y="1320801"/>
            <a:ext cx="10685889" cy="49414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82757"/>
              </p:ext>
            </p:extLst>
          </p:nvPr>
        </p:nvGraphicFramePr>
        <p:xfrm>
          <a:off x="384175" y="1736725"/>
          <a:ext cx="94234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Worksheet" r:id="rId3" imgW="5152976" imgH="1152432" progId="Excel.Sheet.12">
                  <p:embed/>
                </p:oleObj>
              </mc:Choice>
              <mc:Fallback>
                <p:oleObj name="Worksheet" r:id="rId3" imgW="5152976" imgH="115243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736725"/>
                        <a:ext cx="9423400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51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2"/>
            <a:ext cx="9991725" cy="702401"/>
          </a:xfrm>
        </p:spPr>
        <p:txBody>
          <a:bodyPr>
            <a:normAutofit/>
          </a:bodyPr>
          <a:lstStyle/>
          <a:p>
            <a:r>
              <a:rPr lang="en-US" dirty="0" smtClean="0"/>
              <a:t>Student Summary 2022-2028 (UG &amp; PG)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556055"/>
              </p:ext>
            </p:extLst>
          </p:nvPr>
        </p:nvGraphicFramePr>
        <p:xfrm>
          <a:off x="430213" y="1603375"/>
          <a:ext cx="9999939" cy="358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Worksheet" r:id="rId3" imgW="5867250" imgH="2104878" progId="Excel.Sheet.12">
                  <p:embed/>
                </p:oleObj>
              </mc:Choice>
              <mc:Fallback>
                <p:oleObj name="Worksheet" r:id="rId3" imgW="5867250" imgH="21048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213" y="1603375"/>
                        <a:ext cx="9999939" cy="358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33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75" y="595179"/>
            <a:ext cx="9991725" cy="737234"/>
          </a:xfrm>
        </p:spPr>
        <p:txBody>
          <a:bodyPr/>
          <a:lstStyle/>
          <a:p>
            <a:r>
              <a:rPr lang="en-US" dirty="0" smtClean="0"/>
              <a:t>Facility Area Used by KU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649913"/>
              </p:ext>
            </p:extLst>
          </p:nvPr>
        </p:nvGraphicFramePr>
        <p:xfrm>
          <a:off x="756375" y="1533192"/>
          <a:ext cx="8102788" cy="288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Worksheet" r:id="rId3" imgW="2804397" imgH="998017" progId="Excel.Sheet.12">
                  <p:embed/>
                </p:oleObj>
              </mc:Choice>
              <mc:Fallback>
                <p:oleObj name="Worksheet" r:id="rId3" imgW="2804397" imgH="99801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6375" y="1533192"/>
                        <a:ext cx="8102788" cy="2884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33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860" y="623455"/>
            <a:ext cx="9991725" cy="687532"/>
          </a:xfrm>
        </p:spPr>
        <p:txBody>
          <a:bodyPr/>
          <a:lstStyle/>
          <a:p>
            <a:r>
              <a:rPr lang="fi-FI" dirty="0" smtClean="0"/>
              <a:t>2018 – </a:t>
            </a:r>
            <a:r>
              <a:rPr lang="fi-FI" dirty="0" smtClean="0"/>
              <a:t>2025 Actual / Budget </a:t>
            </a:r>
            <a:r>
              <a:rPr lang="fi-FI" dirty="0" smtClean="0"/>
              <a:t>by Chapters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536337"/>
              </p:ext>
            </p:extLst>
          </p:nvPr>
        </p:nvGraphicFramePr>
        <p:xfrm>
          <a:off x="111125" y="2043113"/>
          <a:ext cx="112664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Worksheet" r:id="rId3" imgW="9042597" imgH="927217" progId="Excel.Sheet.12">
                  <p:embed/>
                </p:oleObj>
              </mc:Choice>
              <mc:Fallback>
                <p:oleObj name="Worksheet" r:id="rId3" imgW="9042597" imgH="927217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125" y="2043113"/>
                        <a:ext cx="11266488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760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7_Office Theme">
  <a:themeElements>
    <a:clrScheme name="ThemeBM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KU">
    <a:dk1>
      <a:sysClr val="windowText" lastClr="000000"/>
    </a:dk1>
    <a:lt1>
      <a:sysClr val="window" lastClr="FFFFFF"/>
    </a:lt1>
    <a:dk2>
      <a:srgbClr val="0047BA"/>
    </a:dk2>
    <a:lt2>
      <a:srgbClr val="96969A"/>
    </a:lt2>
    <a:accent1>
      <a:srgbClr val="00CE7C"/>
    </a:accent1>
    <a:accent2>
      <a:srgbClr val="E53E51"/>
    </a:accent2>
    <a:accent3>
      <a:srgbClr val="84DADE"/>
    </a:accent3>
    <a:accent4>
      <a:srgbClr val="4C3041"/>
    </a:accent4>
    <a:accent5>
      <a:srgbClr val="F5CE3E"/>
    </a:accent5>
    <a:accent6>
      <a:srgbClr val="D0CFCD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15679</TotalTime>
  <Words>85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KU Theme</vt:lpstr>
      <vt:lpstr>7_Office Theme</vt:lpstr>
      <vt:lpstr>2_KU Theme</vt:lpstr>
      <vt:lpstr>Worksheet</vt:lpstr>
      <vt:lpstr>Microsoft Excel Worksheet</vt:lpstr>
      <vt:lpstr>2023 – 2025  Budget Proposal</vt:lpstr>
      <vt:lpstr>2021 – 2025 Budget Proposal</vt:lpstr>
      <vt:lpstr>Chapter – 02 (Opex) : 2023 Budget Proposal (Top 18 Accounts)</vt:lpstr>
      <vt:lpstr>Chapter – 03 (Capex) : 2023 Budget Proposal</vt:lpstr>
      <vt:lpstr>2023 Manpower Budget Proposal</vt:lpstr>
      <vt:lpstr>PowerPoint Presentation</vt:lpstr>
      <vt:lpstr>2023 Manpower Budget Proposal</vt:lpstr>
      <vt:lpstr>Budget Performance as of Jun 2022</vt:lpstr>
      <vt:lpstr>Student Summary 2022-2028 (UG &amp; PG) </vt:lpstr>
      <vt:lpstr>Facility Area Used by KU</vt:lpstr>
      <vt:lpstr>2018 – 2025 Actual / Budget by Chapters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Reports</dc:title>
  <dc:creator>Ashraf Al Najdawi</dc:creator>
  <cp:lastModifiedBy>Abdulla Al Mansoori</cp:lastModifiedBy>
  <cp:revision>491</cp:revision>
  <cp:lastPrinted>2020-07-29T11:07:06Z</cp:lastPrinted>
  <dcterms:created xsi:type="dcterms:W3CDTF">2019-08-05T11:30:47Z</dcterms:created>
  <dcterms:modified xsi:type="dcterms:W3CDTF">2022-07-07T10:48:38Z</dcterms:modified>
</cp:coreProperties>
</file>