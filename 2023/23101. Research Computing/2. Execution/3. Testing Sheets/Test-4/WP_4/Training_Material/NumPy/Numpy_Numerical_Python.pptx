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713" r:id="rId3"/>
  </p:sldMasterIdLst>
  <p:sldIdLst>
    <p:sldId id="256" r:id="rId4"/>
    <p:sldId id="265" r:id="rId5"/>
    <p:sldId id="295" r:id="rId6"/>
    <p:sldId id="305" r:id="rId7"/>
    <p:sldId id="304" r:id="rId8"/>
    <p:sldId id="306" r:id="rId9"/>
    <p:sldId id="307" r:id="rId10"/>
    <p:sldId id="308" r:id="rId11"/>
    <p:sldId id="309" r:id="rId12"/>
    <p:sldId id="310" r:id="rId13"/>
    <p:sldId id="311" r:id="rId14"/>
    <p:sldId id="298" r:id="rId15"/>
    <p:sldId id="312" r:id="rId16"/>
    <p:sldId id="315" r:id="rId17"/>
    <p:sldId id="314" r:id="rId18"/>
    <p:sldId id="316" r:id="rId19"/>
    <p:sldId id="317" r:id="rId20"/>
    <p:sldId id="299" r:id="rId21"/>
    <p:sldId id="324" r:id="rId22"/>
    <p:sldId id="325" r:id="rId23"/>
    <p:sldId id="326" r:id="rId24"/>
    <p:sldId id="327" r:id="rId25"/>
    <p:sldId id="323" r:id="rId26"/>
    <p:sldId id="318" r:id="rId27"/>
    <p:sldId id="319" r:id="rId28"/>
    <p:sldId id="320" r:id="rId29"/>
    <p:sldId id="321" r:id="rId30"/>
    <p:sldId id="322" r:id="rId31"/>
    <p:sldId id="328" r:id="rId32"/>
    <p:sldId id="329" r:id="rId33"/>
    <p:sldId id="330" r:id="rId34"/>
    <p:sldId id="331" r:id="rId35"/>
    <p:sldId id="332" r:id="rId36"/>
    <p:sldId id="336" r:id="rId37"/>
    <p:sldId id="337" r:id="rId38"/>
    <p:sldId id="338" r:id="rId39"/>
    <p:sldId id="339" r:id="rId40"/>
    <p:sldId id="340" r:id="rId41"/>
    <p:sldId id="341" r:id="rId42"/>
    <p:sldId id="342" r:id="rId43"/>
    <p:sldId id="343" r:id="rId44"/>
    <p:sldId id="344" r:id="rId45"/>
    <p:sldId id="345" r:id="rId46"/>
    <p:sldId id="346" r:id="rId47"/>
    <p:sldId id="347" r:id="rId48"/>
    <p:sldId id="348" r:id="rId49"/>
    <p:sldId id="349" r:id="rId50"/>
    <p:sldId id="350" r:id="rId51"/>
    <p:sldId id="351" r:id="rId52"/>
    <p:sldId id="352" r:id="rId53"/>
    <p:sldId id="353" r:id="rId54"/>
    <p:sldId id="354" r:id="rId55"/>
    <p:sldId id="355" r:id="rId56"/>
    <p:sldId id="300" r:id="rId57"/>
    <p:sldId id="366" r:id="rId58"/>
    <p:sldId id="367" r:id="rId59"/>
    <p:sldId id="368" r:id="rId60"/>
    <p:sldId id="356" r:id="rId61"/>
    <p:sldId id="369" r:id="rId62"/>
    <p:sldId id="371" r:id="rId63"/>
    <p:sldId id="370" r:id="rId64"/>
    <p:sldId id="372" r:id="rId65"/>
    <p:sldId id="357" r:id="rId66"/>
    <p:sldId id="358" r:id="rId67"/>
    <p:sldId id="359" r:id="rId68"/>
    <p:sldId id="360" r:id="rId69"/>
    <p:sldId id="301" r:id="rId70"/>
    <p:sldId id="361" r:id="rId71"/>
    <p:sldId id="362" r:id="rId72"/>
    <p:sldId id="363" r:id="rId73"/>
    <p:sldId id="302" r:id="rId74"/>
    <p:sldId id="364" r:id="rId75"/>
    <p:sldId id="365" r:id="rId76"/>
    <p:sldId id="294" r:id="rId77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7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22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 hidden="1"/>
          <p:cNvSpPr/>
          <p:nvPr/>
        </p:nvSpPr>
        <p:spPr>
          <a:xfrm>
            <a:off x="10410840" y="203040"/>
            <a:ext cx="95724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ku.ac.ae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6" name="Line 2"/>
          <p:cNvSpPr/>
          <p:nvPr/>
        </p:nvSpPr>
        <p:spPr>
          <a:xfrm>
            <a:off x="5181480" y="2752560"/>
            <a:ext cx="1809720" cy="0"/>
          </a:xfrm>
          <a:prstGeom prst="line">
            <a:avLst/>
          </a:prstGeom>
          <a:ln w="12600">
            <a:solidFill>
              <a:srgbClr val="FFFFFF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" name="Picture 6"/>
          <p:cNvPicPr/>
          <p:nvPr/>
        </p:nvPicPr>
        <p:blipFill>
          <a:blip r:embed="rId14"/>
          <a:stretch/>
        </p:blipFill>
        <p:spPr>
          <a:xfrm>
            <a:off x="804960" y="654480"/>
            <a:ext cx="3535560" cy="769680"/>
          </a:xfrm>
          <a:prstGeom prst="rect">
            <a:avLst/>
          </a:prstGeom>
          <a:ln>
            <a:noFill/>
          </a:ln>
        </p:spPr>
      </p:pic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10410840" y="203040"/>
            <a:ext cx="95724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ku.ac.ae</a:t>
            </a:r>
            <a:endParaRPr lang="en-US" sz="850" b="0" strike="noStrike" spc="-1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10410840" y="203040"/>
            <a:ext cx="95724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850" b="0" strike="noStrike" spc="-1">
                <a:solidFill>
                  <a:srgbClr val="0047BA"/>
                </a:solidFill>
                <a:latin typeface="Arial"/>
                <a:ea typeface="DejaVu Sans"/>
              </a:rPr>
              <a:t>ku.ac.ae</a:t>
            </a:r>
            <a:endParaRPr lang="en-US" sz="850" b="0" strike="noStrike" spc="-1">
              <a:latin typeface="Arial"/>
            </a:endParaRPr>
          </a:p>
        </p:txBody>
      </p:sp>
      <p:pic>
        <p:nvPicPr>
          <p:cNvPr id="43" name="Picture 6"/>
          <p:cNvPicPr/>
          <p:nvPr/>
        </p:nvPicPr>
        <p:blipFill>
          <a:blip r:embed="rId14"/>
          <a:stretch/>
        </p:blipFill>
        <p:spPr>
          <a:xfrm>
            <a:off x="383760" y="236160"/>
            <a:ext cx="1807200" cy="180720"/>
          </a:xfrm>
          <a:prstGeom prst="rect">
            <a:avLst/>
          </a:prstGeom>
          <a:ln>
            <a:noFill/>
          </a:ln>
        </p:spPr>
      </p:pic>
      <p:sp>
        <p:nvSpPr>
          <p:cNvPr id="44" name="Line 3"/>
          <p:cNvSpPr/>
          <p:nvPr/>
        </p:nvSpPr>
        <p:spPr>
          <a:xfrm>
            <a:off x="383400" y="533160"/>
            <a:ext cx="11465640" cy="0"/>
          </a:xfrm>
          <a:prstGeom prst="line">
            <a:avLst/>
          </a:prstGeom>
          <a:ln>
            <a:solidFill>
              <a:schemeClr val="bg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CustomShape 1" hidden="1"/>
          <p:cNvSpPr/>
          <p:nvPr/>
        </p:nvSpPr>
        <p:spPr>
          <a:xfrm>
            <a:off x="10410840" y="203040"/>
            <a:ext cx="95724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ku.ac.ae</a:t>
            </a:r>
            <a:endParaRPr lang="en-US" sz="850" b="0" strike="noStrike" spc="-1">
              <a:latin typeface="Arial"/>
            </a:endParaRPr>
          </a:p>
        </p:txBody>
      </p:sp>
      <p:pic>
        <p:nvPicPr>
          <p:cNvPr id="210" name="Picture 9"/>
          <p:cNvPicPr/>
          <p:nvPr/>
        </p:nvPicPr>
        <p:blipFill>
          <a:blip r:embed="rId14"/>
          <a:stretch/>
        </p:blipFill>
        <p:spPr>
          <a:xfrm>
            <a:off x="4622760" y="891000"/>
            <a:ext cx="2364120" cy="513720"/>
          </a:xfrm>
          <a:prstGeom prst="rect">
            <a:avLst/>
          </a:prstGeom>
          <a:ln>
            <a:noFill/>
          </a:ln>
        </p:spPr>
      </p:pic>
      <p:sp>
        <p:nvSpPr>
          <p:cNvPr id="211" name="CustomShape 2"/>
          <p:cNvSpPr/>
          <p:nvPr/>
        </p:nvSpPr>
        <p:spPr>
          <a:xfrm>
            <a:off x="752400" y="2553840"/>
            <a:ext cx="10644120" cy="1751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500" b="1" strike="noStrike" spc="-100">
                <a:solidFill>
                  <a:srgbClr val="FFFFFF"/>
                </a:solidFill>
                <a:latin typeface="Arial"/>
                <a:ea typeface="DejaVu Sans"/>
              </a:rPr>
              <a:t>Thank You</a:t>
            </a:r>
            <a:endParaRPr lang="en-US" sz="11500" b="0" strike="noStrike" spc="-1">
              <a:latin typeface="Arial"/>
            </a:endParaRPr>
          </a:p>
        </p:txBody>
      </p:sp>
      <p:sp>
        <p:nvSpPr>
          <p:cNvPr id="212" name="CustomShape 3"/>
          <p:cNvSpPr/>
          <p:nvPr/>
        </p:nvSpPr>
        <p:spPr>
          <a:xfrm>
            <a:off x="5181480" y="6146640"/>
            <a:ext cx="183348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250" b="1" strike="noStrike" spc="-1">
                <a:solidFill>
                  <a:srgbClr val="FFFFFF"/>
                </a:solidFill>
                <a:latin typeface="Arial"/>
                <a:ea typeface="DejaVu Sans"/>
              </a:rPr>
              <a:t>ku.ac.ae</a:t>
            </a:r>
            <a:endParaRPr lang="en-US" sz="1250" b="0" strike="noStrike" spc="-1">
              <a:latin typeface="Arial"/>
            </a:endParaRPr>
          </a:p>
        </p:txBody>
      </p:sp>
      <p:sp>
        <p:nvSpPr>
          <p:cNvPr id="21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21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CustomShape 1"/>
          <p:cNvSpPr/>
          <p:nvPr/>
        </p:nvSpPr>
        <p:spPr>
          <a:xfrm>
            <a:off x="824040" y="2004480"/>
            <a:ext cx="10157552" cy="1710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6000" b="1" strike="noStrike" spc="-1" dirty="0" err="1" smtClean="0">
                <a:solidFill>
                  <a:srgbClr val="0047BA"/>
                </a:solidFill>
                <a:latin typeface="Arial"/>
                <a:ea typeface="DejaVu Sans"/>
              </a:rPr>
              <a:t>NumPy</a:t>
            </a:r>
            <a:r>
              <a:rPr lang="en-US" sz="60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 (Numerical Python)</a:t>
            </a:r>
            <a:endParaRPr lang="en-US" sz="6000" b="0" strike="noStrike" spc="-1" dirty="0">
              <a:latin typeface="Arial"/>
            </a:endParaRPr>
          </a:p>
        </p:txBody>
      </p:sp>
      <p:sp>
        <p:nvSpPr>
          <p:cNvPr id="252" name="CustomShape 2"/>
          <p:cNvSpPr/>
          <p:nvPr/>
        </p:nvSpPr>
        <p:spPr>
          <a:xfrm>
            <a:off x="824040" y="3756960"/>
            <a:ext cx="8906760" cy="1243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3800" b="1" strike="noStrike" spc="-1">
                <a:solidFill>
                  <a:srgbClr val="96969A"/>
                </a:solidFill>
                <a:latin typeface="Arial"/>
                <a:ea typeface="DejaVu Sans"/>
              </a:rPr>
              <a:t>Dr. Sergio Martinez</a:t>
            </a:r>
            <a:endParaRPr lang="en-US" sz="3800" b="0" strike="noStrike" spc="-1">
              <a:latin typeface="Arial"/>
            </a:endParaRPr>
          </a:p>
        </p:txBody>
      </p:sp>
      <p:sp>
        <p:nvSpPr>
          <p:cNvPr id="253" name="CustomShape 3"/>
          <p:cNvSpPr/>
          <p:nvPr/>
        </p:nvSpPr>
        <p:spPr>
          <a:xfrm>
            <a:off x="824040" y="5490360"/>
            <a:ext cx="6725520" cy="30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Course layout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2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6960" y="1679040"/>
            <a:ext cx="3411125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461160" indent="-45720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100000"/>
              <a:buFont typeface="+mj-lt"/>
              <a:buAutoNum type="arabicPeriod"/>
            </a:pPr>
            <a:r>
              <a:rPr lang="en-US" sz="24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Introduction</a:t>
            </a:r>
          </a:p>
          <a:p>
            <a:pPr marL="461160" indent="-45720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100000"/>
              <a:buFont typeface="+mj-lt"/>
              <a:buAutoNum type="arabicPeriod"/>
            </a:pPr>
            <a:r>
              <a:rPr lang="en-US" sz="2400" b="1" spc="-1" dirty="0" smtClean="0">
                <a:solidFill>
                  <a:srgbClr val="0047BA"/>
                </a:solidFill>
                <a:latin typeface="Arial"/>
              </a:rPr>
              <a:t>Creating </a:t>
            </a:r>
            <a:r>
              <a:rPr lang="en-US" sz="2400" b="1" spc="-1" dirty="0" err="1" smtClean="0">
                <a:solidFill>
                  <a:srgbClr val="0047BA"/>
                </a:solidFill>
                <a:latin typeface="Arial"/>
              </a:rPr>
              <a:t>ndarrays</a:t>
            </a:r>
            <a:endParaRPr lang="en-US" sz="2400" b="1" spc="-1" dirty="0" smtClean="0">
              <a:solidFill>
                <a:srgbClr val="0047BA"/>
              </a:solidFill>
              <a:latin typeface="Arial"/>
            </a:endParaRPr>
          </a:p>
          <a:p>
            <a:pPr marL="461160" indent="-45720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100000"/>
              <a:buFont typeface="+mj-lt"/>
              <a:buAutoNum type="arabicPeriod"/>
            </a:pPr>
            <a:r>
              <a:rPr lang="en-US" sz="2400" b="1" spc="-1" dirty="0" smtClean="0">
                <a:solidFill>
                  <a:srgbClr val="0047BA"/>
                </a:solidFill>
                <a:latin typeface="Arial"/>
              </a:rPr>
              <a:t>Indexing and slicing</a:t>
            </a:r>
          </a:p>
          <a:p>
            <a:pPr marL="461160" indent="-45720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100000"/>
              <a:buFont typeface="+mj-lt"/>
              <a:buAutoNum type="arabicPeriod"/>
            </a:pPr>
            <a:r>
              <a:rPr lang="en-US" sz="2400" b="1" spc="-1" dirty="0" smtClean="0">
                <a:solidFill>
                  <a:srgbClr val="0047BA"/>
                </a:solidFill>
                <a:latin typeface="Arial"/>
              </a:rPr>
              <a:t>Array manipulation</a:t>
            </a:r>
          </a:p>
          <a:p>
            <a:pPr marL="461160" indent="-45720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100000"/>
              <a:buFont typeface="+mj-lt"/>
              <a:buAutoNum type="arabicPeriod"/>
            </a:pPr>
            <a:r>
              <a:rPr lang="en-US" sz="2400" b="1" spc="-1" dirty="0" smtClean="0">
                <a:solidFill>
                  <a:srgbClr val="0047BA"/>
                </a:solidFill>
                <a:latin typeface="Arial"/>
              </a:rPr>
              <a:t>Math functions</a:t>
            </a:r>
          </a:p>
          <a:p>
            <a:pPr marL="461160" indent="-45720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100000"/>
              <a:buFont typeface="+mj-lt"/>
              <a:buAutoNum type="arabicPeriod"/>
            </a:pPr>
            <a:r>
              <a:rPr lang="en-US" sz="2400" b="1" spc="-1" dirty="0" smtClean="0">
                <a:solidFill>
                  <a:srgbClr val="0047BA"/>
                </a:solidFill>
                <a:latin typeface="Arial"/>
              </a:rPr>
              <a:t>Input/Outputs</a:t>
            </a:r>
            <a:endParaRPr lang="en-US" spc="-1" dirty="0"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24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300" y="1679040"/>
            <a:ext cx="3686689" cy="3943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Introduction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3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err="1" smtClean="0">
                <a:solidFill>
                  <a:srgbClr val="0047BA"/>
                </a:solidFill>
                <a:latin typeface="Arial"/>
                <a:ea typeface="DejaVu Sans"/>
              </a:rPr>
              <a:t>NumPy</a:t>
            </a:r>
            <a:endParaRPr lang="en-US" sz="2800" b="1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Import the package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ndarray</a:t>
            </a: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 object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Data types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Attributes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0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1800" b="1" strike="noStrike" spc="-1" dirty="0" err="1" smtClean="0">
                <a:solidFill>
                  <a:schemeClr val="tx2"/>
                </a:solidFill>
                <a:latin typeface="Arial"/>
                <a:ea typeface="DejaVu Sans"/>
              </a:rPr>
              <a:t>NumPy</a:t>
            </a:r>
            <a:r>
              <a:rPr lang="en-US" sz="1800" b="0" strike="noStrike" spc="-1" dirty="0" smtClean="0">
                <a:solidFill>
                  <a:srgbClr val="000000"/>
                </a:solidFill>
                <a:latin typeface="Arial"/>
                <a:ea typeface="DejaVu Sans"/>
              </a:rPr>
              <a:t> (Numerical Python), is a library </a:t>
            </a:r>
            <a:r>
              <a:rPr lang="en-US" dirty="0"/>
              <a:t>consisting of </a:t>
            </a:r>
            <a:r>
              <a:rPr lang="en-US" b="1" dirty="0">
                <a:solidFill>
                  <a:schemeClr val="tx2"/>
                </a:solidFill>
              </a:rPr>
              <a:t>multidimensional array objects </a:t>
            </a:r>
            <a:r>
              <a:rPr lang="en-US" dirty="0"/>
              <a:t>and a collection of routines for processing those arrays</a:t>
            </a:r>
            <a:r>
              <a:rPr lang="en-US" dirty="0" smtClean="0"/>
              <a:t>.</a:t>
            </a:r>
          </a:p>
          <a:p>
            <a:pPr marL="182880" indent="-178920">
              <a:lnSpc>
                <a:spcPct val="100000"/>
              </a:lnSpc>
              <a:spcBef>
                <a:spcPts val="30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1800" b="0" strike="noStrike" spc="-1" dirty="0" smtClean="0">
                <a:latin typeface="Arial"/>
              </a:rPr>
              <a:t>Together with </a:t>
            </a:r>
            <a:r>
              <a:rPr lang="en-US" sz="1800" b="1" strike="noStrike" spc="-1" dirty="0" err="1" smtClean="0">
                <a:solidFill>
                  <a:schemeClr val="tx2"/>
                </a:solidFill>
                <a:latin typeface="Arial"/>
              </a:rPr>
              <a:t>Matplotlib</a:t>
            </a:r>
            <a:r>
              <a:rPr lang="en-US" sz="1800" b="0" strike="noStrike" spc="-1" dirty="0" smtClean="0">
                <a:latin typeface="Arial"/>
              </a:rPr>
              <a:t> (plotting library)</a:t>
            </a:r>
            <a:r>
              <a:rPr lang="en-US" spc="-1" dirty="0" smtClean="0">
                <a:latin typeface="Arial"/>
              </a:rPr>
              <a:t>, it can be used as a replacement for </a:t>
            </a:r>
            <a:r>
              <a:rPr lang="en-US" b="1" spc="-1" dirty="0" err="1" smtClean="0">
                <a:solidFill>
                  <a:schemeClr val="tx2"/>
                </a:solidFill>
                <a:latin typeface="Arial"/>
              </a:rPr>
              <a:t>Matlab</a:t>
            </a:r>
            <a:r>
              <a:rPr lang="en-US" spc="-1" dirty="0" smtClean="0">
                <a:latin typeface="Arial"/>
              </a:rPr>
              <a:t>. </a:t>
            </a:r>
          </a:p>
          <a:p>
            <a:pPr marL="182880" indent="-178920">
              <a:lnSpc>
                <a:spcPct val="100000"/>
              </a:lnSpc>
              <a:spcBef>
                <a:spcPts val="30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1800" b="0" strike="noStrike" spc="-1" dirty="0" smtClean="0">
                <a:latin typeface="Arial"/>
              </a:rPr>
              <a:t>Using </a:t>
            </a:r>
            <a:r>
              <a:rPr lang="en-US" sz="1800" b="0" strike="noStrike" spc="-1" dirty="0" err="1" smtClean="0">
                <a:latin typeface="Arial"/>
              </a:rPr>
              <a:t>NumPy</a:t>
            </a:r>
            <a:r>
              <a:rPr lang="en-US" spc="-1" dirty="0" smtClean="0">
                <a:latin typeface="Arial"/>
              </a:rPr>
              <a:t>, a developer can perform:</a:t>
            </a:r>
          </a:p>
          <a:p>
            <a:pPr marL="640080" lvl="1" indent="-178920">
              <a:spcBef>
                <a:spcPts val="18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>
                <a:solidFill>
                  <a:schemeClr val="tx2"/>
                </a:solidFill>
              </a:rPr>
              <a:t>Mathematical</a:t>
            </a:r>
            <a:r>
              <a:rPr lang="en-US" dirty="0"/>
              <a:t> and </a:t>
            </a:r>
            <a:r>
              <a:rPr lang="en-US" b="1" dirty="0">
                <a:solidFill>
                  <a:schemeClr val="tx2"/>
                </a:solidFill>
              </a:rPr>
              <a:t>logical</a:t>
            </a:r>
            <a:r>
              <a:rPr lang="en-US" dirty="0"/>
              <a:t> operations on arrays</a:t>
            </a:r>
            <a:r>
              <a:rPr lang="en-US" dirty="0" smtClean="0"/>
              <a:t>.</a:t>
            </a:r>
          </a:p>
          <a:p>
            <a:pPr marL="640080" lvl="1" indent="-178920">
              <a:spcBef>
                <a:spcPts val="18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>
                <a:solidFill>
                  <a:schemeClr val="tx2"/>
                </a:solidFill>
              </a:rPr>
              <a:t>Fourier transforms</a:t>
            </a:r>
            <a:r>
              <a:rPr lang="en-US" dirty="0"/>
              <a:t> and routines for shape manipulation</a:t>
            </a:r>
            <a:r>
              <a:rPr lang="en-US" dirty="0" smtClean="0"/>
              <a:t>.</a:t>
            </a:r>
          </a:p>
          <a:p>
            <a:pPr marL="640080" lvl="1" indent="-178920">
              <a:spcBef>
                <a:spcPts val="18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Operations related to </a:t>
            </a:r>
            <a:r>
              <a:rPr lang="en-US" b="1" dirty="0">
                <a:solidFill>
                  <a:schemeClr val="tx2"/>
                </a:solidFill>
              </a:rPr>
              <a:t>linear algebra</a:t>
            </a:r>
            <a:r>
              <a:rPr lang="en-US" dirty="0" smtClean="0"/>
              <a:t>.</a:t>
            </a:r>
          </a:p>
          <a:p>
            <a:pPr marL="182880" indent="-178920">
              <a:spcBef>
                <a:spcPts val="30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0" strike="noStrike" spc="-1" dirty="0" err="1" smtClean="0">
                <a:latin typeface="Arial"/>
              </a:rPr>
              <a:t>NumPy</a:t>
            </a:r>
            <a:r>
              <a:rPr lang="en-US" b="0" strike="noStrike" spc="-1" dirty="0" smtClean="0">
                <a:latin typeface="Arial"/>
              </a:rPr>
              <a:t> is </a:t>
            </a:r>
            <a:r>
              <a:rPr lang="en-US" b="1" strike="noStrike" spc="-1" dirty="0" smtClean="0">
                <a:solidFill>
                  <a:schemeClr val="tx2"/>
                </a:solidFill>
                <a:latin typeface="Arial"/>
              </a:rPr>
              <a:t>open source</a:t>
            </a:r>
            <a:r>
              <a:rPr lang="en-US" b="0" strike="noStrike" spc="-1" dirty="0" smtClean="0">
                <a:latin typeface="Arial"/>
              </a:rPr>
              <a:t>.</a:t>
            </a:r>
          </a:p>
          <a:p>
            <a:pPr marL="3960" lvl="0">
              <a:spcBef>
                <a:spcPts val="3169"/>
              </a:spcBef>
              <a:buClr>
                <a:srgbClr val="0047BA"/>
              </a:buClr>
              <a:buSzPct val="65000"/>
            </a:pPr>
            <a:endParaRPr lang="en-US" spc="-1" dirty="0" smtClean="0">
              <a:solidFill>
                <a:srgbClr val="000000"/>
              </a:solidFill>
              <a:latin typeface="Arial"/>
              <a:ea typeface="DejaVu Sans"/>
            </a:endParaRPr>
          </a:p>
          <a:p>
            <a:pPr marL="3960" lvl="0">
              <a:spcBef>
                <a:spcPts val="3169"/>
              </a:spcBef>
              <a:buClr>
                <a:srgbClr val="0047BA"/>
              </a:buClr>
              <a:buSzPct val="65000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43217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Introduction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4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err="1" smtClean="0">
                <a:solidFill>
                  <a:srgbClr val="0047BA"/>
                </a:solidFill>
                <a:latin typeface="Arial"/>
                <a:ea typeface="DejaVu Sans"/>
              </a:rPr>
              <a:t>NumPy</a:t>
            </a:r>
            <a:endParaRPr lang="en-US" sz="24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Import the package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ndarray</a:t>
            </a: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 object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Data types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Attributes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1800" b="1" strike="noStrike" spc="-1" dirty="0" err="1" smtClean="0">
                <a:solidFill>
                  <a:schemeClr val="tx2"/>
                </a:solidFill>
                <a:latin typeface="Arial"/>
                <a:ea typeface="DejaVu Sans"/>
              </a:rPr>
              <a:t>NumPy</a:t>
            </a:r>
            <a:r>
              <a:rPr lang="en-US" sz="1800" b="0" strike="noStrike" spc="-1" dirty="0" smtClean="0">
                <a:solidFill>
                  <a:srgbClr val="000000"/>
                </a:solidFill>
                <a:latin typeface="Arial"/>
                <a:ea typeface="DejaVu Sans"/>
              </a:rPr>
              <a:t> is imported using the following syntax:</a:t>
            </a:r>
            <a:endParaRPr lang="en-US" sz="1800" b="0" strike="noStrike" spc="-1" dirty="0" smtClean="0">
              <a:latin typeface="Arial"/>
            </a:endParaRPr>
          </a:p>
          <a:p>
            <a:pPr marL="3960" lvl="0">
              <a:spcBef>
                <a:spcPts val="3169"/>
              </a:spcBef>
              <a:buClr>
                <a:srgbClr val="0047BA"/>
              </a:buClr>
              <a:buSzPct val="65000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182880" lvl="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>
                <a:solidFill>
                  <a:srgbClr val="000000"/>
                </a:solidFill>
                <a:latin typeface="Arial"/>
                <a:ea typeface="DejaVu Sans"/>
              </a:rPr>
              <a:t>As a convention, we can </a:t>
            </a:r>
            <a:r>
              <a:rPr lang="en-US" spc="-1" dirty="0" smtClean="0">
                <a:solidFill>
                  <a:srgbClr val="000000"/>
                </a:solidFill>
                <a:latin typeface="Arial"/>
                <a:ea typeface="DejaVu Sans"/>
              </a:rPr>
              <a:t>import with:</a:t>
            </a:r>
            <a:endParaRPr lang="en-US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 marL="3960" lvl="0">
              <a:spcBef>
                <a:spcPts val="3169"/>
              </a:spcBef>
              <a:buClr>
                <a:srgbClr val="0047BA"/>
              </a:buClr>
              <a:buSzPct val="65000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182880" lvl="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 smtClean="0">
                <a:solidFill>
                  <a:srgbClr val="000000"/>
                </a:solidFill>
                <a:latin typeface="Arial"/>
                <a:ea typeface="DejaVu Sans"/>
              </a:rPr>
              <a:t>Then, the usage will be:</a:t>
            </a:r>
          </a:p>
          <a:p>
            <a:pPr marL="3960" lvl="0">
              <a:spcBef>
                <a:spcPts val="3169"/>
              </a:spcBef>
              <a:buClr>
                <a:srgbClr val="0047BA"/>
              </a:buClr>
              <a:buSzPct val="65000"/>
            </a:pPr>
            <a:endParaRPr lang="en-US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 marL="3960" lvl="0">
              <a:spcBef>
                <a:spcPts val="3169"/>
              </a:spcBef>
              <a:buClr>
                <a:srgbClr val="0047BA"/>
              </a:buClr>
              <a:buSzPct val="65000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Rectangle 22"/>
          <p:cNvSpPr/>
          <p:nvPr/>
        </p:nvSpPr>
        <p:spPr>
          <a:xfrm>
            <a:off x="5287651" y="1616690"/>
            <a:ext cx="627554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b="1" i="0" dirty="0" smtClean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1" i="0" dirty="0" smtClean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 err="1" smtClean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n-US" b="1" i="0" dirty="0" smtClean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</a:t>
            </a:r>
            <a:endParaRPr lang="en-US" b="1" dirty="0"/>
          </a:p>
        </p:txBody>
      </p:sp>
      <p:sp>
        <p:nvSpPr>
          <p:cNvPr id="31" name="Rectangle 30"/>
          <p:cNvSpPr/>
          <p:nvPr/>
        </p:nvSpPr>
        <p:spPr>
          <a:xfrm>
            <a:off x="5287651" y="2942684"/>
            <a:ext cx="627554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b="1" i="0" dirty="0" smtClean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b="1" i="0" dirty="0" smtClean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 err="1" smtClean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numpy</a:t>
            </a:r>
            <a:r>
              <a:rPr lang="en-US" b="1" i="0" dirty="0" smtClean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 smtClean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b="1" i="0" dirty="0" smtClean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1" i="0" dirty="0" smtClean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np</a:t>
            </a:r>
            <a:r>
              <a:rPr lang="en-US" b="1" i="0" dirty="0" smtClean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</a:t>
            </a:r>
            <a:endParaRPr lang="en-US" b="1" dirty="0"/>
          </a:p>
        </p:txBody>
      </p:sp>
      <p:sp>
        <p:nvSpPr>
          <p:cNvPr id="32" name="Rectangle 31"/>
          <p:cNvSpPr/>
          <p:nvPr/>
        </p:nvSpPr>
        <p:spPr>
          <a:xfrm>
            <a:off x="5302051" y="4268678"/>
            <a:ext cx="627554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b="0" i="0" dirty="0" err="1" smtClean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np</a:t>
            </a:r>
            <a:r>
              <a:rPr lang="en-US" b="0" i="0" dirty="0" err="1" smtClean="0">
                <a:solidFill>
                  <a:srgbClr val="666666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US" b="0" i="0" dirty="0" err="1" smtClean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command</a:t>
            </a:r>
            <a:r>
              <a:rPr lang="en-US" b="0" i="0" dirty="0" smtClean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(xxx)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334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Introduction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5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err="1" smtClean="0">
                <a:solidFill>
                  <a:srgbClr val="0047BA"/>
                </a:solidFill>
                <a:latin typeface="Arial"/>
                <a:ea typeface="DejaVu Sans"/>
              </a:rPr>
              <a:t>NumPy</a:t>
            </a:r>
            <a:endParaRPr lang="en-US" sz="24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Import the package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err="1" smtClean="0">
                <a:solidFill>
                  <a:srgbClr val="0047BA"/>
                </a:solidFill>
                <a:latin typeface="Arial"/>
              </a:rPr>
              <a:t>ndarray</a:t>
            </a: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 object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Data types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Attributes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0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pc="-1" dirty="0"/>
              <a:t>The most important object defined in </a:t>
            </a:r>
            <a:r>
              <a:rPr lang="en-US" b="1" spc="-1" dirty="0" err="1">
                <a:solidFill>
                  <a:schemeClr val="tx2"/>
                </a:solidFill>
              </a:rPr>
              <a:t>NumPy</a:t>
            </a:r>
            <a:r>
              <a:rPr lang="en-US" spc="-1" dirty="0"/>
              <a:t> is an </a:t>
            </a:r>
            <a:r>
              <a:rPr lang="en-US" b="1" spc="-1" dirty="0">
                <a:solidFill>
                  <a:schemeClr val="tx2"/>
                </a:solidFill>
              </a:rPr>
              <a:t>N-dimensional</a:t>
            </a:r>
            <a:r>
              <a:rPr lang="en-US" spc="-1" dirty="0"/>
              <a:t> array type called </a:t>
            </a:r>
            <a:r>
              <a:rPr lang="en-US" b="1" spc="-1" dirty="0" err="1">
                <a:solidFill>
                  <a:schemeClr val="tx2"/>
                </a:solidFill>
              </a:rPr>
              <a:t>ndarray</a:t>
            </a:r>
            <a:r>
              <a:rPr lang="en-US" spc="-1" dirty="0" smtClean="0"/>
              <a:t>.</a:t>
            </a:r>
          </a:p>
          <a:p>
            <a:pPr marL="182880" indent="-178920">
              <a:lnSpc>
                <a:spcPct val="100000"/>
              </a:lnSpc>
              <a:spcBef>
                <a:spcPts val="30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It describes the collection of items of the </a:t>
            </a:r>
            <a:r>
              <a:rPr lang="en-US" b="1" dirty="0">
                <a:solidFill>
                  <a:schemeClr val="tx2"/>
                </a:solidFill>
              </a:rPr>
              <a:t>same type</a:t>
            </a:r>
            <a:r>
              <a:rPr lang="en-US" dirty="0" smtClean="0"/>
              <a:t>.</a:t>
            </a:r>
          </a:p>
          <a:p>
            <a:pPr marL="182880" indent="-178920">
              <a:lnSpc>
                <a:spcPct val="100000"/>
              </a:lnSpc>
              <a:spcBef>
                <a:spcPts val="30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Items in the collection can be accessed using a </a:t>
            </a:r>
            <a:r>
              <a:rPr lang="en-US" b="1" dirty="0">
                <a:solidFill>
                  <a:schemeClr val="tx2"/>
                </a:solidFill>
              </a:rPr>
              <a:t>zero-based</a:t>
            </a:r>
            <a:r>
              <a:rPr lang="en-US" dirty="0"/>
              <a:t> index.</a:t>
            </a: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/>
          </a:p>
          <a:p>
            <a:pPr marL="3960" lvl="0">
              <a:spcBef>
                <a:spcPts val="3169"/>
              </a:spcBef>
              <a:buClr>
                <a:srgbClr val="0047BA"/>
              </a:buClr>
              <a:buSzPct val="65000"/>
            </a:pPr>
            <a:endParaRPr lang="en-US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 marL="3960" lvl="0">
              <a:spcBef>
                <a:spcPts val="3169"/>
              </a:spcBef>
              <a:buClr>
                <a:srgbClr val="0047BA"/>
              </a:buClr>
              <a:buSzPct val="65000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651" y="4021040"/>
            <a:ext cx="6289949" cy="182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8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Introduction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6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err="1" smtClean="0">
                <a:solidFill>
                  <a:srgbClr val="0047BA"/>
                </a:solidFill>
                <a:latin typeface="Arial"/>
                <a:ea typeface="DejaVu Sans"/>
              </a:rPr>
              <a:t>NumPy</a:t>
            </a:r>
            <a:endParaRPr lang="en-US" sz="24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Import the package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err="1" smtClean="0">
                <a:solidFill>
                  <a:srgbClr val="0047BA"/>
                </a:solidFill>
                <a:latin typeface="Arial"/>
              </a:rPr>
              <a:t>ndarray</a:t>
            </a: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 object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Data types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Attributes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An instance of </a:t>
            </a:r>
            <a:r>
              <a:rPr lang="en-US" dirty="0" err="1"/>
              <a:t>ndarray</a:t>
            </a:r>
            <a:r>
              <a:rPr lang="en-US" dirty="0"/>
              <a:t> class can be constructed by different array creation routines described </a:t>
            </a:r>
            <a:r>
              <a:rPr lang="en-US" dirty="0" smtClean="0"/>
              <a:t>later</a:t>
            </a:r>
            <a:endParaRPr lang="en-US" spc="-1" dirty="0" smtClean="0">
              <a:solidFill>
                <a:srgbClr val="000000"/>
              </a:solidFill>
            </a:endParaRPr>
          </a:p>
          <a:p>
            <a:pPr marL="182880" lvl="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The basic </a:t>
            </a:r>
            <a:r>
              <a:rPr lang="en-US" dirty="0" err="1"/>
              <a:t>ndarray</a:t>
            </a:r>
            <a:r>
              <a:rPr lang="en-US" dirty="0"/>
              <a:t> is created using an array function in </a:t>
            </a:r>
            <a:r>
              <a:rPr lang="en-US" dirty="0" err="1"/>
              <a:t>NumPy</a:t>
            </a:r>
            <a:r>
              <a:rPr lang="en-US" dirty="0"/>
              <a:t> as </a:t>
            </a:r>
            <a:r>
              <a:rPr lang="en-US" dirty="0" smtClean="0"/>
              <a:t>follows</a:t>
            </a:r>
          </a:p>
          <a:p>
            <a:pPr marL="182880" lvl="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>
              <a:solidFill>
                <a:srgbClr val="000000"/>
              </a:solidFill>
            </a:endParaRPr>
          </a:p>
          <a:p>
            <a:pPr marL="182880" lvl="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It creates an </a:t>
            </a:r>
            <a:r>
              <a:rPr lang="en-US" dirty="0" err="1"/>
              <a:t>ndarray</a:t>
            </a:r>
            <a:r>
              <a:rPr lang="en-US" dirty="0"/>
              <a:t> from any object exposing array interface, or from any method that returns an </a:t>
            </a:r>
            <a:r>
              <a:rPr lang="en-US" dirty="0" smtClean="0"/>
              <a:t>array. The default constructor looks like:</a:t>
            </a:r>
          </a:p>
          <a:p>
            <a:pPr marL="182880" lvl="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 lvl="0">
              <a:spcBef>
                <a:spcPts val="3169"/>
              </a:spcBef>
              <a:buClr>
                <a:srgbClr val="0047BA"/>
              </a:buClr>
              <a:buSzPct val="65000"/>
            </a:pPr>
            <a:endParaRPr lang="en-US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 marL="3960" lvl="0">
              <a:spcBef>
                <a:spcPts val="3169"/>
              </a:spcBef>
              <a:buClr>
                <a:srgbClr val="0047BA"/>
              </a:buClr>
              <a:buSzPct val="65000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287651" y="2928251"/>
            <a:ext cx="6275549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333333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numpy</a:t>
            </a:r>
            <a:r>
              <a:rPr lang="en-US" dirty="0">
                <a:solidFill>
                  <a:srgbClr val="333333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as</a:t>
            </a:r>
            <a:r>
              <a:rPr lang="en-US" dirty="0">
                <a:solidFill>
                  <a:srgbClr val="333333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np</a:t>
            </a:r>
            <a:r>
              <a:rPr lang="en-US" dirty="0">
                <a:solidFill>
                  <a:srgbClr val="333333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333333"/>
              </a:solidFill>
              <a:latin typeface="Courier New" panose="02070309020205020404" pitchFamily="49" charset="0"/>
            </a:endParaRPr>
          </a:p>
          <a:p>
            <a:r>
              <a:rPr lang="en-US" dirty="0" smtClean="0">
                <a:solidFill>
                  <a:srgbClr val="333333"/>
                </a:solidFill>
                <a:latin typeface="Courier New" panose="02070309020205020404" pitchFamily="49" charset="0"/>
              </a:rPr>
              <a:t>A </a:t>
            </a:r>
            <a:r>
              <a:rPr lang="en-US" dirty="0">
                <a:solidFill>
                  <a:srgbClr val="666666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Courier New" panose="02070309020205020404" pitchFamily="49" charset="0"/>
              </a:rPr>
              <a:t>np</a:t>
            </a:r>
            <a:r>
              <a:rPr lang="en-US" dirty="0" err="1">
                <a:solidFill>
                  <a:srgbClr val="666666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333333"/>
                </a:solidFill>
                <a:latin typeface="Courier New" panose="02070309020205020404" pitchFamily="49" charset="0"/>
              </a:rPr>
              <a:t>array</a:t>
            </a:r>
            <a:r>
              <a:rPr lang="en-US" dirty="0">
                <a:solidFill>
                  <a:srgbClr val="333333"/>
                </a:solidFill>
                <a:latin typeface="Courier New" panose="02070309020205020404" pitchFamily="49" charset="0"/>
              </a:rPr>
              <a:t> 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5273252" y="4732174"/>
            <a:ext cx="6275549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= 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copy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order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subok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ndmin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37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Introduction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7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err="1" smtClean="0">
                <a:solidFill>
                  <a:srgbClr val="0047BA"/>
                </a:solidFill>
                <a:latin typeface="Arial"/>
                <a:ea typeface="DejaVu Sans"/>
              </a:rPr>
              <a:t>NumPy</a:t>
            </a:r>
            <a:endParaRPr lang="en-US" sz="24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Import the package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err="1" smtClean="0">
                <a:solidFill>
                  <a:srgbClr val="0047BA"/>
                </a:solidFill>
                <a:latin typeface="Arial"/>
              </a:rPr>
              <a:t>ndarray</a:t>
            </a: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 object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Data types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Attributes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The </a:t>
            </a:r>
            <a:r>
              <a:rPr lang="en-US" dirty="0" smtClean="0"/>
              <a:t>previous </a:t>
            </a:r>
            <a:r>
              <a:rPr lang="en-US" dirty="0"/>
              <a:t>constructor takes the following </a:t>
            </a:r>
            <a:r>
              <a:rPr lang="en-US" dirty="0" smtClean="0"/>
              <a:t>parameters: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>
              <a:solidFill>
                <a:srgbClr val="000000"/>
              </a:solidFill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>
              <a:solidFill>
                <a:srgbClr val="000000"/>
              </a:solidFill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>
              <a:solidFill>
                <a:srgbClr val="000000"/>
              </a:solidFill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1600" b="1" spc="-1" dirty="0" smtClean="0">
                <a:solidFill>
                  <a:schemeClr val="tx2"/>
                </a:solidFill>
              </a:rPr>
              <a:t>Let’s see some examples:</a:t>
            </a: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z="1600" spc="-1" dirty="0" smtClean="0">
                <a:solidFill>
                  <a:schemeClr val="tx2"/>
                </a:solidFill>
              </a:rPr>
              <a:t>01_Introduction/</a:t>
            </a:r>
            <a:r>
              <a:rPr lang="en-US" sz="1600" spc="-1" dirty="0" err="1" smtClean="0">
                <a:solidFill>
                  <a:schemeClr val="tx2"/>
                </a:solidFill>
              </a:rPr>
              <a:t>ndarray_object_constructor.ipynb</a:t>
            </a:r>
            <a:endParaRPr lang="en-US" sz="1600" spc="-1" dirty="0" smtClean="0">
              <a:solidFill>
                <a:schemeClr val="tx2"/>
              </a:solidFill>
            </a:endParaRPr>
          </a:p>
          <a:p>
            <a:pPr marL="3960" lvl="0">
              <a:spcBef>
                <a:spcPts val="3169"/>
              </a:spcBef>
              <a:buClr>
                <a:srgbClr val="0047BA"/>
              </a:buClr>
              <a:buSzPct val="65000"/>
            </a:pPr>
            <a:endParaRPr lang="en-US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 marL="3960" lvl="0">
              <a:spcBef>
                <a:spcPts val="3169"/>
              </a:spcBef>
              <a:buClr>
                <a:srgbClr val="0047BA"/>
              </a:buClr>
              <a:buSzPct val="65000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299609"/>
              </p:ext>
            </p:extLst>
          </p:nvPr>
        </p:nvGraphicFramePr>
        <p:xfrm>
          <a:off x="5287648" y="1676071"/>
          <a:ext cx="6275551" cy="3942766"/>
        </p:xfrm>
        <a:graphic>
          <a:graphicData uri="http://schemas.openxmlformats.org/drawingml/2006/table">
            <a:tbl>
              <a:tblPr/>
              <a:tblGrid>
                <a:gridCol w="662701">
                  <a:extLst>
                    <a:ext uri="{9D8B030D-6E8A-4147-A177-3AD203B41FA5}">
                      <a16:colId xmlns:a16="http://schemas.microsoft.com/office/drawing/2014/main" val="3733997974"/>
                    </a:ext>
                  </a:extLst>
                </a:gridCol>
                <a:gridCol w="5612850">
                  <a:extLst>
                    <a:ext uri="{9D8B030D-6E8A-4147-A177-3AD203B41FA5}">
                      <a16:colId xmlns:a16="http://schemas.microsoft.com/office/drawing/2014/main" val="2260607036"/>
                    </a:ext>
                  </a:extLst>
                </a:gridCol>
              </a:tblGrid>
              <a:tr h="23005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Sr.No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L="41081" marR="41081" marT="41081" marB="4108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Parameter &amp; Description</a:t>
                      </a:r>
                    </a:p>
                  </a:txBody>
                  <a:tcPr marL="41081" marR="41081" marT="41081" marB="4108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441469"/>
                  </a:ext>
                </a:extLst>
              </a:tr>
              <a:tr h="463112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41081" marR="41081" marT="41081" marB="4108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object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Any object exposing the array interface method returns an array, or any (nested) sequence.</a:t>
                      </a:r>
                    </a:p>
                  </a:txBody>
                  <a:tcPr marL="41081" marR="41081" marT="41081" marB="4108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78149"/>
                  </a:ext>
                </a:extLst>
              </a:tr>
              <a:tr h="525843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41081" marR="41081" marT="41081" marB="4108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dtype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Desired data type of array, optional</a:t>
                      </a:r>
                    </a:p>
                  </a:txBody>
                  <a:tcPr marL="41081" marR="41081" marT="41081" marB="4108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6996407"/>
                  </a:ext>
                </a:extLst>
              </a:tr>
              <a:tr h="525843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41081" marR="41081" marT="41081" marB="4108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copy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Optional. By default (true), the object is copied</a:t>
                      </a:r>
                    </a:p>
                  </a:txBody>
                  <a:tcPr marL="41081" marR="41081" marT="41081" marB="4108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1983743"/>
                  </a:ext>
                </a:extLst>
              </a:tr>
              <a:tr h="525843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41081" marR="41081" marT="41081" marB="4108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order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C (row major) or F (column major) or A (any) (default)</a:t>
                      </a:r>
                    </a:p>
                  </a:txBody>
                  <a:tcPr marL="41081" marR="41081" marT="41081" marB="4108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6878220"/>
                  </a:ext>
                </a:extLst>
              </a:tr>
              <a:tr h="82163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41081" marR="41081" marT="41081" marB="4108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</a:rPr>
                        <a:t>subok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</a:rPr>
                        <a:t>By default, returned array forced to be a base class array. If true, sub-classes passed through</a:t>
                      </a:r>
                    </a:p>
                  </a:txBody>
                  <a:tcPr marL="41081" marR="41081" marT="41081" marB="4108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8386291"/>
                  </a:ext>
                </a:extLst>
              </a:tr>
              <a:tr h="525843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6</a:t>
                      </a:r>
                    </a:p>
                  </a:txBody>
                  <a:tcPr marL="41081" marR="41081" marT="41081" marB="4108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ndmin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Specifies minimum dimensions of resultant array</a:t>
                      </a:r>
                    </a:p>
                  </a:txBody>
                  <a:tcPr marL="41081" marR="41081" marT="41081" marB="41081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9918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3601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Introduction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8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err="1" smtClean="0">
                <a:solidFill>
                  <a:srgbClr val="0047BA"/>
                </a:solidFill>
                <a:latin typeface="Arial"/>
                <a:ea typeface="DejaVu Sans"/>
              </a:rPr>
              <a:t>NumPy</a:t>
            </a:r>
            <a:endParaRPr lang="en-US" sz="24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Import the package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ndarray</a:t>
            </a: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 object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Data types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Attributes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err="1"/>
              <a:t>NumPy</a:t>
            </a:r>
            <a:r>
              <a:rPr lang="en-US" dirty="0"/>
              <a:t> supports a much greater variety of </a:t>
            </a:r>
            <a:r>
              <a:rPr lang="en-US" b="1" dirty="0">
                <a:solidFill>
                  <a:schemeClr val="tx2"/>
                </a:solidFill>
              </a:rPr>
              <a:t>numerical types </a:t>
            </a:r>
            <a:r>
              <a:rPr lang="en-US" dirty="0"/>
              <a:t>than Python does</a:t>
            </a:r>
            <a:r>
              <a:rPr lang="en-US" dirty="0" smtClean="0"/>
              <a:t>. Some of them are: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Those numerical types are instances of </a:t>
            </a:r>
            <a:r>
              <a:rPr lang="en-US" b="1" dirty="0" err="1" smtClean="0">
                <a:solidFill>
                  <a:schemeClr val="tx2"/>
                </a:solidFill>
              </a:rPr>
              <a:t>dtype</a:t>
            </a:r>
            <a:r>
              <a:rPr lang="en-US" dirty="0" smtClean="0"/>
              <a:t> (data type) class and they can be used when we create </a:t>
            </a:r>
            <a:r>
              <a:rPr lang="en-US" dirty="0" err="1" smtClean="0"/>
              <a:t>ndarray</a:t>
            </a:r>
            <a:r>
              <a:rPr lang="en-US" dirty="0" smtClean="0"/>
              <a:t> objects using </a:t>
            </a:r>
            <a:r>
              <a:rPr lang="en-US" dirty="0" err="1" smtClean="0"/>
              <a:t>dtype</a:t>
            </a:r>
            <a:r>
              <a:rPr lang="en-US" dirty="0" smtClean="0"/>
              <a:t> parameter: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672035"/>
              </p:ext>
            </p:extLst>
          </p:nvPr>
        </p:nvGraphicFramePr>
        <p:xfrm>
          <a:off x="5287649" y="1891790"/>
          <a:ext cx="6275550" cy="2084140"/>
        </p:xfrm>
        <a:graphic>
          <a:graphicData uri="http://schemas.openxmlformats.org/drawingml/2006/table">
            <a:tbl>
              <a:tblPr/>
              <a:tblGrid>
                <a:gridCol w="675001">
                  <a:extLst>
                    <a:ext uri="{9D8B030D-6E8A-4147-A177-3AD203B41FA5}">
                      <a16:colId xmlns:a16="http://schemas.microsoft.com/office/drawing/2014/main" val="544672797"/>
                    </a:ext>
                  </a:extLst>
                </a:gridCol>
                <a:gridCol w="5600549">
                  <a:extLst>
                    <a:ext uri="{9D8B030D-6E8A-4147-A177-3AD203B41FA5}">
                      <a16:colId xmlns:a16="http://schemas.microsoft.com/office/drawing/2014/main" val="2327987622"/>
                    </a:ext>
                  </a:extLst>
                </a:gridCol>
              </a:tblGrid>
              <a:tr h="20817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Sr.No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L="19009" marR="19009" marT="19009" marB="1900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Data Types &amp; Description</a:t>
                      </a:r>
                    </a:p>
                  </a:txBody>
                  <a:tcPr marL="19009" marR="19009" marT="19009" marB="1900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756367"/>
                  </a:ext>
                </a:extLst>
              </a:tr>
              <a:tr h="342006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19009" marR="19009" marT="19009" marB="1900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bool_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Boolean (True or False) stored as a byte</a:t>
                      </a:r>
                    </a:p>
                  </a:txBody>
                  <a:tcPr marL="19009" marR="19009" marT="19009" marB="1900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042298"/>
                  </a:ext>
                </a:extLst>
              </a:tr>
              <a:tr h="342006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smtClean="0">
                          <a:effectLst/>
                        </a:rPr>
                        <a:t>2</a:t>
                      </a:r>
                      <a:endParaRPr lang="en-US" sz="1400" dirty="0">
                        <a:effectLst/>
                      </a:endParaRPr>
                    </a:p>
                  </a:txBody>
                  <a:tcPr marL="19009" marR="19009" marT="19009" marB="1900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</a:rPr>
                        <a:t>Int8, int16, int32, int64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9009" marR="19009" marT="19009" marB="1900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979802"/>
                  </a:ext>
                </a:extLst>
              </a:tr>
              <a:tr h="342006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smtClean="0">
                          <a:effectLst/>
                        </a:rPr>
                        <a:t>3</a:t>
                      </a:r>
                      <a:endParaRPr lang="en-US" sz="1400" dirty="0">
                        <a:effectLst/>
                      </a:endParaRPr>
                    </a:p>
                  </a:txBody>
                  <a:tcPr marL="19009" marR="19009" marT="19009" marB="1900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</a:rPr>
                        <a:t>uint8, uint16, uint32, uint64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9009" marR="19009" marT="19009" marB="1900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314174"/>
                  </a:ext>
                </a:extLst>
              </a:tr>
              <a:tr h="342006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smtClean="0">
                          <a:effectLst/>
                        </a:rPr>
                        <a:t>4</a:t>
                      </a:r>
                      <a:endParaRPr lang="en-US" sz="1400" dirty="0">
                        <a:effectLst/>
                      </a:endParaRPr>
                    </a:p>
                  </a:txBody>
                  <a:tcPr marL="19009" marR="19009" marT="19009" marB="1900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float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</a:rPr>
                        <a:t>_, float16, float32, float64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9009" marR="19009" marT="19009" marB="1900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858198"/>
                  </a:ext>
                </a:extLst>
              </a:tr>
              <a:tr h="342006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smtClean="0">
                          <a:effectLst/>
                        </a:rPr>
                        <a:t>5</a:t>
                      </a:r>
                      <a:endParaRPr lang="en-US" sz="1400" dirty="0">
                        <a:effectLst/>
                      </a:endParaRPr>
                    </a:p>
                  </a:txBody>
                  <a:tcPr marL="19009" marR="19009" marT="19009" marB="1900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complex</a:t>
                      </a:r>
                      <a:r>
                        <a:rPr lang="en-US" sz="1400" b="1" dirty="0" smtClean="0">
                          <a:solidFill>
                            <a:srgbClr val="000000"/>
                          </a:solidFill>
                          <a:effectLst/>
                        </a:rPr>
                        <a:t>_, complex64, complex128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9009" marR="19009" marT="19009" marB="19009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798589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273252" y="5160799"/>
            <a:ext cx="6275549" cy="1323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altLang="en-US" sz="1600" i="1" dirty="0" err="1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1600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i="1" dirty="0" smtClean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parameter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sz="1600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altLang="en-US" sz="16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altLang="en-US" sz="16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endParaRPr lang="en-US" altLang="en-US" sz="1600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en-US" altLang="en-US" sz="1600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16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sz="1600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US" altLang="en-US" sz="16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altLang="en-US" sz="1600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600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16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600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sz="16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altLang="en-US" sz="1600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16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16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sz="1600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complex</a:t>
            </a:r>
            <a:r>
              <a:rPr lang="en-US" altLang="en-US" sz="1600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sz="1600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</a:t>
            </a:r>
            <a:r>
              <a:rPr lang="en-US" altLang="en-US" sz="16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en-US" sz="1600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altLang="en-US" sz="1600" i="1" dirty="0" smtClean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altLang="en-US" sz="1600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[1.+0.j 2.+0.j 3.+</a:t>
            </a:r>
            <a:r>
              <a:rPr lang="en-US" altLang="en-US" sz="1600" i="1" dirty="0" smtClean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0.j]</a:t>
            </a:r>
            <a:endParaRPr lang="en-US" altLang="en-US" sz="1600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sz="1600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600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sz="1600" dirty="0" err="1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sz="1600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sz="1600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en-US" sz="1600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complex128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402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Introduction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9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err="1" smtClean="0">
                <a:solidFill>
                  <a:srgbClr val="0047BA"/>
                </a:solidFill>
                <a:latin typeface="Arial"/>
                <a:ea typeface="DejaVu Sans"/>
              </a:rPr>
              <a:t>NumPy</a:t>
            </a:r>
            <a:endParaRPr lang="en-US" sz="24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Import the package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ndarray</a:t>
            </a: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 object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Data types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Attributes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Alternatively, we can create custom </a:t>
            </a:r>
            <a:r>
              <a:rPr lang="en-US" dirty="0" err="1" smtClean="0"/>
              <a:t>dtype</a:t>
            </a:r>
            <a:r>
              <a:rPr lang="en-US" dirty="0" smtClean="0"/>
              <a:t> objects with structured data. We need to provide:</a:t>
            </a:r>
          </a:p>
          <a:p>
            <a:pPr marL="640080" lvl="1" indent="-178920">
              <a:spcBef>
                <a:spcPts val="18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What are the names of the “fields” of the structure, by which they can be accessed</a:t>
            </a:r>
            <a:r>
              <a:rPr lang="en-US" dirty="0" smtClean="0"/>
              <a:t>.</a:t>
            </a:r>
          </a:p>
          <a:p>
            <a:pPr marL="640080" lvl="1" indent="-178920">
              <a:spcBef>
                <a:spcPts val="18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What is the data-type of each field</a:t>
            </a:r>
            <a:r>
              <a:rPr lang="en-US" dirty="0" smtClean="0"/>
              <a:t>.</a:t>
            </a:r>
          </a:p>
          <a:p>
            <a:pPr marL="640080" lvl="1" indent="-178920">
              <a:spcBef>
                <a:spcPts val="18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Which part of the memory block each field takes.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chemeClr val="tx2"/>
                </a:solidFill>
              </a:rPr>
              <a:t>Let’s see some </a:t>
            </a:r>
            <a:r>
              <a:rPr lang="en-US" b="1" spc="-1" dirty="0" smtClean="0">
                <a:solidFill>
                  <a:schemeClr val="tx2"/>
                </a:solidFill>
              </a:rPr>
              <a:t>examples</a:t>
            </a:r>
            <a:r>
              <a:rPr lang="en-US" b="1" spc="-1" dirty="0">
                <a:solidFill>
                  <a:schemeClr val="tx2"/>
                </a:solidFill>
              </a:rPr>
              <a:t>: </a:t>
            </a:r>
            <a:endParaRPr lang="en-US" b="1" spc="-1" dirty="0" smtClean="0">
              <a:solidFill>
                <a:schemeClr val="tx2"/>
              </a:solidFill>
            </a:endParaRP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pc="-1" dirty="0" smtClean="0">
                <a:solidFill>
                  <a:schemeClr val="tx2"/>
                </a:solidFill>
              </a:rPr>
              <a:t>01_Introduction/</a:t>
            </a:r>
            <a:r>
              <a:rPr lang="en-US" spc="-1" dirty="0" err="1" smtClean="0">
                <a:solidFill>
                  <a:schemeClr val="tx2"/>
                </a:solidFill>
              </a:rPr>
              <a:t>data_types.ipynb</a:t>
            </a:r>
            <a:endParaRPr lang="en-US" spc="-1" dirty="0">
              <a:solidFill>
                <a:schemeClr val="tx2"/>
              </a:solidFill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6882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Introduction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10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err="1" smtClean="0">
                <a:solidFill>
                  <a:srgbClr val="0047BA"/>
                </a:solidFill>
                <a:latin typeface="Arial"/>
                <a:ea typeface="DejaVu Sans"/>
              </a:rPr>
              <a:t>NumPy</a:t>
            </a:r>
            <a:endParaRPr lang="en-US" sz="24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Import the package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ndarray</a:t>
            </a: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 object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Data types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Attributes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2400" spc="-1" dirty="0" smtClean="0">
              <a:solidFill>
                <a:srgbClr val="0047BA"/>
              </a:solidFill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The attribute </a:t>
            </a:r>
            <a:r>
              <a:rPr lang="en-US" b="1" dirty="0">
                <a:solidFill>
                  <a:schemeClr val="tx2"/>
                </a:solidFill>
              </a:rPr>
              <a:t>shape</a:t>
            </a:r>
            <a:r>
              <a:rPr lang="en-US" dirty="0"/>
              <a:t> of an array is a tuple indicating the number of elements among each axis. An existing array has this attribute </a:t>
            </a:r>
            <a:r>
              <a:rPr lang="en-US" b="1" dirty="0" err="1">
                <a:solidFill>
                  <a:schemeClr val="tx2"/>
                </a:solidFill>
              </a:rPr>
              <a:t>a.shape</a:t>
            </a:r>
            <a:r>
              <a:rPr lang="en-US" dirty="0"/>
              <a:t> which contains this tuple</a:t>
            </a:r>
            <a:r>
              <a:rPr lang="en-US" dirty="0" smtClean="0"/>
              <a:t>. It can be used to reshape an array.</a:t>
            </a:r>
            <a:endParaRPr lang="en-US" dirty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The </a:t>
            </a:r>
            <a:r>
              <a:rPr lang="en-US" b="1" dirty="0">
                <a:solidFill>
                  <a:schemeClr val="tx2"/>
                </a:solidFill>
              </a:rPr>
              <a:t>axes</a:t>
            </a:r>
            <a:r>
              <a:rPr lang="en-US" dirty="0"/>
              <a:t> of an array describe the order of indexing </a:t>
            </a:r>
            <a:r>
              <a:rPr lang="en-US" dirty="0" smtClean="0"/>
              <a:t>into </a:t>
            </a:r>
            <a:r>
              <a:rPr lang="en-US" dirty="0"/>
              <a:t>the array, e.g., </a:t>
            </a:r>
            <a:r>
              <a:rPr lang="en-US" b="1" dirty="0">
                <a:solidFill>
                  <a:schemeClr val="tx2"/>
                </a:solidFill>
              </a:rPr>
              <a:t>axis=0</a:t>
            </a:r>
            <a:r>
              <a:rPr lang="en-US" dirty="0"/>
              <a:t> refers to the first index coordinate, </a:t>
            </a:r>
            <a:r>
              <a:rPr lang="en-US" b="1" dirty="0" smtClean="0">
                <a:solidFill>
                  <a:schemeClr val="tx2"/>
                </a:solidFill>
              </a:rPr>
              <a:t>axis=1</a:t>
            </a:r>
            <a:r>
              <a:rPr lang="en-US" dirty="0" smtClean="0"/>
              <a:t> </a:t>
            </a:r>
            <a:r>
              <a:rPr lang="en-US" dirty="0"/>
              <a:t>refers to the second, etc</a:t>
            </a:r>
            <a:r>
              <a:rPr lang="en-US" b="1" dirty="0" smtClean="0">
                <a:solidFill>
                  <a:schemeClr val="tx2"/>
                </a:solidFill>
              </a:rPr>
              <a:t>. Pay attention to the axis order convention.</a:t>
            </a:r>
            <a:endParaRPr lang="en-US" b="1" dirty="0">
              <a:solidFill>
                <a:schemeClr val="tx2"/>
              </a:solidFill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651" y="3820511"/>
            <a:ext cx="6275549" cy="252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569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Introduction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11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err="1" smtClean="0">
                <a:solidFill>
                  <a:srgbClr val="0047BA"/>
                </a:solidFill>
                <a:latin typeface="Arial"/>
                <a:ea typeface="DejaVu Sans"/>
              </a:rPr>
              <a:t>NumPy</a:t>
            </a:r>
            <a:endParaRPr lang="en-US" sz="24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Import the package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ndarray</a:t>
            </a: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 object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Data types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Attributes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2400" spc="-1" dirty="0" smtClean="0">
              <a:solidFill>
                <a:srgbClr val="0047BA"/>
              </a:solidFill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The attribute </a:t>
            </a:r>
            <a:r>
              <a:rPr lang="en-US" b="1" dirty="0" err="1" smtClean="0">
                <a:solidFill>
                  <a:schemeClr val="tx2"/>
                </a:solidFill>
              </a:rPr>
              <a:t>ndim</a:t>
            </a:r>
            <a:r>
              <a:rPr lang="en-US" dirty="0" smtClean="0"/>
              <a:t> </a:t>
            </a:r>
            <a:r>
              <a:rPr lang="en-US" dirty="0"/>
              <a:t>of an array is a </a:t>
            </a:r>
            <a:r>
              <a:rPr lang="en-US" dirty="0" smtClean="0"/>
              <a:t>number indicating the number of dimensions of the array.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The attribute </a:t>
            </a:r>
            <a:r>
              <a:rPr lang="en-US" b="1" dirty="0" err="1" smtClean="0">
                <a:solidFill>
                  <a:schemeClr val="tx2"/>
                </a:solidFill>
              </a:rPr>
              <a:t>itemsize</a:t>
            </a:r>
            <a:r>
              <a:rPr lang="en-US" dirty="0" smtClean="0"/>
              <a:t> of an array indicates the size of each element in the array in bytes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chemeClr val="tx2"/>
                </a:solidFill>
              </a:rPr>
              <a:t>Let’s see some examples: </a:t>
            </a:r>
            <a:endParaRPr lang="en-US" b="1" spc="-1" dirty="0" smtClean="0">
              <a:solidFill>
                <a:schemeClr val="tx2"/>
              </a:solidFill>
            </a:endParaRP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pc="-1" dirty="0" smtClean="0">
                <a:solidFill>
                  <a:schemeClr val="tx2"/>
                </a:solidFill>
              </a:rPr>
              <a:t>01_Introduction/</a:t>
            </a:r>
            <a:r>
              <a:rPr lang="en-US" spc="-1" dirty="0" err="1" smtClean="0">
                <a:solidFill>
                  <a:schemeClr val="tx2"/>
                </a:solidFill>
              </a:rPr>
              <a:t>attributes.ipynb</a:t>
            </a:r>
            <a:endParaRPr lang="en-US" spc="-1" dirty="0">
              <a:solidFill>
                <a:schemeClr val="tx2"/>
              </a:solidFill>
            </a:endParaRP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651" y="2749707"/>
            <a:ext cx="6275549" cy="281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93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2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Creating </a:t>
            </a:r>
            <a:r>
              <a:rPr lang="en-US" sz="3600" b="1" strike="noStrike" spc="15" dirty="0" err="1" smtClean="0">
                <a:solidFill>
                  <a:srgbClr val="0047BA"/>
                </a:solidFill>
                <a:latin typeface="Arial"/>
                <a:ea typeface="DejaVu Sans"/>
              </a:rPr>
              <a:t>ndarrays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12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Array creation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>
                <a:solidFill>
                  <a:srgbClr val="0047BA"/>
                </a:solidFill>
              </a:rPr>
              <a:t>np.empty</a:t>
            </a:r>
            <a:r>
              <a:rPr lang="en-US" sz="2400" spc="-1" dirty="0">
                <a:solidFill>
                  <a:srgbClr val="0047BA"/>
                </a:solidFill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>
                <a:solidFill>
                  <a:srgbClr val="0047BA"/>
                </a:solidFill>
              </a:rPr>
              <a:t>np.zeros</a:t>
            </a:r>
            <a:r>
              <a:rPr lang="en-US" sz="2400" spc="-1" dirty="0">
                <a:solidFill>
                  <a:srgbClr val="0047BA"/>
                </a:solidFill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>
                <a:solidFill>
                  <a:srgbClr val="0047BA"/>
                </a:solidFill>
              </a:rPr>
              <a:t>np.ones</a:t>
            </a:r>
            <a:r>
              <a:rPr lang="en-US" sz="2400" spc="-1" dirty="0">
                <a:solidFill>
                  <a:srgbClr val="0047BA"/>
                </a:solidFill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>
                <a:solidFill>
                  <a:srgbClr val="0047BA"/>
                </a:solidFill>
              </a:rPr>
              <a:t>np.asarray</a:t>
            </a:r>
            <a:r>
              <a:rPr lang="en-US" sz="2400" spc="-1" dirty="0">
                <a:solidFill>
                  <a:srgbClr val="0047BA"/>
                </a:solidFill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>
                <a:solidFill>
                  <a:srgbClr val="0047BA"/>
                </a:solidFill>
              </a:rPr>
              <a:t>np.arrange</a:t>
            </a:r>
            <a:r>
              <a:rPr lang="en-US" sz="2400" spc="-1" dirty="0">
                <a:solidFill>
                  <a:srgbClr val="0047BA"/>
                </a:solidFill>
              </a:rPr>
              <a:t>()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7"/>
          <p:cNvSpPr/>
          <p:nvPr/>
        </p:nvSpPr>
        <p:spPr>
          <a:xfrm>
            <a:off x="5440052" y="13997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A new </a:t>
            </a:r>
            <a:r>
              <a:rPr lang="en-US" b="1" dirty="0" err="1">
                <a:solidFill>
                  <a:schemeClr val="tx2"/>
                </a:solidFill>
              </a:rPr>
              <a:t>ndarray</a:t>
            </a:r>
            <a:r>
              <a:rPr lang="en-US" dirty="0"/>
              <a:t> object can be constructed by any of the following array creation routines or using a low-level </a:t>
            </a:r>
            <a:r>
              <a:rPr lang="en-US" dirty="0" err="1"/>
              <a:t>ndarray</a:t>
            </a:r>
            <a:r>
              <a:rPr lang="en-US" dirty="0"/>
              <a:t> constructor.</a:t>
            </a:r>
            <a:endParaRPr lang="en-US" dirty="0" smtClean="0"/>
          </a:p>
          <a:p>
            <a:pPr marL="640080" lvl="1" indent="-178920">
              <a:spcBef>
                <a:spcPts val="18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err="1" smtClean="0">
                <a:solidFill>
                  <a:schemeClr val="tx2"/>
                </a:solidFill>
              </a:rPr>
              <a:t>np.array</a:t>
            </a:r>
            <a:r>
              <a:rPr lang="en-US" b="1" dirty="0" smtClean="0">
                <a:solidFill>
                  <a:schemeClr val="tx2"/>
                </a:solidFill>
              </a:rPr>
              <a:t>()</a:t>
            </a:r>
          </a:p>
          <a:p>
            <a:pPr marL="640080" lvl="1" indent="-178920">
              <a:spcBef>
                <a:spcPts val="18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err="1" smtClean="0">
                <a:solidFill>
                  <a:schemeClr val="tx2"/>
                </a:solidFill>
              </a:rPr>
              <a:t>np.empty</a:t>
            </a:r>
            <a:r>
              <a:rPr lang="en-US" b="1" dirty="0" smtClean="0">
                <a:solidFill>
                  <a:schemeClr val="tx2"/>
                </a:solidFill>
              </a:rPr>
              <a:t>()</a:t>
            </a:r>
          </a:p>
          <a:p>
            <a:pPr marL="640080" lvl="1" indent="-178920">
              <a:spcBef>
                <a:spcPts val="18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err="1" smtClean="0">
                <a:solidFill>
                  <a:schemeClr val="tx2"/>
                </a:solidFill>
              </a:rPr>
              <a:t>np.zeros</a:t>
            </a:r>
            <a:r>
              <a:rPr lang="en-US" b="1" dirty="0" smtClean="0">
                <a:solidFill>
                  <a:schemeClr val="tx2"/>
                </a:solidFill>
              </a:rPr>
              <a:t>()</a:t>
            </a:r>
          </a:p>
          <a:p>
            <a:pPr marL="640080" lvl="1" indent="-178920">
              <a:spcBef>
                <a:spcPts val="18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err="1" smtClean="0">
                <a:solidFill>
                  <a:schemeClr val="tx2"/>
                </a:solidFill>
              </a:rPr>
              <a:t>np.ones</a:t>
            </a:r>
            <a:r>
              <a:rPr lang="en-US" b="1" dirty="0" smtClean="0">
                <a:solidFill>
                  <a:schemeClr val="tx2"/>
                </a:solidFill>
              </a:rPr>
              <a:t>()</a:t>
            </a:r>
          </a:p>
          <a:p>
            <a:pPr marL="640080" lvl="1" indent="-178920">
              <a:spcBef>
                <a:spcPts val="18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err="1" smtClean="0">
                <a:solidFill>
                  <a:schemeClr val="tx2"/>
                </a:solidFill>
              </a:rPr>
              <a:t>np.asarray</a:t>
            </a:r>
            <a:r>
              <a:rPr lang="en-US" b="1" dirty="0" smtClean="0">
                <a:solidFill>
                  <a:schemeClr val="tx2"/>
                </a:solidFill>
              </a:rPr>
              <a:t>()</a:t>
            </a:r>
            <a:endParaRPr lang="en-US" b="1" dirty="0">
              <a:solidFill>
                <a:schemeClr val="tx2"/>
              </a:solidFill>
            </a:endParaRPr>
          </a:p>
          <a:p>
            <a:pPr marL="640080" lvl="1" indent="-178920">
              <a:spcBef>
                <a:spcPts val="18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err="1" smtClean="0">
                <a:solidFill>
                  <a:schemeClr val="tx2"/>
                </a:solidFill>
              </a:rPr>
              <a:t>np.arange</a:t>
            </a:r>
            <a:r>
              <a:rPr lang="en-US" b="1" dirty="0" smtClean="0">
                <a:solidFill>
                  <a:schemeClr val="tx2"/>
                </a:solidFill>
              </a:rPr>
              <a:t>()</a:t>
            </a:r>
            <a:endParaRPr lang="en-US" dirty="0"/>
          </a:p>
          <a:p>
            <a:pPr marL="640080" lvl="1" indent="-178920">
              <a:spcBef>
                <a:spcPts val="18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322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2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Creating </a:t>
            </a:r>
            <a:r>
              <a:rPr lang="en-US" sz="3600" b="1" strike="noStrike" spc="15" dirty="0" err="1" smtClean="0">
                <a:solidFill>
                  <a:srgbClr val="0047BA"/>
                </a:solidFill>
                <a:latin typeface="Arial"/>
                <a:ea typeface="DejaVu Sans"/>
              </a:rPr>
              <a:t>ndarrays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13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Array creation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err="1">
                <a:solidFill>
                  <a:srgbClr val="0047BA"/>
                </a:solidFill>
              </a:rPr>
              <a:t>np.empty</a:t>
            </a:r>
            <a:r>
              <a:rPr lang="en-US" sz="2800" b="1" spc="-1" dirty="0">
                <a:solidFill>
                  <a:srgbClr val="0047BA"/>
                </a:solidFill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>
                <a:solidFill>
                  <a:srgbClr val="0047BA"/>
                </a:solidFill>
              </a:rPr>
              <a:t>np.zeros</a:t>
            </a:r>
            <a:r>
              <a:rPr lang="en-US" sz="2400" spc="-1" dirty="0">
                <a:solidFill>
                  <a:srgbClr val="0047BA"/>
                </a:solidFill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>
                <a:solidFill>
                  <a:srgbClr val="0047BA"/>
                </a:solidFill>
              </a:rPr>
              <a:t>np.ones</a:t>
            </a:r>
            <a:r>
              <a:rPr lang="en-US" sz="2400" spc="-1" dirty="0">
                <a:solidFill>
                  <a:srgbClr val="0047BA"/>
                </a:solidFill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>
                <a:solidFill>
                  <a:srgbClr val="0047BA"/>
                </a:solidFill>
              </a:rPr>
              <a:t>np.asarray</a:t>
            </a:r>
            <a:r>
              <a:rPr lang="en-US" sz="2400" spc="-1" dirty="0">
                <a:solidFill>
                  <a:srgbClr val="0047BA"/>
                </a:solidFill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>
                <a:solidFill>
                  <a:srgbClr val="0047BA"/>
                </a:solidFill>
              </a:rPr>
              <a:t>np.arrange</a:t>
            </a:r>
            <a:r>
              <a:rPr lang="en-US" sz="2400" spc="-1" dirty="0">
                <a:solidFill>
                  <a:srgbClr val="0047BA"/>
                </a:solidFill>
              </a:rPr>
              <a:t>()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7"/>
          <p:cNvSpPr/>
          <p:nvPr/>
        </p:nvSpPr>
        <p:spPr>
          <a:xfrm>
            <a:off x="5440052" y="13997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err="1" smtClean="0">
                <a:solidFill>
                  <a:schemeClr val="tx2"/>
                </a:solidFill>
              </a:rPr>
              <a:t>np.empty</a:t>
            </a:r>
            <a:r>
              <a:rPr lang="en-US" dirty="0"/>
              <a:t> creates an uninitialized array of specified shape and </a:t>
            </a:r>
            <a:r>
              <a:rPr lang="en-US" dirty="0" err="1"/>
              <a:t>dtype</a:t>
            </a:r>
            <a:r>
              <a:rPr lang="en-US" dirty="0"/>
              <a:t>. It uses the following constructor</a:t>
            </a: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40051" y="2051951"/>
            <a:ext cx="627554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empty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(shape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order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2507196"/>
              </p:ext>
            </p:extLst>
          </p:nvPr>
        </p:nvGraphicFramePr>
        <p:xfrm>
          <a:off x="5440051" y="2811195"/>
          <a:ext cx="6275548" cy="2457450"/>
        </p:xfrm>
        <a:graphic>
          <a:graphicData uri="http://schemas.openxmlformats.org/drawingml/2006/table">
            <a:tbl>
              <a:tblPr/>
              <a:tblGrid>
                <a:gridCol w="855973">
                  <a:extLst>
                    <a:ext uri="{9D8B030D-6E8A-4147-A177-3AD203B41FA5}">
                      <a16:colId xmlns:a16="http://schemas.microsoft.com/office/drawing/2014/main" val="3200015538"/>
                    </a:ext>
                  </a:extLst>
                </a:gridCol>
                <a:gridCol w="5419575">
                  <a:extLst>
                    <a:ext uri="{9D8B030D-6E8A-4147-A177-3AD203B41FA5}">
                      <a16:colId xmlns:a16="http://schemas.microsoft.com/office/drawing/2014/main" val="3408131776"/>
                    </a:ext>
                  </a:extLst>
                </a:gridCol>
              </a:tblGrid>
              <a:tr h="4254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Sr.No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Parameter &amp; Description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43409"/>
                  </a:ext>
                </a:extLst>
              </a:tr>
              <a:tr h="66045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US" sz="14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shape</a:t>
                      </a:r>
                    </a:p>
                    <a:p>
                      <a:pPr marL="0" algn="just" defTabSz="914400" rtl="0" eaLnBrk="1" fontAlgn="t" latinLnBrk="0" hangingPunct="1"/>
                      <a:r>
                        <a:rPr lang="en-US" sz="1400" b="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Shape of an empty array in </a:t>
                      </a:r>
                      <a:r>
                        <a:rPr lang="en-US" sz="1400" b="0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1400" b="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 tuple of </a:t>
                      </a:r>
                      <a:r>
                        <a:rPr lang="en-US" sz="1400" b="0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endParaRPr lang="en-US" sz="1400" b="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88815"/>
                  </a:ext>
                </a:extLst>
              </a:tr>
              <a:tr h="72522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dtype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By default, the data type of input data is applied to the resultant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</a:rPr>
                        <a:t>ndarray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140657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order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C (row major) or F (column major). C is default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89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283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2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Creating </a:t>
            </a:r>
            <a:r>
              <a:rPr lang="en-US" sz="3600" b="1" strike="noStrike" spc="15" dirty="0" err="1" smtClean="0">
                <a:solidFill>
                  <a:srgbClr val="0047BA"/>
                </a:solidFill>
                <a:latin typeface="Arial"/>
                <a:ea typeface="DejaVu Sans"/>
              </a:rPr>
              <a:t>ndarrays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14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Array creation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>
                <a:solidFill>
                  <a:srgbClr val="0047BA"/>
                </a:solidFill>
              </a:rPr>
              <a:t>np.empty</a:t>
            </a:r>
            <a:r>
              <a:rPr lang="en-US" sz="2400" spc="-1" dirty="0">
                <a:solidFill>
                  <a:srgbClr val="0047BA"/>
                </a:solidFill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err="1">
                <a:solidFill>
                  <a:srgbClr val="0047BA"/>
                </a:solidFill>
              </a:rPr>
              <a:t>np.zeros</a:t>
            </a:r>
            <a:r>
              <a:rPr lang="en-US" sz="2800" b="1" spc="-1" dirty="0">
                <a:solidFill>
                  <a:srgbClr val="0047BA"/>
                </a:solidFill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>
                <a:solidFill>
                  <a:srgbClr val="0047BA"/>
                </a:solidFill>
              </a:rPr>
              <a:t>np.ones</a:t>
            </a:r>
            <a:r>
              <a:rPr lang="en-US" sz="2400" spc="-1" dirty="0">
                <a:solidFill>
                  <a:srgbClr val="0047BA"/>
                </a:solidFill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>
                <a:solidFill>
                  <a:srgbClr val="0047BA"/>
                </a:solidFill>
              </a:rPr>
              <a:t>np.asarray</a:t>
            </a:r>
            <a:r>
              <a:rPr lang="en-US" sz="2400" spc="-1" dirty="0">
                <a:solidFill>
                  <a:srgbClr val="0047BA"/>
                </a:solidFill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>
                <a:solidFill>
                  <a:srgbClr val="0047BA"/>
                </a:solidFill>
              </a:rPr>
              <a:t>np.arrange</a:t>
            </a:r>
            <a:r>
              <a:rPr lang="en-US" sz="2400" spc="-1" dirty="0">
                <a:solidFill>
                  <a:srgbClr val="0047BA"/>
                </a:solidFill>
              </a:rPr>
              <a:t>()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7"/>
          <p:cNvSpPr/>
          <p:nvPr/>
        </p:nvSpPr>
        <p:spPr>
          <a:xfrm>
            <a:off x="5440052" y="13997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err="1" smtClean="0">
                <a:solidFill>
                  <a:schemeClr val="tx2"/>
                </a:solidFill>
              </a:rPr>
              <a:t>np.zeros</a:t>
            </a:r>
            <a:r>
              <a:rPr lang="en-US" dirty="0" smtClean="0"/>
              <a:t> </a:t>
            </a:r>
            <a:r>
              <a:rPr lang="en-US" dirty="0"/>
              <a:t>returns a new array of specified size, filled with zeros.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40051" y="2051951"/>
            <a:ext cx="627554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zeros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(shape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order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124200"/>
              </p:ext>
            </p:extLst>
          </p:nvPr>
        </p:nvGraphicFramePr>
        <p:xfrm>
          <a:off x="5440051" y="2811195"/>
          <a:ext cx="6275548" cy="2457450"/>
        </p:xfrm>
        <a:graphic>
          <a:graphicData uri="http://schemas.openxmlformats.org/drawingml/2006/table">
            <a:tbl>
              <a:tblPr/>
              <a:tblGrid>
                <a:gridCol w="855973">
                  <a:extLst>
                    <a:ext uri="{9D8B030D-6E8A-4147-A177-3AD203B41FA5}">
                      <a16:colId xmlns:a16="http://schemas.microsoft.com/office/drawing/2014/main" val="3200015538"/>
                    </a:ext>
                  </a:extLst>
                </a:gridCol>
                <a:gridCol w="5419575">
                  <a:extLst>
                    <a:ext uri="{9D8B030D-6E8A-4147-A177-3AD203B41FA5}">
                      <a16:colId xmlns:a16="http://schemas.microsoft.com/office/drawing/2014/main" val="3408131776"/>
                    </a:ext>
                  </a:extLst>
                </a:gridCol>
              </a:tblGrid>
              <a:tr h="4254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Sr.No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Parameter &amp; Description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43409"/>
                  </a:ext>
                </a:extLst>
              </a:tr>
              <a:tr h="66045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US" sz="14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shape</a:t>
                      </a:r>
                    </a:p>
                    <a:p>
                      <a:pPr marL="0" algn="just" defTabSz="914400" rtl="0" eaLnBrk="1" fontAlgn="t" latinLnBrk="0" hangingPunct="1"/>
                      <a:r>
                        <a:rPr lang="en-US" sz="1400" b="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Shape of an empty array in </a:t>
                      </a:r>
                      <a:r>
                        <a:rPr lang="en-US" sz="1400" b="0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1400" b="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 tuple of </a:t>
                      </a:r>
                      <a:r>
                        <a:rPr lang="en-US" sz="1400" b="0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endParaRPr lang="en-US" sz="1400" b="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88815"/>
                  </a:ext>
                </a:extLst>
              </a:tr>
              <a:tr h="72522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dtype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By default, the data type of input data is applied to the resultant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</a:rPr>
                        <a:t>ndarray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140657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order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C (row major) or F (column major). C is default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89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8164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2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Creating </a:t>
            </a:r>
            <a:r>
              <a:rPr lang="en-US" sz="3600" b="1" strike="noStrike" spc="15" dirty="0" err="1" smtClean="0">
                <a:solidFill>
                  <a:srgbClr val="0047BA"/>
                </a:solidFill>
                <a:latin typeface="Arial"/>
                <a:ea typeface="DejaVu Sans"/>
              </a:rPr>
              <a:t>ndarrays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15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Array creation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np.empty</a:t>
            </a: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np.zeros</a:t>
            </a: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err="1" smtClean="0">
                <a:solidFill>
                  <a:srgbClr val="0047BA"/>
                </a:solidFill>
                <a:latin typeface="Arial"/>
              </a:rPr>
              <a:t>np.ones</a:t>
            </a: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np.asarray</a:t>
            </a: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np.arrange</a:t>
            </a: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()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7"/>
          <p:cNvSpPr/>
          <p:nvPr/>
        </p:nvSpPr>
        <p:spPr>
          <a:xfrm>
            <a:off x="5440052" y="13997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err="1" smtClean="0">
                <a:solidFill>
                  <a:schemeClr val="tx2"/>
                </a:solidFill>
              </a:rPr>
              <a:t>np.ones</a:t>
            </a:r>
            <a:r>
              <a:rPr lang="en-US" dirty="0" smtClean="0"/>
              <a:t> </a:t>
            </a:r>
            <a:r>
              <a:rPr lang="en-US" dirty="0"/>
              <a:t>returns a new array of specified size, filled with ones.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40051" y="2051951"/>
            <a:ext cx="627554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ones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(shape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order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172927"/>
              </p:ext>
            </p:extLst>
          </p:nvPr>
        </p:nvGraphicFramePr>
        <p:xfrm>
          <a:off x="5440051" y="2811195"/>
          <a:ext cx="6275548" cy="2457450"/>
        </p:xfrm>
        <a:graphic>
          <a:graphicData uri="http://schemas.openxmlformats.org/drawingml/2006/table">
            <a:tbl>
              <a:tblPr/>
              <a:tblGrid>
                <a:gridCol w="855973">
                  <a:extLst>
                    <a:ext uri="{9D8B030D-6E8A-4147-A177-3AD203B41FA5}">
                      <a16:colId xmlns:a16="http://schemas.microsoft.com/office/drawing/2014/main" val="3200015538"/>
                    </a:ext>
                  </a:extLst>
                </a:gridCol>
                <a:gridCol w="5419575">
                  <a:extLst>
                    <a:ext uri="{9D8B030D-6E8A-4147-A177-3AD203B41FA5}">
                      <a16:colId xmlns:a16="http://schemas.microsoft.com/office/drawing/2014/main" val="3408131776"/>
                    </a:ext>
                  </a:extLst>
                </a:gridCol>
              </a:tblGrid>
              <a:tr h="4254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Sr.No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Parameter &amp; Description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43409"/>
                  </a:ext>
                </a:extLst>
              </a:tr>
              <a:tr h="66045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fontAlgn="t" latinLnBrk="0" hangingPunct="1"/>
                      <a:r>
                        <a:rPr lang="en-US" sz="1400" b="1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shape</a:t>
                      </a:r>
                    </a:p>
                    <a:p>
                      <a:pPr marL="0" algn="just" defTabSz="914400" rtl="0" eaLnBrk="1" fontAlgn="t" latinLnBrk="0" hangingPunct="1"/>
                      <a:r>
                        <a:rPr lang="en-US" sz="1400" b="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Shape of an empty array in </a:t>
                      </a:r>
                      <a:r>
                        <a:rPr lang="en-US" sz="1400" b="0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1400" b="0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 tuple of </a:t>
                      </a:r>
                      <a:r>
                        <a:rPr lang="en-US" sz="1400" b="0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endParaRPr lang="en-US" sz="1400" b="0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88815"/>
                  </a:ext>
                </a:extLst>
              </a:tr>
              <a:tr h="72522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dtype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By default, the data type of input data is applied to the resultant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</a:rPr>
                        <a:t>ndarray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140657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order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C (row major) or F (column major). C is default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89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44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2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Creating </a:t>
            </a:r>
            <a:r>
              <a:rPr lang="en-US" sz="3600" b="1" strike="noStrike" spc="15" dirty="0" err="1" smtClean="0">
                <a:solidFill>
                  <a:srgbClr val="0047BA"/>
                </a:solidFill>
                <a:latin typeface="Arial"/>
                <a:ea typeface="DejaVu Sans"/>
              </a:rPr>
              <a:t>ndarrays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16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Array creation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np.empty</a:t>
            </a: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np.zeros</a:t>
            </a: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np.ones</a:t>
            </a: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err="1" smtClean="0">
                <a:solidFill>
                  <a:srgbClr val="0047BA"/>
                </a:solidFill>
                <a:latin typeface="Arial"/>
              </a:rPr>
              <a:t>np.asarray</a:t>
            </a: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np.arrange</a:t>
            </a: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()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7"/>
          <p:cNvSpPr/>
          <p:nvPr/>
        </p:nvSpPr>
        <p:spPr>
          <a:xfrm>
            <a:off x="5440052" y="13997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err="1" smtClean="0">
                <a:solidFill>
                  <a:schemeClr val="tx2"/>
                </a:solidFill>
              </a:rPr>
              <a:t>np.asarray</a:t>
            </a:r>
            <a:r>
              <a:rPr lang="en-US" dirty="0" smtClean="0"/>
              <a:t> </a:t>
            </a:r>
            <a:r>
              <a:rPr lang="en-US" dirty="0"/>
              <a:t>This function is similar to </a:t>
            </a:r>
            <a:r>
              <a:rPr lang="en-US" dirty="0" err="1" smtClean="0"/>
              <a:t>np.array</a:t>
            </a:r>
            <a:r>
              <a:rPr lang="en-US" dirty="0" smtClean="0"/>
              <a:t> </a:t>
            </a:r>
            <a:r>
              <a:rPr lang="en-US" dirty="0"/>
              <a:t>except for the fact that it has fewer parameters. This routine is useful for converting Python sequence into </a:t>
            </a:r>
            <a:r>
              <a:rPr lang="en-US" dirty="0" err="1"/>
              <a:t>ndarray</a:t>
            </a:r>
            <a:r>
              <a:rPr lang="en-US" dirty="0"/>
              <a:t>.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40051" y="2375801"/>
            <a:ext cx="627554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asarray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(a,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order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'C'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519570"/>
              </p:ext>
            </p:extLst>
          </p:nvPr>
        </p:nvGraphicFramePr>
        <p:xfrm>
          <a:off x="5440051" y="3135045"/>
          <a:ext cx="6275548" cy="2589480"/>
        </p:xfrm>
        <a:graphic>
          <a:graphicData uri="http://schemas.openxmlformats.org/drawingml/2006/table">
            <a:tbl>
              <a:tblPr/>
              <a:tblGrid>
                <a:gridCol w="855973">
                  <a:extLst>
                    <a:ext uri="{9D8B030D-6E8A-4147-A177-3AD203B41FA5}">
                      <a16:colId xmlns:a16="http://schemas.microsoft.com/office/drawing/2014/main" val="3200015538"/>
                    </a:ext>
                  </a:extLst>
                </a:gridCol>
                <a:gridCol w="5419575">
                  <a:extLst>
                    <a:ext uri="{9D8B030D-6E8A-4147-A177-3AD203B41FA5}">
                      <a16:colId xmlns:a16="http://schemas.microsoft.com/office/drawing/2014/main" val="3408131776"/>
                    </a:ext>
                  </a:extLst>
                </a:gridCol>
              </a:tblGrid>
              <a:tr h="4254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Sr.No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Parameter &amp; Description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43409"/>
                  </a:ext>
                </a:extLst>
              </a:tr>
              <a:tr h="66045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a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Input data in any form such as list, list of tuples, tuples, tuple of tuples or tuple of lists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88815"/>
                  </a:ext>
                </a:extLst>
              </a:tr>
              <a:tr h="72522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dtype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By default, the data type of input data is applied to the resultant </a:t>
                      </a:r>
                      <a:r>
                        <a:rPr lang="en-US" sz="1400" dirty="0" err="1">
                          <a:solidFill>
                            <a:srgbClr val="000000"/>
                          </a:solidFill>
                          <a:effectLst/>
                        </a:rPr>
                        <a:t>ndarray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140657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order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algn="just" fontAlgn="t"/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C (row major) or F (column major). C is default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89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16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2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Creating </a:t>
            </a:r>
            <a:r>
              <a:rPr lang="en-US" sz="3600" b="1" strike="noStrike" spc="15" dirty="0" err="1" smtClean="0">
                <a:solidFill>
                  <a:srgbClr val="0047BA"/>
                </a:solidFill>
                <a:latin typeface="Arial"/>
                <a:ea typeface="DejaVu Sans"/>
              </a:rPr>
              <a:t>ndarrays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17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Array creation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np.empty</a:t>
            </a: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np.zeros</a:t>
            </a: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np.ones</a:t>
            </a: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np.asarray</a:t>
            </a:r>
            <a:r>
              <a:rPr lang="en-US" sz="2800" spc="-1" dirty="0" smtClean="0">
                <a:solidFill>
                  <a:srgbClr val="0047BA"/>
                </a:solidFill>
                <a:latin typeface="Arial"/>
              </a:rPr>
              <a:t>()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err="1" smtClean="0">
                <a:solidFill>
                  <a:srgbClr val="0047BA"/>
                </a:solidFill>
                <a:latin typeface="Arial"/>
              </a:rPr>
              <a:t>np.arrange</a:t>
            </a: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()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7"/>
          <p:cNvSpPr/>
          <p:nvPr/>
        </p:nvSpPr>
        <p:spPr>
          <a:xfrm>
            <a:off x="5440052" y="13997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err="1" smtClean="0">
                <a:solidFill>
                  <a:schemeClr val="tx2"/>
                </a:solidFill>
              </a:rPr>
              <a:t>np.arange</a:t>
            </a:r>
            <a:r>
              <a:rPr lang="en-US" dirty="0" smtClean="0"/>
              <a:t> returns </a:t>
            </a:r>
            <a:r>
              <a:rPr lang="en-US" dirty="0"/>
              <a:t>an </a:t>
            </a:r>
            <a:r>
              <a:rPr lang="en-US" dirty="0" err="1"/>
              <a:t>ndarray</a:t>
            </a:r>
            <a:r>
              <a:rPr lang="en-US" dirty="0"/>
              <a:t> object containing evenly spaced values within a given range. The format of the function is as </a:t>
            </a:r>
            <a:r>
              <a:rPr lang="en-US" dirty="0" smtClean="0"/>
              <a:t>follows:</a:t>
            </a:r>
            <a:endParaRPr lang="en-US" dirty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40051" y="2375801"/>
            <a:ext cx="627554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arange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(start, stop, step, 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716342"/>
              </p:ext>
            </p:extLst>
          </p:nvPr>
        </p:nvGraphicFramePr>
        <p:xfrm>
          <a:off x="5440051" y="2896920"/>
          <a:ext cx="6275548" cy="3182670"/>
        </p:xfrm>
        <a:graphic>
          <a:graphicData uri="http://schemas.openxmlformats.org/drawingml/2006/table">
            <a:tbl>
              <a:tblPr/>
              <a:tblGrid>
                <a:gridCol w="855973">
                  <a:extLst>
                    <a:ext uri="{9D8B030D-6E8A-4147-A177-3AD203B41FA5}">
                      <a16:colId xmlns:a16="http://schemas.microsoft.com/office/drawing/2014/main" val="3200015538"/>
                    </a:ext>
                  </a:extLst>
                </a:gridCol>
                <a:gridCol w="5419575">
                  <a:extLst>
                    <a:ext uri="{9D8B030D-6E8A-4147-A177-3AD203B41FA5}">
                      <a16:colId xmlns:a16="http://schemas.microsoft.com/office/drawing/2014/main" val="3408131776"/>
                    </a:ext>
                  </a:extLst>
                </a:gridCol>
              </a:tblGrid>
              <a:tr h="4254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Sr.No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Parameter &amp; Description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43409"/>
                  </a:ext>
                </a:extLst>
              </a:tr>
              <a:tr h="66045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start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start of an interval. If omitted, defaults to 0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88815"/>
                  </a:ext>
                </a:extLst>
              </a:tr>
              <a:tr h="725220"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stop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end of an interval (not including this number)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140657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step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Spacing between values, default is 1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89103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smtClean="0">
                          <a:effectLst/>
                        </a:rPr>
                        <a:t>4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dtype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type of resulting </a:t>
                      </a:r>
                      <a:r>
                        <a:rPr lang="en-US" sz="14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ndarray</a:t>
                      </a:r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If not given, data type of input is used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546525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440050" y="6094830"/>
            <a:ext cx="5338256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chemeClr val="tx2"/>
                </a:solidFill>
              </a:rPr>
              <a:t>Let’s see some examples: </a:t>
            </a:r>
            <a:endParaRPr lang="en-US" b="1" spc="-1" dirty="0" smtClean="0">
              <a:solidFill>
                <a:schemeClr val="tx2"/>
              </a:solidFill>
            </a:endParaRP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pc="-1" dirty="0" smtClean="0">
                <a:solidFill>
                  <a:schemeClr val="tx2"/>
                </a:solidFill>
              </a:rPr>
              <a:t>02_Creating_ndarrays/</a:t>
            </a:r>
            <a:r>
              <a:rPr lang="en-US" spc="-1" dirty="0" err="1" smtClean="0">
                <a:solidFill>
                  <a:schemeClr val="tx2"/>
                </a:solidFill>
              </a:rPr>
              <a:t>ndarray_creation.ipynb</a:t>
            </a:r>
            <a:endParaRPr lang="en-US" spc="-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07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18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N</a:t>
            </a:r>
            <a:r>
              <a:rPr lang="en-US" dirty="0" smtClean="0"/>
              <a:t>ew </a:t>
            </a:r>
            <a:r>
              <a:rPr lang="en-US" dirty="0" err="1" smtClean="0"/>
              <a:t>ndarray</a:t>
            </a:r>
            <a:r>
              <a:rPr lang="en-US" dirty="0" smtClean="0"/>
              <a:t> objects can also be created from another </a:t>
            </a:r>
            <a:r>
              <a:rPr lang="en-US" dirty="0" err="1" smtClean="0"/>
              <a:t>ndarray</a:t>
            </a:r>
            <a:r>
              <a:rPr lang="en-US" dirty="0" smtClean="0"/>
              <a:t> previously created. Creating a new </a:t>
            </a:r>
            <a:r>
              <a:rPr lang="en-US" dirty="0" err="1" smtClean="0"/>
              <a:t>ndarray</a:t>
            </a:r>
            <a:r>
              <a:rPr lang="en-US" dirty="0" smtClean="0"/>
              <a:t> by this way can be done as a </a:t>
            </a:r>
            <a:r>
              <a:rPr lang="en-US" b="1" dirty="0" smtClean="0">
                <a:solidFill>
                  <a:schemeClr val="tx2"/>
                </a:solidFill>
              </a:rPr>
              <a:t>copy</a:t>
            </a:r>
            <a:r>
              <a:rPr lang="en-US" dirty="0" smtClean="0"/>
              <a:t> or as a </a:t>
            </a:r>
            <a:r>
              <a:rPr lang="en-US" b="1" dirty="0" smtClean="0">
                <a:solidFill>
                  <a:schemeClr val="tx2"/>
                </a:solidFill>
              </a:rPr>
              <a:t>view</a:t>
            </a:r>
            <a:r>
              <a:rPr lang="en-US" dirty="0" smtClean="0"/>
              <a:t> of the existing one (or part of it when we use indexing and slicing).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The </a:t>
            </a:r>
            <a:r>
              <a:rPr lang="en-US" dirty="0"/>
              <a:t>main difference between a copy and a view of an array is that the </a:t>
            </a:r>
            <a:r>
              <a:rPr lang="en-US" b="1" dirty="0">
                <a:solidFill>
                  <a:schemeClr val="tx2"/>
                </a:solidFill>
              </a:rPr>
              <a:t>copy is a new array</a:t>
            </a:r>
            <a:r>
              <a:rPr lang="en-US" dirty="0"/>
              <a:t>, and the </a:t>
            </a:r>
            <a:r>
              <a:rPr lang="en-US" b="1" dirty="0">
                <a:solidFill>
                  <a:schemeClr val="tx2"/>
                </a:solidFill>
              </a:rPr>
              <a:t>view is just a view of the original </a:t>
            </a:r>
            <a:r>
              <a:rPr lang="en-US" b="1" dirty="0" smtClean="0">
                <a:solidFill>
                  <a:schemeClr val="tx2"/>
                </a:solidFill>
              </a:rPr>
              <a:t>array</a:t>
            </a:r>
            <a:r>
              <a:rPr lang="en-US" dirty="0"/>
              <a:t> </a:t>
            </a:r>
            <a:r>
              <a:rPr lang="en-US" dirty="0" smtClean="0"/>
              <a:t>(basically a pointer).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The </a:t>
            </a:r>
            <a:r>
              <a:rPr lang="en-US" b="1" dirty="0">
                <a:solidFill>
                  <a:schemeClr val="tx2"/>
                </a:solidFill>
              </a:rPr>
              <a:t>copy owns the data </a:t>
            </a:r>
            <a:r>
              <a:rPr lang="en-US" dirty="0"/>
              <a:t>and any changes made to the copy will not affect original array, and any changes made to the original array will not affect the copy.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The </a:t>
            </a:r>
            <a:r>
              <a:rPr lang="en-US" b="1" dirty="0">
                <a:solidFill>
                  <a:schemeClr val="tx2"/>
                </a:solidFill>
              </a:rPr>
              <a:t>view does not own the data</a:t>
            </a:r>
            <a:r>
              <a:rPr lang="en-US" dirty="0"/>
              <a:t> and any changes made to the view will affect the original array, and any changes made to the original array will affect the view.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815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19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By default, assigning one </a:t>
            </a:r>
            <a:r>
              <a:rPr lang="en-US" dirty="0" err="1" smtClean="0"/>
              <a:t>ndarray</a:t>
            </a:r>
            <a:r>
              <a:rPr lang="en-US" dirty="0" smtClean="0"/>
              <a:t> to another will create a view. 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85231" y="1902440"/>
            <a:ext cx="6275549" cy="45243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</a:p>
          <a:p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arange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i="1" dirty="0" smtClean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altLang="en-US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and b are the same </a:t>
            </a:r>
            <a:r>
              <a:rPr lang="en-US" altLang="en-US" i="1" dirty="0" smtClean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(a))</a:t>
            </a:r>
          </a:p>
          <a:p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(b))</a:t>
            </a:r>
          </a:p>
          <a:p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i="1" dirty="0" smtClean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altLang="en-US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Making changes in b will also change </a:t>
            </a:r>
            <a:r>
              <a:rPr lang="en-US" altLang="en-US" i="1" dirty="0" smtClean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and </a:t>
            </a:r>
            <a:r>
              <a:rPr lang="en-US" altLang="en-US" i="1" dirty="0" err="1" smtClean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viceversa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b[</a:t>
            </a:r>
            <a:r>
              <a:rPr lang="en-US" altLang="en-US" dirty="0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682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20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A copy of the original </a:t>
            </a:r>
            <a:r>
              <a:rPr lang="en-US" dirty="0" err="1" smtClean="0"/>
              <a:t>ndarray</a:t>
            </a:r>
            <a:r>
              <a:rPr lang="en-US" dirty="0" smtClean="0"/>
              <a:t> can be done with the assignation using the function </a:t>
            </a:r>
            <a:r>
              <a:rPr lang="en-US" b="1" dirty="0" err="1" smtClean="0">
                <a:solidFill>
                  <a:schemeClr val="tx2"/>
                </a:solidFill>
              </a:rPr>
              <a:t>np.copy</a:t>
            </a:r>
            <a:r>
              <a:rPr lang="en-US" b="1" dirty="0" smtClean="0">
                <a:solidFill>
                  <a:schemeClr val="tx2"/>
                </a:solidFill>
              </a:rPr>
              <a:t>()</a:t>
            </a:r>
            <a:r>
              <a:rPr lang="en-US" dirty="0" smtClean="0"/>
              <a:t>.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85231" y="1902440"/>
            <a:ext cx="6275549" cy="42473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en-US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arange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i="1" dirty="0" smtClean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altLang="en-US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and b are different objects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en-US" i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i="1" dirty="0" smtClean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altLang="en-US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Making changes in b will not affect a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b[</a:t>
            </a:r>
            <a:r>
              <a:rPr lang="en-US" altLang="en-US" dirty="0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1495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21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A view of the original </a:t>
            </a:r>
            <a:r>
              <a:rPr lang="en-US" dirty="0" err="1" smtClean="0"/>
              <a:t>ndarray</a:t>
            </a:r>
            <a:r>
              <a:rPr lang="en-US" dirty="0" smtClean="0"/>
              <a:t> can also be done </a:t>
            </a:r>
            <a:r>
              <a:rPr lang="en-US" dirty="0" err="1" smtClean="0"/>
              <a:t>explicitely</a:t>
            </a:r>
            <a:r>
              <a:rPr lang="en-US" dirty="0" smtClean="0"/>
              <a:t> with the assignation using the function </a:t>
            </a:r>
            <a:r>
              <a:rPr lang="en-US" b="1" dirty="0" err="1" smtClean="0">
                <a:solidFill>
                  <a:schemeClr val="tx2"/>
                </a:solidFill>
              </a:rPr>
              <a:t>np.view</a:t>
            </a:r>
            <a:r>
              <a:rPr lang="en-US" b="1" dirty="0" smtClean="0">
                <a:solidFill>
                  <a:schemeClr val="tx2"/>
                </a:solidFill>
              </a:rPr>
              <a:t>()</a:t>
            </a:r>
            <a:r>
              <a:rPr lang="en-US" dirty="0" smtClean="0"/>
              <a:t>.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85231" y="1902440"/>
            <a:ext cx="6275549" cy="39703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</a:p>
          <a:p>
            <a:endParaRPr lang="en-US" altLang="en-US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arange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a.view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en-US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</a:t>
            </a:r>
          </a:p>
          <a:p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 </a:t>
            </a:r>
          </a:p>
          <a:p>
            <a:r>
              <a:rPr lang="en-US" altLang="en-US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 and b are the same object</a:t>
            </a:r>
            <a:endParaRPr lang="en-US" altLang="en-US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(a))</a:t>
            </a:r>
          </a:p>
          <a:p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endParaRPr lang="en-US" altLang="en-US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Making changes in b will also change a and </a:t>
            </a:r>
            <a:r>
              <a:rPr lang="en-US" altLang="en-US" i="1" dirty="0" err="1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viceversa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b[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 </a:t>
            </a:r>
          </a:p>
          <a:p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85231" y="5853684"/>
            <a:ext cx="5748240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chemeClr val="tx2"/>
                </a:solidFill>
              </a:rPr>
              <a:t>Let’s see some examples: </a:t>
            </a:r>
            <a:endParaRPr lang="en-US" b="1" spc="-1" dirty="0" smtClean="0">
              <a:solidFill>
                <a:schemeClr val="tx2"/>
              </a:solidFill>
            </a:endParaRP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pc="-1" dirty="0" smtClean="0">
                <a:solidFill>
                  <a:schemeClr val="tx2"/>
                </a:solidFill>
              </a:rPr>
              <a:t>03_Indexing_and_slicing/</a:t>
            </a:r>
            <a:r>
              <a:rPr lang="en-US" spc="-1" dirty="0" err="1" smtClean="0">
                <a:solidFill>
                  <a:schemeClr val="tx2"/>
                </a:solidFill>
              </a:rPr>
              <a:t>copies_and_views.ipynb</a:t>
            </a:r>
            <a:endParaRPr lang="en-US" spc="-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722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22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The same approaches can be used when indexing or slicing </a:t>
            </a:r>
            <a:r>
              <a:rPr lang="en-US" dirty="0" err="1" smtClean="0"/>
              <a:t>ndarray</a:t>
            </a:r>
            <a:r>
              <a:rPr lang="en-US" dirty="0" smtClean="0"/>
              <a:t> objects.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When the elements can </a:t>
            </a:r>
            <a:r>
              <a:rPr lang="en-US" dirty="0"/>
              <a:t>be addressed with offsets, strides, and counts in the original </a:t>
            </a:r>
            <a:r>
              <a:rPr lang="en-US" dirty="0" smtClean="0"/>
              <a:t>array, the result will </a:t>
            </a:r>
            <a:r>
              <a:rPr lang="en-US" dirty="0"/>
              <a:t>b</a:t>
            </a:r>
            <a:r>
              <a:rPr lang="en-US" dirty="0" smtClean="0"/>
              <a:t>e given as a </a:t>
            </a:r>
            <a:r>
              <a:rPr lang="en-US" b="1" dirty="0" smtClean="0">
                <a:solidFill>
                  <a:schemeClr val="tx2"/>
                </a:solidFill>
              </a:rPr>
              <a:t>view</a:t>
            </a:r>
            <a:r>
              <a:rPr lang="en-US" dirty="0" smtClean="0"/>
              <a:t>: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/>
          </a:p>
          <a:p>
            <a:pPr marL="182880" indent="-178920">
              <a:spcBef>
                <a:spcPts val="4200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When we use advanced indexing, the result will be given as a </a:t>
            </a:r>
            <a:r>
              <a:rPr lang="en-US" b="1" dirty="0" smtClean="0">
                <a:solidFill>
                  <a:schemeClr val="tx2"/>
                </a:solidFill>
              </a:rPr>
              <a:t>copy</a:t>
            </a:r>
            <a:r>
              <a:rPr lang="en-US" dirty="0" smtClean="0"/>
              <a:t>: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285231" y="3117095"/>
            <a:ext cx="6275549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arange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a[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-US" altLang="en-US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 is a view of a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85231" y="4860170"/>
            <a:ext cx="6275549" cy="9233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arange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a[[</a:t>
            </a:r>
            <a:r>
              <a:rPr lang="en-US" altLang="en-US" dirty="0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1,7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 </a:t>
            </a:r>
            <a:r>
              <a:rPr lang="en-US" altLang="en-US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 is a </a:t>
            </a:r>
            <a:r>
              <a:rPr lang="en-US" altLang="en-US" i="1" dirty="0" smtClean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</a:t>
            </a:r>
            <a:r>
              <a:rPr lang="en-US" altLang="en-US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 </a:t>
            </a:r>
            <a:r>
              <a:rPr lang="en-US" altLang="en-US" i="1" dirty="0" smtClean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elements</a:t>
            </a: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450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23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7"/>
          <p:cNvSpPr/>
          <p:nvPr/>
        </p:nvSpPr>
        <p:spPr>
          <a:xfrm>
            <a:off x="5440052" y="13997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Indexing one element (view)</a:t>
            </a:r>
            <a:endParaRPr lang="en-US" dirty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667" y="3455253"/>
            <a:ext cx="5287113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445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24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Slicing consecutive elements I (view)</a:t>
            </a:r>
            <a:endParaRPr lang="en-US" dirty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772" y="3455253"/>
            <a:ext cx="5430008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605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25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Slicing consecutive elements II (view)</a:t>
            </a:r>
            <a:endParaRPr lang="en-US" dirty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720" y="3455253"/>
            <a:ext cx="5449060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857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26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Slicing with range (view)</a:t>
            </a:r>
            <a:endParaRPr lang="en-US" dirty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404" y="3455253"/>
            <a:ext cx="5563376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79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27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Slicing with range and stride I (view)</a:t>
            </a:r>
            <a:endParaRPr lang="en-US" dirty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614" y="3455253"/>
            <a:ext cx="5849166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6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28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Slicing with range and stride II (view)</a:t>
            </a:r>
            <a:endParaRPr lang="en-US" dirty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930" y="3455253"/>
            <a:ext cx="5734850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31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29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Advanced indexing (copy)</a:t>
            </a:r>
            <a:endParaRPr lang="en-US" dirty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396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</a:pP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614" y="3455253"/>
            <a:ext cx="5849166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6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30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>
                <a:solidFill>
                  <a:schemeClr val="tx2"/>
                </a:solidFill>
              </a:rPr>
              <a:t>Indexing one element (view</a:t>
            </a:r>
            <a:r>
              <a:rPr lang="en-US" b="1" dirty="0" smtClean="0">
                <a:solidFill>
                  <a:schemeClr val="tx2"/>
                </a:solidFill>
              </a:rPr>
              <a:t>)</a:t>
            </a: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457" y="2593121"/>
            <a:ext cx="5001323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343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31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Slicing entire row (view)</a:t>
            </a: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721" y="2593121"/>
            <a:ext cx="4725059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770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32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Slicing entire column (view)</a:t>
            </a: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457" y="2578831"/>
            <a:ext cx="5001323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145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33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Slicing sub-matrix (view)</a:t>
            </a:r>
            <a:r>
              <a:rPr lang="en-US" dirty="0" smtClean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193" y="2593121"/>
            <a:ext cx="5277587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692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34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>
                <a:solidFill>
                  <a:schemeClr val="tx2"/>
                </a:solidFill>
              </a:rPr>
              <a:t>Advanced </a:t>
            </a:r>
            <a:r>
              <a:rPr lang="en-US" b="1" dirty="0" smtClean="0">
                <a:solidFill>
                  <a:schemeClr val="tx2"/>
                </a:solidFill>
              </a:rPr>
              <a:t>indexing </a:t>
            </a:r>
            <a:r>
              <a:rPr lang="en-US" b="1" dirty="0">
                <a:solidFill>
                  <a:schemeClr val="tx2"/>
                </a:solidFill>
              </a:rPr>
              <a:t>(copy)</a:t>
            </a:r>
            <a:endParaRPr lang="en-US" dirty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087" y="2578831"/>
            <a:ext cx="5858693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01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35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3200" b="1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>
                <a:solidFill>
                  <a:schemeClr val="tx2"/>
                </a:solidFill>
              </a:rPr>
              <a:t>Indexing one element (view)</a:t>
            </a:r>
            <a:r>
              <a:rPr lang="en-US" dirty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424" y="2107278"/>
            <a:ext cx="4763165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226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36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3200" b="1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Slicing 1D array I (view</a:t>
            </a:r>
            <a:r>
              <a:rPr lang="en-US" b="1" dirty="0">
                <a:solidFill>
                  <a:schemeClr val="tx2"/>
                </a:solidFill>
              </a:rPr>
              <a:t>)</a:t>
            </a:r>
            <a:r>
              <a:rPr lang="en-US" dirty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424" y="2107278"/>
            <a:ext cx="4763165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1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37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3200" b="1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Slicing 1D array II (view</a:t>
            </a:r>
            <a:r>
              <a:rPr lang="en-US" b="1" dirty="0">
                <a:solidFill>
                  <a:schemeClr val="tx2"/>
                </a:solidFill>
              </a:rPr>
              <a:t>)</a:t>
            </a:r>
            <a:r>
              <a:rPr lang="en-US" dirty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424" y="2107278"/>
            <a:ext cx="4763165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674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38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3200" b="1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Slicing 1D array III (view</a:t>
            </a:r>
            <a:r>
              <a:rPr lang="en-US" b="1" dirty="0">
                <a:solidFill>
                  <a:schemeClr val="tx2"/>
                </a:solidFill>
              </a:rPr>
              <a:t>)</a:t>
            </a:r>
            <a:r>
              <a:rPr lang="en-US" dirty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424" y="2107278"/>
            <a:ext cx="4763165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766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39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3200" b="1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Slicing 2D array I (view</a:t>
            </a:r>
            <a:r>
              <a:rPr lang="en-US" b="1" dirty="0">
                <a:solidFill>
                  <a:schemeClr val="tx2"/>
                </a:solidFill>
              </a:rPr>
              <a:t>)</a:t>
            </a:r>
            <a:r>
              <a:rPr lang="en-US" dirty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424" y="2107278"/>
            <a:ext cx="4763165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132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40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3200" b="1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Slicing 2D array II (view</a:t>
            </a:r>
            <a:r>
              <a:rPr lang="en-US" b="1" dirty="0">
                <a:solidFill>
                  <a:schemeClr val="tx2"/>
                </a:solidFill>
              </a:rPr>
              <a:t>)</a:t>
            </a:r>
            <a:r>
              <a:rPr lang="en-US" dirty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134" y="2107278"/>
            <a:ext cx="4791744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26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41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3200" b="1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Slicing 2D array III (view</a:t>
            </a:r>
            <a:r>
              <a:rPr lang="en-US" b="1" dirty="0">
                <a:solidFill>
                  <a:schemeClr val="tx2"/>
                </a:solidFill>
              </a:rPr>
              <a:t>)</a:t>
            </a:r>
            <a:r>
              <a:rPr lang="en-US" dirty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1424" y="2107278"/>
            <a:ext cx="4763165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20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42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3200" b="1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Slicing </a:t>
            </a:r>
            <a:r>
              <a:rPr lang="en-US" b="1" dirty="0">
                <a:solidFill>
                  <a:schemeClr val="tx2"/>
                </a:solidFill>
              </a:rPr>
              <a:t>3</a:t>
            </a:r>
            <a:r>
              <a:rPr lang="en-US" b="1" dirty="0" smtClean="0">
                <a:solidFill>
                  <a:schemeClr val="tx2"/>
                </a:solidFill>
              </a:rPr>
              <a:t>D array I (view</a:t>
            </a:r>
            <a:r>
              <a:rPr lang="en-US" b="1" dirty="0">
                <a:solidFill>
                  <a:schemeClr val="tx2"/>
                </a:solidFill>
              </a:rPr>
              <a:t>)</a:t>
            </a:r>
            <a:r>
              <a:rPr lang="en-US" dirty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134" y="2107278"/>
            <a:ext cx="4791744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822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43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3200" b="1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Slicing </a:t>
            </a:r>
            <a:r>
              <a:rPr lang="en-US" b="1" dirty="0">
                <a:solidFill>
                  <a:schemeClr val="tx2"/>
                </a:solidFill>
              </a:rPr>
              <a:t>3</a:t>
            </a:r>
            <a:r>
              <a:rPr lang="en-US" b="1" dirty="0" smtClean="0">
                <a:solidFill>
                  <a:schemeClr val="tx2"/>
                </a:solidFill>
              </a:rPr>
              <a:t>D array II (view</a:t>
            </a:r>
            <a:r>
              <a:rPr lang="en-US" b="1" dirty="0">
                <a:solidFill>
                  <a:schemeClr val="tx2"/>
                </a:solidFill>
              </a:rPr>
              <a:t>)</a:t>
            </a:r>
            <a:r>
              <a:rPr lang="en-US" dirty="0"/>
              <a:t> 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134" y="2107278"/>
            <a:ext cx="4791744" cy="32103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285231" y="5640324"/>
            <a:ext cx="5876096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chemeClr val="tx2"/>
                </a:solidFill>
              </a:rPr>
              <a:t>Let’s see some examples: </a:t>
            </a:r>
            <a:endParaRPr lang="en-US" b="1" spc="-1" dirty="0" smtClean="0">
              <a:solidFill>
                <a:schemeClr val="tx2"/>
              </a:solidFill>
            </a:endParaRP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pc="-1" dirty="0" smtClean="0">
                <a:solidFill>
                  <a:schemeClr val="tx2"/>
                </a:solidFill>
              </a:rPr>
              <a:t>03_Indexing_an_slicing/</a:t>
            </a:r>
            <a:r>
              <a:rPr lang="en-US" spc="-1" dirty="0" err="1" smtClean="0">
                <a:solidFill>
                  <a:schemeClr val="tx2"/>
                </a:solidFill>
              </a:rPr>
              <a:t>indexing_and_slicing.ipynb</a:t>
            </a:r>
            <a:endParaRPr lang="en-US" spc="-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79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44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Iterating </a:t>
            </a:r>
            <a:r>
              <a:rPr lang="en-US" dirty="0"/>
              <a:t>means going through elements one by one.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 As we deal with multi-dimensional arrays in </a:t>
            </a:r>
            <a:r>
              <a:rPr lang="en-US" dirty="0" err="1"/>
              <a:t>numpy</a:t>
            </a:r>
            <a:r>
              <a:rPr lang="en-US" dirty="0"/>
              <a:t>, we can do this using basic </a:t>
            </a:r>
            <a:r>
              <a:rPr lang="en-US" b="1" dirty="0">
                <a:solidFill>
                  <a:schemeClr val="tx2"/>
                </a:solidFill>
              </a:rPr>
              <a:t>for loop </a:t>
            </a:r>
            <a:r>
              <a:rPr lang="en-US" dirty="0"/>
              <a:t>of python.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In basic for loops, iterating through each scalar of an </a:t>
            </a:r>
            <a:r>
              <a:rPr lang="en-US" dirty="0" err="1" smtClean="0"/>
              <a:t>ndarray</a:t>
            </a:r>
            <a:r>
              <a:rPr lang="en-US" dirty="0" smtClean="0"/>
              <a:t> </a:t>
            </a:r>
            <a:r>
              <a:rPr lang="en-US" dirty="0"/>
              <a:t>we need to use </a:t>
            </a:r>
            <a:r>
              <a:rPr lang="en-US" b="1" dirty="0">
                <a:solidFill>
                  <a:schemeClr val="tx2"/>
                </a:solidFill>
              </a:rPr>
              <a:t>n for loops </a:t>
            </a:r>
            <a:r>
              <a:rPr lang="en-US" dirty="0"/>
              <a:t>which can be difficult to write for arrays with very high dimensionality</a:t>
            </a:r>
            <a:r>
              <a:rPr lang="en-US" dirty="0" smtClean="0"/>
              <a:t>. For example: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285374" y="3846880"/>
            <a:ext cx="6275549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([[[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[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]], [[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[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]]])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altLang="en-US" b="1" dirty="0">
                <a:solidFill>
                  <a:srgbClr val="AA2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a: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</a:t>
            </a:r>
            <a:r>
              <a:rPr lang="en-US" altLang="en-US" b="1" dirty="0">
                <a:solidFill>
                  <a:srgbClr val="AA2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x: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 </a:t>
            </a:r>
            <a:r>
              <a:rPr lang="en-US" altLang="en-US" b="1" dirty="0">
                <a:solidFill>
                  <a:srgbClr val="AA2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y: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(z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30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45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The iterator object </a:t>
            </a:r>
            <a:r>
              <a:rPr lang="en-US" b="1" dirty="0" err="1">
                <a:solidFill>
                  <a:schemeClr val="tx2"/>
                </a:solidFill>
              </a:rPr>
              <a:t>nditer</a:t>
            </a:r>
            <a:r>
              <a:rPr lang="en-US" dirty="0"/>
              <a:t> provides many flexible ways to visit all the elements of one or more arrays in a systematic fashion.</a:t>
            </a: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285374" y="2195880"/>
            <a:ext cx="6275549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([[[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[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]],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[[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[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]]])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altLang="en-US" b="1" dirty="0">
                <a:solidFill>
                  <a:srgbClr val="AA2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nditer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(a):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285231" y="3704844"/>
            <a:ext cx="5897320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chemeClr val="tx2"/>
                </a:solidFill>
              </a:rPr>
              <a:t>Let’s see some examples: </a:t>
            </a:r>
            <a:endParaRPr lang="en-US" b="1" spc="-1" dirty="0" smtClean="0">
              <a:solidFill>
                <a:schemeClr val="tx2"/>
              </a:solidFill>
            </a:endParaRP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pc="-1" dirty="0" smtClean="0">
                <a:solidFill>
                  <a:schemeClr val="tx2"/>
                </a:solidFill>
              </a:rPr>
              <a:t>03_Indexing_and_slicing/</a:t>
            </a:r>
            <a:r>
              <a:rPr lang="en-US" spc="-1" dirty="0" err="1" smtClean="0">
                <a:solidFill>
                  <a:schemeClr val="tx2"/>
                </a:solidFill>
              </a:rPr>
              <a:t>iterating_over_array.ipynb</a:t>
            </a:r>
            <a:endParaRPr lang="en-US" spc="-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68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46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chemeClr val="tx2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err="1" smtClean="0"/>
              <a:t>numpy</a:t>
            </a:r>
            <a:r>
              <a:rPr lang="en-US" dirty="0" smtClean="0"/>
              <a:t> </a:t>
            </a:r>
            <a:r>
              <a:rPr lang="en-US" dirty="0"/>
              <a:t>operations are usually done element-by-element which requires two arrays to have exactly the same </a:t>
            </a:r>
            <a:r>
              <a:rPr lang="en-US" dirty="0" smtClean="0"/>
              <a:t>shape.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/>
              <a:t>The term </a:t>
            </a:r>
            <a:r>
              <a:rPr lang="en-US" b="1" dirty="0">
                <a:solidFill>
                  <a:schemeClr val="tx2"/>
                </a:solidFill>
              </a:rPr>
              <a:t>broadcasting</a:t>
            </a:r>
            <a:r>
              <a:rPr lang="en-US" dirty="0"/>
              <a:t> describes how </a:t>
            </a:r>
            <a:r>
              <a:rPr lang="en-US" dirty="0" err="1"/>
              <a:t>numpy</a:t>
            </a:r>
            <a:r>
              <a:rPr lang="en-US" dirty="0"/>
              <a:t> treats arrays with different shapes during </a:t>
            </a:r>
            <a:r>
              <a:rPr lang="en-US" b="1" dirty="0">
                <a:solidFill>
                  <a:schemeClr val="tx2"/>
                </a:solidFill>
              </a:rPr>
              <a:t>arithmetic operations</a:t>
            </a:r>
            <a:r>
              <a:rPr lang="en-US" dirty="0"/>
              <a:t>. Subject to certain constraints, the smaller array is “broadcast” across the larger array so that they have compatible shapes. </a:t>
            </a: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85231" y="1878380"/>
            <a:ext cx="6275549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1.0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2.0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3.0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2.0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2.0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2.0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en-US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[2. 4. 6.]</a:t>
            </a:r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285231" y="4994098"/>
            <a:ext cx="6275549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1.0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2.0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3.0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 </a:t>
            </a:r>
            <a:r>
              <a:rPr lang="en-US" altLang="en-US" dirty="0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2.0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en-US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[2. 4. 6.]</a:t>
            </a:r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96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47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chemeClr val="tx2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Broadcasting rules:</a:t>
            </a:r>
          </a:p>
          <a:p>
            <a:pPr marL="640080" lvl="1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If arrays have different number of dimensions, </a:t>
            </a:r>
            <a:r>
              <a:rPr lang="en-US" b="1" dirty="0" smtClean="0">
                <a:solidFill>
                  <a:schemeClr val="tx2"/>
                </a:solidFill>
              </a:rPr>
              <a:t>insert new axis on the left</a:t>
            </a:r>
            <a:r>
              <a:rPr lang="en-US" dirty="0" smtClean="0"/>
              <a:t> until arrays have the same number of dimensions.</a:t>
            </a:r>
          </a:p>
          <a:p>
            <a:pPr marL="640080" lvl="1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For each axis </a:t>
            </a:r>
            <a:r>
              <a:rPr lang="en-US" dirty="0" err="1" smtClean="0"/>
              <a:t>i</a:t>
            </a:r>
            <a:r>
              <a:rPr lang="en-US" dirty="0" smtClean="0"/>
              <a:t>, if arrays dimension[</a:t>
            </a:r>
            <a:r>
              <a:rPr lang="en-US" dirty="0" err="1" smtClean="0"/>
              <a:t>i</a:t>
            </a:r>
            <a:r>
              <a:rPr lang="en-US" dirty="0" smtClean="0"/>
              <a:t>] do not match, </a:t>
            </a:r>
            <a:r>
              <a:rPr lang="en-US" b="1" dirty="0" smtClean="0">
                <a:solidFill>
                  <a:schemeClr val="tx2"/>
                </a:solidFill>
              </a:rPr>
              <a:t>“stretch” </a:t>
            </a:r>
            <a:r>
              <a:rPr lang="en-US" dirty="0" smtClean="0"/>
              <a:t>the arrays where dimension[</a:t>
            </a:r>
            <a:r>
              <a:rPr lang="en-US" dirty="0" err="1" smtClean="0"/>
              <a:t>i</a:t>
            </a:r>
            <a:r>
              <a:rPr lang="en-US" dirty="0" smtClean="0"/>
              <a:t>] = 1 </a:t>
            </a:r>
            <a:r>
              <a:rPr lang="en-US" b="1" dirty="0" smtClean="0">
                <a:solidFill>
                  <a:schemeClr val="tx2"/>
                </a:solidFill>
              </a:rPr>
              <a:t>to match other arrays</a:t>
            </a:r>
            <a:r>
              <a:rPr lang="en-US" dirty="0" smtClean="0"/>
              <a:t>.</a:t>
            </a:r>
          </a:p>
          <a:p>
            <a:pPr marL="640080" lvl="1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If no match and dimension[</a:t>
            </a:r>
            <a:r>
              <a:rPr lang="en-US" dirty="0" err="1" smtClean="0"/>
              <a:t>i</a:t>
            </a:r>
            <a:r>
              <a:rPr lang="en-US" dirty="0" smtClean="0"/>
              <a:t>] != 1, then there will be an error. </a:t>
            </a:r>
          </a:p>
          <a:p>
            <a:pPr marL="461160" lvl="1">
              <a:spcBef>
                <a:spcPts val="3169"/>
              </a:spcBef>
              <a:buClr>
                <a:srgbClr val="0047BA"/>
              </a:buClr>
              <a:buSzPct val="65000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285231" y="4994098"/>
            <a:ext cx="6275549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 err="1">
                <a:solidFill>
                  <a:srgbClr val="B22B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ValueError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operands could not be broadcast together with shapes</a:t>
            </a:r>
            <a:r>
              <a:rPr lang="en-US" altLang="en-US" sz="1100" dirty="0"/>
              <a:t> </a:t>
            </a:r>
            <a:r>
              <a:rPr lang="en-US" altLang="en-US" sz="1100" dirty="0" smtClean="0"/>
              <a:t>…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02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48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chemeClr val="tx2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Broadcasting - 1D array and scalar: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476" y="3150411"/>
            <a:ext cx="6173061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90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49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chemeClr val="tx2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Broadcasting - 2D array and 1D array I: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581" y="2669331"/>
            <a:ext cx="5734850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06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50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chemeClr val="tx2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Broadcasting - 2D array and 1D array II: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345" y="1626198"/>
            <a:ext cx="4277322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89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51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chemeClr val="tx2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Broadcasting - 2D array and 2D array I: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581" y="2488331"/>
            <a:ext cx="5734850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05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52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chemeClr val="tx2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Broadcasting - 2D array and 2D array II: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581" y="2502620"/>
            <a:ext cx="5734850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611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3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Indexing and slicing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53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Copies and views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1D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  <a:ea typeface="DejaVu Sans"/>
              </a:rPr>
              <a:t>2D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3D array</a:t>
            </a:r>
            <a:endParaRPr lang="en-US" sz="2800" strike="noStrike" spc="-1" dirty="0" smtClean="0">
              <a:solidFill>
                <a:srgbClr val="0047BA"/>
              </a:solidFill>
              <a:latin typeface="Arial"/>
              <a:ea typeface="DejaVu Sans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Iterating over array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chemeClr val="tx2"/>
                </a:solidFill>
                <a:latin typeface="Arial"/>
              </a:rPr>
              <a:t>Broadcasting</a:t>
            </a: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Broadcasting - 3D array and 2D array: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581" y="2273989"/>
            <a:ext cx="5734850" cy="287695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285231" y="5481476"/>
            <a:ext cx="5184496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chemeClr val="tx2"/>
                </a:solidFill>
              </a:rPr>
              <a:t>Let’s see some examples: </a:t>
            </a:r>
            <a:endParaRPr lang="en-US" b="1" spc="-1" dirty="0" smtClean="0">
              <a:solidFill>
                <a:schemeClr val="tx2"/>
              </a:solidFill>
            </a:endParaRP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pc="-1" dirty="0" smtClean="0">
                <a:solidFill>
                  <a:schemeClr val="tx2"/>
                </a:solidFill>
              </a:rPr>
              <a:t>03_Indexing_and_slicing/</a:t>
            </a:r>
            <a:r>
              <a:rPr lang="en-US" spc="-1" dirty="0" err="1" smtClean="0">
                <a:solidFill>
                  <a:schemeClr val="tx2"/>
                </a:solidFill>
              </a:rPr>
              <a:t>broadcasting.ipynb</a:t>
            </a:r>
            <a:endParaRPr lang="en-US" spc="-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169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4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Array manipulation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54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Changing shape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Transpose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Change dimensions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Joining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Splitting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Adding/Removing elements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268688"/>
              </p:ext>
            </p:extLst>
          </p:nvPr>
        </p:nvGraphicFramePr>
        <p:xfrm>
          <a:off x="5287651" y="1679040"/>
          <a:ext cx="6275548" cy="2969310"/>
        </p:xfrm>
        <a:graphic>
          <a:graphicData uri="http://schemas.openxmlformats.org/drawingml/2006/table">
            <a:tbl>
              <a:tblPr/>
              <a:tblGrid>
                <a:gridCol w="855973">
                  <a:extLst>
                    <a:ext uri="{9D8B030D-6E8A-4147-A177-3AD203B41FA5}">
                      <a16:colId xmlns:a16="http://schemas.microsoft.com/office/drawing/2014/main" val="3200015538"/>
                    </a:ext>
                  </a:extLst>
                </a:gridCol>
                <a:gridCol w="5419575">
                  <a:extLst>
                    <a:ext uri="{9D8B030D-6E8A-4147-A177-3AD203B41FA5}">
                      <a16:colId xmlns:a16="http://schemas.microsoft.com/office/drawing/2014/main" val="3408131776"/>
                    </a:ext>
                  </a:extLst>
                </a:gridCol>
              </a:tblGrid>
              <a:tr h="4254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Sr.No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smtClean="0">
                          <a:solidFill>
                            <a:schemeClr val="bg1"/>
                          </a:solidFill>
                          <a:effectLst/>
                        </a:rPr>
                        <a:t>Function &amp; Description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43409"/>
                  </a:ext>
                </a:extLst>
              </a:tr>
              <a:tr h="66045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reshape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Gives a new shape to an array without changing its data.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88815"/>
                  </a:ext>
                </a:extLst>
              </a:tr>
              <a:tr h="72522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flat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1-D iterator over the array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140657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flatten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a copy of the array collapsed into one dimension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89103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smtClean="0">
                          <a:effectLst/>
                        </a:rPr>
                        <a:t>4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ravel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a contiguous flattened array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546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227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4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Array manipulation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55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Changing shape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Transpose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Change dimensions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Joining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Splitting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Adding/Removing elements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Reshape 1D array into 2D array (view):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449" y="2683621"/>
            <a:ext cx="6011114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356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4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Array manipulation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56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Changing shape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Transpose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Change dimensions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Joining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Splitting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Adding/Removing elements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Flatten 2D array (copy):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449" y="2683621"/>
            <a:ext cx="6011114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1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4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Array manipulation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57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Changing shape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Transpose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Change dimensions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Joining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Splitting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Adding/Removing elements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Ravel 2D array (view):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449" y="2683621"/>
            <a:ext cx="6011114" cy="205768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285231" y="5481476"/>
            <a:ext cx="5389681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chemeClr val="tx2"/>
                </a:solidFill>
              </a:rPr>
              <a:t>Let’s see some examples: </a:t>
            </a:r>
            <a:endParaRPr lang="en-US" b="1" spc="-1" dirty="0" smtClean="0">
              <a:solidFill>
                <a:schemeClr val="tx2"/>
              </a:solidFill>
            </a:endParaRP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pc="-1" dirty="0" smtClean="0">
                <a:solidFill>
                  <a:schemeClr val="tx2"/>
                </a:solidFill>
              </a:rPr>
              <a:t>04_Array_manipulation/</a:t>
            </a:r>
            <a:r>
              <a:rPr lang="en-US" spc="-1" dirty="0" err="1" smtClean="0">
                <a:solidFill>
                  <a:schemeClr val="tx2"/>
                </a:solidFill>
              </a:rPr>
              <a:t>changing_shape.ipynb</a:t>
            </a:r>
            <a:endParaRPr lang="en-US" spc="-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34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4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Array manipulation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58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Changing shape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chemeClr val="tx2"/>
                </a:solidFill>
                <a:latin typeface="Arial"/>
              </a:rPr>
              <a:t>Transpose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Change dimensions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Joining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Splitting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Adding/Removing elements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501226"/>
              </p:ext>
            </p:extLst>
          </p:nvPr>
        </p:nvGraphicFramePr>
        <p:xfrm>
          <a:off x="5287651" y="1679040"/>
          <a:ext cx="6275548" cy="2969310"/>
        </p:xfrm>
        <a:graphic>
          <a:graphicData uri="http://schemas.openxmlformats.org/drawingml/2006/table">
            <a:tbl>
              <a:tblPr/>
              <a:tblGrid>
                <a:gridCol w="855973">
                  <a:extLst>
                    <a:ext uri="{9D8B030D-6E8A-4147-A177-3AD203B41FA5}">
                      <a16:colId xmlns:a16="http://schemas.microsoft.com/office/drawing/2014/main" val="3200015538"/>
                    </a:ext>
                  </a:extLst>
                </a:gridCol>
                <a:gridCol w="5419575">
                  <a:extLst>
                    <a:ext uri="{9D8B030D-6E8A-4147-A177-3AD203B41FA5}">
                      <a16:colId xmlns:a16="http://schemas.microsoft.com/office/drawing/2014/main" val="3408131776"/>
                    </a:ext>
                  </a:extLst>
                </a:gridCol>
              </a:tblGrid>
              <a:tr h="4254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Sr.No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smtClean="0">
                          <a:solidFill>
                            <a:schemeClr val="bg1"/>
                          </a:solidFill>
                          <a:effectLst/>
                        </a:rPr>
                        <a:t>Function &amp; Description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43409"/>
                  </a:ext>
                </a:extLst>
              </a:tr>
              <a:tr h="66045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transpose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Permutes the dimensions of an array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88815"/>
                  </a:ext>
                </a:extLst>
              </a:tr>
              <a:tr h="72522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Same as </a:t>
                      </a:r>
                      <a:r>
                        <a:rPr lang="en-US" sz="14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self.transpose</a:t>
                      </a:r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140657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rollaxis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Rolls the specified axis backwards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89103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smtClean="0">
                          <a:effectLst/>
                        </a:rPr>
                        <a:t>4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swapaxes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Interchanges the two axes of an array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546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3908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4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Array manipulation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59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Changing shape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chemeClr val="tx2"/>
                </a:solidFill>
                <a:latin typeface="Arial"/>
              </a:rPr>
              <a:t>Transpose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Change dimensions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Joining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Splitting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Adding/Removing elements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Transpose of 2D array I (view):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739" y="1932601"/>
            <a:ext cx="5620534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13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4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Array manipulation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60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Changing shape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chemeClr val="tx2"/>
                </a:solidFill>
                <a:latin typeface="Arial"/>
              </a:rPr>
              <a:t>Transpose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Change dimensions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Joining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Splitting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Adding/Removing elements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Transpose of 2D array II (view):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739" y="1932601"/>
            <a:ext cx="5620534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80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4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Array manipulation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61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Changing shape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chemeClr val="tx2"/>
                </a:solidFill>
                <a:latin typeface="Arial"/>
              </a:rPr>
              <a:t>Transpose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Change dimensions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Joining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Splitting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Adding/Removing elements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Transpose of 3D array (view):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765" y="1522969"/>
            <a:ext cx="5782482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85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4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Array manipulation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62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Changing shape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chemeClr val="tx2"/>
                </a:solidFill>
                <a:latin typeface="Arial"/>
              </a:rPr>
              <a:t>Transpose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Change dimensions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Joining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Splitting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Adding/Removing elements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dirty="0" smtClean="0">
                <a:solidFill>
                  <a:schemeClr val="tx2"/>
                </a:solidFill>
              </a:rPr>
              <a:t>Transpose of 3D array (view):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765" y="1522969"/>
            <a:ext cx="5782482" cy="46583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281082" y="6017807"/>
            <a:ext cx="4710649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chemeClr val="tx2"/>
                </a:solidFill>
              </a:rPr>
              <a:t>Let’s see some examples: </a:t>
            </a:r>
            <a:endParaRPr lang="en-US" b="1" spc="-1" dirty="0" smtClean="0">
              <a:solidFill>
                <a:schemeClr val="tx2"/>
              </a:solidFill>
            </a:endParaRP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pc="-1" dirty="0">
                <a:solidFill>
                  <a:schemeClr val="tx2"/>
                </a:solidFill>
              </a:rPr>
              <a:t>04_Array_manipulation/</a:t>
            </a:r>
            <a:r>
              <a:rPr lang="en-US" spc="-1" dirty="0" err="1">
                <a:solidFill>
                  <a:schemeClr val="tx2"/>
                </a:solidFill>
              </a:rPr>
              <a:t>transpose.ipynb</a:t>
            </a:r>
            <a:endParaRPr lang="en-US" spc="-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595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4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Array manipulation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63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Changing shape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chemeClr val="tx2"/>
                </a:solidFill>
                <a:latin typeface="Arial"/>
              </a:rPr>
              <a:t>Transpose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Change dimensions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Joining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Splitting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Adding/Removing elements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61968"/>
              </p:ext>
            </p:extLst>
          </p:nvPr>
        </p:nvGraphicFramePr>
        <p:xfrm>
          <a:off x="5287651" y="1679040"/>
          <a:ext cx="6275548" cy="2969310"/>
        </p:xfrm>
        <a:graphic>
          <a:graphicData uri="http://schemas.openxmlformats.org/drawingml/2006/table">
            <a:tbl>
              <a:tblPr/>
              <a:tblGrid>
                <a:gridCol w="855973">
                  <a:extLst>
                    <a:ext uri="{9D8B030D-6E8A-4147-A177-3AD203B41FA5}">
                      <a16:colId xmlns:a16="http://schemas.microsoft.com/office/drawing/2014/main" val="3200015538"/>
                    </a:ext>
                  </a:extLst>
                </a:gridCol>
                <a:gridCol w="5419575">
                  <a:extLst>
                    <a:ext uri="{9D8B030D-6E8A-4147-A177-3AD203B41FA5}">
                      <a16:colId xmlns:a16="http://schemas.microsoft.com/office/drawing/2014/main" val="3408131776"/>
                    </a:ext>
                  </a:extLst>
                </a:gridCol>
              </a:tblGrid>
              <a:tr h="4254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Sr.No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smtClean="0">
                          <a:solidFill>
                            <a:schemeClr val="bg1"/>
                          </a:solidFill>
                          <a:effectLst/>
                        </a:rPr>
                        <a:t>Function &amp; Description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43409"/>
                  </a:ext>
                </a:extLst>
              </a:tr>
              <a:tr h="66045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broadcast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Produces an object that mimics broadcasting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88815"/>
                  </a:ext>
                </a:extLst>
              </a:tr>
              <a:tr h="72522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broadcast_to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Broadcasts an array to a new shape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140657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expand_dims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Expands the shape of an array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89103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smtClean="0">
                          <a:effectLst/>
                        </a:rPr>
                        <a:t>4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squeeze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Removes single-dimensional entries from the shape of an array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546525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285231" y="5481476"/>
            <a:ext cx="5927648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chemeClr val="tx2"/>
                </a:solidFill>
              </a:rPr>
              <a:t>Let’s see some examples: </a:t>
            </a:r>
            <a:endParaRPr lang="en-US" b="1" spc="-1" dirty="0" smtClean="0">
              <a:solidFill>
                <a:schemeClr val="tx2"/>
              </a:solidFill>
            </a:endParaRP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pc="-1" dirty="0">
                <a:solidFill>
                  <a:schemeClr val="tx2"/>
                </a:solidFill>
              </a:rPr>
              <a:t>04_Array_manipulation/</a:t>
            </a:r>
            <a:r>
              <a:rPr lang="en-US" spc="-1" dirty="0" err="1">
                <a:solidFill>
                  <a:schemeClr val="tx2"/>
                </a:solidFill>
              </a:rPr>
              <a:t>changing_dimensions.ipynb</a:t>
            </a:r>
            <a:endParaRPr lang="en-US" spc="-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442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4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Array manipulation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64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Changing shape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chemeClr val="tx2"/>
                </a:solidFill>
                <a:latin typeface="Arial"/>
              </a:rPr>
              <a:t>Transpose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Change dimensions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Joining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Splitting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Adding/Removing elements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838476"/>
              </p:ext>
            </p:extLst>
          </p:nvPr>
        </p:nvGraphicFramePr>
        <p:xfrm>
          <a:off x="5287651" y="1679040"/>
          <a:ext cx="6275548" cy="2969310"/>
        </p:xfrm>
        <a:graphic>
          <a:graphicData uri="http://schemas.openxmlformats.org/drawingml/2006/table">
            <a:tbl>
              <a:tblPr/>
              <a:tblGrid>
                <a:gridCol w="855973">
                  <a:extLst>
                    <a:ext uri="{9D8B030D-6E8A-4147-A177-3AD203B41FA5}">
                      <a16:colId xmlns:a16="http://schemas.microsoft.com/office/drawing/2014/main" val="3200015538"/>
                    </a:ext>
                  </a:extLst>
                </a:gridCol>
                <a:gridCol w="5419575">
                  <a:extLst>
                    <a:ext uri="{9D8B030D-6E8A-4147-A177-3AD203B41FA5}">
                      <a16:colId xmlns:a16="http://schemas.microsoft.com/office/drawing/2014/main" val="3408131776"/>
                    </a:ext>
                  </a:extLst>
                </a:gridCol>
              </a:tblGrid>
              <a:tr h="4254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Sr.No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smtClean="0">
                          <a:solidFill>
                            <a:schemeClr val="bg1"/>
                          </a:solidFill>
                          <a:effectLst/>
                        </a:rPr>
                        <a:t>Function &amp; Description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43409"/>
                  </a:ext>
                </a:extLst>
              </a:tr>
              <a:tr h="66045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concatenate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Joins a sequence of arrays along an existing axis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88815"/>
                  </a:ext>
                </a:extLst>
              </a:tr>
              <a:tr h="72522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Joins a sequence of arrays along a new axis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140657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hstack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Stacks arrays in sequence horizontally (column wise)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89103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smtClean="0">
                          <a:effectLst/>
                        </a:rPr>
                        <a:t>4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vstack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Stacks arrays in sequence vertically (row wise)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546525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285231" y="5481476"/>
            <a:ext cx="5133200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chemeClr val="tx2"/>
                </a:solidFill>
              </a:rPr>
              <a:t>Let’s see some examples: </a:t>
            </a:r>
            <a:endParaRPr lang="en-US" b="1" spc="-1" dirty="0" smtClean="0">
              <a:solidFill>
                <a:schemeClr val="tx2"/>
              </a:solidFill>
            </a:endParaRP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pc="-1" dirty="0">
                <a:solidFill>
                  <a:schemeClr val="tx2"/>
                </a:solidFill>
              </a:rPr>
              <a:t>04_Array_manipulation/</a:t>
            </a:r>
            <a:r>
              <a:rPr lang="en-US" spc="-1" dirty="0" err="1">
                <a:solidFill>
                  <a:schemeClr val="tx2"/>
                </a:solidFill>
              </a:rPr>
              <a:t>joining_arrays.ipynb</a:t>
            </a:r>
            <a:endParaRPr lang="en-US" spc="-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09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4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Array manipulation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65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Changing shape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chemeClr val="tx2"/>
                </a:solidFill>
                <a:latin typeface="Arial"/>
              </a:rPr>
              <a:t>Transpose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Change dimensions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Joining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Splitting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Adding/Removing elements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155859"/>
              </p:ext>
            </p:extLst>
          </p:nvPr>
        </p:nvGraphicFramePr>
        <p:xfrm>
          <a:off x="5287651" y="1679040"/>
          <a:ext cx="6275548" cy="2390190"/>
        </p:xfrm>
        <a:graphic>
          <a:graphicData uri="http://schemas.openxmlformats.org/drawingml/2006/table">
            <a:tbl>
              <a:tblPr/>
              <a:tblGrid>
                <a:gridCol w="855973">
                  <a:extLst>
                    <a:ext uri="{9D8B030D-6E8A-4147-A177-3AD203B41FA5}">
                      <a16:colId xmlns:a16="http://schemas.microsoft.com/office/drawing/2014/main" val="3200015538"/>
                    </a:ext>
                  </a:extLst>
                </a:gridCol>
                <a:gridCol w="5419575">
                  <a:extLst>
                    <a:ext uri="{9D8B030D-6E8A-4147-A177-3AD203B41FA5}">
                      <a16:colId xmlns:a16="http://schemas.microsoft.com/office/drawing/2014/main" val="3408131776"/>
                    </a:ext>
                  </a:extLst>
                </a:gridCol>
              </a:tblGrid>
              <a:tr h="4254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Sr.No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smtClean="0">
                          <a:solidFill>
                            <a:schemeClr val="bg1"/>
                          </a:solidFill>
                          <a:effectLst/>
                        </a:rPr>
                        <a:t>Function &amp; Description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43409"/>
                  </a:ext>
                </a:extLst>
              </a:tr>
              <a:tr h="66045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Splits an array into multiple sub-arrays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88815"/>
                  </a:ext>
                </a:extLst>
              </a:tr>
              <a:tr h="72522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hsplit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Splits an array into multiple sub-arrays horizontally (column-wise)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140657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vsplit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Splits an array into multiple sub-arrays vertically (row-wise)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89103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285231" y="5481476"/>
            <a:ext cx="5248360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chemeClr val="tx2"/>
                </a:solidFill>
              </a:rPr>
              <a:t>Let’s see some examples: </a:t>
            </a:r>
            <a:endParaRPr lang="en-US" b="1" spc="-1" dirty="0" smtClean="0">
              <a:solidFill>
                <a:schemeClr val="tx2"/>
              </a:solidFill>
            </a:endParaRP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pc="-1" dirty="0">
                <a:solidFill>
                  <a:schemeClr val="tx2"/>
                </a:solidFill>
              </a:rPr>
              <a:t>04_Array_manipulation/</a:t>
            </a:r>
            <a:r>
              <a:rPr lang="en-US" spc="-1" dirty="0" err="1">
                <a:solidFill>
                  <a:schemeClr val="tx2"/>
                </a:solidFill>
              </a:rPr>
              <a:t>splitting_arrays.ipynb</a:t>
            </a:r>
            <a:endParaRPr lang="en-US" spc="-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196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4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Array manipulation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66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Changing shape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chemeClr val="tx2"/>
                </a:solidFill>
                <a:latin typeface="Arial"/>
              </a:rPr>
              <a:t>Transpose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Change dimensions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Joining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Splitting arrays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Adding/Removing elements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314713"/>
              </p:ext>
            </p:extLst>
          </p:nvPr>
        </p:nvGraphicFramePr>
        <p:xfrm>
          <a:off x="5287651" y="1679040"/>
          <a:ext cx="6275548" cy="3548430"/>
        </p:xfrm>
        <a:graphic>
          <a:graphicData uri="http://schemas.openxmlformats.org/drawingml/2006/table">
            <a:tbl>
              <a:tblPr/>
              <a:tblGrid>
                <a:gridCol w="855973">
                  <a:extLst>
                    <a:ext uri="{9D8B030D-6E8A-4147-A177-3AD203B41FA5}">
                      <a16:colId xmlns:a16="http://schemas.microsoft.com/office/drawing/2014/main" val="3200015538"/>
                    </a:ext>
                  </a:extLst>
                </a:gridCol>
                <a:gridCol w="5419575">
                  <a:extLst>
                    <a:ext uri="{9D8B030D-6E8A-4147-A177-3AD203B41FA5}">
                      <a16:colId xmlns:a16="http://schemas.microsoft.com/office/drawing/2014/main" val="3408131776"/>
                    </a:ext>
                  </a:extLst>
                </a:gridCol>
              </a:tblGrid>
              <a:tr h="4254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Sr.No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smtClean="0">
                          <a:solidFill>
                            <a:schemeClr val="bg1"/>
                          </a:solidFill>
                          <a:effectLst/>
                        </a:rPr>
                        <a:t>Function &amp; Description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43409"/>
                  </a:ext>
                </a:extLst>
              </a:tr>
              <a:tr h="66045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resize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a new array with the specified shape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88815"/>
                  </a:ext>
                </a:extLst>
              </a:tr>
              <a:tr h="72522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append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Appends the values to the end of an array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140657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Inserts the values along the given axis before the given indices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89103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smtClean="0">
                          <a:effectLst/>
                        </a:rPr>
                        <a:t>4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delete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a new array with sub-arrays along an axis deleted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546525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smtClean="0">
                          <a:effectLst/>
                        </a:rPr>
                        <a:t>5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unique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Finds the unique elements of an array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6224177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285231" y="5481476"/>
            <a:ext cx="5466496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chemeClr val="tx2"/>
                </a:solidFill>
              </a:rPr>
              <a:t>Let’s see some examples: </a:t>
            </a:r>
            <a:endParaRPr lang="en-US" b="1" spc="-1" dirty="0" smtClean="0">
              <a:solidFill>
                <a:schemeClr val="tx2"/>
              </a:solidFill>
            </a:endParaRP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pc="-1" dirty="0">
                <a:solidFill>
                  <a:schemeClr val="tx2"/>
                </a:solidFill>
              </a:rPr>
              <a:t>04_Array_manipulation/</a:t>
            </a:r>
            <a:r>
              <a:rPr lang="en-US" spc="-1" dirty="0" err="1">
                <a:solidFill>
                  <a:schemeClr val="tx2"/>
                </a:solidFill>
              </a:rPr>
              <a:t>adding_removing.ipynb</a:t>
            </a:r>
            <a:endParaRPr lang="en-US" spc="-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50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5"/>
            </a:pPr>
            <a:r>
              <a:rPr lang="en-US" sz="3600" b="1" strike="noStrike" spc="15" smtClean="0">
                <a:solidFill>
                  <a:srgbClr val="0047BA"/>
                </a:solidFill>
                <a:latin typeface="Arial"/>
                <a:ea typeface="DejaVu Sans"/>
              </a:rPr>
              <a:t>Math functions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67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Rounding functions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Arithmetical functions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Statistical functions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Linear algebra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110141"/>
              </p:ext>
            </p:extLst>
          </p:nvPr>
        </p:nvGraphicFramePr>
        <p:xfrm>
          <a:off x="5287651" y="1679040"/>
          <a:ext cx="6275548" cy="2670810"/>
        </p:xfrm>
        <a:graphic>
          <a:graphicData uri="http://schemas.openxmlformats.org/drawingml/2006/table">
            <a:tbl>
              <a:tblPr/>
              <a:tblGrid>
                <a:gridCol w="855973">
                  <a:extLst>
                    <a:ext uri="{9D8B030D-6E8A-4147-A177-3AD203B41FA5}">
                      <a16:colId xmlns:a16="http://schemas.microsoft.com/office/drawing/2014/main" val="3200015538"/>
                    </a:ext>
                  </a:extLst>
                </a:gridCol>
                <a:gridCol w="5419575">
                  <a:extLst>
                    <a:ext uri="{9D8B030D-6E8A-4147-A177-3AD203B41FA5}">
                      <a16:colId xmlns:a16="http://schemas.microsoft.com/office/drawing/2014/main" val="3408131776"/>
                    </a:ext>
                  </a:extLst>
                </a:gridCol>
              </a:tblGrid>
              <a:tr h="4254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Sr.No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smtClean="0">
                          <a:solidFill>
                            <a:schemeClr val="bg1"/>
                          </a:solidFill>
                          <a:effectLst/>
                        </a:rPr>
                        <a:t>Function &amp; Description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43409"/>
                  </a:ext>
                </a:extLst>
              </a:tr>
              <a:tr h="66045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around</a:t>
                      </a: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value rounded to the desired precision.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88815"/>
                  </a:ext>
                </a:extLst>
              </a:tr>
              <a:tr h="72522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floor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function returns the largest integer not greater than the input parameter.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140657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ceil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function returns the smallest integer greater than the input parameter.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891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285231" y="5481476"/>
            <a:ext cx="5222968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chemeClr val="tx2"/>
                </a:solidFill>
              </a:rPr>
              <a:t>Let’s see some examples: </a:t>
            </a:r>
            <a:endParaRPr lang="en-US" b="1" spc="-1" dirty="0" smtClean="0">
              <a:solidFill>
                <a:schemeClr val="tx2"/>
              </a:solidFill>
            </a:endParaRP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pc="-1" dirty="0" smtClean="0">
                <a:solidFill>
                  <a:schemeClr val="tx2"/>
                </a:solidFill>
              </a:rPr>
              <a:t>05_Math_functions/</a:t>
            </a:r>
            <a:r>
              <a:rPr lang="en-US" spc="-1" dirty="0" err="1" smtClean="0">
                <a:solidFill>
                  <a:schemeClr val="tx2"/>
                </a:solidFill>
              </a:rPr>
              <a:t>rounding_functions.ipynb</a:t>
            </a:r>
            <a:endParaRPr lang="en-US" spc="-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94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5"/>
            </a:pPr>
            <a:r>
              <a:rPr lang="en-US" sz="3600" b="1" strike="noStrike" spc="15" smtClean="0">
                <a:solidFill>
                  <a:srgbClr val="0047BA"/>
                </a:solidFill>
                <a:latin typeface="Arial"/>
                <a:ea typeface="DejaVu Sans"/>
              </a:rPr>
              <a:t>Math functions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68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Rounding functions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Arithmetical functions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Statistical functions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Linear algebra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660239"/>
              </p:ext>
            </p:extLst>
          </p:nvPr>
        </p:nvGraphicFramePr>
        <p:xfrm>
          <a:off x="5287651" y="1679040"/>
          <a:ext cx="6275548" cy="4340910"/>
        </p:xfrm>
        <a:graphic>
          <a:graphicData uri="http://schemas.openxmlformats.org/drawingml/2006/table">
            <a:tbl>
              <a:tblPr/>
              <a:tblGrid>
                <a:gridCol w="855973">
                  <a:extLst>
                    <a:ext uri="{9D8B030D-6E8A-4147-A177-3AD203B41FA5}">
                      <a16:colId xmlns:a16="http://schemas.microsoft.com/office/drawing/2014/main" val="3200015538"/>
                    </a:ext>
                  </a:extLst>
                </a:gridCol>
                <a:gridCol w="5419575">
                  <a:extLst>
                    <a:ext uri="{9D8B030D-6E8A-4147-A177-3AD203B41FA5}">
                      <a16:colId xmlns:a16="http://schemas.microsoft.com/office/drawing/2014/main" val="3408131776"/>
                    </a:ext>
                  </a:extLst>
                </a:gridCol>
              </a:tblGrid>
              <a:tr h="4254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Sr.No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smtClean="0">
                          <a:solidFill>
                            <a:schemeClr val="bg1"/>
                          </a:solidFill>
                          <a:effectLst/>
                        </a:rPr>
                        <a:t>Function &amp; Description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43409"/>
                  </a:ext>
                </a:extLst>
              </a:tr>
              <a:tr h="66045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</a:t>
                      </a: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Adds arguments element-wise.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88815"/>
                  </a:ext>
                </a:extLst>
              </a:tr>
              <a:tr h="72522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substract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Substracts</a:t>
                      </a:r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arguments element-wise.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140657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multiply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Multiplies arguments element-wise.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89103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smtClean="0">
                          <a:effectLst/>
                        </a:rPr>
                        <a:t>4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divide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Divides arguments element-wise.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067214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smtClean="0">
                          <a:effectLst/>
                        </a:rPr>
                        <a:t>5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power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 array elements raised to powers from second array, element-wise.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615110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smtClean="0">
                          <a:effectLst/>
                        </a:rPr>
                        <a:t>6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 element-wise remainder of division.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741445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285231" y="6096936"/>
            <a:ext cx="5504584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chemeClr val="tx2"/>
                </a:solidFill>
              </a:rPr>
              <a:t>Let’s see some examples: </a:t>
            </a:r>
            <a:endParaRPr lang="en-US" b="1" spc="-1" dirty="0" smtClean="0">
              <a:solidFill>
                <a:schemeClr val="tx2"/>
              </a:solidFill>
            </a:endParaRP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pc="-1" dirty="0">
                <a:solidFill>
                  <a:schemeClr val="tx2"/>
                </a:solidFill>
              </a:rPr>
              <a:t>05_Math_functions/</a:t>
            </a:r>
            <a:r>
              <a:rPr lang="en-US" spc="-1" dirty="0" err="1" smtClean="0">
                <a:solidFill>
                  <a:schemeClr val="tx2"/>
                </a:solidFill>
              </a:rPr>
              <a:t>arithmetical_functions.ipynb</a:t>
            </a:r>
            <a:endParaRPr lang="en-US" spc="-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823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5"/>
            </a:pPr>
            <a:r>
              <a:rPr lang="en-US" sz="3600" b="1" strike="noStrike" spc="15" smtClean="0">
                <a:solidFill>
                  <a:srgbClr val="0047BA"/>
                </a:solidFill>
                <a:latin typeface="Arial"/>
                <a:ea typeface="DejaVu Sans"/>
              </a:rPr>
              <a:t>Math functions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69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Rounding </a:t>
            </a: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functions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Arithmetical functions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Statistical functions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Linear algebra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759823"/>
              </p:ext>
            </p:extLst>
          </p:nvPr>
        </p:nvGraphicFramePr>
        <p:xfrm>
          <a:off x="5287651" y="1679040"/>
          <a:ext cx="6275548" cy="3761790"/>
        </p:xfrm>
        <a:graphic>
          <a:graphicData uri="http://schemas.openxmlformats.org/drawingml/2006/table">
            <a:tbl>
              <a:tblPr/>
              <a:tblGrid>
                <a:gridCol w="855973">
                  <a:extLst>
                    <a:ext uri="{9D8B030D-6E8A-4147-A177-3AD203B41FA5}">
                      <a16:colId xmlns:a16="http://schemas.microsoft.com/office/drawing/2014/main" val="3200015538"/>
                    </a:ext>
                  </a:extLst>
                </a:gridCol>
                <a:gridCol w="5419575">
                  <a:extLst>
                    <a:ext uri="{9D8B030D-6E8A-4147-A177-3AD203B41FA5}">
                      <a16:colId xmlns:a16="http://schemas.microsoft.com/office/drawing/2014/main" val="3408131776"/>
                    </a:ext>
                  </a:extLst>
                </a:gridCol>
              </a:tblGrid>
              <a:tr h="4254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Sr.No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smtClean="0">
                          <a:solidFill>
                            <a:schemeClr val="bg1"/>
                          </a:solidFill>
                          <a:effectLst/>
                        </a:rPr>
                        <a:t>Function &amp; Description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43409"/>
                  </a:ext>
                </a:extLst>
              </a:tr>
              <a:tr h="66045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amax</a:t>
                      </a:r>
                      <a:endParaRPr lang="en-US" sz="1400" b="1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maximum of an array or maximum along an axis.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88815"/>
                  </a:ext>
                </a:extLst>
              </a:tr>
              <a:tr h="72522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amin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minimum of an array or minimum along an axis.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140657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 of array elements over a given axis.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89103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smtClean="0">
                          <a:effectLst/>
                        </a:rPr>
                        <a:t>4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the arithmetic mean of elements in the array.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41023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smtClean="0">
                          <a:effectLst/>
                        </a:rPr>
                        <a:t>5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average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Computes the weighted average of elements in an array according to their respective weight given in another array.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06721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285231" y="5481476"/>
            <a:ext cx="5273880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chemeClr val="tx2"/>
                </a:solidFill>
              </a:rPr>
              <a:t>Let’s see some examples: </a:t>
            </a:r>
            <a:endParaRPr lang="en-US" b="1" spc="-1" dirty="0" smtClean="0">
              <a:solidFill>
                <a:schemeClr val="tx2"/>
              </a:solidFill>
            </a:endParaRP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pc="-1" dirty="0">
                <a:solidFill>
                  <a:schemeClr val="tx2"/>
                </a:solidFill>
              </a:rPr>
              <a:t>05_Math_functions/</a:t>
            </a:r>
            <a:r>
              <a:rPr lang="en-US" spc="-1" dirty="0" err="1" smtClean="0">
                <a:solidFill>
                  <a:schemeClr val="tx2"/>
                </a:solidFill>
              </a:rPr>
              <a:t>statistical_functions.ipynb</a:t>
            </a:r>
            <a:endParaRPr lang="en-US" spc="-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324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5"/>
            </a:pPr>
            <a:r>
              <a:rPr lang="en-US" sz="3600" b="1" strike="noStrike" spc="15" smtClean="0">
                <a:solidFill>
                  <a:srgbClr val="0047BA"/>
                </a:solidFill>
                <a:latin typeface="Arial"/>
                <a:ea typeface="DejaVu Sans"/>
              </a:rPr>
              <a:t>Math functions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70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>
                <a:solidFill>
                  <a:srgbClr val="0047BA"/>
                </a:solidFill>
              </a:rPr>
              <a:t>Rounding </a:t>
            </a:r>
            <a:r>
              <a:rPr lang="en-US" sz="2400" strike="noStrike" spc="-1" dirty="0" smtClean="0">
                <a:solidFill>
                  <a:srgbClr val="0047BA"/>
                </a:solidFill>
                <a:latin typeface="Arial"/>
                <a:ea typeface="DejaVu Sans"/>
              </a:rPr>
              <a:t>functions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Arithmetical functions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Statistical functions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Linear algebra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3723556"/>
              </p:ext>
            </p:extLst>
          </p:nvPr>
        </p:nvGraphicFramePr>
        <p:xfrm>
          <a:off x="5287651" y="1679040"/>
          <a:ext cx="6275548" cy="2969310"/>
        </p:xfrm>
        <a:graphic>
          <a:graphicData uri="http://schemas.openxmlformats.org/drawingml/2006/table">
            <a:tbl>
              <a:tblPr/>
              <a:tblGrid>
                <a:gridCol w="855973">
                  <a:extLst>
                    <a:ext uri="{9D8B030D-6E8A-4147-A177-3AD203B41FA5}">
                      <a16:colId xmlns:a16="http://schemas.microsoft.com/office/drawing/2014/main" val="3200015538"/>
                    </a:ext>
                  </a:extLst>
                </a:gridCol>
                <a:gridCol w="5419575">
                  <a:extLst>
                    <a:ext uri="{9D8B030D-6E8A-4147-A177-3AD203B41FA5}">
                      <a16:colId xmlns:a16="http://schemas.microsoft.com/office/drawing/2014/main" val="3408131776"/>
                    </a:ext>
                  </a:extLst>
                </a:gridCol>
              </a:tblGrid>
              <a:tr h="42540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</a:rPr>
                        <a:t>Sr.No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dirty="0" smtClean="0">
                          <a:solidFill>
                            <a:schemeClr val="bg1"/>
                          </a:solidFill>
                          <a:effectLst/>
                        </a:rPr>
                        <a:t>Function 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</a:rPr>
                        <a:t>&amp; Description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243409"/>
                  </a:ext>
                </a:extLst>
              </a:tr>
              <a:tr h="66045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dot</a:t>
                      </a: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Dot product of two arrays.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288815"/>
                  </a:ext>
                </a:extLst>
              </a:tr>
              <a:tr h="72522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matmul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Matrix multiplication.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140657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determinant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Computes the determinant of the array.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89103"/>
                  </a:ext>
                </a:extLst>
              </a:tr>
              <a:tr h="180390"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smtClean="0">
                          <a:effectLst/>
                        </a:rPr>
                        <a:t>4</a:t>
                      </a:r>
                      <a:endParaRPr lang="en-US" sz="1400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</a:t>
                      </a:r>
                      <a:endParaRPr lang="en-US" sz="14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Finds the inverse of a matrix.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4102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285231" y="5481476"/>
            <a:ext cx="4736168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chemeClr val="tx2"/>
                </a:solidFill>
              </a:rPr>
              <a:t>Let’s see some examples: </a:t>
            </a:r>
            <a:endParaRPr lang="en-US" b="1" spc="-1" dirty="0" smtClean="0">
              <a:solidFill>
                <a:schemeClr val="tx2"/>
              </a:solidFill>
            </a:endParaRP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pc="-1" dirty="0">
                <a:solidFill>
                  <a:schemeClr val="tx2"/>
                </a:solidFill>
              </a:rPr>
              <a:t>05_Math_functions/</a:t>
            </a:r>
            <a:r>
              <a:rPr lang="en-US" spc="-1" dirty="0" err="1">
                <a:solidFill>
                  <a:schemeClr val="tx2"/>
                </a:solidFill>
              </a:rPr>
              <a:t>linear_algebra.ipynb</a:t>
            </a:r>
            <a:endParaRPr lang="en-US" spc="-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523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6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Input/output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71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Save / Load</a:t>
            </a:r>
            <a:endParaRPr lang="en-US" sz="2400" b="1" spc="-1" dirty="0" smtClean="0">
              <a:solidFill>
                <a:srgbClr val="0047BA"/>
              </a:solidFill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Savez</a:t>
            </a: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 / Load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Load image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err="1" smtClean="0"/>
              <a:t>ndarray</a:t>
            </a:r>
            <a:r>
              <a:rPr lang="en-US" dirty="0" smtClean="0"/>
              <a:t> </a:t>
            </a:r>
            <a:r>
              <a:rPr lang="en-US" dirty="0"/>
              <a:t>objects can be </a:t>
            </a:r>
            <a:r>
              <a:rPr lang="en-US" b="1" dirty="0">
                <a:solidFill>
                  <a:schemeClr val="tx2"/>
                </a:solidFill>
              </a:rPr>
              <a:t>saved</a:t>
            </a:r>
            <a:r>
              <a:rPr lang="en-US" dirty="0"/>
              <a:t> to and </a:t>
            </a:r>
            <a:r>
              <a:rPr lang="en-US" b="1" dirty="0">
                <a:solidFill>
                  <a:schemeClr val="tx2"/>
                </a:solidFill>
              </a:rPr>
              <a:t>loaded</a:t>
            </a:r>
            <a:r>
              <a:rPr lang="en-US" dirty="0"/>
              <a:t> from the disk files</a:t>
            </a:r>
            <a:r>
              <a:rPr lang="en-US" dirty="0" smtClean="0"/>
              <a:t>.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err="1"/>
              <a:t>NumPy</a:t>
            </a:r>
            <a:r>
              <a:rPr lang="en-US" dirty="0"/>
              <a:t> introduces a simple file format for </a:t>
            </a:r>
            <a:r>
              <a:rPr lang="en-US" dirty="0" err="1"/>
              <a:t>ndarray</a:t>
            </a:r>
            <a:r>
              <a:rPr lang="en-US" dirty="0"/>
              <a:t> objects. This </a:t>
            </a:r>
            <a:r>
              <a:rPr lang="en-US" b="1" dirty="0">
                <a:solidFill>
                  <a:schemeClr val="tx2"/>
                </a:solidFill>
              </a:rPr>
              <a:t>.</a:t>
            </a:r>
            <a:r>
              <a:rPr lang="en-US" b="1" dirty="0" err="1">
                <a:solidFill>
                  <a:schemeClr val="tx2"/>
                </a:solidFill>
              </a:rPr>
              <a:t>npy</a:t>
            </a:r>
            <a:r>
              <a:rPr lang="en-US" dirty="0"/>
              <a:t> file stores data, shape, </a:t>
            </a:r>
            <a:r>
              <a:rPr lang="en-US" dirty="0" err="1"/>
              <a:t>dtype</a:t>
            </a:r>
            <a:r>
              <a:rPr lang="en-US" dirty="0"/>
              <a:t> and other information required to reconstruct the </a:t>
            </a:r>
            <a:r>
              <a:rPr lang="en-US" dirty="0" err="1"/>
              <a:t>ndarray</a:t>
            </a:r>
            <a:r>
              <a:rPr lang="en-US" dirty="0"/>
              <a:t> in a disk </a:t>
            </a:r>
            <a:r>
              <a:rPr lang="en-US" dirty="0" smtClean="0"/>
              <a:t>file.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285231" y="3285148"/>
            <a:ext cx="6275549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dirty="0" err="1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outfile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,a)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dirty="0" err="1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outfile.npy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en-US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array([1, 2, 3, 4, 5])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682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6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Input/output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72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Save / Load</a:t>
            </a:r>
            <a:endParaRPr lang="en-US" sz="2000" spc="-1" dirty="0" smtClean="0">
              <a:solidFill>
                <a:srgbClr val="0047BA"/>
              </a:solidFill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err="1" smtClean="0">
                <a:solidFill>
                  <a:srgbClr val="0047BA"/>
                </a:solidFill>
                <a:latin typeface="Arial"/>
              </a:rPr>
              <a:t>Savez</a:t>
            </a: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 / Load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Load image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It is possible to save multiple </a:t>
            </a:r>
            <a:r>
              <a:rPr lang="en-US" dirty="0" err="1" smtClean="0"/>
              <a:t>ndarray</a:t>
            </a:r>
            <a:r>
              <a:rPr lang="en-US" dirty="0" smtClean="0"/>
              <a:t> objects in the same file </a:t>
            </a:r>
            <a:r>
              <a:rPr lang="en-US" b="1" dirty="0" smtClean="0">
                <a:solidFill>
                  <a:schemeClr val="tx2"/>
                </a:solidFill>
              </a:rPr>
              <a:t>.</a:t>
            </a:r>
            <a:r>
              <a:rPr lang="en-US" b="1" dirty="0" err="1" smtClean="0">
                <a:solidFill>
                  <a:schemeClr val="tx2"/>
                </a:solidFill>
              </a:rPr>
              <a:t>npz</a:t>
            </a:r>
            <a:r>
              <a:rPr lang="en-US" b="1" dirty="0" smtClean="0">
                <a:solidFill>
                  <a:schemeClr val="tx2"/>
                </a:solidFill>
              </a:rPr>
              <a:t> </a:t>
            </a:r>
            <a:r>
              <a:rPr lang="en-US" dirty="0" smtClean="0"/>
              <a:t>using the </a:t>
            </a:r>
            <a:r>
              <a:rPr lang="en-US" dirty="0" err="1" smtClean="0"/>
              <a:t>finction</a:t>
            </a:r>
            <a:r>
              <a:rPr lang="en-US" dirty="0" smtClean="0"/>
              <a:t> </a:t>
            </a:r>
            <a:r>
              <a:rPr lang="en-US" b="1" dirty="0" err="1" smtClean="0">
                <a:solidFill>
                  <a:schemeClr val="tx2"/>
                </a:solidFill>
              </a:rPr>
              <a:t>savez</a:t>
            </a:r>
            <a:r>
              <a:rPr lang="en-US" b="1" dirty="0" smtClean="0">
                <a:solidFill>
                  <a:schemeClr val="tx2"/>
                </a:solidFill>
              </a:rPr>
              <a:t>()</a:t>
            </a:r>
            <a:r>
              <a:rPr lang="en-US" dirty="0" smtClean="0"/>
              <a:t>.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285231" y="1972713"/>
            <a:ext cx="6275549" cy="34163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arange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reshape(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arange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reshape(</a:t>
            </a:r>
            <a:r>
              <a:rPr lang="en-US" altLang="en-US" dirty="0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dirty="0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altLang="en-US" dirty="0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savez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'workspace'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a_name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b_name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            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c_name</a:t>
            </a:r>
            <a:r>
              <a:rPr lang="en-US" altLang="en-US" dirty="0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npz_file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dirty="0" err="1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workspace.npz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npz_file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files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b="1" dirty="0">
                <a:solidFill>
                  <a:srgbClr val="BB66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'a = '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npz_file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dirty="0" err="1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a_name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b="1" dirty="0">
                <a:solidFill>
                  <a:srgbClr val="BB66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'b = '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npz_file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dirty="0" err="1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b_name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b="1" dirty="0">
                <a:solidFill>
                  <a:srgbClr val="BB66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'c = '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npz_file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dirty="0" err="1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c_name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], 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b="1" dirty="0">
                <a:solidFill>
                  <a:srgbClr val="BB66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85231" y="5542435"/>
            <a:ext cx="4044569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chemeClr val="tx2"/>
                </a:solidFill>
              </a:rPr>
              <a:t>Let’s see some examples: </a:t>
            </a:r>
            <a:endParaRPr lang="en-US" b="1" spc="-1" dirty="0" smtClean="0">
              <a:solidFill>
                <a:schemeClr val="tx2"/>
              </a:solidFill>
            </a:endParaRP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pc="-1" dirty="0" smtClean="0">
                <a:solidFill>
                  <a:schemeClr val="tx2"/>
                </a:solidFill>
              </a:rPr>
              <a:t>06_Input_output/</a:t>
            </a:r>
            <a:r>
              <a:rPr lang="en-US" spc="-1" dirty="0" err="1" smtClean="0">
                <a:solidFill>
                  <a:schemeClr val="tx2"/>
                </a:solidFill>
              </a:rPr>
              <a:t>save_load.ipynb</a:t>
            </a:r>
            <a:endParaRPr lang="en-US" spc="-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637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828720" y="501840"/>
            <a:ext cx="10539360" cy="6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609480" y="693360"/>
            <a:ext cx="10968120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742950" indent="-742950">
              <a:lnSpc>
                <a:spcPct val="100000"/>
              </a:lnSpc>
              <a:buFont typeface="+mj-lt"/>
              <a:buAutoNum type="arabicPeriod" startAt="6"/>
            </a:pPr>
            <a:r>
              <a:rPr lang="en-US" sz="3600" b="1" strike="noStrike" spc="15" dirty="0" smtClean="0">
                <a:solidFill>
                  <a:srgbClr val="0047BA"/>
                </a:solidFill>
                <a:latin typeface="Arial"/>
                <a:ea typeface="DejaVu Sans"/>
              </a:rPr>
              <a:t>Input/output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4755600" y="266760"/>
            <a:ext cx="2921400" cy="182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b="1" strike="noStrike" spc="15">
                <a:solidFill>
                  <a:srgbClr val="0047BA"/>
                </a:solidFill>
                <a:latin typeface="Arial"/>
                <a:ea typeface="DejaVu Sans"/>
              </a:rPr>
              <a:t>Research Computing Department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329" name="CustomShape 4"/>
          <p:cNvSpPr/>
          <p:nvPr/>
        </p:nvSpPr>
        <p:spPr>
          <a:xfrm>
            <a:off x="11563200" y="203040"/>
            <a:ext cx="519120" cy="239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2E28BA95-554F-4AC4-9EEF-291BEA73B25E}" type="slidenum">
              <a:rPr lang="en-US" sz="850" b="0" strike="noStrike" spc="-1">
                <a:solidFill>
                  <a:srgbClr val="96969A"/>
                </a:solidFill>
                <a:latin typeface="Arial"/>
                <a:ea typeface="DejaVu Sans"/>
              </a:rPr>
              <a:t>73</a:t>
            </a:fld>
            <a:endParaRPr lang="en-US" sz="85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609480" y="1679040"/>
            <a:ext cx="4146120" cy="453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Save / Load</a:t>
            </a:r>
            <a:endParaRPr lang="en-US" sz="2000" spc="-1" dirty="0" smtClean="0">
              <a:solidFill>
                <a:srgbClr val="0047BA"/>
              </a:solidFill>
              <a:latin typeface="Arial"/>
            </a:endParaRP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400" spc="-1" dirty="0" err="1" smtClean="0">
                <a:solidFill>
                  <a:srgbClr val="0047BA"/>
                </a:solidFill>
                <a:latin typeface="Arial"/>
              </a:rPr>
              <a:t>Savez</a:t>
            </a:r>
            <a:r>
              <a:rPr lang="en-US" sz="2400" spc="-1" dirty="0" smtClean="0">
                <a:solidFill>
                  <a:srgbClr val="0047BA"/>
                </a:solidFill>
                <a:latin typeface="Arial"/>
              </a:rPr>
              <a:t> / Load</a:t>
            </a:r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sz="2800" b="1" spc="-1" dirty="0" smtClean="0">
                <a:solidFill>
                  <a:srgbClr val="0047BA"/>
                </a:solidFill>
                <a:latin typeface="Arial"/>
              </a:rPr>
              <a:t>Load image</a:t>
            </a:r>
          </a:p>
        </p:txBody>
      </p:sp>
      <p:sp>
        <p:nvSpPr>
          <p:cNvPr id="332" name="CustomShape 7"/>
          <p:cNvSpPr/>
          <p:nvPr/>
        </p:nvSpPr>
        <p:spPr>
          <a:xfrm>
            <a:off x="5287652" y="1247358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9" name="Line 6"/>
          <p:cNvSpPr/>
          <p:nvPr/>
        </p:nvSpPr>
        <p:spPr>
          <a:xfrm>
            <a:off x="4755600" y="1247358"/>
            <a:ext cx="0" cy="4847471"/>
          </a:xfrm>
          <a:prstGeom prst="line">
            <a:avLst/>
          </a:prstGeom>
          <a:ln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7"/>
          <p:cNvSpPr/>
          <p:nvPr/>
        </p:nvSpPr>
        <p:spPr>
          <a:xfrm>
            <a:off x="5285232" y="1243584"/>
            <a:ext cx="6275548" cy="4937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This is one example of how to </a:t>
            </a:r>
            <a:r>
              <a:rPr lang="en-US" b="1" dirty="0" smtClean="0">
                <a:solidFill>
                  <a:schemeClr val="tx2"/>
                </a:solidFill>
              </a:rPr>
              <a:t>import an image from disk</a:t>
            </a:r>
            <a:r>
              <a:rPr lang="en-US" dirty="0" smtClean="0"/>
              <a:t> into a </a:t>
            </a:r>
            <a:r>
              <a:rPr lang="en-US" dirty="0" err="1" smtClean="0"/>
              <a:t>numpy</a:t>
            </a:r>
            <a:r>
              <a:rPr lang="en-US" dirty="0" smtClean="0"/>
              <a:t> object using </a:t>
            </a:r>
            <a:r>
              <a:rPr lang="en-US" b="1" dirty="0" err="1" smtClean="0">
                <a:solidFill>
                  <a:schemeClr val="tx2"/>
                </a:solidFill>
              </a:rPr>
              <a:t>skimage</a:t>
            </a:r>
            <a:r>
              <a:rPr lang="en-US" dirty="0" smtClean="0"/>
              <a:t> package.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dirty="0" smtClean="0"/>
              <a:t>Generally, an image will be a </a:t>
            </a:r>
            <a:r>
              <a:rPr lang="en-US" b="1" dirty="0" smtClean="0">
                <a:solidFill>
                  <a:schemeClr val="tx2"/>
                </a:solidFill>
              </a:rPr>
              <a:t>3D array</a:t>
            </a:r>
            <a:r>
              <a:rPr lang="en-US" dirty="0" smtClean="0"/>
              <a:t> where one of the dimensions will have the value of 3, corresponding to the values of the light in the red, green and blue wavelengths </a:t>
            </a:r>
            <a:r>
              <a:rPr lang="en-US" b="1" dirty="0" smtClean="0">
                <a:solidFill>
                  <a:schemeClr val="tx2"/>
                </a:solidFill>
              </a:rPr>
              <a:t>(RGB)</a:t>
            </a:r>
            <a:r>
              <a:rPr lang="en-US" dirty="0" smtClean="0"/>
              <a:t>.</a:t>
            </a:r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dirty="0" smtClean="0"/>
          </a:p>
          <a:p>
            <a:pPr marL="182880" indent="-178920">
              <a:lnSpc>
                <a:spcPct val="100000"/>
              </a:lnSpc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endParaRPr lang="en-US" spc="-1" dirty="0" smtClean="0">
              <a:solidFill>
                <a:srgbClr val="000000"/>
              </a:solidFill>
            </a:endParaRPr>
          </a:p>
          <a:p>
            <a:pPr marL="3960">
              <a:lnSpc>
                <a:spcPct val="100000"/>
              </a:lnSpc>
              <a:spcBef>
                <a:spcPts val="1585"/>
              </a:spcBef>
              <a:buClr>
                <a:srgbClr val="0047BA"/>
              </a:buClr>
              <a:buSzPct val="65000"/>
            </a:pPr>
            <a:endParaRPr lang="en-US" sz="1800" b="0" strike="noStrike" spc="-1" dirty="0"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285231" y="3943362"/>
            <a:ext cx="6275549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skimage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</a:t>
            </a:r>
            <a:r>
              <a:rPr lang="en-US" altLang="en-US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</a:t>
            </a:r>
            <a:r>
              <a:rPr lang="en-US" altLang="en-US" dirty="0" err="1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imread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>
                <a:solidFill>
                  <a:srgbClr val="BA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"lena_color.jpg"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 </a:t>
            </a:r>
            <a:r>
              <a:rPr lang="en-US" altLang="en-US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&lt;class '</a:t>
            </a:r>
            <a:r>
              <a:rPr lang="en-US" altLang="en-US" i="1" dirty="0" err="1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numpy.ndarray</a:t>
            </a:r>
            <a:r>
              <a:rPr lang="en-US" altLang="en-US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'&gt;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</a:t>
            </a:r>
            <a:r>
              <a:rPr lang="en-US" altLang="en-US" dirty="0" err="1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en-US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uint8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smtClean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altLang="en-US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</a:t>
            </a:r>
            <a:r>
              <a:rPr lang="en-US" altLang="en-US" dirty="0" err="1" smtClean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n-US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r>
              <a:rPr lang="en-US" altLang="en-US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altLang="en-US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(512, 512, 3)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85231" y="5824375"/>
            <a:ext cx="4185505" cy="7232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80" indent="-178920">
              <a:spcBef>
                <a:spcPts val="3169"/>
              </a:spcBef>
              <a:buClr>
                <a:srgbClr val="0047BA"/>
              </a:buClr>
              <a:buSzPct val="65000"/>
              <a:buFont typeface="Wingdings" charset="2"/>
              <a:buChar char=""/>
            </a:pPr>
            <a:r>
              <a:rPr lang="en-US" b="1" spc="-1" dirty="0">
                <a:solidFill>
                  <a:schemeClr val="tx2"/>
                </a:solidFill>
              </a:rPr>
              <a:t>Let’s see some examples: </a:t>
            </a:r>
            <a:endParaRPr lang="en-US" b="1" spc="-1" dirty="0" smtClean="0">
              <a:solidFill>
                <a:schemeClr val="tx2"/>
              </a:solidFill>
            </a:endParaRPr>
          </a:p>
          <a:p>
            <a:pPr marL="461160" lvl="1">
              <a:spcBef>
                <a:spcPts val="600"/>
              </a:spcBef>
              <a:buClr>
                <a:srgbClr val="0047BA"/>
              </a:buClr>
              <a:buSzPct val="65000"/>
            </a:pPr>
            <a:r>
              <a:rPr lang="en-US" spc="-1" dirty="0">
                <a:solidFill>
                  <a:schemeClr val="tx2"/>
                </a:solidFill>
              </a:rPr>
              <a:t>06_Input_output/</a:t>
            </a:r>
            <a:r>
              <a:rPr lang="en-US" spc="-1" dirty="0" err="1">
                <a:solidFill>
                  <a:schemeClr val="tx2"/>
                </a:solidFill>
              </a:rPr>
              <a:t>load_image.ipynb</a:t>
            </a:r>
            <a:endParaRPr lang="en-US" spc="-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158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KU Theme</Template>
  <TotalTime>3469</TotalTime>
  <Words>4365</Words>
  <Application>Microsoft Office PowerPoint</Application>
  <PresentationFormat>Widescreen</PresentationFormat>
  <Paragraphs>1239</Paragraphs>
  <Slides>74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74</vt:i4>
      </vt:variant>
    </vt:vector>
  </HeadingPairs>
  <TitlesOfParts>
    <vt:vector size="82" baseType="lpstr">
      <vt:lpstr>Arial</vt:lpstr>
      <vt:lpstr>Courier New</vt:lpstr>
      <vt:lpstr>DejaVu Sans</vt:lpstr>
      <vt:lpstr>Symbol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Goes Here</dc:title>
  <dc:subject/>
  <dc:creator/>
  <dc:description/>
  <cp:lastModifiedBy>Sergio Martinez</cp:lastModifiedBy>
  <cp:revision>230</cp:revision>
  <cp:lastPrinted>2020-09-10T04:39:50Z</cp:lastPrinted>
  <dcterms:created xsi:type="dcterms:W3CDTF">2018-04-29T10:48:36Z</dcterms:created>
  <dcterms:modified xsi:type="dcterms:W3CDTF">2021-02-14T06:15:42Z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16.0012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12</vt:i4>
  </property>
</Properties>
</file>