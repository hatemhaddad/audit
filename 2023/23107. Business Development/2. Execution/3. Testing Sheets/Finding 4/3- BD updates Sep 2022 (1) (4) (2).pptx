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4"/>
  </p:notesMasterIdLst>
  <p:sldIdLst>
    <p:sldId id="271" r:id="rId5"/>
    <p:sldId id="298" r:id="rId6"/>
    <p:sldId id="344" r:id="rId7"/>
    <p:sldId id="359" r:id="rId8"/>
    <p:sldId id="358" r:id="rId9"/>
    <p:sldId id="367" r:id="rId10"/>
    <p:sldId id="345" r:id="rId11"/>
    <p:sldId id="348" r:id="rId12"/>
    <p:sldId id="362" r:id="rId13"/>
    <p:sldId id="360" r:id="rId14"/>
    <p:sldId id="346" r:id="rId15"/>
    <p:sldId id="349" r:id="rId16"/>
    <p:sldId id="364" r:id="rId17"/>
    <p:sldId id="350" r:id="rId18"/>
    <p:sldId id="351" r:id="rId19"/>
    <p:sldId id="352" r:id="rId20"/>
    <p:sldId id="353" r:id="rId21"/>
    <p:sldId id="354" r:id="rId22"/>
    <p:sldId id="355" r:id="rId23"/>
    <p:sldId id="356" r:id="rId24"/>
    <p:sldId id="363" r:id="rId25"/>
    <p:sldId id="328" r:id="rId26"/>
    <p:sldId id="313" r:id="rId27"/>
    <p:sldId id="365" r:id="rId28"/>
    <p:sldId id="336" r:id="rId29"/>
    <p:sldId id="342" r:id="rId30"/>
    <p:sldId id="343" r:id="rId31"/>
    <p:sldId id="339" r:id="rId32"/>
    <p:sldId id="340" r:id="rId33"/>
    <p:sldId id="341" r:id="rId34"/>
    <p:sldId id="332" r:id="rId35"/>
    <p:sldId id="366" r:id="rId36"/>
    <p:sldId id="329" r:id="rId37"/>
    <p:sldId id="330" r:id="rId38"/>
    <p:sldId id="331" r:id="rId39"/>
    <p:sldId id="334" r:id="rId40"/>
    <p:sldId id="333" r:id="rId41"/>
    <p:sldId id="357" r:id="rId42"/>
    <p:sldId id="268"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7BA"/>
    <a:srgbClr val="5C5CF6"/>
    <a:srgbClr val="2929F3"/>
    <a:srgbClr val="FF014A"/>
    <a:srgbClr val="000000"/>
    <a:srgbClr val="FFFFFF"/>
    <a:srgbClr val="D0CF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8B1032C-EA38-4F05-BA0D-38AFFFC7BED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841" autoAdjust="0"/>
    <p:restoredTop sz="94613" autoAdjust="0"/>
  </p:normalViewPr>
  <p:slideViewPr>
    <p:cSldViewPr snapToGrid="0" showGuides="1">
      <p:cViewPr varScale="1">
        <p:scale>
          <a:sx n="69" d="100"/>
          <a:sy n="69" d="100"/>
        </p:scale>
        <p:origin x="456"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B66FD6-D2A9-4F00-B491-A99A8AA44ED0}" type="datetimeFigureOut">
              <a:rPr lang="en-US" smtClean="0"/>
              <a:t>5/10/2023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5F57D8-2956-440C-8FE5-2823967F9ED1}" type="slidenum">
              <a:rPr lang="en-US" smtClean="0"/>
              <a:t>‹#›</a:t>
            </a:fld>
            <a:endParaRPr lang="en-US"/>
          </a:p>
        </p:txBody>
      </p:sp>
    </p:spTree>
    <p:extLst>
      <p:ext uri="{BB962C8B-B14F-4D97-AF65-F5344CB8AC3E}">
        <p14:creationId xmlns:p14="http://schemas.microsoft.com/office/powerpoint/2010/main" val="3816629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E1A5599-A687-BB43-B54B-BE1779E90300}" type="slidenum">
              <a:rPr lang="en-US" smtClean="0"/>
              <a:t>24</a:t>
            </a:fld>
            <a:endParaRPr lang="en-US"/>
          </a:p>
        </p:txBody>
      </p:sp>
    </p:spTree>
    <p:extLst>
      <p:ext uri="{BB962C8B-B14F-4D97-AF65-F5344CB8AC3E}">
        <p14:creationId xmlns:p14="http://schemas.microsoft.com/office/powerpoint/2010/main" val="4354031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47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524000" y="2676525"/>
            <a:ext cx="9144000" cy="1714500"/>
          </a:xfrm>
        </p:spPr>
        <p:txBody>
          <a:bodyPr anchor="b"/>
          <a:lstStyle>
            <a:lvl1pPr algn="ctr">
              <a:defRPr sz="6000" spc="0" baseline="0">
                <a:solidFill>
                  <a:srgbClr val="FFFFFF"/>
                </a:solidFill>
              </a:defRPr>
            </a:lvl1pPr>
          </a:lstStyle>
          <a:p>
            <a:r>
              <a:rPr lang="en-US"/>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524000" y="4429125"/>
            <a:ext cx="9144000" cy="1247775"/>
          </a:xfrm>
        </p:spPr>
        <p:txBody>
          <a:bodyPr>
            <a:normAutofit/>
          </a:bodyPr>
          <a:lstStyle>
            <a:lvl1pPr marL="0" indent="0" algn="ctr">
              <a:lnSpc>
                <a:spcPct val="80000"/>
              </a:lnSpc>
              <a:spcBef>
                <a:spcPts val="0"/>
              </a:spcBef>
              <a:buNone/>
              <a:defRPr sz="38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4823" y="654528"/>
            <a:ext cx="3540072" cy="774496"/>
          </a:xfrm>
          <a:prstGeom prst="rect">
            <a:avLst/>
          </a:prstGeom>
        </p:spPr>
      </p:pic>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714750" y="6162674"/>
            <a:ext cx="4772025" cy="314325"/>
          </a:xfrm>
        </p:spPr>
        <p:txBody>
          <a:bodyPr>
            <a:normAutofit/>
          </a:bodyPr>
          <a:lstStyle>
            <a:lvl1pPr marL="0" indent="0" algn="ctr">
              <a:buNone/>
              <a:defRPr sz="1350" cap="all" baseline="0">
                <a:solidFill>
                  <a:srgbClr val="FFFFFF"/>
                </a:solidFill>
              </a:defRPr>
            </a:lvl1pPr>
            <a:lvl2pPr algn="ctr">
              <a:defRPr/>
            </a:lvl2pPr>
            <a:lvl3pPr algn="ctr">
              <a:defRPr/>
            </a:lvl3pPr>
            <a:lvl4pPr algn="ctr">
              <a:defRPr/>
            </a:lvl4pPr>
            <a:lvl5pPr algn="ctr">
              <a:defRPr/>
            </a:lvl5pPr>
          </a:lstStyle>
          <a:p>
            <a:pPr lvl="0"/>
            <a:r>
              <a:rPr lang="en-US"/>
              <a:t>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1769036" y="2752725"/>
            <a:ext cx="180975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66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Nega">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524000" y="2676525"/>
            <a:ext cx="9144000" cy="1714500"/>
          </a:xfrm>
        </p:spPr>
        <p:txBody>
          <a:bodyPr anchor="b"/>
          <a:lstStyle>
            <a:lvl1pPr algn="ctr">
              <a:defRPr sz="6000" spc="0" baseline="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524000" y="4429125"/>
            <a:ext cx="9144000" cy="1247775"/>
          </a:xfrm>
        </p:spPr>
        <p:txBody>
          <a:bodyPr>
            <a:normAutofit/>
          </a:bodyPr>
          <a:lstStyle>
            <a:lvl1pPr marL="0" indent="0" algn="ctr">
              <a:lnSpc>
                <a:spcPct val="80000"/>
              </a:lnSpc>
              <a:spcBef>
                <a:spcPts val="0"/>
              </a:spcBef>
              <a:buNone/>
              <a:defRPr sz="38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714750" y="6162674"/>
            <a:ext cx="4772025" cy="314325"/>
          </a:xfrm>
        </p:spPr>
        <p:txBody>
          <a:bodyPr>
            <a:normAutofit/>
          </a:bodyPr>
          <a:lstStyle>
            <a:lvl1pPr marL="0" indent="0" algn="ctr">
              <a:buNone/>
              <a:defRPr sz="1350" cap="all" baseline="0">
                <a:solidFill>
                  <a:schemeClr val="bg2"/>
                </a:solidFill>
              </a:defRPr>
            </a:lvl1pPr>
            <a:lvl2pPr algn="ctr">
              <a:defRPr/>
            </a:lvl2pPr>
            <a:lvl3pPr algn="ctr">
              <a:defRPr/>
            </a:lvl3pPr>
            <a:lvl4pPr algn="ctr">
              <a:defRPr/>
            </a:lvl4pPr>
            <a:lvl5pPr algn="ctr">
              <a:defRPr/>
            </a:lvl5pPr>
          </a:lstStyle>
          <a:p>
            <a:pPr lvl="0"/>
            <a:r>
              <a:rPr lang="en-US"/>
              <a:t>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5181600" y="2752725"/>
            <a:ext cx="180975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7211BEC-8A05-5048-8010-DA55CE4672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4824" y="654528"/>
            <a:ext cx="3540072" cy="774496"/>
          </a:xfrm>
          <a:prstGeom prst="rect">
            <a:avLst/>
          </a:prstGeom>
        </p:spPr>
      </p:pic>
    </p:spTree>
    <p:extLst>
      <p:ext uri="{BB962C8B-B14F-4D97-AF65-F5344CB8AC3E}">
        <p14:creationId xmlns:p14="http://schemas.microsoft.com/office/powerpoint/2010/main" val="3684787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hoto">
    <p:bg>
      <p:bgPr>
        <a:solidFill>
          <a:srgbClr val="0047BA"/>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B21E90-80D8-4070-8157-51F5D9E9BA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524000" y="2676525"/>
            <a:ext cx="9144000" cy="1714500"/>
          </a:xfrm>
        </p:spPr>
        <p:txBody>
          <a:bodyPr anchor="b"/>
          <a:lstStyle>
            <a:lvl1pPr algn="ctr">
              <a:defRPr sz="6000" spc="0" baseline="0">
                <a:solidFill>
                  <a:srgbClr val="FFFFFF"/>
                </a:solidFill>
              </a:defRPr>
            </a:lvl1pPr>
          </a:lstStyle>
          <a:p>
            <a:r>
              <a:rPr lang="en-US"/>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524000" y="4429125"/>
            <a:ext cx="9144000" cy="1247775"/>
          </a:xfrm>
        </p:spPr>
        <p:txBody>
          <a:bodyPr>
            <a:normAutofit/>
          </a:bodyPr>
          <a:lstStyle>
            <a:lvl1pPr marL="0" indent="0" algn="ctr">
              <a:lnSpc>
                <a:spcPct val="80000"/>
              </a:lnSpc>
              <a:spcBef>
                <a:spcPts val="0"/>
              </a:spcBef>
              <a:buNone/>
              <a:defRPr sz="38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714750" y="6162674"/>
            <a:ext cx="4772025" cy="314325"/>
          </a:xfrm>
        </p:spPr>
        <p:txBody>
          <a:bodyPr>
            <a:normAutofit/>
          </a:bodyPr>
          <a:lstStyle>
            <a:lvl1pPr marL="0" indent="0" algn="ctr">
              <a:buNone/>
              <a:defRPr sz="1350" cap="all" baseline="0">
                <a:solidFill>
                  <a:srgbClr val="FFFFFF"/>
                </a:solidFill>
              </a:defRPr>
            </a:lvl1pPr>
            <a:lvl2pPr algn="ctr">
              <a:defRPr/>
            </a:lvl2pPr>
            <a:lvl3pPr algn="ctr">
              <a:defRPr/>
            </a:lvl3pPr>
            <a:lvl4pPr algn="ctr">
              <a:defRPr/>
            </a:lvl4pPr>
            <a:lvl5pPr algn="ctr">
              <a:defRPr/>
            </a:lvl5pPr>
          </a:lstStyle>
          <a:p>
            <a:pPr lvl="0"/>
            <a:r>
              <a:rPr lang="en-US"/>
              <a:t>Edit Master text styles</a:t>
            </a:r>
          </a:p>
        </p:txBody>
      </p:sp>
      <p:pic>
        <p:nvPicPr>
          <p:cNvPr id="8" name="Picture 7">
            <a:extLst>
              <a:ext uri="{FF2B5EF4-FFF2-40B4-BE49-F238E27FC236}">
                <a16:creationId xmlns:a16="http://schemas.microsoft.com/office/drawing/2014/main" id="{E14C8DC6-096E-714D-AF28-58697258972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4823" y="654528"/>
            <a:ext cx="3540072" cy="774496"/>
          </a:xfrm>
          <a:prstGeom prst="rect">
            <a:avLst/>
          </a:prstGeom>
        </p:spPr>
      </p:pic>
      <p:cxnSp>
        <p:nvCxnSpPr>
          <p:cNvPr id="9" name="Straight Connector 8">
            <a:extLst>
              <a:ext uri="{FF2B5EF4-FFF2-40B4-BE49-F238E27FC236}">
                <a16:creationId xmlns:a16="http://schemas.microsoft.com/office/drawing/2014/main" id="{41EF1488-91C4-7449-841C-78AF4CE5EB83}"/>
              </a:ext>
            </a:extLst>
          </p:cNvPr>
          <p:cNvCxnSpPr/>
          <p:nvPr userDrawn="1"/>
        </p:nvCxnSpPr>
        <p:spPr>
          <a:xfrm>
            <a:off x="1769036" y="2752725"/>
            <a:ext cx="180975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5840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791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ortrai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CB3A0E-D963-4BA4-863C-413B32E51AE7}"/>
              </a:ext>
            </a:extLst>
          </p:cNvPr>
          <p:cNvSpPr>
            <a:spLocks noGrp="1"/>
          </p:cNvSpPr>
          <p:nvPr>
            <p:ph idx="1" hasCustomPrompt="1"/>
          </p:nvPr>
        </p:nvSpPr>
        <p:spPr>
          <a:xfrm>
            <a:off x="6162675" y="1152524"/>
            <a:ext cx="5191124" cy="5162121"/>
          </a:xfrm>
        </p:spPr>
        <p:txBody>
          <a:bodyPr/>
          <a:lstStyle>
            <a:lvl1pPr>
              <a:defRPr b="0"/>
            </a:lvl1pPr>
          </a:lstStyle>
          <a:p>
            <a:pPr lvl="0"/>
            <a:r>
              <a:rPr lang="en-US"/>
              <a:t>Heading 1</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sp>
        <p:nvSpPr>
          <p:cNvPr id="11" name="Title 10">
            <a:extLst>
              <a:ext uri="{FF2B5EF4-FFF2-40B4-BE49-F238E27FC236}">
                <a16:creationId xmlns:a16="http://schemas.microsoft.com/office/drawing/2014/main" id="{1C1F0F3F-166A-422E-B49B-E35296BCC605}"/>
              </a:ext>
            </a:extLst>
          </p:cNvPr>
          <p:cNvSpPr>
            <a:spLocks noGrp="1"/>
          </p:cNvSpPr>
          <p:nvPr>
            <p:ph type="title"/>
          </p:nvPr>
        </p:nvSpPr>
        <p:spPr>
          <a:xfrm>
            <a:off x="1362075" y="1123950"/>
            <a:ext cx="4419600" cy="5190695"/>
          </a:xfrm>
        </p:spPr>
        <p:txBody>
          <a:bodyPr anchor="t" anchorCtr="0"/>
          <a:lstStyle/>
          <a:p>
            <a:r>
              <a:rPr lang="en-US"/>
              <a:t>Click to edit Master title style</a:t>
            </a:r>
          </a:p>
        </p:txBody>
      </p:sp>
      <p:cxnSp>
        <p:nvCxnSpPr>
          <p:cNvPr id="13" name="Straight Connector 12">
            <a:extLst>
              <a:ext uri="{FF2B5EF4-FFF2-40B4-BE49-F238E27FC236}">
                <a16:creationId xmlns:a16="http://schemas.microsoft.com/office/drawing/2014/main" id="{1385506D-9F69-4855-B473-3BFDAF44ED69}"/>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9095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360800" y="1868400"/>
            <a:ext cx="4680000" cy="444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6667500" y="1868400"/>
            <a:ext cx="4680000" cy="444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Box 7">
            <a:extLst>
              <a:ext uri="{FF2B5EF4-FFF2-40B4-BE49-F238E27FC236}">
                <a16:creationId xmlns:a16="http://schemas.microsoft.com/office/drawing/2014/main" id="{AA8462DF-95A9-4839-9F28-1A83BCE28186}"/>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pic>
        <p:nvPicPr>
          <p:cNvPr id="9" name="Picture 8">
            <a:extLst>
              <a:ext uri="{FF2B5EF4-FFF2-40B4-BE49-F238E27FC236}">
                <a16:creationId xmlns:a16="http://schemas.microsoft.com/office/drawing/2014/main" id="{DEDB1926-9526-4026-8069-F153FB78BD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cxnSp>
        <p:nvCxnSpPr>
          <p:cNvPr id="10" name="Straight Connector 9">
            <a:extLst>
              <a:ext uri="{FF2B5EF4-FFF2-40B4-BE49-F238E27FC236}">
                <a16:creationId xmlns:a16="http://schemas.microsoft.com/office/drawing/2014/main" id="{5B93EDA0-B8B5-41ED-80CE-BFDA6DF8FC4B}"/>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45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360800" y="2352674"/>
            <a:ext cx="4680000" cy="39653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6667500" y="2352674"/>
            <a:ext cx="4680000" cy="39653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 Placeholder 2">
            <a:extLst>
              <a:ext uri="{FF2B5EF4-FFF2-40B4-BE49-F238E27FC236}">
                <a16:creationId xmlns:a16="http://schemas.microsoft.com/office/drawing/2014/main" id="{E4673FD0-9E13-4C1A-B859-688309735A0D}"/>
              </a:ext>
            </a:extLst>
          </p:cNvPr>
          <p:cNvSpPr>
            <a:spLocks noGrp="1"/>
          </p:cNvSpPr>
          <p:nvPr>
            <p:ph type="body" idx="13"/>
          </p:nvPr>
        </p:nvSpPr>
        <p:spPr>
          <a:xfrm>
            <a:off x="1360800" y="1868399"/>
            <a:ext cx="4680000" cy="379501"/>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9" name="Text Placeholder 4">
            <a:extLst>
              <a:ext uri="{FF2B5EF4-FFF2-40B4-BE49-F238E27FC236}">
                <a16:creationId xmlns:a16="http://schemas.microsoft.com/office/drawing/2014/main" id="{E81F1501-AF73-4AAC-9FF0-0767311D3E75}"/>
              </a:ext>
            </a:extLst>
          </p:cNvPr>
          <p:cNvSpPr>
            <a:spLocks noGrp="1"/>
          </p:cNvSpPr>
          <p:nvPr>
            <p:ph type="body" sz="quarter" idx="3"/>
          </p:nvPr>
        </p:nvSpPr>
        <p:spPr>
          <a:xfrm>
            <a:off x="6667500" y="1868399"/>
            <a:ext cx="4687888" cy="379501"/>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Box 9">
            <a:extLst>
              <a:ext uri="{FF2B5EF4-FFF2-40B4-BE49-F238E27FC236}">
                <a16:creationId xmlns:a16="http://schemas.microsoft.com/office/drawing/2014/main" id="{7ADE178B-FD49-4EE2-9A05-5F6BE0A0483C}"/>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pic>
        <p:nvPicPr>
          <p:cNvPr id="11" name="Picture 10">
            <a:extLst>
              <a:ext uri="{FF2B5EF4-FFF2-40B4-BE49-F238E27FC236}">
                <a16:creationId xmlns:a16="http://schemas.microsoft.com/office/drawing/2014/main" id="{68D110D8-F82F-4692-8B00-F633DEF1AC1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cxnSp>
        <p:nvCxnSpPr>
          <p:cNvPr id="12" name="Straight Connector 11">
            <a:extLst>
              <a:ext uri="{FF2B5EF4-FFF2-40B4-BE49-F238E27FC236}">
                <a16:creationId xmlns:a16="http://schemas.microsoft.com/office/drawing/2014/main" id="{6132C51C-6D36-4A71-A1DB-6C92A35CA313}"/>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714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with Captio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F29153F9-78D4-4D70-B44A-4B9B91D91CB2}"/>
              </a:ext>
            </a:extLst>
          </p:cNvPr>
          <p:cNvSpPr>
            <a:spLocks noGrp="1"/>
          </p:cNvSpPr>
          <p:nvPr>
            <p:ph type="chart" sz="quarter" idx="14"/>
          </p:nvPr>
        </p:nvSpPr>
        <p:spPr>
          <a:xfrm>
            <a:off x="6162675" y="771525"/>
            <a:ext cx="5638800" cy="5534025"/>
          </a:xfrm>
        </p:spPr>
        <p:txBody>
          <a:bodyPr/>
          <a:lstStyle>
            <a:lvl1pPr marL="0" indent="0">
              <a:buNone/>
              <a:defRPr/>
            </a:lvl1pPr>
          </a:lstStyle>
          <a:p>
            <a:r>
              <a:rPr lang="en-US"/>
              <a:t>Click icon to add chart</a:t>
            </a:r>
          </a:p>
        </p:txBody>
      </p:sp>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362075" y="542925"/>
            <a:ext cx="4181476"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362075" y="1866900"/>
            <a:ext cx="4181476" cy="4448175"/>
          </a:xfrm>
        </p:spPr>
        <p:txBody>
          <a:bodyPr/>
          <a:lstStyle>
            <a:lvl1pPr marL="0" indent="0">
              <a:buNone/>
              <a:defRPr b="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43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362075" y="542925"/>
            <a:ext cx="4181476"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362075" y="1866900"/>
            <a:ext cx="4181476" cy="4448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9" name="Picture Placeholder 8">
            <a:extLst>
              <a:ext uri="{FF2B5EF4-FFF2-40B4-BE49-F238E27FC236}">
                <a16:creationId xmlns:a16="http://schemas.microsoft.com/office/drawing/2014/main" id="{A46E416A-BFDB-410E-9AC9-671259E5DAFB}"/>
              </a:ext>
            </a:extLst>
          </p:cNvPr>
          <p:cNvSpPr>
            <a:spLocks noGrp="1"/>
          </p:cNvSpPr>
          <p:nvPr>
            <p:ph type="pic" sz="quarter" idx="13"/>
          </p:nvPr>
        </p:nvSpPr>
        <p:spPr>
          <a:xfrm>
            <a:off x="6162675" y="771525"/>
            <a:ext cx="5638800" cy="5534025"/>
          </a:xfrm>
          <a:solidFill>
            <a:schemeClr val="bg1">
              <a:lumMod val="85000"/>
            </a:schemeClr>
          </a:solidFill>
        </p:spPr>
        <p:txBody>
          <a:bodyPr/>
          <a:lstStyle>
            <a:lvl1pPr marL="0" indent="0">
              <a:buNone/>
              <a:defRPr/>
            </a:lvl1pPr>
          </a:lstStyle>
          <a:p>
            <a:r>
              <a:rPr lang="en-US"/>
              <a:t>Click icon to add picture</a:t>
            </a:r>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0598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828676" y="542925"/>
            <a:ext cx="10544174" cy="1114425"/>
          </a:xfrm>
        </p:spPr>
        <p:txBody>
          <a:bodyPr/>
          <a:lstStyle>
            <a:lvl1pPr algn="ctr">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4238625" y="2752725"/>
            <a:ext cx="3714750" cy="3562350"/>
          </a:xfrm>
          <a:solidFill>
            <a:schemeClr val="bg1">
              <a:lumMod val="85000"/>
            </a:schemeClr>
          </a:solidFill>
        </p:spPr>
        <p:txBody>
          <a:bodyPr/>
          <a:lstStyle>
            <a:lvl1pPr marL="0" indent="0">
              <a:buNone/>
              <a:defRPr/>
            </a:lvl1pPr>
          </a:lstStyle>
          <a:p>
            <a:r>
              <a:rPr lang="en-US"/>
              <a:t>Click icon to add picture</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400050" y="2752725"/>
            <a:ext cx="3714750" cy="3562350"/>
          </a:xfrm>
          <a:solidFill>
            <a:schemeClr val="bg1">
              <a:lumMod val="85000"/>
            </a:schemeClr>
          </a:solidFill>
        </p:spPr>
        <p:txBody>
          <a:bodyPr/>
          <a:lstStyle>
            <a:lvl1pPr marL="0" indent="0">
              <a:buNone/>
              <a:defRPr/>
            </a:lvl1pPr>
          </a:lstStyle>
          <a:p>
            <a:r>
              <a:rPr lang="en-US"/>
              <a:t>Click icon to add picture</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8077200" y="2752725"/>
            <a:ext cx="3714750" cy="3562350"/>
          </a:xfrm>
          <a:solidFill>
            <a:schemeClr val="bg1">
              <a:lumMod val="85000"/>
            </a:schemeClr>
          </a:solidFill>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4188493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362074" y="1114424"/>
            <a:ext cx="6343651" cy="1438275"/>
          </a:xfrm>
        </p:spPr>
        <p:txBody>
          <a:bodyPr anchor="t" anchorCtr="0"/>
          <a:lstStyle>
            <a:lvl1pPr algn="l">
              <a:lnSpc>
                <a:spcPct val="100000"/>
              </a:lnSpc>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4238625" y="2752725"/>
            <a:ext cx="3714750" cy="3562350"/>
          </a:xfrm>
          <a:solidFill>
            <a:schemeClr val="bg1">
              <a:lumMod val="85000"/>
            </a:schemeClr>
          </a:solidFill>
        </p:spPr>
        <p:txBody>
          <a:bodyPr/>
          <a:lstStyle>
            <a:lvl1pPr marL="0" indent="0">
              <a:buNone/>
              <a:defRPr/>
            </a:lvl1pPr>
          </a:lstStyle>
          <a:p>
            <a:r>
              <a:rPr lang="en-US"/>
              <a:t>Click icon to add picture</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400050" y="2752725"/>
            <a:ext cx="3714750" cy="3562350"/>
          </a:xfrm>
          <a:solidFill>
            <a:schemeClr val="bg1">
              <a:lumMod val="85000"/>
            </a:schemeClr>
          </a:solidFill>
        </p:spPr>
        <p:txBody>
          <a:bodyPr/>
          <a:lstStyle>
            <a:lvl1pPr marL="0" indent="0">
              <a:buNone/>
              <a:defRPr/>
            </a:lvl1pPr>
          </a:lstStyle>
          <a:p>
            <a:r>
              <a:rPr lang="en-US"/>
              <a:t>Click icon to add picture</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8077200" y="762000"/>
            <a:ext cx="3714750" cy="5553075"/>
          </a:xfrm>
          <a:solidFill>
            <a:schemeClr val="bg1">
              <a:lumMod val="85000"/>
            </a:schemeClr>
          </a:solidFill>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6066545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p>
            <a:r>
              <a:rPr lang="en-US"/>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p>
            <a:r>
              <a:rPr lang="en-US"/>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5884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lvl1pPr>
              <a:defRPr>
                <a:solidFill>
                  <a:schemeClr val="tx2"/>
                </a:solidFill>
              </a:defRPr>
            </a:lvl1pPr>
          </a:lstStyle>
          <a:p>
            <a:r>
              <a:rPr lang="en-US"/>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lvl1pPr>
              <a:defRPr>
                <a:solidFill>
                  <a:schemeClr val="tx2"/>
                </a:solidFill>
              </a:defRPr>
            </a:lvl1pPr>
          </a:lstStyle>
          <a:p>
            <a:r>
              <a:rPr lang="en-US"/>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lvl1pPr>
              <a:defRPr>
                <a:solidFill>
                  <a:schemeClr val="tx2"/>
                </a:solidFill>
              </a:defRPr>
            </a:lvl1pPr>
          </a:lstStyle>
          <a:p>
            <a:fld id="{1E68DD1B-5CD8-424B-8173-19E182143E0A}" type="slidenum">
              <a:rPr lang="en-US" smtClean="0"/>
              <a:pPr/>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tx2"/>
                </a:solidFill>
              </a:rPr>
              <a:t>ku.ac.ae</a:t>
            </a:r>
            <a:endParaRPr lang="en-US" sz="850">
              <a:solidFill>
                <a:schemeClr val="tx2"/>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7"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85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94EFBB-C8CA-4201-A903-805856BEB310}"/>
              </a:ext>
            </a:extLst>
          </p:cNvPr>
          <p:cNvSpPr>
            <a:spLocks noGrp="1"/>
          </p:cNvSpPr>
          <p:nvPr>
            <p:ph type="dt" sz="half" idx="10"/>
          </p:nvPr>
        </p:nvSpPr>
        <p:spPr/>
        <p:txBody>
          <a:bodyPr/>
          <a:lstStyle/>
          <a:p>
            <a:r>
              <a:rPr lang="en-US"/>
              <a:t>DD Month 20XX</a:t>
            </a:r>
          </a:p>
        </p:txBody>
      </p:sp>
      <p:sp>
        <p:nvSpPr>
          <p:cNvPr id="3" name="Footer Placeholder 2">
            <a:extLst>
              <a:ext uri="{FF2B5EF4-FFF2-40B4-BE49-F238E27FC236}">
                <a16:creationId xmlns:a16="http://schemas.microsoft.com/office/drawing/2014/main" id="{8551DCEB-2462-4151-B7CC-F3EC0D3A59D6}"/>
              </a:ext>
            </a:extLst>
          </p:cNvPr>
          <p:cNvSpPr>
            <a:spLocks noGrp="1"/>
          </p:cNvSpPr>
          <p:nvPr>
            <p:ph type="ftr" sz="quarter" idx="11"/>
          </p:nvPr>
        </p:nvSpPr>
        <p:spPr/>
        <p:txBody>
          <a:bodyPr/>
          <a:lstStyle/>
          <a:p>
            <a:r>
              <a:rPr lang="en-US"/>
              <a:t>Presentation Title Goes Here</a:t>
            </a:r>
          </a:p>
        </p:txBody>
      </p:sp>
      <p:sp>
        <p:nvSpPr>
          <p:cNvPr id="4" name="Slide Number Placeholder 3">
            <a:extLst>
              <a:ext uri="{FF2B5EF4-FFF2-40B4-BE49-F238E27FC236}">
                <a16:creationId xmlns:a16="http://schemas.microsoft.com/office/drawing/2014/main" id="{B5A57B99-432B-45A8-9216-9BC01B297D0C}"/>
              </a:ext>
            </a:extLst>
          </p:cNvPr>
          <p:cNvSpPr>
            <a:spLocks noGrp="1"/>
          </p:cNvSpPr>
          <p:nvPr>
            <p:ph type="sldNum" sz="quarter" idx="12"/>
          </p:nvPr>
        </p:nvSpPr>
        <p:spPr/>
        <p:txBody>
          <a:bodyPr/>
          <a:lstStyle/>
          <a:p>
            <a:fld id="{1E68DD1B-5CD8-424B-8173-19E182143E0A}" type="slidenum">
              <a:rPr lang="en-US" smtClean="0"/>
              <a:t>‹#›</a:t>
            </a:fld>
            <a:endParaRPr lang="en-US"/>
          </a:p>
        </p:txBody>
      </p:sp>
    </p:spTree>
    <p:extLst>
      <p:ext uri="{BB962C8B-B14F-4D97-AF65-F5344CB8AC3E}">
        <p14:creationId xmlns:p14="http://schemas.microsoft.com/office/powerpoint/2010/main" val="4259154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D0CFC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831850" y="1204913"/>
            <a:ext cx="10515600" cy="2852737"/>
          </a:xfrm>
        </p:spPr>
        <p:txBody>
          <a:bodyPr anchor="b"/>
          <a:lstStyle>
            <a:lvl1pPr algn="ctr">
              <a:lnSpc>
                <a:spcPct val="100000"/>
              </a:lnSpc>
              <a:defRPr sz="6000"/>
            </a:lvl1pPr>
          </a:lstStyle>
          <a:p>
            <a:r>
              <a:rPr lang="en-US"/>
              <a:t>Click to edit Master title style</a:t>
            </a:r>
          </a:p>
        </p:txBody>
      </p:sp>
      <p:sp>
        <p:nvSpPr>
          <p:cNvPr id="3" name="Text Placeholder 2">
            <a:extLst>
              <a:ext uri="{FF2B5EF4-FFF2-40B4-BE49-F238E27FC236}">
                <a16:creationId xmlns:a16="http://schemas.microsoft.com/office/drawing/2014/main" id="{1104C747-8640-4D13-A1FA-90CDB4EBBF1D}"/>
              </a:ext>
            </a:extLst>
          </p:cNvPr>
          <p:cNvSpPr>
            <a:spLocks noGrp="1"/>
          </p:cNvSpPr>
          <p:nvPr>
            <p:ph type="body" idx="1"/>
          </p:nvPr>
        </p:nvSpPr>
        <p:spPr>
          <a:xfrm>
            <a:off x="831850" y="4000500"/>
            <a:ext cx="10515600" cy="1584326"/>
          </a:xfrm>
        </p:spPr>
        <p:txBody>
          <a:bodyPr>
            <a:normAutofit/>
          </a:bodyPr>
          <a:lstStyle>
            <a:lvl1pPr marL="0" indent="0" algn="ctr">
              <a:buNone/>
              <a:defRPr sz="3800">
                <a:solidFill>
                  <a:srgbClr val="00000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9" name="Picture 8">
            <a:extLst>
              <a:ext uri="{FF2B5EF4-FFF2-40B4-BE49-F238E27FC236}">
                <a16:creationId xmlns:a16="http://schemas.microsoft.com/office/drawing/2014/main" id="{965424D6-2475-46D6-A699-3A7CA5F8B1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10" name="TextBox 9">
            <a:extLst>
              <a:ext uri="{FF2B5EF4-FFF2-40B4-BE49-F238E27FC236}">
                <a16:creationId xmlns:a16="http://schemas.microsoft.com/office/drawing/2014/main" id="{7265327D-BC3D-4548-B6FC-FF18B53D2785}"/>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spTree>
    <p:extLst>
      <p:ext uri="{BB962C8B-B14F-4D97-AF65-F5344CB8AC3E}">
        <p14:creationId xmlns:p14="http://schemas.microsoft.com/office/powerpoint/2010/main" val="2545361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ing Picture Backgroun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831850" y="1052513"/>
            <a:ext cx="10515600" cy="2852737"/>
          </a:xfrm>
        </p:spPr>
        <p:txBody>
          <a:bodyPr anchor="b"/>
          <a:lstStyle>
            <a:lvl1pPr algn="ctr">
              <a:lnSpc>
                <a:spcPct val="100000"/>
              </a:lnSpc>
              <a:defRPr sz="6000">
                <a:solidFill>
                  <a:srgbClr val="FFFFFF"/>
                </a:solidFill>
              </a:defRPr>
            </a:lvl1pPr>
          </a:lstStyle>
          <a:p>
            <a:r>
              <a:rPr lang="en-US"/>
              <a:t>Click to edit Master title style</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9" name="Picture 8">
            <a:extLst>
              <a:ext uri="{FF2B5EF4-FFF2-40B4-BE49-F238E27FC236}">
                <a16:creationId xmlns:a16="http://schemas.microsoft.com/office/drawing/2014/main" id="{965424D6-2475-46D6-A699-3A7CA5F8B1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sp>
        <p:nvSpPr>
          <p:cNvPr id="10" name="TextBox 9">
            <a:extLst>
              <a:ext uri="{FF2B5EF4-FFF2-40B4-BE49-F238E27FC236}">
                <a16:creationId xmlns:a16="http://schemas.microsoft.com/office/drawing/2014/main" id="{7265327D-BC3D-4548-B6FC-FF18B53D2785}"/>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spTree>
    <p:extLst>
      <p:ext uri="{BB962C8B-B14F-4D97-AF65-F5344CB8AC3E}">
        <p14:creationId xmlns:p14="http://schemas.microsoft.com/office/powerpoint/2010/main" val="36582986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0047BA"/>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22667" y="891158"/>
            <a:ext cx="2368684" cy="518220"/>
          </a:xfrm>
          <a:prstGeom prst="rect">
            <a:avLst/>
          </a:prstGeom>
        </p:spPr>
      </p:pic>
      <p:sp>
        <p:nvSpPr>
          <p:cNvPr id="4" name="TextBox 3">
            <a:extLst>
              <a:ext uri="{FF2B5EF4-FFF2-40B4-BE49-F238E27FC236}">
                <a16:creationId xmlns:a16="http://schemas.microsoft.com/office/drawing/2014/main" id="{AFAD5768-C7B0-4ABF-BE83-522BCD1F6FE5}"/>
              </a:ext>
            </a:extLst>
          </p:cNvPr>
          <p:cNvSpPr txBox="1"/>
          <p:nvPr userDrawn="1"/>
        </p:nvSpPr>
        <p:spPr>
          <a:xfrm>
            <a:off x="752475" y="2545809"/>
            <a:ext cx="10648950" cy="1769715"/>
          </a:xfrm>
          <a:prstGeom prst="rect">
            <a:avLst/>
          </a:prstGeom>
          <a:noFill/>
        </p:spPr>
        <p:txBody>
          <a:bodyPr wrap="square" lIns="0" tIns="0" rIns="0" bIns="0" rtlCol="0" anchor="ctr" anchorCtr="0">
            <a:spAutoFit/>
          </a:bodyPr>
          <a:lstStyle/>
          <a:p>
            <a:pPr algn="ctr"/>
            <a:r>
              <a:rPr lang="fi-FI" sz="11500" b="1" spc="-100" baseline="0" dirty="0" err="1">
                <a:solidFill>
                  <a:srgbClr val="FFFFFF"/>
                </a:solidFill>
                <a:latin typeface="+mj-lt"/>
              </a:rPr>
              <a:t>Thank</a:t>
            </a:r>
            <a:r>
              <a:rPr lang="fi-FI" sz="11500" b="1" spc="-100" baseline="0" dirty="0">
                <a:solidFill>
                  <a:srgbClr val="FFFFFF"/>
                </a:solidFill>
                <a:latin typeface="+mj-lt"/>
              </a:rPr>
              <a:t> </a:t>
            </a:r>
            <a:r>
              <a:rPr lang="fi-FI" sz="11500" b="1" spc="-100" baseline="0" dirty="0" err="1">
                <a:solidFill>
                  <a:srgbClr val="FFFFFF"/>
                </a:solidFill>
                <a:latin typeface="+mj-lt"/>
              </a:rPr>
              <a:t>You</a:t>
            </a:r>
            <a:endParaRPr lang="en-US" sz="11500" b="1" spc="-100" baseline="0" dirty="0">
              <a:solidFill>
                <a:srgbClr val="FFFFFF"/>
              </a:solidFill>
              <a:latin typeface="+mj-lt"/>
            </a:endParaRPr>
          </a:p>
        </p:txBody>
      </p:sp>
      <p:sp>
        <p:nvSpPr>
          <p:cNvPr id="13" name="TextBox 12">
            <a:extLst>
              <a:ext uri="{FF2B5EF4-FFF2-40B4-BE49-F238E27FC236}">
                <a16:creationId xmlns:a16="http://schemas.microsoft.com/office/drawing/2014/main" id="{A94333D0-73BA-48D2-AA6E-3F2C63C9CA8F}"/>
              </a:ext>
            </a:extLst>
          </p:cNvPr>
          <p:cNvSpPr txBox="1"/>
          <p:nvPr userDrawn="1"/>
        </p:nvSpPr>
        <p:spPr>
          <a:xfrm>
            <a:off x="5181601" y="6146800"/>
            <a:ext cx="1838324" cy="244475"/>
          </a:xfrm>
          <a:prstGeom prst="rect">
            <a:avLst/>
          </a:prstGeom>
          <a:noFill/>
        </p:spPr>
        <p:txBody>
          <a:bodyPr wrap="square" lIns="0" tIns="0" rIns="0" bIns="0" rtlCol="0" anchor="ctr" anchorCtr="0">
            <a:noAutofit/>
          </a:bodyPr>
          <a:lstStyle/>
          <a:p>
            <a:pPr algn="ctr"/>
            <a:r>
              <a:rPr lang="fi-FI" sz="1250" b="1">
                <a:solidFill>
                  <a:srgbClr val="FFFFFF"/>
                </a:solidFill>
              </a:rPr>
              <a:t>ku.ac.ae</a:t>
            </a:r>
            <a:endParaRPr lang="en-US" sz="1250" b="1">
              <a:solidFill>
                <a:srgbClr val="FFFFFF"/>
              </a:solidFill>
            </a:endParaRPr>
          </a:p>
        </p:txBody>
      </p:sp>
    </p:spTree>
    <p:extLst>
      <p:ext uri="{BB962C8B-B14F-4D97-AF65-F5344CB8AC3E}">
        <p14:creationId xmlns:p14="http://schemas.microsoft.com/office/powerpoint/2010/main" val="24195699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a:prstGeom prst="rect">
            <a:avLst/>
          </a:prstGeo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3" indent="0" algn="ctr">
              <a:buNone/>
              <a:defRPr sz="2000"/>
            </a:lvl2pPr>
            <a:lvl3pPr marL="914406" indent="0" algn="ctr">
              <a:buNone/>
              <a:defRPr sz="1800"/>
            </a:lvl3pPr>
            <a:lvl4pPr marL="1371609" indent="0" algn="ctr">
              <a:buNone/>
              <a:defRPr sz="1600"/>
            </a:lvl4pPr>
            <a:lvl5pPr marL="1828812" indent="0" algn="ctr">
              <a:buNone/>
              <a:defRPr sz="1600"/>
            </a:lvl5pPr>
            <a:lvl6pPr marL="2286015" indent="0" algn="ctr">
              <a:buNone/>
              <a:defRPr sz="1600"/>
            </a:lvl6pPr>
            <a:lvl7pPr marL="2743218" indent="0" algn="ctr">
              <a:buNone/>
              <a:defRPr sz="1600"/>
            </a:lvl7pPr>
            <a:lvl8pPr marL="3200421" indent="0" algn="ctr">
              <a:buNone/>
              <a:defRPr sz="1600"/>
            </a:lvl8pPr>
            <a:lvl9pPr marL="3657624"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52447782-F3FB-1F41-99C8-360D47C4C2A4}" type="datetimeFigureOut">
              <a:rPr lang="en-US" smtClean="0"/>
              <a:t>5/10/2023</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2E9ABD8C-26BC-F149-A27D-442B4824F71A}" type="slidenum">
              <a:rPr lang="en-US" smtClean="0"/>
              <a:t>‹#›</a:t>
            </a:fld>
            <a:endParaRPr lang="en-US"/>
          </a:p>
        </p:txBody>
      </p:sp>
      <p:sp>
        <p:nvSpPr>
          <p:cNvPr id="8" name="Rectangle 7"/>
          <p:cNvSpPr/>
          <p:nvPr userDrawn="1"/>
        </p:nvSpPr>
        <p:spPr>
          <a:xfrm>
            <a:off x="10901316" y="489958"/>
            <a:ext cx="731290" cy="259943"/>
          </a:xfrm>
          <a:prstGeom prst="rect">
            <a:avLst/>
          </a:prstGeom>
        </p:spPr>
        <p:txBody>
          <a:bodyPr wrap="none">
            <a:spAutoFit/>
          </a:bodyPr>
          <a:lstStyle/>
          <a:p>
            <a:r>
              <a:rPr lang="en-US" sz="1089" b="1" dirty="0" err="1" smtClean="0">
                <a:solidFill>
                  <a:schemeClr val="bg1"/>
                </a:solidFill>
                <a:latin typeface="Arial" charset="0"/>
                <a:ea typeface="Arial" charset="0"/>
                <a:cs typeface="Arial" charset="0"/>
              </a:rPr>
              <a:t>ku.ac.ae</a:t>
            </a:r>
            <a:endParaRPr lang="en-US" sz="1089" b="1" dirty="0">
              <a:solidFill>
                <a:schemeClr val="bg1"/>
              </a:solidFill>
              <a:latin typeface="Arial" charset="0"/>
              <a:ea typeface="Arial" charset="0"/>
              <a:cs typeface="Arial" charset="0"/>
            </a:endParaRPr>
          </a:p>
        </p:txBody>
      </p:sp>
    </p:spTree>
    <p:extLst>
      <p:ext uri="{BB962C8B-B14F-4D97-AF65-F5344CB8AC3E}">
        <p14:creationId xmlns:p14="http://schemas.microsoft.com/office/powerpoint/2010/main" val="2036333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7564FE-F745-443F-8321-B0EFD169FAC6}"/>
              </a:ext>
            </a:extLst>
          </p:cNvPr>
          <p:cNvSpPr>
            <a:spLocks noGrp="1"/>
          </p:cNvSpPr>
          <p:nvPr>
            <p:ph type="title"/>
          </p:nvPr>
        </p:nvSpPr>
        <p:spPr>
          <a:xfrm>
            <a:off x="1362074" y="542925"/>
            <a:ext cx="9991725" cy="1114425"/>
          </a:xfrm>
          <a:prstGeom prst="rect">
            <a:avLst/>
          </a:prstGeom>
        </p:spPr>
        <p:txBody>
          <a:bodyPr vert="horz" lIns="0" tIns="0" rIns="0" bIns="0" rtlCol="0" anchor="b" anchorCtr="0">
            <a:normAutofit/>
          </a:bodyPr>
          <a:lstStyle/>
          <a:p>
            <a:r>
              <a:rPr lang="en-US"/>
              <a:t>Click to edit Master title style</a:t>
            </a:r>
          </a:p>
        </p:txBody>
      </p:sp>
      <p:sp>
        <p:nvSpPr>
          <p:cNvPr id="3" name="Text Placeholder 2">
            <a:extLst>
              <a:ext uri="{FF2B5EF4-FFF2-40B4-BE49-F238E27FC236}">
                <a16:creationId xmlns:a16="http://schemas.microsoft.com/office/drawing/2014/main" id="{06911581-2B37-40B3-825A-043921DFB80C}"/>
              </a:ext>
            </a:extLst>
          </p:cNvPr>
          <p:cNvSpPr>
            <a:spLocks noGrp="1"/>
          </p:cNvSpPr>
          <p:nvPr>
            <p:ph type="body" idx="1"/>
          </p:nvPr>
        </p:nvSpPr>
        <p:spPr>
          <a:xfrm>
            <a:off x="1362074" y="1866900"/>
            <a:ext cx="9991725" cy="4448175"/>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A172D0-FD25-45C4-A82E-F4094DCDE0CC}"/>
              </a:ext>
            </a:extLst>
          </p:cNvPr>
          <p:cNvSpPr>
            <a:spLocks noGrp="1"/>
          </p:cNvSpPr>
          <p:nvPr>
            <p:ph type="dt" sz="half" idx="2"/>
          </p:nvPr>
        </p:nvSpPr>
        <p:spPr>
          <a:xfrm>
            <a:off x="8086725" y="203200"/>
            <a:ext cx="1733550" cy="244475"/>
          </a:xfrm>
          <a:prstGeom prst="rect">
            <a:avLst/>
          </a:prstGeom>
        </p:spPr>
        <p:txBody>
          <a:bodyPr vert="horz" lIns="0" tIns="0" rIns="0" bIns="0" rtlCol="0" anchor="ctr"/>
          <a:lstStyle>
            <a:lvl1pPr algn="r">
              <a:defRPr sz="850">
                <a:solidFill>
                  <a:schemeClr val="bg2"/>
                </a:solidFill>
              </a:defRPr>
            </a:lvl1pPr>
          </a:lstStyle>
          <a:p>
            <a:r>
              <a:rPr lang="en-US"/>
              <a:t>DD Month 20XX</a:t>
            </a:r>
          </a:p>
        </p:txBody>
      </p:sp>
      <p:sp>
        <p:nvSpPr>
          <p:cNvPr id="5" name="Footer Placeholder 4">
            <a:extLst>
              <a:ext uri="{FF2B5EF4-FFF2-40B4-BE49-F238E27FC236}">
                <a16:creationId xmlns:a16="http://schemas.microsoft.com/office/drawing/2014/main" id="{F5B18871-7BC3-4A13-9CC9-B9A1DB22F262}"/>
              </a:ext>
            </a:extLst>
          </p:cNvPr>
          <p:cNvSpPr>
            <a:spLocks noGrp="1"/>
          </p:cNvSpPr>
          <p:nvPr>
            <p:ph type="ftr" sz="quarter" idx="3"/>
          </p:nvPr>
        </p:nvSpPr>
        <p:spPr>
          <a:xfrm>
            <a:off x="2867025" y="203200"/>
            <a:ext cx="4114800" cy="244475"/>
          </a:xfrm>
          <a:prstGeom prst="rect">
            <a:avLst/>
          </a:prstGeom>
        </p:spPr>
        <p:txBody>
          <a:bodyPr vert="horz" lIns="0" tIns="0" rIns="0" bIns="0" rtlCol="0" anchor="ctr"/>
          <a:lstStyle>
            <a:lvl1pPr algn="ctr">
              <a:defRPr sz="850">
                <a:solidFill>
                  <a:schemeClr val="bg2"/>
                </a:solidFill>
              </a:defRPr>
            </a:lvl1pPr>
          </a:lstStyle>
          <a:p>
            <a:r>
              <a:rPr lang="en-US"/>
              <a:t>Presentation Title Goes Here</a:t>
            </a:r>
          </a:p>
        </p:txBody>
      </p:sp>
      <p:sp>
        <p:nvSpPr>
          <p:cNvPr id="6" name="Slide Number Placeholder 5">
            <a:extLst>
              <a:ext uri="{FF2B5EF4-FFF2-40B4-BE49-F238E27FC236}">
                <a16:creationId xmlns:a16="http://schemas.microsoft.com/office/drawing/2014/main" id="{A7EA17DA-0D3F-410F-A9AA-3171ED151327}"/>
              </a:ext>
            </a:extLst>
          </p:cNvPr>
          <p:cNvSpPr>
            <a:spLocks noGrp="1"/>
          </p:cNvSpPr>
          <p:nvPr>
            <p:ph type="sldNum" sz="quarter" idx="4"/>
          </p:nvPr>
        </p:nvSpPr>
        <p:spPr>
          <a:xfrm>
            <a:off x="11563349" y="203200"/>
            <a:ext cx="523875" cy="244475"/>
          </a:xfrm>
          <a:prstGeom prst="rect">
            <a:avLst/>
          </a:prstGeom>
        </p:spPr>
        <p:txBody>
          <a:bodyPr vert="horz" lIns="0" tIns="0" rIns="0" bIns="0" rtlCol="0" anchor="ctr"/>
          <a:lstStyle>
            <a:lvl1pPr algn="ctr">
              <a:defRPr sz="850">
                <a:solidFill>
                  <a:schemeClr val="bg2"/>
                </a:solidFill>
              </a:defRPr>
            </a:lvl1pPr>
          </a:lstStyle>
          <a:p>
            <a:fld id="{1E68DD1B-5CD8-424B-8173-19E182143E0A}" type="slidenum">
              <a:rPr lang="en-US" smtClean="0"/>
              <a:pPr/>
              <a:t>‹#›</a:t>
            </a:fld>
            <a:endParaRPr lang="en-US"/>
          </a:p>
        </p:txBody>
      </p:sp>
      <p:sp>
        <p:nvSpPr>
          <p:cNvPr id="13" name="TextBox 12">
            <a:extLst>
              <a:ext uri="{FF2B5EF4-FFF2-40B4-BE49-F238E27FC236}">
                <a16:creationId xmlns:a16="http://schemas.microsoft.com/office/drawing/2014/main" id="{AC18493A-1FC9-483C-BC41-405831F9D965}"/>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spTree>
    <p:extLst>
      <p:ext uri="{BB962C8B-B14F-4D97-AF65-F5344CB8AC3E}">
        <p14:creationId xmlns:p14="http://schemas.microsoft.com/office/powerpoint/2010/main" val="1107456480"/>
      </p:ext>
    </p:extLst>
  </p:cSld>
  <p:clrMap bg1="lt1" tx1="dk1" bg2="lt2" tx2="dk2" accent1="accent1" accent2="accent2" accent3="accent3" accent4="accent4" accent5="accent5" accent6="accent6" hlink="hlink" folHlink="folHlink"/>
  <p:sldLayoutIdLst>
    <p:sldLayoutId id="2147483649" r:id="rId1"/>
    <p:sldLayoutId id="2147483669" r:id="rId2"/>
    <p:sldLayoutId id="2147483668" r:id="rId3"/>
    <p:sldLayoutId id="2147483650" r:id="rId4"/>
    <p:sldLayoutId id="2147483662" r:id="rId5"/>
    <p:sldLayoutId id="2147483652" r:id="rId6"/>
    <p:sldLayoutId id="2147483661" r:id="rId7"/>
    <p:sldLayoutId id="2147483663" r:id="rId8"/>
    <p:sldLayoutId id="2147483660" r:id="rId9"/>
    <p:sldLayoutId id="2147483664" r:id="rId10"/>
    <p:sldLayoutId id="2147483665" r:id="rId11"/>
    <p:sldLayoutId id="2147483654" r:id="rId12"/>
    <p:sldLayoutId id="2147483671" r:id="rId13"/>
    <p:sldLayoutId id="2147483655" r:id="rId14"/>
    <p:sldLayoutId id="2147483651" r:id="rId15"/>
    <p:sldLayoutId id="2147483666" r:id="rId16"/>
    <p:sldLayoutId id="2147483667" r:id="rId17"/>
    <p:sldLayoutId id="2147483672" r:id="rId18"/>
  </p:sldLayoutIdLst>
  <p:hf hdr="0"/>
  <p:txStyles>
    <p:titleStyle>
      <a:lvl1pPr algn="l" defTabSz="914400" rtl="0" eaLnBrk="1" latinLnBrk="0" hangingPunct="1">
        <a:lnSpc>
          <a:spcPct val="100000"/>
        </a:lnSpc>
        <a:spcBef>
          <a:spcPct val="0"/>
        </a:spcBef>
        <a:buNone/>
        <a:defRPr sz="3600" b="1" kern="1200" spc="50" baseline="0">
          <a:solidFill>
            <a:schemeClr val="tx2"/>
          </a:solidFill>
          <a:latin typeface="+mj-lt"/>
          <a:ea typeface="+mj-ea"/>
          <a:cs typeface="+mj-cs"/>
        </a:defRPr>
      </a:lvl1pPr>
    </p:titleStyle>
    <p:bodyStyle>
      <a:lvl1pPr marL="180975" indent="-180975" algn="l" defTabSz="914400" rtl="0" eaLnBrk="1" latinLnBrk="0" hangingPunct="1">
        <a:lnSpc>
          <a:spcPct val="100000"/>
        </a:lnSpc>
        <a:spcBef>
          <a:spcPts val="400"/>
        </a:spcBef>
        <a:buFont typeface="Arial" panose="020B0604020202020204" pitchFamily="34" charset="0"/>
        <a:buChar char="•"/>
        <a:defRPr sz="1850" b="1" kern="1200">
          <a:solidFill>
            <a:schemeClr val="tx1"/>
          </a:solidFill>
          <a:latin typeface="+mn-lt"/>
          <a:ea typeface="+mn-ea"/>
          <a:cs typeface="+mn-cs"/>
        </a:defRPr>
      </a:lvl1pPr>
      <a:lvl2pPr marL="542925" indent="-180975" algn="l" defTabSz="914400" rtl="0" eaLnBrk="1" latinLnBrk="0" hangingPunct="1">
        <a:lnSpc>
          <a:spcPct val="100000"/>
        </a:lnSpc>
        <a:spcBef>
          <a:spcPts val="400"/>
        </a:spcBef>
        <a:buFont typeface="Arial" panose="020B0604020202020204" pitchFamily="34" charset="0"/>
        <a:buChar char="•"/>
        <a:defRPr sz="1850" kern="1200">
          <a:solidFill>
            <a:schemeClr val="tx1"/>
          </a:solidFill>
          <a:latin typeface="+mn-lt"/>
          <a:ea typeface="+mn-ea"/>
          <a:cs typeface="+mn-cs"/>
        </a:defRPr>
      </a:lvl2pPr>
      <a:lvl3pPr marL="714375" indent="-171450"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895350" indent="-180975"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4pPr>
      <a:lvl5pPr marL="1076325" indent="-180975"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emf"/><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vmlDrawing" Target="../drawings/vmlDrawing1.vml"/><Relationship Id="rId4" Type="http://schemas.openxmlformats.org/officeDocument/2006/relationships/image" Target="../media/image30.emf"/></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43ABC-9A46-4327-BF74-FE0C643DC4CF}"/>
              </a:ext>
            </a:extLst>
          </p:cNvPr>
          <p:cNvSpPr>
            <a:spLocks noGrp="1"/>
          </p:cNvSpPr>
          <p:nvPr>
            <p:ph type="ctrTitle"/>
          </p:nvPr>
        </p:nvSpPr>
        <p:spPr>
          <a:xfrm>
            <a:off x="824043" y="2584921"/>
            <a:ext cx="8911389" cy="1714500"/>
          </a:xfrm>
        </p:spPr>
        <p:txBody>
          <a:bodyPr>
            <a:normAutofit fontScale="90000"/>
          </a:bodyPr>
          <a:lstStyle/>
          <a:p>
            <a:pPr algn="l"/>
            <a:r>
              <a:rPr lang="fi-FI" dirty="0" smtClean="0"/>
              <a:t>Business Development Projects - </a:t>
            </a:r>
            <a:r>
              <a:rPr lang="fi-FI" sz="4000" b="0" dirty="0" smtClean="0"/>
              <a:t>Quarterly Report</a:t>
            </a:r>
            <a:r>
              <a:rPr lang="fi-FI" sz="3100" dirty="0" smtClean="0"/>
              <a:t> </a:t>
            </a:r>
            <a:endParaRPr lang="en-US" sz="3100" dirty="0"/>
          </a:p>
        </p:txBody>
      </p:sp>
      <p:sp>
        <p:nvSpPr>
          <p:cNvPr id="4" name="Text Placeholder 3">
            <a:extLst>
              <a:ext uri="{FF2B5EF4-FFF2-40B4-BE49-F238E27FC236}">
                <a16:creationId xmlns:a16="http://schemas.microsoft.com/office/drawing/2014/main" id="{4D96F05C-E8E5-40A0-96E2-70DA59031E10}"/>
              </a:ext>
            </a:extLst>
          </p:cNvPr>
          <p:cNvSpPr>
            <a:spLocks noGrp="1"/>
          </p:cNvSpPr>
          <p:nvPr>
            <p:ph type="body" sz="quarter" idx="10"/>
          </p:nvPr>
        </p:nvSpPr>
        <p:spPr>
          <a:xfrm>
            <a:off x="824043" y="5490499"/>
            <a:ext cx="6730165" cy="314325"/>
          </a:xfrm>
        </p:spPr>
        <p:txBody>
          <a:bodyPr/>
          <a:lstStyle/>
          <a:p>
            <a:pPr algn="l"/>
            <a:r>
              <a:rPr lang="fi-FI" dirty="0" smtClean="0"/>
              <a:t>3 October 2022</a:t>
            </a:r>
            <a:endParaRPr lang="en-US" dirty="0"/>
          </a:p>
          <a:p>
            <a:pPr algn="l"/>
            <a:endParaRPr lang="en-US" dirty="0"/>
          </a:p>
        </p:txBody>
      </p:sp>
    </p:spTree>
    <p:extLst>
      <p:ext uri="{BB962C8B-B14F-4D97-AF65-F5344CB8AC3E}">
        <p14:creationId xmlns:p14="http://schemas.microsoft.com/office/powerpoint/2010/main" val="31986395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73FD3-E9F6-DE5C-20E0-0F2B8BBA614A}"/>
              </a:ext>
            </a:extLst>
          </p:cNvPr>
          <p:cNvSpPr>
            <a:spLocks noGrp="1"/>
          </p:cNvSpPr>
          <p:nvPr>
            <p:ph type="title"/>
          </p:nvPr>
        </p:nvSpPr>
        <p:spPr>
          <a:xfrm>
            <a:off x="249382" y="406291"/>
            <a:ext cx="9991725" cy="1114425"/>
          </a:xfrm>
        </p:spPr>
        <p:txBody>
          <a:bodyPr/>
          <a:lstStyle/>
          <a:p>
            <a:r>
              <a:rPr lang="en-US" dirty="0" smtClean="0"/>
              <a:t>  </a:t>
            </a:r>
            <a:r>
              <a:rPr lang="en-US" dirty="0"/>
              <a:t>Introduction  </a:t>
            </a:r>
          </a:p>
        </p:txBody>
      </p:sp>
      <p:pic>
        <p:nvPicPr>
          <p:cNvPr id="4" name="Picture Placeholder 8">
            <a:extLst>
              <a:ext uri="{FF2B5EF4-FFF2-40B4-BE49-F238E27FC236}">
                <a16:creationId xmlns:a16="http://schemas.microsoft.com/office/drawing/2014/main" id="{E176711E-071E-20EC-480F-EA2523B665FF}"/>
              </a:ext>
            </a:extLst>
          </p:cNvPr>
          <p:cNvPicPr>
            <a:picLocks noChangeAspect="1"/>
          </p:cNvPicPr>
          <p:nvPr/>
        </p:nvPicPr>
        <p:blipFill>
          <a:blip r:embed="rId2">
            <a:extLst>
              <a:ext uri="{28A0092B-C50C-407E-A947-70E740481C1C}">
                <a14:useLocalDpi xmlns:a14="http://schemas.microsoft.com/office/drawing/2010/main" val="0"/>
              </a:ext>
            </a:extLst>
          </a:blip>
          <a:srcRect l="16069" r="16069"/>
          <a:stretch/>
        </p:blipFill>
        <p:spPr>
          <a:xfrm>
            <a:off x="6602419" y="1307236"/>
            <a:ext cx="5152355" cy="5056619"/>
          </a:xfrm>
          <a:prstGeom prst="rect">
            <a:avLst/>
          </a:prstGeom>
        </p:spPr>
      </p:pic>
      <p:sp>
        <p:nvSpPr>
          <p:cNvPr id="5" name="Rectangle 4"/>
          <p:cNvSpPr/>
          <p:nvPr/>
        </p:nvSpPr>
        <p:spPr>
          <a:xfrm>
            <a:off x="526474" y="2214804"/>
            <a:ext cx="5126181" cy="2308324"/>
          </a:xfrm>
          <a:prstGeom prst="rect">
            <a:avLst/>
          </a:prstGeom>
          <a:ln>
            <a:solidFill>
              <a:schemeClr val="accent1"/>
            </a:solidFill>
          </a:ln>
        </p:spPr>
        <p:txBody>
          <a:bodyPr wrap="square">
            <a:spAutoFit/>
          </a:bodyPr>
          <a:lstStyle/>
          <a:p>
            <a:pPr algn="justLow"/>
            <a:r>
              <a:rPr lang="en-US" b="1" u="sng" dirty="0">
                <a:solidFill>
                  <a:schemeClr val="tx2">
                    <a:lumMod val="50000"/>
                  </a:schemeClr>
                </a:solidFill>
              </a:rPr>
              <a:t>Scope of </a:t>
            </a:r>
            <a:r>
              <a:rPr lang="en-US" b="1" u="sng" dirty="0" smtClean="0">
                <a:solidFill>
                  <a:schemeClr val="tx2">
                    <a:lumMod val="50000"/>
                  </a:schemeClr>
                </a:solidFill>
              </a:rPr>
              <a:t>BD </a:t>
            </a:r>
            <a:r>
              <a:rPr lang="en-US" dirty="0">
                <a:solidFill>
                  <a:schemeClr val="tx2">
                    <a:lumMod val="50000"/>
                  </a:schemeClr>
                </a:solidFill>
              </a:rPr>
              <a:t>:- </a:t>
            </a:r>
            <a:r>
              <a:rPr lang="en-US" dirty="0" smtClean="0">
                <a:solidFill>
                  <a:schemeClr val="tx2">
                    <a:lumMod val="50000"/>
                  </a:schemeClr>
                </a:solidFill>
              </a:rPr>
              <a:t>To </a:t>
            </a:r>
            <a:r>
              <a:rPr lang="en-US" dirty="0">
                <a:solidFill>
                  <a:schemeClr val="tx2">
                    <a:lumMod val="50000"/>
                  </a:schemeClr>
                </a:solidFill>
              </a:rPr>
              <a:t>improve an organization’s market position and achieve financial growth. defines long-term organizational strategic goals, builds key customer relationships, identifies business opportunities, negotiates and closes business deals and maintains extensive knowledge of current market conditions.</a:t>
            </a:r>
          </a:p>
          <a:p>
            <a:pPr algn="just"/>
            <a:endParaRPr lang="en-US" dirty="0">
              <a:solidFill>
                <a:schemeClr val="tx2">
                  <a:lumMod val="50000"/>
                </a:schemeClr>
              </a:solidFill>
            </a:endParaRPr>
          </a:p>
        </p:txBody>
      </p:sp>
    </p:spTree>
    <p:extLst>
      <p:ext uri="{BB962C8B-B14F-4D97-AF65-F5344CB8AC3E}">
        <p14:creationId xmlns:p14="http://schemas.microsoft.com/office/powerpoint/2010/main" val="38560717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9557" y="2899411"/>
            <a:ext cx="9991725" cy="1114425"/>
          </a:xfrm>
        </p:spPr>
        <p:txBody>
          <a:bodyPr/>
          <a:lstStyle/>
          <a:p>
            <a:r>
              <a:rPr lang="en-US" dirty="0" smtClean="0"/>
              <a:t>A- Business Development - Core University Operation</a:t>
            </a:r>
            <a:endParaRPr lang="en-US" dirty="0"/>
          </a:p>
        </p:txBody>
      </p:sp>
      <p:sp>
        <p:nvSpPr>
          <p:cNvPr id="4" name="Date Placeholder 3"/>
          <p:cNvSpPr>
            <a:spLocks noGrp="1"/>
          </p:cNvSpPr>
          <p:nvPr>
            <p:ph type="dt" sz="half" idx="10"/>
          </p:nvPr>
        </p:nvSpPr>
        <p:spPr/>
        <p:txBody>
          <a:bodyPr/>
          <a:lstStyle/>
          <a:p>
            <a:r>
              <a:rPr lang="en-US" smtClean="0"/>
              <a:t>DD Month 20XX</a:t>
            </a:r>
            <a:endParaRPr lang="en-US"/>
          </a:p>
        </p:txBody>
      </p:sp>
      <p:sp>
        <p:nvSpPr>
          <p:cNvPr id="5" name="Footer Placeholder 4"/>
          <p:cNvSpPr>
            <a:spLocks noGrp="1"/>
          </p:cNvSpPr>
          <p:nvPr>
            <p:ph type="ftr" sz="quarter" idx="11"/>
          </p:nvPr>
        </p:nvSpPr>
        <p:spPr/>
        <p:txBody>
          <a:bodyPr/>
          <a:lstStyle/>
          <a:p>
            <a:r>
              <a:rPr lang="en-US" smtClean="0"/>
              <a:t>Presentation Title Goes Here</a:t>
            </a:r>
            <a:endParaRPr lang="en-US"/>
          </a:p>
        </p:txBody>
      </p:sp>
      <p:sp>
        <p:nvSpPr>
          <p:cNvPr id="6" name="Slide Number Placeholder 5"/>
          <p:cNvSpPr>
            <a:spLocks noGrp="1"/>
          </p:cNvSpPr>
          <p:nvPr>
            <p:ph type="sldNum" sz="quarter" idx="12"/>
          </p:nvPr>
        </p:nvSpPr>
        <p:spPr/>
        <p:txBody>
          <a:bodyPr/>
          <a:lstStyle/>
          <a:p>
            <a:fld id="{1E68DD1B-5CD8-424B-8173-19E182143E0A}" type="slidenum">
              <a:rPr lang="en-US" smtClean="0"/>
              <a:t>3</a:t>
            </a:fld>
            <a:endParaRPr lang="en-US"/>
          </a:p>
        </p:txBody>
      </p:sp>
    </p:spTree>
    <p:extLst>
      <p:ext uri="{BB962C8B-B14F-4D97-AF65-F5344CB8AC3E}">
        <p14:creationId xmlns:p14="http://schemas.microsoft.com/office/powerpoint/2010/main" val="40816315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0087" y="73125"/>
            <a:ext cx="9991725" cy="1114425"/>
          </a:xfrm>
        </p:spPr>
        <p:txBody>
          <a:bodyPr/>
          <a:lstStyle/>
          <a:p>
            <a:r>
              <a:rPr lang="en-US" dirty="0" smtClean="0"/>
              <a:t>KU 2022 Revenue Actual vs Budget </a:t>
            </a:r>
            <a:endParaRPr lang="en-US" dirty="0"/>
          </a:p>
        </p:txBody>
      </p:sp>
      <p:sp>
        <p:nvSpPr>
          <p:cNvPr id="4" name="Date Placeholder 3"/>
          <p:cNvSpPr>
            <a:spLocks noGrp="1"/>
          </p:cNvSpPr>
          <p:nvPr>
            <p:ph type="dt" sz="half" idx="10"/>
          </p:nvPr>
        </p:nvSpPr>
        <p:spPr/>
        <p:txBody>
          <a:bodyPr/>
          <a:lstStyle/>
          <a:p>
            <a:r>
              <a:rPr lang="en-US" smtClean="0"/>
              <a:t>DD Month 20XX</a:t>
            </a:r>
            <a:endParaRPr lang="en-US"/>
          </a:p>
        </p:txBody>
      </p:sp>
      <p:sp>
        <p:nvSpPr>
          <p:cNvPr id="5" name="Footer Placeholder 4"/>
          <p:cNvSpPr>
            <a:spLocks noGrp="1"/>
          </p:cNvSpPr>
          <p:nvPr>
            <p:ph type="ftr" sz="quarter" idx="11"/>
          </p:nvPr>
        </p:nvSpPr>
        <p:spPr/>
        <p:txBody>
          <a:bodyPr/>
          <a:lstStyle/>
          <a:p>
            <a:r>
              <a:rPr lang="en-US" smtClean="0"/>
              <a:t>Presentation Title Goes Here</a:t>
            </a:r>
            <a:endParaRPr lang="en-US"/>
          </a:p>
        </p:txBody>
      </p:sp>
      <p:sp>
        <p:nvSpPr>
          <p:cNvPr id="6" name="Slide Number Placeholder 5"/>
          <p:cNvSpPr>
            <a:spLocks noGrp="1"/>
          </p:cNvSpPr>
          <p:nvPr>
            <p:ph type="sldNum" sz="quarter" idx="12"/>
          </p:nvPr>
        </p:nvSpPr>
        <p:spPr/>
        <p:txBody>
          <a:bodyPr/>
          <a:lstStyle/>
          <a:p>
            <a:fld id="{1E68DD1B-5CD8-424B-8173-19E182143E0A}" type="slidenum">
              <a:rPr lang="en-US" smtClean="0"/>
              <a:t>4</a:t>
            </a:fld>
            <a:endParaRPr lang="en-US"/>
          </a:p>
        </p:txBody>
      </p:sp>
      <p:sp>
        <p:nvSpPr>
          <p:cNvPr id="9" name="TextBox 8"/>
          <p:cNvSpPr txBox="1"/>
          <p:nvPr/>
        </p:nvSpPr>
        <p:spPr>
          <a:xfrm flipH="1">
            <a:off x="5440769" y="3040009"/>
            <a:ext cx="255180" cy="284693"/>
          </a:xfrm>
          <a:prstGeom prst="rect">
            <a:avLst/>
          </a:prstGeom>
          <a:noFill/>
        </p:spPr>
        <p:txBody>
          <a:bodyPr wrap="square" lIns="0" tIns="0" rIns="0" bIns="0" rtlCol="0">
            <a:spAutoFit/>
          </a:bodyPr>
          <a:lstStyle/>
          <a:p>
            <a:pPr algn="l"/>
            <a:r>
              <a:rPr lang="en-US" sz="1850" dirty="0" smtClean="0"/>
              <a:t>*</a:t>
            </a:r>
          </a:p>
        </p:txBody>
      </p:sp>
      <p:sp>
        <p:nvSpPr>
          <p:cNvPr id="12" name="TextBox 11"/>
          <p:cNvSpPr txBox="1"/>
          <p:nvPr/>
        </p:nvSpPr>
        <p:spPr>
          <a:xfrm>
            <a:off x="581247" y="4387702"/>
            <a:ext cx="6088911" cy="184666"/>
          </a:xfrm>
          <a:prstGeom prst="rect">
            <a:avLst/>
          </a:prstGeom>
          <a:noFill/>
        </p:spPr>
        <p:txBody>
          <a:bodyPr wrap="square" lIns="0" tIns="0" rIns="0" bIns="0" rtlCol="0">
            <a:spAutoFit/>
          </a:bodyPr>
          <a:lstStyle/>
          <a:p>
            <a:pPr algn="l"/>
            <a:r>
              <a:rPr lang="en-US" sz="1200" dirty="0" smtClean="0"/>
              <a:t>* Actuals up to the end of Sep 2022.</a:t>
            </a:r>
          </a:p>
        </p:txBody>
      </p:sp>
      <p:pic>
        <p:nvPicPr>
          <p:cNvPr id="13" name="Picture 12"/>
          <p:cNvPicPr>
            <a:picLocks noChangeAspect="1"/>
          </p:cNvPicPr>
          <p:nvPr/>
        </p:nvPicPr>
        <p:blipFill>
          <a:blip r:embed="rId2"/>
          <a:stretch>
            <a:fillRect/>
          </a:stretch>
        </p:blipFill>
        <p:spPr>
          <a:xfrm>
            <a:off x="-212437" y="2728799"/>
            <a:ext cx="6801412" cy="907114"/>
          </a:xfrm>
          <a:prstGeom prst="rect">
            <a:avLst/>
          </a:prstGeom>
        </p:spPr>
      </p:pic>
      <p:pic>
        <p:nvPicPr>
          <p:cNvPr id="14" name="Picture 13"/>
          <p:cNvPicPr>
            <a:picLocks noChangeAspect="1"/>
          </p:cNvPicPr>
          <p:nvPr/>
        </p:nvPicPr>
        <p:blipFill>
          <a:blip r:embed="rId3"/>
          <a:stretch>
            <a:fillRect/>
          </a:stretch>
        </p:blipFill>
        <p:spPr>
          <a:xfrm>
            <a:off x="6670158" y="1946886"/>
            <a:ext cx="4700423" cy="2755631"/>
          </a:xfrm>
          <a:prstGeom prst="rect">
            <a:avLst/>
          </a:prstGeom>
        </p:spPr>
      </p:pic>
    </p:spTree>
    <p:extLst>
      <p:ext uri="{BB962C8B-B14F-4D97-AF65-F5344CB8AC3E}">
        <p14:creationId xmlns:p14="http://schemas.microsoft.com/office/powerpoint/2010/main" val="35551534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DD Month 20XX</a:t>
            </a:r>
            <a:endParaRPr lang="en-US"/>
          </a:p>
        </p:txBody>
      </p:sp>
      <p:sp>
        <p:nvSpPr>
          <p:cNvPr id="5" name="Footer Placeholder 4"/>
          <p:cNvSpPr>
            <a:spLocks noGrp="1"/>
          </p:cNvSpPr>
          <p:nvPr>
            <p:ph type="ftr" sz="quarter" idx="11"/>
          </p:nvPr>
        </p:nvSpPr>
        <p:spPr/>
        <p:txBody>
          <a:bodyPr/>
          <a:lstStyle/>
          <a:p>
            <a:r>
              <a:rPr lang="en-US" smtClean="0"/>
              <a:t>Presentation Title Goes Here</a:t>
            </a:r>
            <a:endParaRPr lang="en-US"/>
          </a:p>
        </p:txBody>
      </p:sp>
      <p:sp>
        <p:nvSpPr>
          <p:cNvPr id="6" name="Slide Number Placeholder 5"/>
          <p:cNvSpPr>
            <a:spLocks noGrp="1"/>
          </p:cNvSpPr>
          <p:nvPr>
            <p:ph type="sldNum" sz="quarter" idx="12"/>
          </p:nvPr>
        </p:nvSpPr>
        <p:spPr/>
        <p:txBody>
          <a:bodyPr/>
          <a:lstStyle/>
          <a:p>
            <a:fld id="{1E68DD1B-5CD8-424B-8173-19E182143E0A}" type="slidenum">
              <a:rPr lang="en-US" smtClean="0"/>
              <a:t>5</a:t>
            </a:fld>
            <a:endParaRPr lang="en-US"/>
          </a:p>
        </p:txBody>
      </p:sp>
      <p:pic>
        <p:nvPicPr>
          <p:cNvPr id="11" name="Content Placeholder 10"/>
          <p:cNvPicPr>
            <a:picLocks noGrp="1" noChangeAspect="1"/>
          </p:cNvPicPr>
          <p:nvPr>
            <p:ph idx="1"/>
          </p:nvPr>
        </p:nvPicPr>
        <p:blipFill>
          <a:blip r:embed="rId2"/>
          <a:stretch>
            <a:fillRect/>
          </a:stretch>
        </p:blipFill>
        <p:spPr>
          <a:xfrm>
            <a:off x="3685498" y="1227532"/>
            <a:ext cx="8401726" cy="5097791"/>
          </a:xfrm>
          <a:prstGeom prst="rect">
            <a:avLst/>
          </a:prstGeom>
        </p:spPr>
      </p:pic>
      <p:sp>
        <p:nvSpPr>
          <p:cNvPr id="13" name="Title 1"/>
          <p:cNvSpPr>
            <a:spLocks noGrp="1"/>
          </p:cNvSpPr>
          <p:nvPr>
            <p:ph type="title"/>
          </p:nvPr>
        </p:nvSpPr>
        <p:spPr>
          <a:xfrm>
            <a:off x="700087" y="0"/>
            <a:ext cx="9991725" cy="1114425"/>
          </a:xfrm>
        </p:spPr>
        <p:txBody>
          <a:bodyPr/>
          <a:lstStyle/>
          <a:p>
            <a:r>
              <a:rPr lang="en-US" dirty="0" smtClean="0"/>
              <a:t>KU 2022 Revenue Budget</a:t>
            </a:r>
            <a:endParaRPr lang="en-US" dirty="0"/>
          </a:p>
        </p:txBody>
      </p:sp>
      <p:pic>
        <p:nvPicPr>
          <p:cNvPr id="15" name="Picture 14"/>
          <p:cNvPicPr>
            <a:picLocks noChangeAspect="1"/>
          </p:cNvPicPr>
          <p:nvPr/>
        </p:nvPicPr>
        <p:blipFill>
          <a:blip r:embed="rId3"/>
          <a:stretch>
            <a:fillRect/>
          </a:stretch>
        </p:blipFill>
        <p:spPr>
          <a:xfrm>
            <a:off x="194755" y="2103402"/>
            <a:ext cx="3226043" cy="3346052"/>
          </a:xfrm>
          <a:prstGeom prst="rect">
            <a:avLst/>
          </a:prstGeom>
        </p:spPr>
      </p:pic>
    </p:spTree>
    <p:extLst>
      <p:ext uri="{BB962C8B-B14F-4D97-AF65-F5344CB8AC3E}">
        <p14:creationId xmlns:p14="http://schemas.microsoft.com/office/powerpoint/2010/main" val="38848528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DD Month 20XX</a:t>
            </a:r>
            <a:endParaRPr lang="en-US"/>
          </a:p>
        </p:txBody>
      </p:sp>
      <p:sp>
        <p:nvSpPr>
          <p:cNvPr id="5" name="Footer Placeholder 4"/>
          <p:cNvSpPr>
            <a:spLocks noGrp="1"/>
          </p:cNvSpPr>
          <p:nvPr>
            <p:ph type="ftr" sz="quarter" idx="11"/>
          </p:nvPr>
        </p:nvSpPr>
        <p:spPr/>
        <p:txBody>
          <a:bodyPr/>
          <a:lstStyle/>
          <a:p>
            <a:r>
              <a:rPr lang="en-US" smtClean="0"/>
              <a:t>Presentation Title Goes Here</a:t>
            </a:r>
            <a:endParaRPr lang="en-US"/>
          </a:p>
        </p:txBody>
      </p:sp>
      <p:sp>
        <p:nvSpPr>
          <p:cNvPr id="6" name="Slide Number Placeholder 5"/>
          <p:cNvSpPr>
            <a:spLocks noGrp="1"/>
          </p:cNvSpPr>
          <p:nvPr>
            <p:ph type="sldNum" sz="quarter" idx="12"/>
          </p:nvPr>
        </p:nvSpPr>
        <p:spPr/>
        <p:txBody>
          <a:bodyPr/>
          <a:lstStyle/>
          <a:p>
            <a:fld id="{1E68DD1B-5CD8-424B-8173-19E182143E0A}" type="slidenum">
              <a:rPr lang="en-US" smtClean="0"/>
              <a:t>6</a:t>
            </a:fld>
            <a:endParaRPr lang="en-US"/>
          </a:p>
        </p:txBody>
      </p:sp>
      <p:sp>
        <p:nvSpPr>
          <p:cNvPr id="8" name="Title 1"/>
          <p:cNvSpPr>
            <a:spLocks noGrp="1"/>
          </p:cNvSpPr>
          <p:nvPr>
            <p:ph type="title"/>
          </p:nvPr>
        </p:nvSpPr>
        <p:spPr>
          <a:xfrm>
            <a:off x="700087" y="0"/>
            <a:ext cx="9991725" cy="1114425"/>
          </a:xfrm>
        </p:spPr>
        <p:txBody>
          <a:bodyPr/>
          <a:lstStyle/>
          <a:p>
            <a:r>
              <a:rPr lang="en-US" dirty="0" smtClean="0"/>
              <a:t>KU 2022 Revenue Actuals</a:t>
            </a:r>
            <a:endParaRPr lang="en-US" dirty="0"/>
          </a:p>
        </p:txBody>
      </p:sp>
      <p:pic>
        <p:nvPicPr>
          <p:cNvPr id="9" name="Picture 8"/>
          <p:cNvPicPr>
            <a:picLocks noChangeAspect="1"/>
          </p:cNvPicPr>
          <p:nvPr/>
        </p:nvPicPr>
        <p:blipFill>
          <a:blip r:embed="rId2"/>
          <a:stretch>
            <a:fillRect/>
          </a:stretch>
        </p:blipFill>
        <p:spPr>
          <a:xfrm>
            <a:off x="286328" y="2042253"/>
            <a:ext cx="3420064" cy="3594248"/>
          </a:xfrm>
          <a:prstGeom prst="rect">
            <a:avLst/>
          </a:prstGeom>
        </p:spPr>
      </p:pic>
      <p:pic>
        <p:nvPicPr>
          <p:cNvPr id="11" name="Content Placeholder 10"/>
          <p:cNvPicPr>
            <a:picLocks noGrp="1" noChangeAspect="1"/>
          </p:cNvPicPr>
          <p:nvPr>
            <p:ph idx="1"/>
          </p:nvPr>
        </p:nvPicPr>
        <p:blipFill>
          <a:blip r:embed="rId3"/>
          <a:stretch>
            <a:fillRect/>
          </a:stretch>
        </p:blipFill>
        <p:spPr>
          <a:xfrm>
            <a:off x="3999648" y="1228436"/>
            <a:ext cx="7849344" cy="5033819"/>
          </a:xfrm>
          <a:prstGeom prst="rect">
            <a:avLst/>
          </a:prstGeom>
        </p:spPr>
      </p:pic>
    </p:spTree>
    <p:extLst>
      <p:ext uri="{BB962C8B-B14F-4D97-AF65-F5344CB8AC3E}">
        <p14:creationId xmlns:p14="http://schemas.microsoft.com/office/powerpoint/2010/main" val="6321475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438" y="203200"/>
            <a:ext cx="9991725" cy="1114425"/>
          </a:xfrm>
        </p:spPr>
        <p:txBody>
          <a:bodyPr/>
          <a:lstStyle/>
          <a:p>
            <a:r>
              <a:rPr lang="en-US" dirty="0" smtClean="0"/>
              <a:t>Revenue Channels </a:t>
            </a:r>
            <a:endParaRPr lang="en-US" dirty="0"/>
          </a:p>
        </p:txBody>
      </p:sp>
      <p:sp>
        <p:nvSpPr>
          <p:cNvPr id="4" name="Date Placeholder 3"/>
          <p:cNvSpPr>
            <a:spLocks noGrp="1"/>
          </p:cNvSpPr>
          <p:nvPr>
            <p:ph type="dt" sz="half" idx="10"/>
          </p:nvPr>
        </p:nvSpPr>
        <p:spPr/>
        <p:txBody>
          <a:bodyPr/>
          <a:lstStyle/>
          <a:p>
            <a:r>
              <a:rPr lang="en-US" smtClean="0"/>
              <a:t>DD Month 20XX</a:t>
            </a:r>
            <a:endParaRPr lang="en-US"/>
          </a:p>
        </p:txBody>
      </p:sp>
      <p:sp>
        <p:nvSpPr>
          <p:cNvPr id="5" name="Footer Placeholder 4"/>
          <p:cNvSpPr>
            <a:spLocks noGrp="1"/>
          </p:cNvSpPr>
          <p:nvPr>
            <p:ph type="ftr" sz="quarter" idx="11"/>
          </p:nvPr>
        </p:nvSpPr>
        <p:spPr/>
        <p:txBody>
          <a:bodyPr/>
          <a:lstStyle/>
          <a:p>
            <a:r>
              <a:rPr lang="en-US" smtClean="0"/>
              <a:t>Presentation Title Goes Here</a:t>
            </a:r>
            <a:endParaRPr lang="en-US"/>
          </a:p>
        </p:txBody>
      </p:sp>
      <p:sp>
        <p:nvSpPr>
          <p:cNvPr id="6" name="Slide Number Placeholder 5"/>
          <p:cNvSpPr>
            <a:spLocks noGrp="1"/>
          </p:cNvSpPr>
          <p:nvPr>
            <p:ph type="sldNum" sz="quarter" idx="12"/>
          </p:nvPr>
        </p:nvSpPr>
        <p:spPr/>
        <p:txBody>
          <a:bodyPr/>
          <a:lstStyle/>
          <a:p>
            <a:fld id="{1E68DD1B-5CD8-424B-8173-19E182143E0A}" type="slidenum">
              <a:rPr lang="en-US" smtClean="0"/>
              <a:t>7</a:t>
            </a:fld>
            <a:endParaRPr lang="en-US"/>
          </a:p>
        </p:txBody>
      </p:sp>
      <p:pic>
        <p:nvPicPr>
          <p:cNvPr id="14" name="Picture 13"/>
          <p:cNvPicPr>
            <a:picLocks noChangeAspect="1"/>
          </p:cNvPicPr>
          <p:nvPr/>
        </p:nvPicPr>
        <p:blipFill>
          <a:blip r:embed="rId2"/>
          <a:stretch>
            <a:fillRect/>
          </a:stretch>
        </p:blipFill>
        <p:spPr>
          <a:xfrm>
            <a:off x="7667667" y="1280972"/>
            <a:ext cx="3895682" cy="2389839"/>
          </a:xfrm>
          <a:prstGeom prst="rect">
            <a:avLst/>
          </a:prstGeom>
        </p:spPr>
      </p:pic>
      <p:sp>
        <p:nvSpPr>
          <p:cNvPr id="7" name="Rounded Rectangle 6"/>
          <p:cNvSpPr/>
          <p:nvPr/>
        </p:nvSpPr>
        <p:spPr>
          <a:xfrm>
            <a:off x="374904" y="3012443"/>
            <a:ext cx="6839712" cy="1316736"/>
          </a:xfrm>
          <a:prstGeom prst="round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u="sng" dirty="0" smtClean="0">
                <a:solidFill>
                  <a:schemeClr val="tx1"/>
                </a:solidFill>
              </a:rPr>
              <a:t>Achievements:-</a:t>
            </a:r>
          </a:p>
          <a:p>
            <a:r>
              <a:rPr lang="en-US" dirty="0" smtClean="0">
                <a:solidFill>
                  <a:schemeClr val="tx1"/>
                </a:solidFill>
              </a:rPr>
              <a:t>1- Maintain the revenue level high in the last 5 years.</a:t>
            </a:r>
          </a:p>
          <a:p>
            <a:r>
              <a:rPr lang="en-US" dirty="0" smtClean="0">
                <a:solidFill>
                  <a:schemeClr val="tx1"/>
                </a:solidFill>
              </a:rPr>
              <a:t>2- Develop new policies to attract new sponsors.</a:t>
            </a:r>
            <a:endParaRPr lang="en-US" dirty="0">
              <a:solidFill>
                <a:schemeClr val="tx1"/>
              </a:solidFill>
            </a:endParaRPr>
          </a:p>
        </p:txBody>
      </p:sp>
      <p:sp>
        <p:nvSpPr>
          <p:cNvPr id="17" name="Rounded Rectangle 16"/>
          <p:cNvSpPr/>
          <p:nvPr/>
        </p:nvSpPr>
        <p:spPr>
          <a:xfrm>
            <a:off x="298705" y="4499867"/>
            <a:ext cx="6839712" cy="1316736"/>
          </a:xfrm>
          <a:prstGeom prst="round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u="sng" dirty="0" smtClean="0">
                <a:solidFill>
                  <a:schemeClr val="tx1"/>
                </a:solidFill>
              </a:rPr>
              <a:t>Challenges:-</a:t>
            </a:r>
          </a:p>
          <a:p>
            <a:r>
              <a:rPr lang="en-US" dirty="0" smtClean="0">
                <a:solidFill>
                  <a:schemeClr val="tx1"/>
                </a:solidFill>
              </a:rPr>
              <a:t>1- Loosing many major sponsors such as ICT and GHQ.</a:t>
            </a:r>
          </a:p>
          <a:p>
            <a:r>
              <a:rPr lang="en-US" dirty="0" smtClean="0">
                <a:solidFill>
                  <a:schemeClr val="tx1"/>
                </a:solidFill>
              </a:rPr>
              <a:t>2- Revenue correlated to the governments budget trends.</a:t>
            </a:r>
          </a:p>
          <a:p>
            <a:r>
              <a:rPr lang="en-US" dirty="0" smtClean="0">
                <a:solidFill>
                  <a:schemeClr val="tx1"/>
                </a:solidFill>
              </a:rPr>
              <a:t>3- Need to attract the private sectors.</a:t>
            </a:r>
            <a:endParaRPr lang="en-US" dirty="0">
              <a:solidFill>
                <a:schemeClr val="tx1"/>
              </a:solidFill>
            </a:endParaRPr>
          </a:p>
        </p:txBody>
      </p:sp>
      <p:pic>
        <p:nvPicPr>
          <p:cNvPr id="18" name="Picture 17"/>
          <p:cNvPicPr>
            <a:picLocks noChangeAspect="1"/>
          </p:cNvPicPr>
          <p:nvPr/>
        </p:nvPicPr>
        <p:blipFill>
          <a:blip r:embed="rId3"/>
          <a:stretch>
            <a:fillRect/>
          </a:stretch>
        </p:blipFill>
        <p:spPr>
          <a:xfrm>
            <a:off x="298705" y="1717964"/>
            <a:ext cx="7003808" cy="699464"/>
          </a:xfrm>
          <a:prstGeom prst="rect">
            <a:avLst/>
          </a:prstGeom>
        </p:spPr>
      </p:pic>
      <p:sp>
        <p:nvSpPr>
          <p:cNvPr id="21" name="Rounded Rectangle 20"/>
          <p:cNvSpPr/>
          <p:nvPr/>
        </p:nvSpPr>
        <p:spPr>
          <a:xfrm>
            <a:off x="279090" y="1488563"/>
            <a:ext cx="7023423" cy="115826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2290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507" y="203200"/>
            <a:ext cx="9991725" cy="1114425"/>
          </a:xfrm>
        </p:spPr>
        <p:txBody>
          <a:bodyPr/>
          <a:lstStyle/>
          <a:p>
            <a:r>
              <a:rPr lang="en-US" dirty="0"/>
              <a:t>Revenue Channels </a:t>
            </a:r>
          </a:p>
        </p:txBody>
      </p:sp>
      <p:sp>
        <p:nvSpPr>
          <p:cNvPr id="4" name="Date Placeholder 3"/>
          <p:cNvSpPr>
            <a:spLocks noGrp="1"/>
          </p:cNvSpPr>
          <p:nvPr>
            <p:ph type="dt" sz="half" idx="10"/>
          </p:nvPr>
        </p:nvSpPr>
        <p:spPr/>
        <p:txBody>
          <a:bodyPr/>
          <a:lstStyle/>
          <a:p>
            <a:r>
              <a:rPr lang="en-US" smtClean="0"/>
              <a:t>DD Month 20XX</a:t>
            </a:r>
            <a:endParaRPr lang="en-US"/>
          </a:p>
        </p:txBody>
      </p:sp>
      <p:sp>
        <p:nvSpPr>
          <p:cNvPr id="5" name="Footer Placeholder 4"/>
          <p:cNvSpPr>
            <a:spLocks noGrp="1"/>
          </p:cNvSpPr>
          <p:nvPr>
            <p:ph type="ftr" sz="quarter" idx="11"/>
          </p:nvPr>
        </p:nvSpPr>
        <p:spPr/>
        <p:txBody>
          <a:bodyPr/>
          <a:lstStyle/>
          <a:p>
            <a:r>
              <a:rPr lang="en-US" smtClean="0"/>
              <a:t>Presentation Title Goes Here</a:t>
            </a:r>
            <a:endParaRPr lang="en-US"/>
          </a:p>
        </p:txBody>
      </p:sp>
      <p:sp>
        <p:nvSpPr>
          <p:cNvPr id="6" name="Slide Number Placeholder 5"/>
          <p:cNvSpPr>
            <a:spLocks noGrp="1"/>
          </p:cNvSpPr>
          <p:nvPr>
            <p:ph type="sldNum" sz="quarter" idx="12"/>
          </p:nvPr>
        </p:nvSpPr>
        <p:spPr/>
        <p:txBody>
          <a:bodyPr/>
          <a:lstStyle/>
          <a:p>
            <a:fld id="{1E68DD1B-5CD8-424B-8173-19E182143E0A}" type="slidenum">
              <a:rPr lang="en-US" smtClean="0"/>
              <a:t>8</a:t>
            </a:fld>
            <a:endParaRPr lang="en-US"/>
          </a:p>
        </p:txBody>
      </p:sp>
      <p:pic>
        <p:nvPicPr>
          <p:cNvPr id="9" name="Content Placeholder 6"/>
          <p:cNvPicPr>
            <a:picLocks noChangeAspect="1"/>
          </p:cNvPicPr>
          <p:nvPr/>
        </p:nvPicPr>
        <p:blipFill>
          <a:blip r:embed="rId2"/>
          <a:stretch>
            <a:fillRect/>
          </a:stretch>
        </p:blipFill>
        <p:spPr>
          <a:xfrm>
            <a:off x="-229694" y="1759334"/>
            <a:ext cx="7444310" cy="484810"/>
          </a:xfrm>
          <a:prstGeom prst="rect">
            <a:avLst/>
          </a:prstGeom>
        </p:spPr>
      </p:pic>
      <p:pic>
        <p:nvPicPr>
          <p:cNvPr id="10" name="Picture 9"/>
          <p:cNvPicPr>
            <a:picLocks noChangeAspect="1"/>
          </p:cNvPicPr>
          <p:nvPr/>
        </p:nvPicPr>
        <p:blipFill>
          <a:blip r:embed="rId3"/>
          <a:stretch>
            <a:fillRect/>
          </a:stretch>
        </p:blipFill>
        <p:spPr>
          <a:xfrm>
            <a:off x="7581603" y="1250888"/>
            <a:ext cx="3895682" cy="2200847"/>
          </a:xfrm>
          <a:prstGeom prst="rect">
            <a:avLst/>
          </a:prstGeom>
        </p:spPr>
      </p:pic>
      <p:sp>
        <p:nvSpPr>
          <p:cNvPr id="11" name="Rounded Rectangle 10"/>
          <p:cNvSpPr/>
          <p:nvPr/>
        </p:nvSpPr>
        <p:spPr>
          <a:xfrm>
            <a:off x="374904" y="3012443"/>
            <a:ext cx="6839712" cy="1316736"/>
          </a:xfrm>
          <a:prstGeom prst="round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u="sng" dirty="0" smtClean="0">
                <a:solidFill>
                  <a:schemeClr val="tx1"/>
                </a:solidFill>
              </a:rPr>
              <a:t>Achievements:-</a:t>
            </a:r>
          </a:p>
          <a:p>
            <a:r>
              <a:rPr lang="en-US" dirty="0" smtClean="0">
                <a:solidFill>
                  <a:schemeClr val="tx1"/>
                </a:solidFill>
              </a:rPr>
              <a:t>1- Established a new scholarship program for expat.</a:t>
            </a:r>
          </a:p>
          <a:p>
            <a:r>
              <a:rPr lang="en-US" dirty="0" smtClean="0">
                <a:solidFill>
                  <a:schemeClr val="tx1"/>
                </a:solidFill>
              </a:rPr>
              <a:t>2- Materially revenues increase from Tuition in the last 4 years.</a:t>
            </a:r>
            <a:endParaRPr lang="en-US" dirty="0">
              <a:solidFill>
                <a:schemeClr val="tx1"/>
              </a:solidFill>
            </a:endParaRPr>
          </a:p>
        </p:txBody>
      </p:sp>
      <p:sp>
        <p:nvSpPr>
          <p:cNvPr id="12" name="Rounded Rectangle 11"/>
          <p:cNvSpPr/>
          <p:nvPr/>
        </p:nvSpPr>
        <p:spPr>
          <a:xfrm>
            <a:off x="298704" y="4499867"/>
            <a:ext cx="6839712" cy="1316736"/>
          </a:xfrm>
          <a:prstGeom prst="round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u="sng" dirty="0" smtClean="0">
                <a:solidFill>
                  <a:schemeClr val="tx1"/>
                </a:solidFill>
              </a:rPr>
              <a:t>Challenges:-</a:t>
            </a:r>
          </a:p>
          <a:p>
            <a:r>
              <a:rPr lang="en-US" dirty="0" smtClean="0">
                <a:solidFill>
                  <a:schemeClr val="tx1"/>
                </a:solidFill>
              </a:rPr>
              <a:t>1- Need to keep adding new scholarship programs to attract the   GCC students.</a:t>
            </a:r>
          </a:p>
          <a:p>
            <a:r>
              <a:rPr lang="en-US" dirty="0" smtClean="0">
                <a:solidFill>
                  <a:schemeClr val="tx1"/>
                </a:solidFill>
              </a:rPr>
              <a:t>2- Need excessive marketing campaigns.</a:t>
            </a:r>
          </a:p>
          <a:p>
            <a:r>
              <a:rPr lang="en-US" dirty="0" smtClean="0">
                <a:solidFill>
                  <a:schemeClr val="tx1"/>
                </a:solidFill>
              </a:rPr>
              <a:t>3- Students reporting systems in KU.</a:t>
            </a:r>
            <a:endParaRPr lang="en-US" dirty="0">
              <a:solidFill>
                <a:schemeClr val="tx1"/>
              </a:solidFill>
            </a:endParaRPr>
          </a:p>
        </p:txBody>
      </p:sp>
      <p:sp>
        <p:nvSpPr>
          <p:cNvPr id="13" name="Rounded Rectangle 12"/>
          <p:cNvSpPr/>
          <p:nvPr/>
        </p:nvSpPr>
        <p:spPr>
          <a:xfrm>
            <a:off x="279090" y="1488563"/>
            <a:ext cx="7023423" cy="115826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03442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507" y="203200"/>
            <a:ext cx="9991725" cy="1114425"/>
          </a:xfrm>
        </p:spPr>
        <p:txBody>
          <a:bodyPr/>
          <a:lstStyle/>
          <a:p>
            <a:r>
              <a:rPr lang="en-US" dirty="0"/>
              <a:t>Revenue Channels </a:t>
            </a:r>
          </a:p>
        </p:txBody>
      </p:sp>
      <p:sp>
        <p:nvSpPr>
          <p:cNvPr id="4" name="Date Placeholder 3"/>
          <p:cNvSpPr>
            <a:spLocks noGrp="1"/>
          </p:cNvSpPr>
          <p:nvPr>
            <p:ph type="dt" sz="half" idx="10"/>
          </p:nvPr>
        </p:nvSpPr>
        <p:spPr/>
        <p:txBody>
          <a:bodyPr/>
          <a:lstStyle/>
          <a:p>
            <a:r>
              <a:rPr lang="en-US" smtClean="0"/>
              <a:t>DD Month 20XX</a:t>
            </a:r>
            <a:endParaRPr lang="en-US"/>
          </a:p>
        </p:txBody>
      </p:sp>
      <p:sp>
        <p:nvSpPr>
          <p:cNvPr id="5" name="Footer Placeholder 4"/>
          <p:cNvSpPr>
            <a:spLocks noGrp="1"/>
          </p:cNvSpPr>
          <p:nvPr>
            <p:ph type="ftr" sz="quarter" idx="11"/>
          </p:nvPr>
        </p:nvSpPr>
        <p:spPr/>
        <p:txBody>
          <a:bodyPr/>
          <a:lstStyle/>
          <a:p>
            <a:r>
              <a:rPr lang="en-US" smtClean="0"/>
              <a:t>Presentation Title Goes Here</a:t>
            </a:r>
            <a:endParaRPr lang="en-US"/>
          </a:p>
        </p:txBody>
      </p:sp>
      <p:sp>
        <p:nvSpPr>
          <p:cNvPr id="6" name="Slide Number Placeholder 5"/>
          <p:cNvSpPr>
            <a:spLocks noGrp="1"/>
          </p:cNvSpPr>
          <p:nvPr>
            <p:ph type="sldNum" sz="quarter" idx="12"/>
          </p:nvPr>
        </p:nvSpPr>
        <p:spPr/>
        <p:txBody>
          <a:bodyPr/>
          <a:lstStyle/>
          <a:p>
            <a:fld id="{1E68DD1B-5CD8-424B-8173-19E182143E0A}" type="slidenum">
              <a:rPr lang="en-US" smtClean="0"/>
              <a:t>9</a:t>
            </a:fld>
            <a:endParaRPr lang="en-US"/>
          </a:p>
        </p:txBody>
      </p:sp>
      <p:pic>
        <p:nvPicPr>
          <p:cNvPr id="7" name="Picture 6"/>
          <p:cNvPicPr>
            <a:picLocks noChangeAspect="1"/>
          </p:cNvPicPr>
          <p:nvPr/>
        </p:nvPicPr>
        <p:blipFill>
          <a:blip r:embed="rId2"/>
          <a:stretch>
            <a:fillRect/>
          </a:stretch>
        </p:blipFill>
        <p:spPr>
          <a:xfrm>
            <a:off x="7872434" y="1179597"/>
            <a:ext cx="3895682" cy="2572735"/>
          </a:xfrm>
          <a:prstGeom prst="rect">
            <a:avLst/>
          </a:prstGeom>
        </p:spPr>
      </p:pic>
      <p:sp>
        <p:nvSpPr>
          <p:cNvPr id="9" name="Rounded Rectangle 8"/>
          <p:cNvSpPr/>
          <p:nvPr/>
        </p:nvSpPr>
        <p:spPr>
          <a:xfrm>
            <a:off x="374904" y="3012443"/>
            <a:ext cx="6839712" cy="1316736"/>
          </a:xfrm>
          <a:prstGeom prst="round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u="sng" dirty="0" smtClean="0">
                <a:solidFill>
                  <a:schemeClr val="tx1"/>
                </a:solidFill>
              </a:rPr>
              <a:t>Achievements:-</a:t>
            </a:r>
          </a:p>
          <a:p>
            <a:r>
              <a:rPr lang="en-US" dirty="0" smtClean="0">
                <a:solidFill>
                  <a:schemeClr val="tx1"/>
                </a:solidFill>
              </a:rPr>
              <a:t>1- Increase the rental areas in KU with the supports of Facilities department..</a:t>
            </a:r>
          </a:p>
          <a:p>
            <a:r>
              <a:rPr lang="en-US" dirty="0" smtClean="0">
                <a:solidFill>
                  <a:schemeClr val="tx1"/>
                </a:solidFill>
              </a:rPr>
              <a:t>2- Start a new program of donation for Ku facilities.</a:t>
            </a:r>
            <a:endParaRPr lang="en-US" dirty="0">
              <a:solidFill>
                <a:schemeClr val="tx1"/>
              </a:solidFill>
            </a:endParaRPr>
          </a:p>
        </p:txBody>
      </p:sp>
      <p:sp>
        <p:nvSpPr>
          <p:cNvPr id="10" name="Rounded Rectangle 9"/>
          <p:cNvSpPr/>
          <p:nvPr/>
        </p:nvSpPr>
        <p:spPr>
          <a:xfrm>
            <a:off x="298704" y="4499867"/>
            <a:ext cx="6839712" cy="1316736"/>
          </a:xfrm>
          <a:prstGeom prst="round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u="sng" dirty="0" smtClean="0">
                <a:solidFill>
                  <a:schemeClr val="tx1"/>
                </a:solidFill>
              </a:rPr>
              <a:t>Challenges:-</a:t>
            </a:r>
          </a:p>
          <a:p>
            <a:r>
              <a:rPr lang="en-US" dirty="0" smtClean="0">
                <a:solidFill>
                  <a:schemeClr val="tx1"/>
                </a:solidFill>
              </a:rPr>
              <a:t>1- Automation of the outlets systems in KU.</a:t>
            </a:r>
          </a:p>
          <a:p>
            <a:r>
              <a:rPr lang="en-US" dirty="0" smtClean="0">
                <a:solidFill>
                  <a:schemeClr val="tx1"/>
                </a:solidFill>
              </a:rPr>
              <a:t>2- Need more coordination with KU department to support the rental activities.</a:t>
            </a:r>
          </a:p>
        </p:txBody>
      </p:sp>
      <p:pic>
        <p:nvPicPr>
          <p:cNvPr id="11" name="Picture 10"/>
          <p:cNvPicPr>
            <a:picLocks noChangeAspect="1"/>
          </p:cNvPicPr>
          <p:nvPr/>
        </p:nvPicPr>
        <p:blipFill>
          <a:blip r:embed="rId3"/>
          <a:stretch>
            <a:fillRect/>
          </a:stretch>
        </p:blipFill>
        <p:spPr>
          <a:xfrm>
            <a:off x="189154" y="1488313"/>
            <a:ext cx="7308320" cy="1157252"/>
          </a:xfrm>
          <a:prstGeom prst="rect">
            <a:avLst/>
          </a:prstGeom>
        </p:spPr>
      </p:pic>
      <p:sp>
        <p:nvSpPr>
          <p:cNvPr id="12" name="Rounded Rectangle 11"/>
          <p:cNvSpPr/>
          <p:nvPr/>
        </p:nvSpPr>
        <p:spPr>
          <a:xfrm>
            <a:off x="279090" y="1488563"/>
            <a:ext cx="7368619" cy="115826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77590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507" y="203200"/>
            <a:ext cx="9991725" cy="1114425"/>
          </a:xfrm>
        </p:spPr>
        <p:txBody>
          <a:bodyPr/>
          <a:lstStyle/>
          <a:p>
            <a:r>
              <a:rPr lang="en-US" dirty="0"/>
              <a:t>Revenue Channels </a:t>
            </a:r>
          </a:p>
        </p:txBody>
      </p:sp>
      <p:sp>
        <p:nvSpPr>
          <p:cNvPr id="4" name="Date Placeholder 3"/>
          <p:cNvSpPr>
            <a:spLocks noGrp="1"/>
          </p:cNvSpPr>
          <p:nvPr>
            <p:ph type="dt" sz="half" idx="10"/>
          </p:nvPr>
        </p:nvSpPr>
        <p:spPr/>
        <p:txBody>
          <a:bodyPr/>
          <a:lstStyle/>
          <a:p>
            <a:r>
              <a:rPr lang="en-US" smtClean="0"/>
              <a:t>DD Month 20XX</a:t>
            </a:r>
            <a:endParaRPr lang="en-US"/>
          </a:p>
        </p:txBody>
      </p:sp>
      <p:sp>
        <p:nvSpPr>
          <p:cNvPr id="5" name="Footer Placeholder 4"/>
          <p:cNvSpPr>
            <a:spLocks noGrp="1"/>
          </p:cNvSpPr>
          <p:nvPr>
            <p:ph type="ftr" sz="quarter" idx="11"/>
          </p:nvPr>
        </p:nvSpPr>
        <p:spPr/>
        <p:txBody>
          <a:bodyPr/>
          <a:lstStyle/>
          <a:p>
            <a:r>
              <a:rPr lang="en-US" smtClean="0"/>
              <a:t>Presentation Title Goes Here</a:t>
            </a:r>
            <a:endParaRPr lang="en-US"/>
          </a:p>
        </p:txBody>
      </p:sp>
      <p:sp>
        <p:nvSpPr>
          <p:cNvPr id="6" name="Slide Number Placeholder 5"/>
          <p:cNvSpPr>
            <a:spLocks noGrp="1"/>
          </p:cNvSpPr>
          <p:nvPr>
            <p:ph type="sldNum" sz="quarter" idx="12"/>
          </p:nvPr>
        </p:nvSpPr>
        <p:spPr/>
        <p:txBody>
          <a:bodyPr/>
          <a:lstStyle/>
          <a:p>
            <a:fld id="{1E68DD1B-5CD8-424B-8173-19E182143E0A}" type="slidenum">
              <a:rPr lang="en-US" smtClean="0"/>
              <a:t>10</a:t>
            </a:fld>
            <a:endParaRPr lang="en-US"/>
          </a:p>
        </p:txBody>
      </p:sp>
      <p:pic>
        <p:nvPicPr>
          <p:cNvPr id="7" name="Picture 6"/>
          <p:cNvPicPr>
            <a:picLocks noChangeAspect="1"/>
          </p:cNvPicPr>
          <p:nvPr/>
        </p:nvPicPr>
        <p:blipFill>
          <a:blip r:embed="rId2"/>
          <a:stretch>
            <a:fillRect/>
          </a:stretch>
        </p:blipFill>
        <p:spPr>
          <a:xfrm>
            <a:off x="133370" y="1852992"/>
            <a:ext cx="7428911" cy="483807"/>
          </a:xfrm>
          <a:prstGeom prst="rect">
            <a:avLst/>
          </a:prstGeom>
        </p:spPr>
      </p:pic>
      <p:pic>
        <p:nvPicPr>
          <p:cNvPr id="8" name="Picture 7"/>
          <p:cNvPicPr>
            <a:picLocks noChangeAspect="1"/>
          </p:cNvPicPr>
          <p:nvPr/>
        </p:nvPicPr>
        <p:blipFill>
          <a:blip r:embed="rId3"/>
          <a:stretch>
            <a:fillRect/>
          </a:stretch>
        </p:blipFill>
        <p:spPr>
          <a:xfrm>
            <a:off x="7667667" y="1147245"/>
            <a:ext cx="3895682" cy="2206943"/>
          </a:xfrm>
          <a:prstGeom prst="rect">
            <a:avLst/>
          </a:prstGeom>
        </p:spPr>
      </p:pic>
      <p:sp>
        <p:nvSpPr>
          <p:cNvPr id="9" name="Rounded Rectangle 8"/>
          <p:cNvSpPr/>
          <p:nvPr/>
        </p:nvSpPr>
        <p:spPr>
          <a:xfrm>
            <a:off x="374904" y="3012443"/>
            <a:ext cx="6839712" cy="1316736"/>
          </a:xfrm>
          <a:prstGeom prst="round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Achievements:-</a:t>
            </a:r>
          </a:p>
          <a:p>
            <a:r>
              <a:rPr lang="en-US" dirty="0" smtClean="0">
                <a:solidFill>
                  <a:schemeClr val="tx1"/>
                </a:solidFill>
              </a:rPr>
              <a:t>1- Establishing a continuing education center in KU.</a:t>
            </a:r>
          </a:p>
          <a:p>
            <a:r>
              <a:rPr lang="en-US" dirty="0" smtClean="0">
                <a:solidFill>
                  <a:schemeClr val="tx1"/>
                </a:solidFill>
              </a:rPr>
              <a:t>2- Materially increased the revenues from this channel.</a:t>
            </a:r>
            <a:endParaRPr lang="en-US" dirty="0">
              <a:solidFill>
                <a:schemeClr val="tx1"/>
              </a:solidFill>
            </a:endParaRPr>
          </a:p>
        </p:txBody>
      </p:sp>
      <p:sp>
        <p:nvSpPr>
          <p:cNvPr id="10" name="Rounded Rectangle 9"/>
          <p:cNvSpPr/>
          <p:nvPr/>
        </p:nvSpPr>
        <p:spPr>
          <a:xfrm>
            <a:off x="298704" y="4499867"/>
            <a:ext cx="6839712" cy="1316736"/>
          </a:xfrm>
          <a:prstGeom prst="round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Challenges:-</a:t>
            </a:r>
          </a:p>
          <a:p>
            <a:r>
              <a:rPr lang="en-US" dirty="0" smtClean="0">
                <a:solidFill>
                  <a:schemeClr val="tx1"/>
                </a:solidFill>
              </a:rPr>
              <a:t>1- still in low operating level, looking to get a new clients and operate in full capacity.</a:t>
            </a:r>
          </a:p>
          <a:p>
            <a:r>
              <a:rPr lang="en-US" dirty="0" smtClean="0">
                <a:solidFill>
                  <a:schemeClr val="tx1"/>
                </a:solidFill>
              </a:rPr>
              <a:t>2- Balancing between business and faculties efforts.</a:t>
            </a:r>
          </a:p>
        </p:txBody>
      </p:sp>
      <p:sp>
        <p:nvSpPr>
          <p:cNvPr id="11" name="Rounded Rectangle 10"/>
          <p:cNvSpPr/>
          <p:nvPr/>
        </p:nvSpPr>
        <p:spPr>
          <a:xfrm>
            <a:off x="279090" y="1488563"/>
            <a:ext cx="7193128" cy="115826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88588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004" y="176212"/>
            <a:ext cx="9991725" cy="1114425"/>
          </a:xfrm>
        </p:spPr>
        <p:txBody>
          <a:bodyPr/>
          <a:lstStyle/>
          <a:p>
            <a:r>
              <a:rPr lang="en-US" dirty="0"/>
              <a:t>Revenue Channels </a:t>
            </a:r>
          </a:p>
        </p:txBody>
      </p:sp>
      <p:pic>
        <p:nvPicPr>
          <p:cNvPr id="7" name="Content Placeholder 6"/>
          <p:cNvPicPr>
            <a:picLocks noGrp="1" noChangeAspect="1"/>
          </p:cNvPicPr>
          <p:nvPr>
            <p:ph idx="1"/>
          </p:nvPr>
        </p:nvPicPr>
        <p:blipFill>
          <a:blip r:embed="rId2"/>
          <a:stretch>
            <a:fillRect/>
          </a:stretch>
        </p:blipFill>
        <p:spPr>
          <a:xfrm>
            <a:off x="355813" y="4393535"/>
            <a:ext cx="6723677" cy="649520"/>
          </a:xfrm>
          <a:prstGeom prst="rect">
            <a:avLst/>
          </a:prstGeom>
        </p:spPr>
      </p:pic>
      <p:sp>
        <p:nvSpPr>
          <p:cNvPr id="4" name="Date Placeholder 3"/>
          <p:cNvSpPr>
            <a:spLocks noGrp="1"/>
          </p:cNvSpPr>
          <p:nvPr>
            <p:ph type="dt" sz="half" idx="10"/>
          </p:nvPr>
        </p:nvSpPr>
        <p:spPr/>
        <p:txBody>
          <a:bodyPr/>
          <a:lstStyle/>
          <a:p>
            <a:r>
              <a:rPr lang="en-US" smtClean="0"/>
              <a:t>DD Month 20XX</a:t>
            </a:r>
            <a:endParaRPr lang="en-US"/>
          </a:p>
        </p:txBody>
      </p:sp>
      <p:sp>
        <p:nvSpPr>
          <p:cNvPr id="5" name="Footer Placeholder 4"/>
          <p:cNvSpPr>
            <a:spLocks noGrp="1"/>
          </p:cNvSpPr>
          <p:nvPr>
            <p:ph type="ftr" sz="quarter" idx="11"/>
          </p:nvPr>
        </p:nvSpPr>
        <p:spPr/>
        <p:txBody>
          <a:bodyPr/>
          <a:lstStyle/>
          <a:p>
            <a:r>
              <a:rPr lang="en-US" smtClean="0"/>
              <a:t>Presentation Title Goes Here</a:t>
            </a:r>
            <a:endParaRPr lang="en-US"/>
          </a:p>
        </p:txBody>
      </p:sp>
      <p:sp>
        <p:nvSpPr>
          <p:cNvPr id="6" name="Slide Number Placeholder 5"/>
          <p:cNvSpPr>
            <a:spLocks noGrp="1"/>
          </p:cNvSpPr>
          <p:nvPr>
            <p:ph type="sldNum" sz="quarter" idx="12"/>
          </p:nvPr>
        </p:nvSpPr>
        <p:spPr/>
        <p:txBody>
          <a:bodyPr/>
          <a:lstStyle/>
          <a:p>
            <a:fld id="{1E68DD1B-5CD8-424B-8173-19E182143E0A}" type="slidenum">
              <a:rPr lang="en-US" smtClean="0"/>
              <a:t>11</a:t>
            </a:fld>
            <a:endParaRPr lang="en-US"/>
          </a:p>
        </p:txBody>
      </p:sp>
      <p:pic>
        <p:nvPicPr>
          <p:cNvPr id="8" name="Picture 7"/>
          <p:cNvPicPr>
            <a:picLocks noChangeAspect="1"/>
          </p:cNvPicPr>
          <p:nvPr/>
        </p:nvPicPr>
        <p:blipFill>
          <a:blip r:embed="rId3"/>
          <a:stretch>
            <a:fillRect/>
          </a:stretch>
        </p:blipFill>
        <p:spPr>
          <a:xfrm>
            <a:off x="7527678" y="3987801"/>
            <a:ext cx="3895682" cy="2389839"/>
          </a:xfrm>
          <a:prstGeom prst="rect">
            <a:avLst/>
          </a:prstGeom>
        </p:spPr>
      </p:pic>
      <p:pic>
        <p:nvPicPr>
          <p:cNvPr id="15" name="Picture 14"/>
          <p:cNvPicPr>
            <a:picLocks noChangeAspect="1"/>
          </p:cNvPicPr>
          <p:nvPr/>
        </p:nvPicPr>
        <p:blipFill>
          <a:blip r:embed="rId4"/>
          <a:stretch>
            <a:fillRect/>
          </a:stretch>
        </p:blipFill>
        <p:spPr>
          <a:xfrm>
            <a:off x="355813" y="2055175"/>
            <a:ext cx="7019068" cy="457116"/>
          </a:xfrm>
          <a:prstGeom prst="rect">
            <a:avLst/>
          </a:prstGeom>
        </p:spPr>
      </p:pic>
      <p:pic>
        <p:nvPicPr>
          <p:cNvPr id="16" name="Picture 15"/>
          <p:cNvPicPr>
            <a:picLocks noChangeAspect="1"/>
          </p:cNvPicPr>
          <p:nvPr/>
        </p:nvPicPr>
        <p:blipFill>
          <a:blip r:embed="rId5"/>
          <a:stretch>
            <a:fillRect/>
          </a:stretch>
        </p:blipFill>
        <p:spPr>
          <a:xfrm>
            <a:off x="7550480" y="1397202"/>
            <a:ext cx="3895682" cy="2206943"/>
          </a:xfrm>
          <a:prstGeom prst="rect">
            <a:avLst/>
          </a:prstGeom>
        </p:spPr>
      </p:pic>
      <p:sp>
        <p:nvSpPr>
          <p:cNvPr id="19" name="Rounded Rectangle 18"/>
          <p:cNvSpPr/>
          <p:nvPr/>
        </p:nvSpPr>
        <p:spPr>
          <a:xfrm>
            <a:off x="355813" y="1697552"/>
            <a:ext cx="7023423" cy="115826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205939" y="4139162"/>
            <a:ext cx="7023423" cy="115826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29596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480760" y="1730063"/>
            <a:ext cx="10888715" cy="1384995"/>
          </a:xfrm>
          <a:prstGeom prst="rect">
            <a:avLst/>
          </a:prstGeom>
          <a:noFill/>
          <a:ln>
            <a:noFill/>
          </a:ln>
        </p:spPr>
        <p:txBody>
          <a:bodyPr wrap="square" lIns="0" tIns="0" rIns="0" bIns="0" rtlCol="0">
            <a:spAutoFit/>
          </a:bodyPr>
          <a:lstStyle/>
          <a:p>
            <a:r>
              <a:rPr lang="en-US" b="1" dirty="0" smtClean="0"/>
              <a:t>Project Name</a:t>
            </a:r>
            <a:r>
              <a:rPr lang="en-US" dirty="0"/>
              <a:t>: </a:t>
            </a:r>
            <a:r>
              <a:rPr lang="en-US" b="1" dirty="0" smtClean="0">
                <a:solidFill>
                  <a:schemeClr val="accent1">
                    <a:lumMod val="50000"/>
                  </a:schemeClr>
                </a:solidFill>
              </a:rPr>
              <a:t>Increase revenue form UG Scholarship </a:t>
            </a:r>
            <a:endParaRPr lang="en-US" b="1" dirty="0">
              <a:solidFill>
                <a:schemeClr val="accent1">
                  <a:lumMod val="50000"/>
                </a:schemeClr>
              </a:solidFill>
            </a:endParaRPr>
          </a:p>
          <a:p>
            <a:pPr algn="l"/>
            <a:r>
              <a:rPr lang="en-US" b="1" dirty="0" smtClean="0"/>
              <a:t>Project involved:- Student Services /BD</a:t>
            </a:r>
          </a:p>
          <a:p>
            <a:r>
              <a:rPr lang="en-US" b="1" dirty="0"/>
              <a:t>Project briefing</a:t>
            </a:r>
            <a:r>
              <a:rPr lang="en-US" b="1" dirty="0" smtClean="0"/>
              <a:t>:- </a:t>
            </a:r>
            <a:r>
              <a:rPr lang="en-US" dirty="0" smtClean="0"/>
              <a:t>Establish new scholarships and increase marketing efforts.</a:t>
            </a:r>
            <a:endParaRPr lang="en-US" dirty="0"/>
          </a:p>
          <a:p>
            <a:pPr algn="l"/>
            <a:r>
              <a:rPr lang="en-US" b="1" dirty="0" smtClean="0"/>
              <a:t>Project time frame</a:t>
            </a:r>
            <a:r>
              <a:rPr lang="en-US" dirty="0" smtClean="0"/>
              <a:t>: Continue </a:t>
            </a:r>
          </a:p>
          <a:p>
            <a:r>
              <a:rPr lang="en-US" b="1" dirty="0" smtClean="0"/>
              <a:t>Project updates: </a:t>
            </a:r>
            <a:r>
              <a:rPr lang="en-US" dirty="0" smtClean="0"/>
              <a:t>in progress</a:t>
            </a:r>
          </a:p>
        </p:txBody>
      </p:sp>
      <p:sp>
        <p:nvSpPr>
          <p:cNvPr id="8" name="Title 1"/>
          <p:cNvSpPr>
            <a:spLocks noGrp="1"/>
          </p:cNvSpPr>
          <p:nvPr>
            <p:ph type="title"/>
          </p:nvPr>
        </p:nvSpPr>
        <p:spPr>
          <a:xfrm>
            <a:off x="1347772" y="-292104"/>
            <a:ext cx="8438147" cy="1579646"/>
          </a:xfrm>
        </p:spPr>
        <p:txBody>
          <a:bodyPr/>
          <a:lstStyle/>
          <a:p>
            <a:r>
              <a:rPr lang="en-US" dirty="0" smtClean="0"/>
              <a:t>Academic Projects </a:t>
            </a:r>
            <a:endParaRPr lang="en-US" dirty="0"/>
          </a:p>
        </p:txBody>
      </p:sp>
      <p:sp>
        <p:nvSpPr>
          <p:cNvPr id="4" name="Flowchart: Connector 3"/>
          <p:cNvSpPr/>
          <p:nvPr/>
        </p:nvSpPr>
        <p:spPr>
          <a:xfrm>
            <a:off x="321041" y="657068"/>
            <a:ext cx="852147" cy="735375"/>
          </a:xfrm>
          <a:prstGeom prst="flowChartConnector">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solidFill>
              </a:rPr>
              <a:t>1</a:t>
            </a:r>
            <a:endParaRPr lang="en-US" sz="2800" b="1" dirty="0">
              <a:solidFill>
                <a:schemeClr val="tx1"/>
              </a:solidFill>
            </a:endParaRPr>
          </a:p>
        </p:txBody>
      </p:sp>
      <p:sp>
        <p:nvSpPr>
          <p:cNvPr id="5" name="TextBox 4"/>
          <p:cNvSpPr txBox="1"/>
          <p:nvPr/>
        </p:nvSpPr>
        <p:spPr>
          <a:xfrm>
            <a:off x="480761" y="3428140"/>
            <a:ext cx="10888715" cy="1384995"/>
          </a:xfrm>
          <a:prstGeom prst="rect">
            <a:avLst/>
          </a:prstGeom>
          <a:noFill/>
          <a:ln>
            <a:noFill/>
          </a:ln>
        </p:spPr>
        <p:txBody>
          <a:bodyPr wrap="square" lIns="0" tIns="0" rIns="0" bIns="0" rtlCol="0">
            <a:spAutoFit/>
          </a:bodyPr>
          <a:lstStyle/>
          <a:p>
            <a:r>
              <a:rPr lang="en-US" b="1" dirty="0" smtClean="0"/>
              <a:t>Project Name</a:t>
            </a:r>
            <a:r>
              <a:rPr lang="en-US" dirty="0"/>
              <a:t>: </a:t>
            </a:r>
            <a:r>
              <a:rPr lang="en-US" b="1" dirty="0" smtClean="0">
                <a:solidFill>
                  <a:schemeClr val="accent1">
                    <a:lumMod val="50000"/>
                  </a:schemeClr>
                </a:solidFill>
              </a:rPr>
              <a:t>Increase revenue form PS Scholarship </a:t>
            </a:r>
            <a:endParaRPr lang="en-US" b="1" dirty="0">
              <a:solidFill>
                <a:schemeClr val="accent1">
                  <a:lumMod val="50000"/>
                </a:schemeClr>
              </a:solidFill>
            </a:endParaRPr>
          </a:p>
          <a:p>
            <a:pPr algn="l"/>
            <a:r>
              <a:rPr lang="en-US" b="1" dirty="0" smtClean="0"/>
              <a:t>Project involved:- PG Studies/BD</a:t>
            </a:r>
          </a:p>
          <a:p>
            <a:r>
              <a:rPr lang="en-US" b="1" dirty="0"/>
              <a:t>Project briefing</a:t>
            </a:r>
            <a:r>
              <a:rPr lang="en-US" b="1" dirty="0" smtClean="0"/>
              <a:t>:- </a:t>
            </a:r>
            <a:r>
              <a:rPr lang="en-US" dirty="0" smtClean="0"/>
              <a:t>Establish new scholarships and increase marketing efforts.</a:t>
            </a:r>
            <a:endParaRPr lang="en-US" dirty="0"/>
          </a:p>
          <a:p>
            <a:pPr algn="l"/>
            <a:r>
              <a:rPr lang="en-US" b="1" dirty="0" smtClean="0"/>
              <a:t>Project time frame</a:t>
            </a:r>
            <a:r>
              <a:rPr lang="en-US" dirty="0" smtClean="0"/>
              <a:t>: Continue </a:t>
            </a:r>
          </a:p>
          <a:p>
            <a:r>
              <a:rPr lang="en-US" b="1" dirty="0" smtClean="0"/>
              <a:t>Project updates: </a:t>
            </a:r>
            <a:r>
              <a:rPr lang="en-US" dirty="0" smtClean="0"/>
              <a:t>in progress</a:t>
            </a:r>
          </a:p>
        </p:txBody>
      </p:sp>
      <p:sp>
        <p:nvSpPr>
          <p:cNvPr id="6" name="TextBox 5"/>
          <p:cNvSpPr txBox="1"/>
          <p:nvPr/>
        </p:nvSpPr>
        <p:spPr>
          <a:xfrm>
            <a:off x="480761" y="5079306"/>
            <a:ext cx="10888715" cy="1384995"/>
          </a:xfrm>
          <a:prstGeom prst="rect">
            <a:avLst/>
          </a:prstGeom>
          <a:noFill/>
          <a:ln>
            <a:noFill/>
          </a:ln>
        </p:spPr>
        <p:txBody>
          <a:bodyPr wrap="square" lIns="0" tIns="0" rIns="0" bIns="0" rtlCol="0">
            <a:spAutoFit/>
          </a:bodyPr>
          <a:lstStyle/>
          <a:p>
            <a:r>
              <a:rPr lang="en-US" b="1" dirty="0" smtClean="0"/>
              <a:t>Project Name</a:t>
            </a:r>
            <a:r>
              <a:rPr lang="en-US" dirty="0"/>
              <a:t>: </a:t>
            </a:r>
            <a:r>
              <a:rPr lang="en-US" b="1" dirty="0" smtClean="0">
                <a:solidFill>
                  <a:schemeClr val="accent1">
                    <a:lumMod val="50000"/>
                  </a:schemeClr>
                </a:solidFill>
              </a:rPr>
              <a:t>Increase revenue form Sponsorship.</a:t>
            </a:r>
            <a:endParaRPr lang="en-US" b="1" dirty="0">
              <a:solidFill>
                <a:schemeClr val="accent1">
                  <a:lumMod val="50000"/>
                </a:schemeClr>
              </a:solidFill>
            </a:endParaRPr>
          </a:p>
          <a:p>
            <a:pPr algn="l"/>
            <a:r>
              <a:rPr lang="en-US" b="1" dirty="0" smtClean="0"/>
              <a:t>Project involved:- Student Services /BD</a:t>
            </a:r>
          </a:p>
          <a:p>
            <a:r>
              <a:rPr lang="en-US" b="1" dirty="0"/>
              <a:t>Project briefing</a:t>
            </a:r>
            <a:r>
              <a:rPr lang="en-US" b="1" dirty="0" smtClean="0"/>
              <a:t>:- </a:t>
            </a:r>
            <a:r>
              <a:rPr lang="en-US" dirty="0" smtClean="0"/>
              <a:t>Establish new scholarships and increase marketing efforts.</a:t>
            </a:r>
            <a:endParaRPr lang="en-US" dirty="0"/>
          </a:p>
          <a:p>
            <a:pPr algn="l"/>
            <a:r>
              <a:rPr lang="en-US" b="1" dirty="0" smtClean="0"/>
              <a:t>Project time frame</a:t>
            </a:r>
            <a:r>
              <a:rPr lang="en-US" dirty="0" smtClean="0"/>
              <a:t>: Continue </a:t>
            </a:r>
          </a:p>
          <a:p>
            <a:r>
              <a:rPr lang="en-US" b="1" dirty="0" smtClean="0"/>
              <a:t>Project updates: </a:t>
            </a:r>
            <a:r>
              <a:rPr lang="en-US" dirty="0" smtClean="0"/>
              <a:t>in progress</a:t>
            </a:r>
          </a:p>
        </p:txBody>
      </p:sp>
      <p:sp>
        <p:nvSpPr>
          <p:cNvPr id="7" name="Rounded Rectangle 6"/>
          <p:cNvSpPr/>
          <p:nvPr/>
        </p:nvSpPr>
        <p:spPr>
          <a:xfrm>
            <a:off x="249529" y="3233350"/>
            <a:ext cx="11151476" cy="1666662"/>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220536" y="1405834"/>
            <a:ext cx="11151476" cy="1775544"/>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217999" y="4945527"/>
            <a:ext cx="11151476" cy="1567967"/>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80575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DD Month 20XX</a:t>
            </a:r>
            <a:endParaRPr lang="en-US"/>
          </a:p>
        </p:txBody>
      </p:sp>
      <p:sp>
        <p:nvSpPr>
          <p:cNvPr id="5" name="Footer Placeholder 4"/>
          <p:cNvSpPr>
            <a:spLocks noGrp="1"/>
          </p:cNvSpPr>
          <p:nvPr>
            <p:ph type="ftr" sz="quarter" idx="11"/>
          </p:nvPr>
        </p:nvSpPr>
        <p:spPr/>
        <p:txBody>
          <a:bodyPr/>
          <a:lstStyle/>
          <a:p>
            <a:r>
              <a:rPr lang="en-US" smtClean="0"/>
              <a:t>Presentation Title Goes Here</a:t>
            </a:r>
            <a:endParaRPr lang="en-US"/>
          </a:p>
        </p:txBody>
      </p:sp>
      <p:sp>
        <p:nvSpPr>
          <p:cNvPr id="6" name="Slide Number Placeholder 5"/>
          <p:cNvSpPr>
            <a:spLocks noGrp="1"/>
          </p:cNvSpPr>
          <p:nvPr>
            <p:ph type="sldNum" sz="quarter" idx="12"/>
          </p:nvPr>
        </p:nvSpPr>
        <p:spPr/>
        <p:txBody>
          <a:bodyPr/>
          <a:lstStyle/>
          <a:p>
            <a:fld id="{1E68DD1B-5CD8-424B-8173-19E182143E0A}" type="slidenum">
              <a:rPr lang="en-US" smtClean="0"/>
              <a:t>13</a:t>
            </a:fld>
            <a:endParaRPr lang="en-US"/>
          </a:p>
        </p:txBody>
      </p:sp>
      <p:sp>
        <p:nvSpPr>
          <p:cNvPr id="7" name="TextBox 6"/>
          <p:cNvSpPr txBox="1"/>
          <p:nvPr/>
        </p:nvSpPr>
        <p:spPr>
          <a:xfrm>
            <a:off x="683490" y="2142645"/>
            <a:ext cx="11176001" cy="1384995"/>
          </a:xfrm>
          <a:prstGeom prst="rect">
            <a:avLst/>
          </a:prstGeom>
          <a:noFill/>
          <a:ln>
            <a:noFill/>
          </a:ln>
        </p:spPr>
        <p:txBody>
          <a:bodyPr wrap="square" lIns="0" tIns="0" rIns="0" bIns="0" rtlCol="0">
            <a:spAutoFit/>
          </a:bodyPr>
          <a:lstStyle/>
          <a:p>
            <a:r>
              <a:rPr lang="en-US" b="1" dirty="0" smtClean="0"/>
              <a:t>Project Name</a:t>
            </a:r>
            <a:r>
              <a:rPr lang="en-US" dirty="0"/>
              <a:t>: </a:t>
            </a:r>
            <a:r>
              <a:rPr lang="en-US" b="1" dirty="0">
                <a:solidFill>
                  <a:schemeClr val="accent1">
                    <a:lumMod val="50000"/>
                  </a:schemeClr>
                </a:solidFill>
              </a:rPr>
              <a:t>Establish the new GCC </a:t>
            </a:r>
            <a:r>
              <a:rPr lang="en-US" b="1" dirty="0" smtClean="0">
                <a:solidFill>
                  <a:schemeClr val="accent1">
                    <a:lumMod val="50000"/>
                  </a:schemeClr>
                </a:solidFill>
              </a:rPr>
              <a:t>scholarship. </a:t>
            </a:r>
          </a:p>
          <a:p>
            <a:pPr algn="l"/>
            <a:r>
              <a:rPr lang="en-US" b="1" dirty="0" smtClean="0"/>
              <a:t>Project involved</a:t>
            </a:r>
            <a:r>
              <a:rPr lang="en-US" dirty="0" smtClean="0"/>
              <a:t>: Students Services </a:t>
            </a:r>
          </a:p>
          <a:p>
            <a:r>
              <a:rPr lang="en-US" b="1" dirty="0"/>
              <a:t>Project briefing</a:t>
            </a:r>
            <a:r>
              <a:rPr lang="en-US" dirty="0" smtClean="0"/>
              <a:t>:- To establish a new scholarship named GCC, to attract regional students.</a:t>
            </a:r>
            <a:endParaRPr lang="en-US" dirty="0"/>
          </a:p>
          <a:p>
            <a:pPr algn="l"/>
            <a:r>
              <a:rPr lang="en-US" b="1" dirty="0" smtClean="0"/>
              <a:t>Project time frame</a:t>
            </a:r>
            <a:r>
              <a:rPr lang="en-US" dirty="0" smtClean="0"/>
              <a:t>:2023</a:t>
            </a:r>
          </a:p>
          <a:p>
            <a:r>
              <a:rPr lang="en-US" b="1" dirty="0" smtClean="0"/>
              <a:t>Project updates</a:t>
            </a:r>
            <a:r>
              <a:rPr lang="en-US" dirty="0" smtClean="0"/>
              <a:t>: visits done by students services to some of GCC countries and awaiting the kick-off meeting </a:t>
            </a:r>
          </a:p>
        </p:txBody>
      </p:sp>
      <p:sp>
        <p:nvSpPr>
          <p:cNvPr id="8" name="Rounded Rectangle 7"/>
          <p:cNvSpPr/>
          <p:nvPr/>
        </p:nvSpPr>
        <p:spPr>
          <a:xfrm>
            <a:off x="501128" y="1999957"/>
            <a:ext cx="11151476" cy="1670369"/>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a:spLocks/>
          </p:cNvSpPr>
          <p:nvPr/>
        </p:nvSpPr>
        <p:spPr>
          <a:xfrm>
            <a:off x="827676" y="-194366"/>
            <a:ext cx="8438147" cy="1579646"/>
          </a:xfrm>
          <a:prstGeom prst="rect">
            <a:avLst/>
          </a:prstGeom>
        </p:spPr>
        <p:txBody>
          <a:bodyPr vert="horz" lIns="0" tIns="0" rIns="0" bIns="0" rtlCol="0" anchor="b" anchorCtr="0">
            <a:normAutofit/>
          </a:bodyPr>
          <a:lstStyle>
            <a:lvl1pPr algn="l" defTabSz="914400" rtl="0" eaLnBrk="1" latinLnBrk="0" hangingPunct="1">
              <a:lnSpc>
                <a:spcPct val="100000"/>
              </a:lnSpc>
              <a:spcBef>
                <a:spcPct val="0"/>
              </a:spcBef>
              <a:buNone/>
              <a:defRPr sz="3600" b="1" kern="1200" spc="50" baseline="0">
                <a:solidFill>
                  <a:schemeClr val="tx2"/>
                </a:solidFill>
                <a:latin typeface="+mj-lt"/>
                <a:ea typeface="+mj-ea"/>
                <a:cs typeface="+mj-cs"/>
              </a:defRPr>
            </a:lvl1pPr>
          </a:lstStyle>
          <a:p>
            <a:r>
              <a:rPr lang="en-US" smtClean="0"/>
              <a:t>Academic Projects </a:t>
            </a:r>
            <a:endParaRPr lang="en-US" dirty="0"/>
          </a:p>
        </p:txBody>
      </p:sp>
      <p:sp>
        <p:nvSpPr>
          <p:cNvPr id="10" name="Rounded Rectangle 9"/>
          <p:cNvSpPr/>
          <p:nvPr/>
        </p:nvSpPr>
        <p:spPr>
          <a:xfrm>
            <a:off x="374927" y="4285003"/>
            <a:ext cx="11151476" cy="1809852"/>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63887" y="4534299"/>
            <a:ext cx="10888717" cy="1661993"/>
          </a:xfrm>
          <a:prstGeom prst="rect">
            <a:avLst/>
          </a:prstGeom>
          <a:noFill/>
          <a:ln>
            <a:noFill/>
          </a:ln>
        </p:spPr>
        <p:txBody>
          <a:bodyPr wrap="square" lIns="0" tIns="0" rIns="0" bIns="0" rtlCol="0">
            <a:spAutoFit/>
          </a:bodyPr>
          <a:lstStyle/>
          <a:p>
            <a:r>
              <a:rPr lang="en-US" b="1" dirty="0"/>
              <a:t>Project Name</a:t>
            </a:r>
            <a:r>
              <a:rPr lang="en-US" dirty="0"/>
              <a:t>: </a:t>
            </a:r>
            <a:r>
              <a:rPr lang="en-US" b="1" dirty="0">
                <a:solidFill>
                  <a:schemeClr val="accent1">
                    <a:lumMod val="50000"/>
                  </a:schemeClr>
                </a:solidFill>
              </a:rPr>
              <a:t>Develop reporting on </a:t>
            </a:r>
            <a:r>
              <a:rPr lang="en-US" b="1" dirty="0" smtClean="0">
                <a:solidFill>
                  <a:schemeClr val="accent1">
                    <a:lumMod val="50000"/>
                  </a:schemeClr>
                </a:solidFill>
              </a:rPr>
              <a:t>students </a:t>
            </a:r>
            <a:r>
              <a:rPr lang="en-US" b="1" dirty="0">
                <a:solidFill>
                  <a:schemeClr val="accent1">
                    <a:lumMod val="50000"/>
                  </a:schemeClr>
                </a:solidFill>
              </a:rPr>
              <a:t>related </a:t>
            </a:r>
            <a:r>
              <a:rPr lang="en-US" b="1" dirty="0" smtClean="0">
                <a:solidFill>
                  <a:schemeClr val="accent1">
                    <a:lumMod val="50000"/>
                  </a:schemeClr>
                </a:solidFill>
              </a:rPr>
              <a:t>revenues</a:t>
            </a:r>
            <a:r>
              <a:rPr lang="en-US" dirty="0" smtClean="0">
                <a:solidFill>
                  <a:srgbClr val="0047BA"/>
                </a:solidFill>
              </a:rPr>
              <a:t>. </a:t>
            </a:r>
          </a:p>
          <a:p>
            <a:r>
              <a:rPr lang="en-US" b="1" dirty="0" smtClean="0"/>
              <a:t>Project </a:t>
            </a:r>
            <a:r>
              <a:rPr lang="en-US" b="1" dirty="0"/>
              <a:t>involved departments</a:t>
            </a:r>
            <a:r>
              <a:rPr lang="en-US" b="1" dirty="0" smtClean="0"/>
              <a:t>: </a:t>
            </a:r>
            <a:r>
              <a:rPr lang="en-US" dirty="0" smtClean="0"/>
              <a:t>Student Services / BD</a:t>
            </a:r>
          </a:p>
          <a:p>
            <a:r>
              <a:rPr lang="en-US" b="1" dirty="0"/>
              <a:t>Project briefing</a:t>
            </a:r>
            <a:r>
              <a:rPr lang="en-US" b="1" dirty="0" smtClean="0"/>
              <a:t>:- </a:t>
            </a:r>
            <a:r>
              <a:rPr lang="en-US" dirty="0" smtClean="0"/>
              <a:t>To provide more useful reports about the current scholarship/sponsorship data</a:t>
            </a:r>
            <a:endParaRPr lang="en-US" dirty="0"/>
          </a:p>
          <a:p>
            <a:r>
              <a:rPr lang="en-US" b="1" dirty="0" smtClean="0"/>
              <a:t>Project </a:t>
            </a:r>
            <a:r>
              <a:rPr lang="en-US" b="1" dirty="0"/>
              <a:t>time frame</a:t>
            </a:r>
            <a:r>
              <a:rPr lang="en-US" b="1" dirty="0" smtClean="0"/>
              <a:t>: </a:t>
            </a:r>
            <a:r>
              <a:rPr lang="en-US" dirty="0" smtClean="0"/>
              <a:t>Oct 2022</a:t>
            </a:r>
            <a:endParaRPr lang="en-US" dirty="0">
              <a:solidFill>
                <a:schemeClr val="tx2"/>
              </a:solidFill>
            </a:endParaRPr>
          </a:p>
          <a:p>
            <a:r>
              <a:rPr lang="en-US" b="1" dirty="0"/>
              <a:t>Project updates</a:t>
            </a:r>
            <a:r>
              <a:rPr lang="en-US" b="1" dirty="0" smtClean="0"/>
              <a:t>: </a:t>
            </a:r>
            <a:r>
              <a:rPr lang="en-US" dirty="0" smtClean="0"/>
              <a:t>under review by students services.</a:t>
            </a:r>
            <a:endParaRPr lang="en-US" dirty="0"/>
          </a:p>
          <a:p>
            <a:endParaRPr lang="en-US" dirty="0"/>
          </a:p>
        </p:txBody>
      </p:sp>
    </p:spTree>
    <p:extLst>
      <p:ext uri="{BB962C8B-B14F-4D97-AF65-F5344CB8AC3E}">
        <p14:creationId xmlns:p14="http://schemas.microsoft.com/office/powerpoint/2010/main" val="28141970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8807" y="-429553"/>
            <a:ext cx="8438147" cy="1579646"/>
          </a:xfrm>
        </p:spPr>
        <p:txBody>
          <a:bodyPr/>
          <a:lstStyle/>
          <a:p>
            <a:r>
              <a:rPr lang="en-US" dirty="0" smtClean="0"/>
              <a:t>Continuing Education </a:t>
            </a:r>
            <a:endParaRPr lang="en-US" dirty="0"/>
          </a:p>
        </p:txBody>
      </p:sp>
      <p:sp>
        <p:nvSpPr>
          <p:cNvPr id="8" name="TextBox 7"/>
          <p:cNvSpPr txBox="1"/>
          <p:nvPr/>
        </p:nvSpPr>
        <p:spPr>
          <a:xfrm>
            <a:off x="546141" y="1603138"/>
            <a:ext cx="10888717" cy="1384995"/>
          </a:xfrm>
          <a:prstGeom prst="rect">
            <a:avLst/>
          </a:prstGeom>
          <a:noFill/>
          <a:ln>
            <a:noFill/>
          </a:ln>
        </p:spPr>
        <p:txBody>
          <a:bodyPr wrap="square" lIns="0" tIns="0" rIns="0" bIns="0" rtlCol="0">
            <a:spAutoFit/>
          </a:bodyPr>
          <a:lstStyle/>
          <a:p>
            <a:r>
              <a:rPr lang="en-US" b="1" dirty="0"/>
              <a:t>Project Name</a:t>
            </a:r>
            <a:r>
              <a:rPr lang="en-US" dirty="0"/>
              <a:t>: </a:t>
            </a:r>
            <a:r>
              <a:rPr lang="en-US" b="1" dirty="0">
                <a:solidFill>
                  <a:schemeClr val="accent1">
                    <a:lumMod val="50000"/>
                  </a:schemeClr>
                </a:solidFill>
              </a:rPr>
              <a:t>Prepare a training proposal to </a:t>
            </a:r>
            <a:r>
              <a:rPr lang="en-US" b="1" dirty="0" smtClean="0">
                <a:solidFill>
                  <a:schemeClr val="accent1">
                    <a:lumMod val="50000"/>
                  </a:schemeClr>
                </a:solidFill>
              </a:rPr>
              <a:t>MOE</a:t>
            </a:r>
            <a:r>
              <a:rPr lang="en-US" dirty="0" smtClean="0">
                <a:solidFill>
                  <a:schemeClr val="tx2"/>
                </a:solidFill>
              </a:rPr>
              <a:t>. </a:t>
            </a:r>
          </a:p>
          <a:p>
            <a:r>
              <a:rPr lang="en-US" b="1" dirty="0" smtClean="0"/>
              <a:t>Project </a:t>
            </a:r>
            <a:r>
              <a:rPr lang="en-US" b="1" dirty="0"/>
              <a:t>involved departments</a:t>
            </a:r>
            <a:r>
              <a:rPr lang="en-US" dirty="0"/>
              <a:t>: Artificial intelligence </a:t>
            </a:r>
            <a:endParaRPr lang="en-US" dirty="0" smtClean="0"/>
          </a:p>
          <a:p>
            <a:r>
              <a:rPr lang="en-US" b="1" dirty="0" smtClean="0"/>
              <a:t>Project briefing:- </a:t>
            </a:r>
            <a:r>
              <a:rPr lang="en-US" dirty="0" smtClean="0"/>
              <a:t>Awareness training program for </a:t>
            </a:r>
            <a:r>
              <a:rPr lang="en-US" dirty="0"/>
              <a:t>Artificial intelligence</a:t>
            </a:r>
            <a:r>
              <a:rPr lang="en-US" dirty="0" smtClean="0"/>
              <a:t> to  all MOE employees</a:t>
            </a:r>
            <a:r>
              <a:rPr lang="en-US" b="1" dirty="0" smtClean="0"/>
              <a:t> </a:t>
            </a:r>
            <a:endParaRPr lang="en-US" b="1" dirty="0"/>
          </a:p>
          <a:p>
            <a:r>
              <a:rPr lang="en-US" b="1" dirty="0"/>
              <a:t>Project time </a:t>
            </a:r>
            <a:r>
              <a:rPr lang="en-US" b="1" dirty="0" smtClean="0"/>
              <a:t>frame</a:t>
            </a:r>
            <a:r>
              <a:rPr lang="en-US" dirty="0" smtClean="0"/>
              <a:t>: Dec 2022</a:t>
            </a:r>
            <a:endParaRPr lang="en-US" dirty="0"/>
          </a:p>
          <a:p>
            <a:endParaRPr lang="en-US" dirty="0"/>
          </a:p>
        </p:txBody>
      </p:sp>
      <p:sp>
        <p:nvSpPr>
          <p:cNvPr id="9" name="Flowchart: Connector 8"/>
          <p:cNvSpPr/>
          <p:nvPr/>
        </p:nvSpPr>
        <p:spPr>
          <a:xfrm>
            <a:off x="546141" y="530157"/>
            <a:ext cx="852147" cy="735375"/>
          </a:xfrm>
          <a:prstGeom prst="flowChartConnector">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solidFill>
              </a:rPr>
              <a:t>2</a:t>
            </a:r>
            <a:endParaRPr lang="en-US" sz="2800" b="1" dirty="0">
              <a:solidFill>
                <a:schemeClr val="tx1"/>
              </a:solidFill>
            </a:endParaRPr>
          </a:p>
        </p:txBody>
      </p:sp>
      <p:sp>
        <p:nvSpPr>
          <p:cNvPr id="13" name="TextBox 12"/>
          <p:cNvSpPr txBox="1"/>
          <p:nvPr/>
        </p:nvSpPr>
        <p:spPr>
          <a:xfrm>
            <a:off x="546143" y="3007642"/>
            <a:ext cx="10888715" cy="1384995"/>
          </a:xfrm>
          <a:prstGeom prst="rect">
            <a:avLst/>
          </a:prstGeom>
          <a:noFill/>
          <a:ln>
            <a:noFill/>
          </a:ln>
        </p:spPr>
        <p:txBody>
          <a:bodyPr wrap="square" lIns="0" tIns="0" rIns="0" bIns="0" rtlCol="0">
            <a:spAutoFit/>
          </a:bodyPr>
          <a:lstStyle/>
          <a:p>
            <a:r>
              <a:rPr lang="en-US" b="1" dirty="0" smtClean="0"/>
              <a:t>Project Name</a:t>
            </a:r>
            <a:r>
              <a:rPr lang="en-US" dirty="0"/>
              <a:t>: </a:t>
            </a:r>
            <a:r>
              <a:rPr lang="en-US" b="1" dirty="0">
                <a:solidFill>
                  <a:schemeClr val="accent1">
                    <a:lumMod val="50000"/>
                  </a:schemeClr>
                </a:solidFill>
              </a:rPr>
              <a:t>Prepare a training proposal to AD </a:t>
            </a:r>
            <a:r>
              <a:rPr lang="en-US" b="1" dirty="0" smtClean="0">
                <a:solidFill>
                  <a:schemeClr val="accent1">
                    <a:lumMod val="50000"/>
                  </a:schemeClr>
                </a:solidFill>
              </a:rPr>
              <a:t>Airport</a:t>
            </a:r>
            <a:r>
              <a:rPr lang="en-US" dirty="0" smtClean="0">
                <a:solidFill>
                  <a:schemeClr val="tx2"/>
                </a:solidFill>
              </a:rPr>
              <a:t>.</a:t>
            </a:r>
          </a:p>
          <a:p>
            <a:pPr algn="l"/>
            <a:r>
              <a:rPr lang="en-US" b="1" dirty="0" smtClean="0"/>
              <a:t>Project involved</a:t>
            </a:r>
            <a:r>
              <a:rPr lang="en-US" dirty="0" smtClean="0"/>
              <a:t>: Aerospace / Academic departments</a:t>
            </a:r>
          </a:p>
          <a:p>
            <a:r>
              <a:rPr lang="en-US" b="1" dirty="0"/>
              <a:t>Project briefing</a:t>
            </a:r>
            <a:r>
              <a:rPr lang="en-US" dirty="0" smtClean="0"/>
              <a:t>:- collaboration in training area </a:t>
            </a:r>
            <a:endParaRPr lang="en-US" dirty="0"/>
          </a:p>
          <a:p>
            <a:pPr algn="l"/>
            <a:r>
              <a:rPr lang="en-US" b="1" dirty="0" smtClean="0"/>
              <a:t>Project time frame</a:t>
            </a:r>
            <a:r>
              <a:rPr lang="en-US" dirty="0" smtClean="0"/>
              <a:t>: Nov 2022</a:t>
            </a:r>
          </a:p>
          <a:p>
            <a:r>
              <a:rPr lang="en-US" b="1" dirty="0" smtClean="0"/>
              <a:t>Project updates</a:t>
            </a:r>
            <a:r>
              <a:rPr lang="en-US" dirty="0" smtClean="0"/>
              <a:t>: Arranging for the collaboration agreement.</a:t>
            </a:r>
          </a:p>
        </p:txBody>
      </p:sp>
      <p:sp>
        <p:nvSpPr>
          <p:cNvPr id="10" name="TextBox 9"/>
          <p:cNvSpPr txBox="1"/>
          <p:nvPr/>
        </p:nvSpPr>
        <p:spPr>
          <a:xfrm>
            <a:off x="547431" y="4794676"/>
            <a:ext cx="10888715" cy="1384995"/>
          </a:xfrm>
          <a:prstGeom prst="rect">
            <a:avLst/>
          </a:prstGeom>
          <a:noFill/>
          <a:ln>
            <a:noFill/>
          </a:ln>
        </p:spPr>
        <p:txBody>
          <a:bodyPr wrap="square" lIns="0" tIns="0" rIns="0" bIns="0" rtlCol="0">
            <a:spAutoFit/>
          </a:bodyPr>
          <a:lstStyle/>
          <a:p>
            <a:r>
              <a:rPr lang="en-US" b="1" dirty="0" smtClean="0"/>
              <a:t>Project Name</a:t>
            </a:r>
            <a:r>
              <a:rPr lang="en-US" b="1" dirty="0"/>
              <a:t>: </a:t>
            </a:r>
            <a:r>
              <a:rPr lang="en-US" b="1" dirty="0">
                <a:solidFill>
                  <a:schemeClr val="accent1">
                    <a:lumMod val="50000"/>
                  </a:schemeClr>
                </a:solidFill>
              </a:rPr>
              <a:t>Prepare collaboration  proposal to Korean Nuclear </a:t>
            </a:r>
            <a:r>
              <a:rPr lang="en-US" b="1" dirty="0" smtClean="0">
                <a:solidFill>
                  <a:schemeClr val="accent1">
                    <a:lumMod val="50000"/>
                  </a:schemeClr>
                </a:solidFill>
              </a:rPr>
              <a:t>company. </a:t>
            </a:r>
          </a:p>
          <a:p>
            <a:pPr algn="l"/>
            <a:r>
              <a:rPr lang="en-US" b="1" dirty="0" smtClean="0"/>
              <a:t>Project involved</a:t>
            </a:r>
            <a:r>
              <a:rPr lang="en-US" dirty="0" smtClean="0"/>
              <a:t>: Nuclear Depart</a:t>
            </a:r>
          </a:p>
          <a:p>
            <a:r>
              <a:rPr lang="en-US" b="1" dirty="0"/>
              <a:t>Project briefing</a:t>
            </a:r>
            <a:r>
              <a:rPr lang="en-US" dirty="0" smtClean="0"/>
              <a:t>:- </a:t>
            </a:r>
            <a:r>
              <a:rPr lang="en-US" dirty="0"/>
              <a:t>collaboration in training area </a:t>
            </a:r>
          </a:p>
          <a:p>
            <a:pPr algn="l"/>
            <a:r>
              <a:rPr lang="en-US" b="1" dirty="0" smtClean="0"/>
              <a:t>Project time frame</a:t>
            </a:r>
            <a:r>
              <a:rPr lang="en-US" dirty="0" smtClean="0"/>
              <a:t>: Dec 2022</a:t>
            </a:r>
          </a:p>
          <a:p>
            <a:r>
              <a:rPr lang="en-US" b="1" dirty="0" smtClean="0"/>
              <a:t>Project updates</a:t>
            </a:r>
            <a:r>
              <a:rPr lang="en-US" dirty="0" smtClean="0"/>
              <a:t>: Awaiting the Korean company response for the selected training courses.</a:t>
            </a:r>
          </a:p>
        </p:txBody>
      </p:sp>
      <p:sp>
        <p:nvSpPr>
          <p:cNvPr id="7" name="Rounded Rectangle 6"/>
          <p:cNvSpPr/>
          <p:nvPr/>
        </p:nvSpPr>
        <p:spPr>
          <a:xfrm>
            <a:off x="329562" y="1380050"/>
            <a:ext cx="11151476" cy="1436980"/>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329562" y="2988133"/>
            <a:ext cx="11151476" cy="1607864"/>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329562" y="4680158"/>
            <a:ext cx="11151476" cy="1745308"/>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90064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53051" y="1774297"/>
            <a:ext cx="10888717" cy="1384995"/>
          </a:xfrm>
          <a:prstGeom prst="rect">
            <a:avLst/>
          </a:prstGeom>
          <a:noFill/>
          <a:ln>
            <a:noFill/>
          </a:ln>
        </p:spPr>
        <p:txBody>
          <a:bodyPr wrap="square" lIns="0" tIns="0" rIns="0" bIns="0" rtlCol="0">
            <a:spAutoFit/>
          </a:bodyPr>
          <a:lstStyle/>
          <a:p>
            <a:r>
              <a:rPr lang="en-US" b="1" dirty="0"/>
              <a:t>Project Name</a:t>
            </a:r>
            <a:r>
              <a:rPr lang="en-US" dirty="0"/>
              <a:t>: </a:t>
            </a:r>
            <a:r>
              <a:rPr lang="en-US" b="1" dirty="0">
                <a:solidFill>
                  <a:schemeClr val="accent1">
                    <a:lumMod val="50000"/>
                  </a:schemeClr>
                </a:solidFill>
              </a:rPr>
              <a:t>Prepare a training proposal </a:t>
            </a:r>
            <a:r>
              <a:rPr lang="en-US" b="1" dirty="0" smtClean="0">
                <a:solidFill>
                  <a:schemeClr val="accent1">
                    <a:lumMod val="50000"/>
                  </a:schemeClr>
                </a:solidFill>
              </a:rPr>
              <a:t>/System </a:t>
            </a:r>
            <a:r>
              <a:rPr lang="en-US" b="1" dirty="0">
                <a:solidFill>
                  <a:schemeClr val="accent1">
                    <a:lumMod val="50000"/>
                  </a:schemeClr>
                </a:solidFill>
              </a:rPr>
              <a:t>dynamic </a:t>
            </a:r>
            <a:r>
              <a:rPr lang="en-US" b="1" dirty="0" smtClean="0">
                <a:solidFill>
                  <a:schemeClr val="accent1">
                    <a:lumMod val="50000"/>
                  </a:schemeClr>
                </a:solidFill>
              </a:rPr>
              <a:t>program.</a:t>
            </a:r>
          </a:p>
          <a:p>
            <a:r>
              <a:rPr lang="en-US" b="1" dirty="0" smtClean="0"/>
              <a:t>Project </a:t>
            </a:r>
            <a:r>
              <a:rPr lang="en-US" b="1" dirty="0"/>
              <a:t>involved departments</a:t>
            </a:r>
            <a:r>
              <a:rPr lang="en-US" dirty="0" smtClean="0"/>
              <a:t>: Industrial Application </a:t>
            </a:r>
            <a:endParaRPr lang="en-US" b="1" dirty="0" smtClean="0"/>
          </a:p>
          <a:p>
            <a:r>
              <a:rPr lang="en-US" b="1" dirty="0"/>
              <a:t>Project briefing</a:t>
            </a:r>
            <a:r>
              <a:rPr lang="en-US" b="1" dirty="0" smtClean="0"/>
              <a:t>:- </a:t>
            </a:r>
            <a:r>
              <a:rPr lang="en-US" dirty="0" smtClean="0"/>
              <a:t>Acquiring a new training franchise from Russian company.</a:t>
            </a:r>
            <a:r>
              <a:rPr lang="en-US" b="1" dirty="0" smtClean="0"/>
              <a:t> </a:t>
            </a:r>
            <a:endParaRPr lang="en-US" b="1" dirty="0"/>
          </a:p>
          <a:p>
            <a:r>
              <a:rPr lang="en-US" b="1" dirty="0" smtClean="0"/>
              <a:t>Project </a:t>
            </a:r>
            <a:r>
              <a:rPr lang="en-US" b="1" dirty="0"/>
              <a:t>time frame</a:t>
            </a:r>
            <a:r>
              <a:rPr lang="en-US" b="1" dirty="0" smtClean="0"/>
              <a:t>: </a:t>
            </a:r>
            <a:r>
              <a:rPr lang="en-US" dirty="0" smtClean="0"/>
              <a:t>Jan 2023</a:t>
            </a:r>
            <a:endParaRPr lang="en-US" dirty="0"/>
          </a:p>
          <a:p>
            <a:endParaRPr lang="en-US" dirty="0"/>
          </a:p>
        </p:txBody>
      </p:sp>
      <p:sp>
        <p:nvSpPr>
          <p:cNvPr id="13" name="TextBox 12"/>
          <p:cNvSpPr txBox="1"/>
          <p:nvPr/>
        </p:nvSpPr>
        <p:spPr>
          <a:xfrm>
            <a:off x="487276" y="3809730"/>
            <a:ext cx="10888715" cy="1938992"/>
          </a:xfrm>
          <a:prstGeom prst="rect">
            <a:avLst/>
          </a:prstGeom>
          <a:noFill/>
          <a:ln>
            <a:noFill/>
          </a:ln>
        </p:spPr>
        <p:txBody>
          <a:bodyPr wrap="square" lIns="0" tIns="0" rIns="0" bIns="0" rtlCol="0">
            <a:spAutoFit/>
          </a:bodyPr>
          <a:lstStyle/>
          <a:p>
            <a:r>
              <a:rPr lang="en-US" b="1" dirty="0" smtClean="0"/>
              <a:t>Project Name</a:t>
            </a:r>
            <a:r>
              <a:rPr lang="en-US" dirty="0"/>
              <a:t>: </a:t>
            </a:r>
            <a:r>
              <a:rPr lang="en-US" b="1" dirty="0">
                <a:solidFill>
                  <a:schemeClr val="accent1">
                    <a:lumMod val="50000"/>
                  </a:schemeClr>
                </a:solidFill>
              </a:rPr>
              <a:t>Prepare a training to Clinical program  to SEHA.</a:t>
            </a:r>
          </a:p>
          <a:p>
            <a:r>
              <a:rPr lang="en-US" b="1" dirty="0" smtClean="0"/>
              <a:t>Project </a:t>
            </a:r>
            <a:r>
              <a:rPr lang="en-US" b="1" dirty="0"/>
              <a:t>involved </a:t>
            </a:r>
            <a:r>
              <a:rPr lang="en-US" b="1" dirty="0" smtClean="0"/>
              <a:t>departments: </a:t>
            </a:r>
            <a:r>
              <a:rPr lang="en-US" dirty="0" smtClean="0"/>
              <a:t>Medical School</a:t>
            </a:r>
          </a:p>
          <a:p>
            <a:r>
              <a:rPr lang="en-US" b="1" dirty="0"/>
              <a:t>Project briefing</a:t>
            </a:r>
            <a:r>
              <a:rPr lang="en-US" b="1" dirty="0" smtClean="0"/>
              <a:t>:- </a:t>
            </a:r>
            <a:r>
              <a:rPr lang="en-US" b="1" dirty="0"/>
              <a:t>SEHA Clinical Research Program Cohort</a:t>
            </a:r>
            <a:r>
              <a:rPr lang="en-US" dirty="0"/>
              <a:t> 1 started in April 2021 it will end this October 2022 with 40 graduates after the successful launching of 1</a:t>
            </a:r>
            <a:r>
              <a:rPr lang="en-US" baseline="30000" dirty="0"/>
              <a:t>st</a:t>
            </a:r>
            <a:r>
              <a:rPr lang="en-US" dirty="0"/>
              <a:t> batch. Cohort 2 started in October 2021, will end in May 2023 with 40 </a:t>
            </a:r>
            <a:r>
              <a:rPr lang="en-US" dirty="0" smtClean="0"/>
              <a:t>students.</a:t>
            </a:r>
            <a:endParaRPr lang="en-US" dirty="0"/>
          </a:p>
          <a:p>
            <a:pPr algn="l"/>
            <a:r>
              <a:rPr lang="en-US" b="1" dirty="0" smtClean="0"/>
              <a:t>Project time frame: </a:t>
            </a:r>
            <a:r>
              <a:rPr lang="en-US" dirty="0" smtClean="0"/>
              <a:t>continue</a:t>
            </a:r>
          </a:p>
          <a:p>
            <a:r>
              <a:rPr lang="en-US" b="1" dirty="0" smtClean="0"/>
              <a:t>Project updates: </a:t>
            </a:r>
            <a:r>
              <a:rPr lang="en-US" dirty="0" smtClean="0"/>
              <a:t>Third stage will start in Nov 2022.</a:t>
            </a:r>
          </a:p>
        </p:txBody>
      </p:sp>
      <p:sp>
        <p:nvSpPr>
          <p:cNvPr id="10" name="Title 1"/>
          <p:cNvSpPr>
            <a:spLocks noGrp="1"/>
          </p:cNvSpPr>
          <p:nvPr>
            <p:ph type="title"/>
          </p:nvPr>
        </p:nvSpPr>
        <p:spPr>
          <a:xfrm>
            <a:off x="453051" y="0"/>
            <a:ext cx="8438147" cy="1579646"/>
          </a:xfrm>
        </p:spPr>
        <p:txBody>
          <a:bodyPr/>
          <a:lstStyle/>
          <a:p>
            <a:r>
              <a:rPr lang="en-US" dirty="0" smtClean="0"/>
              <a:t>Continuing Education </a:t>
            </a:r>
            <a:endParaRPr lang="en-US" dirty="0"/>
          </a:p>
        </p:txBody>
      </p:sp>
      <p:sp>
        <p:nvSpPr>
          <p:cNvPr id="5" name="Rounded Rectangle 4"/>
          <p:cNvSpPr/>
          <p:nvPr/>
        </p:nvSpPr>
        <p:spPr>
          <a:xfrm>
            <a:off x="183580" y="3615560"/>
            <a:ext cx="11151476" cy="2427888"/>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126529" y="1579646"/>
            <a:ext cx="11151476" cy="1935358"/>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2707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526943" y="1752742"/>
            <a:ext cx="10888715" cy="1938992"/>
          </a:xfrm>
          <a:prstGeom prst="rect">
            <a:avLst/>
          </a:prstGeom>
          <a:noFill/>
          <a:ln>
            <a:noFill/>
          </a:ln>
        </p:spPr>
        <p:txBody>
          <a:bodyPr wrap="square" lIns="0" tIns="0" rIns="0" bIns="0" rtlCol="0">
            <a:spAutoFit/>
          </a:bodyPr>
          <a:lstStyle/>
          <a:p>
            <a:r>
              <a:rPr lang="en-US" b="1" dirty="0" smtClean="0"/>
              <a:t>Project Name</a:t>
            </a:r>
            <a:r>
              <a:rPr lang="en-US" b="1" dirty="0"/>
              <a:t>: </a:t>
            </a:r>
            <a:r>
              <a:rPr lang="en-US" b="1" dirty="0">
                <a:solidFill>
                  <a:schemeClr val="accent1">
                    <a:lumMod val="50000"/>
                  </a:schemeClr>
                </a:solidFill>
              </a:rPr>
              <a:t>Prepare a training program to ADIA (bridge program</a:t>
            </a:r>
            <a:r>
              <a:rPr lang="en-US" b="1" dirty="0" smtClean="0">
                <a:solidFill>
                  <a:schemeClr val="accent1">
                    <a:lumMod val="50000"/>
                  </a:schemeClr>
                </a:solidFill>
              </a:rPr>
              <a:t>).</a:t>
            </a:r>
          </a:p>
          <a:p>
            <a:pPr algn="l"/>
            <a:r>
              <a:rPr lang="en-US" b="1" dirty="0" smtClean="0"/>
              <a:t>Project involved :-  </a:t>
            </a:r>
            <a:r>
              <a:rPr lang="en-US" dirty="0" smtClean="0"/>
              <a:t>Academic Departments</a:t>
            </a:r>
          </a:p>
          <a:p>
            <a:r>
              <a:rPr lang="en-US" b="1" dirty="0"/>
              <a:t>Project briefing</a:t>
            </a:r>
            <a:r>
              <a:rPr lang="en-US" b="1" dirty="0" smtClean="0"/>
              <a:t>:- </a:t>
            </a:r>
            <a:r>
              <a:rPr lang="en-US" dirty="0"/>
              <a:t>The Bridge Program Python and Math have 6 students in both programs started in 06 June ends 22 July. The 5 Students admitted to KU Master program. One student failed in </a:t>
            </a:r>
            <a:r>
              <a:rPr lang="en-US" dirty="0" err="1"/>
              <a:t>Math,thus</a:t>
            </a:r>
            <a:r>
              <a:rPr lang="en-US" dirty="0"/>
              <a:t> he cannot enroll in the master program.</a:t>
            </a:r>
            <a:endParaRPr lang="en-US" b="1" dirty="0"/>
          </a:p>
          <a:p>
            <a:r>
              <a:rPr lang="en-US" b="1" dirty="0" smtClean="0"/>
              <a:t>Project time frame: </a:t>
            </a:r>
            <a:r>
              <a:rPr lang="en-US" dirty="0"/>
              <a:t>under progress</a:t>
            </a:r>
          </a:p>
          <a:p>
            <a:r>
              <a:rPr lang="en-US" b="1" dirty="0" smtClean="0"/>
              <a:t>Project updates: </a:t>
            </a:r>
            <a:r>
              <a:rPr lang="en-US" dirty="0" smtClean="0"/>
              <a:t>Continue</a:t>
            </a:r>
          </a:p>
        </p:txBody>
      </p:sp>
      <p:sp>
        <p:nvSpPr>
          <p:cNvPr id="6" name="Title 1"/>
          <p:cNvSpPr>
            <a:spLocks noGrp="1"/>
          </p:cNvSpPr>
          <p:nvPr>
            <p:ph type="title"/>
          </p:nvPr>
        </p:nvSpPr>
        <p:spPr>
          <a:xfrm>
            <a:off x="526943" y="-51456"/>
            <a:ext cx="8438147" cy="1579646"/>
          </a:xfrm>
        </p:spPr>
        <p:txBody>
          <a:bodyPr/>
          <a:lstStyle/>
          <a:p>
            <a:r>
              <a:rPr lang="en-US" dirty="0" smtClean="0"/>
              <a:t>Continuing Education </a:t>
            </a:r>
            <a:endParaRPr lang="en-US" dirty="0"/>
          </a:p>
        </p:txBody>
      </p:sp>
      <p:sp>
        <p:nvSpPr>
          <p:cNvPr id="7" name="TextBox 6"/>
          <p:cNvSpPr txBox="1"/>
          <p:nvPr/>
        </p:nvSpPr>
        <p:spPr>
          <a:xfrm>
            <a:off x="526943" y="4109192"/>
            <a:ext cx="10888715" cy="1661993"/>
          </a:xfrm>
          <a:prstGeom prst="rect">
            <a:avLst/>
          </a:prstGeom>
          <a:noFill/>
          <a:ln>
            <a:noFill/>
          </a:ln>
        </p:spPr>
        <p:txBody>
          <a:bodyPr wrap="square" lIns="0" tIns="0" rIns="0" bIns="0" rtlCol="0">
            <a:spAutoFit/>
          </a:bodyPr>
          <a:lstStyle/>
          <a:p>
            <a:r>
              <a:rPr lang="en-US" b="1" dirty="0" smtClean="0"/>
              <a:t>Project Name</a:t>
            </a:r>
            <a:r>
              <a:rPr lang="en-US" dirty="0" smtClean="0"/>
              <a:t>: </a:t>
            </a:r>
            <a:r>
              <a:rPr lang="en-US" b="1" dirty="0" smtClean="0">
                <a:solidFill>
                  <a:schemeClr val="accent1">
                    <a:lumMod val="50000"/>
                  </a:schemeClr>
                </a:solidFill>
              </a:rPr>
              <a:t>Finalizing collaboration agreement with AD Police</a:t>
            </a:r>
            <a:r>
              <a:rPr lang="en-US" dirty="0" smtClean="0"/>
              <a:t>.</a:t>
            </a:r>
          </a:p>
          <a:p>
            <a:pPr algn="l"/>
            <a:r>
              <a:rPr lang="en-US" b="1" dirty="0" smtClean="0"/>
              <a:t>Project involved departments</a:t>
            </a:r>
            <a:r>
              <a:rPr lang="en-US" dirty="0" smtClean="0"/>
              <a:t>: Continues Education program &amp; BDU.  </a:t>
            </a:r>
          </a:p>
          <a:p>
            <a:pPr algn="l"/>
            <a:r>
              <a:rPr lang="en-US" b="1" dirty="0" smtClean="0"/>
              <a:t>Project time frame</a:t>
            </a:r>
            <a:r>
              <a:rPr lang="en-US" dirty="0" smtClean="0"/>
              <a:t>: Under Progress.</a:t>
            </a:r>
          </a:p>
          <a:p>
            <a:r>
              <a:rPr lang="en-US" b="1" dirty="0" smtClean="0"/>
              <a:t>Project updates</a:t>
            </a:r>
            <a:r>
              <a:rPr lang="en-US" dirty="0" smtClean="0"/>
              <a:t>: The agreement was activated,</a:t>
            </a:r>
            <a:r>
              <a:rPr lang="ar-AE" dirty="0" smtClean="0"/>
              <a:t> </a:t>
            </a:r>
            <a:r>
              <a:rPr lang="en-US" dirty="0" smtClean="0"/>
              <a:t>meetings between the two parties. KU was visited by the delegation of officers</a:t>
            </a:r>
            <a:r>
              <a:rPr lang="ar-AE" dirty="0" smtClean="0"/>
              <a:t> </a:t>
            </a:r>
            <a:r>
              <a:rPr lang="en-US" dirty="0" smtClean="0"/>
              <a:t>(Future leaders), on going coordination to meet with Major General </a:t>
            </a:r>
            <a:r>
              <a:rPr lang="en-US" dirty="0" err="1" smtClean="0"/>
              <a:t>Thani</a:t>
            </a:r>
            <a:r>
              <a:rPr lang="en-US" dirty="0" smtClean="0"/>
              <a:t> Al-</a:t>
            </a:r>
            <a:r>
              <a:rPr lang="en-US" dirty="0" err="1" smtClean="0"/>
              <a:t>Shamsi</a:t>
            </a:r>
            <a:r>
              <a:rPr lang="en-US" dirty="0" smtClean="0"/>
              <a:t>, leader of Saif bin </a:t>
            </a:r>
            <a:r>
              <a:rPr lang="en-US" dirty="0" err="1" smtClean="0"/>
              <a:t>Zayed</a:t>
            </a:r>
            <a:r>
              <a:rPr lang="en-US" dirty="0" smtClean="0"/>
              <a:t> Academy. To start implementing the MOU.</a:t>
            </a:r>
          </a:p>
        </p:txBody>
      </p:sp>
      <p:sp>
        <p:nvSpPr>
          <p:cNvPr id="5" name="Rounded Rectangle 4"/>
          <p:cNvSpPr/>
          <p:nvPr/>
        </p:nvSpPr>
        <p:spPr>
          <a:xfrm>
            <a:off x="264182" y="3962399"/>
            <a:ext cx="11151476" cy="1987111"/>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264182" y="1556217"/>
            <a:ext cx="11151476" cy="2290569"/>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14905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484727" y="1702113"/>
            <a:ext cx="10888715" cy="1661993"/>
          </a:xfrm>
          <a:prstGeom prst="rect">
            <a:avLst/>
          </a:prstGeom>
          <a:noFill/>
          <a:ln>
            <a:noFill/>
          </a:ln>
        </p:spPr>
        <p:txBody>
          <a:bodyPr wrap="square" lIns="0" tIns="0" rIns="0" bIns="0" rtlCol="0">
            <a:spAutoFit/>
          </a:bodyPr>
          <a:lstStyle/>
          <a:p>
            <a:r>
              <a:rPr lang="en-US" b="1" dirty="0" smtClean="0"/>
              <a:t>Project Name</a:t>
            </a:r>
            <a:r>
              <a:rPr lang="en-US" b="1" dirty="0"/>
              <a:t>: </a:t>
            </a:r>
            <a:r>
              <a:rPr lang="en-US" b="1" dirty="0" smtClean="0">
                <a:solidFill>
                  <a:schemeClr val="accent1">
                    <a:lumMod val="50000"/>
                  </a:schemeClr>
                </a:solidFill>
              </a:rPr>
              <a:t>Start </a:t>
            </a:r>
            <a:r>
              <a:rPr lang="en-US" b="1" dirty="0">
                <a:solidFill>
                  <a:schemeClr val="accent1">
                    <a:lumMod val="50000"/>
                  </a:schemeClr>
                </a:solidFill>
              </a:rPr>
              <a:t>courses preparation with </a:t>
            </a:r>
            <a:r>
              <a:rPr lang="en-US" b="1" dirty="0" smtClean="0">
                <a:solidFill>
                  <a:schemeClr val="accent1">
                    <a:lumMod val="50000"/>
                  </a:schemeClr>
                </a:solidFill>
              </a:rPr>
              <a:t>Coursera</a:t>
            </a:r>
            <a:r>
              <a:rPr lang="en-US" b="1" dirty="0" smtClean="0">
                <a:solidFill>
                  <a:schemeClr val="tx2"/>
                </a:solidFill>
              </a:rPr>
              <a:t>. </a:t>
            </a:r>
          </a:p>
          <a:p>
            <a:pPr algn="l"/>
            <a:r>
              <a:rPr lang="en-US" b="1" dirty="0" smtClean="0"/>
              <a:t>Project involved </a:t>
            </a:r>
            <a:r>
              <a:rPr lang="en-US" dirty="0" smtClean="0"/>
              <a:t>: Academic Departments </a:t>
            </a:r>
          </a:p>
          <a:p>
            <a:r>
              <a:rPr lang="en-US" b="1" dirty="0"/>
              <a:t>Project briefing</a:t>
            </a:r>
            <a:r>
              <a:rPr lang="en-US" b="1" dirty="0" smtClean="0"/>
              <a:t>:- </a:t>
            </a:r>
            <a:r>
              <a:rPr lang="en-US" dirty="0" smtClean="0"/>
              <a:t>Partnership between KU and Coursera, to stimulate KU courses and increase revenues</a:t>
            </a:r>
            <a:endParaRPr lang="en-US" dirty="0"/>
          </a:p>
          <a:p>
            <a:pPr algn="l"/>
            <a:r>
              <a:rPr lang="en-US" b="1" dirty="0" smtClean="0"/>
              <a:t>Project time frame: </a:t>
            </a:r>
            <a:r>
              <a:rPr lang="en-US" dirty="0" smtClean="0"/>
              <a:t>Dec 2022</a:t>
            </a:r>
          </a:p>
          <a:p>
            <a:r>
              <a:rPr lang="en-US" b="1" dirty="0" smtClean="0"/>
              <a:t>Project updates: </a:t>
            </a:r>
            <a:r>
              <a:rPr lang="en-US" dirty="0" smtClean="0"/>
              <a:t>The final contract signed, will receive the first funding within 3 weeks, and project will start.</a:t>
            </a:r>
          </a:p>
        </p:txBody>
      </p:sp>
      <p:sp>
        <p:nvSpPr>
          <p:cNvPr id="8" name="Title 1"/>
          <p:cNvSpPr>
            <a:spLocks noGrp="1"/>
          </p:cNvSpPr>
          <p:nvPr>
            <p:ph type="title"/>
          </p:nvPr>
        </p:nvSpPr>
        <p:spPr>
          <a:xfrm>
            <a:off x="484727" y="-108932"/>
            <a:ext cx="8438147" cy="1579646"/>
          </a:xfrm>
        </p:spPr>
        <p:txBody>
          <a:bodyPr/>
          <a:lstStyle/>
          <a:p>
            <a:r>
              <a:rPr lang="en-US" dirty="0" smtClean="0"/>
              <a:t>Continuing Education </a:t>
            </a:r>
            <a:endParaRPr lang="en-US" dirty="0"/>
          </a:p>
        </p:txBody>
      </p:sp>
      <p:sp>
        <p:nvSpPr>
          <p:cNvPr id="9" name="TextBox 8"/>
          <p:cNvSpPr txBox="1"/>
          <p:nvPr/>
        </p:nvSpPr>
        <p:spPr>
          <a:xfrm>
            <a:off x="484727" y="3826905"/>
            <a:ext cx="10888715" cy="1661993"/>
          </a:xfrm>
          <a:prstGeom prst="rect">
            <a:avLst/>
          </a:prstGeom>
          <a:noFill/>
          <a:ln>
            <a:noFill/>
          </a:ln>
        </p:spPr>
        <p:txBody>
          <a:bodyPr wrap="square" lIns="0" tIns="0" rIns="0" bIns="0" rtlCol="0">
            <a:spAutoFit/>
          </a:bodyPr>
          <a:lstStyle/>
          <a:p>
            <a:r>
              <a:rPr lang="en-US" b="1" dirty="0" smtClean="0"/>
              <a:t>Project Name</a:t>
            </a:r>
            <a:r>
              <a:rPr lang="en-US" dirty="0"/>
              <a:t>: </a:t>
            </a:r>
            <a:r>
              <a:rPr lang="en-US" b="1" dirty="0">
                <a:solidFill>
                  <a:schemeClr val="accent1">
                    <a:lumMod val="50000"/>
                  </a:schemeClr>
                </a:solidFill>
              </a:rPr>
              <a:t>Establish the Cyber academy in </a:t>
            </a:r>
            <a:r>
              <a:rPr lang="en-US" b="1" dirty="0" smtClean="0">
                <a:solidFill>
                  <a:schemeClr val="accent1">
                    <a:lumMod val="50000"/>
                  </a:schemeClr>
                </a:solidFill>
              </a:rPr>
              <a:t>KU</a:t>
            </a:r>
            <a:r>
              <a:rPr lang="en-US" dirty="0" smtClean="0">
                <a:solidFill>
                  <a:schemeClr val="tx2"/>
                </a:solidFill>
              </a:rPr>
              <a:t>.</a:t>
            </a:r>
            <a:r>
              <a:rPr lang="en-US" dirty="0" smtClean="0"/>
              <a:t> </a:t>
            </a:r>
          </a:p>
          <a:p>
            <a:pPr algn="l"/>
            <a:r>
              <a:rPr lang="en-US" b="1" dirty="0" smtClean="0"/>
              <a:t>Project involved department</a:t>
            </a:r>
            <a:r>
              <a:rPr lang="en-US" dirty="0" smtClean="0"/>
              <a:t>: Artificial intelligence </a:t>
            </a:r>
          </a:p>
          <a:p>
            <a:pPr algn="l"/>
            <a:r>
              <a:rPr lang="en-US" b="1" dirty="0" smtClean="0"/>
              <a:t>Briefing</a:t>
            </a:r>
            <a:r>
              <a:rPr lang="en-US" dirty="0" smtClean="0"/>
              <a:t>: to establish an academy for cyber security in coordination with Leonardo academy from Italy, which can be a unique academy in UAE.</a:t>
            </a:r>
          </a:p>
          <a:p>
            <a:pPr algn="l"/>
            <a:r>
              <a:rPr lang="en-US" b="1" dirty="0" smtClean="0"/>
              <a:t>Project time frame</a:t>
            </a:r>
            <a:r>
              <a:rPr lang="en-US" dirty="0" smtClean="0"/>
              <a:t>:. Mar 2023</a:t>
            </a:r>
          </a:p>
          <a:p>
            <a:r>
              <a:rPr lang="en-US" b="1" dirty="0" smtClean="0"/>
              <a:t>Project updates</a:t>
            </a:r>
            <a:r>
              <a:rPr lang="en-US" dirty="0" smtClean="0"/>
              <a:t>:. Still in the budgeting and contracting stage, to agree on partnership details.</a:t>
            </a:r>
          </a:p>
        </p:txBody>
      </p:sp>
      <p:sp>
        <p:nvSpPr>
          <p:cNvPr id="5" name="Rounded Rectangle 4"/>
          <p:cNvSpPr/>
          <p:nvPr/>
        </p:nvSpPr>
        <p:spPr>
          <a:xfrm>
            <a:off x="221966" y="1509729"/>
            <a:ext cx="11151476" cy="2046760"/>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221966" y="3704897"/>
            <a:ext cx="11151476" cy="1886606"/>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08534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0849" y="-432830"/>
            <a:ext cx="8438147" cy="1579646"/>
          </a:xfrm>
        </p:spPr>
        <p:txBody>
          <a:bodyPr/>
          <a:lstStyle/>
          <a:p>
            <a:r>
              <a:rPr lang="en-US" dirty="0" smtClean="0"/>
              <a:t>Commercial activities</a:t>
            </a:r>
            <a:endParaRPr lang="en-US" dirty="0"/>
          </a:p>
        </p:txBody>
      </p:sp>
      <p:sp>
        <p:nvSpPr>
          <p:cNvPr id="9" name="Flowchart: Connector 8"/>
          <p:cNvSpPr/>
          <p:nvPr/>
        </p:nvSpPr>
        <p:spPr>
          <a:xfrm>
            <a:off x="618652" y="530157"/>
            <a:ext cx="852147" cy="735375"/>
          </a:xfrm>
          <a:prstGeom prst="flowChartConnector">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solidFill>
              </a:rPr>
              <a:t>3</a:t>
            </a:r>
            <a:endParaRPr lang="en-US" sz="2800" b="1" dirty="0">
              <a:solidFill>
                <a:schemeClr val="tx1"/>
              </a:solidFill>
            </a:endParaRPr>
          </a:p>
        </p:txBody>
      </p:sp>
      <p:sp>
        <p:nvSpPr>
          <p:cNvPr id="13" name="TextBox 12"/>
          <p:cNvSpPr txBox="1"/>
          <p:nvPr/>
        </p:nvSpPr>
        <p:spPr>
          <a:xfrm>
            <a:off x="745416" y="1774908"/>
            <a:ext cx="10750169" cy="1661993"/>
          </a:xfrm>
          <a:prstGeom prst="rect">
            <a:avLst/>
          </a:prstGeom>
          <a:noFill/>
          <a:ln>
            <a:noFill/>
          </a:ln>
        </p:spPr>
        <p:txBody>
          <a:bodyPr wrap="square" lIns="0" tIns="0" rIns="0" bIns="0" rtlCol="0">
            <a:spAutoFit/>
          </a:bodyPr>
          <a:lstStyle/>
          <a:p>
            <a:r>
              <a:rPr lang="en-US" b="1" dirty="0" smtClean="0"/>
              <a:t>Project Name</a:t>
            </a:r>
            <a:r>
              <a:rPr lang="en-US" dirty="0"/>
              <a:t>: </a:t>
            </a:r>
            <a:r>
              <a:rPr lang="en-US" b="1" dirty="0">
                <a:solidFill>
                  <a:schemeClr val="accent1">
                    <a:lumMod val="50000"/>
                  </a:schemeClr>
                </a:solidFill>
              </a:rPr>
              <a:t>Finalize Laboratories website and operation </a:t>
            </a:r>
            <a:r>
              <a:rPr lang="en-US" b="1" dirty="0" smtClean="0">
                <a:solidFill>
                  <a:schemeClr val="accent1">
                    <a:lumMod val="50000"/>
                  </a:schemeClr>
                </a:solidFill>
              </a:rPr>
              <a:t>model</a:t>
            </a:r>
            <a:r>
              <a:rPr lang="en-US" dirty="0" smtClean="0">
                <a:solidFill>
                  <a:schemeClr val="tx2"/>
                </a:solidFill>
              </a:rPr>
              <a:t>.</a:t>
            </a:r>
          </a:p>
          <a:p>
            <a:pPr algn="l"/>
            <a:r>
              <a:rPr lang="en-US" b="1" dirty="0" smtClean="0"/>
              <a:t>Project involved: </a:t>
            </a:r>
            <a:r>
              <a:rPr lang="en-US" dirty="0" smtClean="0"/>
              <a:t>Laboratories Department </a:t>
            </a:r>
          </a:p>
          <a:p>
            <a:r>
              <a:rPr lang="en-US" b="1" dirty="0"/>
              <a:t>Project briefing</a:t>
            </a:r>
            <a:r>
              <a:rPr lang="en-US" dirty="0" smtClean="0"/>
              <a:t>:- Commercialization of KU laboratories.</a:t>
            </a:r>
            <a:endParaRPr lang="en-US" dirty="0"/>
          </a:p>
          <a:p>
            <a:pPr algn="l"/>
            <a:r>
              <a:rPr lang="en-US" b="1" dirty="0" smtClean="0"/>
              <a:t>Project time frame</a:t>
            </a:r>
            <a:r>
              <a:rPr lang="en-US" dirty="0" smtClean="0"/>
              <a:t>:. Dec 2022</a:t>
            </a:r>
          </a:p>
          <a:p>
            <a:r>
              <a:rPr lang="en-US" b="1" dirty="0" smtClean="0"/>
              <a:t>Project updates</a:t>
            </a:r>
            <a:r>
              <a:rPr lang="en-US" dirty="0" smtClean="0"/>
              <a:t>:. Awaiting Laboratories department to provide the website contents, many opportunities to use KU lab in pipeline.</a:t>
            </a:r>
          </a:p>
        </p:txBody>
      </p:sp>
      <p:sp>
        <p:nvSpPr>
          <p:cNvPr id="11" name="Rounded Rectangle 10"/>
          <p:cNvSpPr/>
          <p:nvPr/>
        </p:nvSpPr>
        <p:spPr>
          <a:xfrm>
            <a:off x="482649" y="1656192"/>
            <a:ext cx="11151476" cy="1965382"/>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18652" y="4012234"/>
            <a:ext cx="10600366" cy="1692771"/>
          </a:xfrm>
          <a:prstGeom prst="rect">
            <a:avLst/>
          </a:prstGeom>
          <a:noFill/>
          <a:ln>
            <a:noFill/>
          </a:ln>
        </p:spPr>
        <p:txBody>
          <a:bodyPr wrap="square" lIns="0" tIns="0" rIns="0" bIns="0" rtlCol="0">
            <a:spAutoFit/>
          </a:bodyPr>
          <a:lstStyle/>
          <a:p>
            <a:r>
              <a:rPr lang="en-US" b="1" dirty="0" smtClean="0"/>
              <a:t>Project Name</a:t>
            </a:r>
            <a:r>
              <a:rPr lang="en-US" dirty="0" smtClean="0"/>
              <a:t>: </a:t>
            </a:r>
            <a:r>
              <a:rPr lang="en-US" dirty="0"/>
              <a:t> </a:t>
            </a:r>
            <a:r>
              <a:rPr lang="en-US" b="1" dirty="0">
                <a:solidFill>
                  <a:schemeClr val="accent1">
                    <a:lumMod val="50000"/>
                  </a:schemeClr>
                </a:solidFill>
              </a:rPr>
              <a:t>Smart card </a:t>
            </a:r>
            <a:r>
              <a:rPr lang="en-US" b="1" dirty="0" smtClean="0">
                <a:solidFill>
                  <a:schemeClr val="accent1">
                    <a:lumMod val="50000"/>
                  </a:schemeClr>
                </a:solidFill>
              </a:rPr>
              <a:t>project </a:t>
            </a:r>
            <a:r>
              <a:rPr lang="en-US" b="1" dirty="0">
                <a:solidFill>
                  <a:schemeClr val="accent1">
                    <a:lumMod val="50000"/>
                  </a:schemeClr>
                </a:solidFill>
              </a:rPr>
              <a:t>for </a:t>
            </a:r>
            <a:r>
              <a:rPr lang="en-US" b="1" dirty="0" smtClean="0">
                <a:solidFill>
                  <a:schemeClr val="accent1">
                    <a:lumMod val="50000"/>
                  </a:schemeClr>
                </a:solidFill>
              </a:rPr>
              <a:t>students(Extra miles) </a:t>
            </a:r>
          </a:p>
          <a:p>
            <a:pPr algn="l"/>
            <a:r>
              <a:rPr lang="en-US" b="1" dirty="0" smtClean="0"/>
              <a:t>Project involved departments</a:t>
            </a:r>
            <a:r>
              <a:rPr lang="en-US" dirty="0" smtClean="0"/>
              <a:t>: Students Services and IT. </a:t>
            </a:r>
          </a:p>
          <a:p>
            <a:pPr algn="l"/>
            <a:r>
              <a:rPr lang="en-US" b="1" dirty="0" smtClean="0"/>
              <a:t>Project time frame</a:t>
            </a:r>
            <a:r>
              <a:rPr lang="en-US" dirty="0" smtClean="0"/>
              <a:t>: 4 months expected to be lunched Jan. 2023 </a:t>
            </a:r>
            <a:endParaRPr lang="en-US" b="1" dirty="0" smtClean="0"/>
          </a:p>
          <a:p>
            <a:pPr algn="l"/>
            <a:r>
              <a:rPr lang="en-US" b="1" dirty="0" smtClean="0"/>
              <a:t>Project Briefing: </a:t>
            </a:r>
            <a:r>
              <a:rPr lang="en-US" dirty="0" smtClean="0"/>
              <a:t>to establish student card system that add value to all KU students.</a:t>
            </a:r>
            <a:endParaRPr lang="en-US" b="1" dirty="0" smtClean="0"/>
          </a:p>
          <a:p>
            <a:pPr algn="l"/>
            <a:r>
              <a:rPr lang="en-US" b="1" dirty="0" smtClean="0"/>
              <a:t>Project updates</a:t>
            </a:r>
            <a:r>
              <a:rPr lang="en-US" dirty="0" smtClean="0"/>
              <a:t>: Reviewed with Student services senior management, they asked to review first with IT to check similar system was used before in PI</a:t>
            </a:r>
            <a:r>
              <a:rPr lang="en-US" sz="2000" dirty="0" smtClean="0"/>
              <a:t>.  </a:t>
            </a:r>
          </a:p>
        </p:txBody>
      </p:sp>
      <p:sp>
        <p:nvSpPr>
          <p:cNvPr id="15" name="Rounded Rectangle 14"/>
          <p:cNvSpPr/>
          <p:nvPr/>
        </p:nvSpPr>
        <p:spPr>
          <a:xfrm>
            <a:off x="480889" y="3861018"/>
            <a:ext cx="11005460" cy="2252712"/>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70197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E2B48B6-5880-4AD0-87AA-3CD2E06489A3}"/>
              </a:ext>
            </a:extLst>
          </p:cNvPr>
          <p:cNvSpPr>
            <a:spLocks noGrp="1"/>
          </p:cNvSpPr>
          <p:nvPr>
            <p:ph type="dt" sz="half" idx="10"/>
          </p:nvPr>
        </p:nvSpPr>
        <p:spPr/>
        <p:txBody>
          <a:bodyPr/>
          <a:lstStyle/>
          <a:p>
            <a:r>
              <a:rPr lang="en-US" dirty="0"/>
              <a:t>01 August 2022</a:t>
            </a:r>
          </a:p>
        </p:txBody>
      </p:sp>
      <p:sp>
        <p:nvSpPr>
          <p:cNvPr id="5" name="Footer Placeholder 4">
            <a:extLst>
              <a:ext uri="{FF2B5EF4-FFF2-40B4-BE49-F238E27FC236}">
                <a16:creationId xmlns:a16="http://schemas.microsoft.com/office/drawing/2014/main" id="{0528C420-638A-4D4C-9B72-8A32B09AC93D}"/>
              </a:ext>
            </a:extLst>
          </p:cNvPr>
          <p:cNvSpPr>
            <a:spLocks noGrp="1"/>
          </p:cNvSpPr>
          <p:nvPr>
            <p:ph type="ftr" sz="quarter" idx="11"/>
          </p:nvPr>
        </p:nvSpPr>
        <p:spPr/>
        <p:txBody>
          <a:bodyPr/>
          <a:lstStyle/>
          <a:p>
            <a:r>
              <a:rPr lang="en-US" dirty="0"/>
              <a:t>Advertising Screen</a:t>
            </a:r>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19</a:t>
            </a:fld>
            <a:endParaRPr lang="en-US"/>
          </a:p>
        </p:txBody>
      </p:sp>
      <p:pic>
        <p:nvPicPr>
          <p:cNvPr id="8" name="Picture 7">
            <a:extLst>
              <a:ext uri="{FF2B5EF4-FFF2-40B4-BE49-F238E27FC236}">
                <a16:creationId xmlns:a16="http://schemas.microsoft.com/office/drawing/2014/main" id="{EC790477-A87D-66F8-433F-7119200543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9807" y="1342696"/>
            <a:ext cx="3540670" cy="4799120"/>
          </a:xfrm>
          <a:prstGeom prst="rect">
            <a:avLst/>
          </a:prstGeom>
        </p:spPr>
      </p:pic>
      <p:sp>
        <p:nvSpPr>
          <p:cNvPr id="9" name="TextBox 8"/>
          <p:cNvSpPr txBox="1"/>
          <p:nvPr/>
        </p:nvSpPr>
        <p:spPr>
          <a:xfrm>
            <a:off x="489201" y="1925344"/>
            <a:ext cx="7597524" cy="1938992"/>
          </a:xfrm>
          <a:prstGeom prst="rect">
            <a:avLst/>
          </a:prstGeom>
          <a:noFill/>
          <a:ln>
            <a:noFill/>
          </a:ln>
        </p:spPr>
        <p:txBody>
          <a:bodyPr wrap="square" lIns="0" tIns="0" rIns="0" bIns="0" rtlCol="0">
            <a:spAutoFit/>
          </a:bodyPr>
          <a:lstStyle/>
          <a:p>
            <a:r>
              <a:rPr lang="en-US" b="1" dirty="0" smtClean="0"/>
              <a:t>Project Name</a:t>
            </a:r>
            <a:r>
              <a:rPr lang="en-US" dirty="0" smtClean="0"/>
              <a:t>: </a:t>
            </a:r>
            <a:r>
              <a:rPr lang="en-US" b="1" dirty="0" smtClean="0">
                <a:solidFill>
                  <a:schemeClr val="accent1">
                    <a:lumMod val="50000"/>
                  </a:schemeClr>
                </a:solidFill>
              </a:rPr>
              <a:t>Outdoor Advertisement Screens</a:t>
            </a:r>
          </a:p>
          <a:p>
            <a:r>
              <a:rPr lang="en-US" b="1" dirty="0" smtClean="0"/>
              <a:t>Project involved departments</a:t>
            </a:r>
            <a:r>
              <a:rPr lang="en-US" dirty="0" smtClean="0"/>
              <a:t>: </a:t>
            </a:r>
            <a:r>
              <a:rPr lang="en-US" dirty="0"/>
              <a:t>Communications </a:t>
            </a:r>
            <a:r>
              <a:rPr lang="en-US" dirty="0" smtClean="0"/>
              <a:t>/Project </a:t>
            </a:r>
            <a:r>
              <a:rPr lang="en-US" dirty="0"/>
              <a:t>time frame: 6 months</a:t>
            </a:r>
            <a:r>
              <a:rPr lang="en-US" dirty="0" smtClean="0"/>
              <a:t>.</a:t>
            </a:r>
          </a:p>
          <a:p>
            <a:r>
              <a:rPr lang="en-US" b="1" dirty="0" smtClean="0"/>
              <a:t>Project briefing</a:t>
            </a:r>
            <a:r>
              <a:rPr lang="en-US" dirty="0" smtClean="0"/>
              <a:t>: to install huge outdoor screen to help in community awareness and generate revenue. </a:t>
            </a:r>
            <a:endParaRPr lang="en-US" dirty="0"/>
          </a:p>
          <a:p>
            <a:pPr algn="l"/>
            <a:r>
              <a:rPr lang="en-US" b="1" dirty="0" smtClean="0"/>
              <a:t>Project Timeframe</a:t>
            </a:r>
            <a:r>
              <a:rPr lang="en-US" dirty="0" smtClean="0"/>
              <a:t>: Jan 2023</a:t>
            </a:r>
          </a:p>
          <a:p>
            <a:pPr algn="l"/>
            <a:r>
              <a:rPr lang="en-US" b="1" dirty="0" smtClean="0"/>
              <a:t>Pending points</a:t>
            </a:r>
            <a:r>
              <a:rPr lang="en-US" dirty="0" smtClean="0"/>
              <a:t>: to meet our management to approve the concept.</a:t>
            </a:r>
          </a:p>
        </p:txBody>
      </p:sp>
      <p:sp>
        <p:nvSpPr>
          <p:cNvPr id="13" name="Title 1"/>
          <p:cNvSpPr>
            <a:spLocks noGrp="1"/>
          </p:cNvSpPr>
          <p:nvPr>
            <p:ph type="title"/>
          </p:nvPr>
        </p:nvSpPr>
        <p:spPr>
          <a:xfrm>
            <a:off x="171120" y="-135263"/>
            <a:ext cx="8438147" cy="1579646"/>
          </a:xfrm>
        </p:spPr>
        <p:txBody>
          <a:bodyPr/>
          <a:lstStyle/>
          <a:p>
            <a:r>
              <a:rPr lang="en-US" dirty="0" smtClean="0"/>
              <a:t>Commercial activities</a:t>
            </a:r>
            <a:endParaRPr lang="en-US" dirty="0"/>
          </a:p>
        </p:txBody>
      </p:sp>
      <p:sp>
        <p:nvSpPr>
          <p:cNvPr id="10" name="Rounded Rectangle 9"/>
          <p:cNvSpPr/>
          <p:nvPr/>
        </p:nvSpPr>
        <p:spPr>
          <a:xfrm>
            <a:off x="171120" y="1829028"/>
            <a:ext cx="8038772" cy="2285270"/>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63042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15142" y="1144050"/>
            <a:ext cx="10892229" cy="1661993"/>
          </a:xfrm>
          <a:prstGeom prst="rect">
            <a:avLst/>
          </a:prstGeom>
          <a:noFill/>
          <a:ln>
            <a:noFill/>
          </a:ln>
        </p:spPr>
        <p:txBody>
          <a:bodyPr wrap="square" lIns="0" tIns="0" rIns="0" bIns="0" rtlCol="0">
            <a:spAutoFit/>
          </a:bodyPr>
          <a:lstStyle/>
          <a:p>
            <a:r>
              <a:rPr lang="en-US" b="1" dirty="0"/>
              <a:t>Project Name</a:t>
            </a:r>
            <a:r>
              <a:rPr lang="en-US" dirty="0"/>
              <a:t>: </a:t>
            </a:r>
            <a:r>
              <a:rPr lang="en-US" b="1" dirty="0">
                <a:solidFill>
                  <a:schemeClr val="accent1">
                    <a:lumMod val="50000"/>
                  </a:schemeClr>
                </a:solidFill>
              </a:rPr>
              <a:t>The Nursery </a:t>
            </a:r>
          </a:p>
          <a:p>
            <a:r>
              <a:rPr lang="en-US" b="1" dirty="0"/>
              <a:t>Project involved </a:t>
            </a:r>
            <a:r>
              <a:rPr lang="en-US" b="1" dirty="0" smtClean="0"/>
              <a:t>departments</a:t>
            </a:r>
            <a:r>
              <a:rPr lang="en-US" dirty="0" smtClean="0"/>
              <a:t>: Facilities, </a:t>
            </a:r>
          </a:p>
          <a:p>
            <a:r>
              <a:rPr lang="en-US" b="1" dirty="0"/>
              <a:t>briefing</a:t>
            </a:r>
            <a:r>
              <a:rPr lang="en-US" dirty="0"/>
              <a:t> : to </a:t>
            </a:r>
            <a:r>
              <a:rPr lang="en-US" dirty="0" smtClean="0"/>
              <a:t>establish a nursery that help KU community.</a:t>
            </a:r>
            <a:endParaRPr lang="en-US" dirty="0"/>
          </a:p>
          <a:p>
            <a:r>
              <a:rPr lang="en-US" b="1" dirty="0"/>
              <a:t>Project time frame</a:t>
            </a:r>
            <a:r>
              <a:rPr lang="en-US" dirty="0"/>
              <a:t>: expected first week of Sep.2022 </a:t>
            </a:r>
          </a:p>
          <a:p>
            <a:r>
              <a:rPr lang="en-US" b="1" dirty="0"/>
              <a:t>Project updates</a:t>
            </a:r>
            <a:r>
              <a:rPr lang="en-US" dirty="0"/>
              <a:t>: </a:t>
            </a:r>
            <a:r>
              <a:rPr lang="en-US" dirty="0" smtClean="0"/>
              <a:t>in the final stage of ADEC approval and should start location mobilization soon.</a:t>
            </a:r>
            <a:endParaRPr lang="en-US" dirty="0"/>
          </a:p>
          <a:p>
            <a:endParaRPr lang="en-US" dirty="0"/>
          </a:p>
        </p:txBody>
      </p:sp>
      <p:sp>
        <p:nvSpPr>
          <p:cNvPr id="11" name="Title 1"/>
          <p:cNvSpPr>
            <a:spLocks noGrp="1"/>
          </p:cNvSpPr>
          <p:nvPr>
            <p:ph type="title"/>
          </p:nvPr>
        </p:nvSpPr>
        <p:spPr>
          <a:xfrm>
            <a:off x="615142" y="-576697"/>
            <a:ext cx="8438147" cy="1579646"/>
          </a:xfrm>
        </p:spPr>
        <p:txBody>
          <a:bodyPr/>
          <a:lstStyle/>
          <a:p>
            <a:r>
              <a:rPr lang="en-US" dirty="0" smtClean="0"/>
              <a:t>Commercial activities</a:t>
            </a:r>
            <a:endParaRPr lang="en-US" dirty="0"/>
          </a:p>
        </p:txBody>
      </p:sp>
      <p:sp>
        <p:nvSpPr>
          <p:cNvPr id="14" name="TextBox 13"/>
          <p:cNvSpPr txBox="1"/>
          <p:nvPr/>
        </p:nvSpPr>
        <p:spPr>
          <a:xfrm>
            <a:off x="615142" y="3069478"/>
            <a:ext cx="10888715" cy="1384995"/>
          </a:xfrm>
          <a:prstGeom prst="rect">
            <a:avLst/>
          </a:prstGeom>
          <a:noFill/>
          <a:ln>
            <a:noFill/>
          </a:ln>
        </p:spPr>
        <p:txBody>
          <a:bodyPr wrap="square" lIns="0" tIns="0" rIns="0" bIns="0" rtlCol="0">
            <a:spAutoFit/>
          </a:bodyPr>
          <a:lstStyle/>
          <a:p>
            <a:r>
              <a:rPr lang="en-US" b="1" dirty="0" smtClean="0"/>
              <a:t>Project Name</a:t>
            </a:r>
            <a:r>
              <a:rPr lang="en-US" dirty="0" smtClean="0"/>
              <a:t>: </a:t>
            </a:r>
            <a:r>
              <a:rPr lang="en-US" b="1" dirty="0" smtClean="0">
                <a:solidFill>
                  <a:schemeClr val="accent1">
                    <a:lumMod val="50000"/>
                  </a:schemeClr>
                </a:solidFill>
              </a:rPr>
              <a:t>Souvenirs shop</a:t>
            </a:r>
            <a:r>
              <a:rPr lang="en-US" dirty="0" smtClean="0">
                <a:solidFill>
                  <a:schemeClr val="tx2"/>
                </a:solidFill>
              </a:rPr>
              <a:t>. </a:t>
            </a:r>
          </a:p>
          <a:p>
            <a:pPr algn="l"/>
            <a:r>
              <a:rPr lang="en-US" b="1" dirty="0" smtClean="0"/>
              <a:t>Project involved</a:t>
            </a:r>
            <a:r>
              <a:rPr lang="en-US" dirty="0" smtClean="0"/>
              <a:t>: Communications.</a:t>
            </a:r>
          </a:p>
          <a:p>
            <a:r>
              <a:rPr lang="en-US" b="1" dirty="0"/>
              <a:t>Project briefing</a:t>
            </a:r>
            <a:r>
              <a:rPr lang="en-US" b="1" dirty="0" smtClean="0"/>
              <a:t>:- </a:t>
            </a:r>
            <a:r>
              <a:rPr lang="en-US" dirty="0" smtClean="0"/>
              <a:t>Having a Souvenirs shop in KU to increase KU branding and increase other revenues.</a:t>
            </a:r>
            <a:endParaRPr lang="en-US" dirty="0"/>
          </a:p>
          <a:p>
            <a:pPr algn="l"/>
            <a:r>
              <a:rPr lang="en-US" b="1" dirty="0" smtClean="0"/>
              <a:t>Project time frame</a:t>
            </a:r>
            <a:r>
              <a:rPr lang="en-US" dirty="0" smtClean="0"/>
              <a:t>: Dec 2022.</a:t>
            </a:r>
          </a:p>
          <a:p>
            <a:r>
              <a:rPr lang="en-US" b="1" dirty="0" smtClean="0"/>
              <a:t>Project updates</a:t>
            </a:r>
            <a:r>
              <a:rPr lang="en-US" dirty="0" smtClean="0"/>
              <a:t>: Communication mentioned it is under progress.</a:t>
            </a:r>
          </a:p>
        </p:txBody>
      </p:sp>
      <p:sp>
        <p:nvSpPr>
          <p:cNvPr id="15" name="TextBox 14"/>
          <p:cNvSpPr txBox="1"/>
          <p:nvPr/>
        </p:nvSpPr>
        <p:spPr>
          <a:xfrm>
            <a:off x="615142" y="5149969"/>
            <a:ext cx="10888715" cy="1384995"/>
          </a:xfrm>
          <a:prstGeom prst="rect">
            <a:avLst/>
          </a:prstGeom>
          <a:noFill/>
          <a:ln>
            <a:noFill/>
          </a:ln>
        </p:spPr>
        <p:txBody>
          <a:bodyPr wrap="square" lIns="0" tIns="0" rIns="0" bIns="0" rtlCol="0">
            <a:spAutoFit/>
          </a:bodyPr>
          <a:lstStyle/>
          <a:p>
            <a:r>
              <a:rPr lang="en-US" b="1" dirty="0" smtClean="0"/>
              <a:t>Project Name</a:t>
            </a:r>
            <a:r>
              <a:rPr lang="en-US" dirty="0"/>
              <a:t>: </a:t>
            </a:r>
            <a:r>
              <a:rPr lang="en-US" dirty="0">
                <a:solidFill>
                  <a:schemeClr val="tx2"/>
                </a:solidFill>
              </a:rPr>
              <a:t> </a:t>
            </a:r>
            <a:r>
              <a:rPr lang="en-US" b="1" dirty="0">
                <a:solidFill>
                  <a:schemeClr val="accent1">
                    <a:lumMod val="50000"/>
                  </a:schemeClr>
                </a:solidFill>
              </a:rPr>
              <a:t>Approve 2022 venue rental rates. </a:t>
            </a:r>
          </a:p>
          <a:p>
            <a:pPr algn="l"/>
            <a:r>
              <a:rPr lang="en-US" b="1" dirty="0" smtClean="0"/>
              <a:t>Project involved</a:t>
            </a:r>
            <a:r>
              <a:rPr lang="en-US" dirty="0" smtClean="0"/>
              <a:t>: KU management</a:t>
            </a:r>
          </a:p>
          <a:p>
            <a:r>
              <a:rPr lang="en-US" b="1" dirty="0"/>
              <a:t>Project briefing</a:t>
            </a:r>
            <a:r>
              <a:rPr lang="en-US" b="1" dirty="0" smtClean="0"/>
              <a:t>:- </a:t>
            </a:r>
            <a:r>
              <a:rPr lang="en-US" dirty="0" smtClean="0"/>
              <a:t>Update the venue rental rates for the year 2022</a:t>
            </a:r>
            <a:endParaRPr lang="en-US" dirty="0"/>
          </a:p>
          <a:p>
            <a:pPr algn="l"/>
            <a:r>
              <a:rPr lang="en-US" b="1" dirty="0" smtClean="0"/>
              <a:t>Project time frame: </a:t>
            </a:r>
            <a:r>
              <a:rPr lang="en-US" dirty="0" smtClean="0"/>
              <a:t>Jan 2023</a:t>
            </a:r>
          </a:p>
          <a:p>
            <a:r>
              <a:rPr lang="en-US" b="1" dirty="0" smtClean="0"/>
              <a:t>Project updates: </a:t>
            </a:r>
            <a:r>
              <a:rPr lang="en-US" dirty="0" smtClean="0"/>
              <a:t>awaiting the new valuator to finish his work</a:t>
            </a:r>
            <a:r>
              <a:rPr lang="en-US" b="1" dirty="0" smtClean="0"/>
              <a:t>.</a:t>
            </a:r>
          </a:p>
        </p:txBody>
      </p:sp>
      <p:sp>
        <p:nvSpPr>
          <p:cNvPr id="6" name="Rounded Rectangle 5"/>
          <p:cNvSpPr/>
          <p:nvPr/>
        </p:nvSpPr>
        <p:spPr>
          <a:xfrm>
            <a:off x="352381" y="1022132"/>
            <a:ext cx="11151476" cy="1607749"/>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322904" y="2927961"/>
            <a:ext cx="11151476" cy="1805269"/>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322904" y="4941599"/>
            <a:ext cx="11151476" cy="1801734"/>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5555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DD Month 20XX</a:t>
            </a:r>
            <a:endParaRPr lang="en-US"/>
          </a:p>
        </p:txBody>
      </p:sp>
      <p:sp>
        <p:nvSpPr>
          <p:cNvPr id="5" name="Footer Placeholder 4"/>
          <p:cNvSpPr>
            <a:spLocks noGrp="1"/>
          </p:cNvSpPr>
          <p:nvPr>
            <p:ph type="ftr" sz="quarter" idx="11"/>
          </p:nvPr>
        </p:nvSpPr>
        <p:spPr/>
        <p:txBody>
          <a:bodyPr/>
          <a:lstStyle/>
          <a:p>
            <a:r>
              <a:rPr lang="en-US" smtClean="0"/>
              <a:t>Presentation Title Goes Here</a:t>
            </a:r>
            <a:endParaRPr lang="en-US"/>
          </a:p>
        </p:txBody>
      </p:sp>
      <p:sp>
        <p:nvSpPr>
          <p:cNvPr id="6" name="Slide Number Placeholder 5"/>
          <p:cNvSpPr>
            <a:spLocks noGrp="1"/>
          </p:cNvSpPr>
          <p:nvPr>
            <p:ph type="sldNum" sz="quarter" idx="12"/>
          </p:nvPr>
        </p:nvSpPr>
        <p:spPr/>
        <p:txBody>
          <a:bodyPr/>
          <a:lstStyle/>
          <a:p>
            <a:fld id="{1E68DD1B-5CD8-424B-8173-19E182143E0A}" type="slidenum">
              <a:rPr lang="en-US" smtClean="0"/>
              <a:t>21</a:t>
            </a:fld>
            <a:endParaRPr lang="en-US"/>
          </a:p>
        </p:txBody>
      </p:sp>
      <p:sp>
        <p:nvSpPr>
          <p:cNvPr id="7" name="Content Placeholder 6"/>
          <p:cNvSpPr>
            <a:spLocks noGrp="1"/>
          </p:cNvSpPr>
          <p:nvPr>
            <p:ph idx="1"/>
          </p:nvPr>
        </p:nvSpPr>
        <p:spPr>
          <a:xfrm>
            <a:off x="2073274" y="2855191"/>
            <a:ext cx="7604646" cy="553998"/>
          </a:xfrm>
          <a:prstGeom prst="rect">
            <a:avLst/>
          </a:prstGeom>
        </p:spPr>
        <p:txBody>
          <a:bodyPr wrap="none">
            <a:spAutoFit/>
          </a:bodyPr>
          <a:lstStyle/>
          <a:p>
            <a:pPr marL="0" indent="0">
              <a:buNone/>
            </a:pPr>
            <a:r>
              <a:rPr lang="en-US" sz="3600" b="1" spc="50" dirty="0" smtClean="0">
                <a:solidFill>
                  <a:schemeClr val="tx2"/>
                </a:solidFill>
                <a:latin typeface="+mj-lt"/>
                <a:ea typeface="+mj-ea"/>
                <a:cs typeface="+mj-cs"/>
              </a:rPr>
              <a:t>B- </a:t>
            </a:r>
            <a:r>
              <a:rPr lang="en-US" sz="3600" b="1" spc="50" dirty="0">
                <a:solidFill>
                  <a:schemeClr val="tx2"/>
                </a:solidFill>
                <a:latin typeface="+mj-lt"/>
                <a:ea typeface="+mj-ea"/>
                <a:cs typeface="+mj-cs"/>
              </a:rPr>
              <a:t>Business Development </a:t>
            </a:r>
            <a:r>
              <a:rPr lang="en-US" sz="3600" b="1" spc="50" dirty="0" smtClean="0">
                <a:solidFill>
                  <a:schemeClr val="tx2"/>
                </a:solidFill>
                <a:latin typeface="+mj-lt"/>
                <a:ea typeface="+mj-ea"/>
                <a:cs typeface="+mj-cs"/>
              </a:rPr>
              <a:t>- KUEC</a:t>
            </a:r>
            <a:endParaRPr lang="en-US" sz="3600" b="1" spc="50" dirty="0">
              <a:solidFill>
                <a:schemeClr val="tx2"/>
              </a:solidFill>
              <a:latin typeface="+mj-lt"/>
              <a:ea typeface="+mj-ea"/>
              <a:cs typeface="+mj-cs"/>
            </a:endParaRPr>
          </a:p>
        </p:txBody>
      </p:sp>
    </p:spTree>
    <p:extLst>
      <p:ext uri="{BB962C8B-B14F-4D97-AF65-F5344CB8AC3E}">
        <p14:creationId xmlns:p14="http://schemas.microsoft.com/office/powerpoint/2010/main" val="361655800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3887" y="-393580"/>
            <a:ext cx="9561817" cy="1579646"/>
          </a:xfrm>
        </p:spPr>
        <p:txBody>
          <a:bodyPr>
            <a:normAutofit/>
          </a:bodyPr>
          <a:lstStyle/>
          <a:p>
            <a:r>
              <a:rPr lang="en-US" sz="2400" dirty="0" smtClean="0"/>
              <a:t>KU Endowment history and investment  </a:t>
            </a:r>
            <a:endParaRPr lang="en-US" sz="2400" dirty="0"/>
          </a:p>
        </p:txBody>
      </p:sp>
      <p:sp>
        <p:nvSpPr>
          <p:cNvPr id="11" name="TextBox 10"/>
          <p:cNvSpPr txBox="1"/>
          <p:nvPr/>
        </p:nvSpPr>
        <p:spPr>
          <a:xfrm>
            <a:off x="794133" y="1531132"/>
            <a:ext cx="10888717" cy="1938992"/>
          </a:xfrm>
          <a:prstGeom prst="rect">
            <a:avLst/>
          </a:prstGeom>
          <a:ln>
            <a:noFill/>
          </a:ln>
        </p:spPr>
        <p:style>
          <a:lnRef idx="2">
            <a:schemeClr val="dk1"/>
          </a:lnRef>
          <a:fillRef idx="1">
            <a:schemeClr val="lt1"/>
          </a:fillRef>
          <a:effectRef idx="0">
            <a:schemeClr val="dk1"/>
          </a:effectRef>
          <a:fontRef idx="minor">
            <a:schemeClr val="dk1"/>
          </a:fontRef>
        </p:style>
        <p:txBody>
          <a:bodyPr wrap="square" lIns="0" tIns="0" rIns="0" bIns="0" rtlCol="0">
            <a:spAutoFit/>
          </a:bodyPr>
          <a:lstStyle/>
          <a:p>
            <a:r>
              <a:rPr lang="en-US" b="1" dirty="0"/>
              <a:t>Project Name</a:t>
            </a:r>
            <a:r>
              <a:rPr lang="en-US" dirty="0" smtClean="0"/>
              <a:t>: </a:t>
            </a:r>
            <a:r>
              <a:rPr lang="en-US" b="1" dirty="0" smtClean="0">
                <a:solidFill>
                  <a:schemeClr val="accent1">
                    <a:lumMod val="50000"/>
                  </a:schemeClr>
                </a:solidFill>
              </a:rPr>
              <a:t>Growth the net value of KU Endowment.. </a:t>
            </a:r>
            <a:endParaRPr lang="en-US" b="1" dirty="0">
              <a:solidFill>
                <a:schemeClr val="accent1">
                  <a:lumMod val="50000"/>
                </a:schemeClr>
              </a:solidFill>
            </a:endParaRPr>
          </a:p>
          <a:p>
            <a:r>
              <a:rPr lang="en-US" b="1" dirty="0" smtClean="0"/>
              <a:t>Project </a:t>
            </a:r>
            <a:r>
              <a:rPr lang="en-US" b="1" dirty="0"/>
              <a:t>involved departments</a:t>
            </a:r>
            <a:r>
              <a:rPr lang="en-US" b="1" dirty="0" smtClean="0"/>
              <a:t>: </a:t>
            </a:r>
            <a:r>
              <a:rPr lang="en-US" dirty="0" smtClean="0"/>
              <a:t>BD / Treasury/ KUEC.</a:t>
            </a:r>
          </a:p>
          <a:p>
            <a:r>
              <a:rPr lang="en-US" b="1" dirty="0"/>
              <a:t>Project briefing</a:t>
            </a:r>
            <a:r>
              <a:rPr lang="en-US" b="1" dirty="0" smtClean="0"/>
              <a:t>:- </a:t>
            </a:r>
            <a:r>
              <a:rPr lang="en-US" dirty="0" smtClean="0"/>
              <a:t>by investing the endowment fund and grow its value</a:t>
            </a:r>
            <a:r>
              <a:rPr lang="en-US" b="1" dirty="0" smtClean="0"/>
              <a:t>.</a:t>
            </a:r>
            <a:endParaRPr lang="en-US" b="1" dirty="0"/>
          </a:p>
          <a:p>
            <a:r>
              <a:rPr lang="en-US" b="1" dirty="0" smtClean="0"/>
              <a:t>Project </a:t>
            </a:r>
            <a:r>
              <a:rPr lang="en-US" b="1" dirty="0"/>
              <a:t>time frame</a:t>
            </a:r>
            <a:r>
              <a:rPr lang="en-US" b="1" dirty="0" smtClean="0"/>
              <a:t>: </a:t>
            </a:r>
            <a:r>
              <a:rPr lang="en-US" dirty="0" smtClean="0"/>
              <a:t>continuing project </a:t>
            </a:r>
            <a:endParaRPr lang="en-US" dirty="0">
              <a:solidFill>
                <a:schemeClr val="tx2"/>
              </a:solidFill>
            </a:endParaRPr>
          </a:p>
          <a:p>
            <a:r>
              <a:rPr lang="en-US" b="1" dirty="0"/>
              <a:t>Project updates</a:t>
            </a:r>
            <a:r>
              <a:rPr lang="en-US" b="1" dirty="0" smtClean="0"/>
              <a:t>: </a:t>
            </a:r>
            <a:r>
              <a:rPr lang="en-US" dirty="0" smtClean="0"/>
              <a:t>under process.</a:t>
            </a:r>
          </a:p>
          <a:p>
            <a:r>
              <a:rPr lang="en-US" dirty="0" smtClean="0"/>
              <a:t>Project amount: AED 105 million</a:t>
            </a:r>
            <a:endParaRPr lang="en-US" dirty="0"/>
          </a:p>
          <a:p>
            <a:endParaRPr lang="en-US" dirty="0"/>
          </a:p>
        </p:txBody>
      </p:sp>
      <p:sp>
        <p:nvSpPr>
          <p:cNvPr id="14" name="Flowchart: Connector 13"/>
          <p:cNvSpPr/>
          <p:nvPr/>
        </p:nvSpPr>
        <p:spPr>
          <a:xfrm>
            <a:off x="368059" y="538255"/>
            <a:ext cx="852147" cy="735375"/>
          </a:xfrm>
          <a:prstGeom prst="flowChartConnector">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solidFill>
              </a:rPr>
              <a:t>1</a:t>
            </a:r>
            <a:endParaRPr lang="en-US" sz="2800" b="1" dirty="0">
              <a:solidFill>
                <a:schemeClr val="tx1"/>
              </a:solidFill>
            </a:endParaRPr>
          </a:p>
        </p:txBody>
      </p:sp>
      <p:pic>
        <p:nvPicPr>
          <p:cNvPr id="7" name="Picture 6"/>
          <p:cNvPicPr>
            <a:picLocks noChangeAspect="1"/>
          </p:cNvPicPr>
          <p:nvPr/>
        </p:nvPicPr>
        <p:blipFill>
          <a:blip r:embed="rId2"/>
          <a:stretch>
            <a:fillRect/>
          </a:stretch>
        </p:blipFill>
        <p:spPr>
          <a:xfrm>
            <a:off x="794132" y="3824330"/>
            <a:ext cx="6083890" cy="2843010"/>
          </a:xfrm>
          <a:prstGeom prst="rect">
            <a:avLst/>
          </a:prstGeom>
        </p:spPr>
      </p:pic>
      <p:sp>
        <p:nvSpPr>
          <p:cNvPr id="3" name="TextBox 2"/>
          <p:cNvSpPr txBox="1"/>
          <p:nvPr/>
        </p:nvSpPr>
        <p:spPr>
          <a:xfrm>
            <a:off x="794132" y="3494852"/>
            <a:ext cx="3732412" cy="284693"/>
          </a:xfrm>
          <a:prstGeom prst="rect">
            <a:avLst/>
          </a:prstGeom>
          <a:noFill/>
        </p:spPr>
        <p:txBody>
          <a:bodyPr wrap="square" lIns="0" tIns="0" rIns="0" bIns="0" rtlCol="0">
            <a:spAutoFit/>
          </a:bodyPr>
          <a:lstStyle/>
          <a:p>
            <a:pPr algn="l"/>
            <a:r>
              <a:rPr lang="en-US" sz="1850" b="1" dirty="0" smtClean="0"/>
              <a:t>Endowment funding history</a:t>
            </a:r>
            <a:r>
              <a:rPr lang="en-US" sz="1850" dirty="0" smtClean="0"/>
              <a:t>:</a:t>
            </a:r>
          </a:p>
        </p:txBody>
      </p:sp>
      <p:sp>
        <p:nvSpPr>
          <p:cNvPr id="4" name="TextBox 3"/>
          <p:cNvSpPr txBox="1"/>
          <p:nvPr/>
        </p:nvSpPr>
        <p:spPr>
          <a:xfrm>
            <a:off x="7557802" y="3764846"/>
            <a:ext cx="3896394" cy="3093154"/>
          </a:xfrm>
          <a:prstGeom prst="rect">
            <a:avLst/>
          </a:prstGeom>
          <a:noFill/>
          <a:ln>
            <a:noFill/>
          </a:ln>
        </p:spPr>
        <p:txBody>
          <a:bodyPr wrap="square" lIns="0" tIns="0" rIns="0" bIns="0" rtlCol="0">
            <a:spAutoFit/>
          </a:bodyPr>
          <a:lstStyle/>
          <a:p>
            <a:pPr algn="l"/>
            <a:r>
              <a:rPr lang="en-US" sz="1850" b="1" dirty="0" smtClean="0"/>
              <a:t>Current status:</a:t>
            </a:r>
          </a:p>
          <a:p>
            <a:pPr algn="l"/>
            <a:r>
              <a:rPr lang="en-US" sz="1850" dirty="0" smtClean="0"/>
              <a:t>With Black-Rock as investor (JP Morgan as bank manager) AED 99 m</a:t>
            </a:r>
          </a:p>
          <a:p>
            <a:pPr algn="l"/>
            <a:r>
              <a:rPr lang="en-US" sz="1850" dirty="0" smtClean="0"/>
              <a:t>(expect earning: 5% annually)</a:t>
            </a:r>
          </a:p>
          <a:p>
            <a:pPr algn="l"/>
            <a:endParaRPr lang="en-US" sz="1850" dirty="0"/>
          </a:p>
          <a:p>
            <a:pPr algn="l"/>
            <a:r>
              <a:rPr lang="en-US" sz="1850" dirty="0" smtClean="0"/>
              <a:t>AED 6 m allocated to ventures </a:t>
            </a:r>
          </a:p>
          <a:p>
            <a:pPr algn="l"/>
            <a:endParaRPr lang="en-US" sz="1850" dirty="0"/>
          </a:p>
          <a:p>
            <a:r>
              <a:rPr lang="en-US" sz="1850" dirty="0" smtClean="0"/>
              <a:t>Current profitability: unrealized losses </a:t>
            </a:r>
            <a:r>
              <a:rPr lang="en-US" sz="1600" dirty="0" smtClean="0"/>
              <a:t>(USD 1,478,730.06) as of 31 July 2022</a:t>
            </a:r>
          </a:p>
          <a:p>
            <a:pPr algn="l"/>
            <a:endParaRPr lang="en-US" sz="1850" dirty="0" smtClean="0"/>
          </a:p>
        </p:txBody>
      </p:sp>
      <p:sp>
        <p:nvSpPr>
          <p:cNvPr id="9" name="Rounded Rectangle 8"/>
          <p:cNvSpPr/>
          <p:nvPr/>
        </p:nvSpPr>
        <p:spPr>
          <a:xfrm>
            <a:off x="531374" y="1364057"/>
            <a:ext cx="11151476" cy="1935724"/>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7329148" y="3715854"/>
            <a:ext cx="4353702" cy="2992956"/>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32060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50033" y="1717035"/>
            <a:ext cx="10888717" cy="2492990"/>
          </a:xfrm>
          <a:prstGeom prst="rect">
            <a:avLst/>
          </a:prstGeom>
          <a:noFill/>
          <a:ln>
            <a:noFill/>
          </a:ln>
        </p:spPr>
        <p:txBody>
          <a:bodyPr wrap="square" lIns="0" tIns="0" rIns="0" bIns="0" rtlCol="0">
            <a:spAutoFit/>
          </a:bodyPr>
          <a:lstStyle/>
          <a:p>
            <a:r>
              <a:rPr lang="en-US" b="1" dirty="0" smtClean="0"/>
              <a:t>Project Name</a:t>
            </a:r>
            <a:r>
              <a:rPr lang="en-US" dirty="0" smtClean="0"/>
              <a:t>: </a:t>
            </a:r>
            <a:r>
              <a:rPr lang="en-US" b="1" dirty="0" smtClean="0">
                <a:solidFill>
                  <a:schemeClr val="accent1">
                    <a:lumMod val="50000"/>
                  </a:schemeClr>
                </a:solidFill>
              </a:rPr>
              <a:t>New Endowment Frame work </a:t>
            </a:r>
            <a:endParaRPr lang="en-US" b="1" dirty="0">
              <a:solidFill>
                <a:schemeClr val="accent1">
                  <a:lumMod val="50000"/>
                </a:schemeClr>
              </a:solidFill>
            </a:endParaRPr>
          </a:p>
          <a:p>
            <a:r>
              <a:rPr lang="en-US" b="1" dirty="0"/>
              <a:t>Project involved departments</a:t>
            </a:r>
            <a:r>
              <a:rPr lang="en-US" dirty="0"/>
              <a:t>: </a:t>
            </a:r>
            <a:r>
              <a:rPr lang="en-US" dirty="0" smtClean="0"/>
              <a:t>BD</a:t>
            </a:r>
          </a:p>
          <a:p>
            <a:r>
              <a:rPr lang="en-US" b="1" dirty="0" smtClean="0"/>
              <a:t>Briefing: </a:t>
            </a:r>
            <a:r>
              <a:rPr lang="en-US" dirty="0" smtClean="0"/>
              <a:t>to establish a new endowment business frame work and policy that organize the donations and endowment operation.</a:t>
            </a:r>
            <a:endParaRPr lang="en-US" dirty="0"/>
          </a:p>
          <a:p>
            <a:r>
              <a:rPr lang="en-US" b="1" dirty="0"/>
              <a:t>Project time frame</a:t>
            </a:r>
            <a:r>
              <a:rPr lang="en-US" dirty="0"/>
              <a:t>: expected first week of </a:t>
            </a:r>
            <a:r>
              <a:rPr lang="en-US" dirty="0" smtClean="0"/>
              <a:t>Dec.2022 </a:t>
            </a:r>
            <a:endParaRPr lang="en-US" dirty="0"/>
          </a:p>
          <a:p>
            <a:r>
              <a:rPr lang="en-US" b="1" dirty="0"/>
              <a:t>Project updates</a:t>
            </a:r>
            <a:r>
              <a:rPr lang="en-US" dirty="0"/>
              <a:t>: </a:t>
            </a:r>
            <a:r>
              <a:rPr lang="en-US" dirty="0" smtClean="0"/>
              <a:t>Proposed new business framework done, now looking for management approval through Leadership committee.</a:t>
            </a:r>
          </a:p>
          <a:p>
            <a:r>
              <a:rPr lang="en-US" dirty="0" smtClean="0"/>
              <a:t>Amount: not defined (to maximize the fund)</a:t>
            </a:r>
            <a:endParaRPr lang="en-US" dirty="0"/>
          </a:p>
          <a:p>
            <a:endParaRPr lang="en-US" dirty="0"/>
          </a:p>
        </p:txBody>
      </p:sp>
      <p:sp>
        <p:nvSpPr>
          <p:cNvPr id="10" name="Title 1"/>
          <p:cNvSpPr>
            <a:spLocks noGrp="1"/>
          </p:cNvSpPr>
          <p:nvPr>
            <p:ph type="title"/>
          </p:nvPr>
        </p:nvSpPr>
        <p:spPr>
          <a:xfrm>
            <a:off x="487274" y="-334407"/>
            <a:ext cx="10355235" cy="1579646"/>
          </a:xfrm>
        </p:spPr>
        <p:txBody>
          <a:bodyPr/>
          <a:lstStyle/>
          <a:p>
            <a:r>
              <a:rPr lang="en-US" dirty="0" smtClean="0"/>
              <a:t>KU Endowment frame work for future funding   </a:t>
            </a:r>
            <a:endParaRPr lang="en-US" dirty="0"/>
          </a:p>
        </p:txBody>
      </p:sp>
      <p:sp>
        <p:nvSpPr>
          <p:cNvPr id="2" name="Rounded Rectangle 1"/>
          <p:cNvSpPr/>
          <p:nvPr/>
        </p:nvSpPr>
        <p:spPr>
          <a:xfrm>
            <a:off x="487274" y="1555532"/>
            <a:ext cx="11151476" cy="2815996"/>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96425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3302322" y="1261430"/>
            <a:ext cx="1860805" cy="1093843"/>
          </a:xfrm>
          <a:prstGeom prst="rect">
            <a:avLst/>
          </a:prstGeom>
          <a:solidFill>
            <a:srgbClr val="D0D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16"/>
          </a:p>
        </p:txBody>
      </p:sp>
      <p:sp>
        <p:nvSpPr>
          <p:cNvPr id="33" name="TextBox 32"/>
          <p:cNvSpPr txBox="1"/>
          <p:nvPr/>
        </p:nvSpPr>
        <p:spPr>
          <a:xfrm>
            <a:off x="2594273" y="2742048"/>
            <a:ext cx="184731" cy="217880"/>
          </a:xfrm>
          <a:prstGeom prst="rect">
            <a:avLst/>
          </a:prstGeom>
          <a:noFill/>
        </p:spPr>
        <p:txBody>
          <a:bodyPr wrap="none" rtlCol="0">
            <a:spAutoFit/>
          </a:bodyPr>
          <a:lstStyle/>
          <a:p>
            <a:endParaRPr lang="en-US" sz="816" dirty="0"/>
          </a:p>
        </p:txBody>
      </p:sp>
      <p:sp>
        <p:nvSpPr>
          <p:cNvPr id="16" name="Subtitle 2">
            <a:extLst>
              <a:ext uri="{FF2B5EF4-FFF2-40B4-BE49-F238E27FC236}">
                <a16:creationId xmlns:a16="http://schemas.microsoft.com/office/drawing/2014/main" id="{FB4DCADE-2A34-4B9D-9987-0330895D737E}"/>
              </a:ext>
            </a:extLst>
          </p:cNvPr>
          <p:cNvSpPr txBox="1">
            <a:spLocks/>
          </p:cNvSpPr>
          <p:nvPr/>
        </p:nvSpPr>
        <p:spPr>
          <a:xfrm>
            <a:off x="536799" y="1506548"/>
            <a:ext cx="2465092" cy="258543"/>
          </a:xfrm>
          <a:prstGeom prst="rect">
            <a:avLst/>
          </a:prstGeom>
        </p:spPr>
        <p:txBody>
          <a:bodyPr vert="horz" lIns="41476" tIns="20738" rIns="41476" bIns="20738" rtlCol="0">
            <a:normAutofit/>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r>
              <a:rPr lang="en-US" sz="1724" b="1" dirty="0">
                <a:solidFill>
                  <a:srgbClr val="0057B8"/>
                </a:solidFill>
                <a:latin typeface="Arial" charset="0"/>
                <a:ea typeface="Arial" charset="0"/>
                <a:cs typeface="Arial" charset="0"/>
              </a:rPr>
              <a:t>Financial Goal</a:t>
            </a:r>
          </a:p>
        </p:txBody>
      </p:sp>
      <p:sp>
        <p:nvSpPr>
          <p:cNvPr id="23" name="Subtitle 2">
            <a:extLst>
              <a:ext uri="{FF2B5EF4-FFF2-40B4-BE49-F238E27FC236}">
                <a16:creationId xmlns:a16="http://schemas.microsoft.com/office/drawing/2014/main" id="{FB4DCADE-2A34-4B9D-9987-0330895D737E}"/>
              </a:ext>
            </a:extLst>
          </p:cNvPr>
          <p:cNvSpPr txBox="1">
            <a:spLocks/>
          </p:cNvSpPr>
          <p:nvPr/>
        </p:nvSpPr>
        <p:spPr>
          <a:xfrm>
            <a:off x="442900" y="1888888"/>
            <a:ext cx="2859422" cy="2686360"/>
          </a:xfrm>
          <a:prstGeom prst="rect">
            <a:avLst/>
          </a:prstGeom>
        </p:spPr>
        <p:txBody>
          <a:bodyPr vert="horz" lIns="41476" tIns="20738" rIns="41476" bIns="20738" rtlCol="0">
            <a:normAutofit/>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r>
              <a:rPr lang="en-US" sz="1270" b="1" dirty="0">
                <a:solidFill>
                  <a:srgbClr val="75787B"/>
                </a:solidFill>
                <a:latin typeface="Arial" charset="0"/>
                <a:ea typeface="Arial" charset="0"/>
                <a:cs typeface="Arial" charset="0"/>
              </a:rPr>
              <a:t>Investment Risks and Returns</a:t>
            </a:r>
          </a:p>
          <a:p>
            <a:endParaRPr lang="en-US" sz="1270" b="1" dirty="0">
              <a:solidFill>
                <a:srgbClr val="75787B"/>
              </a:solidFill>
              <a:latin typeface="Arial" charset="0"/>
              <a:ea typeface="Arial" charset="0"/>
              <a:cs typeface="Arial" charset="0"/>
            </a:endParaRPr>
          </a:p>
          <a:p>
            <a:r>
              <a:rPr lang="en-US" sz="1270" dirty="0">
                <a:solidFill>
                  <a:srgbClr val="75787B"/>
                </a:solidFill>
                <a:latin typeface="Arial" charset="0"/>
                <a:ea typeface="Arial" charset="0"/>
                <a:cs typeface="Arial" charset="0"/>
              </a:rPr>
              <a:t>7%-8% Avg. Annual Returns</a:t>
            </a:r>
          </a:p>
          <a:p>
            <a:endParaRPr lang="en-US" sz="1270" b="1" dirty="0">
              <a:solidFill>
                <a:srgbClr val="75787B"/>
              </a:solidFill>
              <a:latin typeface="Arial" charset="0"/>
              <a:ea typeface="Arial" charset="0"/>
              <a:cs typeface="Arial" charset="0"/>
            </a:endParaRPr>
          </a:p>
          <a:p>
            <a:endParaRPr lang="en-US" sz="1270" b="1" dirty="0">
              <a:solidFill>
                <a:srgbClr val="75787B"/>
              </a:solidFill>
              <a:latin typeface="Arial" charset="0"/>
              <a:ea typeface="Arial" charset="0"/>
              <a:cs typeface="Arial" charset="0"/>
            </a:endParaRPr>
          </a:p>
          <a:p>
            <a:endParaRPr lang="en-US" sz="1270" b="1" dirty="0">
              <a:solidFill>
                <a:srgbClr val="75787B"/>
              </a:solidFill>
              <a:latin typeface="Arial" charset="0"/>
              <a:ea typeface="Arial" charset="0"/>
              <a:cs typeface="Arial" charset="0"/>
            </a:endParaRPr>
          </a:p>
          <a:p>
            <a:r>
              <a:rPr lang="en-US" sz="1270" b="1" dirty="0">
                <a:solidFill>
                  <a:srgbClr val="75787B"/>
                </a:solidFill>
                <a:latin typeface="Arial" charset="0"/>
                <a:ea typeface="Arial" charset="0"/>
                <a:cs typeface="Arial" charset="0"/>
              </a:rPr>
              <a:t>Inflation and Losses</a:t>
            </a:r>
          </a:p>
          <a:p>
            <a:endParaRPr lang="en-US" sz="1270" b="1" dirty="0">
              <a:solidFill>
                <a:srgbClr val="75787B"/>
              </a:solidFill>
              <a:latin typeface="Arial" charset="0"/>
              <a:ea typeface="Arial" charset="0"/>
              <a:cs typeface="Arial" charset="0"/>
            </a:endParaRPr>
          </a:p>
          <a:p>
            <a:endParaRPr lang="en-US" sz="1270" b="1" dirty="0">
              <a:solidFill>
                <a:srgbClr val="75787B"/>
              </a:solidFill>
              <a:latin typeface="Arial" charset="0"/>
              <a:ea typeface="Arial" charset="0"/>
              <a:cs typeface="Arial" charset="0"/>
            </a:endParaRPr>
          </a:p>
          <a:p>
            <a:endParaRPr lang="en-US" sz="1270" b="1" dirty="0">
              <a:solidFill>
                <a:srgbClr val="75787B"/>
              </a:solidFill>
              <a:latin typeface="Arial" charset="0"/>
              <a:ea typeface="Arial" charset="0"/>
              <a:cs typeface="Arial" charset="0"/>
            </a:endParaRPr>
          </a:p>
          <a:p>
            <a:r>
              <a:rPr lang="en-US" sz="1270" b="1" dirty="0">
                <a:solidFill>
                  <a:srgbClr val="75787B"/>
                </a:solidFill>
                <a:latin typeface="Arial" charset="0"/>
                <a:ea typeface="Arial" charset="0"/>
                <a:cs typeface="Arial" charset="0"/>
              </a:rPr>
              <a:t>Spending Policy</a:t>
            </a:r>
          </a:p>
          <a:p>
            <a:endParaRPr lang="en-US" sz="1270" b="1" dirty="0">
              <a:solidFill>
                <a:srgbClr val="75787B"/>
              </a:solidFill>
              <a:latin typeface="Arial" charset="0"/>
              <a:ea typeface="Arial" charset="0"/>
              <a:cs typeface="Arial" charset="0"/>
            </a:endParaRPr>
          </a:p>
          <a:p>
            <a:r>
              <a:rPr lang="en-US" sz="1270" dirty="0">
                <a:solidFill>
                  <a:srgbClr val="75787B"/>
                </a:solidFill>
                <a:latin typeface="Arial" charset="0"/>
                <a:ea typeface="Arial" charset="0"/>
                <a:cs typeface="Arial" charset="0"/>
              </a:rPr>
              <a:t>4%-5% of principle amount</a:t>
            </a:r>
          </a:p>
          <a:p>
            <a:endParaRPr lang="en-US" sz="1270" b="1" dirty="0">
              <a:solidFill>
                <a:srgbClr val="75787B"/>
              </a:solidFill>
              <a:latin typeface="Arial" charset="0"/>
              <a:ea typeface="Arial" charset="0"/>
              <a:cs typeface="Arial" charset="0"/>
            </a:endParaRPr>
          </a:p>
          <a:p>
            <a:endParaRPr lang="en-US" sz="1270" b="1" dirty="0">
              <a:solidFill>
                <a:srgbClr val="75787B"/>
              </a:solidFill>
              <a:latin typeface="Arial" charset="0"/>
              <a:ea typeface="Arial" charset="0"/>
              <a:cs typeface="Arial" charset="0"/>
            </a:endParaRPr>
          </a:p>
          <a:p>
            <a:endParaRPr lang="en-US" sz="1270" b="1" dirty="0">
              <a:solidFill>
                <a:srgbClr val="75787B"/>
              </a:solidFill>
              <a:latin typeface="Arial" charset="0"/>
              <a:ea typeface="Arial" charset="0"/>
              <a:cs typeface="Arial" charset="0"/>
            </a:endParaRPr>
          </a:p>
          <a:p>
            <a:r>
              <a:rPr lang="en-US" sz="1270" b="1" dirty="0">
                <a:solidFill>
                  <a:srgbClr val="75787B"/>
                </a:solidFill>
                <a:latin typeface="Arial" charset="0"/>
                <a:ea typeface="Arial" charset="0"/>
                <a:cs typeface="Arial" charset="0"/>
              </a:rPr>
              <a:t>Fundraising Goal Amount?</a:t>
            </a:r>
          </a:p>
        </p:txBody>
      </p:sp>
      <p:sp>
        <p:nvSpPr>
          <p:cNvPr id="10" name="Subtitle 2">
            <a:extLst>
              <a:ext uri="{FF2B5EF4-FFF2-40B4-BE49-F238E27FC236}">
                <a16:creationId xmlns:a16="http://schemas.microsoft.com/office/drawing/2014/main" id="{FB4DCADE-2A34-4B9D-9987-0330895D737E}"/>
              </a:ext>
            </a:extLst>
          </p:cNvPr>
          <p:cNvSpPr txBox="1">
            <a:spLocks/>
          </p:cNvSpPr>
          <p:nvPr/>
        </p:nvSpPr>
        <p:spPr>
          <a:xfrm>
            <a:off x="3069175" y="1457337"/>
            <a:ext cx="2465092" cy="258543"/>
          </a:xfrm>
          <a:prstGeom prst="rect">
            <a:avLst/>
          </a:prstGeom>
        </p:spPr>
        <p:txBody>
          <a:bodyPr vert="horz" lIns="41476" tIns="20738" rIns="41476" bIns="20738" rtlCol="0">
            <a:normAutofit/>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r>
              <a:rPr lang="en-US" sz="1724" b="1" dirty="0">
                <a:solidFill>
                  <a:srgbClr val="0057B8"/>
                </a:solidFill>
                <a:latin typeface="Arial" charset="0"/>
                <a:ea typeface="Arial" charset="0"/>
                <a:cs typeface="Arial" charset="0"/>
              </a:rPr>
              <a:t>Timeline Goal</a:t>
            </a:r>
          </a:p>
        </p:txBody>
      </p:sp>
      <p:sp>
        <p:nvSpPr>
          <p:cNvPr id="18" name="Subtitle 2">
            <a:extLst>
              <a:ext uri="{FF2B5EF4-FFF2-40B4-BE49-F238E27FC236}">
                <a16:creationId xmlns:a16="http://schemas.microsoft.com/office/drawing/2014/main" id="{FB4DCADE-2A34-4B9D-9987-0330895D737E}"/>
              </a:ext>
            </a:extLst>
          </p:cNvPr>
          <p:cNvSpPr txBox="1">
            <a:spLocks/>
          </p:cNvSpPr>
          <p:nvPr/>
        </p:nvSpPr>
        <p:spPr>
          <a:xfrm>
            <a:off x="6663821" y="3245098"/>
            <a:ext cx="4409321" cy="3338314"/>
          </a:xfrm>
          <a:prstGeom prst="rect">
            <a:avLst/>
          </a:prstGeom>
        </p:spPr>
        <p:txBody>
          <a:bodyPr vert="horz" lIns="41476" tIns="20738" rIns="41476" bIns="20738" rtlCol="0">
            <a:normAutofit/>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pPr algn="l"/>
            <a:endParaRPr lang="en-US" sz="1270" b="1" dirty="0">
              <a:solidFill>
                <a:srgbClr val="75787B"/>
              </a:solidFill>
              <a:latin typeface="Arial" charset="0"/>
              <a:ea typeface="Arial" charset="0"/>
              <a:cs typeface="Arial" charset="0"/>
            </a:endParaRPr>
          </a:p>
        </p:txBody>
      </p:sp>
      <p:sp>
        <p:nvSpPr>
          <p:cNvPr id="19" name="Subtitle 2">
            <a:extLst>
              <a:ext uri="{FF2B5EF4-FFF2-40B4-BE49-F238E27FC236}">
                <a16:creationId xmlns:a16="http://schemas.microsoft.com/office/drawing/2014/main" id="{FB4DCADE-2A34-4B9D-9987-0330895D737E}"/>
              </a:ext>
            </a:extLst>
          </p:cNvPr>
          <p:cNvSpPr txBox="1">
            <a:spLocks/>
          </p:cNvSpPr>
          <p:nvPr/>
        </p:nvSpPr>
        <p:spPr>
          <a:xfrm>
            <a:off x="3729300" y="1927877"/>
            <a:ext cx="1144844" cy="1704554"/>
          </a:xfrm>
          <a:prstGeom prst="rect">
            <a:avLst/>
          </a:prstGeom>
        </p:spPr>
        <p:txBody>
          <a:bodyPr vert="horz" lIns="41476" tIns="20738" rIns="41476" bIns="20738" rtlCol="0">
            <a:normAutofit/>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r>
              <a:rPr lang="en-US" sz="1270" b="1" dirty="0">
                <a:solidFill>
                  <a:srgbClr val="75787B"/>
                </a:solidFill>
                <a:latin typeface="Arial" charset="0"/>
                <a:ea typeface="Arial" charset="0"/>
                <a:cs typeface="Arial" charset="0"/>
              </a:rPr>
              <a:t>5 Years</a:t>
            </a:r>
          </a:p>
          <a:p>
            <a:endParaRPr lang="en-US" sz="1270" b="1" dirty="0">
              <a:solidFill>
                <a:srgbClr val="75787B"/>
              </a:solidFill>
              <a:latin typeface="Arial" charset="0"/>
              <a:ea typeface="Arial" charset="0"/>
              <a:cs typeface="Arial" charset="0"/>
            </a:endParaRPr>
          </a:p>
          <a:p>
            <a:endParaRPr lang="en-US" sz="1270" b="1" dirty="0">
              <a:solidFill>
                <a:srgbClr val="75787B"/>
              </a:solidFill>
              <a:latin typeface="Arial" charset="0"/>
              <a:ea typeface="Arial" charset="0"/>
              <a:cs typeface="Arial" charset="0"/>
            </a:endParaRPr>
          </a:p>
          <a:p>
            <a:endParaRPr lang="en-US" sz="1270" b="1" dirty="0">
              <a:solidFill>
                <a:srgbClr val="75787B"/>
              </a:solidFill>
              <a:latin typeface="Arial" charset="0"/>
              <a:ea typeface="Arial" charset="0"/>
              <a:cs typeface="Arial" charset="0"/>
            </a:endParaRPr>
          </a:p>
        </p:txBody>
      </p:sp>
      <p:sp>
        <p:nvSpPr>
          <p:cNvPr id="13" name="Subtitle 2">
            <a:extLst>
              <a:ext uri="{FF2B5EF4-FFF2-40B4-BE49-F238E27FC236}">
                <a16:creationId xmlns:a16="http://schemas.microsoft.com/office/drawing/2014/main" id="{FB4DCADE-2A34-4B9D-9987-0330895D737E}"/>
              </a:ext>
            </a:extLst>
          </p:cNvPr>
          <p:cNvSpPr txBox="1">
            <a:spLocks/>
          </p:cNvSpPr>
          <p:nvPr/>
        </p:nvSpPr>
        <p:spPr>
          <a:xfrm>
            <a:off x="764434" y="4794217"/>
            <a:ext cx="1059838" cy="234588"/>
          </a:xfrm>
          <a:prstGeom prst="rect">
            <a:avLst/>
          </a:prstGeom>
        </p:spPr>
        <p:txBody>
          <a:bodyPr vert="horz" lIns="41476" tIns="20738" rIns="41476" bIns="20738" rtlCol="0">
            <a:normAutofit/>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pPr algn="r"/>
            <a:r>
              <a:rPr lang="en-US" sz="1270" dirty="0">
                <a:solidFill>
                  <a:srgbClr val="75787B"/>
                </a:solidFill>
                <a:latin typeface="Arial" charset="0"/>
                <a:ea typeface="Arial" charset="0"/>
                <a:cs typeface="Arial" charset="0"/>
              </a:rPr>
              <a:t>AED 100mm</a:t>
            </a:r>
          </a:p>
        </p:txBody>
      </p:sp>
      <p:sp>
        <p:nvSpPr>
          <p:cNvPr id="17" name="Subtitle 2">
            <a:extLst>
              <a:ext uri="{FF2B5EF4-FFF2-40B4-BE49-F238E27FC236}">
                <a16:creationId xmlns:a16="http://schemas.microsoft.com/office/drawing/2014/main" id="{FB4DCADE-2A34-4B9D-9987-0330895D737E}"/>
              </a:ext>
            </a:extLst>
          </p:cNvPr>
          <p:cNvSpPr txBox="1">
            <a:spLocks/>
          </p:cNvSpPr>
          <p:nvPr/>
        </p:nvSpPr>
        <p:spPr>
          <a:xfrm>
            <a:off x="2337418" y="4770757"/>
            <a:ext cx="1439986" cy="234588"/>
          </a:xfrm>
          <a:prstGeom prst="rect">
            <a:avLst/>
          </a:prstGeom>
        </p:spPr>
        <p:txBody>
          <a:bodyPr vert="horz" lIns="41476" tIns="20738" rIns="41476" bIns="20738" rtlCol="0">
            <a:normAutofit/>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pPr algn="l"/>
            <a:r>
              <a:rPr lang="en-US" sz="1270" dirty="0">
                <a:solidFill>
                  <a:srgbClr val="75787B"/>
                </a:solidFill>
                <a:latin typeface="Arial" charset="0"/>
                <a:ea typeface="Arial" charset="0"/>
                <a:cs typeface="Arial" charset="0"/>
              </a:rPr>
              <a:t>= AED 4 million</a:t>
            </a:r>
          </a:p>
        </p:txBody>
      </p:sp>
      <p:sp>
        <p:nvSpPr>
          <p:cNvPr id="21" name="Subtitle 2">
            <a:extLst>
              <a:ext uri="{FF2B5EF4-FFF2-40B4-BE49-F238E27FC236}">
                <a16:creationId xmlns:a16="http://schemas.microsoft.com/office/drawing/2014/main" id="{FB4DCADE-2A34-4B9D-9987-0330895D737E}"/>
              </a:ext>
            </a:extLst>
          </p:cNvPr>
          <p:cNvSpPr txBox="1">
            <a:spLocks/>
          </p:cNvSpPr>
          <p:nvPr/>
        </p:nvSpPr>
        <p:spPr>
          <a:xfrm>
            <a:off x="1844923" y="4816943"/>
            <a:ext cx="513146" cy="234588"/>
          </a:xfrm>
          <a:prstGeom prst="rect">
            <a:avLst/>
          </a:prstGeom>
        </p:spPr>
        <p:txBody>
          <a:bodyPr vert="horz" lIns="41476" tIns="20738" rIns="41476" bIns="20738" rtlCol="0">
            <a:normAutofit/>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pPr algn="l"/>
            <a:r>
              <a:rPr lang="en-US" sz="1270" dirty="0">
                <a:solidFill>
                  <a:srgbClr val="75787B"/>
                </a:solidFill>
                <a:latin typeface="Arial" charset="0"/>
                <a:ea typeface="Arial" charset="0"/>
                <a:cs typeface="Arial" charset="0"/>
              </a:rPr>
              <a:t>X 4%</a:t>
            </a:r>
          </a:p>
        </p:txBody>
      </p:sp>
      <p:grpSp>
        <p:nvGrpSpPr>
          <p:cNvPr id="3" name="Group 2"/>
          <p:cNvGrpSpPr/>
          <p:nvPr/>
        </p:nvGrpSpPr>
        <p:grpSpPr>
          <a:xfrm>
            <a:off x="868950" y="5493897"/>
            <a:ext cx="2638695" cy="219654"/>
            <a:chOff x="2485648" y="14029730"/>
            <a:chExt cx="5817346" cy="484256"/>
          </a:xfrm>
        </p:grpSpPr>
        <p:sp>
          <p:nvSpPr>
            <p:cNvPr id="20" name="Subtitle 2">
              <a:extLst>
                <a:ext uri="{FF2B5EF4-FFF2-40B4-BE49-F238E27FC236}">
                  <a16:creationId xmlns:a16="http://schemas.microsoft.com/office/drawing/2014/main" id="{FB4DCADE-2A34-4B9D-9987-0330895D737E}"/>
                </a:ext>
              </a:extLst>
            </p:cNvPr>
            <p:cNvSpPr txBox="1">
              <a:spLocks/>
            </p:cNvSpPr>
            <p:nvPr/>
          </p:nvSpPr>
          <p:spPr>
            <a:xfrm>
              <a:off x="4379589" y="14029730"/>
              <a:ext cx="1131296" cy="484256"/>
            </a:xfrm>
            <a:prstGeom prst="rect">
              <a:avLst/>
            </a:prstGeom>
          </p:spPr>
          <p:txBody>
            <a:bodyPr vert="horz" lIns="41476" tIns="20738" rIns="41476" bIns="20738" rtlCol="0">
              <a:normAutofit/>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pPr algn="l"/>
              <a:r>
                <a:rPr lang="en-US" sz="1270" dirty="0">
                  <a:solidFill>
                    <a:srgbClr val="75787B"/>
                  </a:solidFill>
                  <a:latin typeface="Arial" charset="0"/>
                  <a:ea typeface="Arial" charset="0"/>
                  <a:cs typeface="Arial" charset="0"/>
                </a:rPr>
                <a:t>X 4%</a:t>
              </a:r>
            </a:p>
          </p:txBody>
        </p:sp>
        <p:sp>
          <p:nvSpPr>
            <p:cNvPr id="15" name="Subtitle 2">
              <a:extLst>
                <a:ext uri="{FF2B5EF4-FFF2-40B4-BE49-F238E27FC236}">
                  <a16:creationId xmlns:a16="http://schemas.microsoft.com/office/drawing/2014/main" id="{FB4DCADE-2A34-4B9D-9987-0330895D737E}"/>
                </a:ext>
              </a:extLst>
            </p:cNvPr>
            <p:cNvSpPr txBox="1">
              <a:spLocks/>
            </p:cNvSpPr>
            <p:nvPr/>
          </p:nvSpPr>
          <p:spPr>
            <a:xfrm>
              <a:off x="2485648" y="14029730"/>
              <a:ext cx="1875348" cy="484256"/>
            </a:xfrm>
            <a:prstGeom prst="rect">
              <a:avLst/>
            </a:prstGeom>
          </p:spPr>
          <p:txBody>
            <a:bodyPr vert="horz" lIns="41476" tIns="20738" rIns="41476" bIns="20738" rtlCol="0">
              <a:normAutofit/>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pPr algn="r"/>
              <a:r>
                <a:rPr lang="en-US" sz="1270" dirty="0">
                  <a:solidFill>
                    <a:srgbClr val="75787B"/>
                  </a:solidFill>
                  <a:latin typeface="Arial" charset="0"/>
                  <a:ea typeface="Arial" charset="0"/>
                  <a:cs typeface="Arial" charset="0"/>
                </a:rPr>
                <a:t>AED 1Bn</a:t>
              </a:r>
              <a:endParaRPr lang="en-US" sz="1270" b="1" dirty="0">
                <a:solidFill>
                  <a:srgbClr val="75787B"/>
                </a:solidFill>
                <a:latin typeface="Arial" charset="0"/>
                <a:ea typeface="Arial" charset="0"/>
                <a:cs typeface="Arial" charset="0"/>
              </a:endParaRPr>
            </a:p>
          </p:txBody>
        </p:sp>
        <p:sp>
          <p:nvSpPr>
            <p:cNvPr id="24" name="Subtitle 2">
              <a:extLst>
                <a:ext uri="{FF2B5EF4-FFF2-40B4-BE49-F238E27FC236}">
                  <a16:creationId xmlns:a16="http://schemas.microsoft.com/office/drawing/2014/main" id="{FB4DCADE-2A34-4B9D-9987-0330895D737E}"/>
                </a:ext>
              </a:extLst>
            </p:cNvPr>
            <p:cNvSpPr txBox="1">
              <a:spLocks/>
            </p:cNvSpPr>
            <p:nvPr/>
          </p:nvSpPr>
          <p:spPr>
            <a:xfrm>
              <a:off x="5494503" y="14029730"/>
              <a:ext cx="2808491" cy="484256"/>
            </a:xfrm>
            <a:prstGeom prst="rect">
              <a:avLst/>
            </a:prstGeom>
          </p:spPr>
          <p:txBody>
            <a:bodyPr vert="horz" lIns="41476" tIns="20738" rIns="41476" bIns="20738" rtlCol="0">
              <a:normAutofit fontScale="92500"/>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pPr algn="l"/>
              <a:r>
                <a:rPr lang="en-US" sz="1270" dirty="0">
                  <a:solidFill>
                    <a:srgbClr val="75787B"/>
                  </a:solidFill>
                  <a:latin typeface="Arial" charset="0"/>
                  <a:ea typeface="Arial" charset="0"/>
                  <a:cs typeface="Arial" charset="0"/>
                </a:rPr>
                <a:t>= AED 40 million</a:t>
              </a:r>
            </a:p>
          </p:txBody>
        </p:sp>
      </p:grpSp>
      <p:grpSp>
        <p:nvGrpSpPr>
          <p:cNvPr id="2" name="Group 1"/>
          <p:cNvGrpSpPr/>
          <p:nvPr/>
        </p:nvGrpSpPr>
        <p:grpSpPr>
          <a:xfrm>
            <a:off x="688691" y="5153090"/>
            <a:ext cx="3219867" cy="239736"/>
            <a:chOff x="1876053" y="13196902"/>
            <a:chExt cx="7098614" cy="528528"/>
          </a:xfrm>
        </p:grpSpPr>
        <p:sp>
          <p:nvSpPr>
            <p:cNvPr id="14" name="Subtitle 2">
              <a:extLst>
                <a:ext uri="{FF2B5EF4-FFF2-40B4-BE49-F238E27FC236}">
                  <a16:creationId xmlns:a16="http://schemas.microsoft.com/office/drawing/2014/main" id="{FB4DCADE-2A34-4B9D-9987-0330895D737E}"/>
                </a:ext>
              </a:extLst>
            </p:cNvPr>
            <p:cNvSpPr txBox="1">
              <a:spLocks/>
            </p:cNvSpPr>
            <p:nvPr/>
          </p:nvSpPr>
          <p:spPr>
            <a:xfrm>
              <a:off x="1876053" y="13196902"/>
              <a:ext cx="2484943" cy="528527"/>
            </a:xfrm>
            <a:prstGeom prst="rect">
              <a:avLst/>
            </a:prstGeom>
          </p:spPr>
          <p:txBody>
            <a:bodyPr vert="horz" lIns="41476" tIns="20738" rIns="41476" bIns="20738" rtlCol="0">
              <a:normAutofit/>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pPr algn="r"/>
              <a:r>
                <a:rPr lang="en-US" sz="1270" dirty="0">
                  <a:solidFill>
                    <a:srgbClr val="75787B"/>
                  </a:solidFill>
                  <a:latin typeface="Arial" charset="0"/>
                  <a:ea typeface="Arial" charset="0"/>
                  <a:cs typeface="Arial" charset="0"/>
                </a:rPr>
                <a:t>AED 500mm</a:t>
              </a:r>
            </a:p>
          </p:txBody>
        </p:sp>
        <p:sp>
          <p:nvSpPr>
            <p:cNvPr id="22" name="Subtitle 2">
              <a:extLst>
                <a:ext uri="{FF2B5EF4-FFF2-40B4-BE49-F238E27FC236}">
                  <a16:creationId xmlns:a16="http://schemas.microsoft.com/office/drawing/2014/main" id="{FB4DCADE-2A34-4B9D-9987-0330895D737E}"/>
                </a:ext>
              </a:extLst>
            </p:cNvPr>
            <p:cNvSpPr txBox="1">
              <a:spLocks/>
            </p:cNvSpPr>
            <p:nvPr/>
          </p:nvSpPr>
          <p:spPr>
            <a:xfrm>
              <a:off x="4379589" y="13196902"/>
              <a:ext cx="1131296" cy="528527"/>
            </a:xfrm>
            <a:prstGeom prst="rect">
              <a:avLst/>
            </a:prstGeom>
          </p:spPr>
          <p:txBody>
            <a:bodyPr vert="horz" lIns="41476" tIns="20738" rIns="41476" bIns="20738" rtlCol="0">
              <a:normAutofit/>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pPr algn="l"/>
              <a:r>
                <a:rPr lang="en-US" sz="1270" dirty="0">
                  <a:solidFill>
                    <a:srgbClr val="75787B"/>
                  </a:solidFill>
                  <a:latin typeface="Arial" charset="0"/>
                  <a:ea typeface="Arial" charset="0"/>
                  <a:cs typeface="Arial" charset="0"/>
                </a:rPr>
                <a:t>X 4%</a:t>
              </a:r>
            </a:p>
          </p:txBody>
        </p:sp>
        <p:sp>
          <p:nvSpPr>
            <p:cNvPr id="25" name="Subtitle 2">
              <a:extLst>
                <a:ext uri="{FF2B5EF4-FFF2-40B4-BE49-F238E27FC236}">
                  <a16:creationId xmlns:a16="http://schemas.microsoft.com/office/drawing/2014/main" id="{FB4DCADE-2A34-4B9D-9987-0330895D737E}"/>
                </a:ext>
              </a:extLst>
            </p:cNvPr>
            <p:cNvSpPr txBox="1">
              <a:spLocks/>
            </p:cNvSpPr>
            <p:nvPr/>
          </p:nvSpPr>
          <p:spPr>
            <a:xfrm>
              <a:off x="5494503" y="13196903"/>
              <a:ext cx="3480164" cy="528527"/>
            </a:xfrm>
            <a:prstGeom prst="rect">
              <a:avLst/>
            </a:prstGeom>
          </p:spPr>
          <p:txBody>
            <a:bodyPr vert="horz" lIns="41476" tIns="20738" rIns="41476" bIns="20738" rtlCol="0">
              <a:normAutofit/>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pPr algn="l"/>
              <a:r>
                <a:rPr lang="en-US" sz="1270" dirty="0">
                  <a:solidFill>
                    <a:srgbClr val="75787B"/>
                  </a:solidFill>
                  <a:latin typeface="Arial" charset="0"/>
                  <a:ea typeface="Arial" charset="0"/>
                  <a:cs typeface="Arial" charset="0"/>
                </a:rPr>
                <a:t>= AED 20 million</a:t>
              </a:r>
            </a:p>
          </p:txBody>
        </p:sp>
      </p:grpSp>
      <p:sp>
        <p:nvSpPr>
          <p:cNvPr id="4" name="Rectangle 3"/>
          <p:cNvSpPr/>
          <p:nvPr/>
        </p:nvSpPr>
        <p:spPr>
          <a:xfrm>
            <a:off x="606582" y="597836"/>
            <a:ext cx="6933308" cy="461665"/>
          </a:xfrm>
          <a:prstGeom prst="rect">
            <a:avLst/>
          </a:prstGeom>
        </p:spPr>
        <p:txBody>
          <a:bodyPr wrap="none">
            <a:spAutoFit/>
          </a:bodyPr>
          <a:lstStyle/>
          <a:p>
            <a:r>
              <a:rPr lang="en-US" sz="2400" b="1" dirty="0">
                <a:solidFill>
                  <a:srgbClr val="0057B8"/>
                </a:solidFill>
                <a:latin typeface="Arial" charset="0"/>
                <a:ea typeface="Arial" charset="0"/>
                <a:cs typeface="Arial" charset="0"/>
              </a:rPr>
              <a:t>KU Endowment frame work for future funding </a:t>
            </a:r>
          </a:p>
        </p:txBody>
      </p:sp>
      <p:sp>
        <p:nvSpPr>
          <p:cNvPr id="26" name="Subtitle 2">
            <a:extLst>
              <a:ext uri="{FF2B5EF4-FFF2-40B4-BE49-F238E27FC236}">
                <a16:creationId xmlns:a16="http://schemas.microsoft.com/office/drawing/2014/main" id="{FB4DCADE-2A34-4B9D-9987-0330895D737E}"/>
              </a:ext>
            </a:extLst>
          </p:cNvPr>
          <p:cNvSpPr txBox="1">
            <a:spLocks/>
          </p:cNvSpPr>
          <p:nvPr/>
        </p:nvSpPr>
        <p:spPr>
          <a:xfrm>
            <a:off x="4588576" y="2500694"/>
            <a:ext cx="2792537" cy="406950"/>
          </a:xfrm>
          <a:prstGeom prst="rect">
            <a:avLst/>
          </a:prstGeom>
        </p:spPr>
        <p:txBody>
          <a:bodyPr vert="horz" lIns="41476" tIns="20738" rIns="41476" bIns="20738" rtlCol="0">
            <a:normAutofit/>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pPr algn="l"/>
            <a:r>
              <a:rPr lang="en-US" sz="1724" b="1" dirty="0">
                <a:solidFill>
                  <a:srgbClr val="0057B8"/>
                </a:solidFill>
                <a:latin typeface="Arial" charset="0"/>
                <a:ea typeface="Arial" charset="0"/>
                <a:cs typeface="Arial" charset="0"/>
              </a:rPr>
              <a:t>Donor Relations</a:t>
            </a:r>
          </a:p>
        </p:txBody>
      </p:sp>
      <p:pic>
        <p:nvPicPr>
          <p:cNvPr id="27" name="Picture 26"/>
          <p:cNvPicPr>
            <a:picLocks noChangeAspect="1"/>
          </p:cNvPicPr>
          <p:nvPr/>
        </p:nvPicPr>
        <p:blipFill>
          <a:blip r:embed="rId3"/>
          <a:stretch>
            <a:fillRect/>
          </a:stretch>
        </p:blipFill>
        <p:spPr>
          <a:xfrm>
            <a:off x="4446392" y="2821477"/>
            <a:ext cx="6350415" cy="1578832"/>
          </a:xfrm>
          <a:prstGeom prst="rect">
            <a:avLst/>
          </a:prstGeom>
        </p:spPr>
      </p:pic>
      <p:sp>
        <p:nvSpPr>
          <p:cNvPr id="28" name="Subtitle 2">
            <a:extLst>
              <a:ext uri="{FF2B5EF4-FFF2-40B4-BE49-F238E27FC236}">
                <a16:creationId xmlns:a16="http://schemas.microsoft.com/office/drawing/2014/main" id="{FB4DCADE-2A34-4B9D-9987-0330895D737E}"/>
              </a:ext>
            </a:extLst>
          </p:cNvPr>
          <p:cNvSpPr txBox="1">
            <a:spLocks/>
          </p:cNvSpPr>
          <p:nvPr/>
        </p:nvSpPr>
        <p:spPr>
          <a:xfrm>
            <a:off x="4588576" y="4513367"/>
            <a:ext cx="2832437" cy="231543"/>
          </a:xfrm>
          <a:prstGeom prst="rect">
            <a:avLst/>
          </a:prstGeom>
        </p:spPr>
        <p:txBody>
          <a:bodyPr vert="horz" lIns="41476" tIns="20738" rIns="41476" bIns="20738" rtlCol="0">
            <a:noAutofit/>
          </a:bodyPr>
          <a:lstStyle>
            <a:lvl1pPr marL="0" indent="0" algn="ctr" defTabSz="2015886" rtl="0" eaLnBrk="1" latinLnBrk="0" hangingPunct="1">
              <a:lnSpc>
                <a:spcPct val="80000"/>
              </a:lnSpc>
              <a:spcBef>
                <a:spcPts val="0"/>
              </a:spcBef>
              <a:buFont typeface="Arial" panose="020B0604020202020204" pitchFamily="34" charset="0"/>
              <a:buNone/>
              <a:defRPr sz="3800" kern="1200">
                <a:solidFill>
                  <a:schemeClr val="bg2"/>
                </a:solidFill>
                <a:latin typeface="+mn-lt"/>
                <a:ea typeface="+mn-ea"/>
                <a:cs typeface="+mn-cs"/>
              </a:defRPr>
            </a:lvl1pPr>
            <a:lvl2pPr marL="457200" indent="0" algn="ctr" defTabSz="2015886" rtl="0" eaLnBrk="1" latinLnBrk="0" hangingPunct="1">
              <a:lnSpc>
                <a:spcPct val="90000"/>
              </a:lnSpc>
              <a:spcBef>
                <a:spcPts val="1102"/>
              </a:spcBef>
              <a:buFont typeface="Arial" panose="020B0604020202020204" pitchFamily="34" charset="0"/>
              <a:buNone/>
              <a:defRPr sz="2000" kern="1200">
                <a:solidFill>
                  <a:schemeClr val="tx1"/>
                </a:solidFill>
                <a:latin typeface="+mn-lt"/>
                <a:ea typeface="+mn-ea"/>
                <a:cs typeface="+mn-cs"/>
              </a:defRPr>
            </a:lvl2pPr>
            <a:lvl3pPr marL="914400" indent="0" algn="ctr" defTabSz="2015886" rtl="0" eaLnBrk="1" latinLnBrk="0" hangingPunct="1">
              <a:lnSpc>
                <a:spcPct val="90000"/>
              </a:lnSpc>
              <a:spcBef>
                <a:spcPts val="1102"/>
              </a:spcBef>
              <a:buFont typeface="Arial" panose="020B0604020202020204" pitchFamily="34" charset="0"/>
              <a:buNone/>
              <a:defRPr sz="1800" kern="1200">
                <a:solidFill>
                  <a:schemeClr val="tx1"/>
                </a:solidFill>
                <a:latin typeface="+mn-lt"/>
                <a:ea typeface="+mn-ea"/>
                <a:cs typeface="+mn-cs"/>
              </a:defRPr>
            </a:lvl3pPr>
            <a:lvl4pPr marL="1371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4pPr>
            <a:lvl5pPr marL="18288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5pPr>
            <a:lvl6pPr marL="22860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6pPr>
            <a:lvl7pPr marL="27432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7pPr>
            <a:lvl8pPr marL="32004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8pPr>
            <a:lvl9pPr marL="3657600" indent="0" algn="ctr" defTabSz="2015886" rtl="0" eaLnBrk="1" latinLnBrk="0" hangingPunct="1">
              <a:lnSpc>
                <a:spcPct val="90000"/>
              </a:lnSpc>
              <a:spcBef>
                <a:spcPts val="1102"/>
              </a:spcBef>
              <a:buFont typeface="Arial" panose="020B0604020202020204" pitchFamily="34" charset="0"/>
              <a:buNone/>
              <a:defRPr sz="1600" kern="1200">
                <a:solidFill>
                  <a:schemeClr val="tx1"/>
                </a:solidFill>
                <a:latin typeface="+mn-lt"/>
                <a:ea typeface="+mn-ea"/>
                <a:cs typeface="+mn-cs"/>
              </a:defRPr>
            </a:lvl9pPr>
          </a:lstStyle>
          <a:p>
            <a:pPr algn="l" defTabSz="794744">
              <a:lnSpc>
                <a:spcPct val="100000"/>
              </a:lnSpc>
            </a:pPr>
            <a:r>
              <a:rPr lang="en-US" sz="1600" b="1" dirty="0">
                <a:solidFill>
                  <a:srgbClr val="0057B8"/>
                </a:solidFill>
                <a:latin typeface="Arial" charset="0"/>
                <a:ea typeface="Arial" charset="0"/>
                <a:cs typeface="Arial" charset="0"/>
              </a:rPr>
              <a:t>Naming Opportunities</a:t>
            </a:r>
          </a:p>
        </p:txBody>
      </p:sp>
      <p:pic>
        <p:nvPicPr>
          <p:cNvPr id="29" name="Picture 28"/>
          <p:cNvPicPr>
            <a:picLocks noChangeAspect="1"/>
          </p:cNvPicPr>
          <p:nvPr/>
        </p:nvPicPr>
        <p:blipFill>
          <a:blip r:embed="rId4"/>
          <a:stretch>
            <a:fillRect/>
          </a:stretch>
        </p:blipFill>
        <p:spPr>
          <a:xfrm>
            <a:off x="4401053" y="4888051"/>
            <a:ext cx="7695679" cy="1732591"/>
          </a:xfrm>
          <a:prstGeom prst="rect">
            <a:avLst/>
          </a:prstGeom>
        </p:spPr>
      </p:pic>
      <p:sp>
        <p:nvSpPr>
          <p:cNvPr id="5" name="Rectangle 4"/>
          <p:cNvSpPr/>
          <p:nvPr/>
        </p:nvSpPr>
        <p:spPr>
          <a:xfrm>
            <a:off x="3908558" y="2500694"/>
            <a:ext cx="164678" cy="393705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1780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xEl>
                                              <p:pRg st="16" end="1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9" grpId="0"/>
      <p:bldP spid="17" grpId="0"/>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7669" y="450779"/>
            <a:ext cx="9991725" cy="1114425"/>
          </a:xfrm>
        </p:spPr>
        <p:txBody>
          <a:bodyPr/>
          <a:lstStyle/>
          <a:p>
            <a:r>
              <a:rPr lang="en-US" dirty="0" smtClean="0"/>
              <a:t>Ankabut </a:t>
            </a:r>
            <a:endParaRPr lang="en-US" dirty="0"/>
          </a:p>
        </p:txBody>
      </p:sp>
      <p:sp>
        <p:nvSpPr>
          <p:cNvPr id="4" name="Date Placeholder 3"/>
          <p:cNvSpPr>
            <a:spLocks noGrp="1"/>
          </p:cNvSpPr>
          <p:nvPr>
            <p:ph type="dt" sz="half" idx="10"/>
          </p:nvPr>
        </p:nvSpPr>
        <p:spPr/>
        <p:txBody>
          <a:bodyPr/>
          <a:lstStyle/>
          <a:p>
            <a:r>
              <a:rPr lang="en-US" smtClean="0"/>
              <a:t>DD Month 20XX</a:t>
            </a:r>
            <a:endParaRPr lang="en-US"/>
          </a:p>
        </p:txBody>
      </p:sp>
      <p:sp>
        <p:nvSpPr>
          <p:cNvPr id="5" name="Footer Placeholder 4"/>
          <p:cNvSpPr>
            <a:spLocks noGrp="1"/>
          </p:cNvSpPr>
          <p:nvPr>
            <p:ph type="ftr" sz="quarter" idx="11"/>
          </p:nvPr>
        </p:nvSpPr>
        <p:spPr/>
        <p:txBody>
          <a:bodyPr/>
          <a:lstStyle/>
          <a:p>
            <a:r>
              <a:rPr lang="en-US" smtClean="0"/>
              <a:t>Presentation Title Goes Here</a:t>
            </a:r>
            <a:endParaRPr lang="en-US"/>
          </a:p>
        </p:txBody>
      </p:sp>
      <p:sp>
        <p:nvSpPr>
          <p:cNvPr id="6" name="Slide Number Placeholder 5"/>
          <p:cNvSpPr>
            <a:spLocks noGrp="1"/>
          </p:cNvSpPr>
          <p:nvPr>
            <p:ph type="sldNum" sz="quarter" idx="12"/>
          </p:nvPr>
        </p:nvSpPr>
        <p:spPr/>
        <p:txBody>
          <a:bodyPr/>
          <a:lstStyle/>
          <a:p>
            <a:fld id="{1E68DD1B-5CD8-424B-8173-19E182143E0A}" type="slidenum">
              <a:rPr lang="en-US" smtClean="0"/>
              <a:t>25</a:t>
            </a:fld>
            <a:endParaRPr lang="en-US"/>
          </a:p>
        </p:txBody>
      </p:sp>
      <p:sp>
        <p:nvSpPr>
          <p:cNvPr id="7" name="TextBox 6"/>
          <p:cNvSpPr txBox="1"/>
          <p:nvPr/>
        </p:nvSpPr>
        <p:spPr>
          <a:xfrm>
            <a:off x="702088" y="1777490"/>
            <a:ext cx="10888717" cy="3323987"/>
          </a:xfrm>
          <a:prstGeom prst="rect">
            <a:avLst/>
          </a:prstGeom>
          <a:noFill/>
          <a:ln>
            <a:noFill/>
          </a:ln>
        </p:spPr>
        <p:txBody>
          <a:bodyPr wrap="square" lIns="0" tIns="0" rIns="0" bIns="0" rtlCol="0">
            <a:spAutoFit/>
          </a:bodyPr>
          <a:lstStyle/>
          <a:p>
            <a:r>
              <a:rPr lang="en-US" b="1" dirty="0"/>
              <a:t>Project Name</a:t>
            </a:r>
            <a:r>
              <a:rPr lang="en-US" dirty="0"/>
              <a:t>: </a:t>
            </a:r>
            <a:r>
              <a:rPr lang="en-US" b="1" dirty="0" smtClean="0">
                <a:solidFill>
                  <a:schemeClr val="accent1">
                    <a:lumMod val="50000"/>
                  </a:schemeClr>
                </a:solidFill>
              </a:rPr>
              <a:t>ANKABUT </a:t>
            </a:r>
            <a:r>
              <a:rPr lang="en-US" b="1" dirty="0">
                <a:solidFill>
                  <a:schemeClr val="accent1">
                    <a:lumMod val="50000"/>
                  </a:schemeClr>
                </a:solidFill>
              </a:rPr>
              <a:t>company </a:t>
            </a:r>
            <a:r>
              <a:rPr lang="en-US" b="1" dirty="0" smtClean="0">
                <a:solidFill>
                  <a:schemeClr val="accent1">
                    <a:lumMod val="50000"/>
                  </a:schemeClr>
                </a:solidFill>
              </a:rPr>
              <a:t>project. </a:t>
            </a:r>
            <a:endParaRPr lang="en-US" b="1" dirty="0">
              <a:solidFill>
                <a:schemeClr val="accent1">
                  <a:lumMod val="50000"/>
                </a:schemeClr>
              </a:solidFill>
            </a:endParaRPr>
          </a:p>
          <a:p>
            <a:r>
              <a:rPr lang="en-US" b="1" dirty="0" smtClean="0"/>
              <a:t>Project </a:t>
            </a:r>
            <a:r>
              <a:rPr lang="en-US" b="1" dirty="0"/>
              <a:t>involved departments</a:t>
            </a:r>
            <a:r>
              <a:rPr lang="en-US" dirty="0" smtClean="0"/>
              <a:t>: </a:t>
            </a:r>
            <a:r>
              <a:rPr lang="en-US" dirty="0" err="1" smtClean="0"/>
              <a:t>Anakbut</a:t>
            </a:r>
            <a:r>
              <a:rPr lang="en-US" dirty="0" smtClean="0"/>
              <a:t> </a:t>
            </a:r>
          </a:p>
          <a:p>
            <a:r>
              <a:rPr lang="en-US" b="1" dirty="0"/>
              <a:t>Project briefing</a:t>
            </a:r>
            <a:r>
              <a:rPr lang="en-US" dirty="0" smtClean="0"/>
              <a:t>:- To establish a state-of-art IT company in UAE </a:t>
            </a:r>
            <a:endParaRPr lang="en-US" dirty="0"/>
          </a:p>
          <a:p>
            <a:r>
              <a:rPr lang="en-US" b="1" dirty="0" smtClean="0"/>
              <a:t>Project </a:t>
            </a:r>
            <a:r>
              <a:rPr lang="en-US" b="1" dirty="0"/>
              <a:t>time frame</a:t>
            </a:r>
            <a:r>
              <a:rPr lang="en-US" dirty="0" smtClean="0"/>
              <a:t>: Oct 2024</a:t>
            </a:r>
            <a:endParaRPr lang="en-US" dirty="0">
              <a:solidFill>
                <a:schemeClr val="tx2"/>
              </a:solidFill>
            </a:endParaRPr>
          </a:p>
          <a:p>
            <a:r>
              <a:rPr lang="en-US" b="1" dirty="0"/>
              <a:t>Project updates</a:t>
            </a:r>
            <a:r>
              <a:rPr lang="en-US" dirty="0" smtClean="0"/>
              <a:t>: The company licensed recently, currently in the transition period from current non-for- profit to the commercial model. </a:t>
            </a:r>
          </a:p>
          <a:p>
            <a:r>
              <a:rPr lang="en-US" b="1" dirty="0" smtClean="0"/>
              <a:t>Capital</a:t>
            </a:r>
            <a:r>
              <a:rPr lang="en-US" dirty="0" smtClean="0"/>
              <a:t>: around AED 45 million</a:t>
            </a:r>
          </a:p>
          <a:p>
            <a:r>
              <a:rPr lang="en-US" b="1" dirty="0" err="1" smtClean="0"/>
              <a:t>RoI</a:t>
            </a:r>
            <a:r>
              <a:rPr lang="en-US" b="1" dirty="0" smtClean="0"/>
              <a:t> </a:t>
            </a:r>
            <a:r>
              <a:rPr lang="en-US" dirty="0" smtClean="0"/>
              <a:t>: expected to generate average of 20-25 %</a:t>
            </a:r>
          </a:p>
          <a:p>
            <a:r>
              <a:rPr lang="en-US" b="1" dirty="0" smtClean="0"/>
              <a:t>Challenges</a:t>
            </a:r>
            <a:r>
              <a:rPr lang="en-US" dirty="0" smtClean="0"/>
              <a:t>: Set up the company HR and operations.</a:t>
            </a:r>
          </a:p>
          <a:p>
            <a:r>
              <a:rPr lang="en-US" b="1" dirty="0" smtClean="0"/>
              <a:t>Pending work</a:t>
            </a:r>
            <a:r>
              <a:rPr lang="en-US" dirty="0" smtClean="0"/>
              <a:t>: at beginning </a:t>
            </a:r>
          </a:p>
          <a:p>
            <a:endParaRPr lang="en-US" dirty="0"/>
          </a:p>
          <a:p>
            <a:endParaRPr lang="en-US" dirty="0"/>
          </a:p>
        </p:txBody>
      </p:sp>
      <p:sp>
        <p:nvSpPr>
          <p:cNvPr id="8" name="Flowchart: Connector 7"/>
          <p:cNvSpPr/>
          <p:nvPr/>
        </p:nvSpPr>
        <p:spPr>
          <a:xfrm>
            <a:off x="487274" y="810223"/>
            <a:ext cx="852147" cy="735375"/>
          </a:xfrm>
          <a:prstGeom prst="flowChartConnector">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solidFill>
              </a:rPr>
              <a:t>2</a:t>
            </a:r>
            <a:endParaRPr lang="en-US" sz="2800" b="1" dirty="0">
              <a:solidFill>
                <a:schemeClr val="tx1"/>
              </a:solidFill>
            </a:endParaRPr>
          </a:p>
        </p:txBody>
      </p:sp>
      <p:sp>
        <p:nvSpPr>
          <p:cNvPr id="9" name="Rounded Rectangle 8"/>
          <p:cNvSpPr/>
          <p:nvPr/>
        </p:nvSpPr>
        <p:spPr>
          <a:xfrm>
            <a:off x="487274" y="1555531"/>
            <a:ext cx="11151476" cy="3405351"/>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63859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CBF67D7-8C75-433C-B949-F5BA01069781}" type="slidenum">
              <a:rPr lang="en-US" smtClean="0"/>
              <a:t>26</a:t>
            </a:fld>
            <a:endParaRPr lang="en-US"/>
          </a:p>
        </p:txBody>
      </p:sp>
      <p:graphicFrame>
        <p:nvGraphicFramePr>
          <p:cNvPr id="4" name="Object 3"/>
          <p:cNvGraphicFramePr>
            <a:graphicFrameLocks noChangeAspect="1"/>
          </p:cNvGraphicFramePr>
          <p:nvPr>
            <p:extLst/>
          </p:nvPr>
        </p:nvGraphicFramePr>
        <p:xfrm>
          <a:off x="709838" y="1645920"/>
          <a:ext cx="8577774" cy="4622792"/>
        </p:xfrm>
        <a:graphic>
          <a:graphicData uri="http://schemas.openxmlformats.org/presentationml/2006/ole">
            <mc:AlternateContent xmlns:mc="http://schemas.openxmlformats.org/markup-compatibility/2006">
              <mc:Choice xmlns:v="urn:schemas-microsoft-com:vml" Requires="v">
                <p:oleObj spid="_x0000_s1095" name="Worksheet" r:id="rId3" imgW="8401050" imgH="4527550" progId="Excel.Sheet.12">
                  <p:embed/>
                </p:oleObj>
              </mc:Choice>
              <mc:Fallback>
                <p:oleObj name="Worksheet" r:id="rId3" imgW="8401050" imgH="4527550" progId="Excel.Sheet.12">
                  <p:embed/>
                  <p:pic>
                    <p:nvPicPr>
                      <p:cNvPr id="0" name=""/>
                      <p:cNvPicPr/>
                      <p:nvPr/>
                    </p:nvPicPr>
                    <p:blipFill>
                      <a:blip r:embed="rId4"/>
                      <a:stretch>
                        <a:fillRect/>
                      </a:stretch>
                    </p:blipFill>
                    <p:spPr>
                      <a:xfrm>
                        <a:off x="709838" y="1645920"/>
                        <a:ext cx="8577774" cy="4622792"/>
                      </a:xfrm>
                      <a:prstGeom prst="rect">
                        <a:avLst/>
                      </a:prstGeom>
                    </p:spPr>
                  </p:pic>
                </p:oleObj>
              </mc:Fallback>
            </mc:AlternateContent>
          </a:graphicData>
        </a:graphic>
      </p:graphicFrame>
      <p:sp>
        <p:nvSpPr>
          <p:cNvPr id="5" name="TextBox 4"/>
          <p:cNvSpPr txBox="1"/>
          <p:nvPr/>
        </p:nvSpPr>
        <p:spPr>
          <a:xfrm>
            <a:off x="915382" y="629493"/>
            <a:ext cx="10202238" cy="923330"/>
          </a:xfrm>
          <a:prstGeom prst="rect">
            <a:avLst/>
          </a:prstGeom>
          <a:noFill/>
        </p:spPr>
        <p:txBody>
          <a:bodyPr wrap="square" rtlCol="0">
            <a:spAutoFit/>
          </a:bodyPr>
          <a:lstStyle/>
          <a:p>
            <a:pPr algn="ctr"/>
            <a:r>
              <a:rPr lang="en-US" b="1" dirty="0" smtClean="0"/>
              <a:t>Summary of revenue and expenditures actual/projection for 10 years (from 2017 to 2026)</a:t>
            </a:r>
            <a:r>
              <a:rPr lang="en-US" dirty="0" smtClean="0"/>
              <a:t> </a:t>
            </a:r>
          </a:p>
          <a:p>
            <a:pPr algn="ctr"/>
            <a:r>
              <a:rPr lang="en-US" dirty="0" smtClean="0"/>
              <a:t>AED million</a:t>
            </a:r>
          </a:p>
          <a:p>
            <a:r>
              <a:rPr lang="en-US" dirty="0" smtClean="0"/>
              <a:t> </a:t>
            </a:r>
            <a:endParaRPr lang="en-US" dirty="0"/>
          </a:p>
        </p:txBody>
      </p:sp>
      <p:sp>
        <p:nvSpPr>
          <p:cNvPr id="6" name="TextBox 5"/>
          <p:cNvSpPr txBox="1"/>
          <p:nvPr/>
        </p:nvSpPr>
        <p:spPr>
          <a:xfrm>
            <a:off x="9358685" y="1628980"/>
            <a:ext cx="2592125" cy="5447645"/>
          </a:xfrm>
          <a:prstGeom prst="rect">
            <a:avLst/>
          </a:prstGeom>
          <a:noFill/>
        </p:spPr>
        <p:txBody>
          <a:bodyPr wrap="square" rtlCol="0">
            <a:spAutoFit/>
          </a:bodyPr>
          <a:lstStyle/>
          <a:p>
            <a:r>
              <a:rPr lang="en-US" sz="1100" b="1" u="sng" dirty="0" smtClean="0"/>
              <a:t>Notes:</a:t>
            </a:r>
          </a:p>
          <a:p>
            <a:pPr marL="171450" indent="-171450">
              <a:buFont typeface="Arial" panose="020B0604020202020204" pitchFamily="34" charset="0"/>
              <a:buChar char="•"/>
            </a:pPr>
            <a:endParaRPr lang="en-US" sz="1050" dirty="0" smtClean="0"/>
          </a:p>
          <a:p>
            <a:pPr marL="171450" indent="-171450">
              <a:buFont typeface="Arial" panose="020B0604020202020204" pitchFamily="34" charset="0"/>
              <a:buChar char="•"/>
            </a:pPr>
            <a:r>
              <a:rPr lang="en-US" sz="1050" dirty="0"/>
              <a:t>The net profit in Y2023 would be reduced from AED 5.5 m to AED 2.8 m if the lowest conservative scenario for connectivity is selected and </a:t>
            </a:r>
            <a:r>
              <a:rPr lang="en-US" sz="1050" dirty="0" smtClean="0"/>
              <a:t>the lowest </a:t>
            </a:r>
            <a:r>
              <a:rPr lang="en-US" sz="1050" dirty="0"/>
              <a:t>scenario for IT managed services while it would increase to AED 12.2 m if the best optimistic scenario is achieved. </a:t>
            </a:r>
            <a:endParaRPr lang="en-US" sz="1050" dirty="0" smtClean="0"/>
          </a:p>
          <a:p>
            <a:endParaRPr lang="en-US" sz="1050" dirty="0"/>
          </a:p>
          <a:p>
            <a:pPr marL="171450" indent="-171450">
              <a:buFont typeface="Arial" panose="020B0604020202020204" pitchFamily="34" charset="0"/>
              <a:buChar char="•"/>
            </a:pPr>
            <a:r>
              <a:rPr lang="en-US" sz="1050" dirty="0" smtClean="0"/>
              <a:t>There </a:t>
            </a:r>
            <a:r>
              <a:rPr lang="en-US" sz="1050" dirty="0"/>
              <a:t>is an increase in total expenditure and a drop in net profit in Y2023 because of additional expenses related to </a:t>
            </a:r>
            <a:r>
              <a:rPr lang="en-US" sz="1050" dirty="0" smtClean="0"/>
              <a:t>carve out </a:t>
            </a:r>
            <a:r>
              <a:rPr lang="en-US" sz="1050" dirty="0"/>
              <a:t>(around </a:t>
            </a:r>
            <a:r>
              <a:rPr lang="en-US" sz="1050" dirty="0" smtClean="0"/>
              <a:t>AED 12 million i.e. 7.8 + 4.2).</a:t>
            </a:r>
          </a:p>
          <a:p>
            <a:r>
              <a:rPr lang="en-US" sz="1050" dirty="0" smtClean="0"/>
              <a:t> </a:t>
            </a:r>
            <a:endParaRPr lang="en-US" sz="1050" dirty="0"/>
          </a:p>
          <a:p>
            <a:pPr marL="171450" indent="-171450">
              <a:buFont typeface="Arial" panose="020B0604020202020204" pitchFamily="34" charset="0"/>
              <a:buChar char="•"/>
            </a:pPr>
            <a:r>
              <a:rPr lang="en-US" sz="1050" dirty="0"/>
              <a:t>Depreciation remains consistent because no additional capital is expected to be added in the coming few years. </a:t>
            </a:r>
            <a:endParaRPr lang="en-US" sz="1050" dirty="0" smtClean="0"/>
          </a:p>
          <a:p>
            <a:endParaRPr lang="en-US" sz="1050" dirty="0"/>
          </a:p>
          <a:p>
            <a:pPr marL="171450" indent="-171450">
              <a:buFont typeface="Arial" panose="020B0604020202020204" pitchFamily="34" charset="0"/>
              <a:buChar char="•"/>
            </a:pPr>
            <a:r>
              <a:rPr lang="en-US" sz="1050" dirty="0"/>
              <a:t>Increase in “other operating expenses” because of increase in cloud services thus the related expenses. </a:t>
            </a:r>
            <a:endParaRPr lang="en-US" sz="1050" dirty="0" smtClean="0"/>
          </a:p>
          <a:p>
            <a:endParaRPr lang="en-US" sz="1050" dirty="0"/>
          </a:p>
          <a:p>
            <a:pPr marL="171450" indent="-171450">
              <a:buFont typeface="Arial" panose="020B0604020202020204" pitchFamily="34" charset="0"/>
              <a:buChar char="•"/>
            </a:pPr>
            <a:r>
              <a:rPr lang="en-US" sz="1050" dirty="0"/>
              <a:t>International link cost AED 2.4 million is assumed to be stopped </a:t>
            </a:r>
            <a:r>
              <a:rPr lang="en-US" sz="1050" dirty="0" err="1"/>
              <a:t>wef</a:t>
            </a:r>
            <a:r>
              <a:rPr lang="en-US" sz="1050" dirty="0"/>
              <a:t> 2023. </a:t>
            </a:r>
          </a:p>
          <a:p>
            <a:endParaRPr lang="en-US" dirty="0" smtClean="0"/>
          </a:p>
          <a:p>
            <a:endParaRPr lang="en-US" dirty="0"/>
          </a:p>
        </p:txBody>
      </p:sp>
    </p:spTree>
    <p:extLst>
      <p:ext uri="{BB962C8B-B14F-4D97-AF65-F5344CB8AC3E}">
        <p14:creationId xmlns:p14="http://schemas.microsoft.com/office/powerpoint/2010/main" val="192184058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BF67D7-8C75-433C-B949-F5BA01069781}" type="slidenum">
              <a:rPr lang="en-US" smtClean="0"/>
              <a:t>27</a:t>
            </a:fld>
            <a:endParaRPr lang="en-US"/>
          </a:p>
        </p:txBody>
      </p:sp>
      <p:pic>
        <p:nvPicPr>
          <p:cNvPr id="5" name="Picture 4"/>
          <p:cNvPicPr>
            <a:picLocks noChangeAspect="1"/>
          </p:cNvPicPr>
          <p:nvPr/>
        </p:nvPicPr>
        <p:blipFill>
          <a:blip r:embed="rId2"/>
          <a:stretch>
            <a:fillRect/>
          </a:stretch>
        </p:blipFill>
        <p:spPr>
          <a:xfrm>
            <a:off x="606851" y="658359"/>
            <a:ext cx="10746093" cy="5663664"/>
          </a:xfrm>
          <a:prstGeom prst="rect">
            <a:avLst/>
          </a:prstGeom>
        </p:spPr>
      </p:pic>
    </p:spTree>
    <p:extLst>
      <p:ext uri="{BB962C8B-B14F-4D97-AF65-F5344CB8AC3E}">
        <p14:creationId xmlns:p14="http://schemas.microsoft.com/office/powerpoint/2010/main" val="19123163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15" y="1000967"/>
            <a:ext cx="10512862" cy="561861"/>
          </a:xfrm>
        </p:spPr>
        <p:txBody>
          <a:bodyPr/>
          <a:lstStyle/>
          <a:p>
            <a:pPr algn="ctr"/>
            <a:r>
              <a:rPr lang="en-US" dirty="0">
                <a:solidFill>
                  <a:srgbClr val="7030A0"/>
                </a:solidFill>
              </a:rPr>
              <a:t>Revenue Streams</a:t>
            </a:r>
          </a:p>
        </p:txBody>
      </p:sp>
      <p:pic>
        <p:nvPicPr>
          <p:cNvPr id="6" name="Picture 5"/>
          <p:cNvPicPr>
            <a:picLocks noChangeAspect="1"/>
          </p:cNvPicPr>
          <p:nvPr/>
        </p:nvPicPr>
        <p:blipFill>
          <a:blip r:embed="rId2"/>
          <a:stretch>
            <a:fillRect/>
          </a:stretch>
        </p:blipFill>
        <p:spPr>
          <a:xfrm>
            <a:off x="6732893" y="2132627"/>
            <a:ext cx="5288097" cy="4430095"/>
          </a:xfrm>
          <a:prstGeom prst="rect">
            <a:avLst/>
          </a:prstGeom>
        </p:spPr>
      </p:pic>
      <p:pic>
        <p:nvPicPr>
          <p:cNvPr id="9" name="Picture 8"/>
          <p:cNvPicPr>
            <a:picLocks noChangeAspect="1"/>
          </p:cNvPicPr>
          <p:nvPr/>
        </p:nvPicPr>
        <p:blipFill>
          <a:blip r:embed="rId3"/>
          <a:stretch>
            <a:fillRect/>
          </a:stretch>
        </p:blipFill>
        <p:spPr>
          <a:xfrm>
            <a:off x="380617" y="2152191"/>
            <a:ext cx="6467953" cy="4448857"/>
          </a:xfrm>
          <a:prstGeom prst="rect">
            <a:avLst/>
          </a:prstGeom>
        </p:spPr>
      </p:pic>
      <p:sp>
        <p:nvSpPr>
          <p:cNvPr id="3" name="TextBox 2"/>
          <p:cNvSpPr txBox="1"/>
          <p:nvPr/>
        </p:nvSpPr>
        <p:spPr>
          <a:xfrm>
            <a:off x="3704778" y="1465094"/>
            <a:ext cx="4614334" cy="307777"/>
          </a:xfrm>
          <a:prstGeom prst="rect">
            <a:avLst/>
          </a:prstGeom>
          <a:noFill/>
        </p:spPr>
        <p:txBody>
          <a:bodyPr wrap="square" rtlCol="0">
            <a:spAutoFit/>
          </a:bodyPr>
          <a:lstStyle/>
          <a:p>
            <a:pPr algn="ctr"/>
            <a:r>
              <a:rPr lang="en-US" sz="1400" b="1" dirty="0">
                <a:solidFill>
                  <a:schemeClr val="accent3">
                    <a:lumMod val="60000"/>
                    <a:lumOff val="40000"/>
                  </a:schemeClr>
                </a:solidFill>
              </a:rPr>
              <a:t>Analysis of  total revenue AED 70.7 million for Y2021</a:t>
            </a:r>
            <a:endParaRPr lang="en-US" sz="1200" b="1" dirty="0">
              <a:solidFill>
                <a:schemeClr val="accent3">
                  <a:lumMod val="60000"/>
                  <a:lumOff val="40000"/>
                </a:schemeClr>
              </a:solidFill>
            </a:endParaRPr>
          </a:p>
        </p:txBody>
      </p:sp>
    </p:spTree>
    <p:extLst>
      <p:ext uri="{BB962C8B-B14F-4D97-AF65-F5344CB8AC3E}">
        <p14:creationId xmlns:p14="http://schemas.microsoft.com/office/powerpoint/2010/main" val="15776741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Connector 25"/>
          <p:cNvCxnSpPr/>
          <p:nvPr/>
        </p:nvCxnSpPr>
        <p:spPr>
          <a:xfrm>
            <a:off x="759464" y="1173258"/>
            <a:ext cx="2422660" cy="0"/>
          </a:xfrm>
          <a:prstGeom prst="line">
            <a:avLst/>
          </a:prstGeom>
          <a:ln>
            <a:solidFill>
              <a:srgbClr val="2FC2E7"/>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3188339" y="1173258"/>
            <a:ext cx="8224199" cy="0"/>
          </a:xfrm>
          <a:prstGeom prst="line">
            <a:avLst/>
          </a:prstGeom>
          <a:ln>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471229" y="1425058"/>
            <a:ext cx="3434819" cy="1477328"/>
          </a:xfrm>
          <a:prstGeom prst="rect">
            <a:avLst/>
          </a:prstGeom>
          <a:noFill/>
        </p:spPr>
        <p:txBody>
          <a:bodyPr wrap="square">
            <a:spAutoFit/>
          </a:bodyPr>
          <a:lstStyle/>
          <a:p>
            <a:pPr lvl="0" eaLnBrk="0" hangingPunct="0">
              <a:defRPr/>
            </a:pPr>
            <a:r>
              <a:rPr lang="en-US" sz="3000" b="1" dirty="0" err="1">
                <a:solidFill>
                  <a:srgbClr val="7030A0"/>
                </a:solidFill>
              </a:rPr>
              <a:t>Ankabut</a:t>
            </a:r>
            <a:r>
              <a:rPr lang="en-US" sz="3000" b="1" dirty="0">
                <a:solidFill>
                  <a:srgbClr val="7030A0"/>
                </a:solidFill>
              </a:rPr>
              <a:t> Curve Out -Executive Summary</a:t>
            </a:r>
            <a:endParaRPr lang="en-US" sz="3000" b="1" dirty="0">
              <a:solidFill>
                <a:srgbClr val="7030A0"/>
              </a:solidFill>
              <a:latin typeface="Arial" panose="020B0604020202020204" pitchFamily="34" charset="0"/>
              <a:ea typeface="ＭＳ Ｐゴシック" charset="-128"/>
              <a:cs typeface="Arial" panose="020B0604020202020204" pitchFamily="34" charset="0"/>
              <a:sym typeface="Arial" charset="0"/>
            </a:endParaRPr>
          </a:p>
        </p:txBody>
      </p:sp>
      <p:sp>
        <p:nvSpPr>
          <p:cNvPr id="3" name="Rectangle 2"/>
          <p:cNvSpPr/>
          <p:nvPr/>
        </p:nvSpPr>
        <p:spPr>
          <a:xfrm>
            <a:off x="3514337" y="1350461"/>
            <a:ext cx="8296177" cy="6524863"/>
          </a:xfrm>
          <a:prstGeom prst="rect">
            <a:avLst/>
          </a:prstGeom>
        </p:spPr>
        <p:txBody>
          <a:bodyPr wrap="square">
            <a:spAutoFit/>
          </a:bodyPr>
          <a:lstStyle/>
          <a:p>
            <a:pPr algn="just"/>
            <a:r>
              <a:rPr lang="en-US" sz="1600" dirty="0"/>
              <a:t>The objective of the transaction is to curve out Ankabut from Khalifa University into stand alone commercial entity. This will enable Ankabut to monetize its capabilities by expanding its client base.</a:t>
            </a:r>
          </a:p>
          <a:p>
            <a:pPr algn="just"/>
            <a:endParaRPr lang="en-US" sz="1600" dirty="0"/>
          </a:p>
          <a:p>
            <a:pPr algn="just"/>
            <a:r>
              <a:rPr lang="en-US" sz="1600" dirty="0"/>
              <a:t>As part of this transaction consultant “PwC” has been recruited to  develop a curve out  blue print  to define the detailed operational and separation perimeter, and establish the Pro-forma financials of the stand alone business upon curve out.</a:t>
            </a:r>
          </a:p>
          <a:p>
            <a:pPr algn="just"/>
            <a:endParaRPr lang="en-US" sz="1600" dirty="0"/>
          </a:p>
          <a:p>
            <a:pPr algn="just"/>
            <a:r>
              <a:rPr lang="en-US" sz="1600" b="1" dirty="0">
                <a:solidFill>
                  <a:srgbClr val="7030A0"/>
                </a:solidFill>
              </a:rPr>
              <a:t>The main findings of PwC consultancy :</a:t>
            </a:r>
          </a:p>
          <a:p>
            <a:pPr algn="just"/>
            <a:endParaRPr lang="en-US" sz="1600" dirty="0"/>
          </a:p>
          <a:p>
            <a:pPr marL="371475" indent="-371475" algn="just">
              <a:lnSpc>
                <a:spcPct val="150000"/>
              </a:lnSpc>
              <a:buFont typeface="+mj-lt"/>
              <a:buAutoNum type="arabicPeriod"/>
            </a:pPr>
            <a:r>
              <a:rPr lang="en-US" dirty="0"/>
              <a:t>Curve out complexity </a:t>
            </a:r>
            <a:r>
              <a:rPr lang="en-US" dirty="0">
                <a:solidFill>
                  <a:srgbClr val="7030A0"/>
                </a:solidFill>
              </a:rPr>
              <a:t>:   </a:t>
            </a:r>
            <a:r>
              <a:rPr lang="en-US" b="1" dirty="0">
                <a:solidFill>
                  <a:srgbClr val="7030A0"/>
                </a:solidFill>
              </a:rPr>
              <a:t>Low /Moderate .</a:t>
            </a:r>
          </a:p>
          <a:p>
            <a:pPr marL="371475" indent="-371475" algn="just">
              <a:lnSpc>
                <a:spcPct val="150000"/>
              </a:lnSpc>
              <a:buFont typeface="+mj-lt"/>
              <a:buAutoNum type="arabicPeriod"/>
            </a:pPr>
            <a:r>
              <a:rPr lang="en-US" dirty="0"/>
              <a:t>Viability of stand- alone business</a:t>
            </a:r>
            <a:r>
              <a:rPr lang="en-US" b="1" dirty="0"/>
              <a:t>:  </a:t>
            </a:r>
            <a:r>
              <a:rPr lang="en-US" b="1" dirty="0">
                <a:solidFill>
                  <a:srgbClr val="7030A0"/>
                </a:solidFill>
              </a:rPr>
              <a:t>Viable and EBITDA is positive.</a:t>
            </a:r>
          </a:p>
          <a:p>
            <a:pPr marL="371475" indent="-371475" algn="just">
              <a:lnSpc>
                <a:spcPct val="150000"/>
              </a:lnSpc>
              <a:buFont typeface="+mj-lt"/>
              <a:buAutoNum type="arabicPeriod"/>
            </a:pPr>
            <a:r>
              <a:rPr lang="en-US" dirty="0"/>
              <a:t>Business potential </a:t>
            </a:r>
            <a:r>
              <a:rPr lang="en-US" b="1" dirty="0"/>
              <a:t>:     </a:t>
            </a:r>
            <a:r>
              <a:rPr lang="en-US" b="1" dirty="0">
                <a:solidFill>
                  <a:srgbClr val="7030A0"/>
                </a:solidFill>
              </a:rPr>
              <a:t>20% in UAE and wider in MENA</a:t>
            </a:r>
            <a:r>
              <a:rPr lang="en-US" dirty="0">
                <a:solidFill>
                  <a:srgbClr val="7030A0"/>
                </a:solidFill>
              </a:rPr>
              <a:t>.</a:t>
            </a:r>
          </a:p>
          <a:p>
            <a:pPr marL="371475" indent="-371475" algn="just">
              <a:lnSpc>
                <a:spcPct val="150000"/>
              </a:lnSpc>
              <a:buFont typeface="+mj-lt"/>
              <a:buAutoNum type="arabicPeriod"/>
            </a:pPr>
            <a:r>
              <a:rPr lang="en-US" dirty="0"/>
              <a:t>Time required</a:t>
            </a:r>
            <a:r>
              <a:rPr lang="en-US" b="1" dirty="0">
                <a:solidFill>
                  <a:srgbClr val="7030A0"/>
                </a:solidFill>
              </a:rPr>
              <a:t>:      6 Months</a:t>
            </a:r>
            <a:r>
              <a:rPr lang="en-US" dirty="0">
                <a:solidFill>
                  <a:srgbClr val="7030A0"/>
                </a:solidFill>
              </a:rPr>
              <a:t>.</a:t>
            </a:r>
          </a:p>
          <a:p>
            <a:pPr marL="371475" indent="-371475" algn="just">
              <a:lnSpc>
                <a:spcPct val="150000"/>
              </a:lnSpc>
              <a:buFont typeface="+mj-lt"/>
              <a:buAutoNum type="arabicPeriod"/>
            </a:pPr>
            <a:r>
              <a:rPr lang="en-US" dirty="0"/>
              <a:t>Key risk and challenge: </a:t>
            </a:r>
            <a:r>
              <a:rPr lang="en-US" sz="1600" b="1" dirty="0">
                <a:solidFill>
                  <a:srgbClr val="7030A0"/>
                </a:solidFill>
              </a:rPr>
              <a:t>Cultural transformation and ERP implementation time</a:t>
            </a:r>
            <a:r>
              <a:rPr lang="en-US" b="1" dirty="0">
                <a:solidFill>
                  <a:srgbClr val="7030A0"/>
                </a:solidFill>
              </a:rPr>
              <a:t>.</a:t>
            </a:r>
          </a:p>
          <a:p>
            <a:pPr marL="371475" indent="-371475" algn="just">
              <a:lnSpc>
                <a:spcPct val="150000"/>
              </a:lnSpc>
              <a:buFont typeface="+mj-lt"/>
              <a:buAutoNum type="arabicPeriod"/>
            </a:pPr>
            <a:r>
              <a:rPr lang="en-US" dirty="0"/>
              <a:t>Next Step :  </a:t>
            </a:r>
            <a:r>
              <a:rPr lang="en-US" b="1" dirty="0">
                <a:solidFill>
                  <a:srgbClr val="7030A0"/>
                </a:solidFill>
              </a:rPr>
              <a:t>Setup a curve out separation program office report to CEO.</a:t>
            </a:r>
          </a:p>
          <a:p>
            <a:pPr marL="257175" indent="-257175" algn="just">
              <a:buFont typeface="+mj-lt"/>
              <a:buAutoNum type="arabicPeriod"/>
            </a:pPr>
            <a:endParaRPr lang="en-US" sz="1600" dirty="0">
              <a:solidFill>
                <a:srgbClr val="7030A0"/>
              </a:solidFill>
            </a:endParaRPr>
          </a:p>
          <a:p>
            <a:pPr marL="257175" indent="-257175" algn="just">
              <a:buFont typeface="+mj-lt"/>
              <a:buAutoNum type="arabicPeriod"/>
            </a:pPr>
            <a:endParaRPr lang="en-US" sz="1600" dirty="0"/>
          </a:p>
          <a:p>
            <a:pPr algn="just"/>
            <a:endParaRPr lang="en-US" sz="1600" dirty="0"/>
          </a:p>
          <a:p>
            <a:pPr algn="just"/>
            <a:endParaRPr lang="en-US" sz="1600" dirty="0"/>
          </a:p>
          <a:p>
            <a:pPr algn="just"/>
            <a:endParaRPr lang="en-US" sz="1600" dirty="0"/>
          </a:p>
          <a:p>
            <a:pPr algn="just"/>
            <a:endParaRPr lang="en-US" sz="1600" dirty="0"/>
          </a:p>
        </p:txBody>
      </p:sp>
      <p:cxnSp>
        <p:nvCxnSpPr>
          <p:cNvPr id="72" name="Straight Connector 71"/>
          <p:cNvCxnSpPr/>
          <p:nvPr/>
        </p:nvCxnSpPr>
        <p:spPr>
          <a:xfrm>
            <a:off x="336990" y="1623804"/>
            <a:ext cx="3757" cy="280732"/>
          </a:xfrm>
          <a:prstGeom prst="line">
            <a:avLst/>
          </a:prstGeom>
          <a:ln w="57150">
            <a:solidFill>
              <a:srgbClr val="2FC2E7"/>
            </a:solidFill>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622" y="3564240"/>
            <a:ext cx="3198927" cy="2664369"/>
          </a:xfrm>
          <a:prstGeom prst="rect">
            <a:avLst/>
          </a:prstGeom>
        </p:spPr>
      </p:pic>
    </p:spTree>
    <p:extLst>
      <p:ext uri="{BB962C8B-B14F-4D97-AF65-F5344CB8AC3E}">
        <p14:creationId xmlns:p14="http://schemas.microsoft.com/office/powerpoint/2010/main" val="273261606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Group 78">
            <a:extLst>
              <a:ext uri="{FF2B5EF4-FFF2-40B4-BE49-F238E27FC236}">
                <a16:creationId xmlns:a16="http://schemas.microsoft.com/office/drawing/2014/main" id="{91F93DD8-38BC-4072-8219-BF538A135668}"/>
              </a:ext>
            </a:extLst>
          </p:cNvPr>
          <p:cNvGrpSpPr/>
          <p:nvPr/>
        </p:nvGrpSpPr>
        <p:grpSpPr>
          <a:xfrm>
            <a:off x="2505276" y="1619504"/>
            <a:ext cx="7925444" cy="5238498"/>
            <a:chOff x="520134" y="2314106"/>
            <a:chExt cx="4678751" cy="3202084"/>
          </a:xfrm>
        </p:grpSpPr>
        <p:sp>
          <p:nvSpPr>
            <p:cNvPr id="83" name="Freeform 94">
              <a:extLst>
                <a:ext uri="{FF2B5EF4-FFF2-40B4-BE49-F238E27FC236}">
                  <a16:creationId xmlns:a16="http://schemas.microsoft.com/office/drawing/2014/main" id="{5C8ABF11-BD60-4C0D-A6CE-76784B9D135B}"/>
                </a:ext>
              </a:extLst>
            </p:cNvPr>
            <p:cNvSpPr>
              <a:spLocks/>
            </p:cNvSpPr>
            <p:nvPr/>
          </p:nvSpPr>
          <p:spPr bwMode="auto">
            <a:xfrm>
              <a:off x="2971623" y="3733428"/>
              <a:ext cx="2227262" cy="1782762"/>
            </a:xfrm>
            <a:custGeom>
              <a:avLst/>
              <a:gdLst/>
              <a:ahLst/>
              <a:cxnLst>
                <a:cxn ang="0">
                  <a:pos x="1402" y="1122"/>
                </a:cxn>
                <a:cxn ang="0">
                  <a:pos x="1402" y="162"/>
                </a:cxn>
                <a:cxn ang="0">
                  <a:pos x="795" y="162"/>
                </a:cxn>
                <a:cxn ang="0">
                  <a:pos x="700" y="0"/>
                </a:cxn>
                <a:cxn ang="0">
                  <a:pos x="614" y="162"/>
                </a:cxn>
                <a:cxn ang="0">
                  <a:pos x="0" y="162"/>
                </a:cxn>
                <a:cxn ang="0">
                  <a:pos x="0" y="1122"/>
                </a:cxn>
                <a:cxn ang="0">
                  <a:pos x="1402" y="1122"/>
                </a:cxn>
              </a:cxnLst>
              <a:rect l="0" t="0" r="r" b="b"/>
              <a:pathLst>
                <a:path w="1403" h="1123">
                  <a:moveTo>
                    <a:pt x="1402" y="1122"/>
                  </a:moveTo>
                  <a:lnTo>
                    <a:pt x="1402" y="162"/>
                  </a:lnTo>
                  <a:lnTo>
                    <a:pt x="795" y="162"/>
                  </a:lnTo>
                  <a:lnTo>
                    <a:pt x="700" y="0"/>
                  </a:lnTo>
                  <a:lnTo>
                    <a:pt x="614" y="162"/>
                  </a:lnTo>
                  <a:lnTo>
                    <a:pt x="0" y="162"/>
                  </a:lnTo>
                  <a:lnTo>
                    <a:pt x="0" y="1122"/>
                  </a:lnTo>
                  <a:lnTo>
                    <a:pt x="1402" y="1122"/>
                  </a:lnTo>
                </a:path>
              </a:pathLst>
            </a:custGeom>
            <a:solidFill>
              <a:srgbClr val="A50021"/>
            </a:solidFill>
            <a:ln w="28575" cap="rnd" cmpd="sng">
              <a:solidFill>
                <a:srgbClr val="FFFFFF"/>
              </a:solidFill>
              <a:prstDash val="solid"/>
              <a:round/>
              <a:headEnd/>
              <a:tailEnd/>
            </a:ln>
            <a:effectLst/>
          </p:spPr>
          <p:txBody>
            <a:bodyPr/>
            <a:lstStyle>
              <a:defPPr>
                <a:defRPr lang="en-US"/>
              </a:defPPr>
              <a:lvl1pPr algn="l" rtl="0" eaLnBrk="0" fontAlgn="base" hangingPunct="0">
                <a:spcBef>
                  <a:spcPct val="0"/>
                </a:spcBef>
                <a:spcAft>
                  <a:spcPct val="0"/>
                </a:spcAft>
                <a:defRPr sz="1200" kern="1200">
                  <a:solidFill>
                    <a:schemeClr val="tx1"/>
                  </a:solidFill>
                  <a:latin typeface="Arial" charset="0"/>
                  <a:ea typeface="+mn-ea"/>
                  <a:cs typeface="+mn-cs"/>
                </a:defRPr>
              </a:lvl1pPr>
              <a:lvl2pPr marL="457200" algn="l" rtl="0" eaLnBrk="0" fontAlgn="base" hangingPunct="0">
                <a:spcBef>
                  <a:spcPct val="0"/>
                </a:spcBef>
                <a:spcAft>
                  <a:spcPct val="0"/>
                </a:spcAft>
                <a:defRPr sz="1200" kern="1200">
                  <a:solidFill>
                    <a:schemeClr val="tx1"/>
                  </a:solidFill>
                  <a:latin typeface="Arial" charset="0"/>
                  <a:ea typeface="+mn-ea"/>
                  <a:cs typeface="+mn-cs"/>
                </a:defRPr>
              </a:lvl2pPr>
              <a:lvl3pPr marL="914400" algn="l" rtl="0" eaLnBrk="0" fontAlgn="base" hangingPunct="0">
                <a:spcBef>
                  <a:spcPct val="0"/>
                </a:spcBef>
                <a:spcAft>
                  <a:spcPct val="0"/>
                </a:spcAft>
                <a:defRPr sz="1200" kern="1200">
                  <a:solidFill>
                    <a:schemeClr val="tx1"/>
                  </a:solidFill>
                  <a:latin typeface="Arial" charset="0"/>
                  <a:ea typeface="+mn-ea"/>
                  <a:cs typeface="+mn-cs"/>
                </a:defRPr>
              </a:lvl3pPr>
              <a:lvl4pPr marL="1371600" algn="l" rtl="0" eaLnBrk="0" fontAlgn="base" hangingPunct="0">
                <a:spcBef>
                  <a:spcPct val="0"/>
                </a:spcBef>
                <a:spcAft>
                  <a:spcPct val="0"/>
                </a:spcAft>
                <a:defRPr sz="1200" kern="1200">
                  <a:solidFill>
                    <a:schemeClr val="tx1"/>
                  </a:solidFill>
                  <a:latin typeface="Arial" charset="0"/>
                  <a:ea typeface="+mn-ea"/>
                  <a:cs typeface="+mn-cs"/>
                </a:defRPr>
              </a:lvl4pPr>
              <a:lvl5pPr marL="1828800" algn="l" rtl="0" eaLnBrk="0" fontAlgn="base" hangingPunct="0">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a:lstStyle>
            <a:p>
              <a:pPr defTabSz="806666">
                <a:defRPr/>
              </a:pPr>
              <a:endParaRPr lang="nl-NL" sz="1059">
                <a:solidFill>
                  <a:srgbClr val="000000"/>
                </a:solidFill>
                <a:latin typeface="Georgia"/>
              </a:endParaRPr>
            </a:p>
          </p:txBody>
        </p:sp>
        <p:sp>
          <p:nvSpPr>
            <p:cNvPr id="84" name="Freeform 101">
              <a:extLst>
                <a:ext uri="{FF2B5EF4-FFF2-40B4-BE49-F238E27FC236}">
                  <a16:creationId xmlns:a16="http://schemas.microsoft.com/office/drawing/2014/main" id="{9ABAA60D-AAFD-4C74-8E4B-EE9AEB69715D}"/>
                </a:ext>
              </a:extLst>
            </p:cNvPr>
            <p:cNvSpPr>
              <a:spLocks/>
            </p:cNvSpPr>
            <p:nvPr/>
          </p:nvSpPr>
          <p:spPr bwMode="auto">
            <a:xfrm>
              <a:off x="520134" y="4002713"/>
              <a:ext cx="2551113" cy="1512887"/>
            </a:xfrm>
            <a:custGeom>
              <a:avLst/>
              <a:gdLst/>
              <a:ahLst/>
              <a:cxnLst>
                <a:cxn ang="0">
                  <a:pos x="0" y="0"/>
                </a:cxn>
                <a:cxn ang="0">
                  <a:pos x="0" y="952"/>
                </a:cxn>
                <a:cxn ang="0">
                  <a:pos x="1401" y="952"/>
                </a:cxn>
                <a:cxn ang="0">
                  <a:pos x="1401" y="556"/>
                </a:cxn>
                <a:cxn ang="0">
                  <a:pos x="1606" y="472"/>
                </a:cxn>
                <a:cxn ang="0">
                  <a:pos x="1401" y="395"/>
                </a:cxn>
                <a:cxn ang="0">
                  <a:pos x="1401" y="0"/>
                </a:cxn>
                <a:cxn ang="0">
                  <a:pos x="0" y="0"/>
                </a:cxn>
              </a:cxnLst>
              <a:rect l="0" t="0" r="r" b="b"/>
              <a:pathLst>
                <a:path w="1607" h="953">
                  <a:moveTo>
                    <a:pt x="0" y="0"/>
                  </a:moveTo>
                  <a:lnTo>
                    <a:pt x="0" y="952"/>
                  </a:lnTo>
                  <a:lnTo>
                    <a:pt x="1401" y="952"/>
                  </a:lnTo>
                  <a:lnTo>
                    <a:pt x="1401" y="556"/>
                  </a:lnTo>
                  <a:lnTo>
                    <a:pt x="1606" y="472"/>
                  </a:lnTo>
                  <a:lnTo>
                    <a:pt x="1401" y="395"/>
                  </a:lnTo>
                  <a:lnTo>
                    <a:pt x="1401" y="0"/>
                  </a:lnTo>
                  <a:lnTo>
                    <a:pt x="0" y="0"/>
                  </a:lnTo>
                </a:path>
              </a:pathLst>
            </a:custGeom>
            <a:solidFill>
              <a:srgbClr val="7F7F7F"/>
            </a:solidFill>
            <a:ln w="28575" cap="rnd" cmpd="sng">
              <a:solidFill>
                <a:srgbClr val="FFFFFF"/>
              </a:solidFill>
              <a:prstDash val="solid"/>
              <a:round/>
              <a:headEnd/>
              <a:tailEnd/>
            </a:ln>
            <a:effectLst/>
          </p:spPr>
          <p:txBody>
            <a:bodyPr/>
            <a:lstStyle>
              <a:defPPr>
                <a:defRPr lang="en-US"/>
              </a:defPPr>
              <a:lvl1pPr algn="l" rtl="0" eaLnBrk="0" fontAlgn="base" hangingPunct="0">
                <a:spcBef>
                  <a:spcPct val="0"/>
                </a:spcBef>
                <a:spcAft>
                  <a:spcPct val="0"/>
                </a:spcAft>
                <a:defRPr sz="1200" kern="1200">
                  <a:solidFill>
                    <a:schemeClr val="tx1"/>
                  </a:solidFill>
                  <a:latin typeface="Arial" charset="0"/>
                  <a:ea typeface="+mn-ea"/>
                  <a:cs typeface="+mn-cs"/>
                </a:defRPr>
              </a:lvl1pPr>
              <a:lvl2pPr marL="457200" algn="l" rtl="0" eaLnBrk="0" fontAlgn="base" hangingPunct="0">
                <a:spcBef>
                  <a:spcPct val="0"/>
                </a:spcBef>
                <a:spcAft>
                  <a:spcPct val="0"/>
                </a:spcAft>
                <a:defRPr sz="1200" kern="1200">
                  <a:solidFill>
                    <a:schemeClr val="tx1"/>
                  </a:solidFill>
                  <a:latin typeface="Arial" charset="0"/>
                  <a:ea typeface="+mn-ea"/>
                  <a:cs typeface="+mn-cs"/>
                </a:defRPr>
              </a:lvl2pPr>
              <a:lvl3pPr marL="914400" algn="l" rtl="0" eaLnBrk="0" fontAlgn="base" hangingPunct="0">
                <a:spcBef>
                  <a:spcPct val="0"/>
                </a:spcBef>
                <a:spcAft>
                  <a:spcPct val="0"/>
                </a:spcAft>
                <a:defRPr sz="1200" kern="1200">
                  <a:solidFill>
                    <a:schemeClr val="tx1"/>
                  </a:solidFill>
                  <a:latin typeface="Arial" charset="0"/>
                  <a:ea typeface="+mn-ea"/>
                  <a:cs typeface="+mn-cs"/>
                </a:defRPr>
              </a:lvl3pPr>
              <a:lvl4pPr marL="1371600" algn="l" rtl="0" eaLnBrk="0" fontAlgn="base" hangingPunct="0">
                <a:spcBef>
                  <a:spcPct val="0"/>
                </a:spcBef>
                <a:spcAft>
                  <a:spcPct val="0"/>
                </a:spcAft>
                <a:defRPr sz="1200" kern="1200">
                  <a:solidFill>
                    <a:schemeClr val="tx1"/>
                  </a:solidFill>
                  <a:latin typeface="Arial" charset="0"/>
                  <a:ea typeface="+mn-ea"/>
                  <a:cs typeface="+mn-cs"/>
                </a:defRPr>
              </a:lvl4pPr>
              <a:lvl5pPr marL="1828800" algn="l" rtl="0" eaLnBrk="0" fontAlgn="base" hangingPunct="0">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a:lstStyle>
            <a:p>
              <a:pPr defTabSz="806666">
                <a:defRPr/>
              </a:pPr>
              <a:endParaRPr lang="nl-NL" sz="1059">
                <a:solidFill>
                  <a:srgbClr val="000000"/>
                </a:solidFill>
                <a:latin typeface="Georgia"/>
              </a:endParaRPr>
            </a:p>
          </p:txBody>
        </p:sp>
        <p:sp>
          <p:nvSpPr>
            <p:cNvPr id="85" name="Freeform 102">
              <a:extLst>
                <a:ext uri="{FF2B5EF4-FFF2-40B4-BE49-F238E27FC236}">
                  <a16:creationId xmlns:a16="http://schemas.microsoft.com/office/drawing/2014/main" id="{52D1B562-DECF-486A-86CF-5F13098FFA4C}"/>
                </a:ext>
              </a:extLst>
            </p:cNvPr>
            <p:cNvSpPr>
              <a:spLocks/>
            </p:cNvSpPr>
            <p:nvPr/>
          </p:nvSpPr>
          <p:spPr bwMode="auto">
            <a:xfrm>
              <a:off x="521803" y="2314106"/>
              <a:ext cx="2225675" cy="1781175"/>
            </a:xfrm>
            <a:custGeom>
              <a:avLst/>
              <a:gdLst/>
              <a:ahLst/>
              <a:cxnLst>
                <a:cxn ang="0">
                  <a:pos x="0" y="0"/>
                </a:cxn>
                <a:cxn ang="0">
                  <a:pos x="0" y="958"/>
                </a:cxn>
                <a:cxn ang="0">
                  <a:pos x="606" y="958"/>
                </a:cxn>
                <a:cxn ang="0">
                  <a:pos x="700" y="1121"/>
                </a:cxn>
                <a:cxn ang="0">
                  <a:pos x="786" y="958"/>
                </a:cxn>
                <a:cxn ang="0">
                  <a:pos x="1401" y="958"/>
                </a:cxn>
                <a:cxn ang="0">
                  <a:pos x="1401" y="0"/>
                </a:cxn>
                <a:cxn ang="0">
                  <a:pos x="0" y="0"/>
                </a:cxn>
              </a:cxnLst>
              <a:rect l="0" t="0" r="r" b="b"/>
              <a:pathLst>
                <a:path w="1402" h="1122">
                  <a:moveTo>
                    <a:pt x="0" y="0"/>
                  </a:moveTo>
                  <a:lnTo>
                    <a:pt x="0" y="958"/>
                  </a:lnTo>
                  <a:lnTo>
                    <a:pt x="606" y="958"/>
                  </a:lnTo>
                  <a:lnTo>
                    <a:pt x="700" y="1121"/>
                  </a:lnTo>
                  <a:lnTo>
                    <a:pt x="786" y="958"/>
                  </a:lnTo>
                  <a:lnTo>
                    <a:pt x="1401" y="958"/>
                  </a:lnTo>
                  <a:lnTo>
                    <a:pt x="1401" y="0"/>
                  </a:lnTo>
                  <a:lnTo>
                    <a:pt x="0" y="0"/>
                  </a:lnTo>
                </a:path>
              </a:pathLst>
            </a:custGeom>
            <a:solidFill>
              <a:srgbClr val="C00000"/>
            </a:solidFill>
            <a:ln w="28575" cap="rnd" cmpd="sng">
              <a:solidFill>
                <a:srgbClr val="FFFFFF"/>
              </a:solidFill>
              <a:prstDash val="solid"/>
              <a:round/>
              <a:headEnd/>
              <a:tailEnd/>
            </a:ln>
            <a:effectLst/>
          </p:spPr>
          <p:txBody>
            <a:bodyPr/>
            <a:lstStyle>
              <a:defPPr>
                <a:defRPr lang="en-US"/>
              </a:defPPr>
              <a:lvl1pPr algn="l" rtl="0" eaLnBrk="0" fontAlgn="base" hangingPunct="0">
                <a:spcBef>
                  <a:spcPct val="0"/>
                </a:spcBef>
                <a:spcAft>
                  <a:spcPct val="0"/>
                </a:spcAft>
                <a:defRPr sz="1200" kern="1200">
                  <a:solidFill>
                    <a:schemeClr val="tx1"/>
                  </a:solidFill>
                  <a:latin typeface="Arial" charset="0"/>
                  <a:ea typeface="+mn-ea"/>
                  <a:cs typeface="+mn-cs"/>
                </a:defRPr>
              </a:lvl1pPr>
              <a:lvl2pPr marL="457200" algn="l" rtl="0" eaLnBrk="0" fontAlgn="base" hangingPunct="0">
                <a:spcBef>
                  <a:spcPct val="0"/>
                </a:spcBef>
                <a:spcAft>
                  <a:spcPct val="0"/>
                </a:spcAft>
                <a:defRPr sz="1200" kern="1200">
                  <a:solidFill>
                    <a:schemeClr val="tx1"/>
                  </a:solidFill>
                  <a:latin typeface="Arial" charset="0"/>
                  <a:ea typeface="+mn-ea"/>
                  <a:cs typeface="+mn-cs"/>
                </a:defRPr>
              </a:lvl2pPr>
              <a:lvl3pPr marL="914400" algn="l" rtl="0" eaLnBrk="0" fontAlgn="base" hangingPunct="0">
                <a:spcBef>
                  <a:spcPct val="0"/>
                </a:spcBef>
                <a:spcAft>
                  <a:spcPct val="0"/>
                </a:spcAft>
                <a:defRPr sz="1200" kern="1200">
                  <a:solidFill>
                    <a:schemeClr val="tx1"/>
                  </a:solidFill>
                  <a:latin typeface="Arial" charset="0"/>
                  <a:ea typeface="+mn-ea"/>
                  <a:cs typeface="+mn-cs"/>
                </a:defRPr>
              </a:lvl3pPr>
              <a:lvl4pPr marL="1371600" algn="l" rtl="0" eaLnBrk="0" fontAlgn="base" hangingPunct="0">
                <a:spcBef>
                  <a:spcPct val="0"/>
                </a:spcBef>
                <a:spcAft>
                  <a:spcPct val="0"/>
                </a:spcAft>
                <a:defRPr sz="1200" kern="1200">
                  <a:solidFill>
                    <a:schemeClr val="tx1"/>
                  </a:solidFill>
                  <a:latin typeface="Arial" charset="0"/>
                  <a:ea typeface="+mn-ea"/>
                  <a:cs typeface="+mn-cs"/>
                </a:defRPr>
              </a:lvl4pPr>
              <a:lvl5pPr marL="1828800" algn="l" rtl="0" eaLnBrk="0" fontAlgn="base" hangingPunct="0">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a:lstStyle>
            <a:p>
              <a:pPr defTabSz="806666">
                <a:defRPr/>
              </a:pPr>
              <a:endParaRPr lang="nl-NL" sz="1059">
                <a:solidFill>
                  <a:srgbClr val="000000"/>
                </a:solidFill>
                <a:latin typeface="Georgia"/>
              </a:endParaRPr>
            </a:p>
          </p:txBody>
        </p:sp>
        <p:sp>
          <p:nvSpPr>
            <p:cNvPr id="86" name="Freeform 109">
              <a:extLst>
                <a:ext uri="{FF2B5EF4-FFF2-40B4-BE49-F238E27FC236}">
                  <a16:creationId xmlns:a16="http://schemas.microsoft.com/office/drawing/2014/main" id="{547EF6F5-3987-4E1F-B284-47FC2C60A741}"/>
                </a:ext>
              </a:extLst>
            </p:cNvPr>
            <p:cNvSpPr>
              <a:spLocks/>
            </p:cNvSpPr>
            <p:nvPr/>
          </p:nvSpPr>
          <p:spPr bwMode="auto">
            <a:xfrm>
              <a:off x="2644598" y="2345464"/>
              <a:ext cx="2552700" cy="1514475"/>
            </a:xfrm>
            <a:custGeom>
              <a:avLst/>
              <a:gdLst/>
              <a:ahLst/>
              <a:cxnLst>
                <a:cxn ang="0">
                  <a:pos x="1607" y="0"/>
                </a:cxn>
                <a:cxn ang="0">
                  <a:pos x="1607" y="951"/>
                </a:cxn>
                <a:cxn ang="0">
                  <a:pos x="946" y="953"/>
                </a:cxn>
                <a:cxn ang="0">
                  <a:pos x="905" y="873"/>
                </a:cxn>
                <a:cxn ang="0">
                  <a:pos x="867" y="953"/>
                </a:cxn>
                <a:cxn ang="0">
                  <a:pos x="204" y="951"/>
                </a:cxn>
                <a:cxn ang="0">
                  <a:pos x="204" y="556"/>
                </a:cxn>
                <a:cxn ang="0">
                  <a:pos x="0" y="472"/>
                </a:cxn>
                <a:cxn ang="0">
                  <a:pos x="204" y="394"/>
                </a:cxn>
                <a:cxn ang="0">
                  <a:pos x="204" y="0"/>
                </a:cxn>
                <a:cxn ang="0">
                  <a:pos x="1607" y="0"/>
                </a:cxn>
              </a:cxnLst>
              <a:rect l="0" t="0" r="r" b="b"/>
              <a:pathLst>
                <a:path w="1608" h="954">
                  <a:moveTo>
                    <a:pt x="1607" y="0"/>
                  </a:moveTo>
                  <a:lnTo>
                    <a:pt x="1607" y="951"/>
                  </a:lnTo>
                  <a:lnTo>
                    <a:pt x="946" y="953"/>
                  </a:lnTo>
                  <a:lnTo>
                    <a:pt x="905" y="873"/>
                  </a:lnTo>
                  <a:lnTo>
                    <a:pt x="867" y="953"/>
                  </a:lnTo>
                  <a:lnTo>
                    <a:pt x="204" y="951"/>
                  </a:lnTo>
                  <a:lnTo>
                    <a:pt x="204" y="556"/>
                  </a:lnTo>
                  <a:lnTo>
                    <a:pt x="0" y="472"/>
                  </a:lnTo>
                  <a:lnTo>
                    <a:pt x="204" y="394"/>
                  </a:lnTo>
                  <a:lnTo>
                    <a:pt x="204" y="0"/>
                  </a:lnTo>
                  <a:lnTo>
                    <a:pt x="1607" y="0"/>
                  </a:lnTo>
                </a:path>
              </a:pathLst>
            </a:custGeom>
            <a:solidFill>
              <a:srgbClr val="B5B5B5"/>
            </a:solidFill>
            <a:ln w="28575" cap="rnd" cmpd="sng">
              <a:solidFill>
                <a:srgbClr val="FFFFFF"/>
              </a:solidFill>
              <a:prstDash val="solid"/>
              <a:round/>
              <a:headEnd/>
              <a:tailEnd/>
            </a:ln>
            <a:effectLst/>
          </p:spPr>
          <p:txBody>
            <a:bodyPr/>
            <a:lstStyle>
              <a:defPPr>
                <a:defRPr lang="en-US"/>
              </a:defPPr>
              <a:lvl1pPr algn="l" rtl="0" eaLnBrk="0" fontAlgn="base" hangingPunct="0">
                <a:spcBef>
                  <a:spcPct val="0"/>
                </a:spcBef>
                <a:spcAft>
                  <a:spcPct val="0"/>
                </a:spcAft>
                <a:defRPr sz="1200" kern="1200">
                  <a:solidFill>
                    <a:schemeClr val="tx1"/>
                  </a:solidFill>
                  <a:latin typeface="Arial" charset="0"/>
                  <a:ea typeface="+mn-ea"/>
                  <a:cs typeface="+mn-cs"/>
                </a:defRPr>
              </a:lvl1pPr>
              <a:lvl2pPr marL="457200" algn="l" rtl="0" eaLnBrk="0" fontAlgn="base" hangingPunct="0">
                <a:spcBef>
                  <a:spcPct val="0"/>
                </a:spcBef>
                <a:spcAft>
                  <a:spcPct val="0"/>
                </a:spcAft>
                <a:defRPr sz="1200" kern="1200">
                  <a:solidFill>
                    <a:schemeClr val="tx1"/>
                  </a:solidFill>
                  <a:latin typeface="Arial" charset="0"/>
                  <a:ea typeface="+mn-ea"/>
                  <a:cs typeface="+mn-cs"/>
                </a:defRPr>
              </a:lvl2pPr>
              <a:lvl3pPr marL="914400" algn="l" rtl="0" eaLnBrk="0" fontAlgn="base" hangingPunct="0">
                <a:spcBef>
                  <a:spcPct val="0"/>
                </a:spcBef>
                <a:spcAft>
                  <a:spcPct val="0"/>
                </a:spcAft>
                <a:defRPr sz="1200" kern="1200">
                  <a:solidFill>
                    <a:schemeClr val="tx1"/>
                  </a:solidFill>
                  <a:latin typeface="Arial" charset="0"/>
                  <a:ea typeface="+mn-ea"/>
                  <a:cs typeface="+mn-cs"/>
                </a:defRPr>
              </a:lvl3pPr>
              <a:lvl4pPr marL="1371600" algn="l" rtl="0" eaLnBrk="0" fontAlgn="base" hangingPunct="0">
                <a:spcBef>
                  <a:spcPct val="0"/>
                </a:spcBef>
                <a:spcAft>
                  <a:spcPct val="0"/>
                </a:spcAft>
                <a:defRPr sz="1200" kern="1200">
                  <a:solidFill>
                    <a:schemeClr val="tx1"/>
                  </a:solidFill>
                  <a:latin typeface="Arial" charset="0"/>
                  <a:ea typeface="+mn-ea"/>
                  <a:cs typeface="+mn-cs"/>
                </a:defRPr>
              </a:lvl4pPr>
              <a:lvl5pPr marL="1828800" algn="l" rtl="0" eaLnBrk="0" fontAlgn="base" hangingPunct="0">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a:lstStyle>
            <a:p>
              <a:pPr defTabSz="806666">
                <a:defRPr/>
              </a:pPr>
              <a:endParaRPr lang="nl-NL" sz="1059">
                <a:solidFill>
                  <a:srgbClr val="000000"/>
                </a:solidFill>
                <a:latin typeface="Georgia"/>
              </a:endParaRPr>
            </a:p>
          </p:txBody>
        </p:sp>
        <p:sp>
          <p:nvSpPr>
            <p:cNvPr id="87" name="Rectangle 86">
              <a:extLst>
                <a:ext uri="{FF2B5EF4-FFF2-40B4-BE49-F238E27FC236}">
                  <a16:creationId xmlns:a16="http://schemas.microsoft.com/office/drawing/2014/main" id="{DAB27134-CB42-4172-BAAA-426D262D9E16}"/>
                </a:ext>
              </a:extLst>
            </p:cNvPr>
            <p:cNvSpPr>
              <a:spLocks noChangeArrowheads="1"/>
            </p:cNvSpPr>
            <p:nvPr/>
          </p:nvSpPr>
          <p:spPr bwMode="auto">
            <a:xfrm>
              <a:off x="565821" y="2380975"/>
              <a:ext cx="2200274" cy="1577802"/>
            </a:xfrm>
            <a:prstGeom prst="rect">
              <a:avLst/>
            </a:prstGeom>
            <a:noFill/>
            <a:ln w="9525">
              <a:noFill/>
              <a:miter lim="800000"/>
              <a:headEnd/>
              <a:tailEnd/>
            </a:ln>
            <a:effectLst/>
          </p:spPr>
          <p:txBody>
            <a:bodyPr wrap="square" lIns="79821" tIns="40612" rIns="79821" bIns="40612">
              <a:spAutoFit/>
            </a:bodyPr>
            <a:lstStyle>
              <a:defPPr>
                <a:defRPr lang="en-US"/>
              </a:defPPr>
              <a:lvl1pPr algn="l" rtl="0" eaLnBrk="0" fontAlgn="base" hangingPunct="0">
                <a:spcBef>
                  <a:spcPct val="0"/>
                </a:spcBef>
                <a:spcAft>
                  <a:spcPct val="0"/>
                </a:spcAft>
                <a:defRPr sz="1200" kern="1200">
                  <a:solidFill>
                    <a:schemeClr val="tx1"/>
                  </a:solidFill>
                  <a:latin typeface="Arial" charset="0"/>
                  <a:ea typeface="+mn-ea"/>
                  <a:cs typeface="+mn-cs"/>
                </a:defRPr>
              </a:lvl1pPr>
              <a:lvl2pPr marL="457200" algn="l" rtl="0" eaLnBrk="0" fontAlgn="base" hangingPunct="0">
                <a:spcBef>
                  <a:spcPct val="0"/>
                </a:spcBef>
                <a:spcAft>
                  <a:spcPct val="0"/>
                </a:spcAft>
                <a:defRPr sz="1200" kern="1200">
                  <a:solidFill>
                    <a:schemeClr val="tx1"/>
                  </a:solidFill>
                  <a:latin typeface="Arial" charset="0"/>
                  <a:ea typeface="+mn-ea"/>
                  <a:cs typeface="+mn-cs"/>
                </a:defRPr>
              </a:lvl2pPr>
              <a:lvl3pPr marL="914400" algn="l" rtl="0" eaLnBrk="0" fontAlgn="base" hangingPunct="0">
                <a:spcBef>
                  <a:spcPct val="0"/>
                </a:spcBef>
                <a:spcAft>
                  <a:spcPct val="0"/>
                </a:spcAft>
                <a:defRPr sz="1200" kern="1200">
                  <a:solidFill>
                    <a:schemeClr val="tx1"/>
                  </a:solidFill>
                  <a:latin typeface="Arial" charset="0"/>
                  <a:ea typeface="+mn-ea"/>
                  <a:cs typeface="+mn-cs"/>
                </a:defRPr>
              </a:lvl3pPr>
              <a:lvl4pPr marL="1371600" algn="l" rtl="0" eaLnBrk="0" fontAlgn="base" hangingPunct="0">
                <a:spcBef>
                  <a:spcPct val="0"/>
                </a:spcBef>
                <a:spcAft>
                  <a:spcPct val="0"/>
                </a:spcAft>
                <a:defRPr sz="1200" kern="1200">
                  <a:solidFill>
                    <a:schemeClr val="tx1"/>
                  </a:solidFill>
                  <a:latin typeface="Arial" charset="0"/>
                  <a:ea typeface="+mn-ea"/>
                  <a:cs typeface="+mn-cs"/>
                </a:defRPr>
              </a:lvl4pPr>
              <a:lvl5pPr marL="1828800" algn="l" rtl="0" eaLnBrk="0" fontAlgn="base" hangingPunct="0">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a:lstStyle>
            <a:p>
              <a:pPr defTabSz="781457">
                <a:defRPr/>
              </a:pPr>
              <a:r>
                <a:rPr lang="en-GB" sz="1412" b="1" dirty="0">
                  <a:solidFill>
                    <a:srgbClr val="FFFFFF"/>
                  </a:solidFill>
                  <a:latin typeface="Georgia"/>
                </a:rPr>
                <a:t>Strengths</a:t>
              </a:r>
            </a:p>
            <a:p>
              <a:pPr defTabSz="781457">
                <a:defRPr/>
              </a:pPr>
              <a:endParaRPr lang="en-GB" sz="1059" b="1" dirty="0">
                <a:solidFill>
                  <a:srgbClr val="FFFFFF"/>
                </a:solidFill>
                <a:latin typeface="Georgia"/>
              </a:endParaRPr>
            </a:p>
            <a:p>
              <a:pPr marL="151249" indent="-151249">
                <a:buClr>
                  <a:schemeClr val="bg1"/>
                </a:buClr>
                <a:buFont typeface="Wingdings" panose="05000000000000000000" pitchFamily="2" charset="2"/>
                <a:buChar char="Ø"/>
              </a:pPr>
              <a:r>
                <a:rPr lang="en-US" sz="1059" dirty="0">
                  <a:solidFill>
                    <a:schemeClr val="bg1"/>
                  </a:solidFill>
                  <a:latin typeface="Arial" panose="020B0604020202020204" pitchFamily="34" charset="0"/>
                </a:rPr>
                <a:t>A scale core customer (KU) which can act as reference  for many Ankabut services and capabilities</a:t>
              </a:r>
              <a:br>
                <a:rPr lang="en-US" sz="1059" dirty="0">
                  <a:solidFill>
                    <a:schemeClr val="bg1"/>
                  </a:solidFill>
                  <a:latin typeface="Arial" panose="020B0604020202020204" pitchFamily="34" charset="0"/>
                </a:rPr>
              </a:br>
              <a:endParaRPr lang="en-US" sz="1059" dirty="0">
                <a:solidFill>
                  <a:schemeClr val="bg1"/>
                </a:solidFill>
                <a:latin typeface="Arial" panose="020B0604020202020204" pitchFamily="34" charset="0"/>
              </a:endParaRPr>
            </a:p>
            <a:p>
              <a:pPr marL="151249" indent="-151249">
                <a:buClr>
                  <a:schemeClr val="bg1"/>
                </a:buClr>
                <a:buFont typeface="Wingdings" panose="05000000000000000000" pitchFamily="2" charset="2"/>
                <a:buChar char="Ø"/>
              </a:pPr>
              <a:r>
                <a:rPr lang="en-US" sz="1059" dirty="0">
                  <a:solidFill>
                    <a:schemeClr val="bg1"/>
                  </a:solidFill>
                  <a:latin typeface="Arial" panose="020B0604020202020204" pitchFamily="34" charset="0"/>
                </a:rPr>
                <a:t>Deep understanding of Higher Education technology needs</a:t>
              </a:r>
              <a:br>
                <a:rPr lang="en-US" sz="1059" dirty="0">
                  <a:solidFill>
                    <a:schemeClr val="bg1"/>
                  </a:solidFill>
                  <a:latin typeface="Arial" panose="020B0604020202020204" pitchFamily="34" charset="0"/>
                </a:rPr>
              </a:br>
              <a:endParaRPr lang="en-US" sz="1059" dirty="0">
                <a:solidFill>
                  <a:schemeClr val="bg1"/>
                </a:solidFill>
                <a:latin typeface="Arial" panose="020B0604020202020204" pitchFamily="34" charset="0"/>
              </a:endParaRPr>
            </a:p>
            <a:p>
              <a:pPr marL="151249" indent="-151249">
                <a:buClr>
                  <a:schemeClr val="bg1"/>
                </a:buClr>
                <a:buFont typeface="Wingdings" panose="05000000000000000000" pitchFamily="2" charset="2"/>
                <a:buChar char="Ø"/>
              </a:pPr>
              <a:r>
                <a:rPr lang="en-US" sz="1059" dirty="0">
                  <a:solidFill>
                    <a:schemeClr val="bg1"/>
                  </a:solidFill>
                  <a:latin typeface="Arial" panose="020B0604020202020204" pitchFamily="34" charset="0"/>
                </a:rPr>
                <a:t>Already high margin DC and Cloud offerings </a:t>
              </a:r>
            </a:p>
            <a:p>
              <a:pPr marL="151249" indent="-151249">
                <a:buClr>
                  <a:schemeClr val="bg1"/>
                </a:buClr>
                <a:buFont typeface="Wingdings" panose="05000000000000000000" pitchFamily="2" charset="2"/>
                <a:buChar char="Ø"/>
              </a:pPr>
              <a:endParaRPr lang="en-US" sz="1059" dirty="0">
                <a:solidFill>
                  <a:schemeClr val="bg1"/>
                </a:solidFill>
                <a:latin typeface="Arial" panose="020B0604020202020204" pitchFamily="34" charset="0"/>
              </a:endParaRPr>
            </a:p>
            <a:p>
              <a:pPr marL="151249" indent="-151249">
                <a:buClr>
                  <a:schemeClr val="bg1"/>
                </a:buClr>
                <a:buFont typeface="Wingdings" panose="05000000000000000000" pitchFamily="2" charset="2"/>
                <a:buChar char="Ø"/>
              </a:pPr>
              <a:r>
                <a:rPr lang="en-US" sz="1059" dirty="0">
                  <a:solidFill>
                    <a:schemeClr val="bg1"/>
                  </a:solidFill>
                  <a:latin typeface="Arial" panose="020B0604020202020204" pitchFamily="34" charset="0"/>
                </a:rPr>
                <a:t>Spare telecom and DC capacity to leverage growth and profitability subject to market demand</a:t>
              </a:r>
              <a:br>
                <a:rPr lang="en-US" sz="1059" dirty="0">
                  <a:solidFill>
                    <a:schemeClr val="bg1"/>
                  </a:solidFill>
                  <a:latin typeface="Arial" panose="020B0604020202020204" pitchFamily="34" charset="0"/>
                </a:rPr>
              </a:br>
              <a:endParaRPr lang="en-US" sz="1059" dirty="0">
                <a:solidFill>
                  <a:schemeClr val="bg1"/>
                </a:solidFill>
                <a:latin typeface="Arial" panose="020B0604020202020204" pitchFamily="34" charset="0"/>
              </a:endParaRPr>
            </a:p>
            <a:p>
              <a:pPr marL="151249" indent="-151249">
                <a:buClr>
                  <a:schemeClr val="bg1"/>
                </a:buClr>
                <a:buFont typeface="Wingdings" panose="05000000000000000000" pitchFamily="2" charset="2"/>
                <a:buChar char="Ø"/>
              </a:pPr>
              <a:endParaRPr lang="en-US" sz="1059" dirty="0">
                <a:solidFill>
                  <a:schemeClr val="bg1"/>
                </a:solidFill>
                <a:latin typeface="Arial" panose="020B0604020202020204" pitchFamily="34" charset="0"/>
              </a:endParaRPr>
            </a:p>
            <a:p>
              <a:pPr defTabSz="781457">
                <a:defRPr/>
              </a:pPr>
              <a:endParaRPr lang="en-GB" sz="1059" b="1" dirty="0">
                <a:solidFill>
                  <a:srgbClr val="FFFFFF"/>
                </a:solidFill>
                <a:latin typeface="Georgia"/>
              </a:endParaRPr>
            </a:p>
          </p:txBody>
        </p:sp>
        <p:sp>
          <p:nvSpPr>
            <p:cNvPr id="88" name="Rectangle 87">
              <a:extLst>
                <a:ext uri="{FF2B5EF4-FFF2-40B4-BE49-F238E27FC236}">
                  <a16:creationId xmlns:a16="http://schemas.microsoft.com/office/drawing/2014/main" id="{FA12FB03-291F-44F6-B597-3441445D8BB0}"/>
                </a:ext>
              </a:extLst>
            </p:cNvPr>
            <p:cNvSpPr>
              <a:spLocks noChangeArrowheads="1"/>
            </p:cNvSpPr>
            <p:nvPr/>
          </p:nvSpPr>
          <p:spPr bwMode="auto">
            <a:xfrm>
              <a:off x="2996229" y="2423814"/>
              <a:ext cx="2201863" cy="1278908"/>
            </a:xfrm>
            <a:prstGeom prst="rect">
              <a:avLst/>
            </a:prstGeom>
            <a:noFill/>
            <a:ln w="9525">
              <a:noFill/>
              <a:miter lim="800000"/>
              <a:headEnd/>
              <a:tailEnd/>
            </a:ln>
            <a:effectLst/>
          </p:spPr>
          <p:txBody>
            <a:bodyPr wrap="square" lIns="79821" tIns="40612" rIns="79821" bIns="40612">
              <a:spAutoFit/>
            </a:bodyPr>
            <a:lstStyle>
              <a:defPPr>
                <a:defRPr lang="en-US"/>
              </a:defPPr>
              <a:lvl1pPr algn="l" rtl="0" eaLnBrk="0" fontAlgn="base" hangingPunct="0">
                <a:spcBef>
                  <a:spcPct val="0"/>
                </a:spcBef>
                <a:spcAft>
                  <a:spcPct val="0"/>
                </a:spcAft>
                <a:defRPr sz="1200" kern="1200">
                  <a:solidFill>
                    <a:schemeClr val="tx1"/>
                  </a:solidFill>
                  <a:latin typeface="Arial" charset="0"/>
                  <a:ea typeface="+mn-ea"/>
                  <a:cs typeface="+mn-cs"/>
                </a:defRPr>
              </a:lvl1pPr>
              <a:lvl2pPr marL="457200" algn="l" rtl="0" eaLnBrk="0" fontAlgn="base" hangingPunct="0">
                <a:spcBef>
                  <a:spcPct val="0"/>
                </a:spcBef>
                <a:spcAft>
                  <a:spcPct val="0"/>
                </a:spcAft>
                <a:defRPr sz="1200" kern="1200">
                  <a:solidFill>
                    <a:schemeClr val="tx1"/>
                  </a:solidFill>
                  <a:latin typeface="Arial" charset="0"/>
                  <a:ea typeface="+mn-ea"/>
                  <a:cs typeface="+mn-cs"/>
                </a:defRPr>
              </a:lvl2pPr>
              <a:lvl3pPr marL="914400" algn="l" rtl="0" eaLnBrk="0" fontAlgn="base" hangingPunct="0">
                <a:spcBef>
                  <a:spcPct val="0"/>
                </a:spcBef>
                <a:spcAft>
                  <a:spcPct val="0"/>
                </a:spcAft>
                <a:defRPr sz="1200" kern="1200">
                  <a:solidFill>
                    <a:schemeClr val="tx1"/>
                  </a:solidFill>
                  <a:latin typeface="Arial" charset="0"/>
                  <a:ea typeface="+mn-ea"/>
                  <a:cs typeface="+mn-cs"/>
                </a:defRPr>
              </a:lvl3pPr>
              <a:lvl4pPr marL="1371600" algn="l" rtl="0" eaLnBrk="0" fontAlgn="base" hangingPunct="0">
                <a:spcBef>
                  <a:spcPct val="0"/>
                </a:spcBef>
                <a:spcAft>
                  <a:spcPct val="0"/>
                </a:spcAft>
                <a:defRPr sz="1200" kern="1200">
                  <a:solidFill>
                    <a:schemeClr val="tx1"/>
                  </a:solidFill>
                  <a:latin typeface="Arial" charset="0"/>
                  <a:ea typeface="+mn-ea"/>
                  <a:cs typeface="+mn-cs"/>
                </a:defRPr>
              </a:lvl4pPr>
              <a:lvl5pPr marL="1828800" algn="l" rtl="0" eaLnBrk="0" fontAlgn="base" hangingPunct="0">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a:lstStyle>
            <a:p>
              <a:pPr defTabSz="781457">
                <a:defRPr/>
              </a:pPr>
              <a:r>
                <a:rPr lang="en-GB" sz="1412" b="1" dirty="0">
                  <a:solidFill>
                    <a:srgbClr val="FFFFFF"/>
                  </a:solidFill>
                  <a:latin typeface="Georgia"/>
                </a:rPr>
                <a:t>Weaknesses</a:t>
              </a:r>
            </a:p>
            <a:p>
              <a:pPr marL="151249" indent="-151249" defTabSz="781457">
                <a:buFont typeface="Wingdings" panose="05000000000000000000" pitchFamily="2" charset="2"/>
                <a:buChar char="Ø"/>
                <a:defRPr/>
              </a:pPr>
              <a:endParaRPr lang="en-US" sz="1059" dirty="0">
                <a:solidFill>
                  <a:schemeClr val="bg1"/>
                </a:solidFill>
                <a:latin typeface="Arial" panose="020B0604020202020204" pitchFamily="34" charset="0"/>
              </a:endParaRPr>
            </a:p>
            <a:p>
              <a:pPr marL="151249" indent="-151249" defTabSz="781457">
                <a:buFont typeface="Wingdings" panose="05000000000000000000" pitchFamily="2" charset="2"/>
                <a:buChar char="Ø"/>
                <a:defRPr/>
              </a:pPr>
              <a:r>
                <a:rPr lang="en-US" sz="1059" dirty="0">
                  <a:solidFill>
                    <a:schemeClr val="bg1"/>
                  </a:solidFill>
                  <a:latin typeface="Arial" panose="020B0604020202020204" pitchFamily="34" charset="0"/>
                </a:rPr>
                <a:t>Under exploited telecoms costs can be a drag on the performance</a:t>
              </a:r>
            </a:p>
            <a:p>
              <a:pPr marL="151249" indent="-151249" defTabSz="781457">
                <a:buFont typeface="Wingdings" panose="05000000000000000000" pitchFamily="2" charset="2"/>
                <a:buChar char="Ø"/>
                <a:defRPr/>
              </a:pPr>
              <a:endParaRPr lang="en-US" sz="1059" dirty="0">
                <a:solidFill>
                  <a:schemeClr val="bg1"/>
                </a:solidFill>
                <a:latin typeface="Arial" panose="020B0604020202020204" pitchFamily="34" charset="0"/>
              </a:endParaRPr>
            </a:p>
            <a:p>
              <a:pPr marL="151249" indent="-151249" defTabSz="781457">
                <a:buFont typeface="Wingdings" panose="05000000000000000000" pitchFamily="2" charset="2"/>
                <a:buChar char="Ø"/>
                <a:defRPr/>
              </a:pPr>
              <a:r>
                <a:rPr lang="en-US" sz="1059" dirty="0">
                  <a:solidFill>
                    <a:schemeClr val="bg1"/>
                  </a:solidFill>
                  <a:latin typeface="Arial" panose="020B0604020202020204" pitchFamily="34" charset="0"/>
                </a:rPr>
                <a:t>Lack of commercial team to exploit market opportunities </a:t>
              </a:r>
            </a:p>
            <a:p>
              <a:pPr marL="151249" indent="-151249" defTabSz="781457">
                <a:buFont typeface="Wingdings" panose="05000000000000000000" pitchFamily="2" charset="2"/>
                <a:buChar char="Ø"/>
                <a:defRPr/>
              </a:pPr>
              <a:endParaRPr lang="en-US" sz="1059" dirty="0">
                <a:solidFill>
                  <a:schemeClr val="bg1"/>
                </a:solidFill>
                <a:latin typeface="Arial" panose="020B0604020202020204" pitchFamily="34" charset="0"/>
              </a:endParaRPr>
            </a:p>
            <a:p>
              <a:pPr marL="151249" indent="-151249" defTabSz="781457">
                <a:buFont typeface="Wingdings" panose="05000000000000000000" pitchFamily="2" charset="2"/>
                <a:buChar char="Ø"/>
                <a:defRPr/>
              </a:pPr>
              <a:r>
                <a:rPr lang="en-US" sz="1059" dirty="0">
                  <a:solidFill>
                    <a:schemeClr val="bg1"/>
                  </a:solidFill>
                  <a:latin typeface="Arial" panose="020B0604020202020204" pitchFamily="34" charset="0"/>
                </a:rPr>
                <a:t>KU relationship subject to SLA and price re-negotiation</a:t>
              </a:r>
            </a:p>
            <a:p>
              <a:pPr marL="151249" indent="-151249" defTabSz="781457">
                <a:buFont typeface="Wingdings" panose="05000000000000000000" pitchFamily="2" charset="2"/>
                <a:buChar char="Ø"/>
                <a:defRPr/>
              </a:pPr>
              <a:endParaRPr lang="en-US" sz="1059" dirty="0">
                <a:solidFill>
                  <a:schemeClr val="bg1"/>
                </a:solidFill>
                <a:latin typeface="Arial" panose="020B0604020202020204" pitchFamily="34" charset="0"/>
              </a:endParaRPr>
            </a:p>
            <a:p>
              <a:pPr marL="151249" indent="-151249" defTabSz="781457">
                <a:buFont typeface="Wingdings" panose="05000000000000000000" pitchFamily="2" charset="2"/>
                <a:buChar char="Ø"/>
                <a:defRPr/>
              </a:pPr>
              <a:r>
                <a:rPr lang="en-US" sz="1059" dirty="0">
                  <a:solidFill>
                    <a:schemeClr val="bg1"/>
                  </a:solidFill>
                  <a:latin typeface="Arial" panose="020B0604020202020204" pitchFamily="34" charset="0"/>
                </a:rPr>
                <a:t>Lacks proven strategy and track record of defining and exploiting scaled third party growth</a:t>
              </a:r>
              <a:endParaRPr lang="en-GB" sz="1059" dirty="0">
                <a:solidFill>
                  <a:schemeClr val="bg1"/>
                </a:solidFill>
                <a:latin typeface="Arial" panose="020B0604020202020204" pitchFamily="34" charset="0"/>
              </a:endParaRPr>
            </a:p>
            <a:p>
              <a:pPr marL="151249" indent="-151249" defTabSz="781457">
                <a:buFont typeface="Wingdings" panose="05000000000000000000" pitchFamily="2" charset="2"/>
                <a:buChar char="Ø"/>
                <a:defRPr/>
              </a:pPr>
              <a:endParaRPr lang="en-GB" sz="1059" dirty="0">
                <a:solidFill>
                  <a:schemeClr val="bg1"/>
                </a:solidFill>
                <a:latin typeface="Arial" panose="020B0604020202020204" pitchFamily="34" charset="0"/>
              </a:endParaRPr>
            </a:p>
          </p:txBody>
        </p:sp>
        <p:sp>
          <p:nvSpPr>
            <p:cNvPr id="89" name="Rectangle 88">
              <a:extLst>
                <a:ext uri="{FF2B5EF4-FFF2-40B4-BE49-F238E27FC236}">
                  <a16:creationId xmlns:a16="http://schemas.microsoft.com/office/drawing/2014/main" id="{E2993B6F-4E65-48A2-B28C-185FAC63D137}"/>
                </a:ext>
              </a:extLst>
            </p:cNvPr>
            <p:cNvSpPr>
              <a:spLocks noChangeArrowheads="1"/>
            </p:cNvSpPr>
            <p:nvPr/>
          </p:nvSpPr>
          <p:spPr bwMode="auto">
            <a:xfrm>
              <a:off x="552759" y="4056449"/>
              <a:ext cx="2163763" cy="1179276"/>
            </a:xfrm>
            <a:prstGeom prst="rect">
              <a:avLst/>
            </a:prstGeom>
            <a:noFill/>
            <a:ln w="9525">
              <a:noFill/>
              <a:miter lim="800000"/>
              <a:headEnd/>
              <a:tailEnd/>
            </a:ln>
            <a:effectLst/>
          </p:spPr>
          <p:txBody>
            <a:bodyPr lIns="79821" tIns="40612" rIns="79821" bIns="40612">
              <a:spAutoFit/>
            </a:bodyPr>
            <a:lstStyle>
              <a:defPPr>
                <a:defRPr lang="en-US"/>
              </a:defPPr>
              <a:lvl1pPr algn="l" rtl="0" eaLnBrk="0" fontAlgn="base" hangingPunct="0">
                <a:spcBef>
                  <a:spcPct val="0"/>
                </a:spcBef>
                <a:spcAft>
                  <a:spcPct val="0"/>
                </a:spcAft>
                <a:defRPr sz="1200" kern="1200">
                  <a:solidFill>
                    <a:schemeClr val="tx1"/>
                  </a:solidFill>
                  <a:latin typeface="Arial" charset="0"/>
                  <a:ea typeface="+mn-ea"/>
                  <a:cs typeface="+mn-cs"/>
                </a:defRPr>
              </a:lvl1pPr>
              <a:lvl2pPr marL="457200" algn="l" rtl="0" eaLnBrk="0" fontAlgn="base" hangingPunct="0">
                <a:spcBef>
                  <a:spcPct val="0"/>
                </a:spcBef>
                <a:spcAft>
                  <a:spcPct val="0"/>
                </a:spcAft>
                <a:defRPr sz="1200" kern="1200">
                  <a:solidFill>
                    <a:schemeClr val="tx1"/>
                  </a:solidFill>
                  <a:latin typeface="Arial" charset="0"/>
                  <a:ea typeface="+mn-ea"/>
                  <a:cs typeface="+mn-cs"/>
                </a:defRPr>
              </a:lvl2pPr>
              <a:lvl3pPr marL="914400" algn="l" rtl="0" eaLnBrk="0" fontAlgn="base" hangingPunct="0">
                <a:spcBef>
                  <a:spcPct val="0"/>
                </a:spcBef>
                <a:spcAft>
                  <a:spcPct val="0"/>
                </a:spcAft>
                <a:defRPr sz="1200" kern="1200">
                  <a:solidFill>
                    <a:schemeClr val="tx1"/>
                  </a:solidFill>
                  <a:latin typeface="Arial" charset="0"/>
                  <a:ea typeface="+mn-ea"/>
                  <a:cs typeface="+mn-cs"/>
                </a:defRPr>
              </a:lvl3pPr>
              <a:lvl4pPr marL="1371600" algn="l" rtl="0" eaLnBrk="0" fontAlgn="base" hangingPunct="0">
                <a:spcBef>
                  <a:spcPct val="0"/>
                </a:spcBef>
                <a:spcAft>
                  <a:spcPct val="0"/>
                </a:spcAft>
                <a:defRPr sz="1200" kern="1200">
                  <a:solidFill>
                    <a:schemeClr val="tx1"/>
                  </a:solidFill>
                  <a:latin typeface="Arial" charset="0"/>
                  <a:ea typeface="+mn-ea"/>
                  <a:cs typeface="+mn-cs"/>
                </a:defRPr>
              </a:lvl4pPr>
              <a:lvl5pPr marL="1828800" algn="l" rtl="0" eaLnBrk="0" fontAlgn="base" hangingPunct="0">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a:lstStyle>
            <a:p>
              <a:pPr defTabSz="781457">
                <a:defRPr/>
              </a:pPr>
              <a:r>
                <a:rPr lang="en-GB" sz="1412" b="1" dirty="0">
                  <a:solidFill>
                    <a:srgbClr val="FFFFFF"/>
                  </a:solidFill>
                  <a:latin typeface="Georgia"/>
                </a:rPr>
                <a:t>Opportunities</a:t>
              </a:r>
            </a:p>
            <a:p>
              <a:pPr defTabSz="781457">
                <a:defRPr/>
              </a:pPr>
              <a:endParaRPr lang="en-GB" sz="1059" b="1" dirty="0">
                <a:solidFill>
                  <a:srgbClr val="FFFFFF"/>
                </a:solidFill>
                <a:latin typeface="Georgia"/>
              </a:endParaRPr>
            </a:p>
            <a:p>
              <a:pPr marL="151249" indent="-151249">
                <a:buClr>
                  <a:schemeClr val="bg1"/>
                </a:buClr>
                <a:buFont typeface="Wingdings" panose="05000000000000000000" pitchFamily="2" charset="2"/>
                <a:buChar char="Ø"/>
              </a:pPr>
              <a:r>
                <a:rPr lang="en-US" sz="1059" dirty="0">
                  <a:solidFill>
                    <a:schemeClr val="bg1"/>
                  </a:solidFill>
                  <a:latin typeface="Arial" panose="020B0604020202020204" pitchFamily="34" charset="0"/>
                </a:rPr>
                <a:t>Provision of cloud enabled Education applications to many other UAE HE entities</a:t>
              </a:r>
              <a:endParaRPr lang="en-GB" sz="1059" b="1" dirty="0">
                <a:solidFill>
                  <a:srgbClr val="FFFFFF"/>
                </a:solidFill>
                <a:latin typeface="Georgia"/>
              </a:endParaRPr>
            </a:p>
            <a:p>
              <a:pPr marL="151249" indent="-151249">
                <a:buClr>
                  <a:schemeClr val="bg1"/>
                </a:buClr>
                <a:buFont typeface="Wingdings" panose="05000000000000000000" pitchFamily="2" charset="2"/>
                <a:buChar char="Ø"/>
              </a:pPr>
              <a:endParaRPr lang="en-GB" sz="1059" b="1" dirty="0">
                <a:solidFill>
                  <a:srgbClr val="FFFFFF"/>
                </a:solidFill>
                <a:latin typeface="Georgia"/>
              </a:endParaRPr>
            </a:p>
            <a:p>
              <a:pPr marL="151249" indent="-151249">
                <a:buClr>
                  <a:schemeClr val="bg1"/>
                </a:buClr>
                <a:buFont typeface="Wingdings" panose="05000000000000000000" pitchFamily="2" charset="2"/>
                <a:buChar char="Ø"/>
              </a:pPr>
              <a:r>
                <a:rPr lang="en-GB" sz="1059" dirty="0">
                  <a:solidFill>
                    <a:schemeClr val="bg1"/>
                  </a:solidFill>
                  <a:latin typeface="Arial" panose="020B0604020202020204" pitchFamily="34" charset="0"/>
                </a:rPr>
                <a:t>Fast growing cloud and network as a service market   driven by increasing digitisation, government led smart city initiatives and increased emphasis on Ed-Tech</a:t>
              </a:r>
            </a:p>
            <a:p>
              <a:pPr marL="151249" indent="-151249">
                <a:buClr>
                  <a:schemeClr val="bg1"/>
                </a:buClr>
                <a:buFont typeface="Wingdings" panose="05000000000000000000" pitchFamily="2" charset="2"/>
                <a:buChar char="Ø"/>
              </a:pPr>
              <a:endParaRPr lang="en-GB" sz="1059" dirty="0">
                <a:solidFill>
                  <a:schemeClr val="bg1"/>
                </a:solidFill>
                <a:latin typeface="Arial" panose="020B0604020202020204" pitchFamily="34" charset="0"/>
              </a:endParaRPr>
            </a:p>
            <a:p>
              <a:pPr marL="151249" indent="-151249">
                <a:buClr>
                  <a:schemeClr val="bg1"/>
                </a:buClr>
                <a:buFont typeface="Wingdings" panose="05000000000000000000" pitchFamily="2" charset="2"/>
                <a:buChar char="Ø"/>
              </a:pPr>
              <a:r>
                <a:rPr lang="en-GB" sz="1059" dirty="0">
                  <a:solidFill>
                    <a:schemeClr val="bg1"/>
                  </a:solidFill>
                  <a:latin typeface="Arial" panose="020B0604020202020204" pitchFamily="34" charset="0"/>
                </a:rPr>
                <a:t>Connection with other government entities and overall government sponsorship</a:t>
              </a:r>
              <a:endParaRPr lang="en-US" sz="1059" dirty="0">
                <a:solidFill>
                  <a:schemeClr val="bg1"/>
                </a:solidFill>
                <a:latin typeface="Arial" panose="020B0604020202020204" pitchFamily="34" charset="0"/>
              </a:endParaRPr>
            </a:p>
          </p:txBody>
        </p:sp>
        <p:sp>
          <p:nvSpPr>
            <p:cNvPr id="91" name="Rectangle 90">
              <a:extLst>
                <a:ext uri="{FF2B5EF4-FFF2-40B4-BE49-F238E27FC236}">
                  <a16:creationId xmlns:a16="http://schemas.microsoft.com/office/drawing/2014/main" id="{3482452D-ABBD-4CD9-9427-125585028BBB}"/>
                </a:ext>
              </a:extLst>
            </p:cNvPr>
            <p:cNvSpPr>
              <a:spLocks noChangeArrowheads="1"/>
            </p:cNvSpPr>
            <p:nvPr/>
          </p:nvSpPr>
          <p:spPr bwMode="auto">
            <a:xfrm>
              <a:off x="3071247" y="4092332"/>
              <a:ext cx="2003425" cy="1179276"/>
            </a:xfrm>
            <a:prstGeom prst="rect">
              <a:avLst/>
            </a:prstGeom>
            <a:noFill/>
            <a:ln w="9525">
              <a:noFill/>
              <a:miter lim="800000"/>
              <a:headEnd/>
              <a:tailEnd/>
            </a:ln>
            <a:effectLst/>
          </p:spPr>
          <p:txBody>
            <a:bodyPr lIns="79821" tIns="40612" rIns="79821" bIns="40612">
              <a:spAutoFit/>
            </a:bodyPr>
            <a:lstStyle>
              <a:defPPr>
                <a:defRPr lang="en-US"/>
              </a:defPPr>
              <a:lvl1pPr algn="l" rtl="0" eaLnBrk="0" fontAlgn="base" hangingPunct="0">
                <a:spcBef>
                  <a:spcPct val="0"/>
                </a:spcBef>
                <a:spcAft>
                  <a:spcPct val="0"/>
                </a:spcAft>
                <a:defRPr sz="1200" kern="1200">
                  <a:solidFill>
                    <a:schemeClr val="tx1"/>
                  </a:solidFill>
                  <a:latin typeface="Arial" charset="0"/>
                  <a:ea typeface="+mn-ea"/>
                  <a:cs typeface="+mn-cs"/>
                </a:defRPr>
              </a:lvl1pPr>
              <a:lvl2pPr marL="457200" algn="l" rtl="0" eaLnBrk="0" fontAlgn="base" hangingPunct="0">
                <a:spcBef>
                  <a:spcPct val="0"/>
                </a:spcBef>
                <a:spcAft>
                  <a:spcPct val="0"/>
                </a:spcAft>
                <a:defRPr sz="1200" kern="1200">
                  <a:solidFill>
                    <a:schemeClr val="tx1"/>
                  </a:solidFill>
                  <a:latin typeface="Arial" charset="0"/>
                  <a:ea typeface="+mn-ea"/>
                  <a:cs typeface="+mn-cs"/>
                </a:defRPr>
              </a:lvl2pPr>
              <a:lvl3pPr marL="914400" algn="l" rtl="0" eaLnBrk="0" fontAlgn="base" hangingPunct="0">
                <a:spcBef>
                  <a:spcPct val="0"/>
                </a:spcBef>
                <a:spcAft>
                  <a:spcPct val="0"/>
                </a:spcAft>
                <a:defRPr sz="1200" kern="1200">
                  <a:solidFill>
                    <a:schemeClr val="tx1"/>
                  </a:solidFill>
                  <a:latin typeface="Arial" charset="0"/>
                  <a:ea typeface="+mn-ea"/>
                  <a:cs typeface="+mn-cs"/>
                </a:defRPr>
              </a:lvl3pPr>
              <a:lvl4pPr marL="1371600" algn="l" rtl="0" eaLnBrk="0" fontAlgn="base" hangingPunct="0">
                <a:spcBef>
                  <a:spcPct val="0"/>
                </a:spcBef>
                <a:spcAft>
                  <a:spcPct val="0"/>
                </a:spcAft>
                <a:defRPr sz="1200" kern="1200">
                  <a:solidFill>
                    <a:schemeClr val="tx1"/>
                  </a:solidFill>
                  <a:latin typeface="Arial" charset="0"/>
                  <a:ea typeface="+mn-ea"/>
                  <a:cs typeface="+mn-cs"/>
                </a:defRPr>
              </a:lvl4pPr>
              <a:lvl5pPr marL="1828800" algn="l" rtl="0" eaLnBrk="0" fontAlgn="base" hangingPunct="0">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a:lstStyle>
            <a:p>
              <a:pPr defTabSz="781457">
                <a:defRPr/>
              </a:pPr>
              <a:r>
                <a:rPr lang="en-GB" sz="1412" b="1" dirty="0">
                  <a:solidFill>
                    <a:srgbClr val="FFFFFF"/>
                  </a:solidFill>
                  <a:latin typeface="Georgia"/>
                </a:rPr>
                <a:t>Threats</a:t>
              </a:r>
            </a:p>
            <a:p>
              <a:pPr defTabSz="781457">
                <a:defRPr/>
              </a:pPr>
              <a:endParaRPr lang="en-GB" sz="1059" b="1" dirty="0">
                <a:solidFill>
                  <a:srgbClr val="FFFFFF"/>
                </a:solidFill>
                <a:latin typeface="Georgia"/>
              </a:endParaRPr>
            </a:p>
            <a:p>
              <a:pPr marL="151249" indent="-151249" defTabSz="781457">
                <a:buFont typeface="Wingdings" panose="05000000000000000000" pitchFamily="2" charset="2"/>
                <a:buChar char="Ø"/>
                <a:defRPr/>
              </a:pPr>
              <a:r>
                <a:rPr lang="en-US" sz="1059" dirty="0">
                  <a:solidFill>
                    <a:schemeClr val="bg1"/>
                  </a:solidFill>
                  <a:latin typeface="Arial" panose="020B0604020202020204" pitchFamily="34" charset="0"/>
                </a:rPr>
                <a:t>Increasing competition in cloud and DC space</a:t>
              </a:r>
            </a:p>
            <a:p>
              <a:pPr marL="151249" indent="-151249" defTabSz="781457">
                <a:buFont typeface="Wingdings" panose="05000000000000000000" pitchFamily="2" charset="2"/>
                <a:buChar char="Ø"/>
                <a:defRPr/>
              </a:pPr>
              <a:endParaRPr lang="en-US" sz="1059" dirty="0">
                <a:solidFill>
                  <a:schemeClr val="bg1"/>
                </a:solidFill>
                <a:latin typeface="Arial" panose="020B0604020202020204" pitchFamily="34" charset="0"/>
              </a:endParaRPr>
            </a:p>
            <a:p>
              <a:pPr marL="151249" indent="-151249" defTabSz="781457">
                <a:buFont typeface="Wingdings" panose="05000000000000000000" pitchFamily="2" charset="2"/>
                <a:buChar char="Ø"/>
                <a:defRPr/>
              </a:pPr>
              <a:r>
                <a:rPr lang="en-US" sz="1059" dirty="0">
                  <a:solidFill>
                    <a:schemeClr val="bg1"/>
                  </a:solidFill>
                  <a:latin typeface="Arial" panose="020B0604020202020204" pitchFamily="34" charset="0"/>
                </a:rPr>
                <a:t>Cybersecurity attacks could undermine confidence in networked solutions</a:t>
              </a:r>
            </a:p>
            <a:p>
              <a:pPr marL="151249" indent="-151249" defTabSz="781457">
                <a:buFont typeface="Wingdings" panose="05000000000000000000" pitchFamily="2" charset="2"/>
                <a:buChar char="Ø"/>
                <a:defRPr/>
              </a:pPr>
              <a:endParaRPr lang="en-US" sz="1059" dirty="0">
                <a:solidFill>
                  <a:schemeClr val="bg1"/>
                </a:solidFill>
                <a:latin typeface="Arial" panose="020B0604020202020204" pitchFamily="34" charset="0"/>
              </a:endParaRPr>
            </a:p>
            <a:p>
              <a:pPr marL="151249" indent="-151249" defTabSz="781457">
                <a:buFont typeface="Wingdings" panose="05000000000000000000" pitchFamily="2" charset="2"/>
                <a:buChar char="Ø"/>
                <a:defRPr/>
              </a:pPr>
              <a:r>
                <a:rPr lang="en-US" sz="1059" dirty="0">
                  <a:solidFill>
                    <a:schemeClr val="bg1"/>
                  </a:solidFill>
                  <a:latin typeface="Arial" panose="020B0604020202020204" pitchFamily="34" charset="0"/>
                </a:rPr>
                <a:t>Security and Data Privacy Governance</a:t>
              </a:r>
            </a:p>
            <a:p>
              <a:pPr marL="151249" indent="-151249" defTabSz="781457">
                <a:buFont typeface="Wingdings" panose="05000000000000000000" pitchFamily="2" charset="2"/>
                <a:buChar char="Ø"/>
                <a:defRPr/>
              </a:pPr>
              <a:endParaRPr lang="en-US" sz="1059" dirty="0">
                <a:solidFill>
                  <a:schemeClr val="bg1"/>
                </a:solidFill>
                <a:latin typeface="Arial" panose="020B0604020202020204" pitchFamily="34" charset="0"/>
              </a:endParaRPr>
            </a:p>
            <a:p>
              <a:pPr marL="151249" indent="-151249" defTabSz="781457">
                <a:buFont typeface="Wingdings" panose="05000000000000000000" pitchFamily="2" charset="2"/>
                <a:buChar char="Ø"/>
                <a:defRPr/>
              </a:pPr>
              <a:r>
                <a:rPr lang="en-US" sz="1059" dirty="0">
                  <a:solidFill>
                    <a:schemeClr val="bg1"/>
                  </a:solidFill>
                  <a:latin typeface="Arial" panose="020B0604020202020204" pitchFamily="34" charset="0"/>
                </a:rPr>
                <a:t>Shortage of Cloud Experts to Support Complex Cloud Strategies</a:t>
              </a:r>
            </a:p>
          </p:txBody>
        </p:sp>
      </p:grpSp>
      <p:sp>
        <p:nvSpPr>
          <p:cNvPr id="92" name="Google Shape;214;p7">
            <a:extLst>
              <a:ext uri="{FF2B5EF4-FFF2-40B4-BE49-F238E27FC236}">
                <a16:creationId xmlns:a16="http://schemas.microsoft.com/office/drawing/2014/main" id="{AA3DA970-3A35-471E-9F18-BA6A258B12DD}"/>
              </a:ext>
            </a:extLst>
          </p:cNvPr>
          <p:cNvSpPr txBox="1"/>
          <p:nvPr/>
        </p:nvSpPr>
        <p:spPr>
          <a:xfrm>
            <a:off x="338179" y="448977"/>
            <a:ext cx="11026099" cy="431623"/>
          </a:xfrm>
          <a:prstGeom prst="rect">
            <a:avLst/>
          </a:prstGeom>
          <a:noFill/>
          <a:ln>
            <a:noFill/>
          </a:ln>
        </p:spPr>
        <p:txBody>
          <a:bodyPr spcFirstLastPara="1" wrap="square" lIns="0" tIns="0" rIns="0" bIns="0" anchor="t" anchorCtr="0">
            <a:noAutofit/>
          </a:bodyPr>
          <a:lstStyle/>
          <a:p>
            <a:pPr>
              <a:buClr>
                <a:srgbClr val="000000"/>
              </a:buClr>
              <a:buSzPts val="2400"/>
            </a:pPr>
            <a:r>
              <a:rPr lang="en-US" sz="2294" dirty="0">
                <a:latin typeface="Georgia"/>
                <a:ea typeface="Georgia"/>
                <a:cs typeface="Georgia"/>
                <a:sym typeface="Georgia"/>
              </a:rPr>
              <a:t>SWOT Analysis</a:t>
            </a:r>
          </a:p>
        </p:txBody>
      </p:sp>
      <p:cxnSp>
        <p:nvCxnSpPr>
          <p:cNvPr id="93" name="Google Shape;215;p7">
            <a:extLst>
              <a:ext uri="{FF2B5EF4-FFF2-40B4-BE49-F238E27FC236}">
                <a16:creationId xmlns:a16="http://schemas.microsoft.com/office/drawing/2014/main" id="{2BB4B79F-6B68-4C90-AB12-0D2C501BBEE3}"/>
              </a:ext>
            </a:extLst>
          </p:cNvPr>
          <p:cNvCxnSpPr/>
          <p:nvPr/>
        </p:nvCxnSpPr>
        <p:spPr>
          <a:xfrm flipH="1">
            <a:off x="173216" y="100156"/>
            <a:ext cx="3705" cy="560501"/>
          </a:xfrm>
          <a:prstGeom prst="straightConnector1">
            <a:avLst/>
          </a:prstGeom>
          <a:noFill/>
          <a:ln w="38100" cap="flat" cmpd="sng">
            <a:solidFill>
              <a:srgbClr val="000000"/>
            </a:solidFill>
            <a:prstDash val="solid"/>
            <a:round/>
            <a:headEnd type="none" w="sm" len="sm"/>
            <a:tailEnd type="none" w="sm" len="sm"/>
          </a:ln>
        </p:spPr>
      </p:cxnSp>
      <p:sp>
        <p:nvSpPr>
          <p:cNvPr id="13" name="Google Shape;222;p18">
            <a:extLst>
              <a:ext uri="{FF2B5EF4-FFF2-40B4-BE49-F238E27FC236}">
                <a16:creationId xmlns:a16="http://schemas.microsoft.com/office/drawing/2014/main" id="{30389C42-F973-466D-ABA7-30F7524472C4}"/>
              </a:ext>
            </a:extLst>
          </p:cNvPr>
          <p:cNvSpPr txBox="1"/>
          <p:nvPr/>
        </p:nvSpPr>
        <p:spPr>
          <a:xfrm>
            <a:off x="338179" y="1051387"/>
            <a:ext cx="11342092" cy="489404"/>
          </a:xfrm>
          <a:prstGeom prst="rect">
            <a:avLst/>
          </a:prstGeom>
          <a:noFill/>
          <a:ln>
            <a:noFill/>
          </a:ln>
        </p:spPr>
        <p:txBody>
          <a:bodyPr spcFirstLastPara="1" wrap="square" lIns="0" tIns="0" rIns="0" bIns="0" anchor="b" anchorCtr="0">
            <a:noAutofit/>
          </a:bodyPr>
          <a:lstStyle/>
          <a:p>
            <a:r>
              <a:rPr lang="en-US" sz="1588" b="1" dirty="0"/>
              <a:t>From preliminary analysis Ankabut seems reasonably well placed to exploit fast growing DC, cloud and networking market. Establishing the right strategy and operating model along with a sales and service driven mindset will be critical success factors</a:t>
            </a:r>
            <a:endParaRPr lang="en-US" sz="1588" b="1" dirty="0">
              <a:solidFill>
                <a:srgbClr val="FF0000"/>
              </a:solidFill>
              <a:latin typeface="Arial" panose="020B0604020202020204" pitchFamily="34" charset="0"/>
              <a:ea typeface="Calibri"/>
              <a:cs typeface="Arial" panose="020B0604020202020204" pitchFamily="34" charset="0"/>
              <a:sym typeface="Calibri"/>
            </a:endParaRPr>
          </a:p>
        </p:txBody>
      </p:sp>
      <p:sp>
        <p:nvSpPr>
          <p:cNvPr id="15" name="Slide Number Placeholder 6">
            <a:extLst>
              <a:ext uri="{FF2B5EF4-FFF2-40B4-BE49-F238E27FC236}">
                <a16:creationId xmlns:a16="http://schemas.microsoft.com/office/drawing/2014/main" id="{C1FB2607-D802-407B-9FFD-65E11290D69F}"/>
              </a:ext>
            </a:extLst>
          </p:cNvPr>
          <p:cNvSpPr>
            <a:spLocks noGrp="1"/>
          </p:cNvSpPr>
          <p:nvPr>
            <p:ph type="sldNum" idx="12"/>
          </p:nvPr>
        </p:nvSpPr>
        <p:spPr>
          <a:xfrm>
            <a:off x="10045180" y="6491442"/>
            <a:ext cx="1764333" cy="137125"/>
          </a:xfrm>
        </p:spPr>
        <p:txBody>
          <a:bodyPr/>
          <a:lstStyle/>
          <a:p>
            <a:fld id="{00000000-1234-1234-1234-123412341234}" type="slidenum">
              <a:rPr lang="en-US" smtClean="0"/>
              <a:pPr/>
              <a:t>30</a:t>
            </a:fld>
            <a:endParaRPr lang="en-US" dirty="0"/>
          </a:p>
        </p:txBody>
      </p:sp>
    </p:spTree>
    <p:extLst>
      <p:ext uri="{BB962C8B-B14F-4D97-AF65-F5344CB8AC3E}">
        <p14:creationId xmlns:p14="http://schemas.microsoft.com/office/powerpoint/2010/main" val="924796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72730" y="1930802"/>
            <a:ext cx="10888717" cy="1661993"/>
          </a:xfrm>
          <a:prstGeom prst="rect">
            <a:avLst/>
          </a:prstGeom>
          <a:noFill/>
          <a:ln>
            <a:noFill/>
          </a:ln>
        </p:spPr>
        <p:txBody>
          <a:bodyPr wrap="square" lIns="0" tIns="0" rIns="0" bIns="0" rtlCol="0">
            <a:spAutoFit/>
          </a:bodyPr>
          <a:lstStyle/>
          <a:p>
            <a:r>
              <a:rPr lang="en-US" b="1" dirty="0"/>
              <a:t>Project Name</a:t>
            </a:r>
            <a:r>
              <a:rPr lang="en-US" dirty="0"/>
              <a:t>: </a:t>
            </a:r>
            <a:r>
              <a:rPr lang="en-US" b="1" dirty="0" smtClean="0">
                <a:solidFill>
                  <a:schemeClr val="accent1">
                    <a:lumMod val="50000"/>
                  </a:schemeClr>
                </a:solidFill>
              </a:rPr>
              <a:t>Expand KUEC subsidiaries and operations.</a:t>
            </a:r>
            <a:endParaRPr lang="en-US" b="1" dirty="0">
              <a:solidFill>
                <a:schemeClr val="accent1">
                  <a:lumMod val="50000"/>
                </a:schemeClr>
              </a:solidFill>
            </a:endParaRPr>
          </a:p>
          <a:p>
            <a:r>
              <a:rPr lang="en-US" b="1" dirty="0" smtClean="0"/>
              <a:t>Project </a:t>
            </a:r>
            <a:r>
              <a:rPr lang="en-US" b="1" dirty="0"/>
              <a:t>involved departments</a:t>
            </a:r>
            <a:r>
              <a:rPr lang="en-US" b="1" dirty="0" smtClean="0"/>
              <a:t>: </a:t>
            </a:r>
            <a:r>
              <a:rPr lang="en-US" dirty="0" smtClean="0"/>
              <a:t>KUEC</a:t>
            </a:r>
          </a:p>
          <a:p>
            <a:r>
              <a:rPr lang="en-US" b="1" dirty="0"/>
              <a:t>Project briefing</a:t>
            </a:r>
            <a:r>
              <a:rPr lang="en-US" b="1" dirty="0" smtClean="0"/>
              <a:t>:- </a:t>
            </a:r>
            <a:r>
              <a:rPr lang="en-US" dirty="0" smtClean="0"/>
              <a:t>KUEC established to be an investment platform for KU in 21 Mar 2021..</a:t>
            </a:r>
            <a:endParaRPr lang="en-US" dirty="0"/>
          </a:p>
          <a:p>
            <a:r>
              <a:rPr lang="en-US" b="1" dirty="0" smtClean="0"/>
              <a:t>Project </a:t>
            </a:r>
            <a:r>
              <a:rPr lang="en-US" b="1" dirty="0"/>
              <a:t>time frame</a:t>
            </a:r>
            <a:r>
              <a:rPr lang="en-US" b="1" dirty="0" smtClean="0"/>
              <a:t>: </a:t>
            </a:r>
            <a:r>
              <a:rPr lang="en-US" dirty="0" smtClean="0"/>
              <a:t>continuing</a:t>
            </a:r>
            <a:endParaRPr lang="en-US" dirty="0">
              <a:solidFill>
                <a:schemeClr val="tx2"/>
              </a:solidFill>
            </a:endParaRPr>
          </a:p>
          <a:p>
            <a:r>
              <a:rPr lang="en-US" b="1" dirty="0"/>
              <a:t>Project updates</a:t>
            </a:r>
            <a:r>
              <a:rPr lang="en-US" b="1" dirty="0" smtClean="0"/>
              <a:t>: </a:t>
            </a:r>
            <a:r>
              <a:rPr lang="en-US" dirty="0" smtClean="0"/>
              <a:t>Investing the Endowment fund done, currently the stage of establishing start-ups subsidiaries..</a:t>
            </a:r>
            <a:endParaRPr lang="en-US" dirty="0"/>
          </a:p>
        </p:txBody>
      </p:sp>
      <p:sp>
        <p:nvSpPr>
          <p:cNvPr id="10" name="Title 1"/>
          <p:cNvSpPr>
            <a:spLocks noGrp="1"/>
          </p:cNvSpPr>
          <p:nvPr>
            <p:ph type="title"/>
          </p:nvPr>
        </p:nvSpPr>
        <p:spPr>
          <a:xfrm>
            <a:off x="1448969" y="0"/>
            <a:ext cx="8438147" cy="1579646"/>
          </a:xfrm>
        </p:spPr>
        <p:txBody>
          <a:bodyPr/>
          <a:lstStyle/>
          <a:p>
            <a:r>
              <a:rPr lang="en-US" dirty="0" smtClean="0"/>
              <a:t>KUEC</a:t>
            </a:r>
            <a:endParaRPr lang="en-US" dirty="0"/>
          </a:p>
        </p:txBody>
      </p:sp>
      <p:sp>
        <p:nvSpPr>
          <p:cNvPr id="4" name="Flowchart: Connector 3"/>
          <p:cNvSpPr/>
          <p:nvPr/>
        </p:nvSpPr>
        <p:spPr>
          <a:xfrm>
            <a:off x="509971" y="872704"/>
            <a:ext cx="852147" cy="735375"/>
          </a:xfrm>
          <a:prstGeom prst="flowChartConnector">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solidFill>
              </a:rPr>
              <a:t>3</a:t>
            </a:r>
            <a:endParaRPr lang="en-US" sz="2800" b="1" dirty="0">
              <a:solidFill>
                <a:schemeClr val="tx1"/>
              </a:solidFill>
            </a:endParaRPr>
          </a:p>
        </p:txBody>
      </p:sp>
      <p:sp>
        <p:nvSpPr>
          <p:cNvPr id="5" name="Rounded Rectangle 4"/>
          <p:cNvSpPr/>
          <p:nvPr/>
        </p:nvSpPr>
        <p:spPr>
          <a:xfrm>
            <a:off x="509971" y="1579646"/>
            <a:ext cx="11151476" cy="2645513"/>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53178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DD Month 20XX</a:t>
            </a:r>
            <a:endParaRPr lang="en-US"/>
          </a:p>
        </p:txBody>
      </p:sp>
      <p:sp>
        <p:nvSpPr>
          <p:cNvPr id="5" name="Footer Placeholder 4"/>
          <p:cNvSpPr>
            <a:spLocks noGrp="1"/>
          </p:cNvSpPr>
          <p:nvPr>
            <p:ph type="ftr" sz="quarter" idx="11"/>
          </p:nvPr>
        </p:nvSpPr>
        <p:spPr/>
        <p:txBody>
          <a:bodyPr/>
          <a:lstStyle/>
          <a:p>
            <a:r>
              <a:rPr lang="en-US" smtClean="0"/>
              <a:t>Presentation Title Goes Here</a:t>
            </a:r>
            <a:endParaRPr lang="en-US"/>
          </a:p>
        </p:txBody>
      </p:sp>
      <p:sp>
        <p:nvSpPr>
          <p:cNvPr id="6" name="Slide Number Placeholder 5"/>
          <p:cNvSpPr>
            <a:spLocks noGrp="1"/>
          </p:cNvSpPr>
          <p:nvPr>
            <p:ph type="sldNum" sz="quarter" idx="12"/>
          </p:nvPr>
        </p:nvSpPr>
        <p:spPr/>
        <p:txBody>
          <a:bodyPr/>
          <a:lstStyle/>
          <a:p>
            <a:fld id="{1E68DD1B-5CD8-424B-8173-19E182143E0A}" type="slidenum">
              <a:rPr lang="en-US" smtClean="0"/>
              <a:t>32</a:t>
            </a:fld>
            <a:endParaRPr lang="en-US"/>
          </a:p>
        </p:txBody>
      </p:sp>
      <p:sp>
        <p:nvSpPr>
          <p:cNvPr id="2" name="Content Placeholder 1"/>
          <p:cNvSpPr>
            <a:spLocks noGrp="1"/>
          </p:cNvSpPr>
          <p:nvPr>
            <p:ph idx="1"/>
          </p:nvPr>
        </p:nvSpPr>
        <p:spPr/>
        <p:txBody>
          <a:bodyPr/>
          <a:lstStyle/>
          <a:p>
            <a:endParaRPr lang="en-US"/>
          </a:p>
        </p:txBody>
      </p:sp>
      <p:pic>
        <p:nvPicPr>
          <p:cNvPr id="3" name="Picture 2"/>
          <p:cNvPicPr>
            <a:picLocks noChangeAspect="1"/>
          </p:cNvPicPr>
          <p:nvPr/>
        </p:nvPicPr>
        <p:blipFill>
          <a:blip r:embed="rId2"/>
          <a:stretch>
            <a:fillRect/>
          </a:stretch>
        </p:blipFill>
        <p:spPr>
          <a:xfrm>
            <a:off x="276863" y="164309"/>
            <a:ext cx="11638273" cy="6529382"/>
          </a:xfrm>
          <a:prstGeom prst="rect">
            <a:avLst/>
          </a:prstGeom>
        </p:spPr>
      </p:pic>
    </p:spTree>
    <p:extLst>
      <p:ext uri="{BB962C8B-B14F-4D97-AF65-F5344CB8AC3E}">
        <p14:creationId xmlns:p14="http://schemas.microsoft.com/office/powerpoint/2010/main" val="163608217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0356" y="-463483"/>
            <a:ext cx="8438147" cy="1579646"/>
          </a:xfrm>
        </p:spPr>
        <p:txBody>
          <a:bodyPr/>
          <a:lstStyle/>
          <a:p>
            <a:r>
              <a:rPr lang="en-US" dirty="0" smtClean="0"/>
              <a:t>KUEC projects </a:t>
            </a:r>
            <a:endParaRPr lang="en-US" dirty="0"/>
          </a:p>
        </p:txBody>
      </p:sp>
      <p:sp>
        <p:nvSpPr>
          <p:cNvPr id="8" name="TextBox 7"/>
          <p:cNvSpPr txBox="1"/>
          <p:nvPr/>
        </p:nvSpPr>
        <p:spPr>
          <a:xfrm>
            <a:off x="560356" y="1439169"/>
            <a:ext cx="10937612" cy="2492990"/>
          </a:xfrm>
          <a:prstGeom prst="rect">
            <a:avLst/>
          </a:prstGeom>
          <a:noFill/>
          <a:ln>
            <a:noFill/>
          </a:ln>
        </p:spPr>
        <p:txBody>
          <a:bodyPr wrap="square" lIns="0" tIns="0" rIns="0" bIns="0" rtlCol="0">
            <a:spAutoFit/>
          </a:bodyPr>
          <a:lstStyle/>
          <a:p>
            <a:r>
              <a:rPr lang="en-US" dirty="0"/>
              <a:t>Project Name</a:t>
            </a:r>
            <a:r>
              <a:rPr lang="en-US" b="1" dirty="0">
                <a:solidFill>
                  <a:schemeClr val="accent1">
                    <a:lumMod val="50000"/>
                  </a:schemeClr>
                </a:solidFill>
              </a:rPr>
              <a:t>: Establish Nava mask company and start </a:t>
            </a:r>
            <a:r>
              <a:rPr lang="en-US" b="1" dirty="0" smtClean="0">
                <a:solidFill>
                  <a:schemeClr val="accent1">
                    <a:lumMod val="50000"/>
                  </a:schemeClr>
                </a:solidFill>
              </a:rPr>
              <a:t>sales. </a:t>
            </a:r>
          </a:p>
          <a:p>
            <a:r>
              <a:rPr lang="en-US" dirty="0" smtClean="0"/>
              <a:t>Project </a:t>
            </a:r>
            <a:r>
              <a:rPr lang="en-US" dirty="0"/>
              <a:t>involved departments</a:t>
            </a:r>
            <a:r>
              <a:rPr lang="en-US" dirty="0" smtClean="0"/>
              <a:t>: Research / Dr. Shadi  </a:t>
            </a:r>
          </a:p>
          <a:p>
            <a:r>
              <a:rPr lang="en-US" dirty="0"/>
              <a:t>Project briefing</a:t>
            </a:r>
            <a:r>
              <a:rPr lang="en-US" dirty="0" smtClean="0"/>
              <a:t>:- to do an investment using KU patent in a new mask.</a:t>
            </a:r>
            <a:endParaRPr lang="en-US" dirty="0"/>
          </a:p>
          <a:p>
            <a:r>
              <a:rPr lang="en-US" dirty="0" smtClean="0"/>
              <a:t>Project </a:t>
            </a:r>
            <a:r>
              <a:rPr lang="en-US" dirty="0"/>
              <a:t>time frame</a:t>
            </a:r>
            <a:r>
              <a:rPr lang="en-US" dirty="0" smtClean="0"/>
              <a:t>: 2023</a:t>
            </a:r>
            <a:endParaRPr lang="en-US" dirty="0">
              <a:solidFill>
                <a:schemeClr val="tx2"/>
              </a:solidFill>
            </a:endParaRPr>
          </a:p>
          <a:p>
            <a:r>
              <a:rPr lang="en-US" dirty="0"/>
              <a:t>Project updates</a:t>
            </a:r>
            <a:r>
              <a:rPr lang="en-US" dirty="0" smtClean="0"/>
              <a:t>: a contract signed with </a:t>
            </a:r>
            <a:r>
              <a:rPr lang="en-US" dirty="0" err="1" smtClean="0"/>
              <a:t>Lavie</a:t>
            </a:r>
            <a:r>
              <a:rPr lang="en-US" dirty="0" smtClean="0"/>
              <a:t> company give them the right to use the IP, the company in the establishment stage.</a:t>
            </a:r>
          </a:p>
          <a:p>
            <a:r>
              <a:rPr lang="en-US" dirty="0" smtClean="0"/>
              <a:t>Project amount: AED 2 to 3 million </a:t>
            </a:r>
          </a:p>
          <a:p>
            <a:r>
              <a:rPr lang="en-US" dirty="0" smtClean="0"/>
              <a:t>Readiness of business plan: Yes internally</a:t>
            </a:r>
          </a:p>
          <a:p>
            <a:r>
              <a:rPr lang="en-US" dirty="0" smtClean="0"/>
              <a:t>Expected ROI: 10%</a:t>
            </a:r>
            <a:endParaRPr lang="en-US" dirty="0"/>
          </a:p>
        </p:txBody>
      </p:sp>
      <p:sp>
        <p:nvSpPr>
          <p:cNvPr id="10" name="TextBox 9"/>
          <p:cNvSpPr txBox="1"/>
          <p:nvPr/>
        </p:nvSpPr>
        <p:spPr>
          <a:xfrm>
            <a:off x="609252" y="4555478"/>
            <a:ext cx="10888715" cy="1384995"/>
          </a:xfrm>
          <a:prstGeom prst="rect">
            <a:avLst/>
          </a:prstGeom>
          <a:noFill/>
          <a:ln>
            <a:noFill/>
          </a:ln>
        </p:spPr>
        <p:txBody>
          <a:bodyPr wrap="square" lIns="0" tIns="0" rIns="0" bIns="0" rtlCol="0">
            <a:spAutoFit/>
          </a:bodyPr>
          <a:lstStyle/>
          <a:p>
            <a:r>
              <a:rPr lang="en-US" dirty="0" smtClean="0"/>
              <a:t>Project </a:t>
            </a:r>
            <a:r>
              <a:rPr lang="en-US" dirty="0"/>
              <a:t>Name</a:t>
            </a:r>
            <a:r>
              <a:rPr lang="en-US" dirty="0" smtClean="0"/>
              <a:t>: </a:t>
            </a:r>
            <a:r>
              <a:rPr lang="en-US" b="1" dirty="0" smtClean="0">
                <a:solidFill>
                  <a:schemeClr val="accent1">
                    <a:lumMod val="50000"/>
                  </a:schemeClr>
                </a:solidFill>
              </a:rPr>
              <a:t>Develop </a:t>
            </a:r>
            <a:r>
              <a:rPr lang="en-US" b="1" dirty="0" err="1">
                <a:solidFill>
                  <a:schemeClr val="accent1">
                    <a:lumMod val="50000"/>
                  </a:schemeClr>
                </a:solidFill>
              </a:rPr>
              <a:t>Rassed</a:t>
            </a:r>
            <a:r>
              <a:rPr lang="en-US" b="1" dirty="0">
                <a:solidFill>
                  <a:schemeClr val="accent1">
                    <a:lumMod val="50000"/>
                  </a:schemeClr>
                </a:solidFill>
              </a:rPr>
              <a:t> - Covid19 detector and start </a:t>
            </a:r>
            <a:r>
              <a:rPr lang="en-US" b="1" dirty="0" smtClean="0">
                <a:solidFill>
                  <a:schemeClr val="accent1">
                    <a:lumMod val="50000"/>
                  </a:schemeClr>
                </a:solidFill>
              </a:rPr>
              <a:t>manufacturing</a:t>
            </a:r>
            <a:r>
              <a:rPr lang="en-US" dirty="0" smtClean="0">
                <a:solidFill>
                  <a:srgbClr val="0047BA"/>
                </a:solidFill>
              </a:rPr>
              <a:t>.   </a:t>
            </a:r>
          </a:p>
          <a:p>
            <a:pPr algn="l"/>
            <a:r>
              <a:rPr lang="en-US" dirty="0" smtClean="0"/>
              <a:t>Project involved:</a:t>
            </a:r>
          </a:p>
          <a:p>
            <a:r>
              <a:rPr lang="en-US" dirty="0"/>
              <a:t>Project briefing</a:t>
            </a:r>
            <a:r>
              <a:rPr lang="en-US" dirty="0" smtClean="0"/>
              <a:t>:- Production of new Covid19 detector instrument .</a:t>
            </a:r>
            <a:endParaRPr lang="en-US" dirty="0"/>
          </a:p>
          <a:p>
            <a:pPr algn="l"/>
            <a:r>
              <a:rPr lang="en-US" dirty="0" smtClean="0"/>
              <a:t>Project time frame: 0.5-1 M</a:t>
            </a:r>
          </a:p>
          <a:p>
            <a:r>
              <a:rPr lang="en-US" dirty="0" smtClean="0"/>
              <a:t>Project updates: still under feasibility stage.</a:t>
            </a:r>
          </a:p>
        </p:txBody>
      </p:sp>
      <p:sp>
        <p:nvSpPr>
          <p:cNvPr id="5" name="Rounded Rectangle 4"/>
          <p:cNvSpPr/>
          <p:nvPr/>
        </p:nvSpPr>
        <p:spPr>
          <a:xfrm>
            <a:off x="346491" y="1277666"/>
            <a:ext cx="11151476" cy="2815996"/>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87734" y="4328898"/>
            <a:ext cx="11282856" cy="1838157"/>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542796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18656" y="1152208"/>
            <a:ext cx="10888717" cy="2215991"/>
          </a:xfrm>
          <a:prstGeom prst="rect">
            <a:avLst/>
          </a:prstGeom>
          <a:noFill/>
          <a:ln>
            <a:noFill/>
          </a:ln>
        </p:spPr>
        <p:txBody>
          <a:bodyPr wrap="square" lIns="0" tIns="0" rIns="0" bIns="0" rtlCol="0">
            <a:spAutoFit/>
          </a:bodyPr>
          <a:lstStyle/>
          <a:p>
            <a:r>
              <a:rPr lang="en-US" b="1" dirty="0"/>
              <a:t>Project Name</a:t>
            </a:r>
            <a:r>
              <a:rPr lang="en-US" dirty="0"/>
              <a:t>: </a:t>
            </a:r>
            <a:r>
              <a:rPr lang="en-US" b="1" dirty="0">
                <a:solidFill>
                  <a:schemeClr val="accent1">
                    <a:lumMod val="50000"/>
                  </a:schemeClr>
                </a:solidFill>
              </a:rPr>
              <a:t>Establish the bicycle company " KU - Bike" and start productions and </a:t>
            </a:r>
            <a:r>
              <a:rPr lang="en-US" b="1" dirty="0" smtClean="0">
                <a:solidFill>
                  <a:schemeClr val="accent1">
                    <a:lumMod val="50000"/>
                  </a:schemeClr>
                </a:solidFill>
              </a:rPr>
              <a:t>sales.</a:t>
            </a:r>
          </a:p>
          <a:p>
            <a:r>
              <a:rPr lang="en-US" b="1" dirty="0" smtClean="0"/>
              <a:t>Project </a:t>
            </a:r>
            <a:r>
              <a:rPr lang="en-US" b="1" dirty="0"/>
              <a:t>involved departments</a:t>
            </a:r>
            <a:r>
              <a:rPr lang="en-US" b="1" dirty="0" smtClean="0"/>
              <a:t>: </a:t>
            </a:r>
            <a:r>
              <a:rPr lang="en-US" dirty="0" smtClean="0"/>
              <a:t>Aerospace department </a:t>
            </a:r>
          </a:p>
          <a:p>
            <a:r>
              <a:rPr lang="en-US" b="1" dirty="0"/>
              <a:t>Project briefing</a:t>
            </a:r>
            <a:r>
              <a:rPr lang="en-US" b="1" dirty="0" smtClean="0"/>
              <a:t>:- </a:t>
            </a:r>
            <a:r>
              <a:rPr lang="en-US" dirty="0" smtClean="0"/>
              <a:t>The fist UAE company</a:t>
            </a:r>
            <a:endParaRPr lang="en-US" dirty="0"/>
          </a:p>
          <a:p>
            <a:r>
              <a:rPr lang="en-US" b="1" dirty="0" smtClean="0"/>
              <a:t>Project </a:t>
            </a:r>
            <a:r>
              <a:rPr lang="en-US" b="1" dirty="0"/>
              <a:t>time frame</a:t>
            </a:r>
            <a:r>
              <a:rPr lang="en-US" b="1" dirty="0" smtClean="0"/>
              <a:t>: </a:t>
            </a:r>
            <a:r>
              <a:rPr lang="en-US" dirty="0" smtClean="0"/>
              <a:t>Dec 2022 </a:t>
            </a:r>
            <a:endParaRPr lang="en-US" dirty="0">
              <a:solidFill>
                <a:schemeClr val="tx2"/>
              </a:solidFill>
            </a:endParaRPr>
          </a:p>
          <a:p>
            <a:r>
              <a:rPr lang="en-US" b="1" dirty="0"/>
              <a:t>Project updates</a:t>
            </a:r>
            <a:r>
              <a:rPr lang="en-US" b="1" dirty="0" smtClean="0"/>
              <a:t>: </a:t>
            </a:r>
            <a:r>
              <a:rPr lang="en-US" dirty="0" smtClean="0"/>
              <a:t>In the stage of establishing a new company in UAE.</a:t>
            </a:r>
          </a:p>
          <a:p>
            <a:r>
              <a:rPr lang="en-US" b="1" dirty="0"/>
              <a:t>Project amount</a:t>
            </a:r>
            <a:r>
              <a:rPr lang="en-US" dirty="0"/>
              <a:t>: AED </a:t>
            </a:r>
            <a:r>
              <a:rPr lang="en-US" dirty="0" smtClean="0"/>
              <a:t>1 </a:t>
            </a:r>
            <a:r>
              <a:rPr lang="en-US" dirty="0"/>
              <a:t>to </a:t>
            </a:r>
            <a:r>
              <a:rPr lang="en-US" dirty="0" smtClean="0"/>
              <a:t>2 </a:t>
            </a:r>
            <a:r>
              <a:rPr lang="en-US" dirty="0"/>
              <a:t>million</a:t>
            </a:r>
          </a:p>
          <a:p>
            <a:r>
              <a:rPr lang="en-US" b="1" dirty="0"/>
              <a:t>Expected ROI</a:t>
            </a:r>
            <a:r>
              <a:rPr lang="en-US" dirty="0"/>
              <a:t>: </a:t>
            </a:r>
            <a:r>
              <a:rPr lang="en-US" dirty="0" smtClean="0"/>
              <a:t>20%-30%</a:t>
            </a:r>
            <a:endParaRPr lang="en-US" dirty="0"/>
          </a:p>
          <a:p>
            <a:endParaRPr lang="en-US" dirty="0"/>
          </a:p>
        </p:txBody>
      </p:sp>
      <p:sp>
        <p:nvSpPr>
          <p:cNvPr id="13" name="TextBox 12"/>
          <p:cNvSpPr txBox="1"/>
          <p:nvPr/>
        </p:nvSpPr>
        <p:spPr>
          <a:xfrm>
            <a:off x="618655" y="3187924"/>
            <a:ext cx="10888715" cy="2215991"/>
          </a:xfrm>
          <a:prstGeom prst="rect">
            <a:avLst/>
          </a:prstGeom>
          <a:noFill/>
          <a:ln>
            <a:noFill/>
          </a:ln>
        </p:spPr>
        <p:txBody>
          <a:bodyPr wrap="square" lIns="0" tIns="0" rIns="0" bIns="0" rtlCol="0">
            <a:spAutoFit/>
          </a:bodyPr>
          <a:lstStyle/>
          <a:p>
            <a:r>
              <a:rPr lang="en-US" b="1" dirty="0" smtClean="0"/>
              <a:t>Project Name</a:t>
            </a:r>
            <a:r>
              <a:rPr lang="en-US" dirty="0"/>
              <a:t>: </a:t>
            </a:r>
            <a:r>
              <a:rPr lang="en-US" b="1" dirty="0">
                <a:solidFill>
                  <a:schemeClr val="accent1">
                    <a:lumMod val="50000"/>
                  </a:schemeClr>
                </a:solidFill>
              </a:rPr>
              <a:t>Establish " KU-Services" for renting KU labs and start activities.</a:t>
            </a:r>
          </a:p>
          <a:p>
            <a:pPr algn="l"/>
            <a:r>
              <a:rPr lang="en-US" b="1" dirty="0" smtClean="0"/>
              <a:t>Project involved: </a:t>
            </a:r>
            <a:r>
              <a:rPr lang="en-US" dirty="0" smtClean="0"/>
              <a:t>Facilities.</a:t>
            </a:r>
          </a:p>
          <a:p>
            <a:r>
              <a:rPr lang="en-US" b="1" dirty="0"/>
              <a:t>Project briefing</a:t>
            </a:r>
            <a:r>
              <a:rPr lang="en-US" b="1" dirty="0" smtClean="0"/>
              <a:t>:- </a:t>
            </a:r>
            <a:r>
              <a:rPr lang="en-US" dirty="0" smtClean="0"/>
              <a:t>To establish a sector of renting activities under KUEC.</a:t>
            </a:r>
            <a:endParaRPr lang="en-US" dirty="0"/>
          </a:p>
          <a:p>
            <a:pPr algn="l"/>
            <a:r>
              <a:rPr lang="en-US" b="1" dirty="0" smtClean="0"/>
              <a:t>Project time frame: </a:t>
            </a:r>
            <a:r>
              <a:rPr lang="en-US" dirty="0" smtClean="0"/>
              <a:t>Dec 2022</a:t>
            </a:r>
          </a:p>
          <a:p>
            <a:r>
              <a:rPr lang="en-US" b="1" dirty="0" smtClean="0"/>
              <a:t>Project updates</a:t>
            </a:r>
            <a:r>
              <a:rPr lang="en-US" dirty="0" smtClean="0"/>
              <a:t>: To start preparation of the renting activities contract.</a:t>
            </a:r>
          </a:p>
          <a:p>
            <a:r>
              <a:rPr lang="en-US" b="1" dirty="0"/>
              <a:t>Project amount</a:t>
            </a:r>
            <a:r>
              <a:rPr lang="en-US" dirty="0"/>
              <a:t>: AED </a:t>
            </a:r>
            <a:r>
              <a:rPr lang="en-US" dirty="0" smtClean="0"/>
              <a:t>.5 </a:t>
            </a:r>
            <a:r>
              <a:rPr lang="en-US" dirty="0"/>
              <a:t>to </a:t>
            </a:r>
            <a:r>
              <a:rPr lang="en-US" dirty="0" smtClean="0"/>
              <a:t>1 </a:t>
            </a:r>
            <a:r>
              <a:rPr lang="en-US" dirty="0"/>
              <a:t>million</a:t>
            </a:r>
          </a:p>
          <a:p>
            <a:r>
              <a:rPr lang="en-US" b="1" dirty="0"/>
              <a:t>Expected ROI</a:t>
            </a:r>
            <a:r>
              <a:rPr lang="en-US" dirty="0"/>
              <a:t>: </a:t>
            </a:r>
            <a:r>
              <a:rPr lang="en-US" dirty="0" smtClean="0"/>
              <a:t>10%</a:t>
            </a:r>
            <a:endParaRPr lang="en-US" dirty="0"/>
          </a:p>
          <a:p>
            <a:endParaRPr lang="en-US" dirty="0" smtClean="0"/>
          </a:p>
        </p:txBody>
      </p:sp>
      <p:sp>
        <p:nvSpPr>
          <p:cNvPr id="10" name="TextBox 9"/>
          <p:cNvSpPr txBox="1"/>
          <p:nvPr/>
        </p:nvSpPr>
        <p:spPr>
          <a:xfrm>
            <a:off x="618656" y="5372234"/>
            <a:ext cx="10888715" cy="1384995"/>
          </a:xfrm>
          <a:prstGeom prst="rect">
            <a:avLst/>
          </a:prstGeom>
          <a:noFill/>
          <a:ln>
            <a:noFill/>
          </a:ln>
        </p:spPr>
        <p:txBody>
          <a:bodyPr wrap="square" lIns="0" tIns="0" rIns="0" bIns="0" rtlCol="0">
            <a:spAutoFit/>
          </a:bodyPr>
          <a:lstStyle/>
          <a:p>
            <a:r>
              <a:rPr lang="en-US" b="1" dirty="0" smtClean="0"/>
              <a:t>Project Name</a:t>
            </a:r>
            <a:r>
              <a:rPr lang="en-US" dirty="0"/>
              <a:t>: </a:t>
            </a:r>
            <a:r>
              <a:rPr lang="en-US" dirty="0">
                <a:solidFill>
                  <a:schemeClr val="tx2"/>
                </a:solidFill>
              </a:rPr>
              <a:t> </a:t>
            </a:r>
            <a:r>
              <a:rPr lang="en-US" b="1" dirty="0">
                <a:solidFill>
                  <a:schemeClr val="accent1">
                    <a:lumMod val="50000"/>
                  </a:schemeClr>
                </a:solidFill>
              </a:rPr>
              <a:t>Establish KU advisory and start operation. </a:t>
            </a:r>
          </a:p>
          <a:p>
            <a:pPr algn="l"/>
            <a:r>
              <a:rPr lang="en-US" b="1" dirty="0" smtClean="0"/>
              <a:t>Project involved: </a:t>
            </a:r>
            <a:r>
              <a:rPr lang="en-US" dirty="0" smtClean="0"/>
              <a:t>Academic department </a:t>
            </a:r>
          </a:p>
          <a:p>
            <a:r>
              <a:rPr lang="en-US" b="1" dirty="0"/>
              <a:t>Project briefing</a:t>
            </a:r>
            <a:r>
              <a:rPr lang="en-US" b="1" dirty="0" smtClean="0"/>
              <a:t>:- </a:t>
            </a:r>
            <a:r>
              <a:rPr lang="en-US" dirty="0" smtClean="0"/>
              <a:t>To establish an advisory company.</a:t>
            </a:r>
            <a:endParaRPr lang="en-US" dirty="0"/>
          </a:p>
          <a:p>
            <a:pPr algn="l"/>
            <a:r>
              <a:rPr lang="en-US" b="1" dirty="0" smtClean="0"/>
              <a:t>Project time frame: </a:t>
            </a:r>
            <a:r>
              <a:rPr lang="en-US" dirty="0" smtClean="0"/>
              <a:t>Dec 2022</a:t>
            </a:r>
          </a:p>
          <a:p>
            <a:r>
              <a:rPr lang="en-US" b="1" dirty="0" smtClean="0"/>
              <a:t>Project updates: </a:t>
            </a:r>
            <a:r>
              <a:rPr lang="en-US" dirty="0" smtClean="0"/>
              <a:t>under progress </a:t>
            </a:r>
          </a:p>
        </p:txBody>
      </p:sp>
      <p:sp>
        <p:nvSpPr>
          <p:cNvPr id="11" name="Title 1"/>
          <p:cNvSpPr>
            <a:spLocks noGrp="1"/>
          </p:cNvSpPr>
          <p:nvPr>
            <p:ph type="title"/>
          </p:nvPr>
        </p:nvSpPr>
        <p:spPr>
          <a:xfrm>
            <a:off x="618656" y="-452759"/>
            <a:ext cx="8438147" cy="1579646"/>
          </a:xfrm>
        </p:spPr>
        <p:txBody>
          <a:bodyPr/>
          <a:lstStyle/>
          <a:p>
            <a:r>
              <a:rPr lang="en-US" dirty="0" smtClean="0"/>
              <a:t>KUEC projects </a:t>
            </a:r>
            <a:endParaRPr lang="en-US" dirty="0"/>
          </a:p>
        </p:txBody>
      </p:sp>
      <p:sp>
        <p:nvSpPr>
          <p:cNvPr id="6" name="Rounded Rectangle 5"/>
          <p:cNvSpPr/>
          <p:nvPr/>
        </p:nvSpPr>
        <p:spPr>
          <a:xfrm>
            <a:off x="378372" y="3086995"/>
            <a:ext cx="11591454" cy="2078841"/>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378372" y="5223640"/>
            <a:ext cx="11591454" cy="1591393"/>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355894" y="1094404"/>
            <a:ext cx="11613932" cy="1960108"/>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38819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18652" y="1273561"/>
            <a:ext cx="10888717" cy="1661993"/>
          </a:xfrm>
          <a:prstGeom prst="rect">
            <a:avLst/>
          </a:prstGeom>
          <a:noFill/>
          <a:ln>
            <a:noFill/>
          </a:ln>
        </p:spPr>
        <p:txBody>
          <a:bodyPr wrap="square" lIns="0" tIns="0" rIns="0" bIns="0" rtlCol="0">
            <a:spAutoFit/>
          </a:bodyPr>
          <a:lstStyle/>
          <a:p>
            <a:r>
              <a:rPr lang="en-US" b="1" dirty="0"/>
              <a:t>Project Name</a:t>
            </a:r>
            <a:r>
              <a:rPr lang="en-US" dirty="0"/>
              <a:t>: </a:t>
            </a:r>
            <a:r>
              <a:rPr lang="en-US" b="1" dirty="0">
                <a:solidFill>
                  <a:schemeClr val="accent1">
                    <a:lumMod val="50000"/>
                  </a:schemeClr>
                </a:solidFill>
              </a:rPr>
              <a:t>Develop KUEC operating model and policies and procedures. </a:t>
            </a:r>
          </a:p>
          <a:p>
            <a:r>
              <a:rPr lang="en-US" b="1" dirty="0" smtClean="0"/>
              <a:t>Project </a:t>
            </a:r>
            <a:r>
              <a:rPr lang="en-US" b="1" dirty="0"/>
              <a:t>involved departments</a:t>
            </a:r>
            <a:r>
              <a:rPr lang="en-US" dirty="0" smtClean="0"/>
              <a:t>: BD</a:t>
            </a:r>
          </a:p>
          <a:p>
            <a:r>
              <a:rPr lang="en-US" b="1" dirty="0"/>
              <a:t>Project briefing</a:t>
            </a:r>
            <a:r>
              <a:rPr lang="en-US" b="1" dirty="0" smtClean="0"/>
              <a:t>:- </a:t>
            </a:r>
            <a:r>
              <a:rPr lang="en-US" dirty="0" smtClean="0"/>
              <a:t>Approving the propose interim policies and procedures and org. structure.</a:t>
            </a:r>
            <a:endParaRPr lang="en-US" dirty="0"/>
          </a:p>
          <a:p>
            <a:r>
              <a:rPr lang="en-US" b="1" dirty="0" smtClean="0"/>
              <a:t>Project </a:t>
            </a:r>
            <a:r>
              <a:rPr lang="en-US" b="1" dirty="0"/>
              <a:t>time frame</a:t>
            </a:r>
            <a:r>
              <a:rPr lang="en-US" b="1" dirty="0" smtClean="0"/>
              <a:t>:  </a:t>
            </a:r>
            <a:r>
              <a:rPr lang="en-US" dirty="0" smtClean="0"/>
              <a:t>Dec 2022</a:t>
            </a:r>
            <a:endParaRPr lang="en-US" dirty="0">
              <a:solidFill>
                <a:schemeClr val="tx2"/>
              </a:solidFill>
            </a:endParaRPr>
          </a:p>
          <a:p>
            <a:r>
              <a:rPr lang="en-US" b="1" dirty="0"/>
              <a:t>Project updates</a:t>
            </a:r>
            <a:r>
              <a:rPr lang="en-US" dirty="0" smtClean="0"/>
              <a:t>: The committee requested to postpone till we finalize the authority matrix.</a:t>
            </a:r>
            <a:endParaRPr lang="en-US" dirty="0"/>
          </a:p>
          <a:p>
            <a:endParaRPr lang="en-US" dirty="0"/>
          </a:p>
        </p:txBody>
      </p:sp>
      <p:sp>
        <p:nvSpPr>
          <p:cNvPr id="13" name="TextBox 12"/>
          <p:cNvSpPr txBox="1"/>
          <p:nvPr/>
        </p:nvSpPr>
        <p:spPr>
          <a:xfrm>
            <a:off x="618654" y="3165484"/>
            <a:ext cx="10888715" cy="1384995"/>
          </a:xfrm>
          <a:prstGeom prst="rect">
            <a:avLst/>
          </a:prstGeom>
          <a:noFill/>
          <a:ln>
            <a:noFill/>
          </a:ln>
        </p:spPr>
        <p:txBody>
          <a:bodyPr wrap="square" lIns="0" tIns="0" rIns="0" bIns="0" rtlCol="0">
            <a:spAutoFit/>
          </a:bodyPr>
          <a:lstStyle/>
          <a:p>
            <a:r>
              <a:rPr lang="en-US" b="1" dirty="0"/>
              <a:t>Project Name</a:t>
            </a:r>
            <a:r>
              <a:rPr lang="en-US" dirty="0"/>
              <a:t>: </a:t>
            </a:r>
            <a:r>
              <a:rPr lang="en-US" b="1" dirty="0" smtClean="0">
                <a:solidFill>
                  <a:schemeClr val="accent1">
                    <a:lumMod val="50000"/>
                  </a:schemeClr>
                </a:solidFill>
              </a:rPr>
              <a:t>Establish Waste water center.</a:t>
            </a:r>
            <a:endParaRPr lang="en-US" b="1" dirty="0">
              <a:solidFill>
                <a:schemeClr val="accent1">
                  <a:lumMod val="50000"/>
                </a:schemeClr>
              </a:solidFill>
            </a:endParaRPr>
          </a:p>
          <a:p>
            <a:r>
              <a:rPr lang="en-US" b="1" dirty="0"/>
              <a:t>Project </a:t>
            </a:r>
            <a:r>
              <a:rPr lang="en-US" b="1" dirty="0" smtClean="0"/>
              <a:t>involved : </a:t>
            </a:r>
            <a:r>
              <a:rPr lang="en-US" dirty="0" smtClean="0"/>
              <a:t>Chemistry Department</a:t>
            </a:r>
            <a:endParaRPr lang="en-US" dirty="0"/>
          </a:p>
          <a:p>
            <a:r>
              <a:rPr lang="en-US" b="1" dirty="0"/>
              <a:t>Project briefing</a:t>
            </a:r>
            <a:r>
              <a:rPr lang="en-US" b="1" dirty="0" smtClean="0"/>
              <a:t>:- </a:t>
            </a:r>
            <a:r>
              <a:rPr lang="en-US" dirty="0" smtClean="0"/>
              <a:t>To establish an analysis center for waste water.</a:t>
            </a:r>
            <a:endParaRPr lang="en-US" dirty="0"/>
          </a:p>
          <a:p>
            <a:pPr algn="l"/>
            <a:r>
              <a:rPr lang="en-US" b="1" dirty="0" smtClean="0"/>
              <a:t>Project time frame: </a:t>
            </a:r>
            <a:r>
              <a:rPr lang="en-US" dirty="0" smtClean="0"/>
              <a:t>2023</a:t>
            </a:r>
          </a:p>
          <a:p>
            <a:r>
              <a:rPr lang="en-US" b="1" dirty="0" smtClean="0"/>
              <a:t>Project updates: </a:t>
            </a:r>
            <a:r>
              <a:rPr lang="en-US" dirty="0" smtClean="0"/>
              <a:t>In the first stage of the donation and operation to specified gov. entities.</a:t>
            </a:r>
          </a:p>
        </p:txBody>
      </p:sp>
      <p:sp>
        <p:nvSpPr>
          <p:cNvPr id="10" name="TextBox 9"/>
          <p:cNvSpPr txBox="1"/>
          <p:nvPr/>
        </p:nvSpPr>
        <p:spPr>
          <a:xfrm>
            <a:off x="618652" y="4983714"/>
            <a:ext cx="10888715" cy="1384995"/>
          </a:xfrm>
          <a:prstGeom prst="rect">
            <a:avLst/>
          </a:prstGeom>
          <a:noFill/>
          <a:ln>
            <a:noFill/>
          </a:ln>
        </p:spPr>
        <p:txBody>
          <a:bodyPr wrap="square" lIns="0" tIns="0" rIns="0" bIns="0" rtlCol="0">
            <a:spAutoFit/>
          </a:bodyPr>
          <a:lstStyle/>
          <a:p>
            <a:r>
              <a:rPr lang="en-US" b="1" dirty="0" smtClean="0"/>
              <a:t>Project Na</a:t>
            </a:r>
            <a:r>
              <a:rPr lang="en-US" dirty="0" smtClean="0"/>
              <a:t>me</a:t>
            </a:r>
            <a:r>
              <a:rPr lang="en-US" dirty="0"/>
              <a:t>: </a:t>
            </a:r>
            <a:r>
              <a:rPr lang="en-US" b="1" dirty="0">
                <a:solidFill>
                  <a:schemeClr val="accent1">
                    <a:lumMod val="50000"/>
                  </a:schemeClr>
                </a:solidFill>
              </a:rPr>
              <a:t>Finalizing KUEC authority matrix.</a:t>
            </a:r>
            <a:r>
              <a:rPr lang="en-US" dirty="0" smtClean="0">
                <a:solidFill>
                  <a:srgbClr val="0047BA"/>
                </a:solidFill>
              </a:rPr>
              <a:t>  </a:t>
            </a:r>
          </a:p>
          <a:p>
            <a:r>
              <a:rPr lang="en-US" b="1" dirty="0" smtClean="0"/>
              <a:t>Project </a:t>
            </a:r>
            <a:r>
              <a:rPr lang="en-US" b="1" dirty="0"/>
              <a:t>involved</a:t>
            </a:r>
            <a:r>
              <a:rPr lang="en-US" b="1" dirty="0" smtClean="0"/>
              <a:t>: </a:t>
            </a:r>
            <a:r>
              <a:rPr lang="en-US" dirty="0" smtClean="0"/>
              <a:t>KUEC committee</a:t>
            </a:r>
          </a:p>
          <a:p>
            <a:r>
              <a:rPr lang="en-US" b="1" dirty="0" smtClean="0"/>
              <a:t>Project </a:t>
            </a:r>
            <a:r>
              <a:rPr lang="en-US" b="1" dirty="0"/>
              <a:t>briefing</a:t>
            </a:r>
            <a:r>
              <a:rPr lang="en-US" b="1" dirty="0" smtClean="0"/>
              <a:t>:- </a:t>
            </a:r>
            <a:r>
              <a:rPr lang="en-US" dirty="0" smtClean="0"/>
              <a:t>Approve the proposed authority matrix designed by Mr. Ebrahim</a:t>
            </a:r>
            <a:endParaRPr lang="en-US" dirty="0"/>
          </a:p>
          <a:p>
            <a:pPr algn="l"/>
            <a:r>
              <a:rPr lang="en-US" b="1" dirty="0" smtClean="0"/>
              <a:t>Project time frame: </a:t>
            </a:r>
            <a:r>
              <a:rPr lang="en-US" dirty="0" smtClean="0"/>
              <a:t>Dec 2022</a:t>
            </a:r>
          </a:p>
          <a:p>
            <a:r>
              <a:rPr lang="en-US" b="1" dirty="0" smtClean="0"/>
              <a:t>Project updates</a:t>
            </a:r>
            <a:r>
              <a:rPr lang="en-US" dirty="0" smtClean="0"/>
              <a:t>: The new proposed POA under review my the KUEC leaders.</a:t>
            </a:r>
          </a:p>
        </p:txBody>
      </p:sp>
      <p:sp>
        <p:nvSpPr>
          <p:cNvPr id="11" name="Title 1"/>
          <p:cNvSpPr>
            <a:spLocks noGrp="1"/>
          </p:cNvSpPr>
          <p:nvPr>
            <p:ph type="title"/>
          </p:nvPr>
        </p:nvSpPr>
        <p:spPr>
          <a:xfrm>
            <a:off x="618654" y="-456939"/>
            <a:ext cx="8438147" cy="1579646"/>
          </a:xfrm>
        </p:spPr>
        <p:txBody>
          <a:bodyPr/>
          <a:lstStyle/>
          <a:p>
            <a:r>
              <a:rPr lang="en-US" dirty="0" smtClean="0"/>
              <a:t>KUEC projects </a:t>
            </a:r>
            <a:endParaRPr lang="en-US" dirty="0"/>
          </a:p>
        </p:txBody>
      </p:sp>
      <p:sp>
        <p:nvSpPr>
          <p:cNvPr id="6" name="Rounded Rectangle 5"/>
          <p:cNvSpPr/>
          <p:nvPr/>
        </p:nvSpPr>
        <p:spPr>
          <a:xfrm>
            <a:off x="380712" y="1232381"/>
            <a:ext cx="11151476" cy="1580944"/>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354435" y="2871539"/>
            <a:ext cx="11151476" cy="1810585"/>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355893" y="4804353"/>
            <a:ext cx="11151476" cy="1848695"/>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105903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93948" y="4875595"/>
            <a:ext cx="10888717" cy="1661993"/>
          </a:xfrm>
          <a:prstGeom prst="rect">
            <a:avLst/>
          </a:prstGeom>
          <a:noFill/>
          <a:ln>
            <a:noFill/>
          </a:ln>
        </p:spPr>
        <p:txBody>
          <a:bodyPr wrap="square" lIns="0" tIns="0" rIns="0" bIns="0" rtlCol="0">
            <a:spAutoFit/>
          </a:bodyPr>
          <a:lstStyle/>
          <a:p>
            <a:r>
              <a:rPr lang="en-US" b="1" dirty="0"/>
              <a:t>Project Name</a:t>
            </a:r>
            <a:r>
              <a:rPr lang="en-US" dirty="0" smtClean="0"/>
              <a:t>: </a:t>
            </a:r>
            <a:r>
              <a:rPr lang="en-US" b="1" dirty="0">
                <a:solidFill>
                  <a:schemeClr val="accent1">
                    <a:lumMod val="50000"/>
                  </a:schemeClr>
                </a:solidFill>
              </a:rPr>
              <a:t>Automation of Administrative facilities rental project. </a:t>
            </a:r>
          </a:p>
          <a:p>
            <a:r>
              <a:rPr lang="en-US" b="1" dirty="0" smtClean="0"/>
              <a:t>Project </a:t>
            </a:r>
            <a:r>
              <a:rPr lang="en-US" b="1" dirty="0"/>
              <a:t>involved departments</a:t>
            </a:r>
            <a:r>
              <a:rPr lang="en-US" b="1" dirty="0" smtClean="0"/>
              <a:t>: </a:t>
            </a:r>
            <a:r>
              <a:rPr lang="en-US" dirty="0" smtClean="0"/>
              <a:t>BD / Facilities.</a:t>
            </a:r>
          </a:p>
          <a:p>
            <a:r>
              <a:rPr lang="en-US" b="1" dirty="0"/>
              <a:t>Project briefing</a:t>
            </a:r>
            <a:r>
              <a:rPr lang="en-US" b="1" dirty="0" smtClean="0"/>
              <a:t>:- </a:t>
            </a:r>
            <a:r>
              <a:rPr lang="en-US" dirty="0" smtClean="0"/>
              <a:t>To establish a full automated reservation / billing/payment solution</a:t>
            </a:r>
            <a:r>
              <a:rPr lang="en-US" b="1" dirty="0" smtClean="0"/>
              <a:t>.</a:t>
            </a:r>
            <a:endParaRPr lang="en-US" b="1" dirty="0"/>
          </a:p>
          <a:p>
            <a:r>
              <a:rPr lang="en-US" b="1" dirty="0" smtClean="0"/>
              <a:t>Project </a:t>
            </a:r>
            <a:r>
              <a:rPr lang="en-US" b="1" dirty="0"/>
              <a:t>time frame</a:t>
            </a:r>
            <a:r>
              <a:rPr lang="en-US" b="1" dirty="0" smtClean="0"/>
              <a:t>: </a:t>
            </a:r>
            <a:r>
              <a:rPr lang="en-US" dirty="0" smtClean="0"/>
              <a:t>April 2023</a:t>
            </a:r>
            <a:endParaRPr lang="en-US" dirty="0">
              <a:solidFill>
                <a:schemeClr val="tx2"/>
              </a:solidFill>
            </a:endParaRPr>
          </a:p>
          <a:p>
            <a:r>
              <a:rPr lang="en-US" b="1" dirty="0"/>
              <a:t>Project updates</a:t>
            </a:r>
            <a:r>
              <a:rPr lang="en-US" b="1" dirty="0" smtClean="0"/>
              <a:t>: </a:t>
            </a:r>
            <a:r>
              <a:rPr lang="en-US" dirty="0" smtClean="0"/>
              <a:t>under the fist stage of study.</a:t>
            </a:r>
            <a:endParaRPr lang="en-US" dirty="0"/>
          </a:p>
          <a:p>
            <a:endParaRPr lang="en-US" dirty="0"/>
          </a:p>
        </p:txBody>
      </p:sp>
      <p:sp>
        <p:nvSpPr>
          <p:cNvPr id="8" name="Title 1"/>
          <p:cNvSpPr>
            <a:spLocks noGrp="1"/>
          </p:cNvSpPr>
          <p:nvPr>
            <p:ph type="title"/>
          </p:nvPr>
        </p:nvSpPr>
        <p:spPr>
          <a:xfrm>
            <a:off x="720071" y="-176396"/>
            <a:ext cx="8438147" cy="1579646"/>
          </a:xfrm>
        </p:spPr>
        <p:txBody>
          <a:bodyPr/>
          <a:lstStyle/>
          <a:p>
            <a:r>
              <a:rPr lang="en-US" dirty="0" smtClean="0"/>
              <a:t>KUEC projects </a:t>
            </a:r>
            <a:endParaRPr lang="en-US" dirty="0"/>
          </a:p>
        </p:txBody>
      </p:sp>
      <p:sp>
        <p:nvSpPr>
          <p:cNvPr id="6" name="TextBox 5"/>
          <p:cNvSpPr txBox="1"/>
          <p:nvPr/>
        </p:nvSpPr>
        <p:spPr>
          <a:xfrm>
            <a:off x="593950" y="1639117"/>
            <a:ext cx="10888715" cy="2769989"/>
          </a:xfrm>
          <a:prstGeom prst="rect">
            <a:avLst/>
          </a:prstGeom>
          <a:noFill/>
          <a:ln>
            <a:noFill/>
          </a:ln>
        </p:spPr>
        <p:txBody>
          <a:bodyPr wrap="square" lIns="0" tIns="0" rIns="0" bIns="0" rtlCol="0">
            <a:spAutoFit/>
          </a:bodyPr>
          <a:lstStyle/>
          <a:p>
            <a:r>
              <a:rPr lang="en-US" b="1" dirty="0" smtClean="0"/>
              <a:t>Project Name</a:t>
            </a:r>
            <a:r>
              <a:rPr lang="en-US" dirty="0"/>
              <a:t>: </a:t>
            </a:r>
            <a:r>
              <a:rPr lang="en-US" b="1" dirty="0">
                <a:solidFill>
                  <a:schemeClr val="accent1">
                    <a:lumMod val="50000"/>
                  </a:schemeClr>
                </a:solidFill>
              </a:rPr>
              <a:t>Establish PCR reagent company and increase </a:t>
            </a:r>
            <a:r>
              <a:rPr lang="en-US" b="1" dirty="0" smtClean="0">
                <a:solidFill>
                  <a:schemeClr val="accent1">
                    <a:lumMod val="50000"/>
                  </a:schemeClr>
                </a:solidFill>
              </a:rPr>
              <a:t>sales</a:t>
            </a:r>
            <a:r>
              <a:rPr lang="en-US" dirty="0" smtClean="0">
                <a:solidFill>
                  <a:srgbClr val="0047BA"/>
                </a:solidFill>
              </a:rPr>
              <a:t>. </a:t>
            </a:r>
          </a:p>
          <a:p>
            <a:pPr algn="l"/>
            <a:r>
              <a:rPr lang="en-US" b="1" dirty="0" smtClean="0"/>
              <a:t>Project involved </a:t>
            </a:r>
            <a:r>
              <a:rPr lang="en-US" dirty="0" smtClean="0"/>
              <a:t>: Biomedical department Dr. Habiba </a:t>
            </a:r>
          </a:p>
          <a:p>
            <a:r>
              <a:rPr lang="en-US" b="1" dirty="0" smtClean="0"/>
              <a:t>Project briefing</a:t>
            </a:r>
            <a:r>
              <a:rPr lang="en-US" dirty="0" smtClean="0"/>
              <a:t>:- Manufacturing a reagent for PCR tests</a:t>
            </a:r>
          </a:p>
          <a:p>
            <a:pPr algn="l"/>
            <a:r>
              <a:rPr lang="en-US" b="1" dirty="0" smtClean="0"/>
              <a:t>Project time frame</a:t>
            </a:r>
            <a:r>
              <a:rPr lang="en-US" dirty="0" smtClean="0"/>
              <a:t>: Dec 2022</a:t>
            </a:r>
          </a:p>
          <a:p>
            <a:r>
              <a:rPr lang="en-US" b="1" dirty="0" smtClean="0"/>
              <a:t>Project updates</a:t>
            </a:r>
            <a:r>
              <a:rPr lang="en-US" dirty="0" smtClean="0"/>
              <a:t>: KUEC committee rejected the proposal received from one of the companies in UAE, arranging a negotiation with </a:t>
            </a:r>
            <a:r>
              <a:rPr lang="en-US" dirty="0" err="1" smtClean="0"/>
              <a:t>Uni</a:t>
            </a:r>
            <a:r>
              <a:rPr lang="en-US" dirty="0" smtClean="0"/>
              <a:t>-lab. </a:t>
            </a:r>
          </a:p>
          <a:p>
            <a:r>
              <a:rPr lang="en-US" b="1" dirty="0"/>
              <a:t>Project amount</a:t>
            </a:r>
            <a:r>
              <a:rPr lang="en-US" dirty="0"/>
              <a:t>: AED 2 to 3 million </a:t>
            </a:r>
          </a:p>
          <a:p>
            <a:r>
              <a:rPr lang="en-US" b="1" dirty="0" smtClean="0"/>
              <a:t>Readiness of business plan</a:t>
            </a:r>
            <a:r>
              <a:rPr lang="en-US" dirty="0" smtClean="0"/>
              <a:t>: </a:t>
            </a:r>
            <a:r>
              <a:rPr lang="en-US" dirty="0"/>
              <a:t>Yes internally</a:t>
            </a:r>
          </a:p>
          <a:p>
            <a:r>
              <a:rPr lang="en-US" b="1" dirty="0" smtClean="0"/>
              <a:t>Expected </a:t>
            </a:r>
            <a:r>
              <a:rPr lang="en-US" b="1" dirty="0"/>
              <a:t>ROI</a:t>
            </a:r>
            <a:r>
              <a:rPr lang="en-US" dirty="0"/>
              <a:t>: 10%</a:t>
            </a:r>
          </a:p>
          <a:p>
            <a:endParaRPr lang="en-US" dirty="0" smtClean="0"/>
          </a:p>
        </p:txBody>
      </p:sp>
      <p:sp>
        <p:nvSpPr>
          <p:cNvPr id="5" name="Rounded Rectangle 4"/>
          <p:cNvSpPr/>
          <p:nvPr/>
        </p:nvSpPr>
        <p:spPr>
          <a:xfrm>
            <a:off x="294516" y="4710743"/>
            <a:ext cx="11151476" cy="1991695"/>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294516" y="1475176"/>
            <a:ext cx="11151476" cy="2815996"/>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647875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480762" y="1565666"/>
            <a:ext cx="10888715" cy="2492990"/>
          </a:xfrm>
          <a:prstGeom prst="rect">
            <a:avLst/>
          </a:prstGeom>
          <a:noFill/>
          <a:ln>
            <a:noFill/>
          </a:ln>
        </p:spPr>
        <p:txBody>
          <a:bodyPr wrap="square" lIns="0" tIns="0" rIns="0" bIns="0" rtlCol="0">
            <a:spAutoFit/>
          </a:bodyPr>
          <a:lstStyle/>
          <a:p>
            <a:r>
              <a:rPr lang="en-US" b="1" dirty="0" smtClean="0"/>
              <a:t>Project Name</a:t>
            </a:r>
            <a:r>
              <a:rPr lang="en-US" dirty="0"/>
              <a:t>: </a:t>
            </a:r>
            <a:r>
              <a:rPr lang="en-US" b="1" dirty="0">
                <a:solidFill>
                  <a:schemeClr val="accent1">
                    <a:lumMod val="50000"/>
                  </a:schemeClr>
                </a:solidFill>
              </a:rPr>
              <a:t>Robotics for the maintenance of oil tanks project.</a:t>
            </a:r>
          </a:p>
          <a:p>
            <a:pPr algn="l"/>
            <a:r>
              <a:rPr lang="en-US" b="1" dirty="0" smtClean="0"/>
              <a:t>Project involved:- </a:t>
            </a:r>
            <a:r>
              <a:rPr lang="en-US" dirty="0" smtClean="0"/>
              <a:t>BD</a:t>
            </a:r>
          </a:p>
          <a:p>
            <a:r>
              <a:rPr lang="en-US" b="1" dirty="0"/>
              <a:t>Project briefing</a:t>
            </a:r>
            <a:r>
              <a:rPr lang="en-US" b="1" dirty="0" smtClean="0"/>
              <a:t>:- </a:t>
            </a:r>
            <a:r>
              <a:rPr lang="en-US" dirty="0"/>
              <a:t>Opportunity to establish a company with one of UAE companies found a new concept of using robotics in cleaning vast oil containers.</a:t>
            </a:r>
          </a:p>
          <a:p>
            <a:pPr algn="l"/>
            <a:r>
              <a:rPr lang="en-US" b="1" dirty="0" smtClean="0"/>
              <a:t>Project time frame</a:t>
            </a:r>
            <a:r>
              <a:rPr lang="en-US" dirty="0" smtClean="0"/>
              <a:t>: 2023</a:t>
            </a:r>
          </a:p>
          <a:p>
            <a:r>
              <a:rPr lang="en-US" b="1" dirty="0" smtClean="0"/>
              <a:t>Project updates: </a:t>
            </a:r>
            <a:r>
              <a:rPr lang="en-US" dirty="0" smtClean="0"/>
              <a:t>In the review of the concept stage</a:t>
            </a:r>
          </a:p>
          <a:p>
            <a:r>
              <a:rPr lang="en-US" b="1" dirty="0"/>
              <a:t>Project amount</a:t>
            </a:r>
            <a:r>
              <a:rPr lang="en-US" dirty="0"/>
              <a:t>: AED .5 to 1 million</a:t>
            </a:r>
          </a:p>
          <a:p>
            <a:r>
              <a:rPr lang="en-US" b="1" dirty="0"/>
              <a:t>Expected ROI</a:t>
            </a:r>
            <a:r>
              <a:rPr lang="en-US" dirty="0"/>
              <a:t>: 10%</a:t>
            </a:r>
          </a:p>
          <a:p>
            <a:endParaRPr lang="en-US" dirty="0" smtClean="0"/>
          </a:p>
        </p:txBody>
      </p:sp>
      <p:sp>
        <p:nvSpPr>
          <p:cNvPr id="8" name="Title 1"/>
          <p:cNvSpPr>
            <a:spLocks noGrp="1"/>
          </p:cNvSpPr>
          <p:nvPr>
            <p:ph type="title"/>
          </p:nvPr>
        </p:nvSpPr>
        <p:spPr>
          <a:xfrm>
            <a:off x="480762" y="-177941"/>
            <a:ext cx="8438147" cy="1579646"/>
          </a:xfrm>
        </p:spPr>
        <p:txBody>
          <a:bodyPr/>
          <a:lstStyle/>
          <a:p>
            <a:r>
              <a:rPr lang="en-US" dirty="0" smtClean="0"/>
              <a:t>KUEC projects </a:t>
            </a:r>
            <a:endParaRPr lang="en-US" dirty="0"/>
          </a:p>
        </p:txBody>
      </p:sp>
      <p:sp>
        <p:nvSpPr>
          <p:cNvPr id="4" name="Rounded Rectangle 3"/>
          <p:cNvSpPr/>
          <p:nvPr/>
        </p:nvSpPr>
        <p:spPr>
          <a:xfrm>
            <a:off x="349381" y="1401705"/>
            <a:ext cx="11151476" cy="2581716"/>
          </a:xfrm>
          <a:prstGeom prst="roundRect">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73632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6729" y="578643"/>
            <a:ext cx="9991725" cy="1114425"/>
          </a:xfrm>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r>
              <a:rPr lang="en-US" smtClean="0"/>
              <a:t>DD Month 20XX</a:t>
            </a:r>
            <a:endParaRPr lang="en-US"/>
          </a:p>
        </p:txBody>
      </p:sp>
      <p:sp>
        <p:nvSpPr>
          <p:cNvPr id="5" name="Footer Placeholder 4"/>
          <p:cNvSpPr>
            <a:spLocks noGrp="1"/>
          </p:cNvSpPr>
          <p:nvPr>
            <p:ph type="ftr" sz="quarter" idx="11"/>
          </p:nvPr>
        </p:nvSpPr>
        <p:spPr/>
        <p:txBody>
          <a:bodyPr/>
          <a:lstStyle/>
          <a:p>
            <a:r>
              <a:rPr lang="en-US" smtClean="0"/>
              <a:t>Presentation Title Goes Here</a:t>
            </a:r>
            <a:endParaRPr lang="en-US"/>
          </a:p>
        </p:txBody>
      </p:sp>
      <p:sp>
        <p:nvSpPr>
          <p:cNvPr id="6" name="Slide Number Placeholder 5"/>
          <p:cNvSpPr>
            <a:spLocks noGrp="1"/>
          </p:cNvSpPr>
          <p:nvPr>
            <p:ph type="sldNum" sz="quarter" idx="12"/>
          </p:nvPr>
        </p:nvSpPr>
        <p:spPr/>
        <p:txBody>
          <a:bodyPr/>
          <a:lstStyle/>
          <a:p>
            <a:fld id="{1E68DD1B-5CD8-424B-8173-19E182143E0A}" type="slidenum">
              <a:rPr lang="en-US" smtClean="0"/>
              <a:t>38</a:t>
            </a:fld>
            <a:endParaRPr lang="en-US"/>
          </a:p>
        </p:txBody>
      </p:sp>
      <p:sp>
        <p:nvSpPr>
          <p:cNvPr id="9" name="AutoShape 6" descr="https://mail.ku.ac.ae/owa/service.svc/s/GetFileAttachment?id=AAMkAGMxMjIxZTI4LWYxMWMtNDliZC05N2YyLTVhNTllNDI4MGJmMABGAAAAAAAn2AoJrNPRRobhftOvdNH8BwB7GuzdOuvLTJZR5Zg5kuZwAAAAAAEMAAB7GuzdOuvLTJZR5Zg5kuZwAAG9Y7kXAAABEgAQACprzrJY4J1IsE5aHdlDu9k%3D&amp;X-OWA-CANARY=EdACo4Uykkeb9QDC2ONyCwB1NC_JpdoIQOi-a9Zqb1V2Rbma3r6SB7hLSEmBEfDEJd97AIrPaHY.&amp;isImagePreview=True"/>
          <p:cNvSpPr>
            <a:spLocks noChangeAspect="1" noChangeArrowheads="1"/>
          </p:cNvSpPr>
          <p:nvPr/>
        </p:nvSpPr>
        <p:spPr bwMode="auto">
          <a:xfrm>
            <a:off x="155575" y="-144463"/>
            <a:ext cx="6993370" cy="699339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p:cNvPicPr>
            <a:picLocks noChangeAspect="1"/>
          </p:cNvPicPr>
          <p:nvPr/>
        </p:nvPicPr>
        <p:blipFill>
          <a:blip r:embed="rId2"/>
          <a:stretch>
            <a:fillRect/>
          </a:stretch>
        </p:blipFill>
        <p:spPr>
          <a:xfrm>
            <a:off x="946451" y="484909"/>
            <a:ext cx="9528812" cy="6373091"/>
          </a:xfrm>
          <a:prstGeom prst="rect">
            <a:avLst/>
          </a:prstGeom>
        </p:spPr>
      </p:pic>
    </p:spTree>
    <p:extLst>
      <p:ext uri="{BB962C8B-B14F-4D97-AF65-F5344CB8AC3E}">
        <p14:creationId xmlns:p14="http://schemas.microsoft.com/office/powerpoint/2010/main" val="126311121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285847"/>
      </p:ext>
    </p:extLst>
  </p:cSld>
  <p:clrMapOvr>
    <a:masterClrMapping/>
  </p:clrMapOvr>
  <p:timing>
    <p:tnLst>
      <p:par>
        <p:cTn id="1" dur="indefinite" restart="never" nodeType="tmRoot"/>
      </p:par>
    </p:tnLst>
  </p:timing>
</p:sld>
</file>

<file path=ppt/theme/theme1.xml><?xml version="1.0" encoding="utf-8"?>
<a:theme xmlns:a="http://schemas.openxmlformats.org/drawingml/2006/main" name="KU Theme">
  <a:themeElements>
    <a:clrScheme name="KU">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50" smtClean="0"/>
        </a:defPPr>
      </a:lstStyle>
    </a:txDef>
  </a:objectDefaults>
  <a:extraClrSchemeLst/>
  <a:extLst>
    <a:ext uri="{05A4C25C-085E-4340-85A3-A5531E510DB2}">
      <thm15:themeFamily xmlns:thm15="http://schemas.microsoft.com/office/thememl/2012/main" name="KU_presentation_template_v2018-04-09 E.potx" id="{AF960482-6B50-417C-AC38-1AFEBFC77BA4}" vid="{1F04D338-456F-4FFC-9561-BAAA645232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7BCE9BEE86D22418B98990A0B028EF2" ma:contentTypeVersion="2" ma:contentTypeDescription="Create a new document." ma:contentTypeScope="" ma:versionID="c92d080676834feb7a8d6e7ac37a685f">
  <xsd:schema xmlns:xsd="http://www.w3.org/2001/XMLSchema" xmlns:xs="http://www.w3.org/2001/XMLSchema" xmlns:p="http://schemas.microsoft.com/office/2006/metadata/properties" xmlns:ns1="http://schemas.microsoft.com/sharepoint/v3" xmlns:ns2="557946a8-a765-46f2-8d44-445b86b509b9" targetNamespace="http://schemas.microsoft.com/office/2006/metadata/properties" ma:root="true" ma:fieldsID="773afa511ca0245c4474d0f23d29f83c" ns1:_="" ns2:_="">
    <xsd:import namespace="http://schemas.microsoft.com/sharepoint/v3"/>
    <xsd:import namespace="557946a8-a765-46f2-8d44-445b86b509b9"/>
    <xsd:element name="properties">
      <xsd:complexType>
        <xsd:sequence>
          <xsd:element name="documentManagement">
            <xsd:complexType>
              <xsd:all>
                <xsd:element ref="ns1:PublishingStartDate" minOccurs="0"/>
                <xsd:element ref="ns1:PublishingExpirationDate" minOccurs="0"/>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57946a8-a765-46f2-8d44-445b86b509b9" elementFormDefault="qualified">
    <xsd:import namespace="http://schemas.microsoft.com/office/2006/documentManagement/types"/>
    <xsd:import namespace="http://schemas.microsoft.com/office/infopath/2007/PartnerControls"/>
    <xsd:element name="SharedWithUsers" ma:index="10"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B510135-11A2-4CE9-AC9A-F9B5F7E81A9F}">
  <ds:schemaRefs>
    <ds:schemaRef ds:uri="http://schemas.microsoft.com/office/2006/documentManagement/types"/>
    <ds:schemaRef ds:uri="557946a8-a765-46f2-8d44-445b86b509b9"/>
    <ds:schemaRef ds:uri="http://schemas.microsoft.com/sharepoint/v3"/>
    <ds:schemaRef ds:uri="http://schemas.microsoft.com/office/infopath/2007/PartnerControls"/>
    <ds:schemaRef ds:uri="http://schemas.microsoft.com/office/2006/metadata/properties"/>
    <ds:schemaRef ds:uri="http://purl.org/dc/terms/"/>
    <ds:schemaRef ds:uri="http://www.w3.org/XML/1998/namespace"/>
    <ds:schemaRef ds:uri="http://purl.org/dc/dcmitype/"/>
    <ds:schemaRef ds:uri="http://purl.org/dc/elements/1.1/"/>
    <ds:schemaRef ds:uri="http://schemas.openxmlformats.org/package/2006/metadata/core-properties"/>
  </ds:schemaRefs>
</ds:datastoreItem>
</file>

<file path=customXml/itemProps2.xml><?xml version="1.0" encoding="utf-8"?>
<ds:datastoreItem xmlns:ds="http://schemas.openxmlformats.org/officeDocument/2006/customXml" ds:itemID="{AC14F958-FA86-4F8B-BDB0-691B121869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57946a8-a765-46f2-8d44-445b86b509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D50A8C-CA97-4410-A798-5A85CCD8F17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KU Theme</Template>
  <TotalTime>20198</TotalTime>
  <Words>3043</Words>
  <Application>Microsoft Office PowerPoint</Application>
  <PresentationFormat>Widescreen</PresentationFormat>
  <Paragraphs>413</Paragraphs>
  <Slides>39</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6" baseType="lpstr">
      <vt:lpstr>ＭＳ Ｐゴシック</vt:lpstr>
      <vt:lpstr>Arial</vt:lpstr>
      <vt:lpstr>Calibri</vt:lpstr>
      <vt:lpstr>Georgia</vt:lpstr>
      <vt:lpstr>Wingdings</vt:lpstr>
      <vt:lpstr>KU Theme</vt:lpstr>
      <vt:lpstr>Worksheet</vt:lpstr>
      <vt:lpstr>Business Development Projects - Quarterly Report </vt:lpstr>
      <vt:lpstr>  Introduction  </vt:lpstr>
      <vt:lpstr>A- Business Development - Core University Operation</vt:lpstr>
      <vt:lpstr>KU 2022 Revenue Actual vs Budget </vt:lpstr>
      <vt:lpstr>KU 2022 Revenue Budget</vt:lpstr>
      <vt:lpstr>KU 2022 Revenue Actuals</vt:lpstr>
      <vt:lpstr>Revenue Channels </vt:lpstr>
      <vt:lpstr>Revenue Channels </vt:lpstr>
      <vt:lpstr>Revenue Channels </vt:lpstr>
      <vt:lpstr>Revenue Channels </vt:lpstr>
      <vt:lpstr>Revenue Channels </vt:lpstr>
      <vt:lpstr>Academic Projects </vt:lpstr>
      <vt:lpstr>PowerPoint Presentation</vt:lpstr>
      <vt:lpstr>Continuing Education </vt:lpstr>
      <vt:lpstr>Continuing Education </vt:lpstr>
      <vt:lpstr>Continuing Education </vt:lpstr>
      <vt:lpstr>Continuing Education </vt:lpstr>
      <vt:lpstr>Commercial activities</vt:lpstr>
      <vt:lpstr>Commercial activities</vt:lpstr>
      <vt:lpstr>Commercial activities</vt:lpstr>
      <vt:lpstr>PowerPoint Presentation</vt:lpstr>
      <vt:lpstr>KU Endowment history and investment  </vt:lpstr>
      <vt:lpstr>KU Endowment frame work for future funding   </vt:lpstr>
      <vt:lpstr>PowerPoint Presentation</vt:lpstr>
      <vt:lpstr>Ankabut </vt:lpstr>
      <vt:lpstr>PowerPoint Presentation</vt:lpstr>
      <vt:lpstr>PowerPoint Presentation</vt:lpstr>
      <vt:lpstr>Revenue Streams</vt:lpstr>
      <vt:lpstr>PowerPoint Presentation</vt:lpstr>
      <vt:lpstr>PowerPoint Presentation</vt:lpstr>
      <vt:lpstr>KUEC</vt:lpstr>
      <vt:lpstr>PowerPoint Presentation</vt:lpstr>
      <vt:lpstr>KUEC projects </vt:lpstr>
      <vt:lpstr>KUEC projects </vt:lpstr>
      <vt:lpstr>KUEC projects </vt:lpstr>
      <vt:lpstr>KUEC projects </vt:lpstr>
      <vt:lpstr>KUEC projects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Title Goes Here</dc:title>
  <dc:creator>Majed Almansoori</dc:creator>
  <cp:lastModifiedBy>Hesham Salem</cp:lastModifiedBy>
  <cp:revision>270</cp:revision>
  <dcterms:created xsi:type="dcterms:W3CDTF">2018-04-29T10:48:36Z</dcterms:created>
  <dcterms:modified xsi:type="dcterms:W3CDTF">2023-05-10T06:30:42Z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0x010100E7BCE9BEE86D22418B98990A0B028EF2</vt:lpwstr>
  </property>
</Properties>
</file>