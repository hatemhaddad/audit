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1" r:id="rId3"/>
    <p:sldId id="260" r:id="rId4"/>
    <p:sldId id="261" r:id="rId5"/>
    <p:sldId id="262" r:id="rId6"/>
    <p:sldId id="283" r:id="rId7"/>
    <p:sldId id="263" r:id="rId8"/>
    <p:sldId id="264" r:id="rId9"/>
    <p:sldId id="272" r:id="rId10"/>
    <p:sldId id="273" r:id="rId11"/>
    <p:sldId id="284" r:id="rId12"/>
    <p:sldId id="285" r:id="rId13"/>
    <p:sldId id="286" r:id="rId14"/>
    <p:sldId id="287" r:id="rId15"/>
    <p:sldId id="288" r:id="rId16"/>
    <p:sldId id="305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DF55"/>
    <a:srgbClr val="F74242"/>
    <a:srgbClr val="95D651"/>
    <a:srgbClr val="0047BA"/>
    <a:srgbClr val="000000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8" autoAdjust="0"/>
    <p:restoredTop sz="94613" autoAdjust="0"/>
  </p:normalViewPr>
  <p:slideViewPr>
    <p:cSldViewPr snapToGrid="0" showGuides="1">
      <p:cViewPr varScale="1">
        <p:scale>
          <a:sx n="210" d="100"/>
          <a:sy n="210" d="100"/>
        </p:scale>
        <p:origin x="224" y="176"/>
      </p:cViewPr>
      <p:guideLst>
        <p:guide orient="horz" pos="2160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/home/sillikkal/Midrive/research%20documents/Research%20Computing%20Resources/ResearchResourceCalculation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/home/sillikkal/Midrive/research%20documents/Research%20Computing%20Resources/ResearchResourceCalculation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/home/sillikkal/Midrive/research%20documents/Research%20Computing%20Resources/ResearchResourceCalculation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/home/sillikkal/Midrive/research%20documents/Research%20Computing%20Resources/ResearchResourceCalculation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/home/sillikkal/Midrive/research%20documents/Research%20Computing%20Resources/ResearchResourceCalculation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/home/sillikkal/Midrive/research%20documents/Research%20Computing%20Resources/ResearchResourceCalculation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/home/sillikkal/Midrive/Project/Research-Report/ResearchResourceCalculation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/home/sillikkal/Midrive/Project/Research-Report/ResearchResourceCalculation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/home/sillikkal/Midrive/research%20documents/Research%20Computing%20Resources/ResearchResourceCalculation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/home/sillikkal/Midrive/Project/Research-Report/ResearchResourceCalculation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/home/sillikkal/Midrive/Project/Research-Report/ResearchResourceCalcula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'[ResearchResourceCalculation.xlsx]VM '!$B$176</c:f>
              <c:strCache>
                <c:ptCount val="1"/>
                <c:pt idx="0">
                  <c:v>VM 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'[ResearchResourceCalculation.xlsx]VM '!$A$177:$A$180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'[ResearchResourceCalculation.xlsx]VM '!$B$177:$B$180</c:f>
              <c:numCache>
                <c:formatCode>General</c:formatCode>
                <c:ptCount val="4"/>
                <c:pt idx="0">
                  <c:v>38</c:v>
                </c:pt>
                <c:pt idx="1">
                  <c:v>37</c:v>
                </c:pt>
                <c:pt idx="2">
                  <c:v>53</c:v>
                </c:pt>
                <c:pt idx="3">
                  <c:v>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79564645"/>
        <c:axId val="36018240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'[ResearchResourceCalculation.xlsx]VM '!$A$176</c15:sqref>
                        </c15:formulaRef>
                      </c:ext>
                    </c:extLst>
                    <c:strCache>
                      <c:ptCount val="1"/>
                      <c:pt idx="0">
                        <c:v>YEAR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'[ResearchResourceCalculation.xlsx]VM '!$A$177:$A$180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{2016,2017,2018,2019}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47956464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60182402"/>
        <c:crosses val="autoZero"/>
        <c:auto val="1"/>
        <c:lblAlgn val="ctr"/>
        <c:lblOffset val="100"/>
        <c:noMultiLvlLbl val="0"/>
      </c:catAx>
      <c:valAx>
        <c:axId val="3601824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956464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'[ResearchResourceCalculation.xlsx]VM '!$B$183</c:f>
              <c:strCache>
                <c:ptCount val="1"/>
                <c:pt idx="0">
                  <c:v>CPU 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'[ResearchResourceCalculation.xlsx]VM '!$A$184:$A$187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'[ResearchResourceCalculation.xlsx]VM '!$B$184:$B$187</c:f>
              <c:numCache>
                <c:formatCode>General</c:formatCode>
                <c:ptCount val="4"/>
                <c:pt idx="0">
                  <c:v>408</c:v>
                </c:pt>
                <c:pt idx="1">
                  <c:v>402</c:v>
                </c:pt>
                <c:pt idx="2">
                  <c:v>446</c:v>
                </c:pt>
                <c:pt idx="3">
                  <c:v>578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964449922"/>
        <c:axId val="552994363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'[ResearchResourceCalculation.xlsx]VM '!$A$183</c15:sqref>
                        </c15:formulaRef>
                      </c:ext>
                    </c:extLst>
                    <c:strCache>
                      <c:ptCount val="1"/>
                      <c:pt idx="0">
                        <c:v>YEAR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'[ResearchResourceCalculation.xlsx]VM '!$A$184:$A$187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{2016,2017,2018,2019}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96444992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2994363"/>
        <c:crosses val="autoZero"/>
        <c:auto val="1"/>
        <c:lblAlgn val="ctr"/>
        <c:lblOffset val="100"/>
        <c:noMultiLvlLbl val="0"/>
      </c:catAx>
      <c:valAx>
        <c:axId val="5529943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6444992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33071895424837"/>
          <c:y val="0.02777777777777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'[ResearchResourceCalculation.xlsx]VM '!$B$190</c:f>
              <c:strCache>
                <c:ptCount val="1"/>
                <c:pt idx="0">
                  <c:v>Memory in GB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'[ResearchResourceCalculation.xlsx]VM '!$A$191:$A$194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'[ResearchResourceCalculation.xlsx]VM '!$B$191:$B$194</c:f>
              <c:numCache>
                <c:formatCode>General</c:formatCode>
                <c:ptCount val="4"/>
                <c:pt idx="0">
                  <c:v>1625</c:v>
                </c:pt>
                <c:pt idx="1">
                  <c:v>1640</c:v>
                </c:pt>
                <c:pt idx="2">
                  <c:v>1718</c:v>
                </c:pt>
                <c:pt idx="3">
                  <c:v>2000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44711927"/>
        <c:axId val="62841214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'[ResearchResourceCalculation.xlsx]VM '!$A$190</c15:sqref>
                        </c15:formulaRef>
                      </c:ext>
                    </c:extLst>
                    <c:strCache>
                      <c:ptCount val="1"/>
                      <c:pt idx="0">
                        <c:v>YEAR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'[ResearchResourceCalculation.xlsx]VM '!$A$191:$A$194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{2016,2017,2018,2019}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34471192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8412148"/>
        <c:crosses val="autoZero"/>
        <c:auto val="1"/>
        <c:lblAlgn val="ctr"/>
        <c:lblOffset val="100"/>
        <c:noMultiLvlLbl val="0"/>
      </c:catAx>
      <c:valAx>
        <c:axId val="6284121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44711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'[ResearchResourceCalculation.xlsx]VM '!$B$197</c:f>
              <c:strCache>
                <c:ptCount val="1"/>
                <c:pt idx="0">
                  <c:v>DISK  TB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'[ResearchResourceCalculation.xlsx]VM '!$A$198:$A$201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'[ResearchResourceCalculation.xlsx]VM '!$B$198:$B$201</c:f>
              <c:numCache>
                <c:formatCode>General</c:formatCode>
                <c:ptCount val="4"/>
                <c:pt idx="0">
                  <c:v>177</c:v>
                </c:pt>
                <c:pt idx="1">
                  <c:v>199</c:v>
                </c:pt>
                <c:pt idx="2">
                  <c:v>216</c:v>
                </c:pt>
                <c:pt idx="3">
                  <c:v>305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4263388"/>
        <c:axId val="44409047"/>
        <c:extLst>
          <c:ext xmlns:c15="http://schemas.microsoft.com/office/drawing/2012/chart" uri="{02D57815-91ED-43cb-92C2-25804820EDAC}">
            <c15:filteredBarSeries>
              <c15:ser>
                <c:idx val="0"/>
                <c:order val="1"/>
                <c:tx>
                  <c:strRef>
                    <c:extLst>
                      <c:ext uri="{02D57815-91ED-43cb-92C2-25804820EDAC}">
                        <c15:formulaRef>
                          <c15:sqref>'[ResearchResourceCalculation.xlsx]VM '!$A$197:$A$201</c15:sqref>
                        </c15:formulaRef>
                      </c:ext>
                    </c:extLst>
                    <c:strCache>
                      <c:ptCount val="1"/>
                      <c:pt idx="0">
                        <c:v>YEAR 2016 2017 2018 2019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numFmt formatCode="General" sourceLinked="1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'[ResearchResourceCalculation.xlsx]VM '!$A$198:$A$201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{1}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6742633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4409047"/>
        <c:crosses val="autoZero"/>
        <c:auto val="1"/>
        <c:lblAlgn val="ctr"/>
        <c:lblOffset val="100"/>
        <c:noMultiLvlLbl val="0"/>
      </c:catAx>
      <c:valAx>
        <c:axId val="44409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742633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Current usage</a:t>
            </a:r>
          </a:p>
        </c:rich>
      </c:tx>
      <c:layout>
        <c:manualLayout>
          <c:xMode val="edge"/>
          <c:yMode val="edge"/>
          <c:x val="0.409652777777778"/>
          <c:y val="0.03412150647580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[ResearchResourceCalculation.xlsx]Hardware!$A$98</c:f>
              <c:strCache>
                <c:ptCount val="1"/>
                <c:pt idx="0">
                  <c:v>VM Resource Used </c:v>
                </c:pt>
              </c:strCache>
            </c:strRef>
          </c:tx>
          <c:spPr>
            <a:solidFill>
              <a:schemeClr val="tx2">
                <a:lumMod val="60000"/>
                <a:lumOff val="40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[ResearchResourceCalculation.xlsx]Hardware!$B$97:$C$97</c:f>
              <c:strCache>
                <c:ptCount val="2"/>
                <c:pt idx="0">
                  <c:v>CPU</c:v>
                </c:pt>
                <c:pt idx="1">
                  <c:v>Memory in GB </c:v>
                </c:pt>
              </c:strCache>
            </c:strRef>
          </c:cat>
          <c:val>
            <c:numRef>
              <c:f>[ResearchResourceCalculation.xlsx]Hardware!$B$98:$C$98</c:f>
              <c:numCache>
                <c:formatCode>General</c:formatCode>
                <c:ptCount val="2"/>
                <c:pt idx="0">
                  <c:v>578</c:v>
                </c:pt>
                <c:pt idx="1">
                  <c:v>2000</c:v>
                </c:pt>
              </c:numCache>
            </c:numRef>
          </c:val>
        </c:ser>
        <c:ser>
          <c:idx val="1"/>
          <c:order val="1"/>
          <c:tx>
            <c:strRef>
              <c:f>[ResearchResourceCalculation.xlsx]Hardware!$A$99</c:f>
              <c:strCache>
                <c:ptCount val="1"/>
                <c:pt idx="0">
                  <c:v>Availbe Capacity  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[ResearchResourceCalculation.xlsx]Hardware!$B$97:$C$97</c:f>
              <c:strCache>
                <c:ptCount val="2"/>
                <c:pt idx="0">
                  <c:v>CPU</c:v>
                </c:pt>
                <c:pt idx="1">
                  <c:v>Memory in GB </c:v>
                </c:pt>
              </c:strCache>
            </c:strRef>
          </c:cat>
          <c:val>
            <c:numRef>
              <c:f>[ResearchResourceCalculation.xlsx]Hardware!$B$99:$C$99</c:f>
              <c:numCache>
                <c:formatCode>General</c:formatCode>
                <c:ptCount val="2"/>
                <c:pt idx="0">
                  <c:v>552</c:v>
                </c:pt>
                <c:pt idx="1">
                  <c:v>2688</c:v>
                </c:pt>
              </c:numCache>
            </c:numRef>
          </c:val>
        </c:ser>
        <c:ser>
          <c:idx val="2"/>
          <c:order val="2"/>
          <c:tx>
            <c:strRef>
              <c:f>[ResearchResourceCalculation.xlsx]Hardware!$A$100</c:f>
              <c:strCache>
                <c:ptCount val="1"/>
                <c:pt idx="0">
                  <c:v> Idle Resource Capacity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[ResearchResourceCalculation.xlsx]Hardware!$B$97:$C$97</c:f>
              <c:strCache>
                <c:ptCount val="2"/>
                <c:pt idx="0">
                  <c:v>CPU</c:v>
                </c:pt>
                <c:pt idx="1">
                  <c:v>Memory in GB </c:v>
                </c:pt>
              </c:strCache>
            </c:strRef>
          </c:cat>
          <c:val>
            <c:numRef>
              <c:f>[ResearchResourceCalculation.xlsx]Hardware!$B$100:$C$100</c:f>
              <c:numCache>
                <c:formatCode>General</c:formatCode>
                <c:ptCount val="2"/>
                <c:pt idx="0">
                  <c:v>240</c:v>
                </c:pt>
                <c:pt idx="1">
                  <c:v>1280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0"/>
        <c:axId val="118984302"/>
        <c:axId val="832006066"/>
      </c:barChart>
      <c:catAx>
        <c:axId val="11898430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32006066"/>
        <c:crosses val="autoZero"/>
        <c:auto val="1"/>
        <c:lblAlgn val="ctr"/>
        <c:lblOffset val="100"/>
        <c:noMultiLvlLbl val="0"/>
      </c:catAx>
      <c:valAx>
        <c:axId val="83200606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898430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t>Capacity Planned</a:t>
            </a:r>
          </a:p>
        </c:rich>
      </c:tx>
      <c:layout>
        <c:manualLayout>
          <c:xMode val="edge"/>
          <c:yMode val="edge"/>
          <c:x val="0.284861111111111"/>
          <c:y val="0.038888888888888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[ResearchResourceCalculation.xlsx]Hardware!$A$129</c:f>
              <c:strCache>
                <c:ptCount val="1"/>
                <c:pt idx="0">
                  <c:v>Availbe Capacity  </c:v>
                </c:pt>
              </c:strCache>
            </c:strRef>
          </c:tx>
          <c:spPr>
            <a:gradFill rotWithShape="1"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[ResearchResourceCalculation.xlsx]Hardware!$B$128:$C$128</c:f>
              <c:strCache>
                <c:ptCount val="2"/>
                <c:pt idx="0">
                  <c:v>Total CPU Planned </c:v>
                </c:pt>
                <c:pt idx="1">
                  <c:v>Total Memory Planned in GB </c:v>
                </c:pt>
              </c:strCache>
            </c:strRef>
          </c:cat>
          <c:val>
            <c:numRef>
              <c:f>[ResearchResourceCalculation.xlsx]Hardware!$B$129:$C$129</c:f>
              <c:numCache>
                <c:formatCode>General</c:formatCode>
                <c:ptCount val="2"/>
                <c:pt idx="0">
                  <c:v>552</c:v>
                </c:pt>
                <c:pt idx="1">
                  <c:v>2688</c:v>
                </c:pt>
              </c:numCache>
            </c:numRef>
          </c:val>
        </c:ser>
        <c:ser>
          <c:idx val="1"/>
          <c:order val="1"/>
          <c:tx>
            <c:strRef>
              <c:f>[ResearchResourceCalculation.xlsx]Hardware!$A$130</c:f>
              <c:strCache>
                <c:ptCount val="1"/>
                <c:pt idx="0">
                  <c:v>Resource shortage </c:v>
                </c:pt>
              </c:strCache>
            </c:strRef>
          </c:tx>
          <c:spPr>
            <a:gradFill rotWithShape="1"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[ResearchResourceCalculation.xlsx]Hardware!$B$128:$C$128</c:f>
              <c:strCache>
                <c:ptCount val="2"/>
                <c:pt idx="0">
                  <c:v>Total CPU Planned </c:v>
                </c:pt>
                <c:pt idx="1">
                  <c:v>Total Memory Planned in GB </c:v>
                </c:pt>
              </c:strCache>
            </c:strRef>
          </c:cat>
          <c:val>
            <c:numRef>
              <c:f>[ResearchResourceCalculation.xlsx]Hardware!$B$130:$C$130</c:f>
              <c:numCache>
                <c:formatCode>General</c:formatCode>
                <c:ptCount val="2"/>
                <c:pt idx="0">
                  <c:v>578</c:v>
                </c:pt>
                <c:pt idx="1">
                  <c:v>447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56287415"/>
        <c:axId val="99592070"/>
      </c:barChart>
      <c:catAx>
        <c:axId val="95628741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9592070"/>
        <c:crosses val="autoZero"/>
        <c:auto val="1"/>
        <c:lblAlgn val="ctr"/>
        <c:lblOffset val="100"/>
        <c:noMultiLvlLbl val="0"/>
      </c:catAx>
      <c:valAx>
        <c:axId val="9959207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6287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Research DMZ</a:t>
            </a:r>
          </a:p>
          <a:p>
            <a:pPr defTabSz="914400">
              <a:defRPr lang="en-US"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rich>
      </c:tx>
      <c:layout>
        <c:manualLayout>
          <c:xMode val="edge"/>
          <c:yMode val="edge"/>
          <c:x val="0.342569444444445"/>
          <c:y val="0.006944444444444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[ResearchResourceCalculation.xlsx]Hardware!$A$61</c:f>
              <c:strCache>
                <c:ptCount val="1"/>
                <c:pt idx="0">
                  <c:v>VM Resource Used 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path path="circle"/>
            </a:gra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[ResearchResourceCalculation.xlsx]Hardware!$B$60:$C$60</c:f>
              <c:strCache>
                <c:ptCount val="2"/>
                <c:pt idx="0">
                  <c:v>CPU</c:v>
                </c:pt>
                <c:pt idx="1">
                  <c:v>Memory in GB </c:v>
                </c:pt>
              </c:strCache>
            </c:strRef>
          </c:cat>
          <c:val>
            <c:numRef>
              <c:f>[ResearchResourceCalculation.xlsx]Hardware!$B$61:$C$61</c:f>
              <c:numCache>
                <c:formatCode>General</c:formatCode>
                <c:ptCount val="2"/>
                <c:pt idx="0">
                  <c:v>33</c:v>
                </c:pt>
                <c:pt idx="1">
                  <c:v>559</c:v>
                </c:pt>
              </c:numCache>
            </c:numRef>
          </c:val>
        </c:ser>
        <c:ser>
          <c:idx val="1"/>
          <c:order val="1"/>
          <c:tx>
            <c:strRef>
              <c:f>[ResearchResourceCalculation.xlsx]Hardware!$A$62</c:f>
              <c:strCache>
                <c:ptCount val="1"/>
                <c:pt idx="0">
                  <c:v>Availbe Capacity  </c:v>
                </c:pt>
              </c:strCache>
            </c:strRef>
          </c:tx>
          <c:spPr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  <a:path path="circle"/>
            </a:gra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[ResearchResourceCalculation.xlsx]Hardware!$B$60:$C$60</c:f>
              <c:strCache>
                <c:ptCount val="2"/>
                <c:pt idx="0">
                  <c:v>CPU</c:v>
                </c:pt>
                <c:pt idx="1">
                  <c:v>Memory in GB </c:v>
                </c:pt>
              </c:strCache>
            </c:strRef>
          </c:cat>
          <c:val>
            <c:numRef>
              <c:f>[ResearchResourceCalculation.xlsx]Hardware!$B$62:$C$62</c:f>
              <c:numCache>
                <c:formatCode>General</c:formatCode>
                <c:ptCount val="2"/>
                <c:pt idx="0">
                  <c:v>96</c:v>
                </c:pt>
                <c:pt idx="1">
                  <c:v>384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0"/>
        <c:axId val="485858468"/>
        <c:axId val="647125631"/>
      </c:barChart>
      <c:catAx>
        <c:axId val="4858584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47125631"/>
        <c:crosses val="autoZero"/>
        <c:auto val="1"/>
        <c:lblAlgn val="ctr"/>
        <c:lblOffset val="100"/>
        <c:noMultiLvlLbl val="0"/>
      </c:catAx>
      <c:valAx>
        <c:axId val="64712563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58584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altLang="en-US"/>
              <a:t>VM Datastore </a:t>
            </a:r>
            <a:r>
              <a:t>Disk usage trend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'[ResearchResourceCalculation.xlsx]VM '!$B$165</c:f>
              <c:strCache>
                <c:ptCount val="1"/>
                <c:pt idx="0">
                  <c:v>DISK  TB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'[ResearchResourceCalculation.xlsx]VM '!$A$166:$A$168</c:f>
              <c:strCache>
                <c:ptCount val="3"/>
                <c:pt idx="0">
                  <c:v>2016-2017 </c:v>
                </c:pt>
                <c:pt idx="1">
                  <c:v>2017-2018 </c:v>
                </c:pt>
                <c:pt idx="2">
                  <c:v>2018 -2019</c:v>
                </c:pt>
              </c:strCache>
            </c:strRef>
          </c:cat>
          <c:val>
            <c:numRef>
              <c:f>'[ResearchResourceCalculation.xlsx]VM '!$B$166:$B$168</c:f>
              <c:numCache>
                <c:formatCode>General</c:formatCode>
                <c:ptCount val="3"/>
                <c:pt idx="0">
                  <c:v>21</c:v>
                </c:pt>
                <c:pt idx="1">
                  <c:v>17</c:v>
                </c:pt>
                <c:pt idx="2">
                  <c:v>81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97541007"/>
        <c:axId val="720178647"/>
      </c:lineChart>
      <c:catAx>
        <c:axId val="79754100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0178647"/>
        <c:crosses val="autoZero"/>
        <c:auto val="1"/>
        <c:lblAlgn val="ctr"/>
        <c:lblOffset val="100"/>
        <c:noMultiLvlLbl val="0"/>
      </c:catAx>
      <c:valAx>
        <c:axId val="720178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97541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t>VM Datastore DISK  TB</a:t>
            </a:r>
          </a:p>
        </c:rich>
      </c:tx>
      <c:layout>
        <c:manualLayout>
          <c:xMode val="edge"/>
          <c:yMode val="edge"/>
          <c:x val="0.349226963512678"/>
          <c:y val="0.031481481481481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'[ResearchResourceCalculation.xlsx]VM '!$B$197</c:f>
              <c:strCache>
                <c:ptCount val="1"/>
                <c:pt idx="0">
                  <c:v>DISK  TB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'[ResearchResourceCalculation.xlsx]VM '!$A$198:$A$201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'[ResearchResourceCalculation.xlsx]VM '!$B$198:$B$201</c:f>
              <c:numCache>
                <c:formatCode>General</c:formatCode>
                <c:ptCount val="4"/>
                <c:pt idx="0">
                  <c:v>177</c:v>
                </c:pt>
                <c:pt idx="1">
                  <c:v>199</c:v>
                </c:pt>
                <c:pt idx="2">
                  <c:v>216</c:v>
                </c:pt>
                <c:pt idx="3">
                  <c:v>305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74263388"/>
        <c:axId val="44409047"/>
        <c:extLst>
          <c:ext xmlns:c15="http://schemas.microsoft.com/office/drawing/2012/chart" uri="{02D57815-91ED-43cb-92C2-25804820EDAC}">
            <c15:filteredBarSeries>
              <c15:ser>
                <c:idx val="0"/>
                <c:order val="1"/>
                <c:tx>
                  <c:strRef>
                    <c:extLst>
                      <c:ext uri="{02D57815-91ED-43cb-92C2-25804820EDAC}">
                        <c15:formulaRef>
                          <c15:sqref>'[ResearchResourceCalculation.xlsx]VM '!$A$197:$A$201</c15:sqref>
                        </c15:formulaRef>
                      </c:ext>
                    </c:extLst>
                    <c:strCache>
                      <c:ptCount val="1"/>
                      <c:pt idx="0">
                        <c:v>YEAR 2016 2017 2018 2019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numFmt formatCode="General" sourceLinked="1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'[ResearchResourceCalculation.xlsx]VM '!$A$198:$A$201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{1}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6742633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4409047"/>
        <c:crosses val="autoZero"/>
        <c:auto val="1"/>
        <c:lblAlgn val="ctr"/>
        <c:lblOffset val="100"/>
        <c:noMultiLvlLbl val="0"/>
      </c:catAx>
      <c:valAx>
        <c:axId val="44409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742633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altLang="en-US"/>
              <a:t>HPC </a:t>
            </a:r>
            <a:r>
              <a:t>DISK </a:t>
            </a:r>
            <a:r>
              <a:rPr lang="en-US" altLang="en-US"/>
              <a:t>usage</a:t>
            </a:r>
            <a:r>
              <a:t> TB </a:t>
            </a:r>
          </a:p>
        </c:rich>
      </c:tx>
      <c:layout>
        <c:manualLayout>
          <c:xMode val="edge"/>
          <c:yMode val="edge"/>
          <c:x val="0.277832974487198"/>
          <c:y val="0.006944444444444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[ResearchResourceCalculation.xlsx]HPC!$B$133</c:f>
              <c:strCache>
                <c:ptCount val="1"/>
                <c:pt idx="0">
                  <c:v>DISK in TB 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[ResearchResourceCalculation.xlsx]HPC!$A$134:$A$137</c:f>
              <c:numCache>
                <c:formatCode>General</c:formatCode>
                <c:ptCount val="4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</c:numCache>
            </c:numRef>
          </c:cat>
          <c:val>
            <c:numRef>
              <c:f>[ResearchResourceCalculation.xlsx]HPC!$B$134:$B$137</c:f>
              <c:numCache>
                <c:formatCode>General</c:formatCode>
                <c:ptCount val="4"/>
                <c:pt idx="0">
                  <c:v>72</c:v>
                </c:pt>
                <c:pt idx="1">
                  <c:v>102</c:v>
                </c:pt>
                <c:pt idx="2">
                  <c:v>183</c:v>
                </c:pt>
                <c:pt idx="3">
                  <c:v>267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65210713"/>
        <c:axId val="244746555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[ResearchResourceCalculation.xlsx]HPC!$A$133</c15:sqref>
                        </c15:formulaRef>
                      </c:ext>
                    </c:extLst>
                    <c:strCache>
                      <c:ptCount val="1"/>
                      <c:pt idx="0">
                        <c:v>YEAR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layout/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[ResearchResourceCalculation.xlsx]HPC!$A$134:$A$137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{2016,2017,2018,2019}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2016</c:v>
                      </c:pt>
                      <c:pt idx="1">
                        <c:v>2017</c:v>
                      </c:pt>
                      <c:pt idx="2">
                        <c:v>2018</c:v>
                      </c:pt>
                      <c:pt idx="3">
                        <c:v>2019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2652107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4746555"/>
        <c:crosses val="autoZero"/>
        <c:auto val="1"/>
        <c:lblAlgn val="ctr"/>
        <c:lblOffset val="100"/>
        <c:noMultiLvlLbl val="0"/>
      </c:catAx>
      <c:valAx>
        <c:axId val="2447465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652107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altLang="en-US"/>
              <a:t>HPC </a:t>
            </a:r>
            <a:r>
              <a:t>Disk usage trend 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[ResearchResourceCalculation.xlsx]HPC!$B$145</c:f>
              <c:strCache>
                <c:ptCount val="1"/>
                <c:pt idx="0">
                  <c:v>DISK in TB 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elete val="1"/>
          </c:dLbls>
          <c:cat>
            <c:strRef>
              <c:f>[ResearchResourceCalculation.xlsx]HPC!$A$146:$A$148</c:f>
              <c:strCache>
                <c:ptCount val="3"/>
                <c:pt idx="0">
                  <c:v>2016-2017 </c:v>
                </c:pt>
                <c:pt idx="1">
                  <c:v>2017-2018 </c:v>
                </c:pt>
                <c:pt idx="2">
                  <c:v>2018 -2019 </c:v>
                </c:pt>
              </c:strCache>
            </c:strRef>
          </c:cat>
          <c:val>
            <c:numRef>
              <c:f>[ResearchResourceCalculation.xlsx]HPC!$B$146:$B$148</c:f>
              <c:numCache>
                <c:formatCode>General</c:formatCode>
                <c:ptCount val="3"/>
                <c:pt idx="0">
                  <c:v>30</c:v>
                </c:pt>
                <c:pt idx="1">
                  <c:v>81</c:v>
                </c:pt>
                <c:pt idx="2">
                  <c:v>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87035309"/>
        <c:axId val="576093546"/>
      </c:lineChart>
      <c:catAx>
        <c:axId val="18703530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76093546"/>
        <c:crosses val="autoZero"/>
        <c:auto val="1"/>
        <c:lblAlgn val="ctr"/>
        <c:lblOffset val="100"/>
        <c:noMultiLvlLbl val="0"/>
      </c:catAx>
      <c:valAx>
        <c:axId val="57609354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703530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/>
          <p:cNvSpPr>
            <a:spLocks noGrp="1"/>
          </p:cNvSpPr>
          <p:nvPr>
            <p:ph type="chart" sz="quarter" idx="14" hasCustomPrompt="1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chart" Target="../charts/chart11.xml"/><Relationship Id="rId1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4230" y="2004060"/>
            <a:ext cx="9781540" cy="1714500"/>
          </a:xfrm>
        </p:spPr>
        <p:txBody>
          <a:bodyPr>
            <a:normAutofit/>
          </a:bodyPr>
          <a:lstStyle/>
          <a:p>
            <a:pPr algn="l"/>
            <a:r>
              <a:rPr lang="en-US" altLang="en-US" sz="4000" dirty="0"/>
              <a:t>Research Resource Usage Calculation</a:t>
            </a:r>
            <a:endParaRPr lang="en-US" altLang="en-US" sz="4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fi-FI" dirty="0"/>
              <a:t>DD MONTH 20XX</a:t>
            </a:r>
            <a:endParaRPr lang="en-US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VM Resource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5" cy="598170"/>
          </a:xfrm>
        </p:spPr>
        <p:txBody>
          <a:bodyPr/>
          <a:lstStyle/>
          <a:p>
            <a:r>
              <a:rPr lang="en-US" altLang="en-US"/>
              <a:t>VM Resource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62074" y="4533900"/>
            <a:ext cx="4181477" cy="568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850">
              <a:solidFill>
                <a:schemeClr val="bg2"/>
              </a:solidFill>
            </a:endParaRPr>
          </a:p>
          <a:p>
            <a:endParaRPr lang="en-US" sz="1850">
              <a:solidFill>
                <a:schemeClr val="bg2"/>
              </a:solidFill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713105" y="4298950"/>
          <a:ext cx="3590925" cy="1115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638300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2018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poweredOn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No. of VM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CPU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446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RAM in GB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1718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(OS + Project)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216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4608830" y="4298950"/>
          <a:ext cx="3590925" cy="1115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638300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2017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poweredOn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No. of VM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CPU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402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RAM in GB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1640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(OS + Project)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199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8402955" y="4298950"/>
          <a:ext cx="3590925" cy="1115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638300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2016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poweredOn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No. of VM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CPU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408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RAM in GB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1625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(OS + Project)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177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/>
        </p:nvGraphicFramePr>
        <p:xfrm>
          <a:off x="1026160" y="1363980"/>
          <a:ext cx="10474478" cy="369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425"/>
                <a:gridCol w="1584960"/>
                <a:gridCol w="1242695"/>
                <a:gridCol w="1609725"/>
                <a:gridCol w="866140"/>
                <a:gridCol w="978535"/>
                <a:gridCol w="926219"/>
                <a:gridCol w="940834"/>
                <a:gridCol w="829945"/>
              </a:tblGrid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Zone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Count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Average Usage/per VM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Average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Production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Baker Lab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Buffer VM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No. of VM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IT CORE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66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102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78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Research DMZ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1778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Research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CPU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IT CORE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578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192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360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1130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778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Research DMZ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1778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Research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542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RAM in GB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IT CORE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12288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2000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415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720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3135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778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Research DMZ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158720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</a:t>
                      </a: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260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Research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1838112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</a:t>
                      </a: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606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(OS)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120 GB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305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11.4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150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466.4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778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inTB (Project)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276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 </a:t>
                      </a: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TB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25780" y="604520"/>
            <a:ext cx="4380865" cy="284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l"/>
            <a:r>
              <a:rPr lang="en-US" sz="1850" b="1">
                <a:solidFill>
                  <a:srgbClr val="0047BA"/>
                </a:solidFill>
                <a:latin typeface="Calibri" charset="-122"/>
              </a:rPr>
              <a:t>VM Resource usage </a:t>
            </a:r>
            <a:r>
              <a:rPr lang="en-US" altLang="en-US" sz="1850" b="1">
                <a:solidFill>
                  <a:srgbClr val="0047BA"/>
                </a:solidFill>
                <a:latin typeface="Calibri" charset="-122"/>
              </a:rPr>
              <a:t>- </a:t>
            </a:r>
            <a:r>
              <a:rPr lang="en-US" sz="1850" b="1">
                <a:solidFill>
                  <a:srgbClr val="0047BA"/>
                </a:solidFill>
                <a:latin typeface="Calibri" charset="-122"/>
                <a:sym typeface="+mn-ea"/>
              </a:rPr>
              <a:t>Production</a:t>
            </a:r>
            <a:r>
              <a:rPr lang="en-US" altLang="en-US" sz="185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endParaRPr lang="en-US" altLang="en-US" sz="1850" b="1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8" name="Chart 7"/>
          <p:cNvGraphicFramePr/>
          <p:nvPr/>
        </p:nvGraphicFramePr>
        <p:xfrm>
          <a:off x="647065" y="889000"/>
          <a:ext cx="4911725" cy="2406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6177280" y="889000"/>
          <a:ext cx="503872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673735" y="3493770"/>
          <a:ext cx="48577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6081713" y="3555365"/>
          <a:ext cx="51339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ESXI Hardware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2435" y="542925"/>
            <a:ext cx="4181475" cy="436245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Physical Servers </a:t>
            </a:r>
            <a:endParaRPr lang="en-US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graphicFrame>
        <p:nvGraphicFramePr>
          <p:cNvPr id="12" name="Table 11"/>
          <p:cNvGraphicFramePr/>
          <p:nvPr/>
        </p:nvGraphicFramePr>
        <p:xfrm>
          <a:off x="8298180" y="979170"/>
          <a:ext cx="3133725" cy="5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447800"/>
              </a:tblGrid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no. of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Chassis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Chassis Name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Total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Chassis 1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 Servers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432435" y="1927225"/>
          <a:ext cx="8909050" cy="484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910"/>
                <a:gridCol w="461010"/>
                <a:gridCol w="734695"/>
                <a:gridCol w="1049020"/>
                <a:gridCol w="2594610"/>
                <a:gridCol w="418465"/>
                <a:gridCol w="539750"/>
                <a:gridCol w="868045"/>
                <a:gridCol w="1693545"/>
              </a:tblGrid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Slot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SL.No.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Make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 Make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Core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</a:t>
                      </a:r>
                      <a:r>
                        <a:rPr lang="en-US" alt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PUs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Memory in GB 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Owner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DVB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1663J5J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E5-2650 0 @ 2.00GHz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PROC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J563J5J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E5-2650 0 @ 2.00GHz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3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5663J5J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E5-2650 0 @ 2.00GHz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5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GHYDB22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CHYDB22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7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CJYDB22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DJYDB22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9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HJYDB22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GJYDB22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11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5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JL5WWM2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M640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Gold 6152 CPU @ 2.10GHz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Dr. Marouane Temimi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13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Free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ESXI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4MKYKQ2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M630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E5-2650 v4 @ 2.20GHz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08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Dr. M. Hosni Ghedira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15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Free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9HYDB22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3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Free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BJYDB22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Capacity 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380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3592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Used 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276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2688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from IT 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2176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6540">
                <a:tc>
                  <a:txBody>
                    <a:bodyPr/>
                    <a:p>
                      <a:pPr indent="0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charset="-122"/>
                        </a:rPr>
                        <a:t>Free Resources</a:t>
                      </a:r>
                      <a:endParaRPr lang="en-US" sz="8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72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768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300"/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Title 2"/>
          <p:cNvSpPr>
            <a:spLocks noGrp="1"/>
          </p:cNvSpPr>
          <p:nvPr/>
        </p:nvSpPr>
        <p:spPr>
          <a:xfrm>
            <a:off x="432435" y="1221105"/>
            <a:ext cx="4181475" cy="43624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Research Zone</a:t>
            </a:r>
            <a:endParaRPr lang="en-U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435" y="561340"/>
            <a:ext cx="4001770" cy="659765"/>
          </a:xfrm>
        </p:spPr>
        <p:txBody>
          <a:bodyPr/>
          <a:lstStyle/>
          <a:p>
            <a:r>
              <a:rPr lang="en-US" altLang="en-US">
                <a:sym typeface="+mn-ea"/>
              </a:rPr>
              <a:t>Physical Servers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15" name="Title 2"/>
          <p:cNvSpPr>
            <a:spLocks noGrp="1"/>
          </p:cNvSpPr>
          <p:nvPr/>
        </p:nvSpPr>
        <p:spPr>
          <a:xfrm>
            <a:off x="432435" y="1221105"/>
            <a:ext cx="4181475" cy="43624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Research Zone</a:t>
            </a:r>
            <a:endParaRPr lang="en-U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539115" y="1732915"/>
          <a:ext cx="10406380" cy="4667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475"/>
                <a:gridCol w="1333500"/>
                <a:gridCol w="916305"/>
                <a:gridCol w="1024255"/>
                <a:gridCol w="3957320"/>
                <a:gridCol w="499745"/>
                <a:gridCol w="499745"/>
                <a:gridCol w="824865"/>
                <a:gridCol w="471170"/>
              </a:tblGrid>
              <a:tr h="2228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Chassis 2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8 Servers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Slot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SL.No.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Make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 Make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Core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CPUs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Memory in GB 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Owner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228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HPCMASTER1-ku4rhcslp1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1NQTWM2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PowerEdge M630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Xeon(R) CPU E5-2650 v4 @ 2.20GHz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HPCMASTER2-ku4rhcslp2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1NQVWM2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PowerEdge M630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Xeon(R) CPU E5-2650 v4 @ 2.20GHz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HPC-SUBNODE-ku4rhcslp3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1NPXWM2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PowerEdge M630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2 x Intel(R) Xeon(R) CPU E5-2650 v4 @ 2.20GHz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HPC-SUBNODE-ku4rhcslp4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1NQSWM2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PowerEdge M630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2 x Intel(R) Xeon(R) CPU E5-2650 v4 @ 2.20GHz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8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HPC-SUB1-ku4rhcslp5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1NQ1XM2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PowerEdge M630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2 x Intel(R) Xeon(R) CPU E5-2650 v4 @ 2.20GHz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HPC-SUB1-ku4rhcslp6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1NQ0XM2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PowerEdge M630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2 x Intel(R) Xeon(R) CPU E5-2650 v4 @ 2.20GHz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8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7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Free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JHYDB22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8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9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8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11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8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 Servers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8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Slot 16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Free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9JYDB22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M620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E5-2697 v2 @ 2.70GHz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Capacity 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192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Free Resources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200"/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432435" y="561340"/>
            <a:ext cx="4001770" cy="65976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ym typeface="+mn-ea"/>
              </a:rPr>
              <a:t>Physical Servers</a:t>
            </a:r>
            <a:endParaRPr lang="en-US"/>
          </a:p>
        </p:txBody>
      </p:sp>
      <p:sp>
        <p:nvSpPr>
          <p:cNvPr id="15" name="Title 2"/>
          <p:cNvSpPr>
            <a:spLocks noGrp="1"/>
          </p:cNvSpPr>
          <p:nvPr/>
        </p:nvSpPr>
        <p:spPr>
          <a:xfrm>
            <a:off x="432435" y="1221105"/>
            <a:ext cx="4181475" cy="43624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Research Zone</a:t>
            </a:r>
            <a:endParaRPr lang="en-U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232410" y="2030095"/>
          <a:ext cx="3755390" cy="45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290"/>
                <a:gridCol w="685800"/>
                <a:gridCol w="1130300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Capacity </a:t>
                      </a:r>
                      <a:r>
                        <a:rPr lang="en-US" alt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in Production 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276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2688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Capacity </a:t>
                      </a:r>
                      <a:r>
                        <a:rPr lang="en-US" alt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Idle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/>
          <p:nvPr/>
        </p:nvGraphicFramePr>
        <p:xfrm>
          <a:off x="2168208" y="1804035"/>
          <a:ext cx="1819275" cy="226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133475"/>
              </a:tblGrid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CPUs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Memory in GB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/>
          <p:nvPr/>
        </p:nvGraphicFramePr>
        <p:xfrm>
          <a:off x="222568" y="2701925"/>
          <a:ext cx="4391025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457325"/>
                <a:gridCol w="1257300"/>
              </a:tblGrid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Current usage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Memory in GB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Resource Used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578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</a:t>
                      </a: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Availbe Capacity 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552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2688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 Idle Resource Capacity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20320" y="5306695"/>
            <a:ext cx="5139055" cy="584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smtClean="0"/>
              <a:t>To use the idle resource we need to have 5 ESXI VM ware license</a:t>
            </a:r>
            <a:r>
              <a:rPr lang="en-US" altLang="en-US" sz="1200" smtClean="0"/>
              <a:t>.</a:t>
            </a:r>
            <a:r>
              <a:rPr lang="en-US" sz="1200" smtClean="0"/>
              <a:t>  </a:t>
            </a:r>
            <a:endParaRPr lang="en-US" sz="120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smtClean="0"/>
              <a:t>To use Research Chassis 2 </a:t>
            </a:r>
            <a:r>
              <a:rPr lang="en-US" altLang="en-US" sz="1200" smtClean="0"/>
              <a:t>for VMware, </a:t>
            </a:r>
            <a:r>
              <a:rPr lang="en-US" sz="1200" smtClean="0"/>
              <a:t>architecture team to come with plan</a:t>
            </a:r>
            <a:r>
              <a:rPr lang="en-US" altLang="en-US" sz="1200" smtClean="0"/>
              <a:t>.</a:t>
            </a:r>
            <a:r>
              <a:rPr lang="en-US" sz="1400" smtClean="0"/>
              <a:t> </a:t>
            </a:r>
            <a:endParaRPr lang="en-US" sz="1400" smtClean="0"/>
          </a:p>
        </p:txBody>
      </p:sp>
      <p:graphicFrame>
        <p:nvGraphicFramePr>
          <p:cNvPr id="8" name="Table 7"/>
          <p:cNvGraphicFramePr/>
          <p:nvPr/>
        </p:nvGraphicFramePr>
        <p:xfrm>
          <a:off x="232410" y="3825240"/>
          <a:ext cx="4380865" cy="1296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105"/>
                <a:gridCol w="1067435"/>
                <a:gridCol w="1711325"/>
              </a:tblGrid>
              <a:tr h="450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Capacity Planned</a:t>
                      </a:r>
                      <a:endParaRPr lang="en-US" sz="14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Memory in GB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Total VM Resource Planned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1130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3135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Availbe Capacity 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CDF5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552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CDF5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2688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CDF55"/>
                    </a:solidFill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Resource shortage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424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578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4242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447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424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5823585" y="582295"/>
          <a:ext cx="4572000" cy="310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331470" y="1745615"/>
            <a:ext cx="150241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indent="0">
              <a:buNone/>
            </a:pPr>
            <a:r>
              <a:rPr lang="en-US" altLang="en-US" sz="1400" b="1">
                <a:solidFill>
                  <a:srgbClr val="000000"/>
                </a:solidFill>
                <a:latin typeface="Calibri" charset="-122"/>
                <a:sym typeface="+mn-ea"/>
              </a:rPr>
              <a:t>Current Hardware</a:t>
            </a:r>
            <a:endParaRPr lang="en-US" altLang="en-US" sz="1400" b="1" smtClean="0">
              <a:solidFill>
                <a:srgbClr val="000000"/>
              </a:solidFill>
              <a:latin typeface="Calibri" charset="-122"/>
              <a:sym typeface="+mn-ea"/>
            </a:endParaRPr>
          </a:p>
        </p:txBody>
      </p:sp>
      <p:graphicFrame>
        <p:nvGraphicFramePr>
          <p:cNvPr id="20" name="Chart 19"/>
          <p:cNvGraphicFramePr/>
          <p:nvPr/>
        </p:nvGraphicFramePr>
        <p:xfrm>
          <a:off x="5883910" y="38252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32435" y="561340"/>
            <a:ext cx="4001770" cy="65976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ym typeface="+mn-ea"/>
              </a:rPr>
              <a:t>Physical Servers</a:t>
            </a:r>
            <a:endParaRPr lang="en-US"/>
          </a:p>
        </p:txBody>
      </p:sp>
      <p:sp>
        <p:nvSpPr>
          <p:cNvPr id="15" name="Title 2"/>
          <p:cNvSpPr>
            <a:spLocks noGrp="1"/>
          </p:cNvSpPr>
          <p:nvPr/>
        </p:nvSpPr>
        <p:spPr>
          <a:xfrm>
            <a:off x="432435" y="1221105"/>
            <a:ext cx="4181475" cy="43624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Research DMZ</a:t>
            </a:r>
            <a:endParaRPr lang="en-U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12" name="Table 11"/>
          <p:cNvGraphicFramePr/>
          <p:nvPr/>
        </p:nvGraphicFramePr>
        <p:xfrm>
          <a:off x="432435" y="1657350"/>
          <a:ext cx="9139555" cy="113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955"/>
                <a:gridCol w="3121660"/>
                <a:gridCol w="839470"/>
                <a:gridCol w="454660"/>
                <a:gridCol w="1125855"/>
                <a:gridCol w="2306955"/>
              </a:tblGrid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Make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 Make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Core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CPUs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Memory in GB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Owner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R730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CPU E5-2650 v4 @ 2.20GHz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IT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Power Edge R740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x Intel(R) Eon(R) Gold 5118 CPU @ 2.30GHz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Dr. Hosni Ghedira Recrema Team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</a:t>
                      </a:r>
                      <a:r>
                        <a:rPr lang="en-US" alt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Hardware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Capacity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48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384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/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/>
          <p:nvPr/>
        </p:nvGraphicFramePr>
        <p:xfrm>
          <a:off x="7350760" y="275399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432435" y="3290570"/>
          <a:ext cx="44335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025"/>
                <a:gridCol w="993775"/>
                <a:gridCol w="1969770"/>
              </a:tblGrid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CPU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Memory in GB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Resource Used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559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Availbe Capacity 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96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384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 indent="0">
                        <a:buNone/>
                      </a:pP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63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-175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Storage 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32435" y="561340"/>
            <a:ext cx="4001770" cy="65976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VM Datastore </a:t>
            </a:r>
            <a:endParaRPr lang="en-US" altLang="en-US"/>
          </a:p>
        </p:txBody>
      </p:sp>
      <p:sp>
        <p:nvSpPr>
          <p:cNvPr id="15" name="Title 2"/>
          <p:cNvSpPr>
            <a:spLocks noGrp="1"/>
          </p:cNvSpPr>
          <p:nvPr/>
        </p:nvSpPr>
        <p:spPr>
          <a:xfrm>
            <a:off x="432435" y="1221105"/>
            <a:ext cx="4181475" cy="43624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Research </a:t>
            </a:r>
            <a:endParaRPr lang="en-U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572135" y="1882140"/>
          <a:ext cx="2569845" cy="113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525"/>
                <a:gridCol w="1163320"/>
              </a:tblGrid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YEAR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DISK  TB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177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199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216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</a:t>
                      </a: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6146165" y="37871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572135" y="3787140"/>
          <a:ext cx="2873375" cy="90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510"/>
                <a:gridCol w="1840865"/>
              </a:tblGrid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YEAR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DISK  TB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2016-2017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2017-2018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2018 -2019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5765483" y="812800"/>
          <a:ext cx="51339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32435" y="561340"/>
            <a:ext cx="4001770" cy="65976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HPC Storage  </a:t>
            </a:r>
            <a:endParaRPr lang="en-US" altLang="en-US"/>
          </a:p>
        </p:txBody>
      </p:sp>
      <p:sp>
        <p:nvSpPr>
          <p:cNvPr id="15" name="Title 2"/>
          <p:cNvSpPr>
            <a:spLocks noGrp="1"/>
          </p:cNvSpPr>
          <p:nvPr/>
        </p:nvSpPr>
        <p:spPr>
          <a:xfrm>
            <a:off x="432435" y="1221105"/>
            <a:ext cx="4181475" cy="43624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SAN &amp; NAS </a:t>
            </a:r>
            <a:endParaRPr lang="en-U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421005" y="1892300"/>
          <a:ext cx="2444750" cy="113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070"/>
                <a:gridCol w="1376680"/>
              </a:tblGrid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YEAR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DISK in TB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2016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102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2018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183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2019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267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/>
        </p:nvGraphicFramePr>
        <p:xfrm>
          <a:off x="572135" y="3998595"/>
          <a:ext cx="2080260" cy="90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0"/>
                <a:gridCol w="1052830"/>
              </a:tblGrid>
              <a:tr h="2260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YEAR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DISK in TB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2016-2017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2017-2018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81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2018 -2019 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84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4498340" y="7626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4434205" y="38887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32435" y="561340"/>
            <a:ext cx="4001770" cy="65976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8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 Storage Requirement  </a:t>
            </a:r>
            <a:endParaRPr lang="en-US" altLang="en-US"/>
          </a:p>
        </p:txBody>
      </p:sp>
      <p:graphicFrame>
        <p:nvGraphicFramePr>
          <p:cNvPr id="2" name="Table 1"/>
          <p:cNvGraphicFramePr/>
          <p:nvPr/>
        </p:nvGraphicFramePr>
        <p:xfrm>
          <a:off x="4425950" y="2750820"/>
          <a:ext cx="3343275" cy="121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1244600"/>
              </a:tblGrid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Usage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Storage in TB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VM Datastore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</a:t>
                      </a: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NAS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220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0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SAN for HPC 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152</a:t>
                      </a:r>
                      <a:endParaRPr 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Needed for </a:t>
                      </a:r>
                      <a:r>
                        <a:rPr lang="en-US" alt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Next Year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261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charset="-122"/>
                        </a:rPr>
                        <a:t>938</a:t>
                      </a:r>
                      <a:endParaRPr lang="en-US" sz="11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Backup 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Research Resource Usage Calculation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32435" y="561340"/>
            <a:ext cx="4001770" cy="659765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8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 Backup Requirement  </a:t>
            </a:r>
            <a:endParaRPr lang="en-US" alt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528955" y="1560703"/>
          <a:ext cx="171069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751205"/>
                <a:gridCol w="808355"/>
                <a:gridCol w="612140"/>
                <a:gridCol w="1739265"/>
                <a:gridCol w="1346835"/>
                <a:gridCol w="1420495"/>
                <a:gridCol w="1102360"/>
                <a:gridCol w="1045210"/>
                <a:gridCol w="718185"/>
              </a:tblGrid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Backup 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Capacity TB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Consumed TB 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Free TB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Backup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Current backup status 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Expected growth in  %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Expected growth in TB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Disk TB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Backup in TB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VM OS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9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(Backup is taken by Veem 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7.8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VM - Project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153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117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107.1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260.1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VM - Home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2.2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2.8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(Backup is taken by Veem 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1.54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3.74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MI HPC - HOME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27.648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5.202944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16.181248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3.6420608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8.8450048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9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MI HPC Project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176.128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134.3949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117.757952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94.07643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228.47133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 MI HPC apps - IBM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2.146304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1.144832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1.05472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(Backup is taken by bacula)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0.2289664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1.3737984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2533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MI HPC -  project - bioinformatic/rawdata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11.264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8.8064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2.048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(Backup is taken by bacula)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1.76128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10.56768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MI HPC -  project - bioinformatic/operations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25.6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5.9392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20.48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1.18784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7.12704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3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MI HPC -  project  - bioinformatic/results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35.84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4.1984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31.744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(Backup is taken by bacula)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0.83968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5.03808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MI HPC - Backup - OS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2.048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1.536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0.566272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(To NAS Cristie Backup)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0.1536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1.6896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MI HPC - Backup -XCATDB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3.5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(To NAS Script Backup)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0.35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3.85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SAN HPC Home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96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33.792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64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(To ADRIC SAN Storage 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23.6544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57.4464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57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SAN HPC Apps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0.7168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5.4272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 (To ADRIC SAN Storage )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0.50176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1.21856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NAS -Apps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1.124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0.881082874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0.242917126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Yes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70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0.616758012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1.497840886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NAS - Project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4.864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0.550482975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4.313517025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0.055048298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0.605531273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ADRIC SAN Storage 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583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115.79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467.21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No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10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11.579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charset="-122"/>
                        </a:rPr>
                        <a:t>127.369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415"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700" b="0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Total Backup Disk TB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charset="-122"/>
                        </a:rPr>
                        <a:t>103 </a:t>
                      </a:r>
                      <a:endParaRPr lang="en-US" sz="700" b="1">
                        <a:solidFill>
                          <a:srgbClr val="000000"/>
                        </a:solidFill>
                        <a:latin typeface="Calibri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0</TotalTime>
  <Words>6715</Words>
  <Application>WPS Presentation</Application>
  <PresentationFormat>Widescreen</PresentationFormat>
  <Paragraphs>1510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微软雅黑</vt:lpstr>
      <vt:lpstr>Monospace</vt:lpstr>
      <vt:lpstr>Arial Unicode MS</vt:lpstr>
      <vt:lpstr>Times New Roman</vt:lpstr>
      <vt:lpstr>KU Theme</vt:lpstr>
      <vt:lpstr>Research Resource Usage Calculation</vt:lpstr>
      <vt:lpstr>VM Resource</vt:lpstr>
      <vt:lpstr>VM Resource</vt:lpstr>
      <vt:lpstr>PowerPoint 演示文稿</vt:lpstr>
      <vt:lpstr>ESXI Hardware</vt:lpstr>
      <vt:lpstr>Physical Servers </vt:lpstr>
      <vt:lpstr>Physical Servers</vt:lpstr>
      <vt:lpstr>PowerPoint 演示文稿</vt:lpstr>
      <vt:lpstr>PowerPoint 演示文稿</vt:lpstr>
      <vt:lpstr>Storage </vt:lpstr>
      <vt:lpstr>PowerPoint 演示文稿</vt:lpstr>
      <vt:lpstr>PowerPoint 演示文稿</vt:lpstr>
      <vt:lpstr>PowerPoint 演示文稿</vt:lpstr>
      <vt:lpstr>Backup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sillikkal</cp:lastModifiedBy>
  <cp:revision>40</cp:revision>
  <dcterms:created xsi:type="dcterms:W3CDTF">2019-07-09T08:31:31Z</dcterms:created>
  <dcterms:modified xsi:type="dcterms:W3CDTF">2019-07-09T08:31:31Z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1033-11.1.0.8722</vt:lpwstr>
  </property>
</Properties>
</file>