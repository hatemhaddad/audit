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3" r:id="rId2"/>
    <p:sldId id="293" r:id="rId3"/>
    <p:sldId id="282" r:id="rId4"/>
    <p:sldId id="280" r:id="rId5"/>
    <p:sldId id="290" r:id="rId6"/>
    <p:sldId id="291" r:id="rId7"/>
    <p:sldId id="292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5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DB136-1229-474E-AC4A-60C04F8B27AF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2D54B-46E3-4EB7-BD17-1A0E452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811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49B48-1C08-4775-A344-BB29E8D843B1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A054C-12CD-43B8-B32C-971F1B7E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340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w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4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3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9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8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11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9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9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01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984954926"/>
              </p:ext>
            </p:extLst>
          </p:nvPr>
        </p:nvGraphicFramePr>
        <p:xfrm>
          <a:off x="7965650" y="700902"/>
          <a:ext cx="3663840" cy="51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17480" imgH="353520" progId="">
                  <p:embed/>
                </p:oleObj>
              </mc:Choice>
              <mc:Fallback>
                <p:oleObj r:id="rId3" imgW="2517480" imgH="3535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65650" y="700902"/>
                        <a:ext cx="3663840" cy="515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15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>
            <a:spLocks noGrp="1"/>
          </p:cNvSpPr>
          <p:nvPr>
            <p:ph type="ctrTitle"/>
          </p:nvPr>
        </p:nvSpPr>
        <p:spPr>
          <a:xfrm>
            <a:off x="1558859" y="2656384"/>
            <a:ext cx="9807115" cy="667459"/>
          </a:xfrm>
        </p:spPr>
        <p:txBody>
          <a:bodyPr>
            <a:noAutofit/>
          </a:bodyPr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Status of the seed project and a plan for developing the collaboration projects under KUTC  </a:t>
            </a:r>
            <a:b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</a:br>
            <a:endParaRPr lang="en-US" sz="30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00772" y="5481013"/>
            <a:ext cx="7523285" cy="835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July 6, 2020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Khalifa University of Science and Technology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737" y="3179491"/>
            <a:ext cx="4597361" cy="12553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556" y="4757851"/>
            <a:ext cx="3231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Daniel Choi, Jeremie Pelletier</a:t>
            </a:r>
          </a:p>
        </p:txBody>
      </p:sp>
    </p:spTree>
    <p:extLst>
      <p:ext uri="{BB962C8B-B14F-4D97-AF65-F5344CB8AC3E}">
        <p14:creationId xmlns:p14="http://schemas.microsoft.com/office/powerpoint/2010/main" val="389118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/>
          <p:cNvSpPr>
            <a:spLocks noGrp="1"/>
          </p:cNvSpPr>
          <p:nvPr>
            <p:ph type="ctrTitle"/>
          </p:nvPr>
        </p:nvSpPr>
        <p:spPr>
          <a:xfrm>
            <a:off x="1524744" y="1491963"/>
            <a:ext cx="9120554" cy="667459"/>
          </a:xfrm>
        </p:spPr>
        <p:txBody>
          <a:bodyPr/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Launched KUTC on Nov. 26, 2019!</a:t>
            </a:r>
            <a:endParaRPr lang="en-US" sz="36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5425" y="6420084"/>
            <a:ext cx="1121299" cy="238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4e20784a-caff-43f7-b038-afacbbd942ab" descr="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71" y="3213568"/>
            <a:ext cx="3757091" cy="2254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417" y="2604438"/>
            <a:ext cx="3555194" cy="34725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318" y="2511720"/>
            <a:ext cx="3030071" cy="27199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401" y="4960645"/>
            <a:ext cx="2145202" cy="14277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8845" y="3502183"/>
            <a:ext cx="2695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Abu Dhabi DED’s congrats remarks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3611" y="3132851"/>
            <a:ext cx="217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Korea Ministry of Science’s </a:t>
            </a:r>
          </a:p>
          <a:p>
            <a:r>
              <a:rPr lang="en-US" sz="1400" dirty="0"/>
              <a:t>congrats remarks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4899" y="6016312"/>
            <a:ext cx="2082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Signing by the leaderships</a:t>
            </a:r>
          </a:p>
          <a:p>
            <a:r>
              <a:rPr lang="en-US" sz="1400" dirty="0"/>
              <a:t>(KU and KBSI)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8687413" y="4423518"/>
          <a:ext cx="3361748" cy="1679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014560" imgH="1005840" progId="">
                  <p:embed/>
                </p:oleObj>
              </mc:Choice>
              <mc:Fallback>
                <p:oleObj r:id="rId6" imgW="2014560" imgH="1005840" progId="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87413" y="4423518"/>
                        <a:ext cx="3361748" cy="1679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117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5"/>
          <p:cNvSpPr txBox="1">
            <a:spLocks/>
          </p:cNvSpPr>
          <p:nvPr/>
        </p:nvSpPr>
        <p:spPr>
          <a:xfrm>
            <a:off x="769270" y="1672783"/>
            <a:ext cx="10939986" cy="667459"/>
          </a:xfrm>
          <a:prstGeom prst="rect">
            <a:avLst/>
          </a:prstGeom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1800" b="0" i="0" kern="1200">
                <a:solidFill>
                  <a:srgbClr val="007AA5"/>
                </a:solidFill>
                <a:latin typeface="DINPro-Medium"/>
                <a:ea typeface="ＭＳ Ｐゴシック" charset="-128"/>
                <a:cs typeface="ＭＳ Ｐゴシック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 algn="ctr" defTabSz="673547" eaLnBrk="1" hangingPunct="1"/>
            <a:r>
              <a:rPr lang="en-US" sz="2600" kern="0" dirty="0"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First </a:t>
            </a:r>
            <a:r>
              <a:rPr lang="en-US" sz="2600" kern="0" dirty="0">
                <a:solidFill>
                  <a:schemeClr val="bg2">
                    <a:lumMod val="50000"/>
                  </a:schemeClr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Seed Project </a:t>
            </a:r>
            <a:r>
              <a:rPr lang="en-US" sz="2600" kern="0" dirty="0"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Under KUTC (kicked off on 26</a:t>
            </a:r>
            <a:r>
              <a:rPr lang="en-US" sz="2600" kern="0" baseline="30000" dirty="0"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th</a:t>
            </a:r>
            <a:r>
              <a:rPr lang="en-US" sz="2600" kern="0" dirty="0"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 November 2019)</a:t>
            </a:r>
          </a:p>
          <a:p>
            <a:pPr algn="ctr" defTabSz="673547" eaLnBrk="1" hangingPunct="1"/>
            <a:endParaRPr lang="en-US" sz="2600" kern="0" dirty="0"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44" name="Pentagon 43"/>
          <p:cNvSpPr/>
          <p:nvPr/>
        </p:nvSpPr>
        <p:spPr>
          <a:xfrm>
            <a:off x="739927" y="2339932"/>
            <a:ext cx="11052679" cy="1048456"/>
          </a:xfrm>
          <a:prstGeom prst="homePlate">
            <a:avLst>
              <a:gd name="adj" fmla="val 34962"/>
            </a:avLst>
          </a:prstGeom>
          <a:solidFill>
            <a:srgbClr val="4F81B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45" name="Rounded Rectangle 3"/>
          <p:cNvSpPr/>
          <p:nvPr/>
        </p:nvSpPr>
        <p:spPr>
          <a:xfrm>
            <a:off x="1019774" y="2271195"/>
            <a:ext cx="5050767" cy="1215054"/>
          </a:xfrm>
          <a:prstGeom prst="roundRect">
            <a:avLst>
              <a:gd name="adj" fmla="val 10925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0"/>
          </a:gradFill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Development of solid electrolytes for harsh environment batteries</a:t>
            </a:r>
            <a:endParaRPr lang="en-US" sz="2400" b="1" dirty="0"/>
          </a:p>
        </p:txBody>
      </p:sp>
      <p:sp>
        <p:nvSpPr>
          <p:cNvPr id="50" name="Rounded Rectangle 49"/>
          <p:cNvSpPr/>
          <p:nvPr/>
        </p:nvSpPr>
        <p:spPr>
          <a:xfrm>
            <a:off x="8598310" y="3645472"/>
            <a:ext cx="3471637" cy="2875427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703201" y="3757592"/>
            <a:ext cx="33667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/>
              <a:t>Target:</a:t>
            </a:r>
          </a:p>
          <a:p>
            <a:pPr lvl="0"/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Solid electrolytes with carbon nanocomposites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 internal heating at low temperature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Low cost process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Reduced weight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599481" y="2488128"/>
            <a:ext cx="25649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KBSI PI: Dr. </a:t>
            </a:r>
            <a:r>
              <a:rPr lang="en-US" sz="2000" dirty="0" err="1"/>
              <a:t>Hae</a:t>
            </a:r>
            <a:r>
              <a:rPr lang="en-US" sz="2000" dirty="0"/>
              <a:t> Jin Kim</a:t>
            </a:r>
          </a:p>
          <a:p>
            <a:r>
              <a:rPr lang="en-US" sz="2000" dirty="0"/>
              <a:t>KU PI: Dr. Daniel Choi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938470"/>
              </p:ext>
            </p:extLst>
          </p:nvPr>
        </p:nvGraphicFramePr>
        <p:xfrm>
          <a:off x="113177" y="3616935"/>
          <a:ext cx="8381894" cy="309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905">
                  <a:extLst>
                    <a:ext uri="{9D8B030D-6E8A-4147-A177-3AD203B41FA5}">
                      <a16:colId xmlns:a16="http://schemas.microsoft.com/office/drawing/2014/main" val="3632261836"/>
                    </a:ext>
                  </a:extLst>
                </a:gridCol>
                <a:gridCol w="1120905">
                  <a:extLst>
                    <a:ext uri="{9D8B030D-6E8A-4147-A177-3AD203B41FA5}">
                      <a16:colId xmlns:a16="http://schemas.microsoft.com/office/drawing/2014/main" val="5546041"/>
                    </a:ext>
                  </a:extLst>
                </a:gridCol>
                <a:gridCol w="1435976">
                  <a:extLst>
                    <a:ext uri="{9D8B030D-6E8A-4147-A177-3AD203B41FA5}">
                      <a16:colId xmlns:a16="http://schemas.microsoft.com/office/drawing/2014/main" val="3872098274"/>
                    </a:ext>
                  </a:extLst>
                </a:gridCol>
                <a:gridCol w="1484999">
                  <a:extLst>
                    <a:ext uri="{9D8B030D-6E8A-4147-A177-3AD203B41FA5}">
                      <a16:colId xmlns:a16="http://schemas.microsoft.com/office/drawing/2014/main" val="4206349516"/>
                    </a:ext>
                  </a:extLst>
                </a:gridCol>
                <a:gridCol w="441740">
                  <a:extLst>
                    <a:ext uri="{9D8B030D-6E8A-4147-A177-3AD203B41FA5}">
                      <a16:colId xmlns:a16="http://schemas.microsoft.com/office/drawing/2014/main" val="2279311007"/>
                    </a:ext>
                  </a:extLst>
                </a:gridCol>
                <a:gridCol w="1426486">
                  <a:extLst>
                    <a:ext uri="{9D8B030D-6E8A-4147-A177-3AD203B41FA5}">
                      <a16:colId xmlns:a16="http://schemas.microsoft.com/office/drawing/2014/main" val="780664108"/>
                    </a:ext>
                  </a:extLst>
                </a:gridCol>
                <a:gridCol w="1350883">
                  <a:extLst>
                    <a:ext uri="{9D8B030D-6E8A-4147-A177-3AD203B41FA5}">
                      <a16:colId xmlns:a16="http://schemas.microsoft.com/office/drawing/2014/main" val="3607145679"/>
                    </a:ext>
                  </a:extLst>
                </a:gridCol>
              </a:tblGrid>
              <a:tr h="1355582">
                <a:tc>
                  <a:txBody>
                    <a:bodyPr/>
                    <a:lstStyle/>
                    <a:p>
                      <a:r>
                        <a:rPr lang="en-US" dirty="0"/>
                        <a:t>KU Staff</a:t>
                      </a:r>
                    </a:p>
                    <a:p>
                      <a:r>
                        <a:rPr lang="en-US" dirty="0"/>
                        <a:t>(Planned/status)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KBSI (Planned/status)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Meeting frequencies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Team’s visit to counterpart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Proposal submitted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501018"/>
                  </a:ext>
                </a:extLst>
              </a:tr>
              <a:tr h="1355582">
                <a:tc>
                  <a:txBody>
                    <a:bodyPr/>
                    <a:lstStyle/>
                    <a:p>
                      <a:r>
                        <a:rPr lang="en-US" dirty="0"/>
                        <a:t>1 Postdoc/1 Postdoc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research staffs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(1</a:t>
                      </a:r>
                      <a:r>
                        <a:rPr lang="en-US" baseline="0" dirty="0"/>
                        <a:t> phone meeting, 1 video-call) + multiple e-mail exchanges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Review paper is in preparation (KU)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KBSI</a:t>
                      </a:r>
                      <a:r>
                        <a:rPr lang="en-US" baseline="0" dirty="0"/>
                        <a:t> staffs’ visit to KU (1 month)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Joint proposal</a:t>
                      </a:r>
                      <a:r>
                        <a:rPr lang="en-US" baseline="0" dirty="0"/>
                        <a:t> (in preparation)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73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62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/>
          <p:cNvSpPr>
            <a:spLocks noGrp="1"/>
          </p:cNvSpPr>
          <p:nvPr>
            <p:ph type="ctrTitle"/>
          </p:nvPr>
        </p:nvSpPr>
        <p:spPr>
          <a:xfrm>
            <a:off x="1148589" y="1441256"/>
            <a:ext cx="10457910" cy="667459"/>
          </a:xfrm>
        </p:spPr>
        <p:txBody>
          <a:bodyPr>
            <a:noAutofit/>
          </a:bodyPr>
          <a:lstStyle/>
          <a:p>
            <a:pPr lvl="0" defTabSz="673547" eaLnBrk="1" hangingPunct="1"/>
            <a:r>
              <a:rPr lang="en-US" sz="26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Development of the Joint Projects: Directed Call for Proposals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7760" y="2256198"/>
            <a:ext cx="965956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/>
              <a:t>Competitive award</a:t>
            </a:r>
            <a:endParaRPr lang="en-US" sz="2200" dirty="0"/>
          </a:p>
          <a:p>
            <a:pPr lvl="0"/>
            <a:endParaRPr lang="en-US" sz="22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/>
              <a:t>Focused areas: </a:t>
            </a:r>
            <a:r>
              <a:rPr lang="en-US" sz="2200" b="1" dirty="0">
                <a:solidFill>
                  <a:srgbClr val="0000FF"/>
                </a:solidFill>
              </a:rPr>
              <a:t>Energy, oil &amp; gas/catalysts, health, semiconductor devices and characterization, and more</a:t>
            </a:r>
          </a:p>
          <a:p>
            <a:pPr lvl="0"/>
            <a:endParaRPr lang="en-US" sz="2200" b="1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/>
              <a:t>Bottom-up formation of teams</a:t>
            </a:r>
          </a:p>
          <a:p>
            <a:pPr lvl="0"/>
            <a:endParaRPr lang="en-US" sz="2200" b="1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/>
              <a:t>Task plan based on complementary work</a:t>
            </a:r>
          </a:p>
          <a:p>
            <a:pPr lvl="0"/>
            <a:r>
              <a:rPr lang="en-US" sz="2200" b="1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/>
              <a:t>$100K/year/project (PI of each institute) for 3 years </a:t>
            </a:r>
            <a:r>
              <a:rPr lang="en-US" sz="2200" b="1" i="1" dirty="0"/>
              <a:t>(Next round to be kicked off in January 2021)</a:t>
            </a:r>
          </a:p>
          <a:p>
            <a:pPr lvl="0"/>
            <a:endParaRPr lang="en-US" sz="2200" b="1" i="1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/>
              <a:t>Option: Linked to NST’s Global Joint Research Program</a:t>
            </a:r>
          </a:p>
        </p:txBody>
      </p:sp>
    </p:spTree>
    <p:extLst>
      <p:ext uri="{BB962C8B-B14F-4D97-AF65-F5344CB8AC3E}">
        <p14:creationId xmlns:p14="http://schemas.microsoft.com/office/powerpoint/2010/main" val="4248419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/>
          <p:cNvSpPr>
            <a:spLocks noGrp="1"/>
          </p:cNvSpPr>
          <p:nvPr>
            <p:ph type="ctrTitle"/>
          </p:nvPr>
        </p:nvSpPr>
        <p:spPr>
          <a:xfrm>
            <a:off x="1605425" y="1536512"/>
            <a:ext cx="9120554" cy="667459"/>
          </a:xfrm>
        </p:spPr>
        <p:txBody>
          <a:bodyPr/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Time table for project development</a:t>
            </a:r>
            <a:endParaRPr lang="en-US" sz="36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5425" y="6420084"/>
            <a:ext cx="1121299" cy="238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3"/>
          <p:cNvSpPr/>
          <p:nvPr/>
        </p:nvSpPr>
        <p:spPr>
          <a:xfrm>
            <a:off x="719512" y="2345824"/>
            <a:ext cx="9843622" cy="648000"/>
          </a:xfrm>
          <a:prstGeom prst="roundRect">
            <a:avLst>
              <a:gd name="adj" fmla="val 10925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0"/>
          </a:gradFill>
          <a:ln w="38100">
            <a:solidFill>
              <a:srgbClr val="632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722221" y="2330548"/>
            <a:ext cx="1638395" cy="648000"/>
          </a:xfrm>
          <a:prstGeom prst="roundRect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61584" y="2421179"/>
            <a:ext cx="135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Aug </a:t>
            </a:r>
            <a:r>
              <a:rPr lang="en-US" sz="2400" b="1" dirty="0">
                <a:solidFill>
                  <a:srgbClr val="0000FF"/>
                </a:solidFill>
              </a:rPr>
              <a:t>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2048" y="2438054"/>
            <a:ext cx="1569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Jan </a:t>
            </a:r>
            <a:r>
              <a:rPr lang="en-US" sz="2400" b="1" dirty="0">
                <a:solidFill>
                  <a:srgbClr val="0000FF"/>
                </a:solidFill>
              </a:rPr>
              <a:t>2021</a:t>
            </a:r>
          </a:p>
        </p:txBody>
      </p:sp>
      <p:sp>
        <p:nvSpPr>
          <p:cNvPr id="42" name="오른쪽 화살표 42"/>
          <p:cNvSpPr/>
          <p:nvPr/>
        </p:nvSpPr>
        <p:spPr>
          <a:xfrm rot="16200000">
            <a:off x="306219" y="3452490"/>
            <a:ext cx="1232665" cy="37086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오른쪽 화살표 42"/>
          <p:cNvSpPr/>
          <p:nvPr/>
        </p:nvSpPr>
        <p:spPr>
          <a:xfrm rot="16200000">
            <a:off x="1074691" y="3980348"/>
            <a:ext cx="2349562" cy="37086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그룹 29"/>
          <p:cNvGrpSpPr/>
          <p:nvPr/>
        </p:nvGrpSpPr>
        <p:grpSpPr>
          <a:xfrm>
            <a:off x="1995274" y="4026723"/>
            <a:ext cx="1677536" cy="1521146"/>
            <a:chOff x="579938" y="1495304"/>
            <a:chExt cx="2665234" cy="2430452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48" name="모서리가 둥근 직사각형 30"/>
            <p:cNvSpPr/>
            <p:nvPr/>
          </p:nvSpPr>
          <p:spPr>
            <a:xfrm>
              <a:off x="579938" y="1495304"/>
              <a:ext cx="2665234" cy="2430452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37475" y="1901863"/>
              <a:ext cx="2350158" cy="1475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Announce </a:t>
              </a:r>
            </a:p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call for white papers</a:t>
              </a:r>
              <a:endPara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endParaRPr>
            </a:p>
          </p:txBody>
        </p:sp>
      </p:grpSp>
      <p:sp>
        <p:nvSpPr>
          <p:cNvPr id="50" name="오른쪽 화살표 42"/>
          <p:cNvSpPr/>
          <p:nvPr/>
        </p:nvSpPr>
        <p:spPr>
          <a:xfrm rot="16200000">
            <a:off x="2806939" y="3887401"/>
            <a:ext cx="2188570" cy="37086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그룹 29"/>
          <p:cNvGrpSpPr/>
          <p:nvPr/>
        </p:nvGrpSpPr>
        <p:grpSpPr>
          <a:xfrm>
            <a:off x="3743432" y="3507558"/>
            <a:ext cx="1469952" cy="2563550"/>
            <a:chOff x="579938" y="1495304"/>
            <a:chExt cx="2178626" cy="3677525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52" name="모서리가 둥근 직사각형 30"/>
            <p:cNvSpPr/>
            <p:nvPr/>
          </p:nvSpPr>
          <p:spPr>
            <a:xfrm>
              <a:off x="579938" y="1495304"/>
              <a:ext cx="2178626" cy="3677525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9047" y="1654510"/>
              <a:ext cx="2032825" cy="3311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Submission of white papers</a:t>
              </a:r>
            </a:p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by KU faculty</a:t>
              </a:r>
            </a:p>
            <a:p>
              <a:pPr algn="ctr"/>
              <a:r>
                <a: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identifying KBSI focused area lead</a:t>
              </a:r>
            </a:p>
          </p:txBody>
        </p:sp>
      </p:grpSp>
      <p:sp>
        <p:nvSpPr>
          <p:cNvPr id="59" name="오른쪽 화살표 42"/>
          <p:cNvSpPr/>
          <p:nvPr/>
        </p:nvSpPr>
        <p:spPr>
          <a:xfrm rot="16200000">
            <a:off x="8112038" y="3446245"/>
            <a:ext cx="1245155" cy="37086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그룹 29"/>
          <p:cNvGrpSpPr/>
          <p:nvPr/>
        </p:nvGrpSpPr>
        <p:grpSpPr>
          <a:xfrm>
            <a:off x="8264698" y="3800728"/>
            <a:ext cx="1859185" cy="2858253"/>
            <a:chOff x="-70293" y="1620633"/>
            <a:chExt cx="3079544" cy="3046313"/>
          </a:xfrm>
          <a:solidFill>
            <a:schemeClr val="accent3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모서리가 둥근 직사각형 30"/>
            <p:cNvSpPr/>
            <p:nvPr/>
          </p:nvSpPr>
          <p:spPr>
            <a:xfrm>
              <a:off x="-70293" y="1620633"/>
              <a:ext cx="3079544" cy="3046313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5868" y="1784211"/>
              <a:ext cx="2940160" cy="2755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+mn-lt"/>
                </a:rPr>
                <a:t>Selection of the projects by proposal selection committee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(KUTC directors, KU center directors, KBSI management)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63" name="오른쪽 화살표 42"/>
          <p:cNvSpPr/>
          <p:nvPr/>
        </p:nvSpPr>
        <p:spPr>
          <a:xfrm rot="16200000">
            <a:off x="9640492" y="3543726"/>
            <a:ext cx="1474420" cy="37086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그룹 29"/>
          <p:cNvGrpSpPr/>
          <p:nvPr/>
        </p:nvGrpSpPr>
        <p:grpSpPr>
          <a:xfrm>
            <a:off x="10222995" y="4072833"/>
            <a:ext cx="1607671" cy="1876624"/>
            <a:chOff x="579938" y="1495305"/>
            <a:chExt cx="2665234" cy="3159422"/>
          </a:xfrm>
          <a:solidFill>
            <a:schemeClr val="accent3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5" name="모서리가 둥근 직사각형 30"/>
            <p:cNvSpPr/>
            <p:nvPr/>
          </p:nvSpPr>
          <p:spPr>
            <a:xfrm>
              <a:off x="579938" y="1495305"/>
              <a:ext cx="2665234" cy="3061215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06685" y="2044673"/>
              <a:ext cx="2350160" cy="2610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+mn-lt"/>
                </a:rPr>
                <a:t>Kick off the awarded projects</a:t>
              </a:r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2360616" y="2330548"/>
            <a:ext cx="1638395" cy="648000"/>
          </a:xfrm>
          <a:prstGeom prst="roundRect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85"/>
          <p:cNvSpPr/>
          <p:nvPr/>
        </p:nvSpPr>
        <p:spPr>
          <a:xfrm>
            <a:off x="3999011" y="2353834"/>
            <a:ext cx="1638395" cy="648000"/>
          </a:xfrm>
          <a:prstGeom prst="roundRect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le 87"/>
          <p:cNvSpPr/>
          <p:nvPr/>
        </p:nvSpPr>
        <p:spPr>
          <a:xfrm>
            <a:off x="5647948" y="2353834"/>
            <a:ext cx="1638395" cy="648000"/>
          </a:xfrm>
          <a:prstGeom prst="roundRect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ounded Rectangle 89"/>
          <p:cNvSpPr/>
          <p:nvPr/>
        </p:nvSpPr>
        <p:spPr>
          <a:xfrm>
            <a:off x="7286343" y="2353834"/>
            <a:ext cx="1638395" cy="648000"/>
          </a:xfrm>
          <a:prstGeom prst="roundRect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ounded Rectangle 91"/>
          <p:cNvSpPr/>
          <p:nvPr/>
        </p:nvSpPr>
        <p:spPr>
          <a:xfrm>
            <a:off x="8924738" y="2353834"/>
            <a:ext cx="1638395" cy="648000"/>
          </a:xfrm>
          <a:prstGeom prst="roundRect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10573676" y="2147871"/>
            <a:ext cx="1135580" cy="100828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2871727" y="2421179"/>
            <a:ext cx="742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Sept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457859" y="2421179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Oct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156803" y="2421179"/>
            <a:ext cx="683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Nov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798164" y="2421178"/>
            <a:ext cx="657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Dec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47446" y="4120619"/>
            <a:ext cx="1645403" cy="19745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275" endPos="40000" dist="1016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364928" y="4311540"/>
            <a:ext cx="14710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Identify KBSI focused area leads &amp; prepare focused area descriptions</a:t>
            </a:r>
          </a:p>
        </p:txBody>
      </p:sp>
      <p:sp>
        <p:nvSpPr>
          <p:cNvPr id="101" name="오른쪽 화살표 42"/>
          <p:cNvSpPr/>
          <p:nvPr/>
        </p:nvSpPr>
        <p:spPr>
          <a:xfrm rot="16200000">
            <a:off x="6533817" y="3437195"/>
            <a:ext cx="1263256" cy="37086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그룹 29"/>
          <p:cNvGrpSpPr/>
          <p:nvPr/>
        </p:nvGrpSpPr>
        <p:grpSpPr>
          <a:xfrm>
            <a:off x="6222773" y="3432227"/>
            <a:ext cx="1720326" cy="1157834"/>
            <a:chOff x="579938" y="1495304"/>
            <a:chExt cx="2178626" cy="236060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6" name="모서리가 둥근 직사각형 30"/>
            <p:cNvSpPr/>
            <p:nvPr/>
          </p:nvSpPr>
          <p:spPr>
            <a:xfrm>
              <a:off x="579938" y="1495304"/>
              <a:ext cx="2178626" cy="2360601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80996" y="1845280"/>
              <a:ext cx="2032825" cy="188249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Submission of full proposals</a:t>
              </a:r>
            </a:p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Jointly</a:t>
              </a:r>
              <a:endPara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endParaRPr>
            </a:p>
          </p:txBody>
        </p:sp>
      </p:grpSp>
      <p:sp>
        <p:nvSpPr>
          <p:cNvPr id="108" name="오른쪽 화살표 42"/>
          <p:cNvSpPr/>
          <p:nvPr/>
        </p:nvSpPr>
        <p:spPr>
          <a:xfrm rot="16200000">
            <a:off x="4272651" y="4072731"/>
            <a:ext cx="2533938" cy="37086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그룹 29"/>
          <p:cNvGrpSpPr/>
          <p:nvPr/>
        </p:nvGrpSpPr>
        <p:grpSpPr>
          <a:xfrm>
            <a:off x="5289176" y="4698871"/>
            <a:ext cx="2876410" cy="2080362"/>
            <a:chOff x="611734" y="1424895"/>
            <a:chExt cx="2178626" cy="307448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10" name="모서리가 둥근 직사각형 30"/>
            <p:cNvSpPr/>
            <p:nvPr/>
          </p:nvSpPr>
          <p:spPr>
            <a:xfrm>
              <a:off x="611734" y="1424895"/>
              <a:ext cx="2178626" cy="3074484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71090" y="1624270"/>
              <a:ext cx="2032826" cy="2875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Invite to write full proposals by selection committee</a:t>
              </a:r>
            </a:p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(KUTC directors, </a:t>
              </a:r>
            </a:p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KU center directors, KBSI focused area leads)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581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510974" y="1834390"/>
            <a:ext cx="9120554" cy="667459"/>
          </a:xfrm>
        </p:spPr>
        <p:txBody>
          <a:bodyPr>
            <a:normAutofit/>
          </a:bodyPr>
          <a:lstStyle/>
          <a:p>
            <a:pPr lvl="0" defTabSz="673547" eaLnBrk="1" hangingPunct="1"/>
            <a:r>
              <a:rPr lang="en-US" sz="3000" kern="0" dirty="0">
                <a:solidFill>
                  <a:schemeClr val="accent6">
                    <a:lumMod val="75000"/>
                  </a:schemeClr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Challenges</a:t>
            </a:r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 currently faced by the center</a:t>
            </a:r>
            <a:endParaRPr lang="en-US" sz="36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30986" y="3004192"/>
            <a:ext cx="86005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Short term of </a:t>
            </a:r>
            <a:r>
              <a:rPr lang="en-US" sz="2200" dirty="0"/>
              <a:t>KBSI visiting scientist’s residency at KU (Difficulty in visiting scientist’s own research progress during residency at KU)</a:t>
            </a:r>
          </a:p>
          <a:p>
            <a:pPr lvl="0"/>
            <a:endParaRPr lang="en-US" sz="22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Reviewing/evaluation</a:t>
            </a:r>
            <a:r>
              <a:rPr lang="en-US" sz="2200" dirty="0"/>
              <a:t> of the progress in KUTC’s activities</a:t>
            </a:r>
          </a:p>
          <a:p>
            <a:pPr lvl="0"/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Lacking </a:t>
            </a:r>
            <a:r>
              <a:rPr lang="en-US" sz="2200" dirty="0"/>
              <a:t>in collaboration with other research centers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Lacking</a:t>
            </a:r>
            <a:r>
              <a:rPr lang="en-US" sz="2200" dirty="0"/>
              <a:t> in visibility of the center </a:t>
            </a:r>
          </a:p>
        </p:txBody>
      </p:sp>
    </p:spTree>
    <p:extLst>
      <p:ext uri="{BB962C8B-B14F-4D97-AF65-F5344CB8AC3E}">
        <p14:creationId xmlns:p14="http://schemas.microsoft.com/office/powerpoint/2010/main" val="166625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6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370864" y="1930254"/>
            <a:ext cx="9120554" cy="667459"/>
          </a:xfrm>
        </p:spPr>
        <p:txBody>
          <a:bodyPr>
            <a:normAutofit fontScale="90000"/>
          </a:bodyPr>
          <a:lstStyle/>
          <a:p>
            <a:pPr lvl="0" defTabSz="673547"/>
            <a:r>
              <a:rPr lang="en-US" sz="3000" kern="0" dirty="0">
                <a:solidFill>
                  <a:schemeClr val="accent6">
                    <a:lumMod val="75000"/>
                  </a:schemeClr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Strategic planning </a:t>
            </a:r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in order to bring </a:t>
            </a:r>
            <a:r>
              <a:rPr lang="en-US" sz="3000" kern="0" dirty="0">
                <a:solidFill>
                  <a:schemeClr val="tx1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KUTC </a:t>
            </a:r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to the next level of development</a:t>
            </a:r>
            <a:endParaRPr lang="en-US" sz="36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4238" y="2963463"/>
            <a:ext cx="99879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Identifying </a:t>
            </a:r>
            <a:r>
              <a:rPr lang="en-US" sz="2200" dirty="0"/>
              <a:t>more stakeholders from UAE side (government and industry sectors) to secure the co-funding in order to extend research focused areas into energy, catalysts, health, oil &amp; gas, semiconductors, etc.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Building</a:t>
            </a:r>
            <a:r>
              <a:rPr lang="en-US" sz="2200" dirty="0"/>
              <a:t> up advisory board by inviting top management from potential stakeholders nationally.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Acquiring</a:t>
            </a:r>
            <a:r>
              <a:rPr lang="en-US" sz="2200" dirty="0"/>
              <a:t> physical space within campus for improving visibility of the center and effective interaction with other research centers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Acknowledging</a:t>
            </a:r>
            <a:r>
              <a:rPr lang="en-US" sz="2200" dirty="0"/>
              <a:t> KUTC on the publications upon KUTC staff’s engagement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Developing </a:t>
            </a:r>
            <a:r>
              <a:rPr lang="en-US" sz="2200" dirty="0"/>
              <a:t>strategic plans for near term (1-2 years) and long-term (5 years)</a:t>
            </a:r>
          </a:p>
        </p:txBody>
      </p:sp>
    </p:spTree>
    <p:extLst>
      <p:ext uri="{BB962C8B-B14F-4D97-AF65-F5344CB8AC3E}">
        <p14:creationId xmlns:p14="http://schemas.microsoft.com/office/powerpoint/2010/main" val="2700601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>
            <a:spLocks noGrp="1"/>
          </p:cNvSpPr>
          <p:nvPr>
            <p:ph type="ctrTitle"/>
          </p:nvPr>
        </p:nvSpPr>
        <p:spPr>
          <a:xfrm>
            <a:off x="1557311" y="3586324"/>
            <a:ext cx="8725660" cy="719007"/>
          </a:xfrm>
        </p:spPr>
        <p:txBody>
          <a:bodyPr>
            <a:normAutofit fontScale="90000"/>
          </a:bodyPr>
          <a:lstStyle/>
          <a:p>
            <a:r>
              <a:rPr lang="en-US" sz="6000" b="0" dirty="0">
                <a:solidFill>
                  <a:srgbClr val="0168A9"/>
                </a:solidFill>
                <a:latin typeface="+mn-lt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80204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2284</TotalTime>
  <Words>521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Bold</vt:lpstr>
      <vt:lpstr>Calibri</vt:lpstr>
      <vt:lpstr>Calibri Light</vt:lpstr>
      <vt:lpstr>Wingdings</vt:lpstr>
      <vt:lpstr>Office Theme</vt:lpstr>
      <vt:lpstr>Status of the seed project and a plan for developing the collaboration projects under KUTC   </vt:lpstr>
      <vt:lpstr>Launched KUTC on Nov. 26, 2019!</vt:lpstr>
      <vt:lpstr>PowerPoint Presentation</vt:lpstr>
      <vt:lpstr>Development of the Joint Projects: Directed Call for Proposals</vt:lpstr>
      <vt:lpstr>Time table for project development</vt:lpstr>
      <vt:lpstr>Challenges currently faced by the center</vt:lpstr>
      <vt:lpstr>Strategic planning in order to bring KUTC to the next level of development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 Internal Research Fund</dc:title>
  <dc:creator>Blake Andrew Ashwell</dc:creator>
  <cp:lastModifiedBy>Daniel Choi</cp:lastModifiedBy>
  <cp:revision>167</cp:revision>
  <dcterms:created xsi:type="dcterms:W3CDTF">2018-04-12T05:05:10Z</dcterms:created>
  <dcterms:modified xsi:type="dcterms:W3CDTF">2023-02-28T09:17:21Z</dcterms:modified>
</cp:coreProperties>
</file>