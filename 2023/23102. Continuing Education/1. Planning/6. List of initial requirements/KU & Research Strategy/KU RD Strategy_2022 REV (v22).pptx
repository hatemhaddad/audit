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309" r:id="rId2"/>
    <p:sldId id="428" r:id="rId3"/>
    <p:sldId id="418" r:id="rId4"/>
    <p:sldId id="427" r:id="rId5"/>
    <p:sldId id="419" r:id="rId6"/>
    <p:sldId id="420" r:id="rId7"/>
    <p:sldId id="392" r:id="rId8"/>
    <p:sldId id="391" r:id="rId9"/>
    <p:sldId id="393" r:id="rId10"/>
    <p:sldId id="426" r:id="rId11"/>
    <p:sldId id="367" r:id="rId12"/>
    <p:sldId id="363" r:id="rId13"/>
    <p:sldId id="362" r:id="rId14"/>
    <p:sldId id="372" r:id="rId15"/>
    <p:sldId id="374" r:id="rId16"/>
    <p:sldId id="365" r:id="rId17"/>
    <p:sldId id="349" r:id="rId18"/>
    <p:sldId id="350" r:id="rId19"/>
    <p:sldId id="355" r:id="rId20"/>
    <p:sldId id="356" r:id="rId21"/>
    <p:sldId id="364" r:id="rId22"/>
    <p:sldId id="366" r:id="rId23"/>
    <p:sldId id="424" r:id="rId24"/>
    <p:sldId id="425" r:id="rId25"/>
    <p:sldId id="437" r:id="rId26"/>
    <p:sldId id="436" r:id="rId27"/>
    <p:sldId id="352" r:id="rId28"/>
    <p:sldId id="361" r:id="rId29"/>
    <p:sldId id="423" r:id="rId30"/>
    <p:sldId id="388" r:id="rId31"/>
    <p:sldId id="371" r:id="rId32"/>
    <p:sldId id="383" r:id="rId33"/>
    <p:sldId id="386" r:id="rId34"/>
    <p:sldId id="385" r:id="rId35"/>
    <p:sldId id="375" r:id="rId36"/>
    <p:sldId id="389" r:id="rId37"/>
    <p:sldId id="417" r:id="rId38"/>
    <p:sldId id="324" r:id="rId39"/>
    <p:sldId id="360" r:id="rId40"/>
    <p:sldId id="336" r:id="rId41"/>
    <p:sldId id="341" r:id="rId42"/>
    <p:sldId id="339" r:id="rId43"/>
    <p:sldId id="345" r:id="rId44"/>
    <p:sldId id="325" r:id="rId45"/>
    <p:sldId id="343" r:id="rId46"/>
    <p:sldId id="338" r:id="rId47"/>
    <p:sldId id="332" r:id="rId48"/>
    <p:sldId id="359" r:id="rId49"/>
    <p:sldId id="331" r:id="rId50"/>
    <p:sldId id="429" r:id="rId51"/>
    <p:sldId id="434" r:id="rId52"/>
    <p:sldId id="435" r:id="rId53"/>
    <p:sldId id="430" r:id="rId54"/>
    <p:sldId id="431" r:id="rId55"/>
    <p:sldId id="432" r:id="rId56"/>
    <p:sldId id="433" r:id="rId57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37CECE6-CD00-575B-A27F-A70AB65221D6}" name="Ahmed Al-Durra" initials="AAD" userId="2d6583f242da6c0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8235"/>
    <a:srgbClr val="0047BA"/>
    <a:srgbClr val="333F50"/>
    <a:srgbClr val="FF0000"/>
    <a:srgbClr val="7BB5A6"/>
    <a:srgbClr val="C00000"/>
    <a:srgbClr val="990033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F08584-3C0C-4E00-8EA2-69FED9D084A4}" v="259" dt="2022-06-02T05:19:58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10" autoAdjust="0"/>
    <p:restoredTop sz="95238" autoAdjust="0"/>
  </p:normalViewPr>
  <p:slideViewPr>
    <p:cSldViewPr snapToGrid="0">
      <p:cViewPr varScale="1">
        <p:scale>
          <a:sx n="93" d="100"/>
          <a:sy n="93" d="100"/>
        </p:scale>
        <p:origin x="511" y="8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8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5374F-018B-480B-A25B-0821E5C0F765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6D618-D884-403E-B873-1F6B8EC7B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27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10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72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82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83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16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52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12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9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ARF (from</a:t>
            </a:r>
            <a:r>
              <a:rPr lang="en-US" sz="1200" b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spc="-1" dirty="0">
                <a:latin typeface="Arial"/>
              </a:rPr>
              <a:t>Animal Research Facility CORE laboratory proposal</a:t>
            </a:r>
            <a:r>
              <a:rPr lang="en-US" sz="1200" spc="0" dirty="0">
                <a:latin typeface="+mn-lt"/>
              </a:rPr>
              <a:t>)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Equipment Maintenance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0.2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Animal Handling Cost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1.85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Animal Handling staff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3.7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CAPEX</a:t>
            </a:r>
            <a:r>
              <a:rPr lang="en-US" sz="2400" dirty="0"/>
              <a:t> estimated at </a:t>
            </a:r>
            <a:r>
              <a:rPr lang="en-US" sz="2400" b="1" dirty="0"/>
              <a:t>36.8 m AED </a:t>
            </a:r>
            <a:r>
              <a:rPr lang="en-US" sz="2400" dirty="0"/>
              <a:t>initial investment</a:t>
            </a:r>
            <a:r>
              <a:rPr lang="en-US" sz="2400" b="1" dirty="0"/>
              <a:t> </a:t>
            </a:r>
            <a:r>
              <a:rPr lang="en-US" sz="2400" dirty="0"/>
              <a:t>for both retrofitting (8.5 m AED) and equipment (28.5 m AED)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OPEX</a:t>
            </a:r>
            <a:r>
              <a:rPr lang="en-US" sz="2400" dirty="0"/>
              <a:t> </a:t>
            </a:r>
            <a:r>
              <a:rPr lang="en-US" sz="2400" dirty="0">
                <a:ea typeface="+mn-lt"/>
                <a:cs typeface="+mn-lt"/>
              </a:rPr>
              <a:t>estimated </a:t>
            </a:r>
            <a:r>
              <a:rPr lang="en-US" sz="2400" b="1" dirty="0"/>
              <a:t>2.85 m AED per year</a:t>
            </a:r>
            <a:r>
              <a:rPr lang="en-US" sz="2400" dirty="0"/>
              <a:t> for both Animal Handling and equipment maintenance </a:t>
            </a:r>
            <a:endParaRPr lang="en-US" sz="2400" dirty="0"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2400" b="1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b="1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b="1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Virology and Tissue Culture:</a:t>
            </a:r>
            <a:r>
              <a:rPr lang="en-US" sz="2400" b="1" kern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AE" sz="2400" baseline="0" dirty="0"/>
              <a:t>1,391,712; </a:t>
            </a:r>
            <a:r>
              <a:rPr lang="en-US" sz="2400" baseline="0" dirty="0"/>
              <a:t>AED 2.5 M + </a:t>
            </a:r>
            <a:r>
              <a:rPr lang="en-AE" sz="2400" baseline="0" dirty="0"/>
              <a:t>Fit out of supporting adjacent BLS2 lab</a:t>
            </a:r>
            <a:endParaRPr lang="en-US" sz="240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Animal Research Facility </a:t>
            </a:r>
            <a:endParaRPr lang="en-US" sz="2400" b="1" kern="1200" dirty="0">
              <a:solidFill>
                <a:schemeClr val="dk1"/>
              </a:solidFill>
              <a:latin typeface="+mn-lt"/>
              <a:ea typeface="Calibri" panose="020F0502020204030204" pitchFamily="34" charset="0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b="1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Summary  ​</a:t>
            </a:r>
          </a:p>
          <a:p>
            <a:pPr marL="0" indent="0" fontAlgn="base">
              <a:buFont typeface="Arial" panose="020B0604020202020204" pitchFamily="34" charset="0"/>
              <a:buNone/>
              <a:tabLst>
                <a:tab pos="803275" algn="l"/>
              </a:tabLst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 </a:t>
            </a:r>
            <a:r>
              <a:rPr lang="en-US" sz="1800" b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secure facility 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for supporting </a:t>
            </a:r>
            <a:r>
              <a:rPr lang="en-US" sz="1800" b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 vivo research 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from across the UAE, which will provide the means for researchers to </a:t>
            </a:r>
            <a:r>
              <a:rPr lang="en-US" sz="1800" b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access research livestock 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 a secure and controlled way​</a:t>
            </a:r>
          </a:p>
          <a:p>
            <a:pPr marL="0" indent="0" fontAlgn="base">
              <a:buFont typeface="Arial" panose="020B0604020202020204" pitchFamily="34" charset="0"/>
              <a:buNone/>
              <a:tabLst>
                <a:tab pos="803275" algn="l"/>
              </a:tabLst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To provide for the procurement, housing, and care of the targeted laboratory animals for the majority of medical research in KU​</a:t>
            </a:r>
          </a:p>
          <a:p>
            <a:pPr marL="0" indent="0" fontAlgn="base">
              <a:buFont typeface="Arial" panose="020B0604020202020204" pitchFamily="34" charset="0"/>
              <a:buNone/>
              <a:tabLst>
                <a:tab pos="803275" algn="l"/>
              </a:tabLst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State of the art </a:t>
            </a:r>
            <a:r>
              <a:rPr lang="en-US" sz="1800" b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individually ventilated housing facilities for small and middle-sized animals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, as well as special housing for transgenic animals. ​</a:t>
            </a:r>
          </a:p>
          <a:p>
            <a:pPr marL="0" indent="0" fontAlgn="base">
              <a:buFont typeface="Arial" panose="020B0604020202020204" pitchFamily="34" charset="0"/>
              <a:buNone/>
              <a:tabLst>
                <a:tab pos="803275" algn="l"/>
              </a:tabLst>
            </a:pPr>
            <a:r>
              <a:rPr lang="en-US" sz="2400" b="1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Location</a:t>
            </a:r>
            <a:r>
              <a:rPr lang="en-US" sz="2400" b="1" kern="1200" baseline="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 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Building A&amp;B ground floor</a:t>
            </a:r>
          </a:p>
          <a:p>
            <a:pPr marL="0" indent="0" fontAlgn="base">
              <a:buFont typeface="Arial" panose="020B0604020202020204" pitchFamily="34" charset="0"/>
              <a:buNone/>
              <a:tabLst>
                <a:tab pos="803275" algn="l"/>
              </a:tabLst>
            </a:pPr>
            <a:r>
              <a:rPr lang="en-US" sz="2400" b="1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Capacity Building &amp; Impact</a:t>
            </a:r>
          </a:p>
          <a:p>
            <a:pPr marL="0" indent="-342900">
              <a:buFont typeface="Wingdings" panose="05000000000000000000" pitchFamily="2" charset="2"/>
              <a:buChar char="ü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Bridging the existing bottle-neck from </a:t>
            </a:r>
            <a:r>
              <a:rPr lang="en-US" sz="1800" b="1" i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 vitro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→ </a:t>
            </a:r>
            <a:r>
              <a:rPr lang="en-US" sz="1800" b="1" i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 vivo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 research​</a:t>
            </a:r>
          </a:p>
          <a:p>
            <a:pPr marL="0" indent="-342900">
              <a:buFont typeface="Wingdings" panose="05000000000000000000" pitchFamily="2" charset="2"/>
              <a:buChar char="ü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Imaging and surgical facilities for maximal impact​</a:t>
            </a:r>
          </a:p>
          <a:p>
            <a:pPr marL="0" indent="-342900">
              <a:buFont typeface="Wingdings" panose="05000000000000000000" pitchFamily="2" charset="2"/>
              <a:buChar char="ü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Required for most academic medical programs ​</a:t>
            </a:r>
          </a:p>
          <a:p>
            <a:pPr marL="0" indent="-342900">
              <a:buFont typeface="Wingdings" panose="05000000000000000000" pitchFamily="2" charset="2"/>
              <a:buChar char="ü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Increased ability for KU to undertake public health research​</a:t>
            </a:r>
            <a:endParaRPr lang="en-US" sz="1800" kern="1200" dirty="0">
              <a:solidFill>
                <a:schemeClr val="dk1"/>
              </a:solidFill>
              <a:latin typeface="+mn-lt"/>
              <a:ea typeface="Calibri" panose="020F0502020204030204" pitchFamily="34" charset="0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kern="120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cryoTem</a:t>
            </a:r>
            <a:endParaRPr lang="en-US" sz="1800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lvl="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Abu Dhabi will emerge as the new leader in Middle East (incl. Saudi Arabia &amp; Israel) after the acquisition</a:t>
            </a:r>
          </a:p>
          <a:p>
            <a:pPr marL="285750" lvl="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kern="1200" dirty="0" err="1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Cryo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 capabilities will make KU a hub characterization facility attracting world class research engagements </a:t>
            </a:r>
          </a:p>
          <a:p>
            <a:pPr marL="285750" lvl="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Allows observation of new kind of samples (bio, soft matter, 2D materials) and better characterization</a:t>
            </a:r>
          </a:p>
          <a:p>
            <a:pPr marL="285750" lvl="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Improved software and hardware for high resolution and faster image processing</a:t>
            </a:r>
            <a:endParaRPr lang="en-US" sz="1800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indent="-285750" algn="l" fontAlgn="b">
              <a:buFont typeface="Arial" panose="020B0604020202020204" pitchFamily="34" charset="0"/>
              <a:buChar char="•"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Cryo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kern="1200" dirty="0" err="1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CryoTEM</a:t>
            </a:r>
            <a:r>
              <a:rPr lang="en-US" sz="1800" b="1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 (</a:t>
            </a:r>
            <a:r>
              <a:rPr lang="en-US" sz="1800" b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Building A&amp;B ground floor, next to Animal research Facility, 2022</a:t>
            </a:r>
            <a:r>
              <a:rPr lang="en-US" sz="1800" b="1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2 new </a:t>
            </a:r>
            <a:r>
              <a:rPr lang="en-US" sz="1800" b="1" kern="1200" dirty="0" err="1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Cryo</a:t>
            </a:r>
            <a:r>
              <a:rPr lang="en-US" sz="1800" b="1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 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Transmission Electron Microscopes (TEM),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Freezing samples (</a:t>
            </a:r>
            <a:r>
              <a:rPr lang="en-US" sz="1800" b="1" kern="1200" dirty="0" err="1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Cryo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) minimizes the radiation damage that samples can suffer as a result of electron irradiation.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1 new Scanning Electron Microscope alongside one existing Scanning Electron Microscope (JEOL SEM) for sample preparation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6D618-D884-403E-B873-1F6B8EC7BA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69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Year</a:t>
            </a:r>
            <a:r>
              <a:rPr lang="en-US" sz="1200" kern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1</a:t>
            </a:r>
            <a:r>
              <a:rPr lang="en-US" sz="12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kern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AED 18.0 M</a:t>
            </a:r>
            <a:r>
              <a:rPr lang="en-US" sz="1200" kern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includes</a:t>
            </a:r>
            <a:r>
              <a:rPr lang="en-US" sz="1200" kern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AED 2.0</a:t>
            </a:r>
            <a:r>
              <a:rPr lang="en-US" sz="1200" kern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M for lab renovation)</a:t>
            </a:r>
          </a:p>
          <a:p>
            <a:r>
              <a:rPr lang="en-US" sz="12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Years</a:t>
            </a:r>
            <a:r>
              <a:rPr lang="en-US" sz="1200" kern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2 to 5: </a:t>
            </a:r>
            <a:r>
              <a:rPr lang="en-US" sz="12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AED 1.6 M/year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6D618-D884-403E-B873-1F6B8EC7BA1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0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4089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F7351207-CA38-459F-8CF8-67664B620D33}" type="slidenum">
              <a:rPr lang="en-US" sz="1400" b="0" strike="noStrike" spc="-1" smtClean="0">
                <a:latin typeface="Times New Roman"/>
              </a:rPr>
              <a:t>51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35302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F7351207-CA38-459F-8CF8-67664B620D33}" type="slidenum">
              <a:rPr lang="en-US" sz="1400" b="0" strike="noStrike" spc="-1" smtClean="0">
                <a:latin typeface="Times New Roman"/>
              </a:rPr>
              <a:t>52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84650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F7351207-CA38-459F-8CF8-67664B620D33}" type="slidenum">
              <a:rPr lang="en-US" sz="1400" b="0" strike="noStrike" spc="-1" smtClean="0">
                <a:latin typeface="Times New Roman"/>
              </a:rPr>
              <a:t>53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93896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3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45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74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18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2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9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13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83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33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910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31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0499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9558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5F3DA-8CC8-46FC-A7E0-878C49A1B363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07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 txBox="1">
            <a:spLocks/>
          </p:cNvSpPr>
          <p:nvPr/>
        </p:nvSpPr>
        <p:spPr>
          <a:xfrm>
            <a:off x="414406" y="2387167"/>
            <a:ext cx="8143143" cy="150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indent="0" fontAlgn="base">
              <a:spcBef>
                <a:spcPct val="10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sz="2954" b="1">
                <a:latin typeface="Candara" pitchFamily="34" charset="0"/>
              </a:defRPr>
            </a:lvl1pPr>
            <a:lvl2pPr marL="422041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None/>
              <a:defRPr sz="1662"/>
            </a:lvl2pPr>
            <a:lvl3pPr marL="844083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rgbClr val="0B1F65"/>
              </a:buClr>
              <a:buFont typeface="Webdings" pitchFamily="18" charset="2"/>
              <a:buNone/>
              <a:defRPr sz="1477">
                <a:latin typeface="+mj-lt"/>
              </a:defRPr>
            </a:lvl3pPr>
            <a:lvl4pPr marL="1266124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rgbClr val="0B1F65"/>
              </a:buClr>
              <a:buNone/>
              <a:defRPr sz="1292">
                <a:latin typeface="+mj-lt"/>
              </a:defRPr>
            </a:lvl4pPr>
            <a:lvl5pPr marL="1688165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5pPr>
            <a:lvl6pPr marL="2110207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6pPr>
            <a:lvl7pPr marL="2532248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7pPr>
            <a:lvl8pPr marL="2954289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8pPr>
            <a:lvl9pPr marL="3376331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9pPr>
          </a:lstStyle>
          <a:p>
            <a:r>
              <a:rPr lang="en-US" dirty="0"/>
              <a:t>KU plan – 2031</a:t>
            </a:r>
          </a:p>
          <a:p>
            <a:r>
              <a:rPr lang="en-US" dirty="0"/>
              <a:t>Research &amp; Development</a:t>
            </a:r>
          </a:p>
        </p:txBody>
      </p:sp>
      <p:sp>
        <p:nvSpPr>
          <p:cNvPr id="5" name="Title 4"/>
          <p:cNvSpPr txBox="1">
            <a:spLocks/>
          </p:cNvSpPr>
          <p:nvPr/>
        </p:nvSpPr>
        <p:spPr>
          <a:xfrm>
            <a:off x="445476" y="4406903"/>
            <a:ext cx="10299135" cy="1508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sz="2215" b="0" cap="none" baseline="0">
                <a:latin typeface="Candara" pitchFamily="34" charset="0"/>
                <a:ea typeface="+mj-ea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5pPr>
            <a:lvl6pPr marL="422041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6pPr>
            <a:lvl7pPr marL="844083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7pPr>
            <a:lvl8pPr marL="1266124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8pPr>
            <a:lvl9pPr marL="1688165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9pPr>
          </a:lstStyle>
          <a:p>
            <a:pPr marL="1343025" indent="-1343025"/>
            <a:r>
              <a:rPr lang="en-US" sz="2000" b="1" dirty="0">
                <a:solidFill>
                  <a:srgbClr val="C00000"/>
                </a:solidFill>
                <a:latin typeface="+mn-lt"/>
              </a:rPr>
              <a:t>Dr Steve Griffiths</a:t>
            </a:r>
          </a:p>
          <a:p>
            <a:pPr marL="1343025" indent="-1343025"/>
            <a:r>
              <a:rPr lang="en-US" sz="2000" b="1" dirty="0">
                <a:solidFill>
                  <a:srgbClr val="C00000"/>
                </a:solidFill>
                <a:latin typeface="+mn-lt"/>
              </a:rPr>
              <a:t>Senior Vice-President, Research &amp; Development</a:t>
            </a:r>
            <a:endParaRPr lang="en-US" sz="18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06" y="247863"/>
            <a:ext cx="2461846" cy="78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58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 txBox="1">
            <a:spLocks/>
          </p:cNvSpPr>
          <p:nvPr/>
        </p:nvSpPr>
        <p:spPr>
          <a:xfrm>
            <a:off x="414406" y="2387167"/>
            <a:ext cx="8143143" cy="150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indent="0" fontAlgn="base">
              <a:spcBef>
                <a:spcPct val="10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sz="2954" b="1">
                <a:latin typeface="Candara" pitchFamily="34" charset="0"/>
              </a:defRPr>
            </a:lvl1pPr>
            <a:lvl2pPr marL="422041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None/>
              <a:defRPr sz="1662"/>
            </a:lvl2pPr>
            <a:lvl3pPr marL="844083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rgbClr val="0B1F65"/>
              </a:buClr>
              <a:buFont typeface="Webdings" pitchFamily="18" charset="2"/>
              <a:buNone/>
              <a:defRPr sz="1477">
                <a:latin typeface="+mj-lt"/>
              </a:defRPr>
            </a:lvl3pPr>
            <a:lvl4pPr marL="1266124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rgbClr val="0B1F65"/>
              </a:buClr>
              <a:buNone/>
              <a:defRPr sz="1292">
                <a:latin typeface="+mj-lt"/>
              </a:defRPr>
            </a:lvl4pPr>
            <a:lvl5pPr marL="1688165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5pPr>
            <a:lvl6pPr marL="2110207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6pPr>
            <a:lvl7pPr marL="2532248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7pPr>
            <a:lvl8pPr marL="2954289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8pPr>
            <a:lvl9pPr marL="3376331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9pPr>
          </a:lstStyle>
          <a:p>
            <a:r>
              <a:rPr lang="en-US" dirty="0"/>
              <a:t>KU plan – 2031</a:t>
            </a:r>
          </a:p>
          <a:p>
            <a:r>
              <a:rPr lang="en-US" dirty="0"/>
              <a:t>Research &amp; Development</a:t>
            </a:r>
          </a:p>
        </p:txBody>
      </p:sp>
      <p:sp>
        <p:nvSpPr>
          <p:cNvPr id="5" name="Title 4"/>
          <p:cNvSpPr txBox="1">
            <a:spLocks/>
          </p:cNvSpPr>
          <p:nvPr/>
        </p:nvSpPr>
        <p:spPr>
          <a:xfrm>
            <a:off x="351692" y="4406903"/>
            <a:ext cx="10299135" cy="1508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sz="2215" b="0" cap="none" baseline="0">
                <a:latin typeface="Candara" pitchFamily="34" charset="0"/>
                <a:ea typeface="+mj-ea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5pPr>
            <a:lvl6pPr marL="422041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6pPr>
            <a:lvl7pPr marL="844083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7pPr>
            <a:lvl8pPr marL="1266124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8pPr>
            <a:lvl9pPr marL="1688165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9pPr>
          </a:lstStyle>
          <a:p>
            <a:pPr marL="1343025" indent="-1343025"/>
            <a:r>
              <a:rPr lang="en-US" sz="2000" b="1" dirty="0" smtClean="0">
                <a:solidFill>
                  <a:srgbClr val="C00000"/>
                </a:solidFill>
                <a:latin typeface="+mn-lt"/>
              </a:rPr>
              <a:t>Executive Summary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06" y="247863"/>
            <a:ext cx="2461846" cy="78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75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Strategic Focus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5333" y="768262"/>
            <a:ext cx="111000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In the next 5 years KU R&amp;D’s strategic focus will be concentrated on supporting ambitions to be a top 100 university and to produce innovation in the form of solutions for industry partners and spin-out company formation.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5333" y="2081968"/>
            <a:ext cx="1096214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This will be achieved by: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Focusing</a:t>
            </a:r>
            <a:r>
              <a:rPr lang="en-US" sz="2000" dirty="0"/>
              <a:t> on use-inspired R&amp;D to address the grand challenges of sustainability, human health, intelligent and secure digital systems, and space </a:t>
            </a:r>
            <a:r>
              <a:rPr lang="en-US" sz="2000" dirty="0" smtClean="0"/>
              <a:t>exploration.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Investing </a:t>
            </a:r>
            <a:r>
              <a:rPr lang="en-US" sz="2000" dirty="0"/>
              <a:t>in medicine and healthcare R&amp;D </a:t>
            </a:r>
            <a:r>
              <a:rPr lang="en-US" sz="2000" dirty="0" smtClean="0"/>
              <a:t>capabilities.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Investing</a:t>
            </a:r>
            <a:r>
              <a:rPr lang="en-US" sz="2000" dirty="0"/>
              <a:t> in materials science and engineering R&amp;D capabilities with particular emphasis on graphene and </a:t>
            </a:r>
            <a:r>
              <a:rPr lang="en-US" sz="2000" dirty="0" smtClean="0"/>
              <a:t>2D materials.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Strengthening </a:t>
            </a:r>
            <a:r>
              <a:rPr lang="en-US" sz="2000" dirty="0" smtClean="0"/>
              <a:t>sustainable</a:t>
            </a:r>
            <a:r>
              <a:rPr lang="en-US" sz="2000" b="1" dirty="0" smtClean="0"/>
              <a:t> </a:t>
            </a:r>
            <a:r>
              <a:rPr lang="en-US" sz="2000" dirty="0" smtClean="0"/>
              <a:t>energy </a:t>
            </a:r>
            <a:r>
              <a:rPr lang="en-US" sz="2000" dirty="0"/>
              <a:t>R&amp;D in the areas of </a:t>
            </a:r>
            <a:r>
              <a:rPr lang="en-US" sz="2000" dirty="0" smtClean="0"/>
              <a:t>power </a:t>
            </a:r>
            <a:r>
              <a:rPr lang="en-US" sz="2000" dirty="0"/>
              <a:t>and </a:t>
            </a:r>
            <a:r>
              <a:rPr lang="en-US" sz="2000" dirty="0" smtClean="0"/>
              <a:t>fuels.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Strengthening </a:t>
            </a:r>
            <a:r>
              <a:rPr lang="en-US" sz="2000" dirty="0"/>
              <a:t>robotics and intelligent systems R&amp;D through expanded robotics research and an increased focus on </a:t>
            </a:r>
            <a:r>
              <a:rPr lang="en-US" sz="2000" dirty="0" smtClean="0"/>
              <a:t>cybersecurity.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Building</a:t>
            </a:r>
            <a:r>
              <a:rPr lang="en-US" sz="2000" dirty="0"/>
              <a:t> capabilities in fundamental </a:t>
            </a:r>
            <a:r>
              <a:rPr lang="en-US" sz="2000" dirty="0" smtClean="0"/>
              <a:t>science.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Building</a:t>
            </a:r>
            <a:r>
              <a:rPr lang="en-US" sz="2000" dirty="0"/>
              <a:t> coordinated capabilities in space technology and space science </a:t>
            </a:r>
            <a:r>
              <a:rPr lang="en-US" sz="2000" dirty="0" smtClean="0"/>
              <a:t>R&amp;D.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Building</a:t>
            </a:r>
            <a:r>
              <a:rPr lang="en-US" sz="2000" dirty="0"/>
              <a:t> capabilities in water and environment </a:t>
            </a:r>
            <a:r>
              <a:rPr lang="en-US" sz="2000" dirty="0" smtClean="0"/>
              <a:t>R&amp;D.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45053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</a:t>
            </a:r>
            <a:r>
              <a:rPr lang="en-US" sz="2000" b="1" dirty="0" smtClean="0"/>
              <a:t>Planned Initiatives</a:t>
            </a:r>
            <a:endParaRPr lang="en-US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604279" y="862769"/>
            <a:ext cx="10962147" cy="563231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000" b="1" dirty="0"/>
              <a:t>Strategy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Revisit and revise strategic R&amp;D focus </a:t>
            </a:r>
            <a:r>
              <a:rPr lang="en-US" sz="2000" dirty="0" smtClean="0"/>
              <a:t>areas.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Engage a high-level Industrial Advisory Board to ensure alignment of R&amp;D activities with global research and innovation trends as well as the industrial priorities of Abu Dhabi and the </a:t>
            </a:r>
            <a:r>
              <a:rPr lang="en-US" sz="2000" dirty="0" smtClean="0"/>
              <a:t>UAE.</a:t>
            </a:r>
            <a:endParaRPr lang="en-US" sz="2000" dirty="0"/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Governance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Restructure Research Council to ensure optimal alignment and coordination between all academic and research </a:t>
            </a:r>
            <a:r>
              <a:rPr lang="en-US" sz="2000" dirty="0" smtClean="0"/>
              <a:t>units.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Restructure research center advisory boards </a:t>
            </a:r>
            <a:r>
              <a:rPr lang="en-US" sz="2000" dirty="0" smtClean="0"/>
              <a:t>to </a:t>
            </a:r>
            <a:r>
              <a:rPr lang="en-US" sz="2000" dirty="0"/>
              <a:t>ensure optimal alignment and coordination between research centers and academic </a:t>
            </a:r>
            <a:r>
              <a:rPr lang="en-US" sz="2000" dirty="0" smtClean="0"/>
              <a:t>departments.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endParaRPr lang="en-US" sz="2000" dirty="0"/>
          </a:p>
          <a:p>
            <a:pPr algn="just"/>
            <a:r>
              <a:rPr lang="en-US" sz="2000" b="1" dirty="0"/>
              <a:t>Operational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Review and revise internal research funding programs to provide (1) broader funding distribution for competitive research awards and (2) increased funding for fundamental science as well as </a:t>
            </a:r>
            <a:r>
              <a:rPr lang="en-US" sz="2000" dirty="0" smtClean="0"/>
              <a:t>innovation.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Develop research infrastructure needed for state-of-the-art capabilities for R&amp;D focus </a:t>
            </a:r>
            <a:r>
              <a:rPr lang="en-US" sz="2000" dirty="0" smtClean="0"/>
              <a:t>areas.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cs typeface="Calibri" panose="020F0502020204030204"/>
              </a:rPr>
              <a:t>Integrate academic units and technology management and innovation office into research project progress reporting </a:t>
            </a:r>
            <a:r>
              <a:rPr lang="en-US" sz="2000" dirty="0" smtClean="0">
                <a:cs typeface="Calibri" panose="020F0502020204030204"/>
              </a:rPr>
              <a:t>processes.</a:t>
            </a:r>
            <a:endParaRPr lang="en-US" sz="20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5135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924077" y="448415"/>
          <a:ext cx="2286000" cy="293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849017376"/>
                    </a:ext>
                  </a:extLst>
                </a:gridCol>
              </a:tblGrid>
              <a:tr h="4853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Water &amp;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449213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Desalination 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Waste treatment and utilization (wastewater, industrial and municipal waste streams)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Environmental remote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sensing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Ocean and coastal ecology and environment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460023"/>
              </p:ext>
            </p:extLst>
          </p:nvPr>
        </p:nvGraphicFramePr>
        <p:xfrm>
          <a:off x="240976" y="448414"/>
          <a:ext cx="4572000" cy="293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93331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0641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Energy</a:t>
                      </a:r>
                      <a:endParaRPr lang="en-US" sz="1500" b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4281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1" u="none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Power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00" b="0" i="1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Solar energy 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Nuclear energy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Electrical power transmission and distribution 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Energy storage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Energy efficient cities and buildings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1" u="none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Fuels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00" b="0" i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Sustainable fuels (low-carbon hydrocarbons and non-hydrocarbons)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Hydrogen and its derivatives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CO2 capture, utilization</a:t>
                      </a:r>
                      <a:r>
                        <a:rPr lang="en-US" sz="13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 and storage</a:t>
                      </a:r>
                      <a:endParaRPr lang="en-US" sz="13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718279" y="424969"/>
          <a:ext cx="2286000" cy="2957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136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444345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Space telecommunications,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access and exploration (technology development and science applications)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Earth observation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979665"/>
              </p:ext>
            </p:extLst>
          </p:nvPr>
        </p:nvGraphicFramePr>
        <p:xfrm>
          <a:off x="240977" y="4960906"/>
          <a:ext cx="117633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532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4425384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  <a:gridCol w="4425384">
                  <a:extLst>
                    <a:ext uri="{9D8B030D-6E8A-4147-A177-3AD203B41FA5}">
                      <a16:colId xmlns:a16="http://schemas.microsoft.com/office/drawing/2014/main" val="732227688"/>
                    </a:ext>
                  </a:extLst>
                </a:gridCol>
              </a:tblGrid>
              <a:tr h="1709525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Intelligent</a:t>
                      </a:r>
                      <a:r>
                        <a:rPr lang="en-US" sz="15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&amp; Secure Digital Systems</a:t>
                      </a:r>
                      <a:endParaRPr 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3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Robotics, Artificial Intelligence and Data Science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Autonomous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systems (aerial, ground and marine)	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Machine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learning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Computer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</a:rPr>
                        <a:t> vision, i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mage and video analysis and processing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Data Science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300" b="1" i="1" dirty="0" smtClean="0">
                          <a:solidFill>
                            <a:schemeClr val="tx1"/>
                          </a:solidFill>
                        </a:rPr>
                        <a:t>Information</a:t>
                      </a:r>
                      <a:r>
                        <a:rPr lang="en-US" sz="1300" b="1" i="1" baseline="0" dirty="0" smtClean="0">
                          <a:solidFill>
                            <a:schemeClr val="tx1"/>
                          </a:solidFill>
                        </a:rPr>
                        <a:t> and Communication Technologies (ICT)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Secure systems and networks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</a:rPr>
                        <a:t> (cyber security and </a:t>
                      </a:r>
                      <a:r>
                        <a:rPr lang="en-US" sz="1300" b="0" baseline="0" dirty="0" err="1" smtClean="0">
                          <a:solidFill>
                            <a:schemeClr val="tx1"/>
                          </a:solidFill>
                        </a:rPr>
                        <a:t>blockchain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3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Next Generation Networks (NGNs) and NGN-enabled ICT applications and services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System-on-Chip (</a:t>
                      </a:r>
                      <a:r>
                        <a:rPr lang="en-US" sz="1300" b="0" dirty="0" err="1" smtClean="0">
                          <a:solidFill>
                            <a:schemeClr val="tx1"/>
                          </a:solidFill>
                        </a:rPr>
                        <a:t>SoC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) technology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Sensors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581981"/>
              </p:ext>
            </p:extLst>
          </p:nvPr>
        </p:nvGraphicFramePr>
        <p:xfrm>
          <a:off x="240976" y="3442319"/>
          <a:ext cx="11763301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4254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8839047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</a:tblGrid>
              <a:tr h="100541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Advanced </a:t>
                      </a:r>
                      <a:r>
                        <a:rPr lang="en-US" sz="1500" dirty="0" smtClean="0">
                          <a:solidFill>
                            <a:schemeClr val="bg1"/>
                          </a:solidFill>
                        </a:rPr>
                        <a:t>Materials </a:t>
                      </a: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&amp; Manufacturing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Computational materials engineering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Composites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Catalysis</a:t>
                      </a: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Enhanced materials systems (nanomaterials and nanocomposites, multifunctional materials, smart materials, metamaterials)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Additive manufacturing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Manufacturing automation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</a:tbl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B613AD3E-F77E-478A-B183-2502DCA32A87}"/>
              </a:ext>
            </a:extLst>
          </p:cNvPr>
          <p:cNvSpPr txBox="1">
            <a:spLocks/>
          </p:cNvSpPr>
          <p:nvPr/>
        </p:nvSpPr>
        <p:spPr>
          <a:xfrm>
            <a:off x="2377180" y="27932"/>
            <a:ext cx="7437640" cy="449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KU R&amp;D Strategy – Map of </a:t>
            </a:r>
            <a:r>
              <a:rPr lang="en-US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Proposed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Focus Topics within Focus Areas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7321178" y="432650"/>
          <a:ext cx="2286000" cy="2950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481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441391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Omics (proteomics,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genomics, metabolomics)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Medical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technology (b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io-robotics 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and m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edical devices) 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Therapeutics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(p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harmacology,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clinical toxicology, v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irology and tissue culture)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Analytics (e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pidemiology,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b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iostatistics and modeling, 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bioinformatics, bio-signal processing)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Management and operations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007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90168"/>
              </p:ext>
            </p:extLst>
          </p:nvPr>
        </p:nvGraphicFramePr>
        <p:xfrm>
          <a:off x="4924077" y="590076"/>
          <a:ext cx="2286000" cy="2854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849017376"/>
                    </a:ext>
                  </a:extLst>
                </a:gridCol>
              </a:tblGrid>
              <a:tr h="5777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Water &amp;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276852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Center for Membranes &amp; Advanced Water Technology (CMAT)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Earth Observations &amp; Modelling for Climate, Environment and Earth Sciences (EARTHCARE)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Center for Research of Ocean and Coastal Sustainability (CROCS) (</a:t>
                      </a:r>
                      <a:r>
                        <a:rPr lang="en-US" sz="1300" b="1" i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tbc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389296"/>
              </p:ext>
            </p:extLst>
          </p:nvPr>
        </p:nvGraphicFramePr>
        <p:xfrm>
          <a:off x="240976" y="589335"/>
          <a:ext cx="4572000" cy="2855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93331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8267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Energy</a:t>
                      </a:r>
                      <a:endParaRPr lang="en-US" sz="1500" b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2726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1" u="none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Power</a:t>
                      </a:r>
                      <a:endParaRPr lang="en-US" sz="1400" b="1" i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00" b="0" i="1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Sustainable Energy VRI</a:t>
                      </a:r>
                      <a:r>
                        <a:rPr lang="en-US" sz="13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including Advanced Power and Energy Center (APEC)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Emirates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Nuclear Technology Center (ENTC)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1" u="none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Fuels</a:t>
                      </a:r>
                      <a:endParaRPr lang="en-US" sz="1400" b="1" i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00" b="0" i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Research &amp; Innovation Center on CO2 &amp; Hydrogen (RICH)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Center 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for Research on Advanced Fuel Technologies for Aviation (Air-CRAFT) (</a:t>
                      </a:r>
                      <a:r>
                        <a:rPr lang="en-US" sz="1300" b="1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tbc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357109"/>
              </p:ext>
            </p:extLst>
          </p:nvPr>
        </p:nvGraphicFramePr>
        <p:xfrm>
          <a:off x="7321178" y="589337"/>
          <a:ext cx="2286000" cy="2855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84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2464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Abu Dhabi Healthcare Institute: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Center for Biotechnology (BTC)</a:t>
                      </a: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Healthcare Engineering Innovation Center (HEIC)</a:t>
                      </a: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and Data Intelligence Support Center (RDISC)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Clinical Trials Center (</a:t>
                      </a:r>
                      <a:r>
                        <a:rPr lang="en-US" sz="1300" b="1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tbc,</a:t>
                      </a:r>
                      <a:r>
                        <a:rPr lang="en-US" sz="1300" b="1" i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SSMC)</a:t>
                      </a:r>
                      <a:endParaRPr lang="en-US" sz="1300" b="1" i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75387"/>
              </p:ext>
            </p:extLst>
          </p:nvPr>
        </p:nvGraphicFramePr>
        <p:xfrm>
          <a:off x="9718279" y="602650"/>
          <a:ext cx="2286000" cy="2867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967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245235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Space Technology and Innovation Center (KUSTIC)</a:t>
                      </a: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Space and Planetary Science Center (SPSC)</a:t>
                      </a: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Earth Observations &amp; Modelling for Climate, Environment and Earth Sciences (EARTHCARE)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661013"/>
              </p:ext>
            </p:extLst>
          </p:nvPr>
        </p:nvGraphicFramePr>
        <p:xfrm>
          <a:off x="240975" y="4538633"/>
          <a:ext cx="11763303" cy="1289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533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3927231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  <a:gridCol w="4923539">
                  <a:extLst>
                    <a:ext uri="{9D8B030D-6E8A-4147-A177-3AD203B41FA5}">
                      <a16:colId xmlns:a16="http://schemas.microsoft.com/office/drawing/2014/main" val="1345455098"/>
                    </a:ext>
                  </a:extLst>
                </a:gridCol>
              </a:tblGrid>
              <a:tr h="542683">
                <a:tc rowSpan="2"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Intelligent</a:t>
                      </a:r>
                      <a:r>
                        <a:rPr lang="en-US" sz="15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&amp; Secure Digital Systems</a:t>
                      </a:r>
                      <a:endParaRPr 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Robotics, Artificial Intelligence and Data Science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KU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Center for Autonomous Robotic Systems (KUCARS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1" i="1" dirty="0" smtClean="0">
                          <a:solidFill>
                            <a:schemeClr val="tx1"/>
                          </a:solidFill>
                        </a:rPr>
                        <a:t>Information</a:t>
                      </a:r>
                      <a:r>
                        <a:rPr lang="en-US" sz="1300" b="1" i="1" baseline="0" dirty="0" smtClean="0">
                          <a:solidFill>
                            <a:schemeClr val="tx1"/>
                          </a:solidFill>
                        </a:rPr>
                        <a:t> and Communication Technologies (ICT)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System-on-Chip Lab (SOCL)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System Design Center sponsored by TII (</a:t>
                      </a:r>
                      <a:r>
                        <a:rPr lang="en-US" sz="1300" b="1" i="1" dirty="0" smtClean="0">
                          <a:solidFill>
                            <a:schemeClr val="tx1"/>
                          </a:solidFill>
                        </a:rPr>
                        <a:t>tbc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  <a:tr h="542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smtClean="0">
                          <a:solidFill>
                            <a:schemeClr val="tx1"/>
                          </a:solidFill>
                        </a:rPr>
                        <a:t>Cybersecurity and Cyber-Physical Systems Center (C2PS)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smtClean="0">
                          <a:solidFill>
                            <a:schemeClr val="tx1"/>
                          </a:solidFill>
                        </a:rPr>
                        <a:t>Emirates ICT Innovation Center (EBTIC)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26930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414257"/>
              </p:ext>
            </p:extLst>
          </p:nvPr>
        </p:nvGraphicFramePr>
        <p:xfrm>
          <a:off x="240976" y="3511810"/>
          <a:ext cx="11763303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4255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3036277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  <a:gridCol w="2625970">
                  <a:extLst>
                    <a:ext uri="{9D8B030D-6E8A-4147-A177-3AD203B41FA5}">
                      <a16:colId xmlns:a16="http://schemas.microsoft.com/office/drawing/2014/main" val="3561344490"/>
                    </a:ext>
                  </a:extLst>
                </a:gridCol>
                <a:gridCol w="3176801">
                  <a:extLst>
                    <a:ext uri="{9D8B030D-6E8A-4147-A177-3AD203B41FA5}">
                      <a16:colId xmlns:a16="http://schemas.microsoft.com/office/drawing/2014/main" val="523961706"/>
                    </a:ext>
                  </a:extLst>
                </a:gridCol>
              </a:tblGrid>
              <a:tr h="416950">
                <a:tc rowSpan="2"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Advanced </a:t>
                      </a:r>
                      <a:r>
                        <a:rPr lang="en-US" sz="1500" dirty="0" smtClean="0">
                          <a:solidFill>
                            <a:schemeClr val="bg1"/>
                          </a:solidFill>
                        </a:rPr>
                        <a:t>Materials </a:t>
                      </a: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&amp; Manufacturing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Advanced Research &amp; Innovation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</a:rPr>
                        <a:t> Center (ARIC)</a:t>
                      </a: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Advanced Materials Chemistry Center (AMCC)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Center for Catalysis and Separations (</a:t>
                      </a:r>
                      <a:r>
                        <a:rPr lang="en-US" sz="13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CeCaS</a:t>
                      </a:r>
                      <a:r>
                        <a:rPr lang="en-US" sz="13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)</a:t>
                      </a:r>
                      <a:endParaRPr lang="en-US" sz="13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  <a:tr h="41695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                                      Advanced Two-Dimensional Functional Materials VRI (</a:t>
                      </a:r>
                      <a:r>
                        <a:rPr lang="en-US" sz="1300" b="1" i="1" dirty="0">
                          <a:solidFill>
                            <a:schemeClr val="tx1"/>
                          </a:solidFill>
                        </a:rPr>
                        <a:t>tbc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</a:rPr>
                        <a:t> |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                                     Research &amp; Innovation Center for Graphene &amp; 2D Materials (RIC-2D)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449462"/>
                  </a:ext>
                </a:extLst>
              </a:tr>
            </a:tbl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B613AD3E-F77E-478A-B183-2502DCA32A87}"/>
              </a:ext>
            </a:extLst>
          </p:cNvPr>
          <p:cNvSpPr txBox="1">
            <a:spLocks/>
          </p:cNvSpPr>
          <p:nvPr/>
        </p:nvSpPr>
        <p:spPr>
          <a:xfrm>
            <a:off x="2007903" y="96345"/>
            <a:ext cx="8176194" cy="449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KU R&amp;D Strategy – Map of </a:t>
            </a:r>
            <a:r>
              <a:rPr lang="en-US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Proposed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Focus Areas and Operational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976" y="6553051"/>
            <a:ext cx="7334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Note: KKJRC and KUTC continuation TBD based on outcomes from current programs and further partner discussions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799821"/>
              </p:ext>
            </p:extLst>
          </p:nvPr>
        </p:nvGraphicFramePr>
        <p:xfrm>
          <a:off x="240974" y="5884983"/>
          <a:ext cx="11763303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533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8850770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Emerging Topics &amp; Fundamental</a:t>
                      </a:r>
                      <a:r>
                        <a:rPr lang="en-US" sz="15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Science</a:t>
                      </a:r>
                      <a:endParaRPr 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1" dirty="0" smtClean="0">
                          <a:solidFill>
                            <a:schemeClr val="tx1"/>
                          </a:solidFill>
                        </a:rPr>
                        <a:t>New</a:t>
                      </a:r>
                      <a:r>
                        <a:rPr lang="en-US" sz="1300" b="0" i="1" baseline="0" dirty="0" smtClean="0">
                          <a:solidFill>
                            <a:schemeClr val="tx1"/>
                          </a:solidFill>
                        </a:rPr>
                        <a:t> centers based on topics that may or may not fall under the KU focus area topics</a:t>
                      </a:r>
                      <a:endParaRPr lang="en-US" sz="13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9753448" y="1230925"/>
            <a:ext cx="2180645" cy="85897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776894" y="2133601"/>
            <a:ext cx="2180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Explore with UAESA combining into a single center or institute</a:t>
            </a:r>
          </a:p>
        </p:txBody>
      </p:sp>
    </p:spTree>
    <p:extLst>
      <p:ext uri="{BB962C8B-B14F-4D97-AF65-F5344CB8AC3E}">
        <p14:creationId xmlns:p14="http://schemas.microsoft.com/office/powerpoint/2010/main" val="618632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</a:t>
            </a:r>
            <a:r>
              <a:rPr lang="en-US" sz="2000" b="1" dirty="0" smtClean="0"/>
              <a:t>Internal Research Funding Allocation</a:t>
            </a:r>
            <a:endParaRPr lang="en-US" sz="20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5664" y="737120"/>
          <a:ext cx="11712163" cy="5471160"/>
        </p:xfrm>
        <a:graphic>
          <a:graphicData uri="http://schemas.openxmlformats.org/drawingml/2006/table">
            <a:tbl>
              <a:tblPr firstRow="1" bandRow="1"/>
              <a:tblGrid>
                <a:gridCol w="1949907">
                  <a:extLst>
                    <a:ext uri="{9D8B030D-6E8A-4147-A177-3AD203B41FA5}">
                      <a16:colId xmlns:a16="http://schemas.microsoft.com/office/drawing/2014/main" val="1533718617"/>
                    </a:ext>
                  </a:extLst>
                </a:gridCol>
                <a:gridCol w="1923110">
                  <a:extLst>
                    <a:ext uri="{9D8B030D-6E8A-4147-A177-3AD203B41FA5}">
                      <a16:colId xmlns:a16="http://schemas.microsoft.com/office/drawing/2014/main" val="2326703643"/>
                    </a:ext>
                  </a:extLst>
                </a:gridCol>
                <a:gridCol w="1923110">
                  <a:extLst>
                    <a:ext uri="{9D8B030D-6E8A-4147-A177-3AD203B41FA5}">
                      <a16:colId xmlns:a16="http://schemas.microsoft.com/office/drawing/2014/main" val="3340442153"/>
                    </a:ext>
                  </a:extLst>
                </a:gridCol>
                <a:gridCol w="1923110">
                  <a:extLst>
                    <a:ext uri="{9D8B030D-6E8A-4147-A177-3AD203B41FA5}">
                      <a16:colId xmlns:a16="http://schemas.microsoft.com/office/drawing/2014/main" val="3481657808"/>
                    </a:ext>
                  </a:extLst>
                </a:gridCol>
                <a:gridCol w="2234363">
                  <a:extLst>
                    <a:ext uri="{9D8B030D-6E8A-4147-A177-3AD203B41FA5}">
                      <a16:colId xmlns:a16="http://schemas.microsoft.com/office/drawing/2014/main" val="1415055233"/>
                    </a:ext>
                  </a:extLst>
                </a:gridCol>
                <a:gridCol w="1758563">
                  <a:extLst>
                    <a:ext uri="{9D8B030D-6E8A-4147-A177-3AD203B41FA5}">
                      <a16:colId xmlns:a16="http://schemas.microsoft.com/office/drawing/2014/main" val="2067956889"/>
                    </a:ext>
                  </a:extLst>
                </a:gridCol>
              </a:tblGrid>
              <a:tr h="4504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 of New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Awards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Potential Faculty Engaged*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254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 Composition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Value ($)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99144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&amp; Innovation Grant (RIG)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90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Specific Project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4 KU faculty, up to 2 MSc. + 2 PhD students + external collaborators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/>
                          <a:cs typeface="Calibri"/>
                        </a:rPr>
                        <a:t>$560k over 2.5 years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56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Student Support</a:t>
                      </a:r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Grant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(SSG)</a:t>
                      </a:r>
                      <a:endParaRPr lang="en-US" sz="15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 to 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Specific Project</a:t>
                      </a:r>
                    </a:p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(Student Based Activity)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4 KU faculty, up to 2 PG students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$40k over 2 years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38813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Center </a:t>
                      </a:r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500" b="1" u="sng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RC</a:t>
                      </a:r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 algn="ctr"/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2023 Call</a:t>
                      </a:r>
                      <a:endParaRPr lang="en-US" sz="15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Multiple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hemes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with Multiple Projects per Theme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 – 20 KU faculty, 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 to 4 MSc. + 8 PhD students 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external collaborators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$1.5M over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years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77379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Faculty Start-Up (</a:t>
                      </a:r>
                      <a:r>
                        <a:rPr lang="en-US" sz="1500" b="1" u="sng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FSU</a:t>
                      </a:r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(estimate based on faculty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hiring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Specific Project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new KU faculty per award + up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2 PG students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$240k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over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 years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74384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Emerging Science &amp; Innovation Grant (</a:t>
                      </a:r>
                      <a:r>
                        <a:rPr lang="en-US" sz="1500" b="1" u="sng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ESIG</a:t>
                      </a:r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15-20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(depending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on award values)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Specific Project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 to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 KU faculty per award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(no student allocation)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$50k – 100k per award over 6-12 months</a:t>
                      </a:r>
                    </a:p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($500k per College)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192864"/>
                  </a:ext>
                </a:extLst>
              </a:tr>
              <a:tr h="641689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Joint University R&amp;D Programs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Dependent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Collaborative 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Projects (KU + Partner University)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4 KU faculty + Partner university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Variable/ Normally 3 years 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5340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05664" y="6372808"/>
            <a:ext cx="70989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 Approx. 75% of KU faculty to be involved in an internally funded </a:t>
            </a:r>
            <a:r>
              <a:rPr lang="en-US" sz="1600" dirty="0" smtClean="0"/>
              <a:t>grant at any time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68353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193973" y="84633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R&amp;D Strategy – 2022 Action Plan</a:t>
            </a:r>
            <a:endParaRPr lang="en-US" sz="20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747014"/>
              </p:ext>
            </p:extLst>
          </p:nvPr>
        </p:nvGraphicFramePr>
        <p:xfrm>
          <a:off x="107819" y="666146"/>
          <a:ext cx="11978514" cy="55851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7144">
                  <a:extLst>
                    <a:ext uri="{9D8B030D-6E8A-4147-A177-3AD203B41FA5}">
                      <a16:colId xmlns:a16="http://schemas.microsoft.com/office/drawing/2014/main" val="2344238207"/>
                    </a:ext>
                  </a:extLst>
                </a:gridCol>
                <a:gridCol w="3446567">
                  <a:extLst>
                    <a:ext uri="{9D8B030D-6E8A-4147-A177-3AD203B41FA5}">
                      <a16:colId xmlns:a16="http://schemas.microsoft.com/office/drawing/2014/main" val="352265008"/>
                    </a:ext>
                  </a:extLst>
                </a:gridCol>
                <a:gridCol w="5568562">
                  <a:extLst>
                    <a:ext uri="{9D8B030D-6E8A-4147-A177-3AD203B41FA5}">
                      <a16:colId xmlns:a16="http://schemas.microsoft.com/office/drawing/2014/main" val="3540456663"/>
                    </a:ext>
                  </a:extLst>
                </a:gridCol>
                <a:gridCol w="1676241">
                  <a:extLst>
                    <a:ext uri="{9D8B030D-6E8A-4147-A177-3AD203B41FA5}">
                      <a16:colId xmlns:a16="http://schemas.microsoft.com/office/drawing/2014/main" val="1517612414"/>
                    </a:ext>
                  </a:extLst>
                </a:gridCol>
              </a:tblGrid>
              <a:tr h="15542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R&amp;D Area</a:t>
                      </a:r>
                      <a:endParaRPr 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Topic</a:t>
                      </a:r>
                      <a:endParaRPr 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Action</a:t>
                      </a:r>
                      <a:endParaRPr 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Timeline</a:t>
                      </a:r>
                      <a:endParaRPr 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1879308"/>
                  </a:ext>
                </a:extLst>
              </a:tr>
              <a:tr h="155428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Strategy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R&amp;D Strategic Plan 2022-2025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Approval of strategy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July 2022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282658"/>
                  </a:ext>
                </a:extLst>
              </a:tr>
              <a:tr h="264227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Governance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University Research Council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Approval</a:t>
                      </a:r>
                      <a:r>
                        <a:rPr lang="en-US" sz="1400" baseline="0" dirty="0" smtClean="0"/>
                        <a:t> of revised c</a:t>
                      </a:r>
                      <a:r>
                        <a:rPr lang="en-US" sz="1400" dirty="0" smtClean="0"/>
                        <a:t>harter to reflect</a:t>
                      </a:r>
                      <a:r>
                        <a:rPr lang="en-US" sz="1400" baseline="0" dirty="0" smtClean="0"/>
                        <a:t> updated R&amp;D governance framework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August 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338143"/>
                  </a:ext>
                </a:extLst>
              </a:tr>
              <a:tr h="264227">
                <a:tc rowSpan="2"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Institutes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 smtClean="0"/>
                        <a:t>Masdar</a:t>
                      </a:r>
                      <a:r>
                        <a:rPr lang="en-US" sz="1400" baseline="0" dirty="0" smtClean="0"/>
                        <a:t> Institute and Petroleum Institute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Dissolve</a:t>
                      </a:r>
                      <a:r>
                        <a:rPr lang="en-US" sz="1400" baseline="0" dirty="0" smtClean="0"/>
                        <a:t> institutes in accordance with the revised R&amp;D strategy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August 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0825500"/>
                  </a:ext>
                </a:extLst>
              </a:tr>
              <a:tr h="373026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Abu Dhabi Healthcare Institute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Formalize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agreement with SSMC/</a:t>
                      </a:r>
                      <a:r>
                        <a:rPr lang="en-US" sz="1400" dirty="0" err="1" smtClean="0"/>
                        <a:t>Seha</a:t>
                      </a:r>
                      <a:r>
                        <a:rPr lang="en-US" sz="1400" dirty="0" smtClean="0"/>
                        <a:t>/Mayo</a:t>
                      </a:r>
                      <a:r>
                        <a:rPr lang="en-US" sz="1400" baseline="0" dirty="0" smtClean="0"/>
                        <a:t>, appoint Snr. Director and launch institute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August 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773344"/>
                  </a:ext>
                </a:extLst>
              </a:tr>
              <a:tr h="264227">
                <a:tc rowSpan="8"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Centers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RIC-2D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Appointment</a:t>
                      </a:r>
                      <a:r>
                        <a:rPr lang="en-US" sz="1400" baseline="0" dirty="0" smtClean="0"/>
                        <a:t> of Director and launch center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June 2022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675977"/>
                  </a:ext>
                </a:extLst>
              </a:tr>
              <a:tr h="155428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Advance Materials Chemistry Center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Launch</a:t>
                      </a:r>
                      <a:r>
                        <a:rPr lang="en-US" sz="1400" baseline="0" dirty="0" smtClean="0"/>
                        <a:t> center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August 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6701866"/>
                  </a:ext>
                </a:extLst>
              </a:tr>
              <a:tr h="155428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Advanced</a:t>
                      </a:r>
                      <a:r>
                        <a:rPr lang="en-US" sz="1400" baseline="0" dirty="0" smtClean="0"/>
                        <a:t> Power &amp; Energy Center – Phase 2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Review</a:t>
                      </a:r>
                      <a:r>
                        <a:rPr lang="en-US" sz="1400" baseline="0" dirty="0" smtClean="0"/>
                        <a:t> of outcomes and r</a:t>
                      </a:r>
                      <a:r>
                        <a:rPr lang="en-US" sz="1400" dirty="0" smtClean="0"/>
                        <a:t>enewal of center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August 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2304745"/>
                  </a:ext>
                </a:extLst>
              </a:tr>
              <a:tr h="264227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Biotechnology</a:t>
                      </a:r>
                      <a:r>
                        <a:rPr lang="en-US" sz="1400" baseline="0" dirty="0" smtClean="0"/>
                        <a:t> Center – Phase 2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Review</a:t>
                      </a:r>
                      <a:r>
                        <a:rPr lang="en-US" sz="1400" baseline="0" dirty="0" smtClean="0"/>
                        <a:t> of outcomes and r</a:t>
                      </a:r>
                      <a:r>
                        <a:rPr lang="en-US" sz="1400" dirty="0" smtClean="0"/>
                        <a:t>enewal of center, in</a:t>
                      </a:r>
                      <a:r>
                        <a:rPr lang="en-US" sz="1400" baseline="0" dirty="0" smtClean="0"/>
                        <a:t> alignment with ADHI plan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August 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2669507"/>
                  </a:ext>
                </a:extLst>
              </a:tr>
              <a:tr h="264227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Healthcare Engineering</a:t>
                      </a:r>
                      <a:r>
                        <a:rPr lang="en-US" sz="1400" baseline="0" dirty="0" smtClean="0"/>
                        <a:t> &amp;</a:t>
                      </a:r>
                      <a:r>
                        <a:rPr lang="en-US" sz="1400" dirty="0" smtClean="0"/>
                        <a:t> Innovation Center –</a:t>
                      </a:r>
                      <a:r>
                        <a:rPr lang="en-US" sz="1400" baseline="0" dirty="0" smtClean="0"/>
                        <a:t> Phase 2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Review</a:t>
                      </a:r>
                      <a:r>
                        <a:rPr lang="en-US" sz="1400" baseline="0" dirty="0" smtClean="0"/>
                        <a:t> of outcomes and r</a:t>
                      </a:r>
                      <a:r>
                        <a:rPr lang="en-US" sz="1400" dirty="0" smtClean="0"/>
                        <a:t>enewal of center, in</a:t>
                      </a:r>
                      <a:r>
                        <a:rPr lang="en-US" sz="1400" baseline="0" dirty="0" smtClean="0"/>
                        <a:t> alignment with ADHI plan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August 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391383"/>
                  </a:ext>
                </a:extLst>
              </a:tr>
              <a:tr h="155428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EARTHCARE</a:t>
                      </a:r>
                      <a:r>
                        <a:rPr lang="en-US" sz="1400" baseline="0" dirty="0" smtClean="0"/>
                        <a:t> Center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Review of center proposal and decision</a:t>
                      </a:r>
                      <a:r>
                        <a:rPr lang="en-US" sz="1400" baseline="0" dirty="0" smtClean="0"/>
                        <a:t> to launch center</a:t>
                      </a:r>
                      <a:endParaRPr 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October</a:t>
                      </a:r>
                      <a:r>
                        <a:rPr lang="en-US" sz="1400" baseline="0" dirty="0" smtClean="0"/>
                        <a:t> 2022</a:t>
                      </a:r>
                      <a:endParaRPr 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862864"/>
                  </a:ext>
                </a:extLst>
              </a:tr>
              <a:tr h="373026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KU-KAIST Joint Research Center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Review of center and decision</a:t>
                      </a:r>
                      <a:r>
                        <a:rPr lang="en-US" sz="1400" baseline="0" dirty="0" smtClean="0"/>
                        <a:t> on center renewal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December</a:t>
                      </a:r>
                      <a:r>
                        <a:rPr lang="en-US" sz="1400" baseline="0" dirty="0" smtClean="0"/>
                        <a:t> 2022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320237"/>
                  </a:ext>
                </a:extLst>
              </a:tr>
              <a:tr h="264227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KU-KBSI</a:t>
                      </a:r>
                      <a:r>
                        <a:rPr lang="en-US" sz="1400" baseline="0" dirty="0" smtClean="0"/>
                        <a:t> Technical Center (KUTC)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Review of center and decision</a:t>
                      </a:r>
                      <a:r>
                        <a:rPr lang="en-US" sz="1400" baseline="0" dirty="0" smtClean="0"/>
                        <a:t> on center renewal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December</a:t>
                      </a:r>
                      <a:r>
                        <a:rPr lang="en-US" sz="1400" baseline="0" dirty="0" smtClean="0"/>
                        <a:t> 2022</a:t>
                      </a:r>
                      <a:endParaRPr 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321970"/>
                  </a:ext>
                </a:extLst>
              </a:tr>
              <a:tr h="264227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baseline="0" dirty="0" smtClean="0"/>
                        <a:t>Research Funding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Research Center funding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Launch</a:t>
                      </a:r>
                      <a:r>
                        <a:rPr lang="en-US" sz="1400" baseline="0" dirty="0" smtClean="0"/>
                        <a:t> RFP based on revised R&amp;D strategy</a:t>
                      </a:r>
                      <a:endParaRPr 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September</a:t>
                      </a:r>
                      <a:r>
                        <a:rPr lang="en-US" sz="1400" baseline="0" dirty="0" smtClean="0"/>
                        <a:t> 2022</a:t>
                      </a:r>
                      <a:endParaRPr 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6551"/>
                  </a:ext>
                </a:extLst>
              </a:tr>
              <a:tr h="264227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Research &amp; Innovation</a:t>
                      </a:r>
                      <a:r>
                        <a:rPr lang="en-US" sz="1400" baseline="0" dirty="0" smtClean="0"/>
                        <a:t> Grant funding (formerly CIRA)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Launch</a:t>
                      </a:r>
                      <a:r>
                        <a:rPr lang="en-US" sz="1400" baseline="0" dirty="0" smtClean="0"/>
                        <a:t> RFP based on revised R&amp;D strategy</a:t>
                      </a:r>
                      <a:endParaRPr 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October</a:t>
                      </a:r>
                      <a:r>
                        <a:rPr lang="en-US" sz="1400" baseline="0" dirty="0" smtClean="0"/>
                        <a:t> 2022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827763"/>
                  </a:ext>
                </a:extLst>
              </a:tr>
              <a:tr h="264227">
                <a:tc vMerge="1">
                  <a:txBody>
                    <a:bodyPr/>
                    <a:lstStyle/>
                    <a:p>
                      <a:pPr algn="l"/>
                      <a:endParaRPr 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Emerging Science &amp; Innovation Grant</a:t>
                      </a:r>
                      <a:r>
                        <a:rPr lang="en-US" sz="1400" baseline="0" dirty="0" smtClean="0"/>
                        <a:t> call</a:t>
                      </a:r>
                      <a:endParaRPr 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Launch</a:t>
                      </a:r>
                      <a:r>
                        <a:rPr lang="en-US" sz="1400" baseline="0" dirty="0" smtClean="0"/>
                        <a:t> RFP based on revised R&amp;D strategy</a:t>
                      </a:r>
                      <a:endParaRPr 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November</a:t>
                      </a:r>
                      <a:r>
                        <a:rPr lang="en-US" sz="1400" baseline="0" dirty="0" smtClean="0"/>
                        <a:t> 2022</a:t>
                      </a:r>
                      <a:endParaRPr 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065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918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 txBox="1">
            <a:spLocks/>
          </p:cNvSpPr>
          <p:nvPr/>
        </p:nvSpPr>
        <p:spPr>
          <a:xfrm>
            <a:off x="414406" y="2387167"/>
            <a:ext cx="8143143" cy="150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indent="0" fontAlgn="base">
              <a:spcBef>
                <a:spcPct val="10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sz="2954" b="1">
                <a:latin typeface="Candara" pitchFamily="34" charset="0"/>
              </a:defRPr>
            </a:lvl1pPr>
            <a:lvl2pPr marL="422041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None/>
              <a:defRPr sz="1662"/>
            </a:lvl2pPr>
            <a:lvl3pPr marL="844083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rgbClr val="0B1F65"/>
              </a:buClr>
              <a:buFont typeface="Webdings" pitchFamily="18" charset="2"/>
              <a:buNone/>
              <a:defRPr sz="1477">
                <a:latin typeface="+mj-lt"/>
              </a:defRPr>
            </a:lvl3pPr>
            <a:lvl4pPr marL="1266124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rgbClr val="0B1F65"/>
              </a:buClr>
              <a:buNone/>
              <a:defRPr sz="1292">
                <a:latin typeface="+mj-lt"/>
              </a:defRPr>
            </a:lvl4pPr>
            <a:lvl5pPr marL="1688165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5pPr>
            <a:lvl6pPr marL="2110207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6pPr>
            <a:lvl7pPr marL="2532248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7pPr>
            <a:lvl8pPr marL="2954289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8pPr>
            <a:lvl9pPr marL="3376331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9pPr>
          </a:lstStyle>
          <a:p>
            <a:r>
              <a:rPr lang="en-US" dirty="0"/>
              <a:t>KU plan – 2031</a:t>
            </a:r>
          </a:p>
          <a:p>
            <a:r>
              <a:rPr lang="en-US" dirty="0"/>
              <a:t>Research &amp; Development</a:t>
            </a:r>
          </a:p>
        </p:txBody>
      </p:sp>
      <p:sp>
        <p:nvSpPr>
          <p:cNvPr id="5" name="Title 4"/>
          <p:cNvSpPr txBox="1">
            <a:spLocks/>
          </p:cNvSpPr>
          <p:nvPr/>
        </p:nvSpPr>
        <p:spPr>
          <a:xfrm>
            <a:off x="445476" y="4406903"/>
            <a:ext cx="10299135" cy="1508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sz="2215" b="0" cap="none" baseline="0">
                <a:latin typeface="Candara" pitchFamily="34" charset="0"/>
                <a:ea typeface="+mj-ea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5pPr>
            <a:lvl6pPr marL="422041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6pPr>
            <a:lvl7pPr marL="844083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7pPr>
            <a:lvl8pPr marL="1266124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8pPr>
            <a:lvl9pPr marL="1688165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9pPr>
          </a:lstStyle>
          <a:p>
            <a:pPr marL="1343025" indent="-1343025"/>
            <a:r>
              <a:rPr lang="en-US" sz="2000" b="1" dirty="0" smtClean="0">
                <a:solidFill>
                  <a:srgbClr val="C00000"/>
                </a:solidFill>
                <a:latin typeface="+mn-lt"/>
              </a:rPr>
              <a:t>Strategic Plan</a:t>
            </a:r>
            <a:endParaRPr lang="en-US" sz="18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06" y="247863"/>
            <a:ext cx="2461846" cy="78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89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Strategic Focus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5333" y="768262"/>
            <a:ext cx="111000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In the next 5 years KU R&amp;D’s strategic focus will be concentrated on supporting ambitions to be a top 100 university and to produce innovation in the form of solutions for industry partners and spin-out company formation.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5333" y="2081968"/>
            <a:ext cx="1096214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This will be achieved by: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Focusing</a:t>
            </a:r>
            <a:r>
              <a:rPr lang="en-US" sz="2000" dirty="0"/>
              <a:t> on use-inspired R&amp;D to address the grand challenges of sustainability, human health, intelligent and secure digital systems, and space </a:t>
            </a:r>
            <a:r>
              <a:rPr lang="en-US" sz="2000" dirty="0" smtClean="0"/>
              <a:t>exploration.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Investing </a:t>
            </a:r>
            <a:r>
              <a:rPr lang="en-US" sz="2000" dirty="0"/>
              <a:t>in medicine and healthcare R&amp;D </a:t>
            </a:r>
            <a:r>
              <a:rPr lang="en-US" sz="2000" dirty="0" smtClean="0"/>
              <a:t>capabilities.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Investing</a:t>
            </a:r>
            <a:r>
              <a:rPr lang="en-US" sz="2000" dirty="0"/>
              <a:t> in materials science and engineering R&amp;D capabilities with particular emphasis on graphene and </a:t>
            </a:r>
            <a:r>
              <a:rPr lang="en-US" sz="2000" dirty="0" smtClean="0"/>
              <a:t>2D materials.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Strengthening </a:t>
            </a:r>
            <a:r>
              <a:rPr lang="en-US" sz="2000" dirty="0" smtClean="0"/>
              <a:t>sustainable</a:t>
            </a:r>
            <a:r>
              <a:rPr lang="en-US" sz="2000" b="1" dirty="0" smtClean="0"/>
              <a:t> </a:t>
            </a:r>
            <a:r>
              <a:rPr lang="en-US" sz="2000" dirty="0" smtClean="0"/>
              <a:t>energy </a:t>
            </a:r>
            <a:r>
              <a:rPr lang="en-US" sz="2000" dirty="0"/>
              <a:t>R&amp;D in the areas of </a:t>
            </a:r>
            <a:r>
              <a:rPr lang="en-US" sz="2000" dirty="0" smtClean="0"/>
              <a:t>power </a:t>
            </a:r>
            <a:r>
              <a:rPr lang="en-US" sz="2000" dirty="0"/>
              <a:t>and </a:t>
            </a:r>
            <a:r>
              <a:rPr lang="en-US" sz="2000" dirty="0" smtClean="0"/>
              <a:t>fuels.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Strengthening </a:t>
            </a:r>
            <a:r>
              <a:rPr lang="en-US" sz="2000" dirty="0"/>
              <a:t>robotics and intelligent systems R&amp;D through expanded robotics research and an increased focus on </a:t>
            </a:r>
            <a:r>
              <a:rPr lang="en-US" sz="2000" dirty="0" smtClean="0"/>
              <a:t>cybersecurity.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Building</a:t>
            </a:r>
            <a:r>
              <a:rPr lang="en-US" sz="2000" dirty="0"/>
              <a:t> capabilities in fundamental </a:t>
            </a:r>
            <a:r>
              <a:rPr lang="en-US" sz="2000" dirty="0" smtClean="0"/>
              <a:t>science.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Building</a:t>
            </a:r>
            <a:r>
              <a:rPr lang="en-US" sz="2000" dirty="0"/>
              <a:t> coordinated capabilities in space technology and space science </a:t>
            </a:r>
            <a:r>
              <a:rPr lang="en-US" sz="2000" dirty="0" smtClean="0"/>
              <a:t>R&amp;D.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Building</a:t>
            </a:r>
            <a:r>
              <a:rPr lang="en-US" sz="2000" dirty="0"/>
              <a:t> capabilities in water and environment </a:t>
            </a:r>
            <a:r>
              <a:rPr lang="en-US" sz="2000" dirty="0" smtClean="0"/>
              <a:t>R&amp;D.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78953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</a:t>
            </a:r>
            <a:r>
              <a:rPr lang="en-US" sz="2000" b="1" dirty="0" smtClean="0"/>
              <a:t>Planned Initiatives</a:t>
            </a:r>
            <a:endParaRPr lang="en-US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604279" y="862769"/>
            <a:ext cx="10962147" cy="563231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000" b="1" dirty="0"/>
              <a:t>Strategy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Revisit and revise strategic R&amp;D focus </a:t>
            </a:r>
            <a:r>
              <a:rPr lang="en-US" sz="2000" dirty="0" smtClean="0"/>
              <a:t>areas.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Engage a high-level Industrial Advisory Board to ensure alignment of R&amp;D activities with global research and innovation trends as well as the industrial priorities of Abu Dhabi and the </a:t>
            </a:r>
            <a:r>
              <a:rPr lang="en-US" sz="2000" dirty="0" smtClean="0"/>
              <a:t>UAE.</a:t>
            </a:r>
            <a:endParaRPr lang="en-US" sz="2000" dirty="0"/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Governance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Restructure Research Council to ensure optimal alignment and coordination between all academic and research </a:t>
            </a:r>
            <a:r>
              <a:rPr lang="en-US" sz="2000" dirty="0" smtClean="0"/>
              <a:t>units.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Restructure research center advisory boards </a:t>
            </a:r>
            <a:r>
              <a:rPr lang="en-US" sz="2000" dirty="0" smtClean="0"/>
              <a:t>to </a:t>
            </a:r>
            <a:r>
              <a:rPr lang="en-US" sz="2000" dirty="0"/>
              <a:t>ensure optimal alignment and coordination between research centers and academic </a:t>
            </a:r>
            <a:r>
              <a:rPr lang="en-US" sz="2000" dirty="0" smtClean="0"/>
              <a:t>departments.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endParaRPr lang="en-US" sz="2000" dirty="0"/>
          </a:p>
          <a:p>
            <a:pPr algn="just"/>
            <a:r>
              <a:rPr lang="en-US" sz="2000" b="1" dirty="0"/>
              <a:t>Operational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Review and revise internal research funding programs to provide (1) broader funding distribution for competitive research awards and (2) increased funding for fundamental science as well as </a:t>
            </a:r>
            <a:r>
              <a:rPr lang="en-US" sz="2000" dirty="0" smtClean="0"/>
              <a:t>innovation.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Develop research infrastructure needed for state-of-the-art capabilities for R&amp;D focus </a:t>
            </a:r>
            <a:r>
              <a:rPr lang="en-US" sz="2000" dirty="0" smtClean="0"/>
              <a:t>areas.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cs typeface="Calibri" panose="020F0502020204030204"/>
              </a:rPr>
              <a:t>Integrate academic units and technology management and innovation office into research project progress reporting </a:t>
            </a:r>
            <a:r>
              <a:rPr lang="en-US" sz="2000" dirty="0" smtClean="0">
                <a:cs typeface="Calibri" panose="020F0502020204030204"/>
              </a:rPr>
              <a:t>processes.</a:t>
            </a:r>
            <a:endParaRPr lang="en-US" sz="20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51238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369" y="248497"/>
            <a:ext cx="105467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R&amp;D Strategy - Enabling Projects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53943"/>
              </p:ext>
            </p:extLst>
          </p:nvPr>
        </p:nvGraphicFramePr>
        <p:xfrm>
          <a:off x="301369" y="796202"/>
          <a:ext cx="11501941" cy="5730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7131">
                  <a:extLst>
                    <a:ext uri="{9D8B030D-6E8A-4147-A177-3AD203B41FA5}">
                      <a16:colId xmlns:a16="http://schemas.microsoft.com/office/drawing/2014/main" val="535192926"/>
                    </a:ext>
                  </a:extLst>
                </a:gridCol>
                <a:gridCol w="7544810">
                  <a:extLst>
                    <a:ext uri="{9D8B030D-6E8A-4147-A177-3AD203B41FA5}">
                      <a16:colId xmlns:a16="http://schemas.microsoft.com/office/drawing/2014/main" val="4188118171"/>
                    </a:ext>
                  </a:extLst>
                </a:gridCol>
              </a:tblGrid>
              <a:tr h="392715">
                <a:tc>
                  <a:txBody>
                    <a:bodyPr/>
                    <a:lstStyle/>
                    <a:p>
                      <a:r>
                        <a:rPr lang="en-US" sz="1400" dirty="0"/>
                        <a:t>Strategic</a:t>
                      </a:r>
                      <a:r>
                        <a:rPr lang="en-US" sz="1400" baseline="0" dirty="0"/>
                        <a:t> Projects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Outputs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2068207"/>
                  </a:ext>
                </a:extLst>
              </a:tr>
              <a:tr h="485281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Review</a:t>
                      </a:r>
                      <a:r>
                        <a:rPr lang="en-US" sz="1400" b="1" baseline="0" dirty="0"/>
                        <a:t> and revision of strategic research vertical and horizontal focus areas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Review and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revision of current institutes and centers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303639"/>
                  </a:ext>
                </a:extLst>
              </a:tr>
              <a:tr h="485281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Establishment of Abu Dhabi Healthcare Institute (ADHI)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782734"/>
                  </a:ext>
                </a:extLst>
              </a:tr>
              <a:tr h="66761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Establishment of an externally </a:t>
                      </a:r>
                      <a:r>
                        <a:rPr lang="en-US" sz="1400" dirty="0"/>
                        <a:t>funded research and innovation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</a:t>
                      </a:r>
                      <a:r>
                        <a:rPr lang="en-US" sz="1400" dirty="0"/>
                        <a:t> focused on graphene and other</a:t>
                      </a:r>
                      <a:r>
                        <a:rPr lang="en-US" sz="1400" baseline="0" dirty="0"/>
                        <a:t> 2D materials </a:t>
                      </a:r>
                      <a:r>
                        <a:rPr lang="en-US" sz="1400" dirty="0"/>
                        <a:t>(RIP-2D)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124046"/>
                  </a:ext>
                </a:extLst>
              </a:tr>
              <a:tr h="39271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Establishment</a:t>
                      </a:r>
                      <a:r>
                        <a:rPr lang="en-US" sz="1400" baseline="0" dirty="0"/>
                        <a:t> of Center for Research on Ocean and Coastal Sustainability (</a:t>
                      </a:r>
                      <a:r>
                        <a:rPr lang="en-US" sz="1400" i="1" baseline="0" dirty="0"/>
                        <a:t>tbc based on external funding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458971"/>
                  </a:ext>
                </a:extLst>
              </a:tr>
              <a:tr h="392715">
                <a:tc row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Build-out and enhancement of research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Build-out</a:t>
                      </a:r>
                      <a:r>
                        <a:rPr lang="en-US" sz="1400" baseline="0" dirty="0"/>
                        <a:t> complementary KU research labs for ADHI (ARF &amp; Tissue &amp; Cell Culture Laboratory)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985684"/>
                  </a:ext>
                </a:extLst>
              </a:tr>
              <a:tr h="66761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Build-out new CORE lab facilities @ SAN campus (Microscopy</a:t>
                      </a:r>
                      <a:r>
                        <a:rPr lang="en-US" sz="1400" baseline="0" dirty="0"/>
                        <a:t>, Cleanroom, Gloveboxes, Nano/Micro fabrication)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242995"/>
                  </a:ext>
                </a:extLst>
              </a:tr>
              <a:tr h="39271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Expand HPC</a:t>
                      </a:r>
                      <a:r>
                        <a:rPr lang="en-US" sz="1400" baseline="0" dirty="0"/>
                        <a:t> capabilities and data storage in light of increased health and material sciences research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74294"/>
                  </a:ext>
                </a:extLst>
              </a:tr>
              <a:tr h="667615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Development of new initiatives to achieve</a:t>
                      </a:r>
                      <a:r>
                        <a:rPr lang="en-US" sz="1400" b="1" baseline="0" dirty="0"/>
                        <a:t> research impact and innovation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Expand internal funding</a:t>
                      </a:r>
                      <a:r>
                        <a:rPr lang="en-US" sz="1400" baseline="0" dirty="0"/>
                        <a:t> programs to support both fundamental science and innovation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196352"/>
                  </a:ext>
                </a:extLst>
              </a:tr>
              <a:tr h="66761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Expand faculty awards to recognize scholarly output (publications) and innovation (IP outputs and sponsored work with companies) as well as track overall research success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45487"/>
                  </a:ext>
                </a:extLst>
              </a:tr>
              <a:tr h="39271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Establishment of partnerships with leading universities and research institutes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882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696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- Enablers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698964"/>
              </p:ext>
            </p:extLst>
          </p:nvPr>
        </p:nvGraphicFramePr>
        <p:xfrm>
          <a:off x="604279" y="666146"/>
          <a:ext cx="10962147" cy="5790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039">
                  <a:extLst>
                    <a:ext uri="{9D8B030D-6E8A-4147-A177-3AD203B41FA5}">
                      <a16:colId xmlns:a16="http://schemas.microsoft.com/office/drawing/2014/main" val="1316845268"/>
                    </a:ext>
                  </a:extLst>
                </a:gridCol>
                <a:gridCol w="10372108">
                  <a:extLst>
                    <a:ext uri="{9D8B030D-6E8A-4147-A177-3AD203B41FA5}">
                      <a16:colId xmlns:a16="http://schemas.microsoft.com/office/drawing/2014/main" val="1659030833"/>
                    </a:ext>
                  </a:extLst>
                </a:gridCol>
              </a:tblGrid>
              <a:tr h="43692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3910964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/>
                        <a:t>New investment in world-class materials and healthcare research facilities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0908428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/>
                        <a:t>New investment in coastal and marine research facilities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7058616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/>
                        <a:t>Increased investment in existing research center facilities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1469225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500" dirty="0"/>
                        <a:t>Increased investment in high performance computing infrastructure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003925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500" dirty="0"/>
                        <a:t>Increased investment 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  <a:latin typeface="+mn-lt"/>
                        </a:rPr>
                        <a:t> in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  <a:latin typeface="+mn-lt"/>
                        </a:rPr>
                        <a:t>Ankabut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  <a:latin typeface="+mn-lt"/>
                        </a:rPr>
                        <a:t> to support large-scale HPC, or identifying alternate datacenter hosting facilities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731343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/>
                        <a:t>Continued sufficient funding for internal research funding programs, including seed-funding for strategic research centers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7875149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/>
                        <a:t>Partnerships with leading universities and research institutes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8909535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/>
                        <a:t>Partnerships with leading companies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9783280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/>
                        <a:t>Establishment of a research park for co-location of R&amp;D with industry partners, particularly for high TRL demonstration projects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47006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/>
                        <a:t>Establishment of a platform for building and scaling KU spin-out companies (or build on KU Enterprise Company)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9060710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/>
                        <a:t>Faculty interest and benefit from innovation work, including patenting, working with companies and seeking to form spin-outs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981339"/>
                  </a:ext>
                </a:extLst>
              </a:tr>
              <a:tr h="65538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Centralization of entrepreneurship and innovation courses/modules/electives to ensure alignment and/or strengthening of university overall innovation &amp; entrepreneurship ecosystem.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0250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971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University Research Council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845" y="2889236"/>
            <a:ext cx="116601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Updated Mandate</a:t>
            </a:r>
            <a:r>
              <a:rPr lang="en-US" sz="2000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Meet every 2 weeks instead of </a:t>
            </a:r>
            <a:r>
              <a:rPr lang="en-US" sz="2000" dirty="0" smtClean="0"/>
              <a:t>monthly.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 smtClean="0"/>
              <a:t>Review </a:t>
            </a:r>
            <a:r>
              <a:rPr lang="en-US" sz="2000" dirty="0"/>
              <a:t>and recommend research related </a:t>
            </a:r>
            <a:r>
              <a:rPr lang="en-US" sz="2000" dirty="0" smtClean="0"/>
              <a:t>policies.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Review and recommend updates to </a:t>
            </a:r>
            <a:r>
              <a:rPr lang="en-US" sz="2000" dirty="0" smtClean="0"/>
              <a:t>the university research strategy.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Review and recommend </a:t>
            </a:r>
            <a:r>
              <a:rPr lang="en-US" sz="2000" dirty="0" smtClean="0"/>
              <a:t>awards that utilization University research funds. 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Review of internal funding </a:t>
            </a:r>
            <a:r>
              <a:rPr lang="en-US" sz="2000" dirty="0" smtClean="0"/>
              <a:t>programs and, when necessary, recommend changes.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Review and recommend research labs &amp; research computing </a:t>
            </a:r>
            <a:r>
              <a:rPr lang="en-US" sz="2000" dirty="0" smtClean="0"/>
              <a:t>capital equipment </a:t>
            </a:r>
            <a:r>
              <a:rPr lang="en-US" sz="2000" dirty="0"/>
              <a:t>requirements and </a:t>
            </a:r>
            <a:r>
              <a:rPr lang="en-US" sz="2000" dirty="0" smtClean="0"/>
              <a:t>investments.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Ensure alignment </a:t>
            </a:r>
            <a:r>
              <a:rPr lang="en-US" sz="2000" dirty="0" smtClean="0"/>
              <a:t>of faculty </a:t>
            </a:r>
            <a:r>
              <a:rPr lang="en-US" sz="2000" dirty="0"/>
              <a:t>hiring with </a:t>
            </a:r>
            <a:r>
              <a:rPr lang="en-US" sz="2000" dirty="0" smtClean="0"/>
              <a:t>the university research strategy.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Ensure graduate and undergraduate education integration with the university research strategy.</a:t>
            </a:r>
          </a:p>
          <a:p>
            <a:pPr marL="285750" indent="-285750">
              <a:buFontTx/>
              <a:buChar char="-"/>
            </a:pPr>
            <a:r>
              <a:rPr lang="en-US" sz="2000" dirty="0" smtClean="0"/>
              <a:t>Ensure </a:t>
            </a:r>
            <a:r>
              <a:rPr lang="en-US" sz="2000" dirty="0"/>
              <a:t>graduate student recruitment and allocation </a:t>
            </a:r>
            <a:r>
              <a:rPr lang="en-US" sz="2000" dirty="0" smtClean="0"/>
              <a:t>alignment </a:t>
            </a:r>
            <a:r>
              <a:rPr lang="en-US" sz="2000" dirty="0"/>
              <a:t>with the university research strategy.</a:t>
            </a:r>
          </a:p>
          <a:p>
            <a:pPr marL="285750" indent="-285750">
              <a:buFontTx/>
              <a:buChar char="-"/>
            </a:pPr>
            <a:r>
              <a:rPr lang="en-US" sz="2000" dirty="0" smtClean="0"/>
              <a:t>Recommend </a:t>
            </a:r>
            <a:r>
              <a:rPr lang="en-US" sz="2000" dirty="0"/>
              <a:t>promotion of research project staff (every 6 months only</a:t>
            </a:r>
            <a:r>
              <a:rPr lang="en-US" sz="2000" dirty="0" smtClean="0"/>
              <a:t>).</a:t>
            </a:r>
            <a:endParaRPr 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531845" y="911003"/>
            <a:ext cx="11430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273685" algn="just">
              <a:spcAft>
                <a:spcPts val="0"/>
              </a:spcAft>
            </a:pPr>
            <a:r>
              <a:rPr lang="en-US" sz="2000" b="1" dirty="0">
                <a:ea typeface="Times New Roman" panose="02020603050405020304" pitchFamily="18" charset="0"/>
                <a:cs typeface="Arial" panose="020B0604020202020204" pitchFamily="34" charset="0"/>
              </a:rPr>
              <a:t>Membership:</a:t>
            </a:r>
          </a:p>
          <a:p>
            <a:pPr marR="273685" algn="just">
              <a:spcAft>
                <a:spcPts val="0"/>
              </a:spcAft>
            </a:pPr>
            <a:r>
              <a:rPr lang="en-US" sz="2000" u="sng" dirty="0">
                <a:ea typeface="Times New Roman" panose="02020603050405020304" pitchFamily="18" charset="0"/>
                <a:cs typeface="Arial" panose="020B0604020202020204" pitchFamily="34" charset="0"/>
              </a:rPr>
              <a:t>URC C</a:t>
            </a:r>
            <a:r>
              <a:rPr lang="en-US" sz="2000" u="sng" spc="-10" dirty="0">
                <a:ea typeface="Times New Roman" panose="02020603050405020304" pitchFamily="18" charset="0"/>
                <a:cs typeface="Arial" panose="020B0604020202020204" pitchFamily="34" charset="0"/>
              </a:rPr>
              <a:t>h</a:t>
            </a:r>
            <a:r>
              <a:rPr lang="en-US" sz="2000" u="sng" dirty="0"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sz="2000" u="sng" spc="-5" dirty="0"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000" u="sng" dirty="0">
                <a:ea typeface="Times New Roman" panose="02020603050405020304" pitchFamily="18" charset="0"/>
                <a:cs typeface="Arial" panose="020B0604020202020204" pitchFamily="34" charset="0"/>
              </a:rPr>
              <a:t>r:</a:t>
            </a:r>
            <a:r>
              <a:rPr lang="en-US" sz="2000" spc="15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spc="-15" dirty="0"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sz="2000" spc="5" dirty="0">
                <a:ea typeface="Times New Roman" panose="02020603050405020304" pitchFamily="18" charset="0"/>
                <a:cs typeface="Arial" panose="020B0604020202020204" pitchFamily="34" charset="0"/>
              </a:rPr>
              <a:t>V</a:t>
            </a:r>
            <a:r>
              <a:rPr lang="en-US" sz="2000" dirty="0">
                <a:ea typeface="Times New Roman" panose="02020603050405020304" pitchFamily="18" charset="0"/>
                <a:cs typeface="Arial" panose="020B0604020202020204" pitchFamily="34" charset="0"/>
              </a:rPr>
              <a:t>P</a:t>
            </a:r>
            <a:r>
              <a:rPr lang="en-US" sz="2000" spc="1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spc="-5" dirty="0">
                <a:ea typeface="Times New Roman" panose="02020603050405020304" pitchFamily="18" charset="0"/>
                <a:cs typeface="Arial" panose="020B0604020202020204" pitchFamily="34" charset="0"/>
              </a:rPr>
              <a:t>Research &amp; Development</a:t>
            </a:r>
            <a:endParaRPr lang="en-US" sz="20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R="273685" algn="just">
              <a:spcAft>
                <a:spcPts val="0"/>
              </a:spcAft>
            </a:pPr>
            <a:r>
              <a:rPr lang="en-US" sz="2000" u="sng" spc="5" dirty="0">
                <a:ea typeface="Times New Roman" panose="02020603050405020304" pitchFamily="18" charset="0"/>
                <a:cs typeface="Arial" panose="020B0604020202020204" pitchFamily="34" charset="0"/>
              </a:rPr>
              <a:t>URC Secretary:</a:t>
            </a:r>
            <a:r>
              <a:rPr lang="en-US" sz="2000" spc="5" dirty="0">
                <a:ea typeface="Times New Roman" panose="02020603050405020304" pitchFamily="18" charset="0"/>
                <a:cs typeface="Arial" panose="020B0604020202020204" pitchFamily="34" charset="0"/>
              </a:rPr>
              <a:t> Director – University Sponsored Research.</a:t>
            </a:r>
            <a:endParaRPr lang="en-US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273685" algn="just">
              <a:spcAft>
                <a:spcPts val="0"/>
              </a:spcAft>
            </a:pPr>
            <a:r>
              <a:rPr lang="en-US" sz="2000" u="sng" spc="5" dirty="0">
                <a:ea typeface="Times New Roman" panose="02020603050405020304" pitchFamily="18" charset="0"/>
                <a:cs typeface="Arial" panose="020B0604020202020204" pitchFamily="34" charset="0"/>
              </a:rPr>
              <a:t>URC Members:</a:t>
            </a:r>
            <a:r>
              <a:rPr lang="en-US" sz="2000" spc="5" dirty="0">
                <a:ea typeface="Times New Roman" panose="02020603050405020304" pitchFamily="18" charset="0"/>
                <a:cs typeface="Arial" panose="020B0604020202020204" pitchFamily="34" charset="0"/>
              </a:rPr>
              <a:t> Seven (7</a:t>
            </a:r>
            <a:r>
              <a:rPr lang="en-US" sz="2000" spc="15" dirty="0">
                <a:ea typeface="Times New Roman" panose="02020603050405020304" pitchFamily="18" charset="0"/>
              </a:rPr>
              <a:t>) academic members at Associate Dean level or above nominated by the </a:t>
            </a:r>
            <a:r>
              <a:rPr lang="en-US" sz="2000" spc="15" dirty="0" smtClean="0">
                <a:ea typeface="Times New Roman" panose="02020603050405020304" pitchFamily="18" charset="0"/>
              </a:rPr>
              <a:t>Provost, </a:t>
            </a:r>
            <a:r>
              <a:rPr lang="en-US" sz="2000" spc="15" dirty="0">
                <a:ea typeface="Times New Roman" panose="02020603050405020304" pitchFamily="18" charset="0"/>
              </a:rPr>
              <a:t>o</a:t>
            </a:r>
            <a:r>
              <a:rPr lang="en-US" sz="2000" spc="15" dirty="0" smtClean="0">
                <a:ea typeface="Times New Roman" panose="02020603050405020304" pitchFamily="18" charset="0"/>
              </a:rPr>
              <a:t>ne </a:t>
            </a:r>
            <a:r>
              <a:rPr lang="en-US" sz="2000" spc="15" dirty="0">
                <a:ea typeface="Times New Roman" panose="02020603050405020304" pitchFamily="18" charset="0"/>
              </a:rPr>
              <a:t>(1) member nominated by the SVP Student and Academic Affairs and three (3) members </a:t>
            </a:r>
            <a:r>
              <a:rPr lang="en-US" sz="2000" spc="15" dirty="0" smtClean="0">
                <a:ea typeface="Times New Roman" panose="02020603050405020304" pitchFamily="18" charset="0"/>
              </a:rPr>
              <a:t>representing research institutes and centers nominated </a:t>
            </a:r>
            <a:r>
              <a:rPr lang="en-US" sz="2000" spc="15" dirty="0">
                <a:ea typeface="Times New Roman" panose="02020603050405020304" pitchFamily="18" charset="0"/>
              </a:rPr>
              <a:t>by SVP </a:t>
            </a:r>
            <a:r>
              <a:rPr lang="en-US" sz="2000" spc="15" dirty="0" smtClean="0">
                <a:ea typeface="Times New Roman" panose="02020603050405020304" pitchFamily="18" charset="0"/>
              </a:rPr>
              <a:t>R&amp;D</a:t>
            </a:r>
            <a:r>
              <a:rPr lang="en-US" sz="2000" dirty="0" smtClean="0">
                <a:ea typeface="Times New Roman" panose="02020603050405020304" pitchFamily="18" charset="0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48457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Governance of the University Research Council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6889" y="4334298"/>
            <a:ext cx="7109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URC advises on the university research strategy, policies, funding and recommends </a:t>
            </a:r>
            <a:r>
              <a:rPr lang="en-US" dirty="0" smtClean="0"/>
              <a:t>internal </a:t>
            </a:r>
            <a:r>
              <a:rPr lang="en-US" dirty="0"/>
              <a:t>research awards </a:t>
            </a:r>
            <a:r>
              <a:rPr lang="en-US" dirty="0" smtClean="0"/>
              <a:t>and reviews subsequent </a:t>
            </a:r>
            <a:r>
              <a:rPr lang="en-US" dirty="0"/>
              <a:t>progress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456891" y="1887691"/>
            <a:ext cx="7109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URC Chair (SVP R&amp;D) provides updates to KU </a:t>
            </a:r>
            <a:r>
              <a:rPr lang="en-US" dirty="0" err="1"/>
              <a:t>BoT</a:t>
            </a:r>
            <a:r>
              <a:rPr lang="en-US" dirty="0"/>
              <a:t> and where necessary requests approval of institutes and strategic centers endorsed at ELC.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6890" y="3112753"/>
            <a:ext cx="7109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URC Chair (SVP R&amp;D) </a:t>
            </a:r>
            <a:r>
              <a:rPr lang="en-US" dirty="0" smtClean="0"/>
              <a:t>presents </a:t>
            </a:r>
            <a:r>
              <a:rPr lang="en-US" dirty="0"/>
              <a:t>recommendations and requested approvals </a:t>
            </a:r>
            <a:r>
              <a:rPr lang="en-US" dirty="0" smtClean="0"/>
              <a:t>as needed to the President and other executive leadership.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1012800" y="1731024"/>
            <a:ext cx="2788467" cy="9596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KU Board of Trustees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2800" y="2956086"/>
            <a:ext cx="2788467" cy="9596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E</a:t>
            </a:r>
            <a:r>
              <a:rPr lang="en-US" dirty="0"/>
              <a:t>xecutive </a:t>
            </a:r>
            <a:r>
              <a:rPr lang="en-US" u="sng" dirty="0" smtClean="0"/>
              <a:t>L</a:t>
            </a:r>
            <a:r>
              <a:rPr lang="en-US" dirty="0" smtClean="0"/>
              <a:t>eadership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1012800" y="4181148"/>
            <a:ext cx="2788467" cy="9596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U</a:t>
            </a:r>
            <a:r>
              <a:rPr lang="en-US" dirty="0"/>
              <a:t>niversity </a:t>
            </a:r>
            <a:r>
              <a:rPr lang="en-US" u="sng" dirty="0"/>
              <a:t>R</a:t>
            </a:r>
            <a:r>
              <a:rPr lang="en-US" dirty="0"/>
              <a:t>esearch </a:t>
            </a:r>
            <a:r>
              <a:rPr lang="en-US" u="sng" dirty="0"/>
              <a:t>C</a:t>
            </a:r>
            <a:r>
              <a:rPr lang="en-US" dirty="0"/>
              <a:t>ouncil (URC)</a:t>
            </a:r>
          </a:p>
        </p:txBody>
      </p:sp>
      <p:cxnSp>
        <p:nvCxnSpPr>
          <p:cNvPr id="14" name="Straight Arrow Connector 13"/>
          <p:cNvCxnSpPr>
            <a:stCxn id="12" idx="0"/>
            <a:endCxn id="11" idx="2"/>
          </p:cNvCxnSpPr>
          <p:nvPr/>
        </p:nvCxnSpPr>
        <p:spPr>
          <a:xfrm flipV="1">
            <a:off x="2407034" y="3915753"/>
            <a:ext cx="0" cy="2653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0"/>
            <a:endCxn id="10" idx="2"/>
          </p:cNvCxnSpPr>
          <p:nvPr/>
        </p:nvCxnSpPr>
        <p:spPr>
          <a:xfrm flipV="1">
            <a:off x="2407034" y="2690691"/>
            <a:ext cx="0" cy="2653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540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3AD3E-F77E-478A-B183-2502DCA32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760" y="307359"/>
            <a:ext cx="10214970" cy="449281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KU R&amp;D Strategy – Map of </a:t>
            </a:r>
            <a:r>
              <a:rPr lang="en-US" sz="2000" b="1" u="sng" dirty="0" smtClean="0">
                <a:latin typeface="Calibri" panose="020F0502020204030204" pitchFamily="34" charset="0"/>
                <a:cs typeface="Calibri" panose="020F0502020204030204" pitchFamily="34" charset="0"/>
              </a:rPr>
              <a:t>2017</a:t>
            </a: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Focus Areas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636172"/>
              </p:ext>
            </p:extLst>
          </p:nvPr>
        </p:nvGraphicFramePr>
        <p:xfrm>
          <a:off x="1119415" y="1328527"/>
          <a:ext cx="9953172" cy="4995260"/>
        </p:xfrm>
        <a:graphic>
          <a:graphicData uri="http://schemas.openxmlformats.org/drawingml/2006/table">
            <a:tbl>
              <a:tblPr firstRow="1" bandRow="1"/>
              <a:tblGrid>
                <a:gridCol w="1658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8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8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8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8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8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786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Clean and Renewable Energy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Water and Environment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Hydrocarbon Exploration and Production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Healthcare</a:t>
                      </a:r>
                      <a:endParaRPr lang="en-US" sz="1900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Aerospace (Aero/Astro)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9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algn="ctr"/>
                      <a:r>
                        <a:rPr lang="en-US" sz="19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Supply Chain and Logistics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091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950"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9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2431"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Robotics, Artificial Intelligence (AI) and Data Science</a:t>
                      </a:r>
                    </a:p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9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Information and Communication Technologies (ICT)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AF3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215"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Advanced Materials and Manufacturing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1647247" y="958272"/>
            <a:ext cx="9504725" cy="374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7625">
              <a:defRPr/>
            </a:pPr>
            <a:r>
              <a:rPr lang="en-US" sz="1833" b="1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“Verticals” focused on multidisciplinary sectors aligned with UAE and Abu Dhabi priorities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40261" y="3945133"/>
            <a:ext cx="9661422" cy="374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7625">
              <a:defRPr/>
            </a:pPr>
            <a:r>
              <a:rPr lang="en-US" sz="1833" b="1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“Horizontals” focused on cross-cutting critical enablers in which KU has competitive advantage</a:t>
            </a:r>
          </a:p>
        </p:txBody>
      </p:sp>
      <p:cxnSp>
        <p:nvCxnSpPr>
          <p:cNvPr id="36" name="Straight Arrow Connector 35"/>
          <p:cNvCxnSpPr/>
          <p:nvPr/>
        </p:nvCxnSpPr>
        <p:spPr bwMode="auto">
          <a:xfrm flipH="1">
            <a:off x="1119415" y="1152574"/>
            <a:ext cx="527833" cy="0"/>
          </a:xfrm>
          <a:prstGeom prst="straightConnector1">
            <a:avLst/>
          </a:prstGeom>
          <a:solidFill>
            <a:srgbClr val="6C7472"/>
          </a:solidFill>
          <a:ln w="571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Straight Arrow Connector 36"/>
          <p:cNvCxnSpPr/>
          <p:nvPr/>
        </p:nvCxnSpPr>
        <p:spPr bwMode="auto">
          <a:xfrm>
            <a:off x="10492946" y="1152574"/>
            <a:ext cx="579639" cy="0"/>
          </a:xfrm>
          <a:prstGeom prst="straightConnector1">
            <a:avLst/>
          </a:prstGeom>
          <a:solidFill>
            <a:srgbClr val="6C7472"/>
          </a:solidFill>
          <a:ln w="571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8" name="Group 37"/>
          <p:cNvGrpSpPr/>
          <p:nvPr/>
        </p:nvGrpSpPr>
        <p:grpSpPr>
          <a:xfrm>
            <a:off x="967945" y="4126184"/>
            <a:ext cx="473677" cy="2222409"/>
            <a:chOff x="1478062" y="3978060"/>
            <a:chExt cx="552124" cy="2522437"/>
          </a:xfrm>
        </p:grpSpPr>
        <p:cxnSp>
          <p:nvCxnSpPr>
            <p:cNvPr id="39" name="Straight Arrow Connector 38"/>
            <p:cNvCxnSpPr/>
            <p:nvPr/>
          </p:nvCxnSpPr>
          <p:spPr bwMode="auto">
            <a:xfrm>
              <a:off x="1517871" y="3978060"/>
              <a:ext cx="0" cy="2522437"/>
            </a:xfrm>
            <a:prstGeom prst="straightConnector1">
              <a:avLst/>
            </a:prstGeom>
            <a:solidFill>
              <a:srgbClr val="6C7472"/>
            </a:solidFill>
            <a:ln w="571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Straight Arrow Connector 39"/>
            <p:cNvCxnSpPr/>
            <p:nvPr/>
          </p:nvCxnSpPr>
          <p:spPr bwMode="auto">
            <a:xfrm flipH="1">
              <a:off x="1478062" y="3978060"/>
              <a:ext cx="552124" cy="0"/>
            </a:xfrm>
            <a:prstGeom prst="straightConnector1">
              <a:avLst/>
            </a:prstGeom>
            <a:solidFill>
              <a:srgbClr val="6C7472"/>
            </a:solidFill>
            <a:ln w="571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41" name="Group 40"/>
          <p:cNvGrpSpPr/>
          <p:nvPr/>
        </p:nvGrpSpPr>
        <p:grpSpPr>
          <a:xfrm flipH="1">
            <a:off x="10736021" y="4127520"/>
            <a:ext cx="473677" cy="2222409"/>
            <a:chOff x="1490065" y="3978060"/>
            <a:chExt cx="552124" cy="2522437"/>
          </a:xfrm>
        </p:grpSpPr>
        <p:cxnSp>
          <p:nvCxnSpPr>
            <p:cNvPr id="42" name="Straight Arrow Connector 41"/>
            <p:cNvCxnSpPr/>
            <p:nvPr/>
          </p:nvCxnSpPr>
          <p:spPr bwMode="auto">
            <a:xfrm>
              <a:off x="1517871" y="3978060"/>
              <a:ext cx="0" cy="2522437"/>
            </a:xfrm>
            <a:prstGeom prst="straightConnector1">
              <a:avLst/>
            </a:prstGeom>
            <a:solidFill>
              <a:srgbClr val="6C7472"/>
            </a:solidFill>
            <a:ln w="571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" name="Straight Arrow Connector 42"/>
            <p:cNvCxnSpPr/>
            <p:nvPr/>
          </p:nvCxnSpPr>
          <p:spPr bwMode="auto">
            <a:xfrm flipH="1">
              <a:off x="1490065" y="3978060"/>
              <a:ext cx="552124" cy="0"/>
            </a:xfrm>
            <a:prstGeom prst="straightConnector1">
              <a:avLst/>
            </a:prstGeom>
            <a:solidFill>
              <a:srgbClr val="6C7472"/>
            </a:solidFill>
            <a:ln w="571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500050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3AD3E-F77E-478A-B183-2502DCA32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760" y="307359"/>
            <a:ext cx="10214970" cy="449281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KU R&amp;D Strategy – Map of </a:t>
            </a:r>
            <a:r>
              <a:rPr lang="en-US" sz="2000" b="1" u="sng" dirty="0" smtClean="0">
                <a:latin typeface="Calibri" panose="020F0502020204030204" pitchFamily="34" charset="0"/>
                <a:cs typeface="Calibri" panose="020F0502020204030204" pitchFamily="34" charset="0"/>
              </a:rPr>
              <a:t>2017</a:t>
            </a: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Focus Areas and Operational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1117" y="767308"/>
            <a:ext cx="22298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1970"/>
            <a:r>
              <a:rPr lang="en-US" sz="1200" dirty="0">
                <a:solidFill>
                  <a:srgbClr val="0047BA"/>
                </a:solidFill>
                <a:latin typeface="Calibri" panose="020F0502020204030204" pitchFamily="34" charset="0"/>
                <a:cs typeface="Calibri" panose="020F0502020204030204" pitchFamily="34" charset="0"/>
                <a:sym typeface="Gill Sans Light" charset="0"/>
              </a:rPr>
              <a:t>Blue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  <a:sym typeface="Gill Sans Light" charset="0"/>
              </a:rPr>
              <a:t>=</a:t>
            </a:r>
            <a:r>
              <a:rPr lang="en-US" sz="1200" dirty="0">
                <a:solidFill>
                  <a:srgbClr val="0047BA"/>
                </a:solidFill>
                <a:latin typeface="Calibri" panose="020F0502020204030204" pitchFamily="34" charset="0"/>
                <a:cs typeface="Calibri" panose="020F0502020204030204" pitchFamily="34" charset="0"/>
                <a:sym typeface="Gill Sans Light" charset="0"/>
              </a:rPr>
              <a:t> </a:t>
            </a:r>
            <a:r>
              <a:rPr lang="en-US" sz="1200" dirty="0">
                <a:solidFill>
                  <a:prstClr val="black"/>
                </a:solidFill>
                <a:latin typeface="Calibri" panose="020F0502020204030204" pitchFamily="34" charset="0"/>
                <a:ea typeface="ヒラギノ角ゴ ProN W3" charset="-128"/>
                <a:cs typeface="Calibri" panose="020F0502020204030204" pitchFamily="34" charset="0"/>
                <a:sym typeface="Gill Sans Light" charset="0"/>
              </a:rPr>
              <a:t>Internally-awarded center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7224" y="556738"/>
            <a:ext cx="1973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61970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  <a:sym typeface="Gill Sans Light" charset="0"/>
              </a:rPr>
              <a:t>Date = Year of establishment</a:t>
            </a:r>
            <a:endParaRPr lang="en-US" sz="1200" dirty="0">
              <a:latin typeface="Calibri" panose="020F0502020204030204" pitchFamily="34" charset="0"/>
              <a:ea typeface="ヒラギノ角ゴ ProN W3" charset="-128"/>
              <a:cs typeface="Calibri" panose="020F0502020204030204" pitchFamily="34" charset="0"/>
              <a:sym typeface="Gill Sans Light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10600" y="6651040"/>
            <a:ext cx="2743200" cy="206960"/>
          </a:xfrm>
        </p:spPr>
        <p:txBody>
          <a:bodyPr/>
          <a:lstStyle/>
          <a:p>
            <a:pPr>
              <a:defRPr/>
            </a:pPr>
            <a:fld id="{B11D9C14-A336-457C-BF95-789230B9ECB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057363"/>
              </p:ext>
            </p:extLst>
          </p:nvPr>
        </p:nvGraphicFramePr>
        <p:xfrm>
          <a:off x="144856" y="1295749"/>
          <a:ext cx="3858228" cy="2637612"/>
        </p:xfrm>
        <a:graphic>
          <a:graphicData uri="http://schemas.openxmlformats.org/drawingml/2006/table">
            <a:tbl>
              <a:tblPr firstRow="1" bandRow="1"/>
              <a:tblGrid>
                <a:gridCol w="1929114">
                  <a:extLst>
                    <a:ext uri="{9D8B030D-6E8A-4147-A177-3AD203B41FA5}">
                      <a16:colId xmlns:a16="http://schemas.microsoft.com/office/drawing/2014/main" val="1869597185"/>
                    </a:ext>
                  </a:extLst>
                </a:gridCol>
                <a:gridCol w="1929114">
                  <a:extLst>
                    <a:ext uri="{9D8B030D-6E8A-4147-A177-3AD203B41FA5}">
                      <a16:colId xmlns:a16="http://schemas.microsoft.com/office/drawing/2014/main" val="2592666155"/>
                    </a:ext>
                  </a:extLst>
                </a:gridCol>
              </a:tblGrid>
              <a:tr h="394588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Masdar</a:t>
                      </a:r>
                      <a:r>
                        <a:rPr lang="en-US" sz="14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Institute (MI)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9B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178266"/>
                  </a:ext>
                </a:extLst>
              </a:tr>
              <a:tr h="5482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Clean and Renewable Energy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Water and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86683"/>
                  </a:ext>
                </a:extLst>
              </a:tr>
              <a:tr h="16947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Emirates Nuclear Technology Center (ENTC),</a:t>
                      </a:r>
                      <a:r>
                        <a:rPr lang="en-US" sz="12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Advanced Power and Energy Center (APEC), 2018</a:t>
                      </a:r>
                    </a:p>
                  </a:txBody>
                  <a:tcPr>
                    <a:lnL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Sustainable Bioenergy Research Consortium (SBRC),</a:t>
                      </a:r>
                      <a:r>
                        <a:rPr lang="en-US" sz="12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</a:t>
                      </a:r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011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Center for Membranes &amp; Advanced Water Technology (CMAT),</a:t>
                      </a:r>
                      <a:r>
                        <a:rPr lang="en-US" sz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30577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911329"/>
              </p:ext>
            </p:extLst>
          </p:nvPr>
        </p:nvGraphicFramePr>
        <p:xfrm>
          <a:off x="4097715" y="1295749"/>
          <a:ext cx="1929114" cy="2637612"/>
        </p:xfrm>
        <a:graphic>
          <a:graphicData uri="http://schemas.openxmlformats.org/drawingml/2006/table">
            <a:tbl>
              <a:tblPr firstRow="1" bandRow="1"/>
              <a:tblGrid>
                <a:gridCol w="1929114">
                  <a:extLst>
                    <a:ext uri="{9D8B030D-6E8A-4147-A177-3AD203B41FA5}">
                      <a16:colId xmlns:a16="http://schemas.microsoft.com/office/drawing/2014/main" val="1869597185"/>
                    </a:ext>
                  </a:extLst>
                </a:gridCol>
              </a:tblGrid>
              <a:tr h="3807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 algn="ctr"/>
                      <a:r>
                        <a:rPr lang="en-US" sz="140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Petroleum Institute (PI)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303208"/>
                  </a:ext>
                </a:extLst>
              </a:tr>
              <a:tr h="5710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Hydrocarbon Exploration and Production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86683"/>
                  </a:ext>
                </a:extLst>
              </a:tr>
              <a:tr h="16858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and Innovation Center on CO2 and Hydrogen (RICH),</a:t>
                      </a:r>
                      <a:r>
                        <a:rPr lang="en-US" sz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2019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Center for Catalysis and Separations (CeCaS),</a:t>
                      </a:r>
                      <a:r>
                        <a:rPr lang="en-US" sz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</a:p>
                  </a:txBody>
                  <a:tcPr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305774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263270"/>
              </p:ext>
            </p:extLst>
          </p:nvPr>
        </p:nvGraphicFramePr>
        <p:xfrm>
          <a:off x="6121460" y="1295748"/>
          <a:ext cx="1929114" cy="2637613"/>
        </p:xfrm>
        <a:graphic>
          <a:graphicData uri="http://schemas.openxmlformats.org/drawingml/2006/table">
            <a:tbl>
              <a:tblPr firstRow="1" bandRow="1"/>
              <a:tblGrid>
                <a:gridCol w="1929114">
                  <a:extLst>
                    <a:ext uri="{9D8B030D-6E8A-4147-A177-3AD203B41FA5}">
                      <a16:colId xmlns:a16="http://schemas.microsoft.com/office/drawing/2014/main" val="1869597185"/>
                    </a:ext>
                  </a:extLst>
                </a:gridCol>
              </a:tblGrid>
              <a:tr h="909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Healthcare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E53E51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3E51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3E51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3E5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055519"/>
                  </a:ext>
                </a:extLst>
              </a:tr>
              <a:tr h="17276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Center for Biotechnology (BTC), 2015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Healthcare Engineering Innovation Center (HEIC), 2018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and Data Intelligence Support Center (RDISC), 2021</a:t>
                      </a:r>
                    </a:p>
                  </a:txBody>
                  <a:tcPr>
                    <a:lnL w="38100" cap="flat" cmpd="sng" algn="ctr">
                      <a:solidFill>
                        <a:srgbClr val="E53E51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3E51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3E51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305774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122266"/>
              </p:ext>
            </p:extLst>
          </p:nvPr>
        </p:nvGraphicFramePr>
        <p:xfrm>
          <a:off x="8145205" y="1287488"/>
          <a:ext cx="1929114" cy="2645873"/>
        </p:xfrm>
        <a:graphic>
          <a:graphicData uri="http://schemas.openxmlformats.org/drawingml/2006/table">
            <a:tbl>
              <a:tblPr firstRow="1" bandRow="1"/>
              <a:tblGrid>
                <a:gridCol w="1929114">
                  <a:extLst>
                    <a:ext uri="{9D8B030D-6E8A-4147-A177-3AD203B41FA5}">
                      <a16:colId xmlns:a16="http://schemas.microsoft.com/office/drawing/2014/main" val="1869597185"/>
                    </a:ext>
                  </a:extLst>
                </a:gridCol>
              </a:tblGrid>
              <a:tr h="9079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Aerospace (Aero/Astro)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86683"/>
                  </a:ext>
                </a:extLst>
              </a:tr>
              <a:tr h="17379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Space Technology and Innovation Center (KUSTIC),</a:t>
                      </a:r>
                      <a:r>
                        <a:rPr lang="en-US" sz="12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2020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Aerospace Research and Innovation Center (ARIC),</a:t>
                      </a:r>
                      <a:r>
                        <a:rPr lang="en-US" sz="12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Space and Planetary Science Center (SPSC),</a:t>
                      </a:r>
                      <a:r>
                        <a:rPr lang="en-US" sz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2021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305774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516594"/>
              </p:ext>
            </p:extLst>
          </p:nvPr>
        </p:nvGraphicFramePr>
        <p:xfrm>
          <a:off x="10168950" y="1272904"/>
          <a:ext cx="1929114" cy="2660458"/>
        </p:xfrm>
        <a:graphic>
          <a:graphicData uri="http://schemas.openxmlformats.org/drawingml/2006/table">
            <a:tbl>
              <a:tblPr firstRow="1" bandRow="1"/>
              <a:tblGrid>
                <a:gridCol w="1929114">
                  <a:extLst>
                    <a:ext uri="{9D8B030D-6E8A-4147-A177-3AD203B41FA5}">
                      <a16:colId xmlns:a16="http://schemas.microsoft.com/office/drawing/2014/main" val="1869597185"/>
                    </a:ext>
                  </a:extLst>
                </a:gridCol>
              </a:tblGrid>
              <a:tr h="917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Supply Chain and Logistics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4DADE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86683"/>
                  </a:ext>
                </a:extLst>
              </a:tr>
              <a:tr h="174327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Center for Digital Supply Chain and Operations Management (DSOM),</a:t>
                      </a:r>
                      <a:r>
                        <a:rPr lang="en-US" sz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305774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744297"/>
              </p:ext>
            </p:extLst>
          </p:nvPr>
        </p:nvGraphicFramePr>
        <p:xfrm>
          <a:off x="144856" y="4188955"/>
          <a:ext cx="11953208" cy="1584960"/>
        </p:xfrm>
        <a:graphic>
          <a:graphicData uri="http://schemas.openxmlformats.org/drawingml/2006/table">
            <a:tbl>
              <a:tblPr firstRow="1" bandRow="1"/>
              <a:tblGrid>
                <a:gridCol w="4123158">
                  <a:extLst>
                    <a:ext uri="{9D8B030D-6E8A-4147-A177-3AD203B41FA5}">
                      <a16:colId xmlns:a16="http://schemas.microsoft.com/office/drawing/2014/main" val="3838601932"/>
                    </a:ext>
                  </a:extLst>
                </a:gridCol>
                <a:gridCol w="7830050">
                  <a:extLst>
                    <a:ext uri="{9D8B030D-6E8A-4147-A177-3AD203B41FA5}">
                      <a16:colId xmlns:a16="http://schemas.microsoft.com/office/drawing/2014/main" val="257056168"/>
                    </a:ext>
                  </a:extLst>
                </a:gridCol>
              </a:tblGrid>
              <a:tr h="281781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Robotics and Intelligent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Systems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Institute (RISI)</a:t>
                      </a:r>
                    </a:p>
                  </a:txBody>
                  <a:tcPr>
                    <a:lnL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E7C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5054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Robotics, Artificial Intelligence (AI) and Data Science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E7C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KU Center for Autonomous Robotic Systems (KUCARS),</a:t>
                      </a:r>
                      <a:r>
                        <a:rPr lang="en-US" sz="1200" kern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kern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2018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KU Center for Cyber-Physical Systems (C2PS),</a:t>
                      </a:r>
                      <a:r>
                        <a:rPr lang="en-US" sz="1200" kern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kern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2018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System-on-Chip Center (SoCC),</a:t>
                      </a:r>
                      <a:r>
                        <a:rPr lang="en-US" sz="1200" kern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kern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2018</a:t>
                      </a:r>
                    </a:p>
                  </a:txBody>
                  <a:tcPr>
                    <a:lnL w="12700" cmpd="sng">
                      <a:solidFill>
                        <a:srgbClr val="D0CFCD"/>
                      </a:solidFill>
                    </a:lnL>
                    <a:lnR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56029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Information and Communication Technologies (ICT)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E7C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KU-KAIST Joint Research Center (KK JRC),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2019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Emirates ICT Innovation Center (EBTIC), 2008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Aerospace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Research and Innovation Center (ARIC),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2011  </a:t>
                      </a:r>
                    </a:p>
                  </a:txBody>
                  <a:tcPr>
                    <a:lnL w="12700" cmpd="sng">
                      <a:solidFill>
                        <a:srgbClr val="D0CFCD"/>
                      </a:solidFill>
                    </a:lnL>
                    <a:lnR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224273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04627"/>
              </p:ext>
            </p:extLst>
          </p:nvPr>
        </p:nvGraphicFramePr>
        <p:xfrm>
          <a:off x="144856" y="5823392"/>
          <a:ext cx="11953208" cy="640080"/>
        </p:xfrm>
        <a:graphic>
          <a:graphicData uri="http://schemas.openxmlformats.org/drawingml/2006/table">
            <a:tbl>
              <a:tblPr firstRow="1" bandRow="1"/>
              <a:tblGrid>
                <a:gridCol w="4123158">
                  <a:extLst>
                    <a:ext uri="{9D8B030D-6E8A-4147-A177-3AD203B41FA5}">
                      <a16:colId xmlns:a16="http://schemas.microsoft.com/office/drawing/2014/main" val="3838601932"/>
                    </a:ext>
                  </a:extLst>
                </a:gridCol>
                <a:gridCol w="7830050">
                  <a:extLst>
                    <a:ext uri="{9D8B030D-6E8A-4147-A177-3AD203B41FA5}">
                      <a16:colId xmlns:a16="http://schemas.microsoft.com/office/drawing/2014/main" val="25705616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Advanced Materials &amp; Manufacturing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Aerospace Research and Innovation Center (ARIC),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UAE-Korea Joint R&amp;D Technical Center (KUTC),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2019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kern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Advanced Digital &amp; Additive Manufacturing (ADAM) Center,</a:t>
                      </a:r>
                      <a:r>
                        <a:rPr lang="en-US" sz="1200" b="0" kern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0" kern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2019</a:t>
                      </a:r>
                    </a:p>
                  </a:txBody>
                  <a:tcPr>
                    <a:lnL w="12700" cmpd="sng">
                      <a:solidFill>
                        <a:srgbClr val="D0CFCD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224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161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369" y="84375"/>
            <a:ext cx="105467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R&amp;D Strategy - Evolution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426417"/>
              </p:ext>
            </p:extLst>
          </p:nvPr>
        </p:nvGraphicFramePr>
        <p:xfrm>
          <a:off x="174703" y="578273"/>
          <a:ext cx="11842595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941">
                  <a:extLst>
                    <a:ext uri="{9D8B030D-6E8A-4147-A177-3AD203B41FA5}">
                      <a16:colId xmlns:a16="http://schemas.microsoft.com/office/drawing/2014/main" val="2956732960"/>
                    </a:ext>
                  </a:extLst>
                </a:gridCol>
                <a:gridCol w="3451301">
                  <a:extLst>
                    <a:ext uri="{9D8B030D-6E8A-4147-A177-3AD203B41FA5}">
                      <a16:colId xmlns:a16="http://schemas.microsoft.com/office/drawing/2014/main" val="3193034050"/>
                    </a:ext>
                  </a:extLst>
                </a:gridCol>
                <a:gridCol w="1933889">
                  <a:extLst>
                    <a:ext uri="{9D8B030D-6E8A-4147-A177-3AD203B41FA5}">
                      <a16:colId xmlns:a16="http://schemas.microsoft.com/office/drawing/2014/main" val="3042000605"/>
                    </a:ext>
                  </a:extLst>
                </a:gridCol>
                <a:gridCol w="4382464">
                  <a:extLst>
                    <a:ext uri="{9D8B030D-6E8A-4147-A177-3AD203B41FA5}">
                      <a16:colId xmlns:a16="http://schemas.microsoft.com/office/drawing/2014/main" val="560863172"/>
                    </a:ext>
                  </a:extLst>
                </a:gridCol>
              </a:tblGrid>
              <a:tr h="278561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 (Themes and Institutes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| Centers)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Future (Themes and Institutes</a:t>
                      </a:r>
                      <a:r>
                        <a:rPr lang="en-US" sz="1400" baseline="0" dirty="0"/>
                        <a:t> | </a:t>
                      </a:r>
                      <a:r>
                        <a:rPr lang="en-US" sz="1400" dirty="0"/>
                        <a:t>Centers)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088045"/>
                  </a:ext>
                </a:extLst>
              </a:tr>
              <a:tr h="473553">
                <a:tc rowSpan="8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Themes: </a:t>
                      </a:r>
                    </a:p>
                    <a:p>
                      <a:pPr algn="ctr"/>
                      <a:r>
                        <a:rPr lang="en-US" sz="1400" b="0" dirty="0"/>
                        <a:t>Clean &amp; Renewable</a:t>
                      </a:r>
                      <a:r>
                        <a:rPr lang="en-US" sz="1400" b="0" baseline="0" dirty="0"/>
                        <a:t> </a:t>
                      </a:r>
                      <a:r>
                        <a:rPr lang="en-US" sz="1400" b="0" dirty="0"/>
                        <a:t>Energy</a:t>
                      </a:r>
                      <a:r>
                        <a:rPr lang="en-US" sz="1400" b="0" baseline="0" dirty="0"/>
                        <a:t> /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Water &amp; Environment</a:t>
                      </a:r>
                      <a:endParaRPr lang="en-US" sz="1400" b="0" dirty="0"/>
                    </a:p>
                    <a:p>
                      <a:pPr algn="ctr"/>
                      <a:endParaRPr lang="en-US" sz="1400" b="1" dirty="0"/>
                    </a:p>
                    <a:p>
                      <a:pPr algn="ctr"/>
                      <a:endParaRPr lang="en-US" sz="1400" b="1" dirty="0"/>
                    </a:p>
                    <a:p>
                      <a:pPr algn="ctr"/>
                      <a:r>
                        <a:rPr lang="en-US" sz="1400" b="1" dirty="0"/>
                        <a:t>Institute:</a:t>
                      </a:r>
                    </a:p>
                    <a:p>
                      <a:pPr algn="ctr"/>
                      <a:r>
                        <a:rPr lang="en-US" sz="1400" b="0" dirty="0"/>
                        <a:t>Masdar Institute </a:t>
                      </a:r>
                    </a:p>
                    <a:p>
                      <a:pPr algn="ctr"/>
                      <a:r>
                        <a:rPr lang="en-US" sz="1400" b="0" dirty="0"/>
                        <a:t>(MI)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Advanced Power and Energy Center (APEC)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baseline="0" dirty="0"/>
                        <a:t>Broaden Clean &amp; Renewable Energy Theme name to just </a:t>
                      </a:r>
                      <a:r>
                        <a:rPr lang="en-US" sz="1400" b="1" baseline="0" dirty="0"/>
                        <a:t>Energy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1" baseline="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Retain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Water &amp; Environment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Theme</a:t>
                      </a:r>
                      <a:endParaRPr lang="en-US" sz="1400" b="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1" baseline="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baseline="0" dirty="0"/>
                        <a:t>Eliminate </a:t>
                      </a:r>
                      <a:r>
                        <a:rPr lang="en-US" sz="1400" b="0" baseline="0" dirty="0" err="1"/>
                        <a:t>Masdar</a:t>
                      </a:r>
                      <a:r>
                        <a:rPr lang="en-US" sz="1400" b="0" baseline="0" dirty="0"/>
                        <a:t> Institute as Sustainable Energy VRI will replace MI</a:t>
                      </a:r>
                      <a:endParaRPr lang="en-US" sz="1400" b="0" dirty="0"/>
                    </a:p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APEC folded into Sustainable Energy VRI with limited top-up funds for EV, battery and fuel cell R&amp;D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688658"/>
                  </a:ext>
                </a:extLst>
              </a:tr>
              <a:tr h="731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Center for Membranes &amp; Advanced Water Technology (CMAT) continued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01670"/>
                  </a:ext>
                </a:extLst>
              </a:tr>
              <a:tr h="4003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Center for Membranes &amp; Advanced Water Technology (CMAT)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26669"/>
                  </a:ext>
                </a:extLst>
              </a:tr>
              <a:tr h="4735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Center for Research of Ocean and Coastal</a:t>
                      </a:r>
                      <a:r>
                        <a:rPr lang="en-US" sz="1400" baseline="0" dirty="0"/>
                        <a:t> Sustainability (CROCS) (</a:t>
                      </a:r>
                      <a:r>
                        <a:rPr lang="en-US" sz="1400" i="1" baseline="0" dirty="0"/>
                        <a:t>tbc, funding pending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74791"/>
                  </a:ext>
                </a:extLst>
              </a:tr>
              <a:tr h="8635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Emirates Nuclear Technology Center (ENTC)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Environmental and Geophysical Sciences (ENGEOS) Lab to become a center (working name is Earth Observations &amp; Modelling for Climate, Environment and Earth Sciences (EARTHCARE))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99597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SBRC becomes Center for Research on Advanced Fuel Technologies for Aviation</a:t>
                      </a:r>
                      <a:r>
                        <a:rPr lang="en-US" sz="1400" baseline="0" dirty="0"/>
                        <a:t> (Air-CRAFT) (</a:t>
                      </a:r>
                      <a:r>
                        <a:rPr lang="en-US" sz="1400" i="1" baseline="0" dirty="0"/>
                        <a:t>tbc, requires industry commitments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532629"/>
                  </a:ext>
                </a:extLst>
              </a:tr>
              <a:tr h="6035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Sustainable Bio-energy Research Consortium (SBRC)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161874"/>
                  </a:ext>
                </a:extLst>
              </a:tr>
              <a:tr h="27856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ENTC to remain unchanged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306663"/>
                  </a:ext>
                </a:extLst>
              </a:tr>
              <a:tr h="473553">
                <a:tc rowSpan="7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Theme:</a:t>
                      </a:r>
                    </a:p>
                    <a:p>
                      <a:pPr algn="ctr"/>
                      <a:r>
                        <a:rPr lang="en-US" sz="1400" b="0" dirty="0"/>
                        <a:t>Robotics, Artificial Intelligence, ICT &amp; Data Science</a:t>
                      </a:r>
                    </a:p>
                    <a:p>
                      <a:pPr algn="ctr"/>
                      <a:endParaRPr lang="en-US" sz="1400" b="1" dirty="0"/>
                    </a:p>
                    <a:p>
                      <a:pPr algn="ctr"/>
                      <a:r>
                        <a:rPr lang="en-US" sz="1400" b="1" dirty="0"/>
                        <a:t>Institute:</a:t>
                      </a:r>
                    </a:p>
                    <a:p>
                      <a:pPr algn="ctr"/>
                      <a:r>
                        <a:rPr lang="en-US" sz="1400" b="0" dirty="0"/>
                        <a:t>Robotics</a:t>
                      </a:r>
                      <a:r>
                        <a:rPr lang="en-US" sz="1400" b="0" baseline="0" dirty="0"/>
                        <a:t> &amp; Intelligent Systems Institute </a:t>
                      </a:r>
                    </a:p>
                    <a:p>
                      <a:pPr algn="ctr"/>
                      <a:r>
                        <a:rPr lang="en-US" sz="1400" b="0" baseline="0" dirty="0"/>
                        <a:t>(RISI)</a:t>
                      </a:r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KU Center for Autonomous Robotic Systems (KUCARS)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/>
                        <a:t>Change Theme name to </a:t>
                      </a:r>
                      <a:r>
                        <a:rPr lang="en-US" sz="1400" b="1" baseline="0" dirty="0"/>
                        <a:t>Intelligent &amp; Secure Digital Systems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/>
                        <a:t>AI-Driven Robotic Vehicles VRI (</a:t>
                      </a:r>
                      <a:r>
                        <a:rPr lang="en-US" sz="1400" i="1" baseline="0" dirty="0"/>
                        <a:t>tbc, indication +</a:t>
                      </a:r>
                      <a:r>
                        <a:rPr lang="en-US" sz="1400" i="1" baseline="0" dirty="0" err="1"/>
                        <a:t>ve</a:t>
                      </a:r>
                      <a:r>
                        <a:rPr lang="en-US" sz="1400" i="1" baseline="0" dirty="0"/>
                        <a:t> from ASPIRE</a:t>
                      </a:r>
                      <a:r>
                        <a:rPr lang="en-US" sz="1400" baseline="0" dirty="0"/>
                        <a:t>) </a:t>
                      </a:r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KUCARS folded into</a:t>
                      </a:r>
                      <a:r>
                        <a:rPr lang="en-US" sz="1400" baseline="0" dirty="0"/>
                        <a:t> AI Driven Robotic Vehicles VRI (</a:t>
                      </a:r>
                      <a:r>
                        <a:rPr lang="en-US" sz="1400" i="1" baseline="0" dirty="0"/>
                        <a:t>tbc</a:t>
                      </a:r>
                      <a:r>
                        <a:rPr lang="en-US" sz="1400" baseline="0" dirty="0"/>
                        <a:t>) with perhaps top-up funds for broader focus areas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367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C2PS</a:t>
                      </a:r>
                      <a:r>
                        <a:rPr lang="en-US" sz="1400" baseline="0" dirty="0"/>
                        <a:t> scaled up and </a:t>
                      </a:r>
                      <a:r>
                        <a:rPr lang="en-US" sz="1400" dirty="0"/>
                        <a:t>re-focused on</a:t>
                      </a:r>
                      <a:r>
                        <a:rPr lang="en-US" sz="1400" baseline="0" dirty="0"/>
                        <a:t> Cyber-Security/</a:t>
                      </a:r>
                      <a:r>
                        <a:rPr lang="en-US" sz="1400" baseline="0" dirty="0" err="1"/>
                        <a:t>IoT</a:t>
                      </a:r>
                      <a:r>
                        <a:rPr lang="en-US" sz="1400" dirty="0"/>
                        <a:t> with name changed</a:t>
                      </a:r>
                      <a:r>
                        <a:rPr lang="en-US" sz="1400" baseline="0" dirty="0"/>
                        <a:t> to </a:t>
                      </a:r>
                      <a:r>
                        <a:rPr lang="en-US" sz="1400" i="1" baseline="0" dirty="0"/>
                        <a:t>Cybersecurity and Cyber-Physical Systems Center (still C2PS or C3PS)</a:t>
                      </a:r>
                      <a:endParaRPr lang="en-US" sz="1400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548097"/>
                  </a:ext>
                </a:extLst>
              </a:tr>
              <a:tr h="6035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Center for Cyber Physical Security (C2PS)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9623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SOCC</a:t>
                      </a:r>
                      <a:r>
                        <a:rPr lang="en-US" sz="1400" baseline="0" dirty="0"/>
                        <a:t> (now SOCL)</a:t>
                      </a:r>
                      <a:r>
                        <a:rPr lang="en-US" sz="1400" dirty="0"/>
                        <a:t> to remain a lab or converted to System Design Center with TII (</a:t>
                      </a:r>
                      <a:r>
                        <a:rPr lang="en-US" sz="1400" i="1" dirty="0"/>
                        <a:t>tbc, plan</a:t>
                      </a:r>
                      <a:r>
                        <a:rPr lang="en-US" sz="1400" i="1" baseline="0" dirty="0"/>
                        <a:t> being developed with TII</a:t>
                      </a:r>
                      <a:r>
                        <a:rPr lang="en-US" sz="14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993677"/>
                  </a:ext>
                </a:extLst>
              </a:tr>
              <a:tr h="4085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System-on-Chip Lab (SOCL)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602495"/>
                  </a:ext>
                </a:extLst>
              </a:tr>
              <a:tr h="278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EBTIC</a:t>
                      </a:r>
                      <a:r>
                        <a:rPr lang="en-US" sz="1400" baseline="0" dirty="0"/>
                        <a:t> to remain unchanged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162549"/>
                  </a:ext>
                </a:extLst>
              </a:tr>
              <a:tr h="2894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Emirates ICT Innovation Center (EBTIC)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DSOM </a:t>
                      </a:r>
                      <a:r>
                        <a:rPr lang="en-US" sz="1400" dirty="0" err="1"/>
                        <a:t>blockchain</a:t>
                      </a:r>
                      <a:r>
                        <a:rPr lang="en-US" sz="1400" dirty="0"/>
                        <a:t> work to fold in C2PS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81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5167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369" y="248497"/>
            <a:ext cx="105467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R&amp;D Strategy - Evolution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650665"/>
              </p:ext>
            </p:extLst>
          </p:nvPr>
        </p:nvGraphicFramePr>
        <p:xfrm>
          <a:off x="429028" y="793560"/>
          <a:ext cx="11333945" cy="5507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420">
                  <a:extLst>
                    <a:ext uri="{9D8B030D-6E8A-4147-A177-3AD203B41FA5}">
                      <a16:colId xmlns:a16="http://schemas.microsoft.com/office/drawing/2014/main" val="2956732960"/>
                    </a:ext>
                  </a:extLst>
                </a:gridCol>
                <a:gridCol w="3579552">
                  <a:extLst>
                    <a:ext uri="{9D8B030D-6E8A-4147-A177-3AD203B41FA5}">
                      <a16:colId xmlns:a16="http://schemas.microsoft.com/office/drawing/2014/main" val="3193034050"/>
                    </a:ext>
                  </a:extLst>
                </a:gridCol>
                <a:gridCol w="2351207">
                  <a:extLst>
                    <a:ext uri="{9D8B030D-6E8A-4147-A177-3AD203B41FA5}">
                      <a16:colId xmlns:a16="http://schemas.microsoft.com/office/drawing/2014/main" val="3042000605"/>
                    </a:ext>
                  </a:extLst>
                </a:gridCol>
                <a:gridCol w="3315766">
                  <a:extLst>
                    <a:ext uri="{9D8B030D-6E8A-4147-A177-3AD203B41FA5}">
                      <a16:colId xmlns:a16="http://schemas.microsoft.com/office/drawing/2014/main" val="3377359271"/>
                    </a:ext>
                  </a:extLst>
                </a:gridCol>
              </a:tblGrid>
              <a:tr h="348958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 (Themes and Institutes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| Centers)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Future (Themes and Institutes</a:t>
                      </a:r>
                      <a:r>
                        <a:rPr lang="en-US" sz="1400" baseline="0" dirty="0"/>
                        <a:t> | </a:t>
                      </a:r>
                      <a:r>
                        <a:rPr lang="en-US" sz="1400" dirty="0"/>
                        <a:t>Centers)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088045"/>
                  </a:ext>
                </a:extLst>
              </a:tr>
              <a:tr h="997451">
                <a:tc rowSpan="4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Theme: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Hydrocarbon Exploration and Production</a:t>
                      </a:r>
                    </a:p>
                    <a:p>
                      <a:pPr algn="ctr"/>
                      <a:endParaRPr lang="en-US" sz="1400" b="1" dirty="0"/>
                    </a:p>
                    <a:p>
                      <a:pPr algn="ctr"/>
                      <a:r>
                        <a:rPr lang="en-US" sz="1400" b="1" dirty="0"/>
                        <a:t>Institute:</a:t>
                      </a:r>
                    </a:p>
                    <a:p>
                      <a:pPr algn="ctr"/>
                      <a:r>
                        <a:rPr lang="en-US" sz="1400" b="0" dirty="0"/>
                        <a:t>Petroleum Institute</a:t>
                      </a:r>
                    </a:p>
                    <a:p>
                      <a:pPr algn="ctr"/>
                      <a:r>
                        <a:rPr lang="en-US" sz="1400" b="0" dirty="0"/>
                        <a:t>(PI)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Center for Catalysis and Separations (</a:t>
                      </a:r>
                      <a:r>
                        <a:rPr lang="en-US" sz="1400" dirty="0" err="1"/>
                        <a:t>CeCaS</a:t>
                      </a:r>
                      <a:r>
                        <a:rPr lang="en-US" sz="1400" dirty="0" smtClean="0"/>
                        <a:t>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baseline="0" dirty="0"/>
                        <a:t>Incorporate into a new </a:t>
                      </a:r>
                      <a:r>
                        <a:rPr lang="en-US" sz="1400" b="1" baseline="0" dirty="0"/>
                        <a:t>Energy </a:t>
                      </a:r>
                      <a:r>
                        <a:rPr lang="en-US" sz="1400" b="0" baseline="0" dirty="0"/>
                        <a:t>Theme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baseline="0" dirty="0"/>
                        <a:t>Eliminate Petroleum Institute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Center for Catalysis and Separations (</a:t>
                      </a:r>
                      <a:r>
                        <a:rPr lang="en-US" sz="1400" dirty="0" err="1" smtClean="0"/>
                        <a:t>CeCaS</a:t>
                      </a:r>
                      <a:r>
                        <a:rPr lang="en-US" sz="1400" dirty="0" smtClean="0"/>
                        <a:t>)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i="0" baseline="0" dirty="0" smtClean="0"/>
                        <a:t>to be part of Advanced Materials and Manufacturing theme</a:t>
                      </a:r>
                      <a:endParaRPr lang="en-US" sz="1400" i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74022"/>
                  </a:ext>
                </a:extLst>
              </a:tr>
              <a:tr h="333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Research &amp; Innovation Center on CO2 &amp; Hydrogen (RICH)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to remain with incorporated</a:t>
                      </a:r>
                      <a:r>
                        <a:rPr lang="en-US" sz="1400" baseline="0" dirty="0" smtClean="0"/>
                        <a:t> sustainable elements from </a:t>
                      </a:r>
                      <a:r>
                        <a:rPr lang="en-US" sz="1400" baseline="0" dirty="0" err="1" smtClean="0"/>
                        <a:t>CeCaS</a:t>
                      </a:r>
                      <a:r>
                        <a:rPr lang="en-US" sz="1400" baseline="0" dirty="0" smtClean="0"/>
                        <a:t> where overlaps exist</a:t>
                      </a:r>
                      <a:endParaRPr lang="en-US" sz="1400" i="1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530515"/>
                  </a:ext>
                </a:extLst>
              </a:tr>
              <a:tr h="6641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Research &amp; Innovation Center on CO2 &amp; Hydrogen (RICH)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051359"/>
                  </a:ext>
                </a:extLst>
              </a:tr>
              <a:tr h="6676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Advanced Fuel Technologies for Aviation</a:t>
                      </a:r>
                      <a:r>
                        <a:rPr lang="en-US" sz="1400" baseline="0" dirty="0"/>
                        <a:t> (Air-CRAFT) (</a:t>
                      </a:r>
                      <a:r>
                        <a:rPr lang="en-US" sz="1400" i="1" baseline="0" dirty="0"/>
                        <a:t>tbc, requires industry commitments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71416"/>
                  </a:ext>
                </a:extLst>
              </a:tr>
              <a:tr h="641036">
                <a:tc rowSpan="5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Theme:</a:t>
                      </a:r>
                    </a:p>
                    <a:p>
                      <a:pPr algn="ctr"/>
                      <a:r>
                        <a:rPr lang="en-US" sz="1400" b="0" dirty="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Healthcare Innovation &amp; Engineering Center (HEIC)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25098"/>
                      </a:srgb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Change</a:t>
                      </a:r>
                      <a:r>
                        <a:rPr lang="en-US" sz="1400" b="0" baseline="0" dirty="0"/>
                        <a:t> Theme name to </a:t>
                      </a:r>
                      <a:r>
                        <a:rPr lang="en-US" sz="1400" b="1" baseline="0" dirty="0"/>
                        <a:t>Health</a:t>
                      </a:r>
                      <a:endParaRPr lang="en-US" sz="1400" b="1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Form</a:t>
                      </a:r>
                      <a:r>
                        <a:rPr lang="en-US" sz="1400" b="0" baseline="0" dirty="0"/>
                        <a:t> </a:t>
                      </a:r>
                      <a:r>
                        <a:rPr lang="en-US" sz="1400" b="0" dirty="0"/>
                        <a:t>Abu Dhabi Healthcare</a:t>
                      </a:r>
                      <a:r>
                        <a:rPr lang="en-US" sz="1400" b="0" baseline="0" dirty="0"/>
                        <a:t> Institute (ADHI) with SSMC and potentially SEHA and Mayo Clinic</a:t>
                      </a:r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4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Healthcare Innovation &amp; Engineering Center (HIEC) continued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306663"/>
                  </a:ext>
                </a:extLst>
              </a:tr>
              <a:tr h="2154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KU Center for Biotechnology (BTC)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25098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630992"/>
                  </a:ext>
                </a:extLst>
              </a:tr>
              <a:tr h="6027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KU Center for Biotechnology (BTC) continued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424813"/>
                  </a:ext>
                </a:extLst>
              </a:tr>
              <a:tr h="6237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Research &amp; Data Intelligence Support Center (RDISC)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25098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Research &amp; Data Intelligence Support Center (RDISC) continued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796499"/>
                  </a:ext>
                </a:extLst>
              </a:tr>
              <a:tr h="3489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Clinical Trails Center (</a:t>
                      </a: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tbc, SSMC leads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71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9306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369" y="248497"/>
            <a:ext cx="105467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R&amp;D Strategy - Evolution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2376"/>
              </p:ext>
            </p:extLst>
          </p:nvPr>
        </p:nvGraphicFramePr>
        <p:xfrm>
          <a:off x="429027" y="731051"/>
          <a:ext cx="11333946" cy="5326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420">
                  <a:extLst>
                    <a:ext uri="{9D8B030D-6E8A-4147-A177-3AD203B41FA5}">
                      <a16:colId xmlns:a16="http://schemas.microsoft.com/office/drawing/2014/main" val="2956732960"/>
                    </a:ext>
                  </a:extLst>
                </a:gridCol>
                <a:gridCol w="3579552">
                  <a:extLst>
                    <a:ext uri="{9D8B030D-6E8A-4147-A177-3AD203B41FA5}">
                      <a16:colId xmlns:a16="http://schemas.microsoft.com/office/drawing/2014/main" val="3193034050"/>
                    </a:ext>
                  </a:extLst>
                </a:gridCol>
                <a:gridCol w="1832957">
                  <a:extLst>
                    <a:ext uri="{9D8B030D-6E8A-4147-A177-3AD203B41FA5}">
                      <a16:colId xmlns:a16="http://schemas.microsoft.com/office/drawing/2014/main" val="3042000605"/>
                    </a:ext>
                  </a:extLst>
                </a:gridCol>
                <a:gridCol w="3834017">
                  <a:extLst>
                    <a:ext uri="{9D8B030D-6E8A-4147-A177-3AD203B41FA5}">
                      <a16:colId xmlns:a16="http://schemas.microsoft.com/office/drawing/2014/main" val="337735927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 (Themes and Institutes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| Centers)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Future (Themes and Institutes</a:t>
                      </a:r>
                      <a:r>
                        <a:rPr lang="en-US" sz="1400" baseline="0" dirty="0"/>
                        <a:t> | </a:t>
                      </a:r>
                      <a:r>
                        <a:rPr lang="en-US" sz="1400" dirty="0"/>
                        <a:t>Centers)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088045"/>
                  </a:ext>
                </a:extLst>
              </a:tr>
              <a:tr h="289560">
                <a:tc rowSpan="5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Theme:</a:t>
                      </a:r>
                    </a:p>
                    <a:p>
                      <a:pPr algn="ctr"/>
                      <a:r>
                        <a:rPr lang="en-US" sz="1400" b="0" dirty="0"/>
                        <a:t>Advanced Materials &amp; Manufacturing Theme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4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Aerospace Research &amp; Innovation Center (ARIC)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40000"/>
                      </a:srgb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baseline="0" dirty="0"/>
                        <a:t>Advanced Two-Dimensional Functional Materials VRI (</a:t>
                      </a:r>
                      <a:r>
                        <a:rPr lang="en-US" sz="1400" i="1" baseline="0" dirty="0"/>
                        <a:t>tbc, indication +</a:t>
                      </a:r>
                      <a:r>
                        <a:rPr lang="en-US" sz="1400" i="1" baseline="0" dirty="0" err="1"/>
                        <a:t>ve</a:t>
                      </a:r>
                      <a:r>
                        <a:rPr lang="en-US" sz="1400" i="1" baseline="0" dirty="0"/>
                        <a:t> from ASPIRE</a:t>
                      </a:r>
                      <a:r>
                        <a:rPr lang="en-US" sz="1400" b="0" baseline="0" dirty="0"/>
                        <a:t>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/>
                        <a:t>Depending</a:t>
                      </a:r>
                      <a:r>
                        <a:rPr lang="en-US" sz="1400" b="0" baseline="0" dirty="0"/>
                        <a:t> on VRI outcome, RIC-2D </a:t>
                      </a:r>
                      <a:r>
                        <a:rPr lang="en-US" sz="1400" b="0" i="0" baseline="0" dirty="0"/>
                        <a:t>and VRI may both exist</a:t>
                      </a:r>
                      <a:endParaRPr lang="en-US" sz="1400" b="0" i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ARIC</a:t>
                      </a:r>
                      <a:r>
                        <a:rPr lang="en-US" sz="1400" baseline="0" dirty="0"/>
                        <a:t> to become </a:t>
                      </a:r>
                      <a:r>
                        <a:rPr lang="en-US" sz="1400" u="sng" baseline="0" dirty="0"/>
                        <a:t>Advanced</a:t>
                      </a:r>
                      <a:r>
                        <a:rPr lang="en-US" sz="1400" baseline="0" dirty="0"/>
                        <a:t> Research &amp; Innovation Center (</a:t>
                      </a:r>
                      <a:r>
                        <a:rPr lang="en-US" sz="1400" i="1" baseline="0" dirty="0"/>
                        <a:t>increased R&amp;D supportive of all Mubadala focus sectors</a:t>
                      </a:r>
                      <a:r>
                        <a:rPr lang="en-US" sz="1400" baseline="0" dirty="0"/>
                        <a:t>). Additive manufacturing led by ARIC and ADAM not continued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801369"/>
                  </a:ext>
                </a:extLst>
              </a:tr>
              <a:tr h="366911">
                <a:tc vMerge="1"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4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4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6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Advanced Materials</a:t>
                      </a:r>
                      <a:r>
                        <a:rPr lang="en-US" sz="1400" baseline="0" dirty="0"/>
                        <a:t> Chemistry Center (AMCC)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6747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400" dirty="0"/>
                        <a:t>Advanced Digital and Additive Manufacturing Center (ADAM)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4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886250"/>
                  </a:ext>
                </a:extLst>
              </a:tr>
              <a:tr h="4222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Center for Catalysis and Separations (</a:t>
                      </a:r>
                      <a:r>
                        <a:rPr lang="en-US" sz="1400" dirty="0" err="1"/>
                        <a:t>CeCaS</a:t>
                      </a:r>
                      <a:r>
                        <a:rPr lang="en-US" sz="1400" dirty="0"/>
                        <a:t>) (</a:t>
                      </a:r>
                      <a:r>
                        <a:rPr lang="en-US" sz="1400" i="1" dirty="0"/>
                        <a:t>selected elements no</a:t>
                      </a:r>
                      <a:r>
                        <a:rPr lang="en-US" sz="1400" i="1" baseline="0" dirty="0"/>
                        <a:t>t included in RICH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565627"/>
                  </a:ext>
                </a:extLst>
              </a:tr>
              <a:tr h="6374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Research &amp; Innovation Center for Graphene &amp; 2D Materials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(RIC-2D)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00944"/>
                  </a:ext>
                </a:extLst>
              </a:tr>
              <a:tr h="684742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Theme:</a:t>
                      </a:r>
                    </a:p>
                    <a:p>
                      <a:pPr algn="ctr"/>
                      <a:r>
                        <a:rPr lang="en-US" sz="1400" b="0" dirty="0"/>
                        <a:t>Aerospace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KU Space Technology &amp; Innovation Center (KUSTIC)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/>
                        <a:t>Change Theme name to </a:t>
                      </a:r>
                      <a:r>
                        <a:rPr lang="en-US" sz="1400" b="1" dirty="0"/>
                        <a:t>Space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u="sng" dirty="0"/>
                        <a:t>Consider</a:t>
                      </a:r>
                      <a:r>
                        <a:rPr lang="en-US" sz="1400" b="1" baseline="0" dirty="0"/>
                        <a:t> </a:t>
                      </a:r>
                      <a:r>
                        <a:rPr lang="en-US" sz="1400" b="0" baseline="0" dirty="0"/>
                        <a:t>merging KUSTIC and SPSC into one center, similar to LASP at U. Colorado, Boulder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KUSTIC to be</a:t>
                      </a:r>
                      <a:r>
                        <a:rPr lang="en-US" sz="1400" b="0" baseline="0" dirty="0"/>
                        <a:t> updated inline with the UAESA new ST&amp;I Roadmap</a:t>
                      </a:r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  <a:alpha val="6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696718"/>
                  </a:ext>
                </a:extLst>
              </a:tr>
              <a:tr h="684742">
                <a:tc vMerge="1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Space</a:t>
                      </a:r>
                      <a:r>
                        <a:rPr lang="en-US" sz="1400" baseline="0" dirty="0"/>
                        <a:t> &amp; Planetary Sciences Center (SPSC)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SPSC to remain unchanged</a:t>
                      </a:r>
                      <a:r>
                        <a:rPr lang="en-US" sz="1400" b="0" baseline="0" dirty="0"/>
                        <a:t> although renewal of program with CU-LASP depends on outcomes of current work</a:t>
                      </a:r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  <a:alpha val="6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509086"/>
                  </a:ext>
                </a:extLst>
              </a:tr>
              <a:tr h="68474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Theme:</a:t>
                      </a:r>
                    </a:p>
                    <a:p>
                      <a:pPr algn="ctr"/>
                      <a:r>
                        <a:rPr lang="en-US" sz="1400" b="0" dirty="0"/>
                        <a:t>Supply Chain &amp; Logistics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Digital Supply Chain &amp; Operations Management Center (DSOM)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/>
                        <a:t>No theme needed</a:t>
                      </a:r>
                      <a:r>
                        <a:rPr lang="en-US" sz="1400" b="0" baseline="0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DSOM </a:t>
                      </a:r>
                      <a:r>
                        <a:rPr lang="en-US" sz="1400" dirty="0" err="1"/>
                        <a:t>blockchain</a:t>
                      </a:r>
                      <a:r>
                        <a:rPr lang="en-US" sz="1400" dirty="0"/>
                        <a:t> work to fold in C2PS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6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495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720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369" y="248497"/>
            <a:ext cx="105467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R&amp;D Strategy - Evolution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922316"/>
              </p:ext>
            </p:extLst>
          </p:nvPr>
        </p:nvGraphicFramePr>
        <p:xfrm>
          <a:off x="429027" y="731051"/>
          <a:ext cx="11333946" cy="2021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420">
                  <a:extLst>
                    <a:ext uri="{9D8B030D-6E8A-4147-A177-3AD203B41FA5}">
                      <a16:colId xmlns:a16="http://schemas.microsoft.com/office/drawing/2014/main" val="2956732960"/>
                    </a:ext>
                  </a:extLst>
                </a:gridCol>
                <a:gridCol w="3579552">
                  <a:extLst>
                    <a:ext uri="{9D8B030D-6E8A-4147-A177-3AD203B41FA5}">
                      <a16:colId xmlns:a16="http://schemas.microsoft.com/office/drawing/2014/main" val="3193034050"/>
                    </a:ext>
                  </a:extLst>
                </a:gridCol>
                <a:gridCol w="1832957">
                  <a:extLst>
                    <a:ext uri="{9D8B030D-6E8A-4147-A177-3AD203B41FA5}">
                      <a16:colId xmlns:a16="http://schemas.microsoft.com/office/drawing/2014/main" val="3042000605"/>
                    </a:ext>
                  </a:extLst>
                </a:gridCol>
                <a:gridCol w="3834017">
                  <a:extLst>
                    <a:ext uri="{9D8B030D-6E8A-4147-A177-3AD203B41FA5}">
                      <a16:colId xmlns:a16="http://schemas.microsoft.com/office/drawing/2014/main" val="337735927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 (Themes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and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Institutes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| Centers)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Future (Themes</a:t>
                      </a:r>
                      <a:r>
                        <a:rPr lang="en-US" sz="1400" baseline="0" dirty="0"/>
                        <a:t> and </a:t>
                      </a:r>
                      <a:r>
                        <a:rPr lang="en-US" sz="1400" dirty="0"/>
                        <a:t>Institutes</a:t>
                      </a:r>
                      <a:r>
                        <a:rPr lang="en-US" sz="1400" baseline="0" dirty="0"/>
                        <a:t> | </a:t>
                      </a:r>
                      <a:r>
                        <a:rPr lang="en-US" sz="1400" dirty="0"/>
                        <a:t>Centers)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088045"/>
                  </a:ext>
                </a:extLst>
              </a:tr>
              <a:tr h="171622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Theme:</a:t>
                      </a:r>
                    </a:p>
                    <a:p>
                      <a:pPr algn="ctr"/>
                      <a:r>
                        <a:rPr lang="en-US" sz="1400" b="0" dirty="0"/>
                        <a:t>None</a:t>
                      </a:r>
                      <a:r>
                        <a:rPr lang="en-US" sz="1400" b="0" baseline="0" dirty="0"/>
                        <a:t> currently focused on emerging topics and fundamental science</a:t>
                      </a:r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baseline="0" dirty="0"/>
                        <a:t>Create a new Theme to encompass centers focused on emerging topics and fundamental science</a:t>
                      </a:r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New call</a:t>
                      </a:r>
                      <a:r>
                        <a:rPr lang="en-US" sz="1400" baseline="0" dirty="0"/>
                        <a:t> for seed funding of research centers focused on emerging topics and fundamental </a:t>
                      </a:r>
                      <a:r>
                        <a:rPr lang="en-US" sz="1400" baseline="0" dirty="0" smtClean="0"/>
                        <a:t>science proposed by faculty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801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8639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3AD3E-F77E-478A-B183-2502DCA32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760" y="307359"/>
            <a:ext cx="10214970" cy="449281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KU R&amp;D Strategy – Map of </a:t>
            </a:r>
            <a:r>
              <a:rPr lang="en-US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Proposed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Focus Areas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369138"/>
              </p:ext>
            </p:extLst>
          </p:nvPr>
        </p:nvGraphicFramePr>
        <p:xfrm>
          <a:off x="1062813" y="1181011"/>
          <a:ext cx="10042576" cy="4471510"/>
        </p:xfrm>
        <a:graphic>
          <a:graphicData uri="http://schemas.openxmlformats.org/drawingml/2006/table">
            <a:tbl>
              <a:tblPr firstRow="1" bandRow="1"/>
              <a:tblGrid>
                <a:gridCol w="2510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0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0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06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696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Energy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Water &amp; Environment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Health</a:t>
                      </a:r>
                      <a:endParaRPr lang="en-US" sz="1900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Space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646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9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264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Advanced Materials and Manufacturing</a:t>
                      </a:r>
                    </a:p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5264">
                <a:tc gridSpan="4"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Intelligent &amp; Secure Digital Systems</a:t>
                      </a:r>
                    </a:p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565878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1647247" y="794150"/>
            <a:ext cx="9504725" cy="374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7625">
              <a:defRPr/>
            </a:pPr>
            <a:r>
              <a:rPr lang="en-US" sz="1833" b="1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“Verticals” focused on multidisciplinary sectors aligned with UAE and Abu Dhabi priorities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84194" y="3333258"/>
            <a:ext cx="9661422" cy="374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7625">
              <a:defRPr/>
            </a:pPr>
            <a:r>
              <a:rPr lang="en-US" sz="1833" b="1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“Horizontals” focused on cross-cutting critical enablers in which KU has competitive advantage</a:t>
            </a:r>
          </a:p>
        </p:txBody>
      </p:sp>
      <p:cxnSp>
        <p:nvCxnSpPr>
          <p:cNvPr id="36" name="Straight Arrow Connector 35"/>
          <p:cNvCxnSpPr/>
          <p:nvPr/>
        </p:nvCxnSpPr>
        <p:spPr bwMode="auto">
          <a:xfrm flipH="1">
            <a:off x="1049077" y="988452"/>
            <a:ext cx="527833" cy="0"/>
          </a:xfrm>
          <a:prstGeom prst="straightConnector1">
            <a:avLst/>
          </a:prstGeom>
          <a:solidFill>
            <a:srgbClr val="6C7472"/>
          </a:solidFill>
          <a:ln w="571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Straight Arrow Connector 36"/>
          <p:cNvCxnSpPr/>
          <p:nvPr/>
        </p:nvCxnSpPr>
        <p:spPr bwMode="auto">
          <a:xfrm>
            <a:off x="10516392" y="988452"/>
            <a:ext cx="579639" cy="0"/>
          </a:xfrm>
          <a:prstGeom prst="straightConnector1">
            <a:avLst/>
          </a:prstGeom>
          <a:solidFill>
            <a:srgbClr val="6C7472"/>
          </a:solidFill>
          <a:ln w="571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8" name="Group 37"/>
          <p:cNvGrpSpPr/>
          <p:nvPr/>
        </p:nvGrpSpPr>
        <p:grpSpPr>
          <a:xfrm>
            <a:off x="909330" y="3528311"/>
            <a:ext cx="473677" cy="2136673"/>
            <a:chOff x="1478062" y="3978060"/>
            <a:chExt cx="552124" cy="2522437"/>
          </a:xfrm>
        </p:grpSpPr>
        <p:cxnSp>
          <p:nvCxnSpPr>
            <p:cNvPr id="39" name="Straight Arrow Connector 38"/>
            <p:cNvCxnSpPr/>
            <p:nvPr/>
          </p:nvCxnSpPr>
          <p:spPr bwMode="auto">
            <a:xfrm>
              <a:off x="1517871" y="3978060"/>
              <a:ext cx="0" cy="2522437"/>
            </a:xfrm>
            <a:prstGeom prst="straightConnector1">
              <a:avLst/>
            </a:prstGeom>
            <a:solidFill>
              <a:srgbClr val="6C7472"/>
            </a:solidFill>
            <a:ln w="571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Straight Arrow Connector 39"/>
            <p:cNvCxnSpPr/>
            <p:nvPr/>
          </p:nvCxnSpPr>
          <p:spPr bwMode="auto">
            <a:xfrm flipH="1">
              <a:off x="1478062" y="3978060"/>
              <a:ext cx="552124" cy="0"/>
            </a:xfrm>
            <a:prstGeom prst="straightConnector1">
              <a:avLst/>
            </a:prstGeom>
            <a:solidFill>
              <a:srgbClr val="6C7472"/>
            </a:solidFill>
            <a:ln w="571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41" name="Group 40"/>
          <p:cNvGrpSpPr/>
          <p:nvPr/>
        </p:nvGrpSpPr>
        <p:grpSpPr>
          <a:xfrm flipH="1">
            <a:off x="10794634" y="3529647"/>
            <a:ext cx="473677" cy="2136673"/>
            <a:chOff x="1490065" y="3978060"/>
            <a:chExt cx="552124" cy="2522437"/>
          </a:xfrm>
        </p:grpSpPr>
        <p:cxnSp>
          <p:nvCxnSpPr>
            <p:cNvPr id="42" name="Straight Arrow Connector 41"/>
            <p:cNvCxnSpPr/>
            <p:nvPr/>
          </p:nvCxnSpPr>
          <p:spPr bwMode="auto">
            <a:xfrm>
              <a:off x="1517871" y="3978060"/>
              <a:ext cx="0" cy="2522437"/>
            </a:xfrm>
            <a:prstGeom prst="straightConnector1">
              <a:avLst/>
            </a:prstGeom>
            <a:solidFill>
              <a:srgbClr val="6C7472"/>
            </a:solidFill>
            <a:ln w="571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" name="Straight Arrow Connector 42"/>
            <p:cNvCxnSpPr/>
            <p:nvPr/>
          </p:nvCxnSpPr>
          <p:spPr bwMode="auto">
            <a:xfrm flipH="1">
              <a:off x="1490065" y="3978060"/>
              <a:ext cx="552124" cy="0"/>
            </a:xfrm>
            <a:prstGeom prst="straightConnector1">
              <a:avLst/>
            </a:prstGeom>
            <a:solidFill>
              <a:srgbClr val="6C7472"/>
            </a:solidFill>
            <a:ln w="571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532768"/>
              </p:ext>
            </p:extLst>
          </p:nvPr>
        </p:nvGraphicFramePr>
        <p:xfrm>
          <a:off x="1062813" y="5882026"/>
          <a:ext cx="10042576" cy="817126"/>
        </p:xfrm>
        <a:graphic>
          <a:graphicData uri="http://schemas.openxmlformats.org/drawingml/2006/table">
            <a:tbl>
              <a:tblPr firstRow="1" bandRow="1"/>
              <a:tblGrid>
                <a:gridCol w="10042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5693">
                <a:tc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Emerging Topics &amp; Fundamental Science</a:t>
                      </a:r>
                    </a:p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alpha val="9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565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1412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924077" y="448415"/>
          <a:ext cx="2286000" cy="293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849017376"/>
                    </a:ext>
                  </a:extLst>
                </a:gridCol>
              </a:tblGrid>
              <a:tr h="4853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Water &amp;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449213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Desalination 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Waste treatment and utilization (wastewater, industrial and municipal waste streams)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Environmental remote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sensing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Ocean and coastal ecology and environment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668673"/>
              </p:ext>
            </p:extLst>
          </p:nvPr>
        </p:nvGraphicFramePr>
        <p:xfrm>
          <a:off x="240976" y="448414"/>
          <a:ext cx="4572000" cy="293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93331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0641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Energy</a:t>
                      </a:r>
                      <a:endParaRPr lang="en-US" sz="1500" b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4281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1" u="none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Power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00" b="0" i="1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Solar energy 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Nuclear energy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Electrical power transmission and distribution 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Energy storage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Energy efficient cities and buildings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1" u="none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Fuels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00" b="0" i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Sustainable fuels (low-carbon oil and gas)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Hydrogen and its derivatives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CO2 capture, utilization</a:t>
                      </a:r>
                      <a:r>
                        <a:rPr lang="en-US" sz="13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 and storage</a:t>
                      </a:r>
                      <a:endParaRPr lang="en-US" sz="13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718279" y="424969"/>
          <a:ext cx="2286000" cy="2957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136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444345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Space telecommunications,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access and exploration (technology development and science applications)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Earth observation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655364"/>
              </p:ext>
            </p:extLst>
          </p:nvPr>
        </p:nvGraphicFramePr>
        <p:xfrm>
          <a:off x="240977" y="4960906"/>
          <a:ext cx="117633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532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4425384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  <a:gridCol w="4425384">
                  <a:extLst>
                    <a:ext uri="{9D8B030D-6E8A-4147-A177-3AD203B41FA5}">
                      <a16:colId xmlns:a16="http://schemas.microsoft.com/office/drawing/2014/main" val="732227688"/>
                    </a:ext>
                  </a:extLst>
                </a:gridCol>
              </a:tblGrid>
              <a:tr h="1709525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Intelligent</a:t>
                      </a:r>
                      <a:r>
                        <a:rPr lang="en-US" sz="15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&amp; Secure Digital Systems</a:t>
                      </a:r>
                      <a:endParaRPr 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3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Robotics, Artificial Intelligence and Data Science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Autonomous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systems (aerial, ground and marine)	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Machine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learning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Computer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</a:rPr>
                        <a:t> vision, i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mage and video analysis and processing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Data Science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300" b="1" i="1" dirty="0" smtClean="0">
                          <a:solidFill>
                            <a:schemeClr val="tx1"/>
                          </a:solidFill>
                        </a:rPr>
                        <a:t>Information</a:t>
                      </a:r>
                      <a:r>
                        <a:rPr lang="en-US" sz="1300" b="1" i="1" baseline="0" dirty="0" smtClean="0">
                          <a:solidFill>
                            <a:schemeClr val="tx1"/>
                          </a:solidFill>
                        </a:rPr>
                        <a:t> and Communication Technologies (ICT)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Secure systems and networks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</a:rPr>
                        <a:t> (cyber security and </a:t>
                      </a:r>
                      <a:r>
                        <a:rPr lang="en-US" sz="1300" b="0" baseline="0" dirty="0" err="1" smtClean="0">
                          <a:solidFill>
                            <a:schemeClr val="tx1"/>
                          </a:solidFill>
                        </a:rPr>
                        <a:t>blockchain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3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Next Generation Networks (NGNs) and NGN-enabled ICT applications and services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System-on-Chip (</a:t>
                      </a:r>
                      <a:r>
                        <a:rPr lang="en-US" sz="1300" b="0" dirty="0" err="1" smtClean="0">
                          <a:solidFill>
                            <a:schemeClr val="tx1"/>
                          </a:solidFill>
                        </a:rPr>
                        <a:t>SoC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) technology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Sensors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77143"/>
              </p:ext>
            </p:extLst>
          </p:nvPr>
        </p:nvGraphicFramePr>
        <p:xfrm>
          <a:off x="240976" y="3442319"/>
          <a:ext cx="11763301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4254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8839047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</a:tblGrid>
              <a:tr h="100541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Advanced </a:t>
                      </a:r>
                      <a:r>
                        <a:rPr lang="en-US" sz="1500" dirty="0" smtClean="0">
                          <a:solidFill>
                            <a:schemeClr val="bg1"/>
                          </a:solidFill>
                        </a:rPr>
                        <a:t>Materials </a:t>
                      </a: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&amp; </a:t>
                      </a:r>
                      <a:r>
                        <a:rPr lang="en-US" sz="1500" dirty="0" err="1" smtClean="0">
                          <a:solidFill>
                            <a:schemeClr val="bg1"/>
                          </a:solidFill>
                        </a:rPr>
                        <a:t>Manufacturings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Computational materials engineering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Composites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Catalysis</a:t>
                      </a: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Enhanced materials systems (nanomaterials and nanocomposites, multifunctional materials, smart materials, metamaterials)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Additive manufacturing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Manufacturing automation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</a:tbl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B613AD3E-F77E-478A-B183-2502DCA32A87}"/>
              </a:ext>
            </a:extLst>
          </p:cNvPr>
          <p:cNvSpPr txBox="1">
            <a:spLocks/>
          </p:cNvSpPr>
          <p:nvPr/>
        </p:nvSpPr>
        <p:spPr>
          <a:xfrm>
            <a:off x="2377180" y="27932"/>
            <a:ext cx="7437640" cy="449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KU R&amp;D Strategy – Map of </a:t>
            </a:r>
            <a:r>
              <a:rPr lang="en-US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Proposed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Focus Topics within Focus Areas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7321178" y="432650"/>
          <a:ext cx="2286000" cy="2950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481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441391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Omics (proteomics,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genomics, metabolomics)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Medical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technology (b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io-robotics 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and m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edical devices) 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Therapeutics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(p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harmacology,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clinical toxicology, v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irology and tissue culture)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Analytics (e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pidemiology,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b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iostatistics and modeling, 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bioinformatics, bio-signal processing)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Management and operations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755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924077" y="590076"/>
          <a:ext cx="2286000" cy="2854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849017376"/>
                    </a:ext>
                  </a:extLst>
                </a:gridCol>
              </a:tblGrid>
              <a:tr h="5777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Water &amp;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276852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Center for Membranes &amp; Advanced Water Technology (CMAT)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Earth Observations &amp; Modelling for Climate, Environment and Earth Sciences (EARTHCARE)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Center for Research of Ocean and Coastal Sustainability (CROCS) (</a:t>
                      </a:r>
                      <a:r>
                        <a:rPr lang="en-US" sz="1300" b="1" i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tbc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240976" y="589335"/>
          <a:ext cx="4572000" cy="2855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93331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8267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Energy</a:t>
                      </a:r>
                      <a:endParaRPr lang="en-US" sz="1500" b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2726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1" u="none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Power</a:t>
                      </a:r>
                      <a:endParaRPr lang="en-US" sz="1400" b="1" i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00" b="0" i="1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Sustainable Energy VRI</a:t>
                      </a:r>
                      <a:r>
                        <a:rPr lang="en-US" sz="13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including Advanced Power and Energy Center (APEC)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Emirates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Nuclear Technology Center (ENTC)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1" u="none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Fuels</a:t>
                      </a:r>
                      <a:endParaRPr lang="en-US" sz="1400" b="1" i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00" b="0" i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Research &amp; Innovation Center on CO2 &amp; Hydrogen (RICH)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Center 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for Research on Advanced Fuel Technologies for Aviation (Air-CRAFT) (</a:t>
                      </a:r>
                      <a:r>
                        <a:rPr lang="en-US" sz="1300" b="1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tbc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7321178" y="589337"/>
          <a:ext cx="2286000" cy="2855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84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2464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Abu Dhabi Healthcare Institute: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Center for Biotechnology (BTC)</a:t>
                      </a: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Healthcare Engineering Innovation Center (HEIC)</a:t>
                      </a: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and Data Intelligence Support Center (RDISC)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Clinical Trials Center (</a:t>
                      </a:r>
                      <a:r>
                        <a:rPr lang="en-US" sz="1300" b="1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tbc,</a:t>
                      </a:r>
                      <a:r>
                        <a:rPr lang="en-US" sz="1300" b="1" i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SSMC)</a:t>
                      </a:r>
                      <a:endParaRPr lang="en-US" sz="1300" b="1" i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718279" y="602650"/>
          <a:ext cx="2286000" cy="2867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967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245235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Space Technology and Innovation Center (KUSTIC)</a:t>
                      </a: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Space and Planetary Science Center (SPSC)</a:t>
                      </a: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Earth Observations &amp; Modelling for Climate, Environment and Earth Sciences (EARTHCARE)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240975" y="4538633"/>
          <a:ext cx="11763303" cy="1289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533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3927231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  <a:gridCol w="4923539">
                  <a:extLst>
                    <a:ext uri="{9D8B030D-6E8A-4147-A177-3AD203B41FA5}">
                      <a16:colId xmlns:a16="http://schemas.microsoft.com/office/drawing/2014/main" val="1345455098"/>
                    </a:ext>
                  </a:extLst>
                </a:gridCol>
              </a:tblGrid>
              <a:tr h="542683">
                <a:tc rowSpan="2"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Intelligent</a:t>
                      </a:r>
                      <a:r>
                        <a:rPr lang="en-US" sz="15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&amp; Secure Digital Systems</a:t>
                      </a:r>
                      <a:endParaRPr 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Robotics, Artificial Intelligence and Data Science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KU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Center for Autonomous Robotic Systems (KUCARS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1" i="1" dirty="0" smtClean="0">
                          <a:solidFill>
                            <a:schemeClr val="tx1"/>
                          </a:solidFill>
                        </a:rPr>
                        <a:t>Information</a:t>
                      </a:r>
                      <a:r>
                        <a:rPr lang="en-US" sz="1300" b="1" i="1" baseline="0" dirty="0" smtClean="0">
                          <a:solidFill>
                            <a:schemeClr val="tx1"/>
                          </a:solidFill>
                        </a:rPr>
                        <a:t> and Communication Technologies (ICT)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System-on-Chip Lab (SOCL)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System Design Center sponsored by TII (</a:t>
                      </a:r>
                      <a:r>
                        <a:rPr lang="en-US" sz="1300" b="1" i="1" dirty="0" smtClean="0">
                          <a:solidFill>
                            <a:schemeClr val="tx1"/>
                          </a:solidFill>
                        </a:rPr>
                        <a:t>tbc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  <a:tr h="542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Cybersecurity and Cyber-Physical Systems Center (C2PS)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Emirates ICT Innovation Center (EBTIC)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26930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/>
          </p:nvPr>
        </p:nvGraphicFramePr>
        <p:xfrm>
          <a:off x="240976" y="3511810"/>
          <a:ext cx="11763303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4255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3036277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  <a:gridCol w="2625970">
                  <a:extLst>
                    <a:ext uri="{9D8B030D-6E8A-4147-A177-3AD203B41FA5}">
                      <a16:colId xmlns:a16="http://schemas.microsoft.com/office/drawing/2014/main" val="3561344490"/>
                    </a:ext>
                  </a:extLst>
                </a:gridCol>
                <a:gridCol w="3176801">
                  <a:extLst>
                    <a:ext uri="{9D8B030D-6E8A-4147-A177-3AD203B41FA5}">
                      <a16:colId xmlns:a16="http://schemas.microsoft.com/office/drawing/2014/main" val="523961706"/>
                    </a:ext>
                  </a:extLst>
                </a:gridCol>
              </a:tblGrid>
              <a:tr h="416950">
                <a:tc rowSpan="2"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Advanced Material &amp; Manufacturing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Advanced Research &amp; Innovation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</a:rPr>
                        <a:t> Center (ARIC)</a:t>
                      </a: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Advanced Materials Chemistry Center (AMCC)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Center for Catalysis and Separations (</a:t>
                      </a:r>
                      <a:r>
                        <a:rPr lang="en-US" sz="13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CeCaS</a:t>
                      </a:r>
                      <a:r>
                        <a:rPr lang="en-US" sz="13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)</a:t>
                      </a:r>
                      <a:endParaRPr lang="en-US" sz="13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  <a:tr h="41695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                                      Advanced Two-Dimensional Functional Materials VRI (</a:t>
                      </a:r>
                      <a:r>
                        <a:rPr lang="en-US" sz="1300" b="1" i="1" dirty="0">
                          <a:solidFill>
                            <a:schemeClr val="tx1"/>
                          </a:solidFill>
                        </a:rPr>
                        <a:t>tbc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</a:rPr>
                        <a:t> |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                                     Research &amp; Innovation Center for Graphene &amp; 2D Materials (RIC-2D)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449462"/>
                  </a:ext>
                </a:extLst>
              </a:tr>
            </a:tbl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B613AD3E-F77E-478A-B183-2502DCA32A87}"/>
              </a:ext>
            </a:extLst>
          </p:cNvPr>
          <p:cNvSpPr txBox="1">
            <a:spLocks/>
          </p:cNvSpPr>
          <p:nvPr/>
        </p:nvSpPr>
        <p:spPr>
          <a:xfrm>
            <a:off x="2007903" y="96345"/>
            <a:ext cx="8176194" cy="449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KU R&amp;D Strategy – Map of </a:t>
            </a:r>
            <a:r>
              <a:rPr lang="en-US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Proposed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Focus Areas and Operational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976" y="6553051"/>
            <a:ext cx="7334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Note: KKJRC and KUTC continuation TBD based on outcomes from current programs and further partner discussions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240974" y="5884983"/>
          <a:ext cx="11763303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533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8850770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Emerging Topics &amp; Fundamental</a:t>
                      </a:r>
                      <a:r>
                        <a:rPr lang="en-US" sz="15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Science</a:t>
                      </a:r>
                      <a:endParaRPr 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1" dirty="0" smtClean="0">
                          <a:solidFill>
                            <a:schemeClr val="tx1"/>
                          </a:solidFill>
                        </a:rPr>
                        <a:t>New</a:t>
                      </a:r>
                      <a:r>
                        <a:rPr lang="en-US" sz="1300" b="0" i="1" baseline="0" dirty="0" smtClean="0">
                          <a:solidFill>
                            <a:schemeClr val="tx1"/>
                          </a:solidFill>
                        </a:rPr>
                        <a:t> centers based on topics that may or may not fall under the KU focus area topics</a:t>
                      </a:r>
                      <a:endParaRPr lang="en-US" sz="13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9753448" y="1230925"/>
            <a:ext cx="2180645" cy="85897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776894" y="2133601"/>
            <a:ext cx="2180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Explore with UAESA combining into a single center or institute</a:t>
            </a:r>
          </a:p>
        </p:txBody>
      </p:sp>
    </p:spTree>
    <p:extLst>
      <p:ext uri="{BB962C8B-B14F-4D97-AF65-F5344CB8AC3E}">
        <p14:creationId xmlns:p14="http://schemas.microsoft.com/office/powerpoint/2010/main" val="3247273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594006" y="239970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Research Center – Collaboration Matrix</a:t>
            </a:r>
            <a:endParaRPr lang="en-US" sz="20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023331"/>
              </p:ext>
            </p:extLst>
          </p:nvPr>
        </p:nvGraphicFramePr>
        <p:xfrm>
          <a:off x="73375" y="640080"/>
          <a:ext cx="11783849" cy="6057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26">
                  <a:extLst>
                    <a:ext uri="{9D8B030D-6E8A-4147-A177-3AD203B41FA5}">
                      <a16:colId xmlns:a16="http://schemas.microsoft.com/office/drawing/2014/main" val="3206011491"/>
                    </a:ext>
                  </a:extLst>
                </a:gridCol>
                <a:gridCol w="815035">
                  <a:extLst>
                    <a:ext uri="{9D8B030D-6E8A-4147-A177-3AD203B41FA5}">
                      <a16:colId xmlns:a16="http://schemas.microsoft.com/office/drawing/2014/main" val="3673404054"/>
                    </a:ext>
                  </a:extLst>
                </a:gridCol>
                <a:gridCol w="565467">
                  <a:extLst>
                    <a:ext uri="{9D8B030D-6E8A-4147-A177-3AD203B41FA5}">
                      <a16:colId xmlns:a16="http://schemas.microsoft.com/office/drawing/2014/main" val="365801314"/>
                    </a:ext>
                  </a:extLst>
                </a:gridCol>
                <a:gridCol w="516255">
                  <a:extLst>
                    <a:ext uri="{9D8B030D-6E8A-4147-A177-3AD203B41FA5}">
                      <a16:colId xmlns:a16="http://schemas.microsoft.com/office/drawing/2014/main" val="259189800"/>
                    </a:ext>
                  </a:extLst>
                </a:gridCol>
                <a:gridCol w="565467">
                  <a:extLst>
                    <a:ext uri="{9D8B030D-6E8A-4147-A177-3AD203B41FA5}">
                      <a16:colId xmlns:a16="http://schemas.microsoft.com/office/drawing/2014/main" val="4165093176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1167077319"/>
                    </a:ext>
                  </a:extLst>
                </a:gridCol>
                <a:gridCol w="568643">
                  <a:extLst>
                    <a:ext uri="{9D8B030D-6E8A-4147-A177-3AD203B41FA5}">
                      <a16:colId xmlns:a16="http://schemas.microsoft.com/office/drawing/2014/main" val="3448317224"/>
                    </a:ext>
                  </a:extLst>
                </a:gridCol>
                <a:gridCol w="516255">
                  <a:extLst>
                    <a:ext uri="{9D8B030D-6E8A-4147-A177-3AD203B41FA5}">
                      <a16:colId xmlns:a16="http://schemas.microsoft.com/office/drawing/2014/main" val="3581581713"/>
                    </a:ext>
                  </a:extLst>
                </a:gridCol>
                <a:gridCol w="628967">
                  <a:extLst>
                    <a:ext uri="{9D8B030D-6E8A-4147-A177-3AD203B41FA5}">
                      <a16:colId xmlns:a16="http://schemas.microsoft.com/office/drawing/2014/main" val="207478884"/>
                    </a:ext>
                  </a:extLst>
                </a:gridCol>
                <a:gridCol w="497205">
                  <a:extLst>
                    <a:ext uri="{9D8B030D-6E8A-4147-A177-3AD203B41FA5}">
                      <a16:colId xmlns:a16="http://schemas.microsoft.com/office/drawing/2014/main" val="90969923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1570943707"/>
                    </a:ext>
                  </a:extLst>
                </a:gridCol>
                <a:gridCol w="489267">
                  <a:extLst>
                    <a:ext uri="{9D8B030D-6E8A-4147-A177-3AD203B41FA5}">
                      <a16:colId xmlns:a16="http://schemas.microsoft.com/office/drawing/2014/main" val="109276825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539959365"/>
                    </a:ext>
                  </a:extLst>
                </a:gridCol>
                <a:gridCol w="508438">
                  <a:extLst>
                    <a:ext uri="{9D8B030D-6E8A-4147-A177-3AD203B41FA5}">
                      <a16:colId xmlns:a16="http://schemas.microsoft.com/office/drawing/2014/main" val="1730646922"/>
                    </a:ext>
                  </a:extLst>
                </a:gridCol>
                <a:gridCol w="686117">
                  <a:extLst>
                    <a:ext uri="{9D8B030D-6E8A-4147-A177-3AD203B41FA5}">
                      <a16:colId xmlns:a16="http://schemas.microsoft.com/office/drawing/2014/main" val="1724170890"/>
                    </a:ext>
                  </a:extLst>
                </a:gridCol>
                <a:gridCol w="509905">
                  <a:extLst>
                    <a:ext uri="{9D8B030D-6E8A-4147-A177-3AD203B41FA5}">
                      <a16:colId xmlns:a16="http://schemas.microsoft.com/office/drawing/2014/main" val="3307884072"/>
                    </a:ext>
                  </a:extLst>
                </a:gridCol>
                <a:gridCol w="509905">
                  <a:extLst>
                    <a:ext uri="{9D8B030D-6E8A-4147-A177-3AD203B41FA5}">
                      <a16:colId xmlns:a16="http://schemas.microsoft.com/office/drawing/2014/main" val="1023843713"/>
                    </a:ext>
                  </a:extLst>
                </a:gridCol>
                <a:gridCol w="757555">
                  <a:extLst>
                    <a:ext uri="{9D8B030D-6E8A-4147-A177-3AD203B41FA5}">
                      <a16:colId xmlns:a16="http://schemas.microsoft.com/office/drawing/2014/main" val="3980868084"/>
                    </a:ext>
                  </a:extLst>
                </a:gridCol>
                <a:gridCol w="482917">
                  <a:extLst>
                    <a:ext uri="{9D8B030D-6E8A-4147-A177-3AD203B41FA5}">
                      <a16:colId xmlns:a16="http://schemas.microsoft.com/office/drawing/2014/main" val="3749211904"/>
                    </a:ext>
                  </a:extLst>
                </a:gridCol>
                <a:gridCol w="559117">
                  <a:extLst>
                    <a:ext uri="{9D8B030D-6E8A-4147-A177-3AD203B41FA5}">
                      <a16:colId xmlns:a16="http://schemas.microsoft.com/office/drawing/2014/main" val="1731696195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3727273308"/>
                    </a:ext>
                  </a:extLst>
                </a:gridCol>
              </a:tblGrid>
              <a:tr h="368881">
                <a:tc rowSpan="2" gridSpan="2"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9"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chemeClr val="tx1"/>
                          </a:solidFill>
                        </a:rPr>
                        <a:t>Primary Center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569540"/>
                  </a:ext>
                </a:extLst>
              </a:tr>
              <a:tr h="299496">
                <a:tc gridSpan="2" vMerge="1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CMAT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RICH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/>
                        <a:t>CeCaS</a:t>
                      </a:r>
                      <a:endParaRPr lang="en-US" sz="11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/>
                        <a:t>AMCC</a:t>
                      </a:r>
                      <a:endParaRPr lang="en-US" sz="11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/>
                        <a:t>ENTC</a:t>
                      </a:r>
                      <a:endParaRPr lang="en-US" sz="11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/>
                        <a:t>APEC</a:t>
                      </a:r>
                      <a:endParaRPr lang="en-US" sz="11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KUSTIC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SPSC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 smtClean="0"/>
                        <a:t>ENGEOS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ARIC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RIC-2D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C2PS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KUCARS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SOCL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EBTIC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 smtClean="0"/>
                        <a:t>KU-KAIST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HEIC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RDISC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BTC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432552"/>
                  </a:ext>
                </a:extLst>
              </a:tr>
              <a:tr h="0">
                <a:tc rowSpan="1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smtClean="0"/>
                        <a:t>Supporting Center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CMAT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76273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RICH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8221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CeCaS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3733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AMCC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87547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8199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APEC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592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KUSTIC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06722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SPSC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47608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ENGEOS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5052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ARIC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0280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RIC-2D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24593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C2PS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7513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KUCARS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8561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SOCL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4872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EBTIC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61211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KU-KAIST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84403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HEIC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565816"/>
                  </a:ext>
                </a:extLst>
              </a:tr>
              <a:tr h="317113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RDISC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16762"/>
                  </a:ext>
                </a:extLst>
              </a:tr>
              <a:tr h="31711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 smtClean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BTC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667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17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Linking to Objectives and KPIs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4280" y="898506"/>
            <a:ext cx="10962147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Proposed strategic focus areas and operational structure provide the foundation on which to pursue the following R&amp;D strategic objectives: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Diversify research funding sources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dirty="0"/>
              <a:t>Industry connections and winning of external grants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Develop a strategically focused internal research funding program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dirty="0"/>
              <a:t>Internal research awards in strategically-focused areas that achieve impactful scholarly and innovation outcomes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Develop robust and efficient intellectual property portfolio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dirty="0"/>
              <a:t>Disclosure and protection of novel R&amp;D-based solutions with high commercial potential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Achieve commercialization of university IP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dirty="0"/>
              <a:t>Translation of novel, R&amp;D-based solutions into commercial licenses and </a:t>
            </a:r>
            <a:r>
              <a:rPr lang="en-US" dirty="0" smtClean="0"/>
              <a:t>options as well as startup companies</a:t>
            </a:r>
            <a:endParaRPr lang="en-US" dirty="0"/>
          </a:p>
          <a:p>
            <a:pPr lvl="2" algn="just"/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The R&amp;D objectives, which are linked to KPIs, can only be met if proper enablers are in place, including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/>
              <a:t>Best-in-class infrastructure for basic and applied research to support faculty research and to attract industry partners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/>
              <a:t>An innovation focus among faculty and researchers with orientation toward areas that can yield economic value for Abu Dhabi and the UAE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589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369" y="248497"/>
            <a:ext cx="105467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R&amp;D Strategy - Enabling Projects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436521"/>
              </p:ext>
            </p:extLst>
          </p:nvPr>
        </p:nvGraphicFramePr>
        <p:xfrm>
          <a:off x="301369" y="796207"/>
          <a:ext cx="11672737" cy="5812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8726">
                  <a:extLst>
                    <a:ext uri="{9D8B030D-6E8A-4147-A177-3AD203B41FA5}">
                      <a16:colId xmlns:a16="http://schemas.microsoft.com/office/drawing/2014/main" val="535192926"/>
                    </a:ext>
                  </a:extLst>
                </a:gridCol>
                <a:gridCol w="5679347">
                  <a:extLst>
                    <a:ext uri="{9D8B030D-6E8A-4147-A177-3AD203B41FA5}">
                      <a16:colId xmlns:a16="http://schemas.microsoft.com/office/drawing/2014/main" val="4188118171"/>
                    </a:ext>
                  </a:extLst>
                </a:gridCol>
                <a:gridCol w="628968">
                  <a:extLst>
                    <a:ext uri="{9D8B030D-6E8A-4147-A177-3AD203B41FA5}">
                      <a16:colId xmlns:a16="http://schemas.microsoft.com/office/drawing/2014/main" val="2385582342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2909445296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2747108085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4294668782"/>
                    </a:ext>
                  </a:extLst>
                </a:gridCol>
                <a:gridCol w="632142">
                  <a:extLst>
                    <a:ext uri="{9D8B030D-6E8A-4147-A177-3AD203B41FA5}">
                      <a16:colId xmlns:a16="http://schemas.microsoft.com/office/drawing/2014/main" val="298644920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Strategic</a:t>
                      </a:r>
                      <a:r>
                        <a:rPr lang="en-US" sz="1400" baseline="0" dirty="0"/>
                        <a:t> Priority | Proposal</a:t>
                      </a:r>
                      <a:endParaRPr lang="en-US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Project</a:t>
                      </a:r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Budget (AED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M)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20682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362701"/>
                  </a:ext>
                </a:extLst>
              </a:tr>
              <a:tr h="376644">
                <a:tc>
                  <a:txBody>
                    <a:bodyPr/>
                    <a:lstStyle/>
                    <a:p>
                      <a:r>
                        <a:rPr lang="en-US" sz="1400" dirty="0"/>
                        <a:t>Healthcare</a:t>
                      </a:r>
                      <a:r>
                        <a:rPr lang="en-US" sz="1400" baseline="0" dirty="0"/>
                        <a:t> | New Institute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Establishment of Abu Dhabi Healthcare Institute (ADHI)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93782734"/>
                  </a:ext>
                </a:extLst>
              </a:tr>
              <a:tr h="37664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Healthcare </a:t>
                      </a:r>
                      <a:r>
                        <a:rPr lang="en-US" sz="1400" baseline="0" dirty="0"/>
                        <a:t>| New Institute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Build-out</a:t>
                      </a:r>
                      <a:r>
                        <a:rPr lang="en-US" sz="1400" baseline="0" dirty="0"/>
                        <a:t> complementary KU research labs for ADHI (ARF &amp; Tissue &amp; Cell)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67801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Advanced</a:t>
                      </a:r>
                      <a:r>
                        <a:rPr lang="en-US" sz="1400" baseline="0" dirty="0"/>
                        <a:t> Materials and Manufacturing | Major New Program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Establishment of an externally funded research and innovation center focused on graphene and other </a:t>
                      </a:r>
                      <a:r>
                        <a:rPr lang="en-US" sz="1400" baseline="0" dirty="0"/>
                        <a:t>2D materials </a:t>
                      </a:r>
                      <a:r>
                        <a:rPr lang="en-US" sz="1400" dirty="0"/>
                        <a:t>(RIC-2D)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290.4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18124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Advanced</a:t>
                      </a:r>
                      <a:r>
                        <a:rPr lang="en-US" sz="1400" baseline="0" dirty="0"/>
                        <a:t> Materials and Manufacturing | Major New Core Facilities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Build-out new CORE lab facilities @ SAN campus (Microscopy</a:t>
                      </a:r>
                      <a:r>
                        <a:rPr lang="en-US" sz="1400" baseline="0" dirty="0"/>
                        <a:t>, Cleanroom, Gloveboxes, Nano/Micro fabrication)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147.1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177.1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21458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Institutes</a:t>
                      </a:r>
                      <a:r>
                        <a:rPr lang="en-US" sz="1400" baseline="0" dirty="0"/>
                        <a:t> &amp; Centers|  Re-structure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Revised</a:t>
                      </a:r>
                      <a:r>
                        <a:rPr lang="en-US" sz="1400" baseline="0" dirty="0"/>
                        <a:t> concept of Institutes and Centers @ KU (</a:t>
                      </a:r>
                      <a:r>
                        <a:rPr lang="en-US" sz="1400" i="1" baseline="0" dirty="0"/>
                        <a:t>details next slide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>
                          <a:effectLst/>
                        </a:rPr>
                        <a:t>26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>
                          <a:effectLst/>
                        </a:rPr>
                        <a:t>31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>
                          <a:effectLst/>
                        </a:rPr>
                        <a:t>31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>
                          <a:effectLst/>
                        </a:rPr>
                        <a:t>31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119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extLst>
                  <a:ext uri="{0D108BD9-81ED-4DB2-BD59-A6C34878D82A}">
                    <a16:rowId xmlns:a16="http://schemas.microsoft.com/office/drawing/2014/main" val="2035232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Water and Environment </a:t>
                      </a:r>
                      <a:r>
                        <a:rPr lang="en-US" sz="1400" baseline="0" dirty="0"/>
                        <a:t>| New R&amp;D Center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Establishment</a:t>
                      </a:r>
                      <a:r>
                        <a:rPr lang="en-US" sz="1400" baseline="0" dirty="0"/>
                        <a:t> of Center for Research on Ocean and Coastal Sustainability (</a:t>
                      </a:r>
                      <a:r>
                        <a:rPr lang="en-US" sz="1400" i="1" baseline="0" dirty="0"/>
                        <a:t>tbc, external funding needed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119.7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41665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Cross-Cutting</a:t>
                      </a:r>
                      <a:r>
                        <a:rPr lang="en-US" sz="1400" baseline="0" dirty="0"/>
                        <a:t> | Upgrades to HPC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Expand HPC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capabilities and data storage in light of increase health and material sciences research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7.4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56.1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2674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Science</a:t>
                      </a:r>
                      <a:r>
                        <a:rPr lang="en-US" sz="1400" baseline="0" dirty="0"/>
                        <a:t> and </a:t>
                      </a:r>
                      <a:r>
                        <a:rPr lang="en-US" sz="1400" dirty="0"/>
                        <a:t>Innovation</a:t>
                      </a:r>
                      <a:r>
                        <a:rPr lang="en-US" sz="1400" baseline="0" dirty="0"/>
                        <a:t> | New Funding Programs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Expand internal funding</a:t>
                      </a:r>
                      <a:r>
                        <a:rPr lang="en-US" sz="1400" baseline="0" dirty="0"/>
                        <a:t> programs to support science and innovation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81196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Research Awards</a:t>
                      </a:r>
                      <a:r>
                        <a:rPr lang="en-US" sz="1400" baseline="0" dirty="0"/>
                        <a:t> | New Funding Program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Expand faculty awards to recognize scholarly output (publications) and innovation (IP outputs and sponsored work with companies)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92745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Partnerships |  New Funding Program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Establishment of partnerships with leading universities and research institutes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14.8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6688236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Total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417.6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224.5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201.1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105.6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948.9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552930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2767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369" y="248497"/>
            <a:ext cx="105467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R&amp;D Strategy - Enabling Projects  (Centers Budget)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354412"/>
              </p:ext>
            </p:extLst>
          </p:nvPr>
        </p:nvGraphicFramePr>
        <p:xfrm>
          <a:off x="516575" y="786109"/>
          <a:ext cx="11158850" cy="5955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850">
                  <a:extLst>
                    <a:ext uri="{9D8B030D-6E8A-4147-A177-3AD203B41FA5}">
                      <a16:colId xmlns:a16="http://schemas.microsoft.com/office/drawing/2014/main" val="2067185956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4282192618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1611440179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898966939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847946059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1368638507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313486437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29106239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3054732079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948286141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4099116861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830946840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3836140387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2051543428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3462486419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1978426338"/>
                    </a:ext>
                  </a:extLst>
                </a:gridCol>
              </a:tblGrid>
              <a:tr h="1708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Centers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Internal Budget (AED M)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External Budget (AED M)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Total Budget (AED M)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896418"/>
                  </a:ext>
                </a:extLst>
              </a:tr>
              <a:tr h="1789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2022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2023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2024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2025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Total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2022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2023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2024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2025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Total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2022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2023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2024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2025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Total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81754038"/>
                  </a:ext>
                </a:extLst>
              </a:tr>
              <a:tr h="27653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Sustainable Energy VRI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0.5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13.9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13.9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13.9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12.7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54.4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14.4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14.4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14.4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13.2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56.4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89727072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APEC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4.4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4.4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23888276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CMAT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7.2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12352763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CROCS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40822623"/>
                  </a:ext>
                </a:extLst>
              </a:tr>
              <a:tr h="2684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ENGEOS/EARTHCARE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5.4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05713149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RICH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16.8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16.8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32640550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 err="1">
                          <a:effectLst/>
                        </a:rPr>
                        <a:t>CeCaS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7028319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Air-CRAFT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067715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BTC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7.2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01439686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HEIC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7.2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93988255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RDISC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7.2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45237010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KUSTIC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6.8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5.7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5.7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5.7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5.7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22.8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59068514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SPSC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52213985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ARIC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3.2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9311826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AMCC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340843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2D Materials VRI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20209913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RIC-2D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96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91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289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96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91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289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482043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Robotics VRI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45397844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EBTIC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5.6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6.5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6.5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6.5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6.5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26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31.6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32404763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C2PS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20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20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1604897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SOCL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4.4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4.4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65765732"/>
                  </a:ext>
                </a:extLst>
              </a:tr>
              <a:tr h="2114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Total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26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31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31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31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119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>
                          <a:effectLst/>
                        </a:rPr>
                        <a:t>127.4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121.4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>
                          <a:effectLst/>
                        </a:rPr>
                        <a:t>116.4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>
                          <a:effectLst/>
                        </a:rPr>
                        <a:t>24.2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389.4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>
                          <a:effectLst/>
                        </a:rPr>
                        <a:t>153.4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>
                          <a:effectLst/>
                        </a:rPr>
                        <a:t>152.4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147.4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>
                          <a:effectLst/>
                        </a:rPr>
                        <a:t>55.2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508.4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69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73336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</a:t>
            </a:r>
            <a:r>
              <a:rPr lang="en-US" sz="2000" b="1" dirty="0" smtClean="0"/>
              <a:t>Internal Research Funding</a:t>
            </a:r>
            <a:endParaRPr lang="en-US" sz="20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5664" y="737120"/>
          <a:ext cx="11712163" cy="5471160"/>
        </p:xfrm>
        <a:graphic>
          <a:graphicData uri="http://schemas.openxmlformats.org/drawingml/2006/table">
            <a:tbl>
              <a:tblPr firstRow="1" bandRow="1"/>
              <a:tblGrid>
                <a:gridCol w="1949907">
                  <a:extLst>
                    <a:ext uri="{9D8B030D-6E8A-4147-A177-3AD203B41FA5}">
                      <a16:colId xmlns:a16="http://schemas.microsoft.com/office/drawing/2014/main" val="1533718617"/>
                    </a:ext>
                  </a:extLst>
                </a:gridCol>
                <a:gridCol w="1923110">
                  <a:extLst>
                    <a:ext uri="{9D8B030D-6E8A-4147-A177-3AD203B41FA5}">
                      <a16:colId xmlns:a16="http://schemas.microsoft.com/office/drawing/2014/main" val="2326703643"/>
                    </a:ext>
                  </a:extLst>
                </a:gridCol>
                <a:gridCol w="1923110">
                  <a:extLst>
                    <a:ext uri="{9D8B030D-6E8A-4147-A177-3AD203B41FA5}">
                      <a16:colId xmlns:a16="http://schemas.microsoft.com/office/drawing/2014/main" val="3340442153"/>
                    </a:ext>
                  </a:extLst>
                </a:gridCol>
                <a:gridCol w="1923110">
                  <a:extLst>
                    <a:ext uri="{9D8B030D-6E8A-4147-A177-3AD203B41FA5}">
                      <a16:colId xmlns:a16="http://schemas.microsoft.com/office/drawing/2014/main" val="3481657808"/>
                    </a:ext>
                  </a:extLst>
                </a:gridCol>
                <a:gridCol w="2234363">
                  <a:extLst>
                    <a:ext uri="{9D8B030D-6E8A-4147-A177-3AD203B41FA5}">
                      <a16:colId xmlns:a16="http://schemas.microsoft.com/office/drawing/2014/main" val="1415055233"/>
                    </a:ext>
                  </a:extLst>
                </a:gridCol>
                <a:gridCol w="1758563">
                  <a:extLst>
                    <a:ext uri="{9D8B030D-6E8A-4147-A177-3AD203B41FA5}">
                      <a16:colId xmlns:a16="http://schemas.microsoft.com/office/drawing/2014/main" val="2067956889"/>
                    </a:ext>
                  </a:extLst>
                </a:gridCol>
              </a:tblGrid>
              <a:tr h="4504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 of New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Awards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Potential Faculty Engaged*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254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 Composition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Value ($)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99144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&amp; Innovation Grant (RIG)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90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Specific Project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4 KU faculty, up to 2 MSc. + 2 PhD students + external collaborators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/>
                          <a:cs typeface="Calibri"/>
                        </a:rPr>
                        <a:t>$560k over 2.5 years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56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Student Support</a:t>
                      </a:r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Grant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(SSG)</a:t>
                      </a:r>
                      <a:endParaRPr lang="en-US" sz="15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 to 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Specific Project</a:t>
                      </a:r>
                    </a:p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(Student Based Activity)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4 KU faculty, up to 2 PG students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$40k over 2 years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38813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Center </a:t>
                      </a:r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500" b="1" u="sng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RC</a:t>
                      </a:r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 algn="ctr"/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2023 Call</a:t>
                      </a:r>
                      <a:endParaRPr lang="en-US" sz="15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Multiple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hemes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with Multiple Projects per Theme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 – 20 KU faculty, 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 to 4 MSc. + 8 PhD students 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external collaborators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$1.5M over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years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77379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Faculty Start-Up (</a:t>
                      </a:r>
                      <a:r>
                        <a:rPr lang="en-US" sz="1500" b="1" u="sng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FSU</a:t>
                      </a:r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(estimate based on faculty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hiring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Specific Project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new KU faculty per award + up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2 PG students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$240k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over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 years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74384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Emerging Science &amp; Innovation Grant (</a:t>
                      </a:r>
                      <a:r>
                        <a:rPr lang="en-US" sz="1500" b="1" u="sng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ESIG</a:t>
                      </a:r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15-20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(depending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on award values)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Specific Project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 to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 KU faculty per award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(no student allocation)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$50k – 100k per award over 6-12 months</a:t>
                      </a:r>
                    </a:p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($500k per College)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192864"/>
                  </a:ext>
                </a:extLst>
              </a:tr>
              <a:tr h="641689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Joint University R&amp;D Programs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Dependent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Collaborative 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Projects (KU + Partner University)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4 KU faculty + Partner university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Variable/ Normally 3 years 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5340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05664" y="6372808"/>
            <a:ext cx="6983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Approx. 75% of KU faculty to be involved in an internally funded grant</a:t>
            </a:r>
          </a:p>
        </p:txBody>
      </p:sp>
    </p:spTree>
    <p:extLst>
      <p:ext uri="{BB962C8B-B14F-4D97-AF65-F5344CB8AC3E}">
        <p14:creationId xmlns:p14="http://schemas.microsoft.com/office/powerpoint/2010/main" val="32567107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KU Research Programs: Emerging Science &amp; Innovation Grants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564965"/>
              </p:ext>
            </p:extLst>
          </p:nvPr>
        </p:nvGraphicFramePr>
        <p:xfrm>
          <a:off x="318035" y="1145763"/>
          <a:ext cx="11534635" cy="2411237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859347">
                  <a:extLst>
                    <a:ext uri="{9D8B030D-6E8A-4147-A177-3AD203B41FA5}">
                      <a16:colId xmlns:a16="http://schemas.microsoft.com/office/drawing/2014/main" val="1533718617"/>
                    </a:ext>
                  </a:extLst>
                </a:gridCol>
                <a:gridCol w="1511008">
                  <a:extLst>
                    <a:ext uri="{9D8B030D-6E8A-4147-A177-3AD203B41FA5}">
                      <a16:colId xmlns:a16="http://schemas.microsoft.com/office/drawing/2014/main" val="3481657808"/>
                    </a:ext>
                  </a:extLst>
                </a:gridCol>
                <a:gridCol w="2217149">
                  <a:extLst>
                    <a:ext uri="{9D8B030D-6E8A-4147-A177-3AD203B41FA5}">
                      <a16:colId xmlns:a16="http://schemas.microsoft.com/office/drawing/2014/main" val="1415055233"/>
                    </a:ext>
                  </a:extLst>
                </a:gridCol>
                <a:gridCol w="2368371">
                  <a:extLst>
                    <a:ext uri="{9D8B030D-6E8A-4147-A177-3AD203B41FA5}">
                      <a16:colId xmlns:a16="http://schemas.microsoft.com/office/drawing/2014/main" val="1247134720"/>
                    </a:ext>
                  </a:extLst>
                </a:gridCol>
                <a:gridCol w="1289380">
                  <a:extLst>
                    <a:ext uri="{9D8B030D-6E8A-4147-A177-3AD203B41FA5}">
                      <a16:colId xmlns:a16="http://schemas.microsoft.com/office/drawing/2014/main" val="2067956889"/>
                    </a:ext>
                  </a:extLst>
                </a:gridCol>
                <a:gridCol w="1289380">
                  <a:extLst>
                    <a:ext uri="{9D8B030D-6E8A-4147-A177-3AD203B41FA5}">
                      <a16:colId xmlns:a16="http://schemas.microsoft.com/office/drawing/2014/main" val="1188156445"/>
                    </a:ext>
                  </a:extLst>
                </a:gridCol>
              </a:tblGrid>
              <a:tr h="40651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Program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</a:t>
                      </a:r>
                      <a:r>
                        <a:rPr lang="en-US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en-US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Recommend  Awards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Approve Awards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</a:t>
                      </a:r>
                      <a:r>
                        <a:rPr lang="en-US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n-US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991444"/>
                  </a:ext>
                </a:extLst>
              </a:tr>
              <a:tr h="1002362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Emerging Science &amp; Innovation Grant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KU only projects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 to 5 awards per College per fiscal year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URC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 – $100K 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 to 12</a:t>
                      </a:r>
                      <a:r>
                        <a:rPr lang="en-US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months</a:t>
                      </a:r>
                    </a:p>
                    <a:p>
                      <a:pPr algn="ctr"/>
                      <a:r>
                        <a:rPr lang="en-US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Fiscal</a:t>
                      </a:r>
                      <a:r>
                        <a:rPr lang="en-US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Year)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561429"/>
                  </a:ext>
                </a:extLst>
              </a:tr>
              <a:tr h="1002362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Funds to support faculty with an existing track record of productive research to explore new or novel ideas with potential</a:t>
                      </a:r>
                      <a:r>
                        <a:rPr lang="en-US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for high impact outcomes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420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9415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Internal Research </a:t>
            </a:r>
            <a:r>
              <a:rPr lang="en-US" sz="2000" b="1" dirty="0" smtClean="0"/>
              <a:t>Funding Criteria </a:t>
            </a:r>
            <a:r>
              <a:rPr lang="en-US" sz="2000" b="1" dirty="0"/>
              <a:t>&amp; Approvals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039163"/>
              </p:ext>
            </p:extLst>
          </p:nvPr>
        </p:nvGraphicFramePr>
        <p:xfrm>
          <a:off x="389640" y="821096"/>
          <a:ext cx="11562875" cy="5546349"/>
        </p:xfrm>
        <a:graphic>
          <a:graphicData uri="http://schemas.openxmlformats.org/drawingml/2006/table">
            <a:tbl>
              <a:tblPr firstRow="1" bandRow="1"/>
              <a:tblGrid>
                <a:gridCol w="2647951">
                  <a:extLst>
                    <a:ext uri="{9D8B030D-6E8A-4147-A177-3AD203B41FA5}">
                      <a16:colId xmlns:a16="http://schemas.microsoft.com/office/drawing/2014/main" val="1533718617"/>
                    </a:ext>
                  </a:extLst>
                </a:gridCol>
                <a:gridCol w="3288565">
                  <a:extLst>
                    <a:ext uri="{9D8B030D-6E8A-4147-A177-3AD203B41FA5}">
                      <a16:colId xmlns:a16="http://schemas.microsoft.com/office/drawing/2014/main" val="2326703643"/>
                    </a:ext>
                  </a:extLst>
                </a:gridCol>
                <a:gridCol w="3452854">
                  <a:extLst>
                    <a:ext uri="{9D8B030D-6E8A-4147-A177-3AD203B41FA5}">
                      <a16:colId xmlns:a16="http://schemas.microsoft.com/office/drawing/2014/main" val="1415055233"/>
                    </a:ext>
                  </a:extLst>
                </a:gridCol>
                <a:gridCol w="2173505">
                  <a:extLst>
                    <a:ext uri="{9D8B030D-6E8A-4147-A177-3AD203B41FA5}">
                      <a16:colId xmlns:a16="http://schemas.microsoft.com/office/drawing/2014/main" val="2067956889"/>
                    </a:ext>
                  </a:extLst>
                </a:gridCol>
              </a:tblGrid>
              <a:tr h="4330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Basis/ Eligibility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Reviewed/ Recommended By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Approved By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991444"/>
                  </a:ext>
                </a:extLst>
              </a:tr>
              <a:tr h="132107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&amp; Innovation Grant (RIG)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Competitive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All KU Research Areas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All Professorial Ranks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External Reviewers (Proposal)</a:t>
                      </a:r>
                    </a:p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Council (Final Shortlist)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254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Council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561429"/>
                  </a:ext>
                </a:extLst>
              </a:tr>
              <a:tr h="10256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Center </a:t>
                      </a:r>
                      <a:r>
                        <a:rPr lang="en-US" sz="16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600" b="1" u="sng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RC</a:t>
                      </a:r>
                      <a:r>
                        <a:rPr lang="en-US" sz="16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 algn="ctr"/>
                      <a:r>
                        <a:rPr lang="en-US" sz="16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2023 Call</a:t>
                      </a:r>
                      <a:endParaRPr 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Competitive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All KU Research Areas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Assoc. &amp; Full Professors only as PI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6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External Reviewers (Proposal)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6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Research Council (Final Shortlist)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Executive</a:t>
                      </a:r>
                      <a:r>
                        <a:rPr lang="en-US" sz="16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Leadership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773796"/>
                  </a:ext>
                </a:extLst>
              </a:tr>
              <a:tr h="8767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Faculty Start-Up (</a:t>
                      </a:r>
                      <a:r>
                        <a:rPr lang="en-US" sz="1600" b="1" u="sng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FSU</a:t>
                      </a:r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faculty only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All Professorial Ranks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Director USR/ Faculty Mentor/ Academic Dept. Chair/ Assoc. Dean Research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A/Provost Research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743846"/>
                  </a:ext>
                </a:extLst>
              </a:tr>
              <a:tr h="8767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Emerging Science &amp; Innovation Grant (</a:t>
                      </a:r>
                      <a:r>
                        <a:rPr lang="en-US" sz="1600" b="1" u="sng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ESIG</a:t>
                      </a:r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Competitive within</a:t>
                      </a:r>
                      <a:r>
                        <a:rPr lang="en-US" sz="16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Academic College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Internally Reviewed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All Professorial Ranks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Department Chairs (Proposals)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College Deans (Shortlist)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Council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192864"/>
                  </a:ext>
                </a:extLst>
              </a:tr>
              <a:tr h="79125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Strategic Joint University R&amp;D Programs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Competitive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Subject Specific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All Professorial Ranks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Joint University Committee (Faculty Based)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Joint Program Management Board 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53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233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KU Research Programs: RIG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308" y="1626293"/>
            <a:ext cx="1992086" cy="980629"/>
          </a:xfrm>
          <a:prstGeom prst="roundRect">
            <a:avLst/>
          </a:prstGeom>
          <a:gradFill flip="none" rotWithShape="1">
            <a:gsLst>
              <a:gs pos="0">
                <a:srgbClr val="C87906">
                  <a:tint val="66000"/>
                  <a:satMod val="160000"/>
                </a:srgbClr>
              </a:gs>
              <a:gs pos="50000">
                <a:srgbClr val="C87906">
                  <a:tint val="44500"/>
                  <a:satMod val="160000"/>
                </a:srgbClr>
              </a:gs>
              <a:gs pos="100000">
                <a:srgbClr val="C87906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  "/>
              </a:rPr>
              <a:t>RIG call launched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14626" y="1487639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Stage 1: LOI drafted by faculty teams as per call guidelines/ templates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8426" y="1487638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submit LOI by call deadline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42226" y="1487638"/>
            <a:ext cx="2145568" cy="1273629"/>
          </a:xfrm>
          <a:prstGeom prst="rect">
            <a:avLst/>
          </a:prstGeom>
          <a:solidFill>
            <a:srgbClr val="85B3FF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LOI checked for consistency with the call guidelines by USR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06026" y="3002982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Full proposals drafts by faculty teams as per call guidelines/ templates</a:t>
            </a:r>
          </a:p>
        </p:txBody>
      </p:sp>
      <p:cxnSp>
        <p:nvCxnSpPr>
          <p:cNvPr id="35" name="Straight Arrow Connector 34"/>
          <p:cNvCxnSpPr>
            <a:stCxn id="30" idx="3"/>
            <a:endCxn id="31" idx="1"/>
          </p:cNvCxnSpPr>
          <p:nvPr/>
        </p:nvCxnSpPr>
        <p:spPr>
          <a:xfrm>
            <a:off x="2096394" y="2116608"/>
            <a:ext cx="318232" cy="7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1" idx="3"/>
            <a:endCxn id="32" idx="1"/>
          </p:cNvCxnSpPr>
          <p:nvPr/>
        </p:nvCxnSpPr>
        <p:spPr>
          <a:xfrm flipV="1">
            <a:off x="4560194" y="2124453"/>
            <a:ext cx="31823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2" idx="3"/>
            <a:endCxn id="33" idx="1"/>
          </p:cNvCxnSpPr>
          <p:nvPr/>
        </p:nvCxnSpPr>
        <p:spPr>
          <a:xfrm>
            <a:off x="7023994" y="2124453"/>
            <a:ext cx="3182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41" idx="2"/>
          </p:cNvCxnSpPr>
          <p:nvPr/>
        </p:nvCxnSpPr>
        <p:spPr>
          <a:xfrm>
            <a:off x="10878810" y="2753423"/>
            <a:ext cx="0" cy="2495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9487794" y="3638981"/>
            <a:ext cx="318232" cy="8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023994" y="3638981"/>
            <a:ext cx="318232" cy="16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9806026" y="1479794"/>
            <a:ext cx="2145568" cy="1273629"/>
          </a:xfrm>
          <a:prstGeom prst="rect">
            <a:avLst/>
          </a:prstGeom>
          <a:solidFill>
            <a:srgbClr val="85B3FF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If eligible, Faculty informed to continue to full proposal submission.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9487794" y="2116608"/>
            <a:ext cx="3182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7342226" y="3004685"/>
            <a:ext cx="2145568" cy="1271926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submit full proposal by call deadline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07476" y="4518298"/>
            <a:ext cx="2145568" cy="1491885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USR complies full proposal data and arranges Research Council meeting to review rankings &amp; comments to validate external feedback and flag any inconsistency.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14626" y="4516693"/>
            <a:ext cx="2145568" cy="1493490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External reviewer scores &amp; comments provided for each proposal using template.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Calibri  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USR logs and ranks proposal reviews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14626" y="3002166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If eligible, full proposals allocated to 3 external reviewers separately (blind/ NDA signed)</a:t>
            </a:r>
          </a:p>
          <a:p>
            <a:pPr algn="ctr"/>
            <a:endParaRPr lang="en-US" sz="1050" i="1" dirty="0">
              <a:solidFill>
                <a:schemeClr val="tx1"/>
              </a:solidFill>
              <a:latin typeface="Calibri  "/>
            </a:endParaRPr>
          </a:p>
          <a:p>
            <a:pPr algn="ctr"/>
            <a:r>
              <a:rPr lang="en-US" sz="1050" i="1" dirty="0">
                <a:solidFill>
                  <a:schemeClr val="tx1"/>
                </a:solidFill>
                <a:latin typeface="Calibri  "/>
              </a:rPr>
              <a:t>(Reviewer allocation its own process)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42226" y="4525355"/>
            <a:ext cx="2145568" cy="1484828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USR follows up on any questions or conditional awards and then presents back Research Council final awards for endorsement.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07476" y="3002982"/>
            <a:ext cx="211651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Full proposal pack checked for consistency with the call guidelines by USR.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Calibri  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allowed to update where admin corrections required </a:t>
            </a:r>
          </a:p>
        </p:txBody>
      </p:sp>
      <p:cxnSp>
        <p:nvCxnSpPr>
          <p:cNvPr id="49" name="Straight Arrow Connector 48"/>
          <p:cNvCxnSpPr>
            <a:stCxn id="44" idx="3"/>
            <a:endCxn id="47" idx="1"/>
          </p:cNvCxnSpPr>
          <p:nvPr/>
        </p:nvCxnSpPr>
        <p:spPr>
          <a:xfrm>
            <a:off x="7053044" y="5264241"/>
            <a:ext cx="289182" cy="3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806026" y="4995329"/>
            <a:ext cx="2145568" cy="5362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  "/>
              </a:rPr>
              <a:t>RIG projects awarded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9487794" y="5284832"/>
            <a:ext cx="3182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8" idx="1"/>
            <a:endCxn id="46" idx="3"/>
          </p:cNvCxnSpPr>
          <p:nvPr/>
        </p:nvCxnSpPr>
        <p:spPr>
          <a:xfrm flipH="1" flipV="1">
            <a:off x="4560194" y="3638981"/>
            <a:ext cx="347282" cy="8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46" idx="2"/>
            <a:endCxn id="45" idx="0"/>
          </p:cNvCxnSpPr>
          <p:nvPr/>
        </p:nvCxnSpPr>
        <p:spPr>
          <a:xfrm>
            <a:off x="3487410" y="4275795"/>
            <a:ext cx="0" cy="2408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4574719" y="5284832"/>
            <a:ext cx="31823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3078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KU Research Programs: Research Centers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8813" y="1281784"/>
            <a:ext cx="1992086" cy="980629"/>
          </a:xfrm>
          <a:prstGeom prst="roundRect">
            <a:avLst/>
          </a:prstGeom>
          <a:gradFill flip="none" rotWithShape="1">
            <a:gsLst>
              <a:gs pos="0">
                <a:srgbClr val="C87906">
                  <a:tint val="66000"/>
                  <a:satMod val="160000"/>
                </a:srgbClr>
              </a:gs>
              <a:gs pos="50000">
                <a:srgbClr val="C87906">
                  <a:tint val="44500"/>
                  <a:satMod val="160000"/>
                </a:srgbClr>
              </a:gs>
              <a:gs pos="100000">
                <a:srgbClr val="C87906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  "/>
              </a:rPr>
              <a:t>Research Center call launched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9131" y="1143130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Stage 1: Letter of Intent (</a:t>
            </a:r>
            <a:r>
              <a:rPr lang="en-US" sz="1200" dirty="0" err="1">
                <a:solidFill>
                  <a:schemeClr val="tx1"/>
                </a:solidFill>
                <a:latin typeface="Calibri  "/>
              </a:rPr>
              <a:t>LoI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) drafted by faculty teams as per call guidelines/ templates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92931" y="1143129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submit </a:t>
            </a:r>
            <a:r>
              <a:rPr lang="en-US" sz="1200" dirty="0" err="1">
                <a:solidFill>
                  <a:schemeClr val="tx1"/>
                </a:solidFill>
                <a:latin typeface="Calibri  "/>
              </a:rPr>
              <a:t>LoI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 by call deadline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6731" y="1143129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Calibri  "/>
              </a:rPr>
              <a:t>LoI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 checked for consistency with the call guidelines by USR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6730" y="2657657"/>
            <a:ext cx="2173573" cy="1273629"/>
          </a:xfrm>
          <a:prstGeom prst="rect">
            <a:avLst/>
          </a:prstGeom>
          <a:solidFill>
            <a:srgbClr val="85B3FF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Shortlisted </a:t>
            </a:r>
            <a:r>
              <a:rPr lang="en-US" sz="1200" dirty="0" err="1">
                <a:solidFill>
                  <a:schemeClr val="tx1"/>
                </a:solidFill>
                <a:latin typeface="Calibri  "/>
              </a:rPr>
              <a:t>LoI’s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 notified to proceed to Stage 2 Full Proposal.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Calibri  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Feedback provided to Successful &amp; Unsuccessful </a:t>
            </a:r>
            <a:r>
              <a:rPr lang="en-US" sz="1200" dirty="0" err="1">
                <a:solidFill>
                  <a:schemeClr val="tx1"/>
                </a:solidFill>
                <a:latin typeface="Calibri  "/>
              </a:rPr>
              <a:t>LoI’s</a:t>
            </a:r>
            <a:endParaRPr lang="en-US" sz="1200" dirty="0">
              <a:solidFill>
                <a:schemeClr val="tx1"/>
              </a:solidFill>
              <a:latin typeface="Calibri  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992931" y="2659260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Stage 2 full proposals drafts by faculty teams as per call guidelines/ templates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29131" y="2657657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  "/>
              </a:rPr>
              <a:t>Faculty submit full proposal by call deadline</a:t>
            </a:r>
            <a:endParaRPr lang="en-US" sz="1200" dirty="0">
              <a:solidFill>
                <a:schemeClr val="tx1"/>
              </a:solidFill>
              <a:latin typeface="Calibri  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920531" y="2658473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USR complies </a:t>
            </a:r>
            <a:r>
              <a:rPr lang="en-US" sz="1200" dirty="0" err="1">
                <a:solidFill>
                  <a:schemeClr val="tx1"/>
                </a:solidFill>
                <a:latin typeface="Calibri  "/>
              </a:rPr>
              <a:t>LoI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 data and arrange for shortlisting to Stage 2</a:t>
            </a:r>
          </a:p>
        </p:txBody>
      </p:sp>
      <p:cxnSp>
        <p:nvCxnSpPr>
          <p:cNvPr id="27" name="Straight Arrow Connector 26"/>
          <p:cNvCxnSpPr>
            <a:stCxn id="18" idx="3"/>
            <a:endCxn id="20" idx="1"/>
          </p:cNvCxnSpPr>
          <p:nvPr/>
        </p:nvCxnSpPr>
        <p:spPr>
          <a:xfrm>
            <a:off x="2210899" y="1772099"/>
            <a:ext cx="318232" cy="7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0" idx="3"/>
            <a:endCxn id="21" idx="1"/>
          </p:cNvCxnSpPr>
          <p:nvPr/>
        </p:nvCxnSpPr>
        <p:spPr>
          <a:xfrm flipV="1">
            <a:off x="4674699" y="1779944"/>
            <a:ext cx="31823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1" idx="3"/>
            <a:endCxn id="22" idx="1"/>
          </p:cNvCxnSpPr>
          <p:nvPr/>
        </p:nvCxnSpPr>
        <p:spPr>
          <a:xfrm>
            <a:off x="7138499" y="1779944"/>
            <a:ext cx="3182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34" idx="2"/>
            <a:endCxn id="26" idx="0"/>
          </p:cNvCxnSpPr>
          <p:nvPr/>
        </p:nvCxnSpPr>
        <p:spPr>
          <a:xfrm>
            <a:off x="10993315" y="2408914"/>
            <a:ext cx="0" cy="2495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6" idx="1"/>
            <a:endCxn id="23" idx="3"/>
          </p:cNvCxnSpPr>
          <p:nvPr/>
        </p:nvCxnSpPr>
        <p:spPr>
          <a:xfrm flipH="1" flipV="1">
            <a:off x="9602299" y="3294472"/>
            <a:ext cx="318232" cy="8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3" idx="1"/>
            <a:endCxn id="24" idx="3"/>
          </p:cNvCxnSpPr>
          <p:nvPr/>
        </p:nvCxnSpPr>
        <p:spPr>
          <a:xfrm flipH="1">
            <a:off x="7138499" y="3294472"/>
            <a:ext cx="318232" cy="16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4" idx="1"/>
            <a:endCxn id="25" idx="3"/>
          </p:cNvCxnSpPr>
          <p:nvPr/>
        </p:nvCxnSpPr>
        <p:spPr>
          <a:xfrm flipH="1" flipV="1">
            <a:off x="4674699" y="3294472"/>
            <a:ext cx="318232" cy="16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920531" y="1135285"/>
            <a:ext cx="2145568" cy="1273629"/>
          </a:xfrm>
          <a:prstGeom prst="rect">
            <a:avLst/>
          </a:prstGeom>
          <a:solidFill>
            <a:srgbClr val="85B3FF"/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Calibri  "/>
              </a:rPr>
              <a:t>LoI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 reviewed by Research Council for suitability to be developed into a full center proposal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9602299" y="1772099"/>
            <a:ext cx="3182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6379" y="2674029"/>
            <a:ext cx="2145568" cy="1257257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Full proposal pack checked for consistency with the call guidelines by USR.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Calibri  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allowed to update where admin corrections required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6731" y="4311160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Research Council meeting arranged to discuss ranking and final awards endorsed for funding.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92931" y="4312763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USR complies full proposal data and shares with Research Council members to review rankings &amp; comments.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29131" y="4311159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Calibri  "/>
              </a:rPr>
              <a:t>External reviewer scores &amp; comments provided for each proposal using template.</a:t>
            </a:r>
          </a:p>
          <a:p>
            <a:pPr algn="ctr"/>
            <a:endParaRPr lang="en-US" sz="1050" dirty="0">
              <a:solidFill>
                <a:schemeClr val="tx1"/>
              </a:solidFill>
              <a:latin typeface="Calibri  "/>
            </a:endParaRPr>
          </a:p>
          <a:p>
            <a:pPr algn="ctr"/>
            <a:r>
              <a:rPr lang="en-US" sz="1050" dirty="0">
                <a:solidFill>
                  <a:schemeClr val="tx1"/>
                </a:solidFill>
                <a:latin typeface="Calibri  "/>
              </a:rPr>
              <a:t>USR logs and ranks proposal reviews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379" y="4309655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If eligible, full proposals allocated to 4 external reviewers (blind/ NDA signed)</a:t>
            </a:r>
          </a:p>
          <a:p>
            <a:pPr algn="ctr"/>
            <a:endParaRPr lang="en-US" sz="1050" i="1" dirty="0">
              <a:solidFill>
                <a:schemeClr val="tx1"/>
              </a:solidFill>
              <a:latin typeface="Calibri  "/>
            </a:endParaRPr>
          </a:p>
          <a:p>
            <a:pPr algn="ctr"/>
            <a:r>
              <a:rPr lang="en-US" sz="1050" i="1" dirty="0">
                <a:solidFill>
                  <a:schemeClr val="tx1"/>
                </a:solidFill>
                <a:latin typeface="Calibri  "/>
              </a:rPr>
              <a:t>(Reviewer allocation its own process)</a:t>
            </a:r>
          </a:p>
        </p:txBody>
      </p:sp>
      <p:cxnSp>
        <p:nvCxnSpPr>
          <p:cNvPr id="41" name="Straight Arrow Connector 40"/>
          <p:cNvCxnSpPr>
            <a:stCxn id="36" idx="2"/>
            <a:endCxn id="40" idx="0"/>
          </p:cNvCxnSpPr>
          <p:nvPr/>
        </p:nvCxnSpPr>
        <p:spPr>
          <a:xfrm>
            <a:off x="1169163" y="3931286"/>
            <a:ext cx="0" cy="3783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40" idx="3"/>
            <a:endCxn id="39" idx="1"/>
          </p:cNvCxnSpPr>
          <p:nvPr/>
        </p:nvCxnSpPr>
        <p:spPr>
          <a:xfrm>
            <a:off x="2241947" y="4946470"/>
            <a:ext cx="287184" cy="15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9" idx="3"/>
            <a:endCxn id="38" idx="1"/>
          </p:cNvCxnSpPr>
          <p:nvPr/>
        </p:nvCxnSpPr>
        <p:spPr>
          <a:xfrm>
            <a:off x="4674699" y="4947974"/>
            <a:ext cx="318232" cy="1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8" idx="3"/>
            <a:endCxn id="37" idx="1"/>
          </p:cNvCxnSpPr>
          <p:nvPr/>
        </p:nvCxnSpPr>
        <p:spPr>
          <a:xfrm flipV="1">
            <a:off x="7138499" y="4947975"/>
            <a:ext cx="318232" cy="16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7" idx="3"/>
            <a:endCxn id="47" idx="1"/>
          </p:cNvCxnSpPr>
          <p:nvPr/>
        </p:nvCxnSpPr>
        <p:spPr>
          <a:xfrm>
            <a:off x="9602299" y="4947975"/>
            <a:ext cx="318232" cy="15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5" idx="1"/>
            <a:endCxn id="36" idx="3"/>
          </p:cNvCxnSpPr>
          <p:nvPr/>
        </p:nvCxnSpPr>
        <p:spPr>
          <a:xfrm flipH="1">
            <a:off x="2241947" y="3294472"/>
            <a:ext cx="287184" cy="8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920531" y="4563030"/>
            <a:ext cx="2145568" cy="77291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  "/>
              </a:rPr>
              <a:t>Research Centers awarded</a:t>
            </a: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0584CD9E-B642-41DE-A2D4-BD10EB4A4B69}"/>
              </a:ext>
            </a:extLst>
          </p:cNvPr>
          <p:cNvSpPr txBox="1">
            <a:spLocks/>
          </p:cNvSpPr>
          <p:nvPr/>
        </p:nvSpPr>
        <p:spPr>
          <a:xfrm>
            <a:off x="11393622" y="1721145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E9411BFD-442C-45DE-817D-A24D8D84F179}" type="slidenum">
              <a:rPr lang="en-US" smtClean="0">
                <a:latin typeface="Calibri  "/>
              </a:rPr>
              <a:pPr>
                <a:defRPr/>
              </a:pPr>
              <a:t>33</a:t>
            </a:fld>
            <a:endParaRPr lang="en-US" dirty="0">
              <a:latin typeface="Calibri  "/>
            </a:endParaRPr>
          </a:p>
        </p:txBody>
      </p:sp>
    </p:spTree>
    <p:extLst>
      <p:ext uri="{BB962C8B-B14F-4D97-AF65-F5344CB8AC3E}">
        <p14:creationId xmlns:p14="http://schemas.microsoft.com/office/powerpoint/2010/main" val="1419839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KU Research Programs: Faculty Start-up (May 2022 onwards)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896" y="980591"/>
            <a:ext cx="11358190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libri  "/>
              </a:rPr>
              <a:t>FSU 2022 process to updated with Assoc. Provost – Research as final approver for FSU awards.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libri  "/>
              </a:rPr>
              <a:t>All program management to move to Academic.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libri  "/>
              </a:rPr>
              <a:t>USR to facilitate the call, submission, proposal budgeting &amp; fiscal management and report collation as budget owner.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258" y="2714343"/>
            <a:ext cx="2415576" cy="1066688"/>
          </a:xfrm>
          <a:prstGeom prst="roundRect">
            <a:avLst/>
          </a:prstGeom>
          <a:gradFill flip="none" rotWithShape="1">
            <a:gsLst>
              <a:gs pos="0">
                <a:srgbClr val="C87906">
                  <a:tint val="66000"/>
                  <a:satMod val="160000"/>
                </a:srgbClr>
              </a:gs>
              <a:gs pos="50000">
                <a:srgbClr val="C87906">
                  <a:tint val="44500"/>
                  <a:satMod val="160000"/>
                </a:srgbClr>
              </a:gs>
              <a:gs pos="100000">
                <a:srgbClr val="C87906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  "/>
              </a:rPr>
              <a:t>Faculty Start-up call launched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68148" y="2714342"/>
            <a:ext cx="2601686" cy="1066688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Full proposals drafts by faculty teams as per call guidelines/ templates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16148" y="2714341"/>
            <a:ext cx="2601686" cy="1066688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submit full proposal by call deadline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9361631" y="2714341"/>
            <a:ext cx="2601686" cy="1066688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Full proposal pack checked for consistency with the call guidelines by USR.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allowed to update where admin corrections required 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148" y="4117495"/>
            <a:ext cx="2601686" cy="1676995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notified once projects fully endorsed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258" y="4632684"/>
            <a:ext cx="2415576" cy="6415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  "/>
              </a:rPr>
              <a:t>FSU projects awarded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16148" y="4112453"/>
            <a:ext cx="5647169" cy="1682037"/>
          </a:xfrm>
          <a:prstGeom prst="rect">
            <a:avLst/>
          </a:prstGeom>
          <a:solidFill>
            <a:srgbClr val="85B3FF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Full proposal packs sent for internal endorsement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USR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Mentor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Chair (Dean if faculty is Chair)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 Assoc. Dean Research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 College Dean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 Assoc. Provost Research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Calibri  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requested to make changes as per endorser feedback (All approvers required before proposal considered endorsed)</a:t>
            </a:r>
          </a:p>
        </p:txBody>
      </p:sp>
      <p:cxnSp>
        <p:nvCxnSpPr>
          <p:cNvPr id="12" name="Straight Arrow Connector 11"/>
          <p:cNvCxnSpPr>
            <a:stCxn id="5" idx="3"/>
            <a:endCxn id="6" idx="1"/>
          </p:cNvCxnSpPr>
          <p:nvPr/>
        </p:nvCxnSpPr>
        <p:spPr>
          <a:xfrm flipV="1">
            <a:off x="2821834" y="3351156"/>
            <a:ext cx="44631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7" idx="1"/>
          </p:cNvCxnSpPr>
          <p:nvPr/>
        </p:nvCxnSpPr>
        <p:spPr>
          <a:xfrm flipV="1">
            <a:off x="5869834" y="3351155"/>
            <a:ext cx="44631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3"/>
          </p:cNvCxnSpPr>
          <p:nvPr/>
        </p:nvCxnSpPr>
        <p:spPr>
          <a:xfrm>
            <a:off x="8917834" y="3351155"/>
            <a:ext cx="443797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10662474" y="3781029"/>
            <a:ext cx="1" cy="3314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1"/>
            <a:endCxn id="9" idx="3"/>
          </p:cNvCxnSpPr>
          <p:nvPr/>
        </p:nvCxnSpPr>
        <p:spPr>
          <a:xfrm flipH="1">
            <a:off x="5869834" y="4953472"/>
            <a:ext cx="446314" cy="25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1"/>
            <a:endCxn id="10" idx="3"/>
          </p:cNvCxnSpPr>
          <p:nvPr/>
        </p:nvCxnSpPr>
        <p:spPr>
          <a:xfrm flipH="1" flipV="1">
            <a:off x="2821834" y="4953471"/>
            <a:ext cx="446314" cy="25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1774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Integration of Academic leadership </a:t>
            </a:r>
            <a:r>
              <a:rPr lang="en-US" sz="2000" b="1" dirty="0" smtClean="0"/>
              <a:t>into </a:t>
            </a:r>
            <a:r>
              <a:rPr lang="en-US" sz="2000" b="1" dirty="0"/>
              <a:t>research project progress reviews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161167"/>
              </p:ext>
            </p:extLst>
          </p:nvPr>
        </p:nvGraphicFramePr>
        <p:xfrm>
          <a:off x="414712" y="1260740"/>
          <a:ext cx="11463654" cy="1356672"/>
        </p:xfrm>
        <a:graphic>
          <a:graphicData uri="http://schemas.openxmlformats.org/drawingml/2006/table">
            <a:tbl>
              <a:tblPr/>
              <a:tblGrid>
                <a:gridCol w="1086209">
                  <a:extLst>
                    <a:ext uri="{9D8B030D-6E8A-4147-A177-3AD203B41FA5}">
                      <a16:colId xmlns:a16="http://schemas.microsoft.com/office/drawing/2014/main" val="3744923630"/>
                    </a:ext>
                  </a:extLst>
                </a:gridCol>
                <a:gridCol w="1634120">
                  <a:extLst>
                    <a:ext uri="{9D8B030D-6E8A-4147-A177-3AD203B41FA5}">
                      <a16:colId xmlns:a16="http://schemas.microsoft.com/office/drawing/2014/main" val="2193292331"/>
                    </a:ext>
                  </a:extLst>
                </a:gridCol>
                <a:gridCol w="855762">
                  <a:extLst>
                    <a:ext uri="{9D8B030D-6E8A-4147-A177-3AD203B41FA5}">
                      <a16:colId xmlns:a16="http://schemas.microsoft.com/office/drawing/2014/main" val="3204583821"/>
                    </a:ext>
                  </a:extLst>
                </a:gridCol>
                <a:gridCol w="1807143">
                  <a:extLst>
                    <a:ext uri="{9D8B030D-6E8A-4147-A177-3AD203B41FA5}">
                      <a16:colId xmlns:a16="http://schemas.microsoft.com/office/drawing/2014/main" val="2647651692"/>
                    </a:ext>
                  </a:extLst>
                </a:gridCol>
                <a:gridCol w="1211171">
                  <a:extLst>
                    <a:ext uri="{9D8B030D-6E8A-4147-A177-3AD203B41FA5}">
                      <a16:colId xmlns:a16="http://schemas.microsoft.com/office/drawing/2014/main" val="3951534721"/>
                    </a:ext>
                  </a:extLst>
                </a:gridCol>
                <a:gridCol w="1057372">
                  <a:extLst>
                    <a:ext uri="{9D8B030D-6E8A-4147-A177-3AD203B41FA5}">
                      <a16:colId xmlns:a16="http://schemas.microsoft.com/office/drawing/2014/main" val="52560826"/>
                    </a:ext>
                  </a:extLst>
                </a:gridCol>
                <a:gridCol w="3811877">
                  <a:extLst>
                    <a:ext uri="{9D8B030D-6E8A-4147-A177-3AD203B41FA5}">
                      <a16:colId xmlns:a16="http://schemas.microsoft.com/office/drawing/2014/main" val="3401762539"/>
                    </a:ext>
                  </a:extLst>
                </a:gridCol>
              </a:tblGrid>
              <a:tr h="13024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Applicant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Level 1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Level 2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Level 3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Level 4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For Information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064267"/>
                  </a:ext>
                </a:extLst>
              </a:tr>
              <a:tr h="130249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CIRA/ RIG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Faculty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Dept. Chair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Assoc. Dean Research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TMI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Director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University Research Council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0599277"/>
                  </a:ext>
                </a:extLst>
              </a:tr>
              <a:tr h="130249">
                <a:tc vMerge="1"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Dept. Chair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Associate Dean Research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College Dean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30452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513164"/>
              </p:ext>
            </p:extLst>
          </p:nvPr>
        </p:nvGraphicFramePr>
        <p:xfrm>
          <a:off x="414712" y="3043199"/>
          <a:ext cx="11463654" cy="2489616"/>
        </p:xfrm>
        <a:graphic>
          <a:graphicData uri="http://schemas.openxmlformats.org/drawingml/2006/table">
            <a:tbl>
              <a:tblPr/>
              <a:tblGrid>
                <a:gridCol w="976861">
                  <a:extLst>
                    <a:ext uri="{9D8B030D-6E8A-4147-A177-3AD203B41FA5}">
                      <a16:colId xmlns:a16="http://schemas.microsoft.com/office/drawing/2014/main" val="2130799574"/>
                    </a:ext>
                  </a:extLst>
                </a:gridCol>
                <a:gridCol w="1469615">
                  <a:extLst>
                    <a:ext uri="{9D8B030D-6E8A-4147-A177-3AD203B41FA5}">
                      <a16:colId xmlns:a16="http://schemas.microsoft.com/office/drawing/2014/main" val="4036265189"/>
                    </a:ext>
                  </a:extLst>
                </a:gridCol>
                <a:gridCol w="797559">
                  <a:extLst>
                    <a:ext uri="{9D8B030D-6E8A-4147-A177-3AD203B41FA5}">
                      <a16:colId xmlns:a16="http://schemas.microsoft.com/office/drawing/2014/main" val="1756609518"/>
                    </a:ext>
                  </a:extLst>
                </a:gridCol>
                <a:gridCol w="1137702">
                  <a:extLst>
                    <a:ext uri="{9D8B030D-6E8A-4147-A177-3AD203B41FA5}">
                      <a16:colId xmlns:a16="http://schemas.microsoft.com/office/drawing/2014/main" val="975634210"/>
                    </a:ext>
                  </a:extLst>
                </a:gridCol>
                <a:gridCol w="1847461">
                  <a:extLst>
                    <a:ext uri="{9D8B030D-6E8A-4147-A177-3AD203B41FA5}">
                      <a16:colId xmlns:a16="http://schemas.microsoft.com/office/drawing/2014/main" val="3644007438"/>
                    </a:ext>
                  </a:extLst>
                </a:gridCol>
                <a:gridCol w="1077074">
                  <a:extLst>
                    <a:ext uri="{9D8B030D-6E8A-4147-A177-3AD203B41FA5}">
                      <a16:colId xmlns:a16="http://schemas.microsoft.com/office/drawing/2014/main" val="4122360736"/>
                    </a:ext>
                  </a:extLst>
                </a:gridCol>
                <a:gridCol w="1012380">
                  <a:extLst>
                    <a:ext uri="{9D8B030D-6E8A-4147-A177-3AD203B41FA5}">
                      <a16:colId xmlns:a16="http://schemas.microsoft.com/office/drawing/2014/main" val="2122654943"/>
                    </a:ext>
                  </a:extLst>
                </a:gridCol>
                <a:gridCol w="1355509">
                  <a:extLst>
                    <a:ext uri="{9D8B030D-6E8A-4147-A177-3AD203B41FA5}">
                      <a16:colId xmlns:a16="http://schemas.microsoft.com/office/drawing/2014/main" val="357124743"/>
                    </a:ext>
                  </a:extLst>
                </a:gridCol>
                <a:gridCol w="1789493">
                  <a:extLst>
                    <a:ext uri="{9D8B030D-6E8A-4147-A177-3AD203B41FA5}">
                      <a16:colId xmlns:a16="http://schemas.microsoft.com/office/drawing/2014/main" val="2874205567"/>
                    </a:ext>
                  </a:extLst>
                </a:gridCol>
              </a:tblGrid>
              <a:tr h="127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Applicant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1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2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3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4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5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6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For Information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301718"/>
                  </a:ext>
                </a:extLst>
              </a:tr>
              <a:tr h="249442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FSU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Faculty (Assistant)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Mentor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Dept. Chair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Assoc. Dean Research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TMI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Director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A/ Provost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Research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University Research Council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7119590"/>
                  </a:ext>
                </a:extLst>
              </a:tr>
              <a:tr h="249442">
                <a:tc vMerge="1"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Faculty </a:t>
                      </a:r>
                    </a:p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(Assoc./ Full)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Dept. Chair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Dept. Chair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Assoc. Dean Research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507167"/>
                  </a:ext>
                </a:extLst>
              </a:tr>
              <a:tr h="249442">
                <a:tc vMerge="1"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Dept. Chair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College Dean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Assoc. Dean Research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TMI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Director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794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73895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Integration of Academic leadership in to research center progress reviews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673140"/>
              </p:ext>
            </p:extLst>
          </p:nvPr>
        </p:nvGraphicFramePr>
        <p:xfrm>
          <a:off x="664170" y="841991"/>
          <a:ext cx="10863661" cy="5301487"/>
        </p:xfrm>
        <a:graphic>
          <a:graphicData uri="http://schemas.openxmlformats.org/drawingml/2006/table">
            <a:tbl>
              <a:tblPr/>
              <a:tblGrid>
                <a:gridCol w="1179292">
                  <a:extLst>
                    <a:ext uri="{9D8B030D-6E8A-4147-A177-3AD203B41FA5}">
                      <a16:colId xmlns:a16="http://schemas.microsoft.com/office/drawing/2014/main" val="2275604926"/>
                    </a:ext>
                  </a:extLst>
                </a:gridCol>
                <a:gridCol w="1575473">
                  <a:extLst>
                    <a:ext uri="{9D8B030D-6E8A-4147-A177-3AD203B41FA5}">
                      <a16:colId xmlns:a16="http://schemas.microsoft.com/office/drawing/2014/main" val="2362289757"/>
                    </a:ext>
                  </a:extLst>
                </a:gridCol>
                <a:gridCol w="2913464">
                  <a:extLst>
                    <a:ext uri="{9D8B030D-6E8A-4147-A177-3AD203B41FA5}">
                      <a16:colId xmlns:a16="http://schemas.microsoft.com/office/drawing/2014/main" val="2739826181"/>
                    </a:ext>
                  </a:extLst>
                </a:gridCol>
                <a:gridCol w="1605321">
                  <a:extLst>
                    <a:ext uri="{9D8B030D-6E8A-4147-A177-3AD203B41FA5}">
                      <a16:colId xmlns:a16="http://schemas.microsoft.com/office/drawing/2014/main" val="317273975"/>
                    </a:ext>
                  </a:extLst>
                </a:gridCol>
                <a:gridCol w="1605321">
                  <a:extLst>
                    <a:ext uri="{9D8B030D-6E8A-4147-A177-3AD203B41FA5}">
                      <a16:colId xmlns:a16="http://schemas.microsoft.com/office/drawing/2014/main" val="4177840581"/>
                    </a:ext>
                  </a:extLst>
                </a:gridCol>
                <a:gridCol w="1984790">
                  <a:extLst>
                    <a:ext uri="{9D8B030D-6E8A-4147-A177-3AD203B41FA5}">
                      <a16:colId xmlns:a16="http://schemas.microsoft.com/office/drawing/2014/main" val="3315499370"/>
                    </a:ext>
                  </a:extLst>
                </a:gridCol>
              </a:tblGrid>
              <a:tr h="1552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Center</a:t>
                      </a:r>
                    </a:p>
                  </a:txBody>
                  <a:tcPr marL="6081" marR="6081" marT="6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1</a:t>
                      </a:r>
                    </a:p>
                  </a:txBody>
                  <a:tcPr marL="6081" marR="6081" marT="6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2</a:t>
                      </a:r>
                    </a:p>
                  </a:txBody>
                  <a:tcPr marL="6081" marR="6081" marT="6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3</a:t>
                      </a:r>
                    </a:p>
                  </a:txBody>
                  <a:tcPr marL="6081" marR="6081" marT="6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4</a:t>
                      </a:r>
                    </a:p>
                  </a:txBody>
                  <a:tcPr marL="6081" marR="6081" marT="6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For Information</a:t>
                      </a:r>
                    </a:p>
                  </a:txBody>
                  <a:tcPr marL="6081" marR="6081" marT="6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446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KUCARS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0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Snr.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(when relevant)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8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A/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Dean – Research (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CoE</a:t>
                      </a:r>
                      <a:r>
                        <a:rPr lang="en-US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0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TMI Director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0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SVP R&amp;D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(ECE &amp; ME)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0918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C2PS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(ECE &amp; ME)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102003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APEC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(ECE)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532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CMAT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25312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BTC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98960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(ECE)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001206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HEIC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428523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CeCaS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(CE &amp; ME)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887248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RICH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(CE)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87241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ADAM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(AE &amp; ME)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108466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DSOM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(IES)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716871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(CE)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92248"/>
                  </a:ext>
                </a:extLst>
              </a:tr>
              <a:tr h="30306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ARIC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(AE)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881037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EBTIC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(ECE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776835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SBRC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(CE)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8100392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KUSTIC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9157460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KU-KAIST JRC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(ME)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7208829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KUTC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(ME)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5466186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RDISC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A/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Dean – Research (CMHS)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855131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SPSC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A/ Dean – Research (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CoAS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(AE &amp; ES)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73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97450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4114" y="267856"/>
            <a:ext cx="9416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Objectives and KPIs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82108"/>
              </p:ext>
            </p:extLst>
          </p:nvPr>
        </p:nvGraphicFramePr>
        <p:xfrm>
          <a:off x="211872" y="1109605"/>
          <a:ext cx="11697630" cy="4173343"/>
        </p:xfrm>
        <a:graphic>
          <a:graphicData uri="http://schemas.openxmlformats.org/drawingml/2006/table">
            <a:tbl>
              <a:tblPr/>
              <a:tblGrid>
                <a:gridCol w="909983">
                  <a:extLst>
                    <a:ext uri="{9D8B030D-6E8A-4147-A177-3AD203B41FA5}">
                      <a16:colId xmlns:a16="http://schemas.microsoft.com/office/drawing/2014/main" val="2853335006"/>
                    </a:ext>
                  </a:extLst>
                </a:gridCol>
                <a:gridCol w="1918607">
                  <a:extLst>
                    <a:ext uri="{9D8B030D-6E8A-4147-A177-3AD203B41FA5}">
                      <a16:colId xmlns:a16="http://schemas.microsoft.com/office/drawing/2014/main" val="4111393327"/>
                    </a:ext>
                  </a:extLst>
                </a:gridCol>
                <a:gridCol w="2885070">
                  <a:extLst>
                    <a:ext uri="{9D8B030D-6E8A-4147-A177-3AD203B41FA5}">
                      <a16:colId xmlns:a16="http://schemas.microsoft.com/office/drawing/2014/main" val="4229286218"/>
                    </a:ext>
                  </a:extLst>
                </a:gridCol>
                <a:gridCol w="2885070">
                  <a:extLst>
                    <a:ext uri="{9D8B030D-6E8A-4147-A177-3AD203B41FA5}">
                      <a16:colId xmlns:a16="http://schemas.microsoft.com/office/drawing/2014/main" val="3413626869"/>
                    </a:ext>
                  </a:extLst>
                </a:gridCol>
                <a:gridCol w="633489">
                  <a:extLst>
                    <a:ext uri="{9D8B030D-6E8A-4147-A177-3AD203B41FA5}">
                      <a16:colId xmlns:a16="http://schemas.microsoft.com/office/drawing/2014/main" val="3705206028"/>
                    </a:ext>
                  </a:extLst>
                </a:gridCol>
                <a:gridCol w="599275">
                  <a:extLst>
                    <a:ext uri="{9D8B030D-6E8A-4147-A177-3AD203B41FA5}">
                      <a16:colId xmlns:a16="http://schemas.microsoft.com/office/drawing/2014/main" val="3711570653"/>
                    </a:ext>
                  </a:extLst>
                </a:gridCol>
                <a:gridCol w="816125">
                  <a:extLst>
                    <a:ext uri="{9D8B030D-6E8A-4147-A177-3AD203B41FA5}">
                      <a16:colId xmlns:a16="http://schemas.microsoft.com/office/drawing/2014/main" val="2494066831"/>
                    </a:ext>
                  </a:extLst>
                </a:gridCol>
                <a:gridCol w="330453">
                  <a:extLst>
                    <a:ext uri="{9D8B030D-6E8A-4147-A177-3AD203B41FA5}">
                      <a16:colId xmlns:a16="http://schemas.microsoft.com/office/drawing/2014/main" val="2797196118"/>
                    </a:ext>
                  </a:extLst>
                </a:gridCol>
                <a:gridCol w="359779">
                  <a:extLst>
                    <a:ext uri="{9D8B030D-6E8A-4147-A177-3AD203B41FA5}">
                      <a16:colId xmlns:a16="http://schemas.microsoft.com/office/drawing/2014/main" val="1419903411"/>
                    </a:ext>
                  </a:extLst>
                </a:gridCol>
                <a:gridCol w="359779">
                  <a:extLst>
                    <a:ext uri="{9D8B030D-6E8A-4147-A177-3AD203B41FA5}">
                      <a16:colId xmlns:a16="http://schemas.microsoft.com/office/drawing/2014/main" val="442994458"/>
                    </a:ext>
                  </a:extLst>
                </a:gridCol>
              </a:tblGrid>
              <a:tr h="3938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PERSPECTIVE 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Objective Type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Performance Indicators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R&amp;D Supporting </a:t>
                      </a: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Frequency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Baseline 2021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668387"/>
                  </a:ext>
                </a:extLst>
              </a:tr>
              <a:tr h="781611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Financial</a:t>
                      </a:r>
                    </a:p>
                  </a:txBody>
                  <a:tcPr marL="3832" marR="3832" marT="3832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Strategic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Diversify and increase external research funds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% total research expenditure from externally funded research projects  **</a:t>
                      </a:r>
                      <a:b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(**Industry = projects awarded with no open, competitive grant call)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ORS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45%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53%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60%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82687"/>
                  </a:ext>
                </a:extLst>
              </a:tr>
              <a:tr h="3938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External funding leveraged from internal research center funding investment (external:internal)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1.3:1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1.5:1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1.8:1</a:t>
                      </a:r>
                    </a:p>
                  </a:txBody>
                  <a:tcPr marL="6851" marR="6851" marT="6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2:1</a:t>
                      </a:r>
                    </a:p>
                  </a:txBody>
                  <a:tcPr marL="6851" marR="6851" marT="6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00442"/>
                  </a:ext>
                </a:extLst>
              </a:tr>
              <a:tr h="2492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Strategic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Achieve startup company formation and commercialization of university IP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Total number of new technology licenses and options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TMI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1653"/>
                  </a:ext>
                </a:extLst>
              </a:tr>
              <a:tr h="3938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Total number of new start-up companies with KU technology license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TMI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2626159"/>
                  </a:ext>
                </a:extLst>
              </a:tr>
              <a:tr h="587732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Students and Community</a:t>
                      </a:r>
                    </a:p>
                  </a:txBody>
                  <a:tcPr marL="3832" marR="3832" marT="3832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Strategic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Review and revise as needed the research strategic plan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Completion of updated research strategic plan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The strategy is developed and approved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3762608"/>
                  </a:ext>
                </a:extLst>
              </a:tr>
              <a:tr h="5852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Operational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Launch of major R&amp;D initiatives to </a:t>
                      </a:r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support 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the R&amp;D strategy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Number of major initiatives formally launched, with all supporting agreements in place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ORS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727374"/>
                  </a:ext>
                </a:extLst>
              </a:tr>
              <a:tr h="5852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Operational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Readiness of existing research laboratories 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Operational readiness of existing Research Laboratories Core Labs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RL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5%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90%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4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4309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4114" y="267856"/>
            <a:ext cx="9416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Objectives and KPIs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630340"/>
              </p:ext>
            </p:extLst>
          </p:nvPr>
        </p:nvGraphicFramePr>
        <p:xfrm>
          <a:off x="111483" y="1054742"/>
          <a:ext cx="11969033" cy="5285960"/>
        </p:xfrm>
        <a:graphic>
          <a:graphicData uri="http://schemas.openxmlformats.org/drawingml/2006/table">
            <a:tbl>
              <a:tblPr/>
              <a:tblGrid>
                <a:gridCol w="1180147">
                  <a:extLst>
                    <a:ext uri="{9D8B030D-6E8A-4147-A177-3AD203B41FA5}">
                      <a16:colId xmlns:a16="http://schemas.microsoft.com/office/drawing/2014/main" val="2853335006"/>
                    </a:ext>
                  </a:extLst>
                </a:gridCol>
                <a:gridCol w="1891520">
                  <a:extLst>
                    <a:ext uri="{9D8B030D-6E8A-4147-A177-3AD203B41FA5}">
                      <a16:colId xmlns:a16="http://schemas.microsoft.com/office/drawing/2014/main" val="4111393327"/>
                    </a:ext>
                  </a:extLst>
                </a:gridCol>
                <a:gridCol w="2844339">
                  <a:extLst>
                    <a:ext uri="{9D8B030D-6E8A-4147-A177-3AD203B41FA5}">
                      <a16:colId xmlns:a16="http://schemas.microsoft.com/office/drawing/2014/main" val="4229286218"/>
                    </a:ext>
                  </a:extLst>
                </a:gridCol>
                <a:gridCol w="2844339">
                  <a:extLst>
                    <a:ext uri="{9D8B030D-6E8A-4147-A177-3AD203B41FA5}">
                      <a16:colId xmlns:a16="http://schemas.microsoft.com/office/drawing/2014/main" val="3413626869"/>
                    </a:ext>
                  </a:extLst>
                </a:gridCol>
                <a:gridCol w="804603">
                  <a:extLst>
                    <a:ext uri="{9D8B030D-6E8A-4147-A177-3AD203B41FA5}">
                      <a16:colId xmlns:a16="http://schemas.microsoft.com/office/drawing/2014/main" val="3705206028"/>
                    </a:ext>
                  </a:extLst>
                </a:gridCol>
                <a:gridCol w="601377">
                  <a:extLst>
                    <a:ext uri="{9D8B030D-6E8A-4147-A177-3AD203B41FA5}">
                      <a16:colId xmlns:a16="http://schemas.microsoft.com/office/drawing/2014/main" val="3711570653"/>
                    </a:ext>
                  </a:extLst>
                </a:gridCol>
                <a:gridCol w="507423">
                  <a:extLst>
                    <a:ext uri="{9D8B030D-6E8A-4147-A177-3AD203B41FA5}">
                      <a16:colId xmlns:a16="http://schemas.microsoft.com/office/drawing/2014/main" val="2494066831"/>
                    </a:ext>
                  </a:extLst>
                </a:gridCol>
                <a:gridCol w="393931">
                  <a:extLst>
                    <a:ext uri="{9D8B030D-6E8A-4147-A177-3AD203B41FA5}">
                      <a16:colId xmlns:a16="http://schemas.microsoft.com/office/drawing/2014/main" val="2797196118"/>
                    </a:ext>
                  </a:extLst>
                </a:gridCol>
                <a:gridCol w="450677">
                  <a:extLst>
                    <a:ext uri="{9D8B030D-6E8A-4147-A177-3AD203B41FA5}">
                      <a16:colId xmlns:a16="http://schemas.microsoft.com/office/drawing/2014/main" val="1419903411"/>
                    </a:ext>
                  </a:extLst>
                </a:gridCol>
                <a:gridCol w="450677">
                  <a:extLst>
                    <a:ext uri="{9D8B030D-6E8A-4147-A177-3AD203B41FA5}">
                      <a16:colId xmlns:a16="http://schemas.microsoft.com/office/drawing/2014/main" val="442994458"/>
                    </a:ext>
                  </a:extLst>
                </a:gridCol>
              </a:tblGrid>
              <a:tr h="3913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PERSPECTIVE 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Objective Type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Performance Indicators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R&amp;D </a:t>
                      </a:r>
                      <a:r>
                        <a:rPr 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Supporting Office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Frequency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Baseline 2021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668387"/>
                  </a:ext>
                </a:extLst>
              </a:tr>
              <a:tr h="294308">
                <a:tc rowSpan="11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</a:t>
                      </a:r>
                    </a:p>
                  </a:txBody>
                  <a:tcPr marL="3832" marR="3832" marT="3832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Strategic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 a strategically focused internal research funding program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of faculty received internal research funds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881790"/>
                  </a:ext>
                </a:extLst>
              </a:tr>
              <a:tr h="3913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of utilization of KU internal research center funding (Direct Expenses)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80%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80%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629479"/>
                  </a:ext>
                </a:extLst>
              </a:tr>
              <a:tr h="1986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Strategic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 a robust and efficient intellectual property portfolio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Annual new invention disclosures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TMI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1" marR="6851" marT="6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1" marR="6851" marT="6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1" marR="6851" marT="6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0999214"/>
                  </a:ext>
                </a:extLst>
              </a:tr>
              <a:tr h="1986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Annual new patent applications   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1" marR="6851" marT="6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1" marR="6851" marT="6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1" marR="6851" marT="6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473166"/>
                  </a:ext>
                </a:extLst>
              </a:tr>
              <a:tr h="4701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Operational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 and implement progress report review process for all internal and externally funded research projects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review process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designed,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implemented and executed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USR/ORS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90%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90%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849094"/>
                  </a:ext>
                </a:extLst>
              </a:tr>
              <a:tr h="466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Operational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Upgrade research</a:t>
                      </a:r>
                      <a:r>
                        <a:rPr lang="en-US" sz="11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computing infrastructure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% implementation of the research computing infrastructure plan (HPC upgrades)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RC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22%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33%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783307"/>
                  </a:ext>
                </a:extLst>
              </a:tr>
              <a:tr h="466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Operational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Establish new strategic research laboratories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Number of new strategic Core Research labs implemented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RL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2260055"/>
                  </a:ext>
                </a:extLst>
              </a:tr>
              <a:tr h="466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Operational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Upgrade Core Laboratories Material Science Electron Microscopy and </a:t>
                      </a:r>
                      <a:r>
                        <a:rPr lang="en-US" sz="11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Cryo</a:t>
                      </a:r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-EM Facilities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% implementation of the upgraded the Core Laboratories Electron Microscopy Facility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RL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182291"/>
                  </a:ext>
                </a:extLst>
              </a:tr>
              <a:tr h="466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% implementation of the Core Laboratories</a:t>
                      </a:r>
                      <a:r>
                        <a:rPr lang="en-US" sz="11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Cryo</a:t>
                      </a:r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-EM Facility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RL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2141832"/>
                  </a:ext>
                </a:extLst>
              </a:tr>
              <a:tr h="466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Operational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Implementation of state-of-the-art Graphene/2D Materials Laboratory facilities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% implementation of the RIC-2D Graphene/2D Materials Core Laboratories 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RL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0%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100%</a:t>
                      </a:r>
                      <a:endParaRPr lang="en-US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100%</a:t>
                      </a:r>
                      <a:endParaRPr lang="en-US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754154"/>
                  </a:ext>
                </a:extLst>
              </a:tr>
              <a:tr h="466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Operational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Research CORE Laboratories Monetization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Commence commercial laboratories services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RL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0%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60%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100%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710124"/>
                  </a:ext>
                </a:extLst>
              </a:tr>
              <a:tr h="3913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Learning and Growth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Strategic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Strengthen research ethical culture framework across the university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of the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university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faculty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attended training programs on research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ethics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90%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90%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741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75678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3981" y="3083976"/>
            <a:ext cx="105467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Appendix</a:t>
            </a:r>
          </a:p>
          <a:p>
            <a:pPr algn="ctr"/>
            <a:r>
              <a:rPr lang="en-US" sz="3600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Projects &amp; Outputs</a:t>
            </a:r>
          </a:p>
        </p:txBody>
      </p:sp>
    </p:spTree>
    <p:extLst>
      <p:ext uri="{BB962C8B-B14F-4D97-AF65-F5344CB8AC3E}">
        <p14:creationId xmlns:p14="http://schemas.microsoft.com/office/powerpoint/2010/main" val="6450506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383796"/>
              </p:ext>
            </p:extLst>
          </p:nvPr>
        </p:nvGraphicFramePr>
        <p:xfrm>
          <a:off x="604277" y="929266"/>
          <a:ext cx="10962150" cy="5508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747554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Healthcare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| New Institute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123640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0" dirty="0">
                          <a:solidFill>
                            <a:schemeClr val="tx1"/>
                          </a:solidFill>
                          <a:latin typeface="+mn-lt"/>
                        </a:rPr>
                        <a:t>Establishment of Abu Dhabi Healthcare Institute (ADHI) with SSMC, SEHA and Mayo Clinic, including reorganization of BTC, HEIC and RDISC within the ADHI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201839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New investment in world-class materials and healthcare research facilities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Continued sufficient funding for internal research funding programs, including seed-funding for strategic research centers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Increased investment in existing research center facilities</a:t>
                      </a:r>
                      <a:endParaRPr lang="en-US" sz="17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Partnerships with leading universities and research institutes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Increased investment in HPC facilities and data storage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50612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2022: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AED 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6.9 M &amp; 2023: AED 3.6M for RDISC resources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AED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5.5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M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  <a:latin typeface="+mn-lt"/>
                        </a:rPr>
                        <a:t>p.a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 for 3 centers (BTC/HEIC/RDISC)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AED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441K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  <a:latin typeface="+mn-lt"/>
                        </a:rPr>
                        <a:t>p.a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 for compliance expert (new)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HPC and data expansion to be rolled up in the overall HPC and data services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4277" y="759989"/>
            <a:ext cx="10962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031990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426839"/>
              </p:ext>
            </p:extLst>
          </p:nvPr>
        </p:nvGraphicFramePr>
        <p:xfrm>
          <a:off x="604277" y="879865"/>
          <a:ext cx="10962150" cy="5659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664044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Healthcare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| New Institute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235735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 foundations for the establishment of a KU Healthcare Institute by building-out of healthcare facilities</a:t>
                      </a:r>
                      <a:r>
                        <a:rPr lang="en-US" sz="17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including </a:t>
                      </a: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Animal Research Facility</a:t>
                      </a:r>
                      <a:r>
                        <a:rPr lang="en-US" sz="17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Virology &amp; Tissue Culture Laboratory.</a:t>
                      </a:r>
                    </a:p>
                    <a:p>
                      <a:pPr marL="0" indent="-171450" algn="l" defTabSz="914400" rtl="0" eaLnBrk="1" fontAlgn="b" latinLnBrk="0" hangingPunct="1">
                        <a:buFont typeface="Arial" panose="020B0604020202020204" pitchFamily="34" charset="0"/>
                        <a:buNone/>
                      </a:pPr>
                      <a:endParaRPr lang="en-US" sz="17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-171450" algn="l" defTabSz="914400" rtl="0" eaLnBrk="1" fontAlgn="b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will support:</a:t>
                      </a:r>
                    </a:p>
                    <a:p>
                      <a:pPr marL="114300" indent="-285750" algn="l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Fundamental facilities needed to undertake high-impact research on plant and animal cells </a:t>
                      </a:r>
                    </a:p>
                    <a:p>
                      <a:pPr marL="114300" indent="-285750" algn="l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Bio-safety level (BSL3) facility for high impact medical research in virology</a:t>
                      </a:r>
                    </a:p>
                    <a:p>
                      <a:pPr marL="114300" indent="-285750" algn="l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Capabilities to translate research into a medical setting for drug and healthcare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15107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investment in world-class materials and healthcare research facilities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00730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All previously requested: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AFR CAPEX: AED 44.7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AFR OPEX: AED 6.6M</a:t>
                      </a:r>
                      <a:r>
                        <a:rPr lang="en-AE" sz="17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 p.a inc. </a:t>
                      </a:r>
                      <a:r>
                        <a:rPr lang="en-US" sz="17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manpower supply contract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Virology and Tissue Culture:</a:t>
                      </a:r>
                      <a:r>
                        <a:rPr lang="en-US" sz="1700" b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AED 3.7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70488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116956"/>
              </p:ext>
            </p:extLst>
          </p:nvPr>
        </p:nvGraphicFramePr>
        <p:xfrm>
          <a:off x="604277" y="869117"/>
          <a:ext cx="10962150" cy="5503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725748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Advanced Materials and Manufacturing | Major New Program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159274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Establishment of</a:t>
                      </a:r>
                      <a:r>
                        <a:rPr lang="en-US" sz="17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world-class externally funded research and innovation program (RIC-2D), focused on </a:t>
                      </a:r>
                      <a:r>
                        <a:rPr lang="en-US" sz="17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composites, </a:t>
                      </a: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water,</a:t>
                      </a:r>
                      <a:r>
                        <a:rPr lang="en-US" sz="17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hydrogen, </a:t>
                      </a: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construction, light-weighting,</a:t>
                      </a:r>
                      <a:r>
                        <a:rPr lang="en-US" sz="17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energy storage </a:t>
                      </a: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technologies</a:t>
                      </a:r>
                      <a:r>
                        <a:rPr lang="en-US" sz="17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collaboration with University of Manchester. </a:t>
                      </a: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159274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investment in world-class materials research facilities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Increased investment in existing research center facilities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Partnerships with leading universities and research institutes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Partnerships with leading companies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Increased investment in HPC and data storage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59274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RIC-2D Program</a:t>
                      </a:r>
                      <a:r>
                        <a:rPr lang="en-US" sz="17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Funding:  </a:t>
                      </a: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2022:</a:t>
                      </a:r>
                      <a:r>
                        <a:rPr lang="en-US" sz="17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AED 102M,  2023: AED 95.6M,  2024: AED 91.9M  (Total: AED 289M)</a:t>
                      </a: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HPC investment to be rolled up in one platform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4277" y="270462"/>
            <a:ext cx="10962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78431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965045"/>
              </p:ext>
            </p:extLst>
          </p:nvPr>
        </p:nvGraphicFramePr>
        <p:xfrm>
          <a:off x="604277" y="933771"/>
          <a:ext cx="10962150" cy="5494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827280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Advanced Materials and Manufacturing | Major New Core Facilities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155581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Upgrade to state-of-the-art facilities</a:t>
                      </a:r>
                      <a:r>
                        <a:rPr lang="en-US" sz="17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 the SAN Campus (previously housed at Masdar City Campus) including electron microscopy</a:t>
                      </a:r>
                      <a:r>
                        <a:rPr lang="en-US" sz="17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micro &amp; nanofabrication, prototyping and fabrication and advanced manufacturing capabilities.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155581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Increased investment in existing research center facilities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55581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requested previously: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Gloveboxes: CAPEX AED 9.2M (including fit out), OPEX AED 0.4M </a:t>
                      </a:r>
                      <a:r>
                        <a:rPr lang="en-US" sz="17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p.a</a:t>
                      </a:r>
                      <a:r>
                        <a:rPr lang="en-US" sz="17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Cleanroom: AED 50M depending on configuration, OPEX: AED 5.9M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Electron microscopy: CAPEX AED 30.9M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b="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CryoTEM</a:t>
                      </a:r>
                      <a:r>
                        <a:rPr lang="en-US" sz="17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latin typeface="+mn-lt"/>
                        </a:rPr>
                        <a:t>CAPEX:</a:t>
                      </a:r>
                      <a:r>
                        <a:rPr lang="en-US" sz="17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 AED47</a:t>
                      </a:r>
                      <a:r>
                        <a:rPr lang="en-AE" sz="17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M,   OPEX: AED 3.7M  inc. annual </a:t>
                      </a:r>
                      <a:r>
                        <a:rPr lang="en-US" sz="17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service contract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031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882602"/>
              </p:ext>
            </p:extLst>
          </p:nvPr>
        </p:nvGraphicFramePr>
        <p:xfrm>
          <a:off x="604277" y="1244217"/>
          <a:ext cx="10962150" cy="4369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731728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Institutes &amp; Centers|  Re-structure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121261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dirty="0">
                          <a:latin typeface="+mn-lt"/>
                        </a:rPr>
                        <a:t>Reorganization of Research Institutes &amp; Centers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121261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latin typeface="+mn-lt"/>
                        </a:rPr>
                        <a:t>Continued sufficient funding for internal research funding programs, including seed-funding for strategic research centers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21261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+mn-lt"/>
                        </a:rPr>
                        <a:t>AED 120.6M (see Center Budget slide for</a:t>
                      </a:r>
                      <a:r>
                        <a:rPr lang="en-US" sz="1700" baseline="0" dirty="0">
                          <a:latin typeface="+mn-lt"/>
                        </a:rPr>
                        <a:t> detail)</a:t>
                      </a:r>
                      <a:endParaRPr lang="en-US" sz="17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4277" y="759989"/>
            <a:ext cx="10962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529369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845627"/>
              </p:ext>
            </p:extLst>
          </p:nvPr>
        </p:nvGraphicFramePr>
        <p:xfrm>
          <a:off x="604277" y="929263"/>
          <a:ext cx="10962150" cy="5480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647049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+mn-lt"/>
                        </a:rPr>
                        <a:t>Water and Environment | New R&amp;D Center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161124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baseline="0" dirty="0">
                          <a:latin typeface="+mn-lt"/>
                        </a:rPr>
                        <a:t>Develop p</a:t>
                      </a:r>
                      <a:r>
                        <a:rPr lang="en-US" sz="1700" dirty="0">
                          <a:latin typeface="+mn-lt"/>
                        </a:rPr>
                        <a:t>hysical infrastructure</a:t>
                      </a:r>
                      <a:r>
                        <a:rPr lang="en-US" sz="1700" baseline="0" dirty="0">
                          <a:latin typeface="+mn-lt"/>
                        </a:rPr>
                        <a:t> to house the </a:t>
                      </a:r>
                      <a:r>
                        <a:rPr lang="en-US" sz="1700" dirty="0">
                          <a:latin typeface="+mn-lt"/>
                        </a:rPr>
                        <a:t>Center for Research on Ocean and Coastal Sustainability</a:t>
                      </a:r>
                      <a:r>
                        <a:rPr lang="en-US" sz="1700" baseline="0" dirty="0">
                          <a:latin typeface="+mn-lt"/>
                        </a:rPr>
                        <a:t> to t</a:t>
                      </a:r>
                      <a:r>
                        <a:rPr lang="en-US" sz="1700" dirty="0">
                          <a:latin typeface="+mn-lt"/>
                        </a:rPr>
                        <a:t>ackle critical challenges of UAE’s ocean &amp; coastal ecology and environments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161124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 investment in coastal and marine research facilities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Partnerships with leading universities and research institutes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61124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2022: AED 45.9M (CAPEX + OPEX),  2023-2025: AED 24.6M </a:t>
                      </a:r>
                      <a:r>
                        <a:rPr lang="en-US" sz="1700" kern="12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p.a</a:t>
                      </a:r>
                      <a:r>
                        <a:rPr lang="en-US" sz="17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(new)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414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25570" y="247683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210471"/>
              </p:ext>
            </p:extLst>
          </p:nvPr>
        </p:nvGraphicFramePr>
        <p:xfrm>
          <a:off x="625567" y="885291"/>
          <a:ext cx="10962150" cy="5543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740742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+mn-lt"/>
                        </a:rPr>
                        <a:t>Cross-Cutting | Upgrades to HPC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80247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Expanding HPC infrastructure and storage services to support expanded areas of KU strategic research in Material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and Health 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Sciences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231481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Investment in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  <a:latin typeface="+mn-lt"/>
                        </a:rPr>
                        <a:t>Ankabut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 to support large scale HPC, or identifying alternate datacenter hosting facilities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Partnerships with leading companies</a:t>
                      </a:r>
                      <a:r>
                        <a:rPr lang="en-US" sz="17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cloud providers, e.g. AWS, for provision of specialized services, e.g. Quantum Computing, FPGA, HPC burst capacity, “trusted research environment”)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68518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AED 7.4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M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  <a:latin typeface="+mn-lt"/>
                        </a:rPr>
                        <a:t>p.a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 for planned existing capabilities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expansion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AED 21.6M for HPC hardware + AED 10.9M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for data storage services, for implementation in 2023 linked to increase in materials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&amp; health research (new)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Budget for hosting HPC hardware either in updated Ankabut datacenter, or external datacenter (cost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dependent on solution)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7875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184820"/>
              </p:ext>
            </p:extLst>
          </p:nvPr>
        </p:nvGraphicFramePr>
        <p:xfrm>
          <a:off x="604277" y="867266"/>
          <a:ext cx="10962150" cy="5441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677302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+mn-lt"/>
                        </a:rPr>
                        <a:t>Science</a:t>
                      </a:r>
                      <a:r>
                        <a:rPr lang="en-US" sz="17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and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+mn-lt"/>
                        </a:rPr>
                        <a:t>Innovation | New Funding Program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75632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Expand internal funding 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programs to support science and innovation</a:t>
                      </a:r>
                      <a:endParaRPr lang="en-US" sz="17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298012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Continued sufficient funding for internal research funding programs, including seed-funding for strategic research centers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Faculty interest and benefit from innovation work, including patenting, working with companies and seeking to form spin-outs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Establishment of a platform for building and scaling KU spin-out companies (or build on KU Enterprise Company)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Centralization of entrepreneurship and innovation courses/modules/electives to ensure alignment and/or strengthening of university overall innovation &amp; entrepreneurship ecosystem.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02742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AED 10M per year for awards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0574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135035"/>
              </p:ext>
            </p:extLst>
          </p:nvPr>
        </p:nvGraphicFramePr>
        <p:xfrm>
          <a:off x="604277" y="867266"/>
          <a:ext cx="10962150" cy="5635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701446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+mn-lt"/>
                        </a:rPr>
                        <a:t>Research Awards | New Funding Program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78328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Expand internal Researc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h Awards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program to recognize scholarly achievements linked to research and innovation </a:t>
                      </a:r>
                      <a:endParaRPr lang="en-US" sz="17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308636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Continued sufficient funding for internal research funding programs, including seed-funding for strategic research centers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Faculty interest and benefit from innovation work, including patenting, working with companies and seeking to form spin-outs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Establishment of a platform for building and scaling KU spin-out companies (or build on KU Enterprise Company)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Centralization of entrepreneurship and innovation courses/modules/electives to ensure alignment and/or strengthening of university overall innovation &amp; entrepreneurship ecosystem.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06404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AED 0.6M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  <a:latin typeface="+mn-lt"/>
                        </a:rPr>
                        <a:t>p.a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 for awards (new)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76392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006309"/>
              </p:ext>
            </p:extLst>
          </p:nvPr>
        </p:nvGraphicFramePr>
        <p:xfrm>
          <a:off x="604277" y="929266"/>
          <a:ext cx="10962150" cy="5480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721035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+mn-lt"/>
                        </a:rPr>
                        <a:t>Partnerships |  New Funding Program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79986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Establishment of partnerships with leading universities and research institutes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286611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Continued sufficient funding for internal research funding programs, including seed-funding for strategic research centers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Partnerships with leading universities and research institutes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09376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AED 3.7M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  <a:latin typeface="+mn-lt"/>
                        </a:rPr>
                        <a:t>p.a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 for partnership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awards (new)</a:t>
                      </a:r>
                      <a:endParaRPr lang="en-US" sz="17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5587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3981" y="3083976"/>
            <a:ext cx="105467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Appendix</a:t>
            </a:r>
          </a:p>
          <a:p>
            <a:pPr algn="ctr"/>
            <a:r>
              <a:rPr lang="en-US" sz="3600" spc="50" dirty="0" smtClean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Research Infrastructure</a:t>
            </a:r>
            <a:endParaRPr lang="en-US" sz="3600" spc="5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4185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CustomShape 4"/>
          <p:cNvSpPr/>
          <p:nvPr/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5C5E316A-2CDC-412F-9F4A-F8985A2638AB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51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Research Laboratories and Computing – Mapping to Strategy R&amp;D Themes and Topics</a:t>
            </a:r>
            <a:endParaRPr 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40976" y="6587887"/>
            <a:ext cx="3699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Note: </a:t>
            </a:r>
            <a:r>
              <a:rPr lang="en-US" sz="1200" i="1" dirty="0" smtClean="0"/>
              <a:t>P – primary focus of lab, S – secondary focus of lab</a:t>
            </a:r>
            <a:endParaRPr lang="en-US" sz="1200" i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888174"/>
              </p:ext>
            </p:extLst>
          </p:nvPr>
        </p:nvGraphicFramePr>
        <p:xfrm>
          <a:off x="76201" y="744173"/>
          <a:ext cx="12039598" cy="5674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487">
                  <a:extLst>
                    <a:ext uri="{9D8B030D-6E8A-4147-A177-3AD203B41FA5}">
                      <a16:colId xmlns:a16="http://schemas.microsoft.com/office/drawing/2014/main" val="1165829564"/>
                    </a:ext>
                  </a:extLst>
                </a:gridCol>
                <a:gridCol w="1175797">
                  <a:extLst>
                    <a:ext uri="{9D8B030D-6E8A-4147-A177-3AD203B41FA5}">
                      <a16:colId xmlns:a16="http://schemas.microsoft.com/office/drawing/2014/main" val="438131376"/>
                    </a:ext>
                  </a:extLst>
                </a:gridCol>
                <a:gridCol w="4129638">
                  <a:extLst>
                    <a:ext uri="{9D8B030D-6E8A-4147-A177-3AD203B41FA5}">
                      <a16:colId xmlns:a16="http://schemas.microsoft.com/office/drawing/2014/main" val="3829553299"/>
                    </a:ext>
                  </a:extLst>
                </a:gridCol>
                <a:gridCol w="1042900">
                  <a:extLst>
                    <a:ext uri="{9D8B030D-6E8A-4147-A177-3AD203B41FA5}">
                      <a16:colId xmlns:a16="http://schemas.microsoft.com/office/drawing/2014/main" val="656864366"/>
                    </a:ext>
                  </a:extLst>
                </a:gridCol>
                <a:gridCol w="1042900">
                  <a:extLst>
                    <a:ext uri="{9D8B030D-6E8A-4147-A177-3AD203B41FA5}">
                      <a16:colId xmlns:a16="http://schemas.microsoft.com/office/drawing/2014/main" val="385523998"/>
                    </a:ext>
                  </a:extLst>
                </a:gridCol>
                <a:gridCol w="891862">
                  <a:extLst>
                    <a:ext uri="{9D8B030D-6E8A-4147-A177-3AD203B41FA5}">
                      <a16:colId xmlns:a16="http://schemas.microsoft.com/office/drawing/2014/main" val="3020960794"/>
                    </a:ext>
                  </a:extLst>
                </a:gridCol>
                <a:gridCol w="2116014">
                  <a:extLst>
                    <a:ext uri="{9D8B030D-6E8A-4147-A177-3AD203B41FA5}">
                      <a16:colId xmlns:a16="http://schemas.microsoft.com/office/drawing/2014/main" val="1542205313"/>
                    </a:ext>
                  </a:extLst>
                </a:gridCol>
              </a:tblGrid>
              <a:tr h="199521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Research Area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Primary Centers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Sub-Area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Laboratories</a:t>
                      </a:r>
                      <a:r>
                        <a:rPr lang="en-US" sz="1500" b="1" i="0" u="none" strike="noStrike" kern="1200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n-US" sz="15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Research Computing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149475"/>
                  </a:ext>
                </a:extLst>
              </a:tr>
              <a:tr h="199521">
                <a:tc vMerge="1"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709876"/>
                  </a:ext>
                </a:extLst>
              </a:tr>
              <a:tr h="217308">
                <a:tc rowSpan="8">
                  <a:txBody>
                    <a:bodyPr/>
                    <a:lstStyle/>
                    <a:p>
                      <a:pPr algn="ctr" rtl="0" fontAlgn="ctr"/>
                      <a:r>
                        <a:rPr lang="en-US" sz="15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Energy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8"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APEC,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ENTC, RICH, SBRC/Air-CRAFT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Solar energy 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HPC cluster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Private </a:t>
                      </a: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cloud/VM </a:t>
                      </a: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services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Dedicated HPC nodes </a:t>
                      </a: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for ENTC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Scientific computing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support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852668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Nuclear energy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564793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Electrical power transmission and distribution 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070058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Energy storage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710721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Energy efficient cities and buildings 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319421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Hydrogen and its derivatives</a:t>
                      </a:r>
                      <a:endParaRPr lang="en-US" sz="1300" b="0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63464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 capture, utilization and storage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266264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Sustainable fuels 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520177"/>
                  </a:ext>
                </a:extLst>
              </a:tr>
              <a:tr h="217308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sz="15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Water &amp; Environment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CMAT, ENGEOS/ EARTHCARE</a:t>
                      </a:r>
                    </a:p>
                  </a:txBody>
                  <a:tcPr marL="45720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Desalination 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HPC </a:t>
                      </a: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cluster</a:t>
                      </a: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Private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cloud/VM services</a:t>
                      </a:r>
                    </a:p>
                    <a:p>
                      <a:pPr marL="285750" marR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Scientific computing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support</a:t>
                      </a:r>
                      <a:endParaRPr lang="en-US" sz="13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08918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Waste treatment and utilization 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346088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Environmental remote sensing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990248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Ocean and coastal ecology and environment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696582"/>
                  </a:ext>
                </a:extLst>
              </a:tr>
              <a:tr h="217308"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en-US" sz="15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Health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BTC, HEIC, RDISC</a:t>
                      </a:r>
                    </a:p>
                  </a:txBody>
                  <a:tcPr marL="45720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Omics (proteomics, genomics, metabolomics)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HPC </a:t>
                      </a: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cluster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Private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Cloud/VM 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services</a:t>
                      </a:r>
                      <a:endParaRPr lang="en-US" sz="13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Big 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Data Platform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Dedicated storage</a:t>
                      </a:r>
                      <a:endParaRPr lang="en-US" sz="13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Teaching and Research Lab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Sysadmin for Bioinformatics 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server</a:t>
                      </a:r>
                    </a:p>
                    <a:p>
                      <a:pPr marL="285750" marR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Scientific computing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support</a:t>
                      </a:r>
                      <a:endParaRPr lang="en-US" sz="13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502250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Medical technology (bio-robotics and medical devices) 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034294"/>
                  </a:ext>
                </a:extLst>
              </a:tr>
              <a:tr h="3405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Therapeutics (pharmacology, clinical toxicology, virology and tissue culture)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257657"/>
                  </a:ext>
                </a:extLst>
              </a:tr>
              <a:tr h="3405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Analytics (epidemiology, biostatistics and modeling, bioinformatics, bio-signal processing)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804472"/>
                  </a:ext>
                </a:extLst>
              </a:tr>
              <a:tr h="3914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Management and operations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509643"/>
                  </a:ext>
                </a:extLst>
              </a:tr>
              <a:tr h="34053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Space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KUSTIC, SPSC, ENGEOS/ EARTHCARE</a:t>
                      </a:r>
                    </a:p>
                  </a:txBody>
                  <a:tcPr marL="45720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Space telecommunications, access and exploration (technology development and science applications)</a:t>
                      </a:r>
                      <a:endParaRPr lang="en-US" sz="1300" dirty="0"/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HPC </a:t>
                      </a: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Cluster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Private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cloud/VM Services</a:t>
                      </a:r>
                    </a:p>
                    <a:p>
                      <a:pPr marL="285750" marR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Scientific computing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support</a:t>
                      </a:r>
                      <a:endParaRPr lang="en-US" sz="13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39099"/>
                  </a:ext>
                </a:extLst>
              </a:tr>
              <a:tr h="333309">
                <a:tc vMerge="1"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Earth observation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313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6431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CustomShape 4"/>
          <p:cNvSpPr/>
          <p:nvPr/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5C5E316A-2CDC-412F-9F4A-F8985A2638AB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52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Research Laboratories and Computing – Mapping to Strategy R&amp;D Themes and Topics</a:t>
            </a:r>
            <a:endParaRPr 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40976" y="6587887"/>
            <a:ext cx="3699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Note: </a:t>
            </a:r>
            <a:r>
              <a:rPr lang="en-US" sz="1200" i="1" dirty="0" smtClean="0"/>
              <a:t>P – primary focus of lab, S – secondary focus of lab</a:t>
            </a:r>
            <a:endParaRPr lang="en-US" sz="1200" i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681760"/>
              </p:ext>
            </p:extLst>
          </p:nvPr>
        </p:nvGraphicFramePr>
        <p:xfrm>
          <a:off x="152400" y="762200"/>
          <a:ext cx="11887201" cy="5729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268">
                  <a:extLst>
                    <a:ext uri="{9D8B030D-6E8A-4147-A177-3AD203B41FA5}">
                      <a16:colId xmlns:a16="http://schemas.microsoft.com/office/drawing/2014/main" val="1165829564"/>
                    </a:ext>
                  </a:extLst>
                </a:gridCol>
                <a:gridCol w="1137098">
                  <a:extLst>
                    <a:ext uri="{9D8B030D-6E8A-4147-A177-3AD203B41FA5}">
                      <a16:colId xmlns:a16="http://schemas.microsoft.com/office/drawing/2014/main" val="3799162982"/>
                    </a:ext>
                  </a:extLst>
                </a:gridCol>
                <a:gridCol w="4606249">
                  <a:extLst>
                    <a:ext uri="{9D8B030D-6E8A-4147-A177-3AD203B41FA5}">
                      <a16:colId xmlns:a16="http://schemas.microsoft.com/office/drawing/2014/main" val="3829553299"/>
                    </a:ext>
                  </a:extLst>
                </a:gridCol>
                <a:gridCol w="703385">
                  <a:extLst>
                    <a:ext uri="{9D8B030D-6E8A-4147-A177-3AD203B41FA5}">
                      <a16:colId xmlns:a16="http://schemas.microsoft.com/office/drawing/2014/main" val="656864366"/>
                    </a:ext>
                  </a:extLst>
                </a:gridCol>
                <a:gridCol w="703385">
                  <a:extLst>
                    <a:ext uri="{9D8B030D-6E8A-4147-A177-3AD203B41FA5}">
                      <a16:colId xmlns:a16="http://schemas.microsoft.com/office/drawing/2014/main" val="385523998"/>
                    </a:ext>
                  </a:extLst>
                </a:gridCol>
                <a:gridCol w="703385">
                  <a:extLst>
                    <a:ext uri="{9D8B030D-6E8A-4147-A177-3AD203B41FA5}">
                      <a16:colId xmlns:a16="http://schemas.microsoft.com/office/drawing/2014/main" val="2777938475"/>
                    </a:ext>
                  </a:extLst>
                </a:gridCol>
                <a:gridCol w="2098431">
                  <a:extLst>
                    <a:ext uri="{9D8B030D-6E8A-4147-A177-3AD203B41FA5}">
                      <a16:colId xmlns:a16="http://schemas.microsoft.com/office/drawing/2014/main" val="1542205313"/>
                    </a:ext>
                  </a:extLst>
                </a:gridCol>
              </a:tblGrid>
              <a:tr h="271792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Research Area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Centers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Sub-Area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Laboratories</a:t>
                      </a:r>
                      <a:r>
                        <a:rPr lang="en-US" sz="1500" b="1" i="0" u="none" strike="noStrike" kern="1200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n-US" sz="15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Research Computing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149475"/>
                  </a:ext>
                </a:extLst>
              </a:tr>
              <a:tr h="228077">
                <a:tc vMerge="1"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709876"/>
                  </a:ext>
                </a:extLst>
              </a:tr>
              <a:tr h="300826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en-US" sz="15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Advanced Material &amp; Manufacturing 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ARIC, AMCC, </a:t>
                      </a: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CeCaS</a:t>
                      </a: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RIC-2D</a:t>
                      </a:r>
                      <a:endParaRPr lang="en-US" sz="14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endParaRPr lang="en-US" sz="14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Computational materials engineering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HPC Cluster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Private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Cloud/VM Services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Dedicated 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HPC nodes for 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RIC-2D</a:t>
                      </a:r>
                    </a:p>
                    <a:p>
                      <a:pPr marL="285750" marR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Scientific computing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support</a:t>
                      </a:r>
                      <a:endParaRPr lang="en-US" sz="13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852668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Composites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564793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Enhanced materials systems (nanomaterials and nanocomposites, multifunctional materials, smart materials, metamaterials)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070058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Catalysis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33720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Additive manufacturing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710721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Manufacturing automation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319421"/>
                  </a:ext>
                </a:extLst>
              </a:tr>
              <a:tr h="300826">
                <a:tc rowSpan="8"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Intelligent</a:t>
                      </a:r>
                      <a:r>
                        <a:rPr lang="en-US" sz="15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&amp; Secure Digital Systems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KUCARS,</a:t>
                      </a:r>
                      <a:r>
                        <a:rPr lang="en-US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SOCL, C2PS, EBTIC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Autonomous systems (aerial, ground and marine)	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HPC Cluster</a:t>
                      </a: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Private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Cloud/VM Services</a:t>
                      </a: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Sysadmin support for </a:t>
                      </a:r>
                      <a:r>
                        <a:rPr lang="en-US" sz="13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SoCL</a:t>
                      </a:r>
                      <a:endParaRPr lang="en-US" sz="1300" b="0" i="0" u="none" strike="noStrike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Scientific computing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support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l" rtl="0" fontAlgn="ctr"/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266264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Machine learning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08918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Computer vision, image and video analysis and processing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346088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8592" marR="8592" marT="8592" marB="0" anchor="ctr"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Data Science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990248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Secure systems and networks (cyber security and </a:t>
                      </a:r>
                      <a:r>
                        <a:rPr lang="en-US" sz="13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blockchain</a:t>
                      </a: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696582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Next Generation Networks (NGNs) and NGN-enabled ICT applications and services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502250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System-on-Chip (</a:t>
                      </a:r>
                      <a:r>
                        <a:rPr lang="en-US" sz="13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SoC</a:t>
                      </a: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 technology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034294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Sensors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257657"/>
                  </a:ext>
                </a:extLst>
              </a:tr>
              <a:tr h="595268">
                <a:tc gridSpan="3">
                  <a:txBody>
                    <a:bodyPr/>
                    <a:lstStyle/>
                    <a:p>
                      <a:pPr algn="l"/>
                      <a:r>
                        <a:rPr lang="en-US" sz="1500" b="1" strike="noStrike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Emerging Topics &amp; Fundamental Science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HPC Cluster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Private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Cloud/VM 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Services</a:t>
                      </a:r>
                    </a:p>
                    <a:p>
                      <a:pPr marL="285750" marR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Scientific computing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support</a:t>
                      </a:r>
                      <a:endParaRPr lang="en-US" sz="13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147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1737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CustomShape 1"/>
          <p:cNvSpPr/>
          <p:nvPr/>
        </p:nvSpPr>
        <p:spPr>
          <a:xfrm>
            <a:off x="828720" y="501840"/>
            <a:ext cx="10542960" cy="653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2" name="CustomShape 4"/>
          <p:cNvSpPr/>
          <p:nvPr/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5C5E316A-2CDC-412F-9F4A-F8985A2638AB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53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473" name="CustomShape 5"/>
          <p:cNvSpPr/>
          <p:nvPr/>
        </p:nvSpPr>
        <p:spPr>
          <a:xfrm>
            <a:off x="361980" y="755378"/>
            <a:ext cx="11476440" cy="52577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  <a:ea typeface="DejaVu Sans"/>
              </a:rPr>
              <a:t>High Performance Computing – </a:t>
            </a:r>
            <a:r>
              <a:rPr lang="en-US" b="1" spc="-1" dirty="0" err="1">
                <a:solidFill>
                  <a:srgbClr val="0047BA"/>
                </a:solidFill>
                <a:ea typeface="DejaVu Sans"/>
              </a:rPr>
              <a:t>Almesbar</a:t>
            </a:r>
            <a:r>
              <a:rPr lang="en-US" b="1" spc="-1" dirty="0">
                <a:solidFill>
                  <a:srgbClr val="0047BA"/>
                </a:solidFill>
                <a:ea typeface="DejaVu Sans"/>
              </a:rPr>
              <a:t> HPC Cluster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Computer based simulation and modelling are integral parts of modern scientific research, alongside experiment and theory. Computation and HPC are now routinely used across numerous disciplines across KU.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KU HPC capability is steadily growing. The plan is to increase the current capability four-fold over the coming years to support new strategic initiatives. 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Current provision is </a:t>
            </a:r>
            <a:r>
              <a:rPr lang="en-US" b="1" spc="-1" dirty="0"/>
              <a:t>4,753 CPU </a:t>
            </a:r>
            <a:r>
              <a:rPr lang="en-US" spc="-1" dirty="0"/>
              <a:t>Cores and </a:t>
            </a:r>
            <a:r>
              <a:rPr lang="en-US" b="1" spc="-1" dirty="0"/>
              <a:t>12 GPU </a:t>
            </a:r>
            <a:r>
              <a:rPr lang="en-US" spc="-1" dirty="0"/>
              <a:t>cards. Plan to grow by </a:t>
            </a:r>
            <a:r>
              <a:rPr lang="en-US" b="1" spc="-1" dirty="0"/>
              <a:t>40%</a:t>
            </a:r>
            <a:r>
              <a:rPr lang="en-US" spc="-1" dirty="0"/>
              <a:t> by end of 2022, to allow for RIC-2D, and other computational needs.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Private Cloud/VM services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RC, in conjunction with </a:t>
            </a:r>
            <a:r>
              <a:rPr lang="en-US" spc="-1" dirty="0" err="1"/>
              <a:t>Ankabut</a:t>
            </a:r>
            <a:r>
              <a:rPr lang="en-US" spc="-1" dirty="0"/>
              <a:t>, provides Private Cloud/VM services to research. RC manages the virtual machines, config, sysadmin, and software installs, while </a:t>
            </a:r>
            <a:r>
              <a:rPr lang="en-US" spc="-1" dirty="0" err="1"/>
              <a:t>Ankabut</a:t>
            </a:r>
            <a:r>
              <a:rPr lang="en-US" spc="-1" dirty="0"/>
              <a:t> runs the hardware and infrastructure. 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Big Data Platform for health sciences research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The platform provides services such as HADOOP, Spark, large scale storage, and management of health-related data.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Technical Support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err="1"/>
              <a:t>Sysadmin</a:t>
            </a:r>
            <a:r>
              <a:rPr lang="en-US" dirty="0"/>
              <a:t> support and management of all RC services.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Build, install, maintain and test scientific applications on the HPC clusters and VM’s.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Scientific Computing support and Consultation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Develop and deliver specialized training courses.  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Provide programming consultancy, code optimization and resolve users’ programming issues.</a:t>
            </a:r>
            <a:endParaRPr lang="en-US" spc="-1" dirty="0"/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Work in conjunction with researchers to design and implement bespoke computing resources to support research projects.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Support researchers by understanding their research computational needs and recommend suitable applications and other research computing resources available at KU.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/>
          </a:p>
          <a:p>
            <a:pPr marL="640080" lvl="1" indent="-182520">
              <a:spcBef>
                <a:spcPts val="12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/>
          </a:p>
        </p:txBody>
      </p:sp>
      <p:sp>
        <p:nvSpPr>
          <p:cNvPr id="6" name="TextBox 5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/>
              <a:t>Research Computing (RC) Services</a:t>
            </a:r>
          </a:p>
        </p:txBody>
      </p:sp>
    </p:spTree>
    <p:extLst>
      <p:ext uri="{BB962C8B-B14F-4D97-AF65-F5344CB8AC3E}">
        <p14:creationId xmlns:p14="http://schemas.microsoft.com/office/powerpoint/2010/main" val="14641595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A78569-5C33-A740-AC8B-D0AA1814F5F8}"/>
              </a:ext>
            </a:extLst>
          </p:cNvPr>
          <p:cNvSpPr/>
          <p:nvPr/>
        </p:nvSpPr>
        <p:spPr>
          <a:xfrm>
            <a:off x="316856" y="925697"/>
            <a:ext cx="1115089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Big Data Platform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/>
              <a:t>13 node </a:t>
            </a:r>
            <a:r>
              <a:rPr lang="en-US" spc="-1" dirty="0"/>
              <a:t>cluster, to grow to </a:t>
            </a:r>
            <a:r>
              <a:rPr lang="en-US" b="1" spc="-1" dirty="0"/>
              <a:t>20 nodes </a:t>
            </a:r>
            <a:r>
              <a:rPr lang="en-US" spc="-1" dirty="0"/>
              <a:t>by early of 2023 to run big data frameworks, e.g. HADOOP, Spark etc..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Private Cloud/Virtual Machine infrastructure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/>
              <a:t> </a:t>
            </a:r>
            <a:r>
              <a:rPr lang="en-GB" b="1" spc="-1" dirty="0"/>
              <a:t>384 vCPUs, 3TB RAM </a:t>
            </a:r>
            <a:r>
              <a:rPr lang="en-US" spc="-1" dirty="0"/>
              <a:t>to provide, databases, access to data, container services, as well as specialist portals (e.g. Genome Imputation, Genomic Pipelines, </a:t>
            </a:r>
            <a:r>
              <a:rPr lang="en-US" spc="-1" dirty="0" err="1"/>
              <a:t>REDCap</a:t>
            </a:r>
            <a:r>
              <a:rPr lang="en-US" spc="-1" dirty="0"/>
              <a:t> node). To be doubled by early 2023.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Large Scale Storage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/>
              <a:t>200 TB</a:t>
            </a:r>
            <a:r>
              <a:rPr lang="en-US" spc="-1" dirty="0"/>
              <a:t>,</a:t>
            </a:r>
            <a:r>
              <a:rPr lang="en-US" b="1" spc="-1" dirty="0"/>
              <a:t> </a:t>
            </a:r>
            <a:r>
              <a:rPr lang="en-US" spc="-1" dirty="0"/>
              <a:t>to grow to </a:t>
            </a:r>
            <a:r>
              <a:rPr lang="en-US" b="1" spc="-1" dirty="0"/>
              <a:t>1PB </a:t>
            </a:r>
            <a:r>
              <a:rPr lang="en-US" spc="-1" dirty="0"/>
              <a:t>by 2023 of storage for high value and operational data.</a:t>
            </a:r>
          </a:p>
          <a:p>
            <a:pPr marL="1097280" lvl="2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In process of purchasing </a:t>
            </a:r>
            <a:r>
              <a:rPr lang="en-US" b="1" spc="-1" dirty="0"/>
              <a:t>450 TB </a:t>
            </a:r>
            <a:r>
              <a:rPr lang="en-US" spc="-1" dirty="0"/>
              <a:t>in 2022, so that storage is </a:t>
            </a:r>
            <a:r>
              <a:rPr lang="en-US" b="1" spc="-1" dirty="0"/>
              <a:t>650 TB </a:t>
            </a:r>
            <a:r>
              <a:rPr lang="en-US" spc="-1" dirty="0"/>
              <a:t>by beginning of 2023.</a:t>
            </a:r>
          </a:p>
          <a:p>
            <a:pPr marL="1828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Teaching and Research Computational lab</a:t>
            </a:r>
          </a:p>
          <a:p>
            <a:pPr marL="1097280" lvl="2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/>
              <a:t>25 high-end workstations</a:t>
            </a:r>
            <a:r>
              <a:rPr lang="en-US" spc="-1" dirty="0"/>
              <a:t>, to be used for training, research and accessing sensitive data; “a secure classroom”.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RDISC: ICT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6252698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A78569-5C33-A740-AC8B-D0AA1814F5F8}"/>
              </a:ext>
            </a:extLst>
          </p:cNvPr>
          <p:cNvSpPr/>
          <p:nvPr/>
        </p:nvSpPr>
        <p:spPr>
          <a:xfrm>
            <a:off x="415536" y="666146"/>
            <a:ext cx="1115089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88 CPU nodes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Each node with </a:t>
            </a:r>
            <a:r>
              <a:rPr lang="en-US" b="1" spc="-1" dirty="0"/>
              <a:t>52 CPU cores, </a:t>
            </a:r>
            <a:r>
              <a:rPr lang="en-US" spc="-1" dirty="0"/>
              <a:t>for a total of </a:t>
            </a:r>
            <a:r>
              <a:rPr lang="en-US" b="1" spc="-1" dirty="0"/>
              <a:t>4,732 cores </a:t>
            </a:r>
            <a:r>
              <a:rPr lang="en-US" spc="-1" dirty="0"/>
              <a:t>of Intel Cascade Lake</a:t>
            </a:r>
            <a:r>
              <a:rPr lang="en-US" b="1" spc="-1" dirty="0"/>
              <a:t>.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Each node has</a:t>
            </a:r>
            <a:r>
              <a:rPr lang="en-US" b="1" spc="-1" dirty="0"/>
              <a:t> 320 GB of RAM.</a:t>
            </a:r>
            <a:endParaRPr lang="en-US" spc="-1" dirty="0"/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  3 GPU nodes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/>
              <a:t> </a:t>
            </a:r>
            <a:r>
              <a:rPr lang="en-US" spc="-1" dirty="0"/>
              <a:t>Each node has</a:t>
            </a:r>
            <a:r>
              <a:rPr lang="en-US" b="1" spc="-1" dirty="0"/>
              <a:t> 4 NVIDIA V100 GPU’s </a:t>
            </a:r>
            <a:r>
              <a:rPr lang="en-US" spc="-1" dirty="0"/>
              <a:t>and</a:t>
            </a:r>
            <a:r>
              <a:rPr lang="en-US" b="1" spc="-1" dirty="0"/>
              <a:t> </a:t>
            </a:r>
            <a:r>
              <a:rPr lang="en-US" spc="-1" dirty="0"/>
              <a:t>52 CPU cores for a total of</a:t>
            </a:r>
            <a:r>
              <a:rPr lang="en-US" b="1" spc="-1" dirty="0"/>
              <a:t> 12 GPU’s</a:t>
            </a:r>
            <a:r>
              <a:rPr lang="en-US" spc="-1" dirty="0"/>
              <a:t> cards. Will expand by an extra 4 nodes by end of 2022.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 Each node has </a:t>
            </a:r>
            <a:r>
              <a:rPr lang="en-US" b="1" spc="-1" dirty="0"/>
              <a:t>640 GB of RAM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Parallel Filesystem and NAS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/>
              <a:t>1 PB</a:t>
            </a:r>
            <a:r>
              <a:rPr lang="en-US" spc="-1" dirty="0"/>
              <a:t> of high speed storage, with minimum of </a:t>
            </a:r>
            <a:r>
              <a:rPr lang="en-US" b="1" spc="-1" dirty="0"/>
              <a:t>10GB/s </a:t>
            </a:r>
            <a:r>
              <a:rPr lang="en-US" spc="-1" dirty="0"/>
              <a:t>performance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/>
              <a:t>700 TB </a:t>
            </a:r>
            <a:r>
              <a:rPr lang="en-US" spc="-1" dirty="0"/>
              <a:t>of networked storage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High Speed networking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/>
              <a:t> 100 GB/s </a:t>
            </a:r>
            <a:r>
              <a:rPr lang="en-US" spc="-1" dirty="0"/>
              <a:t>interconnectivity between nodes to enable parallel computation.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Plan to expand HPC by 36 nodes by end of 2022, and a further 51 nodes by early 2023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This will include provision for RIC-2D HPC requirements.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KU HPC Cluster – </a:t>
            </a:r>
            <a:r>
              <a:rPr lang="en-US" sz="2000" b="1" dirty="0" err="1"/>
              <a:t>AlMesbar</a:t>
            </a:r>
            <a:endParaRPr lang="en-US" sz="20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3893A5-7087-F8C7-AEC1-CE902F1D9B2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04395" y="4554057"/>
          <a:ext cx="11362032" cy="1937872"/>
        </p:xfrm>
        <a:graphic>
          <a:graphicData uri="http://schemas.openxmlformats.org/drawingml/2006/table">
            <a:tbl>
              <a:tblPr firstRow="1" bandRow="1"/>
              <a:tblGrid>
                <a:gridCol w="1611190">
                  <a:extLst>
                    <a:ext uri="{9D8B030D-6E8A-4147-A177-3AD203B41FA5}">
                      <a16:colId xmlns:a16="http://schemas.microsoft.com/office/drawing/2014/main" val="3687805585"/>
                    </a:ext>
                  </a:extLst>
                </a:gridCol>
                <a:gridCol w="2626031">
                  <a:extLst>
                    <a:ext uri="{9D8B030D-6E8A-4147-A177-3AD203B41FA5}">
                      <a16:colId xmlns:a16="http://schemas.microsoft.com/office/drawing/2014/main" val="152125098"/>
                    </a:ext>
                  </a:extLst>
                </a:gridCol>
                <a:gridCol w="1245011">
                  <a:extLst>
                    <a:ext uri="{9D8B030D-6E8A-4147-A177-3AD203B41FA5}">
                      <a16:colId xmlns:a16="http://schemas.microsoft.com/office/drawing/2014/main" val="329039289"/>
                    </a:ext>
                  </a:extLst>
                </a:gridCol>
                <a:gridCol w="1611190">
                  <a:extLst>
                    <a:ext uri="{9D8B030D-6E8A-4147-A177-3AD203B41FA5}">
                      <a16:colId xmlns:a16="http://schemas.microsoft.com/office/drawing/2014/main" val="2673423602"/>
                    </a:ext>
                  </a:extLst>
                </a:gridCol>
                <a:gridCol w="1433333">
                  <a:extLst>
                    <a:ext uri="{9D8B030D-6E8A-4147-A177-3AD203B41FA5}">
                      <a16:colId xmlns:a16="http://schemas.microsoft.com/office/drawing/2014/main" val="542751314"/>
                    </a:ext>
                  </a:extLst>
                </a:gridCol>
                <a:gridCol w="2835277">
                  <a:extLst>
                    <a:ext uri="{9D8B030D-6E8A-4147-A177-3AD203B41FA5}">
                      <a16:colId xmlns:a16="http://schemas.microsoft.com/office/drawing/2014/main" val="3470162853"/>
                    </a:ext>
                  </a:extLst>
                </a:gridCol>
              </a:tblGrid>
              <a:tr h="291952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Number of nodes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trike="noStrike" spc="-1" dirty="0">
                          <a:solidFill>
                            <a:srgbClr val="FFFFFF"/>
                          </a:solidFill>
                          <a:latin typeface="+mn-lt"/>
                        </a:rPr>
                        <a:t>Cores per node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trike="noStrike" spc="-1" dirty="0">
                          <a:solidFill>
                            <a:srgbClr val="FFFFFF"/>
                          </a:solidFill>
                          <a:latin typeface="+mn-lt"/>
                        </a:rPr>
                        <a:t>Network</a:t>
                      </a:r>
                      <a:r>
                        <a:rPr lang="en-US" sz="1000" b="1" strike="noStrike" spc="-1" baseline="0" dirty="0">
                          <a:solidFill>
                            <a:srgbClr val="FFFFFF"/>
                          </a:solidFill>
                          <a:latin typeface="+mn-lt"/>
                        </a:rPr>
                        <a:t> interconnection</a:t>
                      </a:r>
                      <a:endParaRPr lang="en-US" sz="1000" b="1" strike="noStrike" spc="-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57167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trike="noStrike" spc="-1" dirty="0">
                          <a:latin typeface="+mn-lt"/>
                        </a:rPr>
                        <a:t>124 CPU nodes</a:t>
                      </a:r>
                      <a:endParaRPr lang="en-US" sz="1000" b="0" strike="noStrike" spc="-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3280" marR="532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trike="noStrike" spc="-1" dirty="0">
                          <a:latin typeface="+mn-lt"/>
                        </a:rPr>
                        <a:t>2x Intel Xeon Gold 6230R</a:t>
                      </a:r>
                      <a:r>
                        <a:rPr lang="en-US" sz="1000" strike="noStrike" spc="-1" baseline="0" dirty="0">
                          <a:latin typeface="+mn-lt"/>
                        </a:rPr>
                        <a:t> </a:t>
                      </a:r>
                      <a:r>
                        <a:rPr lang="en-US" sz="1000" strike="noStrike" spc="-1" dirty="0">
                          <a:latin typeface="+mn-lt"/>
                        </a:rPr>
                        <a:t>26-Core 2.1GHz</a:t>
                      </a:r>
                      <a:r>
                        <a:rPr lang="en-US" sz="1000" strike="noStrike" spc="-1" baseline="0" dirty="0">
                          <a:latin typeface="+mn-lt"/>
                        </a:rPr>
                        <a:t> </a:t>
                      </a:r>
                      <a:r>
                        <a:rPr lang="en-US" sz="1000" strike="noStrike" spc="-1" dirty="0">
                          <a:latin typeface="+mn-lt"/>
                        </a:rPr>
                        <a:t>(Cascade lake)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trike="noStrike" spc="-1" dirty="0">
                          <a:latin typeface="+mn-lt"/>
                        </a:rPr>
                        <a:t>(Q1‘20)</a:t>
                      </a:r>
                      <a:endParaRPr lang="en-US" sz="1000" b="0" strike="noStrike" spc="-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3280" marR="532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trike="noStrike" spc="-1" dirty="0">
                          <a:latin typeface="+mn-lt"/>
                        </a:rPr>
                        <a:t>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strike="noStrike" spc="-1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Infiniband</a:t>
                      </a:r>
                      <a:r>
                        <a:rPr lang="en-US" sz="1000" b="0" strike="noStrike" spc="-1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HDR and </a:t>
                      </a:r>
                      <a:r>
                        <a:rPr lang="en-US" sz="1000" b="0" strike="noStrike" spc="-1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Infiniband</a:t>
                      </a:r>
                      <a:r>
                        <a:rPr lang="en-US" sz="1000" b="0" strike="noStrike" spc="-1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EDR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5568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trike="noStrike" spc="-1" dirty="0">
                          <a:solidFill>
                            <a:srgbClr val="FFFFFF"/>
                          </a:solidFill>
                          <a:latin typeface="+mn-lt"/>
                        </a:rPr>
                        <a:t>Memory</a:t>
                      </a:r>
                      <a:r>
                        <a:rPr lang="en-US" sz="1000" b="1" strike="noStrike" spc="-1" baseline="0" dirty="0">
                          <a:solidFill>
                            <a:srgbClr val="FFFFFF"/>
                          </a:solidFill>
                          <a:latin typeface="+mn-lt"/>
                        </a:rPr>
                        <a:t> per node</a:t>
                      </a:r>
                      <a:endParaRPr lang="en-US" sz="1000" b="1" strike="noStrike" spc="-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381651"/>
                  </a:ext>
                </a:extLst>
              </a:tr>
              <a:tr h="158106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trike="noStrike" spc="-1" dirty="0">
                          <a:latin typeface="+mn-lt"/>
                        </a:rPr>
                        <a:t>7 GPU</a:t>
                      </a:r>
                      <a:r>
                        <a:rPr lang="en-US" sz="1000" strike="noStrike" spc="-1" baseline="0" dirty="0">
                          <a:latin typeface="+mn-lt"/>
                        </a:rPr>
                        <a:t> nodes</a:t>
                      </a:r>
                      <a:endParaRPr lang="en-US" sz="1000" b="0" strike="noStrike" spc="-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3280" marR="532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trike="noStrike" spc="-1" dirty="0">
                          <a:latin typeface="+mn-lt"/>
                        </a:rPr>
                        <a:t>2x Intel Xeon Gold 6230R</a:t>
                      </a:r>
                      <a:r>
                        <a:rPr lang="en-US" sz="1000" strike="noStrike" spc="-1" baseline="0" dirty="0">
                          <a:latin typeface="+mn-lt"/>
                        </a:rPr>
                        <a:t> </a:t>
                      </a:r>
                      <a:r>
                        <a:rPr lang="en-US" sz="1000" strike="noStrike" spc="-1" dirty="0">
                          <a:latin typeface="+mn-lt"/>
                        </a:rPr>
                        <a:t>26-Core 2.1GHz(Cascade lake)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trike="noStrike" spc="-1" dirty="0">
                          <a:latin typeface="+mn-lt"/>
                        </a:rPr>
                        <a:t>(Q1’20)</a:t>
                      </a:r>
                      <a:endParaRPr lang="en-US" sz="1000" b="0" strike="noStrike" spc="-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3280" marR="532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trike="noStrike" spc="-1" dirty="0">
                          <a:latin typeface="+mn-lt"/>
                        </a:rPr>
                        <a:t>CPU nodes</a:t>
                      </a:r>
                      <a:endParaRPr lang="en-US" sz="1000" b="0" strike="noStrike" spc="-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3280" marR="532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trike="noStrike" spc="-1" dirty="0">
                          <a:latin typeface="+mn-lt"/>
                        </a:rPr>
                        <a:t>384 GB</a:t>
                      </a:r>
                      <a:endParaRPr lang="en-US" sz="1000" b="0" strike="noStrike" spc="-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3280" marR="532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strike="noStrike" spc="-1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700 TB home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strike="noStrike" spc="-1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NFSv4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4277690"/>
                  </a:ext>
                </a:extLst>
              </a:tr>
              <a:tr h="5340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trike="noStrike" spc="-1" dirty="0">
                          <a:latin typeface="+mn-lt"/>
                        </a:rPr>
                        <a:t>4x NVidia V100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trike="noStrike" spc="-1" dirty="0">
                          <a:latin typeface="+mn-lt"/>
                        </a:rPr>
                        <a:t>2x NVidia V100</a:t>
                      </a:r>
                    </a:p>
                  </a:txBody>
                  <a:tcPr marL="53280" marR="532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trike="noStrike" spc="-1" dirty="0">
                          <a:latin typeface="+mn-lt"/>
                        </a:rPr>
                        <a:t>GPU nodes</a:t>
                      </a:r>
                      <a:endParaRPr lang="en-US" sz="1000" b="0" strike="noStrike" spc="-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trike="noStrike" spc="-1" dirty="0">
                          <a:latin typeface="+mn-lt"/>
                        </a:rPr>
                        <a:t>640 GB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trike="noStrike" spc="-1" dirty="0">
                          <a:latin typeface="+mn-lt"/>
                        </a:rPr>
                        <a:t>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trike="noStrike" spc="-1" dirty="0">
                          <a:latin typeface="+mn-lt"/>
                        </a:rPr>
                        <a:t> 128 GB (GPU)</a:t>
                      </a:r>
                      <a:endParaRPr lang="en-US" sz="1000" b="0" strike="noStrike" spc="-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strike="noStrike" spc="-1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947 TB scratch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strike="noStrike" spc="-1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Parallel file system (</a:t>
                      </a:r>
                      <a:r>
                        <a:rPr lang="en-US" sz="1000" b="0" strike="noStrike" spc="-1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Lustre</a:t>
                      </a:r>
                      <a:r>
                        <a:rPr lang="en-US" sz="1000" b="0" strike="noStrike" spc="-1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353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6924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1">
            <a:extLst>
              <a:ext uri="{FF2B5EF4-FFF2-40B4-BE49-F238E27FC236}">
                <a16:creationId xmlns:a16="http://schemas.microsoft.com/office/drawing/2014/main" id="{6B6CCD37-8578-C643-BDBF-3D3F825CB5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229025"/>
              </p:ext>
            </p:extLst>
          </p:nvPr>
        </p:nvGraphicFramePr>
        <p:xfrm>
          <a:off x="170371" y="882659"/>
          <a:ext cx="11829964" cy="5701683"/>
        </p:xfrm>
        <a:graphic>
          <a:graphicData uri="http://schemas.openxmlformats.org/drawingml/2006/table">
            <a:tbl>
              <a:tblPr/>
              <a:tblGrid>
                <a:gridCol w="1202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3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755">
                  <a:extLst>
                    <a:ext uri="{9D8B030D-6E8A-4147-A177-3AD203B41FA5}">
                      <a16:colId xmlns:a16="http://schemas.microsoft.com/office/drawing/2014/main" val="34513090"/>
                    </a:ext>
                  </a:extLst>
                </a:gridCol>
                <a:gridCol w="4397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3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 </a:t>
                      </a:r>
                      <a:r>
                        <a:rPr lang="en-US" sz="1400" b="1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Platform/technology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Specifications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Comment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589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RDISC 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+mn-lt"/>
                        </a:rPr>
                        <a:t>Big Data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Platform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13 node cluster, to grow to 20 node by early 2023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. Typical specs each node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with 24 core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s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, 256 GB RAM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, and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48 TB 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of storage.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4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To used to run Big data frameworks e.g. HADOOP, Spark etc.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589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 marL="90000" marR="90000">
                    <a:lnT w="1224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+mn-lt"/>
                        </a:rPr>
                        <a:t>Private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cloud/VM infrastructure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400" b="1" spc="-1" dirty="0">
                          <a:latin typeface="+mn-lt"/>
                        </a:rPr>
                        <a:t>384 vCPUs, 3TB RAM, </a:t>
                      </a:r>
                      <a:r>
                        <a:rPr lang="en-GB" sz="1400" b="0" spc="-1" dirty="0">
                          <a:latin typeface="+mn-lt"/>
                        </a:rPr>
                        <a:t>to be doubled early  2023.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4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Provides, databases, access to data, container services,  specialist portals (e.g. Genome Imputation, Genomic Pipelines, </a:t>
                      </a:r>
                      <a:r>
                        <a:rPr lang="en-US" sz="1400" b="1" strike="noStrike" kern="1200" spc="-1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REDCap</a:t>
                      </a:r>
                      <a:r>
                        <a:rPr lang="en-US" sz="1400" b="1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node)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589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200" b="0" strike="noStrike" spc="-1" dirty="0">
                        <a:latin typeface="Arial"/>
                      </a:endParaRPr>
                    </a:p>
                  </a:txBody>
                  <a:tcPr marL="6840" marR="684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0CFCD"/>
                      </a:solidFill>
                    </a:lnR>
                    <a:lnT w="12240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+mn-lt"/>
                        </a:rPr>
                        <a:t>Large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Scale Storage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200 TB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initial capacity, will grow to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1 PB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according to demand  or by end of 2023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,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usable enterprise level storage. To grow by 450TB by end of 2022.</a:t>
                      </a:r>
                      <a:endParaRPr lang="en-US" sz="1400" b="1" strike="noStrike" spc="-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4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Used for storage of high value data and operational </a:t>
                      </a:r>
                      <a:r>
                        <a:rPr lang="en-US" sz="1400" b="0" strike="noStrike" kern="1200" spc="-1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1400" b="0" strike="noStrike" kern="1200" spc="-1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959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latin typeface="+mn-lt"/>
                        </a:rPr>
                        <a:t>Teaching </a:t>
                      </a:r>
                      <a:r>
                        <a:rPr lang="en-US" sz="1400" b="0" strike="noStrike" spc="-1" dirty="0">
                          <a:latin typeface="+mn-lt"/>
                        </a:rPr>
                        <a:t>and Research Lab and Visualization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latin typeface="+mn-lt"/>
                        </a:rPr>
                        <a:t> </a:t>
                      </a:r>
                      <a:r>
                        <a:rPr lang="en-US" sz="1400" b="1" strike="noStrike" spc="-1" dirty="0">
                          <a:latin typeface="+mn-lt"/>
                        </a:rPr>
                        <a:t>25 high-end workstations</a:t>
                      </a:r>
                      <a:r>
                        <a:rPr lang="en-US" sz="1400" b="0" strike="noStrike" spc="-1" dirty="0">
                          <a:latin typeface="+mn-lt"/>
                        </a:rPr>
                        <a:t>, 16 cores and 98 GB RAM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latin typeface="+mn-lt"/>
                        </a:rPr>
                        <a:t>To used used for training, research and accessing sensitive data, i.e. “secure classroom”. 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263018"/>
                  </a:ext>
                </a:extLst>
              </a:tr>
              <a:tr h="725589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KU HPC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strike="noStrike" spc="-1" dirty="0" err="1">
                          <a:solidFill>
                            <a:srgbClr val="000000"/>
                          </a:solidFill>
                          <a:latin typeface="+mn-lt"/>
                        </a:rPr>
                        <a:t>AlMesbar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+mn-lt"/>
                        </a:rPr>
                        <a:t>CPU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Compute Nodes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88 CPU nodes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, each node has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52 cores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and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320 GB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RAM.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Total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of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4,732 cores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of Intel Cascade Lake 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Designed to be expandable up to ~200 nodes, and planning to expand by 40% by end of 2022, with a further 40% expansion in early 2023 to account for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RIC-2D,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and other computational needs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37219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 marL="90000" marR="90000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+mn-lt"/>
                        </a:rPr>
                        <a:t>GPU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 Accelerated Nodes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3 nodes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, each with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52 cores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,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640 GB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RAM and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four Tesla V100 Nvidia GPU cards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.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Total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of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364 CPU cores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of Intel Cascade Lake and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12 Tesla V100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GPUs.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To used to accelerate AI and Machine Learning research. An additional 4 nodes, with a total of 8 GPU cards, to be available by end of 2022.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25589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latin typeface="+mn-lt"/>
                        </a:rPr>
                        <a:t>Parallel </a:t>
                      </a:r>
                      <a:r>
                        <a:rPr lang="en-US" sz="1400" b="0" strike="noStrike" spc="-1" dirty="0">
                          <a:latin typeface="+mn-lt"/>
                        </a:rPr>
                        <a:t>filesystem and NAS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latin typeface="+mn-lt"/>
                        </a:rPr>
                        <a:t>1 PB</a:t>
                      </a:r>
                      <a:r>
                        <a:rPr lang="en-US" sz="1400" b="0" strike="noStrike" spc="-1" dirty="0">
                          <a:latin typeface="+mn-lt"/>
                        </a:rPr>
                        <a:t> of high performance parallel filesystem, </a:t>
                      </a:r>
                      <a:r>
                        <a:rPr lang="en-US" sz="1400" b="1" strike="noStrike" spc="-1" dirty="0" err="1">
                          <a:latin typeface="+mn-lt"/>
                        </a:rPr>
                        <a:t>Lustre</a:t>
                      </a:r>
                      <a:r>
                        <a:rPr lang="en-US" sz="1400" b="0" strike="noStrike" spc="-1" dirty="0">
                          <a:latin typeface="+mn-lt"/>
                        </a:rPr>
                        <a:t>. Additional </a:t>
                      </a:r>
                      <a:r>
                        <a:rPr lang="en-US" sz="1400" b="1" strike="noStrike" spc="-1" dirty="0">
                          <a:latin typeface="+mn-lt"/>
                        </a:rPr>
                        <a:t>700TB</a:t>
                      </a:r>
                      <a:r>
                        <a:rPr lang="en-US" sz="1400" b="0" strike="noStrike" spc="-1" dirty="0">
                          <a:latin typeface="+mn-lt"/>
                        </a:rPr>
                        <a:t> of networked attached storage.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latin typeface="+mn-lt"/>
                        </a:rPr>
                        <a:t>Parallel Filesystem used to accelerate large scale applications and NAS storage used to store high value files, e.g. source code, initial data etc..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78133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Summary of RC Hardware and KU HPC</a:t>
            </a:r>
          </a:p>
        </p:txBody>
      </p:sp>
    </p:spTree>
    <p:extLst>
      <p:ext uri="{BB962C8B-B14F-4D97-AF65-F5344CB8AC3E}">
        <p14:creationId xmlns:p14="http://schemas.microsoft.com/office/powerpoint/2010/main" val="1629991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8250</TotalTime>
  <Words>9827</Words>
  <Application>Microsoft Office PowerPoint</Application>
  <PresentationFormat>Widescreen</PresentationFormat>
  <Paragraphs>2017</Paragraphs>
  <Slides>56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7" baseType="lpstr">
      <vt:lpstr>Arial</vt:lpstr>
      <vt:lpstr>Calibri</vt:lpstr>
      <vt:lpstr>Calibri  </vt:lpstr>
      <vt:lpstr>Calibri Light</vt:lpstr>
      <vt:lpstr>Candara</vt:lpstr>
      <vt:lpstr>DejaVu Sans</vt:lpstr>
      <vt:lpstr>Gill Sans Light</vt:lpstr>
      <vt:lpstr>Times New Roman</vt:lpstr>
      <vt:lpstr>Wingdings</vt:lpstr>
      <vt:lpstr>ヒラギノ角ゴ ProN W3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KU R&amp;D Strategy – Map of 2017 Focus Areas</vt:lpstr>
      <vt:lpstr>KU R&amp;D Strategy – Map of 2017 Focus Areas and Operational Structure</vt:lpstr>
      <vt:lpstr>PowerPoint Presentation</vt:lpstr>
      <vt:lpstr>PowerPoint Presentation</vt:lpstr>
      <vt:lpstr>PowerPoint Presentation</vt:lpstr>
      <vt:lpstr>PowerPoint Presentation</vt:lpstr>
      <vt:lpstr>KU R&amp;D Strategy – Map of Proposed Focus Areas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ADEC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Hesham Wagih Gomma</dc:creator>
  <cp:lastModifiedBy>Blake Andrew Ashwell</cp:lastModifiedBy>
  <cp:revision>1351</cp:revision>
  <cp:lastPrinted>2019-10-14T07:26:41Z</cp:lastPrinted>
  <dcterms:created xsi:type="dcterms:W3CDTF">2017-02-19T10:03:51Z</dcterms:created>
  <dcterms:modified xsi:type="dcterms:W3CDTF">2022-08-08T05:49:08Z</dcterms:modified>
</cp:coreProperties>
</file>