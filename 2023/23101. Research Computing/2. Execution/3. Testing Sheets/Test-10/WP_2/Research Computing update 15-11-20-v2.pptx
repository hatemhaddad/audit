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261" r:id="rId3"/>
    <p:sldId id="291" r:id="rId4"/>
    <p:sldId id="299" r:id="rId5"/>
    <p:sldId id="292" r:id="rId6"/>
    <p:sldId id="283" r:id="rId7"/>
    <p:sldId id="284" r:id="rId8"/>
    <p:sldId id="297" r:id="rId9"/>
    <p:sldId id="298" r:id="rId10"/>
    <p:sldId id="289" r:id="rId11"/>
    <p:sldId id="286" r:id="rId12"/>
    <p:sldId id="287" r:id="rId13"/>
    <p:sldId id="293" r:id="rId14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047BA"/>
    <a:srgbClr val="FF014A"/>
    <a:srgbClr val="FFFFFF"/>
    <a:srgbClr val="D0CF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E8B1032C-EA38-4F05-BA0D-38AFFFC7BED3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90" autoAdjust="0"/>
    <p:restoredTop sz="86211" autoAdjust="0"/>
  </p:normalViewPr>
  <p:slideViewPr>
    <p:cSldViewPr snapToGrid="0" showGuides="1">
      <p:cViewPr varScale="1">
        <p:scale>
          <a:sx n="130" d="100"/>
          <a:sy n="130" d="100"/>
        </p:scale>
        <p:origin x="1944" y="18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delmoghraby/midriveapp/research%20documents/Clusters_Statistics/Queues_distributio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2016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MI!$D$2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EC5C-DA4F-9F1D-8A9447855207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EC5C-DA4F-9F1D-8A9447855207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EC5C-DA4F-9F1D-8A9447855207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EC5C-DA4F-9F1D-8A9447855207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EC5C-DA4F-9F1D-8A9447855207}"/>
                </c:ext>
              </c:extLst>
            </c:dLbl>
            <c:dLbl>
              <c:idx val="4"/>
              <c:layout>
                <c:manualLayout>
                  <c:x val="1.1738810541143761E-2"/>
                  <c:y val="-1.6443985892700186E-2"/>
                </c:manualLayout>
              </c:layout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bestFit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EC5C-DA4F-9F1D-8A9447855207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MI!$D$3:$D$7</c:f>
              <c:numCache>
                <c:formatCode>General</c:formatCode>
                <c:ptCount val="5"/>
                <c:pt idx="0">
                  <c:v>1560</c:v>
                </c:pt>
                <c:pt idx="1">
                  <c:v>168</c:v>
                </c:pt>
                <c:pt idx="2">
                  <c:v>96</c:v>
                </c:pt>
                <c:pt idx="3">
                  <c:v>96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5C-DA4F-9F1D-8A9447855207}"/>
            </c:ext>
          </c:extLst>
        </c:ser>
        <c:ser>
          <c:idx val="1"/>
          <c:order val="1"/>
          <c:tx>
            <c:strRef>
              <c:f>MI!$I$2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EC5C-DA4F-9F1D-8A94478552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EC5C-DA4F-9F1D-8A944785520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EC5C-DA4F-9F1D-8A944785520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2-EC5C-DA4F-9F1D-8A944785520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4-EC5C-DA4F-9F1D-8A9447855207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EC5C-DA4F-9F1D-8A9447855207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EC5C-DA4F-9F1D-8A9447855207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EC5C-DA4F-9F1D-8A9447855207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EC5C-DA4F-9F1D-8A9447855207}"/>
                </c:ext>
              </c:extLst>
            </c:dLbl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5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EC5C-DA4F-9F1D-8A9447855207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MI!$A$3:$A$7</c:f>
              <c:strCache>
                <c:ptCount val="5"/>
                <c:pt idx="0">
                  <c:v>general</c:v>
                </c:pt>
                <c:pt idx="1">
                  <c:v>long</c:v>
                </c:pt>
                <c:pt idx="2">
                  <c:v>gpu</c:v>
                </c:pt>
                <c:pt idx="3">
                  <c:v>high</c:v>
                </c:pt>
                <c:pt idx="4">
                  <c:v>training</c:v>
                </c:pt>
              </c:strCache>
            </c:strRef>
          </c:cat>
          <c:val>
            <c:numRef>
              <c:f>MI!$I$3:$I$7</c:f>
              <c:numCache>
                <c:formatCode>General</c:formatCode>
                <c:ptCount val="5"/>
                <c:pt idx="0">
                  <c:v>0.77380952380952384</c:v>
                </c:pt>
                <c:pt idx="1">
                  <c:v>8.3333333333333329E-2</c:v>
                </c:pt>
                <c:pt idx="2">
                  <c:v>4.7619047619047616E-2</c:v>
                </c:pt>
                <c:pt idx="3">
                  <c:v>4.7619047619047616E-2</c:v>
                </c:pt>
                <c:pt idx="4">
                  <c:v>4.7619047619047616E-2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EC5C-DA4F-9F1D-8A944785520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all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Percentage of Cores per queue</a:t>
            </a:r>
          </a:p>
          <a:p>
            <a:pPr>
              <a:defRPr/>
            </a:pPr>
            <a:r>
              <a:rPr lang="en-US"/>
              <a:t>total number of cores = 1100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SAN!$D$2</c:f>
              <c:strCache>
                <c:ptCount val="1"/>
                <c:pt idx="0">
                  <c:v>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374-5A4B-8311-55090FFE2166}"/>
              </c:ext>
            </c:extLst>
          </c:dPt>
          <c:dLbls>
            <c:dLbl>
              <c:idx val="0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4374-5A4B-8311-55090FFE2166}"/>
                </c:ext>
              </c:extLst>
            </c:dLbl>
            <c:dLbl>
              <c:idx val="1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4374-5A4B-8311-55090FFE2166}"/>
                </c:ext>
              </c:extLst>
            </c:dLbl>
            <c:dLbl>
              <c:idx val="2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5-4374-5A4B-8311-55090FFE2166}"/>
                </c:ext>
              </c:extLst>
            </c:dLbl>
            <c:dLbl>
              <c:idx val="3"/>
              <c:spPr>
                <a:solidFill>
                  <a:sysClr val="window" lastClr="FFFFFF"/>
                </a:solidFill>
                <a:ln>
                  <a:solidFill>
                    <a:srgbClr val="5B9BD5"/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1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7-4374-5A4B-8311-55090FFE2166}"/>
                </c:ext>
              </c:extLst>
            </c:dLbl>
            <c:spPr>
              <a:solidFill>
                <a:sysClr val="window" lastClr="FFFFFF"/>
              </a:solidFill>
              <a:ln>
                <a:solidFill>
                  <a:srgbClr val="5B9BD5"/>
                </a:solidFill>
              </a:ln>
              <a:effectLst/>
            </c:spPr>
            <c:dLblPos val="outEnd"/>
            <c:showLegendKey val="0"/>
            <c:showVal val="1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SAN!$D$3:$D$6</c:f>
              <c:numCache>
                <c:formatCode>General</c:formatCode>
                <c:ptCount val="4"/>
                <c:pt idx="0">
                  <c:v>72</c:v>
                </c:pt>
                <c:pt idx="1">
                  <c:v>276</c:v>
                </c:pt>
                <c:pt idx="2">
                  <c:v>656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374-5A4B-8311-55090FFE2166}"/>
            </c:ext>
          </c:extLst>
        </c:ser>
        <c:ser>
          <c:idx val="1"/>
          <c:order val="1"/>
          <c:tx>
            <c:strRef>
              <c:f>SAN!$I$2</c:f>
              <c:strCache>
                <c:ptCount val="1"/>
                <c:pt idx="0">
                  <c:v>Perc Cores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A-4374-5A4B-8311-55090FFE216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C-4374-5A4B-8311-55090FFE216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E-4374-5A4B-8311-55090FFE216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10-4374-5A4B-8311-55090FFE2166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4374-5A4B-8311-55090FFE2166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4374-5A4B-8311-55090FFE2166}"/>
                </c:ext>
              </c:extLst>
            </c:dLbl>
            <c:dLbl>
              <c:idx val="2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3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E-4374-5A4B-8311-55090FFE2166}"/>
                </c:ext>
              </c:extLst>
            </c:dLbl>
            <c:dLbl>
              <c:idx val="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000" b="1" i="0" u="none" strike="noStrike" kern="1200" spc="0" baseline="0">
                      <a:solidFill>
                        <a:schemeClr val="accent4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AE"/>
                </a:p>
              </c:txPr>
              <c:dLblPos val="outEnd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4374-5A4B-8311-55090FFE2166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SAN!$A$3:$A$6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QGPU</c:v>
                </c:pt>
              </c:strCache>
            </c:strRef>
          </c:cat>
          <c:val>
            <c:numRef>
              <c:f>SAN!$I$3:$I$6</c:f>
              <c:numCache>
                <c:formatCode>General</c:formatCode>
                <c:ptCount val="4"/>
                <c:pt idx="0">
                  <c:v>6.545454545454546E-2</c:v>
                </c:pt>
                <c:pt idx="1">
                  <c:v>0.25090909090909091</c:v>
                </c:pt>
                <c:pt idx="2">
                  <c:v>0.59636363636363632</c:v>
                </c:pt>
                <c:pt idx="3">
                  <c:v>8.727272727272728E-2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4374-5A4B-8311-55090FFE2166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cs:styleClr val="auto"/>
    </cs:fontRef>
    <cs:defRPr sz="1000" b="1" i="0" u="none" strike="noStrike" kern="1200" spc="0" baseline="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635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10000"/>
          </a:prstClr>
        </a:outerShdw>
      </a:effectLst>
      <a:scene3d>
        <a:camera prst="orthographicFront"/>
        <a:lightRig rig="threePt" dir="t"/>
      </a:scene3d>
      <a:sp3d>
        <a:bevelT w="127000" h="127000"/>
        <a:bevelB w="127000" h="127000"/>
      </a:sp3d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B66FD6-D2A9-4F00-B491-A99A8AA44ED0}" type="datetimeFigureOut">
              <a:rPr lang="en-US" smtClean="0"/>
              <a:t>11/22/20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5F57D8-2956-440C-8FE5-2823967F9E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29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729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653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828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2173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1530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694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5F57D8-2956-440C-8FE5-2823967F9ED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404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663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Neg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chemeClr val="bg2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B5B0621-5201-4B3C-B3F3-03D9DDA06A71}"/>
              </a:ext>
            </a:extLst>
          </p:cNvPr>
          <p:cNvCxnSpPr/>
          <p:nvPr userDrawn="1"/>
        </p:nvCxnSpPr>
        <p:spPr>
          <a:xfrm>
            <a:off x="4210050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7211BEC-8A05-5048-8010-DA55CE4672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9" y="654528"/>
            <a:ext cx="2876309" cy="77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78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Photo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B21E90-80D8-4070-8157-51F5D9E9BA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96ED11D-86B6-41D9-804F-B21E465E6E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2676525"/>
            <a:ext cx="7429500" cy="1714500"/>
          </a:xfrm>
        </p:spPr>
        <p:txBody>
          <a:bodyPr anchor="b"/>
          <a:lstStyle>
            <a:lvl1pPr algn="ctr">
              <a:defRPr sz="4875" spc="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4DCADE-2A34-4B9D-9987-0330895D7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4429126"/>
            <a:ext cx="7429500" cy="1247775"/>
          </a:xfrm>
        </p:spPr>
        <p:txBody>
          <a:bodyPr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3088">
                <a:solidFill>
                  <a:srgbClr val="FFFFFF"/>
                </a:solidFill>
              </a:defRPr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5D87C84-1993-43C1-A570-C771C220FB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18235" y="6162675"/>
            <a:ext cx="3877270" cy="314325"/>
          </a:xfrm>
        </p:spPr>
        <p:txBody>
          <a:bodyPr>
            <a:normAutofit/>
          </a:bodyPr>
          <a:lstStyle>
            <a:lvl1pPr marL="0" indent="0" algn="ctr">
              <a:buNone/>
              <a:defRPr sz="1097" cap="all" baseline="0">
                <a:solidFill>
                  <a:srgbClr val="FFFFFF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14C8DC6-096E-714D-AF28-5869725897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918" y="654528"/>
            <a:ext cx="2876309" cy="774496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EF1488-91C4-7449-841C-78AF4CE5EB83}"/>
              </a:ext>
            </a:extLst>
          </p:cNvPr>
          <p:cNvCxnSpPr/>
          <p:nvPr userDrawn="1"/>
        </p:nvCxnSpPr>
        <p:spPr>
          <a:xfrm>
            <a:off x="1437342" y="2752725"/>
            <a:ext cx="1470422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58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974" y="542926"/>
            <a:ext cx="8463393" cy="8150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0974" y="1502876"/>
            <a:ext cx="8520709" cy="481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2791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Portra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07174" y="669956"/>
            <a:ext cx="4217788" cy="564468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/>
              <a:t>Heading 1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C1F0F3F-166A-422E-B49B-E35296BCC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669956"/>
            <a:ext cx="3590925" cy="5644689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85506D-9F69-4855-B473-3BFDAF44ED69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9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1868400"/>
            <a:ext cx="3802500" cy="444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8462DF-95A9-4839-9F28-1A83BCE28186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DB1926-9526-4026-8069-F153FB78BD8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93EDA0-B8B5-41ED-80CE-BFDA6DF8FC4B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45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BB98-3A1E-4BA6-A18A-C711FCA9C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5B3EF-8293-4FA5-B31C-91F5BA7D4E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5650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F6ED27-71A5-4DAD-A199-5EA0A05E7D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17344" y="2352675"/>
            <a:ext cx="3802500" cy="3965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C24C3-5F25-4ACD-A2D4-0198F4B9F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1D6D0-37D4-42A5-B774-5A583D840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79724-736B-42D4-9FC2-BBF87F438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E4673FD0-9E13-4C1A-B859-688309735A0D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05650" y="1868400"/>
            <a:ext cx="3802500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81F1501-AF73-4AAC-9FF0-0767311D3E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417344" y="1868400"/>
            <a:ext cx="3808909" cy="379501"/>
          </a:xfrm>
        </p:spPr>
        <p:txBody>
          <a:bodyPr anchor="b">
            <a:normAutofit/>
          </a:bodyPr>
          <a:lstStyle>
            <a:lvl1pPr marL="0" indent="0">
              <a:buNone/>
              <a:defRPr sz="1625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DE178B-FD49-4EE2-9A05-5F6BE0A0483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8D110D8-F82F-4692-8B00-F633DEF1AC1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132C51C-6D36-4A71-A1DB-6C92A35CA313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271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F29153F9-78D4-4D70-B44A-4B9B91D91CB2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7173" y="771526"/>
            <a:ext cx="4581525" cy="553402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chart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>
            <a:lvl1pPr marL="0" indent="0">
              <a:buNone/>
              <a:defRPr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542926"/>
            <a:ext cx="3397449" cy="11144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B3A0E-D963-4BA4-863C-413B32E51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6686" y="1866901"/>
            <a:ext cx="3397449" cy="4448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46E416A-BFDB-410E-9AC9-671259E5DA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07173" y="771526"/>
            <a:ext cx="4581525" cy="553402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296D0-EF25-4659-9A29-DE874EE0BD57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72D0369-8EEE-446D-A24C-9E71B185674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DF66C09-963E-47DD-8166-11F0934BF635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0598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299" y="542926"/>
            <a:ext cx="8567141" cy="11144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4188493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C5EF6-6786-4ED3-B643-2BCA247B6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6686" y="1114425"/>
            <a:ext cx="5154216" cy="1438275"/>
          </a:xfrm>
        </p:spPr>
        <p:txBody>
          <a:bodyPr anchor="t" anchorCtr="0"/>
          <a:lstStyle>
            <a:lvl1pPr algn="l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6537-CD92-4621-BEAC-209C2F467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02E95-BAFB-4FA5-935D-F153DAC81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AE8E8-275F-4879-A380-FC69F4F9B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70C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4C6A6-466D-458F-9462-128882D6EF6C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 dirty="0">
                <a:solidFill>
                  <a:srgbClr val="000000"/>
                </a:solidFill>
              </a:rPr>
              <a:t>ku.ac.ae</a:t>
            </a:r>
            <a:endParaRPr lang="en-US" sz="691" dirty="0">
              <a:solidFill>
                <a:srgbClr val="00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90FDB3-7706-4B32-BD35-532B4AC7ECDA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930B2A2-81DA-4F3D-9D9E-46E4F7B9385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3883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F16E22AE-DDB9-4C04-8CBA-FF04F1AFB38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5041" y="2752725"/>
            <a:ext cx="3018234" cy="356235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55F3CFBF-C13C-4A9F-BDDF-0E18286F15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62725" y="762001"/>
            <a:ext cx="3018234" cy="5553075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606654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8844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25EDB-8165-4C09-A93D-01F9B0F72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49EA8E-5754-4FAF-B3D4-63EA441FB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6CD72-BAC2-4994-B821-40432481E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93CFAF-562D-445B-846A-E8F71A026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98C825-F06D-4987-81B8-02D493880414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tx2"/>
                </a:solidFill>
              </a:rPr>
              <a:t>ku.ac.ae</a:t>
            </a:r>
            <a:endParaRPr lang="en-US" sz="691">
              <a:solidFill>
                <a:schemeClr val="tx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464E6B-FB97-4EC4-BBD3-24FE3C8D13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6" cy="185303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A8822A8-864B-49B0-9C0B-A862217EF3B8}"/>
              </a:ext>
            </a:extLst>
          </p:cNvPr>
          <p:cNvCxnSpPr/>
          <p:nvPr userDrawn="1"/>
        </p:nvCxnSpPr>
        <p:spPr>
          <a:xfrm>
            <a:off x="311728" y="533400"/>
            <a:ext cx="9315666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8852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94EFBB-C8CA-4201-A903-805856BE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1DCEB-2462-4151-B7CC-F3EC0D3A5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57B99-432B-45A8-9216-9BC01B297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3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D0CFC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2049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4C747-8640-4D13-A1FA-90CDB4EBB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8" y="4000500"/>
            <a:ext cx="8543925" cy="1584326"/>
          </a:xfrm>
        </p:spPr>
        <p:txBody>
          <a:bodyPr>
            <a:normAutofit/>
          </a:bodyPr>
          <a:lstStyle>
            <a:lvl1pPr marL="0" indent="0" algn="ctr">
              <a:buNone/>
              <a:defRPr sz="3088">
                <a:solidFill>
                  <a:srgbClr val="000000"/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6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Picture Background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49F49-C197-4276-BA18-25EE44687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8" y="1052514"/>
            <a:ext cx="8543925" cy="2852737"/>
          </a:xfrm>
        </p:spPr>
        <p:txBody>
          <a:bodyPr anchor="b"/>
          <a:lstStyle>
            <a:lvl1pPr algn="ctr">
              <a:lnSpc>
                <a:spcPct val="100000"/>
              </a:lnSpc>
              <a:defRPr sz="4875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D51-CC51-458D-B7F8-BB8DC09C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397C4-D37A-45E1-B1B8-7100D475B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3DD6E-BA6A-445E-B542-43DE3AEB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65424D6-2475-46D6-A699-3A7CA5F8B1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5327D-BC3D-4548-B6FC-FF18B53D278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chemeClr val="bg2"/>
                </a:solidFill>
              </a:rPr>
              <a:t>ku.ac.ae</a:t>
            </a:r>
            <a:endParaRPr lang="en-US" sz="691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82986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rgbClr val="0047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EA79536-344B-4703-95C3-7F5AD0BFB38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5917" y="891158"/>
            <a:ext cx="1924556" cy="5182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FAD5768-C7B0-4ABF-BE83-522BCD1F6FE5}"/>
              </a:ext>
            </a:extLst>
          </p:cNvPr>
          <p:cNvSpPr txBox="1"/>
          <p:nvPr userDrawn="1"/>
        </p:nvSpPr>
        <p:spPr>
          <a:xfrm>
            <a:off x="611386" y="2711687"/>
            <a:ext cx="8652272" cy="143795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9344" b="1" spc="-81" baseline="0" noProof="0" dirty="0">
                <a:solidFill>
                  <a:srgbClr val="FFFFFF"/>
                </a:solidFill>
                <a:latin typeface="+mj-lt"/>
              </a:rPr>
              <a:t>Thank You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4333D0-73BA-48D2-AA6E-3F2C63C9CA8F}"/>
              </a:ext>
            </a:extLst>
          </p:cNvPr>
          <p:cNvSpPr txBox="1"/>
          <p:nvPr userDrawn="1"/>
        </p:nvSpPr>
        <p:spPr>
          <a:xfrm>
            <a:off x="4210051" y="6146801"/>
            <a:ext cx="1493638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en-US" sz="1016" b="1" noProof="0" dirty="0">
                <a:solidFill>
                  <a:srgbClr val="FFFFFF"/>
                </a:solidFill>
              </a:rPr>
              <a:t>ku.ac.ae</a:t>
            </a:r>
          </a:p>
        </p:txBody>
      </p:sp>
    </p:spTree>
    <p:extLst>
      <p:ext uri="{BB962C8B-B14F-4D97-AF65-F5344CB8AC3E}">
        <p14:creationId xmlns:p14="http://schemas.microsoft.com/office/powerpoint/2010/main" val="2419569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7564FE-F745-443F-8321-B0EFD169F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96" y="542925"/>
            <a:ext cx="8286851" cy="824148"/>
          </a:xfrm>
          <a:prstGeom prst="rect">
            <a:avLst/>
          </a:prstGeom>
        </p:spPr>
        <p:txBody>
          <a:bodyPr vert="horz" lIns="0" tIns="0" rIns="0" bIns="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11581-2B37-40B3-825A-043921DFB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2873" y="1530037"/>
            <a:ext cx="8321486" cy="483936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172D0-FD25-45C4-A82E-F4094DCDE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570464" y="203201"/>
            <a:ext cx="1408509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8871-7BC3-4A13-9CC9-B9A1DB22F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29458" y="203201"/>
            <a:ext cx="3343275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17DA-0D3F-410F-A9AA-3171ED1513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95222" y="203201"/>
            <a:ext cx="425648" cy="24447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691">
                <a:solidFill>
                  <a:srgbClr val="000000"/>
                </a:solidFill>
              </a:defRPr>
            </a:lvl1pPr>
          </a:lstStyle>
          <a:p>
            <a:fld id="{1E68DD1B-5CD8-424B-8173-19E182143E0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18493A-1FC9-483C-BC41-405831F9D965}"/>
              </a:ext>
            </a:extLst>
          </p:cNvPr>
          <p:cNvSpPr txBox="1"/>
          <p:nvPr userDrawn="1"/>
        </p:nvSpPr>
        <p:spPr>
          <a:xfrm>
            <a:off x="8458795" y="203201"/>
            <a:ext cx="781645" cy="24447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r>
              <a:rPr lang="fi-FI" sz="691">
                <a:solidFill>
                  <a:srgbClr val="000000"/>
                </a:solidFill>
              </a:rPr>
              <a:t>ku.ac.ae</a:t>
            </a:r>
            <a:endParaRPr lang="en-US" sz="691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F31A79-8F5C-4459-9F47-4F4A56020D63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duotone>
              <a:prstClr val="black"/>
              <a:srgbClr val="0047BA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28" y="236125"/>
            <a:ext cx="1472127" cy="185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56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9" r:id="rId2"/>
    <p:sldLayoutId id="2147483668" r:id="rId3"/>
    <p:sldLayoutId id="2147483650" r:id="rId4"/>
    <p:sldLayoutId id="2147483662" r:id="rId5"/>
    <p:sldLayoutId id="2147483652" r:id="rId6"/>
    <p:sldLayoutId id="2147483661" r:id="rId7"/>
    <p:sldLayoutId id="2147483663" r:id="rId8"/>
    <p:sldLayoutId id="2147483660" r:id="rId9"/>
    <p:sldLayoutId id="2147483664" r:id="rId10"/>
    <p:sldLayoutId id="2147483665" r:id="rId11"/>
    <p:sldLayoutId id="2147483654" r:id="rId12"/>
    <p:sldLayoutId id="2147483671" r:id="rId13"/>
    <p:sldLayoutId id="2147483655" r:id="rId14"/>
    <p:sldLayoutId id="2147483651" r:id="rId15"/>
    <p:sldLayoutId id="2147483666" r:id="rId16"/>
    <p:sldLayoutId id="2147483667" r:id="rId17"/>
  </p:sldLayoutIdLst>
  <p:hf hdr="0"/>
  <p:txStyles>
    <p:titleStyle>
      <a:lvl1pPr algn="l" defTabSz="742950" rtl="0" eaLnBrk="1" latinLnBrk="0" hangingPunct="1">
        <a:lnSpc>
          <a:spcPct val="100000"/>
        </a:lnSpc>
        <a:spcBef>
          <a:spcPct val="0"/>
        </a:spcBef>
        <a:buNone/>
        <a:defRPr sz="2925" b="1" kern="1200" spc="41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4704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41127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503" kern="1200">
          <a:solidFill>
            <a:schemeClr val="tx1"/>
          </a:solidFill>
          <a:latin typeface="+mn-lt"/>
          <a:ea typeface="+mn-ea"/>
          <a:cs typeface="+mn-cs"/>
        </a:defRPr>
      </a:lvl2pPr>
      <a:lvl3pPr marL="580430" indent="-139303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727472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874514" indent="-147042" algn="l" defTabSz="742950" rtl="0" eaLnBrk="1" latinLnBrk="0" hangingPunct="1">
        <a:lnSpc>
          <a:spcPct val="10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up.com/ksquu2jki56nesnr6n" TargetMode="Externa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1.emf"/><Relationship Id="rId4" Type="http://schemas.openxmlformats.org/officeDocument/2006/relationships/package" Target="../embeddings/Microsoft_Excel_Worksheet.xlsx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43ABC-9A46-4327-BF74-FE0C643DC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9535" y="2271472"/>
            <a:ext cx="7240504" cy="1393031"/>
          </a:xfrm>
        </p:spPr>
        <p:txBody>
          <a:bodyPr>
            <a:normAutofit fontScale="90000"/>
          </a:bodyPr>
          <a:lstStyle/>
          <a:p>
            <a:pPr algn="l"/>
            <a:r>
              <a:rPr lang="en-US" noProof="0" dirty="0"/>
              <a:t>Research Computing Update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FC7021-FB77-4D35-AE1D-A857D1A422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535" y="3695460"/>
            <a:ext cx="7240504" cy="1013817"/>
          </a:xfrm>
        </p:spPr>
        <p:txBody>
          <a:bodyPr/>
          <a:lstStyle/>
          <a:p>
            <a:pPr algn="l"/>
            <a:r>
              <a:rPr lang="en-US" dirty="0"/>
              <a:t>October</a:t>
            </a:r>
            <a:r>
              <a:rPr lang="en-US" noProof="0" dirty="0"/>
              <a:t> 2020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6F05C-E8E5-40A0-96E2-70DA59031E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9535" y="5103968"/>
            <a:ext cx="5468259" cy="255389"/>
          </a:xfrm>
        </p:spPr>
        <p:txBody>
          <a:bodyPr/>
          <a:lstStyle/>
          <a:p>
            <a:pPr algn="l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98639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HPC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388577" cy="5104562"/>
          </a:xfrm>
        </p:spPr>
        <p:txBody>
          <a:bodyPr>
            <a:normAutofit/>
          </a:bodyPr>
          <a:lstStyle/>
          <a:p>
            <a:r>
              <a:rPr lang="en-US" sz="2400" dirty="0"/>
              <a:t>New HPC Procurement via ANKABUT</a:t>
            </a:r>
          </a:p>
          <a:p>
            <a:pPr lvl="1"/>
            <a:r>
              <a:rPr lang="en-US" sz="2400" dirty="0"/>
              <a:t>Technical evaluation completed, and in commercial stage.</a:t>
            </a:r>
          </a:p>
          <a:p>
            <a:pPr lvl="1"/>
            <a:r>
              <a:rPr lang="en-US" sz="2400" dirty="0"/>
              <a:t>Process progressing, with procurement re-floating the RPF.</a:t>
            </a:r>
          </a:p>
          <a:p>
            <a:pPr lvl="1"/>
            <a:r>
              <a:rPr lang="en-US" sz="2400" dirty="0"/>
              <a:t>Funds have been made available, and expect PO to be issued shortly.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252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E0E4-85DE-4F16-91DA-63A23F739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97" y="871952"/>
            <a:ext cx="3397449" cy="609876"/>
          </a:xfrm>
        </p:spPr>
        <p:txBody>
          <a:bodyPr>
            <a:normAutofit/>
          </a:bodyPr>
          <a:lstStyle/>
          <a:p>
            <a:r>
              <a:rPr lang="en-US" noProof="0" dirty="0"/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4C429-305C-4CC4-9AAC-45E533DB8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8297" y="1567544"/>
            <a:ext cx="8848604" cy="5104562"/>
          </a:xfrm>
        </p:spPr>
        <p:txBody>
          <a:bodyPr>
            <a:normAutofit lnSpcReduction="10000"/>
          </a:bodyPr>
          <a:lstStyle/>
          <a:p>
            <a:r>
              <a:rPr lang="en-US" sz="2400" b="0" dirty="0"/>
              <a:t>“Research Computing intro session”, “Introduction to Linux”, and “Introduction to HPC” courses are all well attended and well received. </a:t>
            </a:r>
          </a:p>
          <a:p>
            <a:pPr lvl="1"/>
            <a:r>
              <a:rPr lang="en-US" sz="2400" dirty="0"/>
              <a:t>Training calendar is available at </a:t>
            </a:r>
            <a:r>
              <a:rPr lang="en-US" sz="2400" dirty="0">
                <a:hlinkClick r:id="rId2"/>
              </a:rPr>
              <a:t>https://teamup.com/ksquu2jki56nesnr6n</a:t>
            </a:r>
            <a:endParaRPr lang="en-US" sz="2400" dirty="0"/>
          </a:p>
          <a:p>
            <a:r>
              <a:rPr lang="en-US" sz="2400" b="0" dirty="0"/>
              <a:t> Due to course being online, places are limited to 5 per session.</a:t>
            </a:r>
          </a:p>
          <a:p>
            <a:r>
              <a:rPr lang="en-US" sz="2400" b="0" dirty="0"/>
              <a:t>All three courses are delivered on a weekly basis.</a:t>
            </a:r>
          </a:p>
          <a:p>
            <a:r>
              <a:rPr lang="en-US" sz="2400" b="0" dirty="0"/>
              <a:t>Currently no courses regularly scheduled as demand has dropped.</a:t>
            </a:r>
          </a:p>
          <a:p>
            <a:pPr lvl="1"/>
            <a:r>
              <a:rPr lang="en-US" sz="2400" dirty="0"/>
              <a:t>“Research Computing intro session”, is mandatory for new accounts on HPC and is delivered when required.</a:t>
            </a:r>
            <a:endParaRPr lang="en-US" sz="2400" b="0" dirty="0"/>
          </a:p>
          <a:p>
            <a:r>
              <a:rPr lang="en-US" sz="2400" b="0" dirty="0"/>
              <a:t>Developed and delivered two specific Python based courses to a small group of students, as part of a larger AI course being delivered by faculty.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44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A9B73E80-FFAA-C141-892F-6D4D57917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46" y="709448"/>
            <a:ext cx="9783524" cy="5591017"/>
          </a:xfrm>
          <a:prstGeom prst="rect">
            <a:avLst/>
          </a:prstGeom>
          <a:noFill/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18707-6809-45DB-87A9-B541AB55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95222" y="203201"/>
            <a:ext cx="425648" cy="24447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E68DD1B-5CD8-424B-8173-19E182143E0A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89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AF31104-3D8A-0B44-9CC2-F61A30B4A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 Utilization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9D9926-E230-B042-AAAC-E240A106E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DD Month 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78F346-C148-3D45-B589-43294848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0B75F-FBEC-2A43-82EA-CF3422898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5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KU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F7222D7C-BAC1-C443-B54C-AF8CEA06189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81546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9676F3BE-CBC1-1143-9D83-0380558620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0796"/>
            <a:ext cx="9906000" cy="5336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94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4" name="Picture 3" descr="Chart, bar chart, histogram&#10;&#10;Description automatically generated">
            <a:extLst>
              <a:ext uri="{FF2B5EF4-FFF2-40B4-BE49-F238E27FC236}">
                <a16:creationId xmlns:a16="http://schemas.microsoft.com/office/drawing/2014/main" id="{B4BAA059-94FD-C440-B22A-68CE83C62A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42716"/>
            <a:ext cx="9906000" cy="537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662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1C281-C1D6-544F-93FE-1B8992782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3" name="Picture 2" descr="Chart, bar chart&#10;&#10;Description automatically generated">
            <a:extLst>
              <a:ext uri="{FF2B5EF4-FFF2-40B4-BE49-F238E27FC236}">
                <a16:creationId xmlns:a16="http://schemas.microsoft.com/office/drawing/2014/main" id="{585B36D3-6996-374C-A4D8-A23481FFF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376"/>
            <a:ext cx="9906000" cy="5389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098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95D356-119E-BF46-9F72-A9AC75C905C0}"/>
              </a:ext>
            </a:extLst>
          </p:cNvPr>
          <p:cNvSpPr txBox="1"/>
          <p:nvPr/>
        </p:nvSpPr>
        <p:spPr>
          <a:xfrm>
            <a:off x="753626" y="894303"/>
            <a:ext cx="6089301" cy="7155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850" dirty="0"/>
              <a:t>KU HPC  Group Utilization for October 2020.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400" dirty="0"/>
              <a:t>Note that do not yet keep track of applications used automatically. This is a work in progress, and will be added to future reports.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1E00440-7DBF-7647-B322-AA1FAD85ED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656135"/>
              </p:ext>
            </p:extLst>
          </p:nvPr>
        </p:nvGraphicFramePr>
        <p:xfrm>
          <a:off x="1569474" y="1708918"/>
          <a:ext cx="6018213" cy="440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5" name="Worksheet" r:id="rId4" imgW="9410700" imgH="6883400" progId="Excel.Sheet.12">
                  <p:embed/>
                </p:oleObj>
              </mc:Choice>
              <mc:Fallback>
                <p:oleObj name="Worksheet" r:id="rId4" imgW="9410700" imgH="68834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69474" y="1708918"/>
                        <a:ext cx="6018213" cy="4402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714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C2B18CD-314B-E342-B3B4-7614009BE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 Cluster core distribution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497-6E76-9A43-9B29-13DEE353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50C76DE-7CD8-CE4D-B768-A45CAEDDBC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60413" y="1503363"/>
          <a:ext cx="8521700" cy="4811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1475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81500-920A-9240-8423-D6601A79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12</a:t>
            </a:fld>
            <a:endParaRPr lang="en-US" dirty="0"/>
          </a:p>
        </p:txBody>
      </p:sp>
      <p:pic>
        <p:nvPicPr>
          <p:cNvPr id="7" name="Picture 6" descr="Chart, bar chart&#10;&#10;Description automatically generated">
            <a:extLst>
              <a:ext uri="{FF2B5EF4-FFF2-40B4-BE49-F238E27FC236}">
                <a16:creationId xmlns:a16="http://schemas.microsoft.com/office/drawing/2014/main" id="{B44FC9A6-5869-9C40-9392-C99FAF228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13516"/>
            <a:ext cx="9906000" cy="543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6757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EA82-C916-2648-85B5-7D2A6E2AB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68DD1B-5CD8-424B-8173-19E182143E0A}" type="slidenum">
              <a:rPr lang="en-US" smtClean="0"/>
              <a:t>13</a:t>
            </a:fld>
            <a:endParaRPr lang="en-US"/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360D301-D239-C94C-AB00-01065A9D51DF}"/>
              </a:ext>
            </a:extLst>
          </p:cNvPr>
          <p:cNvSpPr txBox="1">
            <a:spLocks/>
          </p:cNvSpPr>
          <p:nvPr/>
        </p:nvSpPr>
        <p:spPr>
          <a:xfrm>
            <a:off x="469571" y="447676"/>
            <a:ext cx="8463393" cy="815095"/>
          </a:xfrm>
          <a:prstGeom prst="rect">
            <a:avLst/>
          </a:prstGeom>
        </p:spPr>
        <p:txBody>
          <a:bodyPr/>
          <a:lstStyle>
            <a:lvl1pPr algn="l" defTabSz="74295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925" b="1" kern="1200" spc="41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Status of KPI’s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F2169C8-2F50-DF40-A17A-2305D96896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1089817"/>
              </p:ext>
            </p:extLst>
          </p:nvPr>
        </p:nvGraphicFramePr>
        <p:xfrm>
          <a:off x="554038" y="984250"/>
          <a:ext cx="8666162" cy="5792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6" name="Worksheet" r:id="rId3" imgW="11531600" imgH="7708900" progId="Excel.Sheet.12">
                  <p:embed/>
                </p:oleObj>
              </mc:Choice>
              <mc:Fallback>
                <p:oleObj name="Worksheet" r:id="rId3" imgW="11531600" imgH="77089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4038" y="984250"/>
                        <a:ext cx="8666162" cy="5792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5051738"/>
      </p:ext>
    </p:extLst>
  </p:cSld>
  <p:clrMapOvr>
    <a:masterClrMapping/>
  </p:clrMapOvr>
</p:sld>
</file>

<file path=ppt/theme/theme1.xml><?xml version="1.0" encoding="utf-8"?>
<a:theme xmlns:a="http://schemas.openxmlformats.org/drawingml/2006/main" name="KU Theme">
  <a:themeElements>
    <a:clrScheme name="KU">
      <a:dk1>
        <a:sysClr val="windowText" lastClr="000000"/>
      </a:dk1>
      <a:lt1>
        <a:sysClr val="window" lastClr="FFFFFF"/>
      </a:lt1>
      <a:dk2>
        <a:srgbClr val="0047BA"/>
      </a:dk2>
      <a:lt2>
        <a:srgbClr val="96969A"/>
      </a:lt2>
      <a:accent1>
        <a:srgbClr val="00CE7C"/>
      </a:accent1>
      <a:accent2>
        <a:srgbClr val="E53E51"/>
      </a:accent2>
      <a:accent3>
        <a:srgbClr val="84DADE"/>
      </a:accent3>
      <a:accent4>
        <a:srgbClr val="4C3041"/>
      </a:accent4>
      <a:accent5>
        <a:srgbClr val="F5CE3E"/>
      </a:accent5>
      <a:accent6>
        <a:srgbClr val="D0CFCD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85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KU_presentation_template_v03_dureid" id="{E5C0B40D-4810-4141-950B-63592BF28D0C}" vid="{E0DD810D-9114-6044-9274-3619F9170DC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</TotalTime>
  <Words>260</Words>
  <Application>Microsoft Macintosh PowerPoint</Application>
  <PresentationFormat>A4 Paper (210x297 mm)</PresentationFormat>
  <Paragraphs>46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KU Theme</vt:lpstr>
      <vt:lpstr>Worksheet</vt:lpstr>
      <vt:lpstr>Microsoft Excel Worksheet</vt:lpstr>
      <vt:lpstr>Research Computing Update</vt:lpstr>
      <vt:lpstr>HPC Resources</vt:lpstr>
      <vt:lpstr>Training</vt:lpstr>
      <vt:lpstr>PowerPoint Presentation</vt:lpstr>
      <vt:lpstr>Resource Utilization</vt:lpstr>
      <vt:lpstr>KU Cluster core distribution</vt:lpstr>
      <vt:lpstr>PowerPoint Presentation</vt:lpstr>
      <vt:lpstr>PowerPoint Presentation</vt:lpstr>
      <vt:lpstr>PowerPoint Presentation</vt:lpstr>
      <vt:lpstr>PowerPoint Presentation</vt:lpstr>
      <vt:lpstr>PI Cluster core distribution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 Computing Update</dc:title>
  <dc:creator>Dureid El Moghraby</dc:creator>
  <cp:lastModifiedBy>Dureid El Moghraby</cp:lastModifiedBy>
  <cp:revision>5</cp:revision>
  <dcterms:created xsi:type="dcterms:W3CDTF">2020-11-15T07:17:18Z</dcterms:created>
  <dcterms:modified xsi:type="dcterms:W3CDTF">2020-11-22T07:15:15Z</dcterms:modified>
</cp:coreProperties>
</file>