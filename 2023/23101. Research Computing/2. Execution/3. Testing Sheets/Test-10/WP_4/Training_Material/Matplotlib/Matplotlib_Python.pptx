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713" r:id="rId3"/>
  </p:sldMasterIdLst>
  <p:sldIdLst>
    <p:sldId id="256" r:id="rId4"/>
    <p:sldId id="265" r:id="rId5"/>
    <p:sldId id="295" r:id="rId6"/>
    <p:sldId id="379" r:id="rId7"/>
    <p:sldId id="381" r:id="rId8"/>
    <p:sldId id="383" r:id="rId9"/>
    <p:sldId id="382" r:id="rId10"/>
    <p:sldId id="384" r:id="rId11"/>
    <p:sldId id="385" r:id="rId12"/>
    <p:sldId id="386" r:id="rId13"/>
    <p:sldId id="388" r:id="rId14"/>
    <p:sldId id="389" r:id="rId15"/>
    <p:sldId id="390" r:id="rId16"/>
    <p:sldId id="391" r:id="rId17"/>
    <p:sldId id="392" r:id="rId18"/>
    <p:sldId id="393" r:id="rId19"/>
    <p:sldId id="394" r:id="rId20"/>
    <p:sldId id="395" r:id="rId21"/>
    <p:sldId id="387" r:id="rId22"/>
    <p:sldId id="396" r:id="rId23"/>
    <p:sldId id="397" r:id="rId24"/>
    <p:sldId id="398" r:id="rId25"/>
    <p:sldId id="399" r:id="rId26"/>
    <p:sldId id="400" r:id="rId27"/>
    <p:sldId id="401" r:id="rId28"/>
    <p:sldId id="402" r:id="rId29"/>
    <p:sldId id="375" r:id="rId30"/>
    <p:sldId id="403" r:id="rId31"/>
    <p:sldId id="404" r:id="rId32"/>
    <p:sldId id="406" r:id="rId33"/>
    <p:sldId id="407" r:id="rId34"/>
    <p:sldId id="405" r:id="rId35"/>
    <p:sldId id="408" r:id="rId36"/>
    <p:sldId id="409" r:id="rId37"/>
    <p:sldId id="410" r:id="rId38"/>
    <p:sldId id="411" r:id="rId39"/>
    <p:sldId id="412" r:id="rId40"/>
    <p:sldId id="413" r:id="rId41"/>
    <p:sldId id="414" r:id="rId42"/>
    <p:sldId id="415" r:id="rId43"/>
    <p:sldId id="416" r:id="rId44"/>
    <p:sldId id="417" r:id="rId45"/>
    <p:sldId id="420" r:id="rId46"/>
    <p:sldId id="419" r:id="rId47"/>
    <p:sldId id="418" r:id="rId48"/>
    <p:sldId id="421" r:id="rId49"/>
    <p:sldId id="422" r:id="rId50"/>
    <p:sldId id="423" r:id="rId51"/>
    <p:sldId id="424" r:id="rId52"/>
    <p:sldId id="425" r:id="rId53"/>
    <p:sldId id="426" r:id="rId54"/>
    <p:sldId id="427" r:id="rId55"/>
    <p:sldId id="428" r:id="rId56"/>
    <p:sldId id="376" r:id="rId57"/>
    <p:sldId id="429" r:id="rId58"/>
    <p:sldId id="430" r:id="rId59"/>
    <p:sldId id="431" r:id="rId60"/>
    <p:sldId id="432" r:id="rId61"/>
    <p:sldId id="377" r:id="rId62"/>
    <p:sldId id="434" r:id="rId63"/>
    <p:sldId id="433" r:id="rId64"/>
    <p:sldId id="378" r:id="rId65"/>
    <p:sldId id="294" r:id="rId66"/>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7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109" d="100"/>
          <a:sy n="109"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3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3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3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3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4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48"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7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7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7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7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7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8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8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8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1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16"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1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1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2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2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23"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2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2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22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2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2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3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3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3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3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3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3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3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4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4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4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24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4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4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24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24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24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24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25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ustomShape 1" hidden="1"/>
          <p:cNvSpPr/>
          <p:nvPr/>
        </p:nvSpPr>
        <p:spPr>
          <a:xfrm>
            <a:off x="10410840" y="203040"/>
            <a:ext cx="95724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sp>
        <p:nvSpPr>
          <p:cNvPr id="6" name="Line 2"/>
          <p:cNvSpPr/>
          <p:nvPr/>
        </p:nvSpPr>
        <p:spPr>
          <a:xfrm>
            <a:off x="5181480" y="2752560"/>
            <a:ext cx="1809720" cy="0"/>
          </a:xfrm>
          <a:prstGeom prst="line">
            <a:avLst/>
          </a:prstGeom>
          <a:ln w="12600">
            <a:solidFill>
              <a:srgbClr val="FFFFFF"/>
            </a:solidFill>
            <a:round/>
          </a:ln>
        </p:spPr>
        <p:style>
          <a:lnRef idx="1">
            <a:schemeClr val="accent1"/>
          </a:lnRef>
          <a:fillRef idx="0">
            <a:schemeClr val="accent1"/>
          </a:fillRef>
          <a:effectRef idx="0">
            <a:schemeClr val="accent1"/>
          </a:effectRef>
          <a:fontRef idx="minor"/>
        </p:style>
      </p:sp>
      <p:pic>
        <p:nvPicPr>
          <p:cNvPr id="2" name="Picture 6"/>
          <p:cNvPicPr/>
          <p:nvPr/>
        </p:nvPicPr>
        <p:blipFill>
          <a:blip r:embed="rId14"/>
          <a:stretch/>
        </p:blipFill>
        <p:spPr>
          <a:xfrm>
            <a:off x="804960" y="654480"/>
            <a:ext cx="3535560" cy="769680"/>
          </a:xfrm>
          <a:prstGeom prst="rect">
            <a:avLst/>
          </a:prstGeom>
          <a:ln>
            <a:noFill/>
          </a:ln>
        </p:spPr>
      </p:pic>
      <p:sp>
        <p:nvSpPr>
          <p:cNvPr id="3" name="PlaceHolder 3"/>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4" name="PlaceHolder 4"/>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10410840" y="203040"/>
            <a:ext cx="95724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sp>
        <p:nvSpPr>
          <p:cNvPr id="42" name="CustomShape 2"/>
          <p:cNvSpPr/>
          <p:nvPr/>
        </p:nvSpPr>
        <p:spPr>
          <a:xfrm>
            <a:off x="10410840" y="203040"/>
            <a:ext cx="95724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0047BA"/>
                </a:solidFill>
                <a:latin typeface="Arial"/>
                <a:ea typeface="DejaVu Sans"/>
              </a:rPr>
              <a:t>ku.ac.ae</a:t>
            </a:r>
            <a:endParaRPr lang="en-US" sz="850" b="0" strike="noStrike" spc="-1">
              <a:latin typeface="Arial"/>
            </a:endParaRPr>
          </a:p>
        </p:txBody>
      </p:sp>
      <p:pic>
        <p:nvPicPr>
          <p:cNvPr id="43" name="Picture 6"/>
          <p:cNvPicPr/>
          <p:nvPr/>
        </p:nvPicPr>
        <p:blipFill>
          <a:blip r:embed="rId14"/>
          <a:stretch/>
        </p:blipFill>
        <p:spPr>
          <a:xfrm>
            <a:off x="383760" y="236160"/>
            <a:ext cx="1807200" cy="180720"/>
          </a:xfrm>
          <a:prstGeom prst="rect">
            <a:avLst/>
          </a:prstGeom>
          <a:ln>
            <a:noFill/>
          </a:ln>
        </p:spPr>
      </p:pic>
      <p:sp>
        <p:nvSpPr>
          <p:cNvPr id="44" name="Line 3"/>
          <p:cNvSpPr/>
          <p:nvPr/>
        </p:nvSpPr>
        <p:spPr>
          <a:xfrm>
            <a:off x="383400" y="533160"/>
            <a:ext cx="11465640" cy="0"/>
          </a:xfrm>
          <a:prstGeom prst="line">
            <a:avLst/>
          </a:prstGeom>
          <a:ln>
            <a:solidFill>
              <a:schemeClr val="bg2"/>
            </a:solidFill>
            <a:round/>
          </a:ln>
        </p:spPr>
        <p:style>
          <a:lnRef idx="1">
            <a:schemeClr val="accent1"/>
          </a:lnRef>
          <a:fillRef idx="0">
            <a:schemeClr val="accent1"/>
          </a:fillRef>
          <a:effectRef idx="0">
            <a:schemeClr val="accent1"/>
          </a:effectRef>
          <a:fontRef idx="minor"/>
        </p:style>
      </p:sp>
      <p:sp>
        <p:nvSpPr>
          <p:cNvPr id="45" name="PlaceHolder 4"/>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46"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47BA"/>
        </a:solidFill>
        <a:effectLst/>
      </p:bgPr>
    </p:bg>
    <p:spTree>
      <p:nvGrpSpPr>
        <p:cNvPr id="1" name=""/>
        <p:cNvGrpSpPr/>
        <p:nvPr/>
      </p:nvGrpSpPr>
      <p:grpSpPr>
        <a:xfrm>
          <a:off x="0" y="0"/>
          <a:ext cx="0" cy="0"/>
          <a:chOff x="0" y="0"/>
          <a:chExt cx="0" cy="0"/>
        </a:xfrm>
      </p:grpSpPr>
      <p:sp>
        <p:nvSpPr>
          <p:cNvPr id="209" name="CustomShape 1" hidden="1"/>
          <p:cNvSpPr/>
          <p:nvPr/>
        </p:nvSpPr>
        <p:spPr>
          <a:xfrm>
            <a:off x="10410840" y="203040"/>
            <a:ext cx="95724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pic>
        <p:nvPicPr>
          <p:cNvPr id="210" name="Picture 9"/>
          <p:cNvPicPr/>
          <p:nvPr/>
        </p:nvPicPr>
        <p:blipFill>
          <a:blip r:embed="rId14"/>
          <a:stretch/>
        </p:blipFill>
        <p:spPr>
          <a:xfrm>
            <a:off x="4622760" y="891000"/>
            <a:ext cx="2364120" cy="513720"/>
          </a:xfrm>
          <a:prstGeom prst="rect">
            <a:avLst/>
          </a:prstGeom>
          <a:ln>
            <a:noFill/>
          </a:ln>
        </p:spPr>
      </p:pic>
      <p:sp>
        <p:nvSpPr>
          <p:cNvPr id="211" name="CustomShape 2"/>
          <p:cNvSpPr/>
          <p:nvPr/>
        </p:nvSpPr>
        <p:spPr>
          <a:xfrm>
            <a:off x="752400" y="2553840"/>
            <a:ext cx="10644120" cy="1751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spAutoFit/>
          </a:bodyPr>
          <a:lstStyle/>
          <a:p>
            <a:pPr algn="ctr">
              <a:lnSpc>
                <a:spcPct val="100000"/>
              </a:lnSpc>
            </a:pPr>
            <a:r>
              <a:rPr lang="en-US" sz="11500" b="1" strike="noStrike" spc="-100">
                <a:solidFill>
                  <a:srgbClr val="FFFFFF"/>
                </a:solidFill>
                <a:latin typeface="Arial"/>
                <a:ea typeface="DejaVu Sans"/>
              </a:rPr>
              <a:t>Thank You</a:t>
            </a:r>
            <a:endParaRPr lang="en-US" sz="11500" b="0" strike="noStrike" spc="-1">
              <a:latin typeface="Arial"/>
            </a:endParaRPr>
          </a:p>
        </p:txBody>
      </p:sp>
      <p:sp>
        <p:nvSpPr>
          <p:cNvPr id="212" name="CustomShape 3"/>
          <p:cNvSpPr/>
          <p:nvPr/>
        </p:nvSpPr>
        <p:spPr>
          <a:xfrm>
            <a:off x="5181480" y="6146640"/>
            <a:ext cx="183348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1250" b="1" strike="noStrike" spc="-1">
                <a:solidFill>
                  <a:srgbClr val="FFFFFF"/>
                </a:solidFill>
                <a:latin typeface="Arial"/>
                <a:ea typeface="DejaVu Sans"/>
              </a:rPr>
              <a:t>ku.ac.ae</a:t>
            </a:r>
            <a:endParaRPr lang="en-US" sz="1250" b="0" strike="noStrike" spc="-1">
              <a:latin typeface="Arial"/>
            </a:endParaRPr>
          </a:p>
        </p:txBody>
      </p:sp>
      <p:sp>
        <p:nvSpPr>
          <p:cNvPr id="213" name="PlaceHolder 4"/>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214"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hyperlink" Target="https://matplotlib.org/3.2.2/contents.html" TargetMode="Externa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CustomShape 1"/>
          <p:cNvSpPr/>
          <p:nvPr/>
        </p:nvSpPr>
        <p:spPr>
          <a:xfrm>
            <a:off x="824040" y="2004480"/>
            <a:ext cx="10157552" cy="17100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r>
              <a:rPr lang="en-US" sz="4800" b="1" spc="-1" dirty="0" err="1" smtClean="0">
                <a:solidFill>
                  <a:srgbClr val="0047BA"/>
                </a:solidFill>
                <a:latin typeface="Arial"/>
              </a:rPr>
              <a:t>Matplotlib</a:t>
            </a:r>
            <a:r>
              <a:rPr lang="en-US" sz="4800" b="1" spc="-1" dirty="0" smtClean="0">
                <a:solidFill>
                  <a:srgbClr val="0047BA"/>
                </a:solidFill>
                <a:latin typeface="Arial"/>
              </a:rPr>
              <a:t> – Plotting with Python</a:t>
            </a:r>
            <a:endParaRPr lang="en-US" sz="4800" b="0" strike="noStrike" spc="-1" dirty="0">
              <a:latin typeface="Arial"/>
            </a:endParaRPr>
          </a:p>
        </p:txBody>
      </p:sp>
      <p:sp>
        <p:nvSpPr>
          <p:cNvPr id="252" name="CustomShape 2"/>
          <p:cNvSpPr/>
          <p:nvPr/>
        </p:nvSpPr>
        <p:spPr>
          <a:xfrm>
            <a:off x="824040" y="3756960"/>
            <a:ext cx="8906760" cy="12430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80000"/>
              </a:lnSpc>
            </a:pPr>
            <a:r>
              <a:rPr lang="en-US" sz="3800" b="1" strike="noStrike" spc="-1">
                <a:solidFill>
                  <a:srgbClr val="96969A"/>
                </a:solidFill>
                <a:latin typeface="Arial"/>
                <a:ea typeface="DejaVu Sans"/>
              </a:rPr>
              <a:t>Dr. Sergio Martinez</a:t>
            </a:r>
            <a:endParaRPr lang="en-US" sz="3800" b="0" strike="noStrike" spc="-1">
              <a:latin typeface="Arial"/>
            </a:endParaRPr>
          </a:p>
        </p:txBody>
      </p:sp>
      <p:sp>
        <p:nvSpPr>
          <p:cNvPr id="253" name="CustomShape 3"/>
          <p:cNvSpPr/>
          <p:nvPr/>
        </p:nvSpPr>
        <p:spPr>
          <a:xfrm>
            <a:off x="824040" y="5490360"/>
            <a:ext cx="6725520" cy="3096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spcBef>
                <a:spcPts val="400"/>
              </a:spcBef>
            </a:pPr>
            <a:endParaRPr lang="en-US" sz="1800" b="0" strike="noStrike" spc="-1">
              <a:latin typeface="Arial"/>
            </a:endParaRPr>
          </a:p>
          <a:p>
            <a:pPr>
              <a:lnSpc>
                <a:spcPct val="100000"/>
              </a:lnSpc>
              <a:spcBef>
                <a:spcPts val="400"/>
              </a:spcBef>
            </a:pPr>
            <a:endParaRPr lang="en-US"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trike="noStrike" spc="15" dirty="0" smtClean="0">
                <a:solidFill>
                  <a:srgbClr val="0047BA"/>
                </a:solidFill>
                <a:latin typeface="Arial"/>
                <a:ea typeface="DejaVu Sans"/>
              </a:rPr>
              <a:t>Course layout</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a:t>
            </a:fld>
            <a:endParaRPr lang="en-US" sz="850" b="0" strike="noStrike" spc="-1">
              <a:latin typeface="Arial"/>
            </a:endParaRPr>
          </a:p>
        </p:txBody>
      </p:sp>
      <p:sp>
        <p:nvSpPr>
          <p:cNvPr id="330" name="CustomShape 5"/>
          <p:cNvSpPr/>
          <p:nvPr/>
        </p:nvSpPr>
        <p:spPr>
          <a:xfrm>
            <a:off x="606960" y="1679040"/>
            <a:ext cx="3411125"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461160" indent="-457200">
              <a:lnSpc>
                <a:spcPct val="100000"/>
              </a:lnSpc>
              <a:spcBef>
                <a:spcPts val="2400"/>
              </a:spcBef>
              <a:buClr>
                <a:srgbClr val="0047BA"/>
              </a:buClr>
              <a:buSzPct val="100000"/>
              <a:buFont typeface="+mj-lt"/>
              <a:buAutoNum type="arabicPeriod"/>
            </a:pPr>
            <a:r>
              <a:rPr lang="en-US" sz="2400" b="1" strike="noStrike" spc="-1" dirty="0" smtClean="0">
                <a:solidFill>
                  <a:srgbClr val="0047BA"/>
                </a:solidFill>
                <a:latin typeface="Arial"/>
                <a:ea typeface="DejaVu Sans"/>
              </a:rPr>
              <a:t>Introduction</a:t>
            </a:r>
          </a:p>
          <a:p>
            <a:pPr marL="461160" indent="-457200">
              <a:lnSpc>
                <a:spcPct val="100000"/>
              </a:lnSpc>
              <a:spcBef>
                <a:spcPts val="2400"/>
              </a:spcBef>
              <a:buClr>
                <a:srgbClr val="0047BA"/>
              </a:buClr>
              <a:buSzPct val="100000"/>
              <a:buFont typeface="+mj-lt"/>
              <a:buAutoNum type="arabicPeriod"/>
            </a:pPr>
            <a:r>
              <a:rPr lang="en-US" sz="2400" b="1" spc="-1" dirty="0" smtClean="0">
                <a:solidFill>
                  <a:srgbClr val="0047BA"/>
                </a:solidFill>
                <a:latin typeface="Arial"/>
              </a:rPr>
              <a:t>Figures and axes</a:t>
            </a:r>
          </a:p>
          <a:p>
            <a:pPr marL="461160" indent="-457200">
              <a:lnSpc>
                <a:spcPct val="100000"/>
              </a:lnSpc>
              <a:spcBef>
                <a:spcPts val="2400"/>
              </a:spcBef>
              <a:buClr>
                <a:srgbClr val="0047BA"/>
              </a:buClr>
              <a:buSzPct val="100000"/>
              <a:buFont typeface="+mj-lt"/>
              <a:buAutoNum type="arabicPeriod"/>
            </a:pPr>
            <a:r>
              <a:rPr lang="en-US" sz="2400" b="1" spc="-1" dirty="0" smtClean="0">
                <a:solidFill>
                  <a:srgbClr val="0047BA"/>
                </a:solidFill>
                <a:latin typeface="Arial"/>
              </a:rPr>
              <a:t>Formatting</a:t>
            </a:r>
          </a:p>
          <a:p>
            <a:pPr marL="461160" indent="-457200">
              <a:lnSpc>
                <a:spcPct val="100000"/>
              </a:lnSpc>
              <a:spcBef>
                <a:spcPts val="2400"/>
              </a:spcBef>
              <a:buClr>
                <a:srgbClr val="0047BA"/>
              </a:buClr>
              <a:buSzPct val="100000"/>
              <a:buFont typeface="+mj-lt"/>
              <a:buAutoNum type="arabicPeriod"/>
            </a:pPr>
            <a:r>
              <a:rPr lang="en-US" sz="2400" b="1" spc="-1" dirty="0" smtClean="0">
                <a:solidFill>
                  <a:srgbClr val="0047BA"/>
                </a:solidFill>
                <a:latin typeface="Arial"/>
              </a:rPr>
              <a:t>2D plots</a:t>
            </a:r>
          </a:p>
          <a:p>
            <a:pPr marL="461160" indent="-457200">
              <a:lnSpc>
                <a:spcPct val="100000"/>
              </a:lnSpc>
              <a:spcBef>
                <a:spcPts val="2400"/>
              </a:spcBef>
              <a:buClr>
                <a:srgbClr val="0047BA"/>
              </a:buClr>
              <a:buSzPct val="100000"/>
              <a:buFont typeface="+mj-lt"/>
              <a:buAutoNum type="arabicPeriod"/>
            </a:pPr>
            <a:r>
              <a:rPr lang="en-US" sz="2400" b="1" spc="-1" dirty="0" smtClean="0">
                <a:solidFill>
                  <a:srgbClr val="0047BA"/>
                </a:solidFill>
                <a:latin typeface="Arial"/>
              </a:rPr>
              <a:t>3D plots</a:t>
            </a:r>
          </a:p>
          <a:p>
            <a:pPr marL="461160" indent="-457200">
              <a:lnSpc>
                <a:spcPct val="100000"/>
              </a:lnSpc>
              <a:spcBef>
                <a:spcPts val="2400"/>
              </a:spcBef>
              <a:buClr>
                <a:srgbClr val="0047BA"/>
              </a:buClr>
              <a:buSzPct val="100000"/>
              <a:buFont typeface="+mj-lt"/>
              <a:buAutoNum type="arabicPeriod"/>
            </a:pPr>
            <a:r>
              <a:rPr lang="en-US" sz="2400" b="1" spc="-1" dirty="0" smtClean="0">
                <a:solidFill>
                  <a:srgbClr val="0047BA"/>
                </a:solidFill>
                <a:latin typeface="Arial"/>
              </a:rPr>
              <a:t>Save plots</a:t>
            </a:r>
            <a:endParaRPr lang="en-US" spc="-1" dirty="0">
              <a:latin typeface="Arial"/>
            </a:endParaRPr>
          </a:p>
          <a:p>
            <a:pPr marL="182880" indent="-178920">
              <a:lnSpc>
                <a:spcPct val="100000"/>
              </a:lnSpc>
              <a:spcBef>
                <a:spcPts val="3169"/>
              </a:spcBef>
              <a:buClr>
                <a:srgbClr val="0047BA"/>
              </a:buClr>
              <a:buSzPct val="65000"/>
              <a:buFont typeface="Wingdings" charset="2"/>
              <a:buChar char=""/>
            </a:pPr>
            <a:endParaRPr lang="en-US" sz="2400" b="0" strike="noStrike" spc="-1" dirty="0">
              <a:latin typeface="Aria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6960" y="1247358"/>
            <a:ext cx="4780080" cy="4780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a:pPr>
            <a:r>
              <a:rPr lang="en-US" sz="3600" b="1" strike="noStrike" spc="15" dirty="0" smtClean="0">
                <a:solidFill>
                  <a:srgbClr val="0047BA"/>
                </a:solidFill>
                <a:latin typeface="Arial"/>
                <a:ea typeface="DejaVu Sans"/>
              </a:rPr>
              <a:t>Introduction</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2400"/>
              </a:spcBef>
              <a:buClr>
                <a:srgbClr val="0047BA"/>
              </a:buClr>
              <a:buSzPct val="65000"/>
              <a:buFont typeface="Wingdings" charset="2"/>
              <a:buChar char=""/>
            </a:pPr>
            <a:r>
              <a:rPr lang="en-US" sz="2800" b="1" strike="noStrike" spc="-1" dirty="0" err="1" smtClean="0">
                <a:solidFill>
                  <a:srgbClr val="0047BA"/>
                </a:solidFill>
                <a:latin typeface="Arial"/>
                <a:ea typeface="DejaVu Sans"/>
              </a:rPr>
              <a:t>Matplotlib</a:t>
            </a:r>
            <a:endParaRPr lang="en-US" sz="2800" b="1" strike="noStrike" spc="-1" dirty="0" smtClean="0">
              <a:solidFill>
                <a:srgbClr val="0047BA"/>
              </a:solidFill>
              <a:latin typeface="Arial"/>
              <a:ea typeface="DejaVu Sans"/>
            </a:endParaRPr>
          </a:p>
          <a:p>
            <a:pPr marL="182880" indent="-178920">
              <a:lnSpc>
                <a:spcPct val="100000"/>
              </a:lnSpc>
              <a:spcBef>
                <a:spcPts val="2400"/>
              </a:spcBef>
              <a:buClr>
                <a:srgbClr val="0047BA"/>
              </a:buClr>
              <a:buSzPct val="65000"/>
              <a:buFont typeface="Wingdings" charset="2"/>
              <a:buChar char=""/>
            </a:pPr>
            <a:r>
              <a:rPr lang="en-US" sz="2400" strike="noStrike" spc="-1" dirty="0" smtClean="0">
                <a:solidFill>
                  <a:srgbClr val="0047BA"/>
                </a:solidFill>
                <a:latin typeface="Arial"/>
                <a:ea typeface="DejaVu Sans"/>
              </a:rPr>
              <a:t>Import the package</a:t>
            </a:r>
          </a:p>
          <a:p>
            <a:pPr marL="182880" indent="-178920">
              <a:lnSpc>
                <a:spcPct val="100000"/>
              </a:lnSpc>
              <a:spcBef>
                <a:spcPts val="2400"/>
              </a:spcBef>
              <a:buClr>
                <a:srgbClr val="0047BA"/>
              </a:buClr>
              <a:buSzPct val="65000"/>
              <a:buFont typeface="Wingdings" charset="2"/>
              <a:buChar char=""/>
            </a:pPr>
            <a:r>
              <a:rPr lang="en-US" sz="2400" spc="-1" dirty="0" err="1" smtClean="0">
                <a:solidFill>
                  <a:srgbClr val="0047BA"/>
                </a:solidFill>
                <a:latin typeface="Arial"/>
              </a:rPr>
              <a:t>pyplot</a:t>
            </a:r>
            <a:r>
              <a:rPr lang="en-US" sz="2400" spc="-1" dirty="0" smtClean="0">
                <a:solidFill>
                  <a:srgbClr val="0047BA"/>
                </a:solidFill>
                <a:latin typeface="Arial"/>
              </a:rPr>
              <a:t> 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Plot backend</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b="1" dirty="0" err="1" smtClean="0">
                <a:solidFill>
                  <a:schemeClr val="tx2"/>
                </a:solidFill>
              </a:rPr>
              <a:t>Matplotlib</a:t>
            </a:r>
            <a:r>
              <a:rPr lang="en-US" dirty="0" smtClean="0"/>
              <a:t> </a:t>
            </a:r>
            <a:r>
              <a:rPr lang="en-US" dirty="0"/>
              <a:t>is one of the most popular Python packages used for data visualization</a:t>
            </a:r>
            <a:r>
              <a:rPr lang="en-US" dirty="0" smtClean="0"/>
              <a:t>. </a:t>
            </a:r>
            <a:r>
              <a:rPr lang="en-US" sz="1800" b="0" strike="noStrike" spc="-1" dirty="0" smtClean="0">
                <a:latin typeface="Arial"/>
              </a:rPr>
              <a:t>Together with </a:t>
            </a:r>
            <a:r>
              <a:rPr lang="en-US" sz="1800" b="1" strike="noStrike" spc="-1" dirty="0" err="1" smtClean="0">
                <a:solidFill>
                  <a:schemeClr val="tx2"/>
                </a:solidFill>
                <a:latin typeface="Arial"/>
              </a:rPr>
              <a:t>NumPy</a:t>
            </a:r>
            <a:r>
              <a:rPr lang="en-US" sz="1800" b="0" strike="noStrike" spc="-1" dirty="0" smtClean="0">
                <a:latin typeface="Arial"/>
              </a:rPr>
              <a:t> (numerical Python)</a:t>
            </a:r>
            <a:r>
              <a:rPr lang="en-US" spc="-1" dirty="0" smtClean="0">
                <a:latin typeface="Arial"/>
              </a:rPr>
              <a:t>, it can be used as a replacement for </a:t>
            </a:r>
            <a:r>
              <a:rPr lang="en-US" b="1" spc="-1" dirty="0" err="1" smtClean="0">
                <a:solidFill>
                  <a:schemeClr val="tx2"/>
                </a:solidFill>
                <a:latin typeface="Arial"/>
              </a:rPr>
              <a:t>Matlab</a:t>
            </a:r>
            <a:r>
              <a:rPr lang="en-US" spc="-1" dirty="0" smtClean="0">
                <a:latin typeface="Arial"/>
              </a:rPr>
              <a:t>. </a:t>
            </a:r>
          </a:p>
          <a:p>
            <a:pPr marL="182880" indent="-178920">
              <a:lnSpc>
                <a:spcPct val="100000"/>
              </a:lnSpc>
              <a:spcBef>
                <a:spcPts val="3000"/>
              </a:spcBef>
              <a:buClr>
                <a:srgbClr val="0047BA"/>
              </a:buClr>
              <a:buSzPct val="65000"/>
              <a:buFont typeface="Wingdings" charset="2"/>
              <a:buChar char=""/>
            </a:pPr>
            <a:r>
              <a:rPr lang="en-US" dirty="0"/>
              <a:t>It provides an </a:t>
            </a:r>
            <a:r>
              <a:rPr lang="en-US" b="1" dirty="0">
                <a:solidFill>
                  <a:schemeClr val="tx2"/>
                </a:solidFill>
              </a:rPr>
              <a:t>object-oriented API </a:t>
            </a:r>
            <a:r>
              <a:rPr lang="en-US" dirty="0"/>
              <a:t>that helps in embedding plots in applications using Python GUI toolkits such as </a:t>
            </a:r>
            <a:r>
              <a:rPr lang="en-US" dirty="0" err="1"/>
              <a:t>PyQt</a:t>
            </a:r>
            <a:r>
              <a:rPr lang="en-US" dirty="0"/>
              <a:t>, </a:t>
            </a:r>
            <a:r>
              <a:rPr lang="en-US" dirty="0" err="1" smtClean="0"/>
              <a:t>WxPythonotTkinter</a:t>
            </a:r>
            <a:r>
              <a:rPr lang="en-US" dirty="0" smtClean="0"/>
              <a:t>.</a:t>
            </a:r>
          </a:p>
          <a:p>
            <a:pPr marL="182880" indent="-178920">
              <a:lnSpc>
                <a:spcPct val="100000"/>
              </a:lnSpc>
              <a:spcBef>
                <a:spcPts val="3000"/>
              </a:spcBef>
              <a:buClr>
                <a:srgbClr val="0047BA"/>
              </a:buClr>
              <a:buSzPct val="65000"/>
              <a:buFont typeface="Wingdings" charset="2"/>
              <a:buChar char=""/>
            </a:pPr>
            <a:r>
              <a:rPr lang="en-US" dirty="0" smtClean="0"/>
              <a:t>It </a:t>
            </a:r>
            <a:r>
              <a:rPr lang="en-US" dirty="0"/>
              <a:t>can be used in Python and </a:t>
            </a:r>
            <a:r>
              <a:rPr lang="en-US" dirty="0" err="1"/>
              <a:t>IPython</a:t>
            </a:r>
            <a:r>
              <a:rPr lang="en-US" dirty="0"/>
              <a:t> shells, </a:t>
            </a:r>
            <a:r>
              <a:rPr lang="en-US" b="1" dirty="0" err="1">
                <a:solidFill>
                  <a:schemeClr val="tx2"/>
                </a:solidFill>
              </a:rPr>
              <a:t>Jupyter</a:t>
            </a:r>
            <a:r>
              <a:rPr lang="en-US" b="1" dirty="0">
                <a:solidFill>
                  <a:schemeClr val="tx2"/>
                </a:solidFill>
              </a:rPr>
              <a:t> notebook</a:t>
            </a:r>
            <a:r>
              <a:rPr lang="en-US" dirty="0"/>
              <a:t> and web application </a:t>
            </a:r>
            <a:r>
              <a:rPr lang="en-US" dirty="0" smtClean="0"/>
              <a:t>servers.</a:t>
            </a:r>
          </a:p>
          <a:p>
            <a:pPr marL="182880" indent="-178920">
              <a:lnSpc>
                <a:spcPct val="100000"/>
              </a:lnSpc>
              <a:spcBef>
                <a:spcPts val="3000"/>
              </a:spcBef>
              <a:buClr>
                <a:srgbClr val="0047BA"/>
              </a:buClr>
              <a:buSzPct val="65000"/>
              <a:buFont typeface="Wingdings" charset="2"/>
              <a:buChar char=""/>
            </a:pPr>
            <a:r>
              <a:rPr lang="en-US" dirty="0" err="1"/>
              <a:t>Matplotlib</a:t>
            </a:r>
            <a:r>
              <a:rPr lang="en-US" dirty="0"/>
              <a:t> is written in Python and makes use of </a:t>
            </a:r>
            <a:r>
              <a:rPr lang="en-US" b="1" dirty="0" err="1" smtClean="0">
                <a:solidFill>
                  <a:schemeClr val="tx2"/>
                </a:solidFill>
              </a:rPr>
              <a:t>NumPy</a:t>
            </a:r>
            <a:r>
              <a:rPr lang="en-US" dirty="0" smtClean="0"/>
              <a:t>.</a:t>
            </a:r>
          </a:p>
          <a:p>
            <a:pPr marL="182880" indent="-178920">
              <a:lnSpc>
                <a:spcPct val="100000"/>
              </a:lnSpc>
              <a:spcBef>
                <a:spcPts val="3000"/>
              </a:spcBef>
              <a:buClr>
                <a:srgbClr val="0047BA"/>
              </a:buClr>
              <a:buSzPct val="65000"/>
              <a:buFont typeface="Wingdings" charset="2"/>
              <a:buChar char=""/>
            </a:pPr>
            <a:r>
              <a:rPr lang="en-US" spc="-1" dirty="0" smtClean="0">
                <a:solidFill>
                  <a:srgbClr val="000000"/>
                </a:solidFill>
                <a:latin typeface="Arial"/>
                <a:ea typeface="DejaVu Sans"/>
              </a:rPr>
              <a:t>At the moment of creating this training course, </a:t>
            </a:r>
            <a:r>
              <a:rPr lang="en-US" b="1" spc="-1" dirty="0" err="1" smtClean="0">
                <a:solidFill>
                  <a:schemeClr val="tx2"/>
                </a:solidFill>
                <a:latin typeface="Arial"/>
                <a:ea typeface="DejaVu Sans"/>
              </a:rPr>
              <a:t>Matplotlib</a:t>
            </a:r>
            <a:r>
              <a:rPr lang="en-US" b="1" spc="-1" dirty="0" smtClean="0">
                <a:solidFill>
                  <a:schemeClr val="tx2"/>
                </a:solidFill>
                <a:latin typeface="Arial"/>
                <a:ea typeface="DejaVu Sans"/>
              </a:rPr>
              <a:t> Version 3.2.2 was used</a:t>
            </a:r>
            <a:r>
              <a:rPr lang="en-US" spc="-1" dirty="0" smtClean="0">
                <a:solidFill>
                  <a:srgbClr val="000000"/>
                </a:solidFill>
              </a:rPr>
              <a:t>. </a:t>
            </a:r>
            <a:r>
              <a:rPr lang="en-US" spc="-1" dirty="0" smtClean="0">
                <a:solidFill>
                  <a:srgbClr val="000000"/>
                </a:solidFill>
                <a:hlinkClick r:id="rId2"/>
              </a:rPr>
              <a:t>https</a:t>
            </a:r>
            <a:r>
              <a:rPr lang="en-US" spc="-1" dirty="0">
                <a:solidFill>
                  <a:srgbClr val="000000"/>
                </a:solidFill>
                <a:hlinkClick r:id="rId2"/>
              </a:rPr>
              <a:t>://</a:t>
            </a:r>
            <a:r>
              <a:rPr lang="en-US" spc="-1" dirty="0" smtClean="0">
                <a:solidFill>
                  <a:srgbClr val="000000"/>
                </a:solidFill>
                <a:hlinkClick r:id="rId2"/>
              </a:rPr>
              <a:t>matplotlib.org/3.2.2/contents.html</a:t>
            </a:r>
            <a:endParaRPr lang="en-US" spc="-1" dirty="0" smtClean="0">
              <a:solidFill>
                <a:srgbClr val="000000"/>
              </a:solidFill>
            </a:endParaRPr>
          </a:p>
          <a:p>
            <a:pPr marL="182880" indent="-178920">
              <a:lnSpc>
                <a:spcPct val="100000"/>
              </a:lnSpc>
              <a:spcBef>
                <a:spcPts val="3000"/>
              </a:spcBef>
              <a:buClr>
                <a:srgbClr val="0047BA"/>
              </a:buClr>
              <a:buSzPct val="65000"/>
              <a:buFont typeface="Wingdings" charset="2"/>
              <a:buChar char=""/>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43217061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a:pPr>
            <a:r>
              <a:rPr lang="en-US" sz="3600" b="1" strike="noStrike" spc="15" dirty="0" smtClean="0">
                <a:solidFill>
                  <a:srgbClr val="0047BA"/>
                </a:solidFill>
                <a:latin typeface="Arial"/>
                <a:ea typeface="DejaVu Sans"/>
              </a:rPr>
              <a:t>Introduction</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2400"/>
              </a:spcBef>
              <a:buClr>
                <a:srgbClr val="0047BA"/>
              </a:buClr>
              <a:buSzPct val="65000"/>
              <a:buFont typeface="Wingdings" charset="2"/>
              <a:buChar char=""/>
            </a:pPr>
            <a:r>
              <a:rPr lang="en-US" sz="2400" strike="noStrike" spc="-1" dirty="0" err="1" smtClean="0">
                <a:solidFill>
                  <a:srgbClr val="0047BA"/>
                </a:solidFill>
                <a:latin typeface="Arial"/>
                <a:ea typeface="DejaVu Sans"/>
              </a:rPr>
              <a:t>Matplotlib</a:t>
            </a:r>
            <a:endParaRPr lang="en-US" sz="2400" strike="noStrike" spc="-1" dirty="0" smtClean="0">
              <a:solidFill>
                <a:srgbClr val="0047BA"/>
              </a:solidFill>
              <a:latin typeface="Arial"/>
              <a:ea typeface="DejaVu Sans"/>
            </a:endParaRPr>
          </a:p>
          <a:p>
            <a:pPr marL="182880" indent="-178920">
              <a:lnSpc>
                <a:spcPct val="100000"/>
              </a:lnSpc>
              <a:spcBef>
                <a:spcPts val="2400"/>
              </a:spcBef>
              <a:buClr>
                <a:srgbClr val="0047BA"/>
              </a:buClr>
              <a:buSzPct val="65000"/>
              <a:buFont typeface="Wingdings" charset="2"/>
              <a:buChar char=""/>
            </a:pPr>
            <a:r>
              <a:rPr lang="en-US" sz="2800" b="1" strike="noStrike" spc="-1" dirty="0" smtClean="0">
                <a:solidFill>
                  <a:srgbClr val="0047BA"/>
                </a:solidFill>
                <a:latin typeface="Arial"/>
                <a:ea typeface="DejaVu Sans"/>
              </a:rPr>
              <a:t>Import the package</a:t>
            </a:r>
          </a:p>
          <a:p>
            <a:pPr marL="182880" indent="-178920">
              <a:lnSpc>
                <a:spcPct val="100000"/>
              </a:lnSpc>
              <a:spcBef>
                <a:spcPts val="2400"/>
              </a:spcBef>
              <a:buClr>
                <a:srgbClr val="0047BA"/>
              </a:buClr>
              <a:buSzPct val="65000"/>
              <a:buFont typeface="Wingdings" charset="2"/>
              <a:buChar char=""/>
            </a:pPr>
            <a:r>
              <a:rPr lang="en-US" sz="2400" spc="-1" dirty="0" err="1" smtClean="0">
                <a:solidFill>
                  <a:srgbClr val="0047BA"/>
                </a:solidFill>
                <a:latin typeface="Arial"/>
              </a:rPr>
              <a:t>pyplot</a:t>
            </a:r>
            <a:r>
              <a:rPr lang="en-US" sz="2400" spc="-1" dirty="0" smtClean="0">
                <a:solidFill>
                  <a:srgbClr val="0047BA"/>
                </a:solidFill>
                <a:latin typeface="Arial"/>
              </a:rPr>
              <a:t> API</a:t>
            </a:r>
          </a:p>
          <a:p>
            <a:pPr marL="182880" indent="-178920">
              <a:spcBef>
                <a:spcPts val="2400"/>
              </a:spcBef>
              <a:buClr>
                <a:srgbClr val="0047BA"/>
              </a:buClr>
              <a:buSzPct val="65000"/>
              <a:buFont typeface="Wingdings" charset="2"/>
              <a:buChar char=""/>
            </a:pPr>
            <a:r>
              <a:rPr lang="en-US" sz="2400" spc="-1" dirty="0">
                <a:solidFill>
                  <a:srgbClr val="0047BA"/>
                </a:solidFill>
              </a:rPr>
              <a:t>Plot </a:t>
            </a:r>
            <a:r>
              <a:rPr lang="en-US" sz="2400" spc="-1" dirty="0" smtClean="0">
                <a:solidFill>
                  <a:srgbClr val="0047BA"/>
                </a:solidFill>
              </a:rPr>
              <a:t>backend</a:t>
            </a:r>
            <a:endParaRPr lang="en-US" sz="2400" spc="-1" dirty="0">
              <a:solidFill>
                <a:srgbClr val="0047BA"/>
              </a:solidFill>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To begin with </a:t>
            </a:r>
            <a:r>
              <a:rPr lang="en-US" dirty="0" err="1" smtClean="0"/>
              <a:t>Matplotlib</a:t>
            </a:r>
            <a:r>
              <a:rPr lang="en-US" dirty="0" smtClean="0"/>
              <a:t>, </a:t>
            </a:r>
            <a:r>
              <a:rPr lang="en-US" dirty="0"/>
              <a:t>the </a:t>
            </a:r>
            <a:r>
              <a:rPr lang="en-US" b="1" dirty="0" err="1">
                <a:solidFill>
                  <a:schemeClr val="tx2"/>
                </a:solidFill>
              </a:rPr>
              <a:t>Pyplot</a:t>
            </a:r>
            <a:r>
              <a:rPr lang="en-US" dirty="0"/>
              <a:t> module from </a:t>
            </a:r>
            <a:r>
              <a:rPr lang="en-US" dirty="0" err="1"/>
              <a:t>Matplotlib</a:t>
            </a:r>
            <a:r>
              <a:rPr lang="en-US" dirty="0"/>
              <a:t> package is imported, with an alias </a:t>
            </a:r>
            <a:r>
              <a:rPr lang="en-US" b="1" dirty="0" err="1">
                <a:solidFill>
                  <a:schemeClr val="tx2"/>
                </a:solidFill>
              </a:rPr>
              <a:t>plt</a:t>
            </a:r>
            <a:r>
              <a:rPr lang="en-US" dirty="0"/>
              <a:t> as a matter of convention</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r>
              <a:rPr lang="en-US" b="1" dirty="0" err="1">
                <a:solidFill>
                  <a:schemeClr val="tx2"/>
                </a:solidFill>
              </a:rPr>
              <a:t>matplotlib.pyplot</a:t>
            </a:r>
            <a:r>
              <a:rPr lang="en-US" dirty="0"/>
              <a:t> is a collection of command style functions that make </a:t>
            </a:r>
            <a:r>
              <a:rPr lang="en-US" dirty="0" err="1"/>
              <a:t>Matplotlib</a:t>
            </a:r>
            <a:r>
              <a:rPr lang="en-US" dirty="0"/>
              <a:t> work like </a:t>
            </a:r>
            <a:r>
              <a:rPr lang="en-US" dirty="0" err="1" smtClean="0"/>
              <a:t>Matlab</a:t>
            </a:r>
            <a:r>
              <a:rPr lang="en-US" dirty="0" smtClean="0"/>
              <a:t>. </a:t>
            </a:r>
            <a:r>
              <a:rPr lang="en-US" dirty="0"/>
              <a:t>Each </a:t>
            </a:r>
            <a:r>
              <a:rPr lang="en-US" dirty="0" err="1"/>
              <a:t>Pyplot</a:t>
            </a:r>
            <a:r>
              <a:rPr lang="en-US" dirty="0"/>
              <a:t> function makes some change to a figure.</a:t>
            </a:r>
            <a:endParaRPr lang="en-US" sz="180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
        <p:nvSpPr>
          <p:cNvPr id="10" name="Rectangle 9"/>
          <p:cNvSpPr/>
          <p:nvPr/>
        </p:nvSpPr>
        <p:spPr>
          <a:xfrm>
            <a:off x="5287651" y="2243406"/>
            <a:ext cx="6275549" cy="369332"/>
          </a:xfrm>
          <a:prstGeom prst="rect">
            <a:avLst/>
          </a:prstGeom>
          <a:solidFill>
            <a:schemeClr val="bg1">
              <a:lumMod val="95000"/>
            </a:schemeClr>
          </a:solidFill>
        </p:spPr>
        <p:txBody>
          <a:bodyPr wrap="square">
            <a:spAutoFit/>
          </a:bodyPr>
          <a:lstStyle/>
          <a:p>
            <a:pPr lvl="0" eaLnBrk="0" fontAlgn="base" hangingPunct="0">
              <a:spcBef>
                <a:spcPct val="0"/>
              </a:spcBef>
              <a:spcAft>
                <a:spcPct val="0"/>
              </a:spcAft>
            </a:pPr>
            <a:r>
              <a:rPr lang="en-US" altLang="en-US" b="1" dirty="0">
                <a:solidFill>
                  <a:srgbClr val="008000"/>
                </a:solidFill>
                <a:latin typeface="Courier New" panose="02070309020205020404" pitchFamily="49" charset="0"/>
                <a:cs typeface="Courier New" panose="02070309020205020404" pitchFamily="49" charset="0"/>
              </a:rPr>
              <a:t>import</a:t>
            </a:r>
            <a:r>
              <a:rPr lang="en-US" altLang="en-US" dirty="0">
                <a:solidFill>
                  <a:srgbClr val="333333"/>
                </a:solidFill>
                <a:latin typeface="Courier New" panose="02070309020205020404" pitchFamily="49" charset="0"/>
                <a:cs typeface="Courier New" panose="02070309020205020404" pitchFamily="49" charset="0"/>
              </a:rPr>
              <a:t> </a:t>
            </a:r>
            <a:r>
              <a:rPr lang="en-US" altLang="en-US" b="1" dirty="0" err="1">
                <a:solidFill>
                  <a:srgbClr val="0000FF"/>
                </a:solidFill>
                <a:latin typeface="Courier New" panose="02070309020205020404" pitchFamily="49" charset="0"/>
                <a:cs typeface="Courier New" panose="02070309020205020404" pitchFamily="49" charset="0"/>
              </a:rPr>
              <a:t>matplotlib.pyplot</a:t>
            </a:r>
            <a:r>
              <a:rPr lang="en-US" altLang="en-US" dirty="0">
                <a:solidFill>
                  <a:srgbClr val="333333"/>
                </a:solidFill>
                <a:latin typeface="Courier New" panose="02070309020205020404" pitchFamily="49" charset="0"/>
                <a:cs typeface="Courier New" panose="02070309020205020404" pitchFamily="49" charset="0"/>
              </a:rPr>
              <a:t> </a:t>
            </a:r>
            <a:r>
              <a:rPr lang="en-US" altLang="en-US" b="1" dirty="0">
                <a:solidFill>
                  <a:srgbClr val="008000"/>
                </a:solidFill>
                <a:latin typeface="Courier New" panose="02070309020205020404" pitchFamily="49" charset="0"/>
                <a:cs typeface="Courier New" panose="02070309020205020404" pitchFamily="49" charset="0"/>
              </a:rPr>
              <a:t>as</a:t>
            </a:r>
            <a:r>
              <a:rPr lang="en-US" altLang="en-US" dirty="0">
                <a:solidFill>
                  <a:srgbClr val="333333"/>
                </a:solidFill>
                <a:latin typeface="Courier New" panose="02070309020205020404" pitchFamily="49" charset="0"/>
                <a:cs typeface="Courier New" panose="02070309020205020404" pitchFamily="49" charset="0"/>
              </a:rPr>
              <a:t> </a:t>
            </a:r>
            <a:r>
              <a:rPr lang="en-US" altLang="en-US" b="1" dirty="0" err="1">
                <a:solidFill>
                  <a:srgbClr val="0000FF"/>
                </a:solidFill>
                <a:latin typeface="Courier New" panose="02070309020205020404" pitchFamily="49" charset="0"/>
                <a:cs typeface="Courier New" panose="02070309020205020404" pitchFamily="49" charset="0"/>
              </a:rPr>
              <a:t>plt</a:t>
            </a:r>
            <a:r>
              <a:rPr lang="en-US" altLang="en-US"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84750456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a:pPr>
            <a:r>
              <a:rPr lang="en-US" sz="3600" b="1" strike="noStrike" spc="15" dirty="0" smtClean="0">
                <a:solidFill>
                  <a:srgbClr val="0047BA"/>
                </a:solidFill>
                <a:latin typeface="Arial"/>
                <a:ea typeface="DejaVu Sans"/>
              </a:rPr>
              <a:t>Introduction</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2400"/>
              </a:spcBef>
              <a:buClr>
                <a:srgbClr val="0047BA"/>
              </a:buClr>
              <a:buSzPct val="65000"/>
              <a:buFont typeface="Wingdings" charset="2"/>
              <a:buChar char=""/>
            </a:pPr>
            <a:r>
              <a:rPr lang="en-US" sz="2400" strike="noStrike" spc="-1" dirty="0" err="1" smtClean="0">
                <a:solidFill>
                  <a:srgbClr val="0047BA"/>
                </a:solidFill>
                <a:latin typeface="Arial"/>
                <a:ea typeface="DejaVu Sans"/>
              </a:rPr>
              <a:t>Matplotlib</a:t>
            </a:r>
            <a:endParaRPr lang="en-US" sz="2400" strike="noStrike" spc="-1" dirty="0" smtClean="0">
              <a:solidFill>
                <a:srgbClr val="0047BA"/>
              </a:solidFill>
              <a:latin typeface="Arial"/>
              <a:ea typeface="DejaVu Sans"/>
            </a:endParaRPr>
          </a:p>
          <a:p>
            <a:pPr marL="182880" indent="-178920">
              <a:lnSpc>
                <a:spcPct val="100000"/>
              </a:lnSpc>
              <a:spcBef>
                <a:spcPts val="2400"/>
              </a:spcBef>
              <a:buClr>
                <a:srgbClr val="0047BA"/>
              </a:buClr>
              <a:buSzPct val="65000"/>
              <a:buFont typeface="Wingdings" charset="2"/>
              <a:buChar char=""/>
            </a:pPr>
            <a:r>
              <a:rPr lang="en-US" sz="2400" strike="noStrike" spc="-1" dirty="0" smtClean="0">
                <a:solidFill>
                  <a:srgbClr val="0047BA"/>
                </a:solidFill>
                <a:latin typeface="Arial"/>
                <a:ea typeface="DejaVu Sans"/>
              </a:rPr>
              <a:t>Import the package</a:t>
            </a:r>
          </a:p>
          <a:p>
            <a:pPr marL="182880" indent="-178920">
              <a:lnSpc>
                <a:spcPct val="100000"/>
              </a:lnSpc>
              <a:spcBef>
                <a:spcPts val="2400"/>
              </a:spcBef>
              <a:buClr>
                <a:srgbClr val="0047BA"/>
              </a:buClr>
              <a:buSzPct val="65000"/>
              <a:buFont typeface="Wingdings" charset="2"/>
              <a:buChar char=""/>
            </a:pPr>
            <a:r>
              <a:rPr lang="en-US" sz="2800" b="1" spc="-1" dirty="0" err="1" smtClean="0">
                <a:solidFill>
                  <a:srgbClr val="0047BA"/>
                </a:solidFill>
                <a:latin typeface="Arial"/>
              </a:rPr>
              <a:t>pyplot</a:t>
            </a:r>
            <a:r>
              <a:rPr lang="en-US" sz="2800" b="1" spc="-1" dirty="0" smtClean="0">
                <a:solidFill>
                  <a:srgbClr val="0047BA"/>
                </a:solidFill>
                <a:latin typeface="Arial"/>
              </a:rPr>
              <a:t> API</a:t>
            </a:r>
          </a:p>
          <a:p>
            <a:pPr marL="182880" indent="-178920">
              <a:spcBef>
                <a:spcPts val="2400"/>
              </a:spcBef>
              <a:buClr>
                <a:srgbClr val="0047BA"/>
              </a:buClr>
              <a:buSzPct val="65000"/>
              <a:buFont typeface="Wingdings" charset="2"/>
              <a:buChar char=""/>
            </a:pPr>
            <a:r>
              <a:rPr lang="en-US" sz="2400" spc="-1" dirty="0">
                <a:solidFill>
                  <a:srgbClr val="0047BA"/>
                </a:solidFill>
              </a:rPr>
              <a:t>Plot </a:t>
            </a:r>
            <a:r>
              <a:rPr lang="en-US" sz="2400" spc="-1" dirty="0" smtClean="0">
                <a:solidFill>
                  <a:srgbClr val="0047BA"/>
                </a:solidFill>
              </a:rPr>
              <a:t>backend</a:t>
            </a:r>
            <a:endParaRPr lang="en-US" sz="2400" spc="-1" dirty="0">
              <a:solidFill>
                <a:srgbClr val="0047BA"/>
              </a:solidFill>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b="1" dirty="0" err="1" smtClean="0">
                <a:solidFill>
                  <a:schemeClr val="tx2"/>
                </a:solidFill>
              </a:rPr>
              <a:t>pyplot</a:t>
            </a:r>
            <a:r>
              <a:rPr lang="en-US" dirty="0"/>
              <a:t> is a </a:t>
            </a:r>
            <a:r>
              <a:rPr lang="en-US" dirty="0" smtClean="0"/>
              <a:t>module of </a:t>
            </a:r>
            <a:r>
              <a:rPr lang="en-US" dirty="0" err="1"/>
              <a:t>M</a:t>
            </a:r>
            <a:r>
              <a:rPr lang="en-US" dirty="0" err="1" smtClean="0"/>
              <a:t>atplotlib</a:t>
            </a:r>
            <a:r>
              <a:rPr lang="en-US" dirty="0" smtClean="0"/>
              <a:t>.</a:t>
            </a:r>
          </a:p>
          <a:p>
            <a:pPr marL="182880" indent="-178920">
              <a:lnSpc>
                <a:spcPct val="100000"/>
              </a:lnSpc>
              <a:spcBef>
                <a:spcPts val="3000"/>
              </a:spcBef>
              <a:buClr>
                <a:srgbClr val="0047BA"/>
              </a:buClr>
              <a:buSzPct val="65000"/>
              <a:buFont typeface="Wingdings" charset="2"/>
              <a:buChar char=""/>
            </a:pPr>
            <a:r>
              <a:rPr lang="en-US" dirty="0" smtClean="0"/>
              <a:t>It is collection </a:t>
            </a:r>
            <a:r>
              <a:rPr lang="en-US" dirty="0"/>
              <a:t>of command style functions that make </a:t>
            </a:r>
            <a:r>
              <a:rPr lang="en-US" dirty="0" err="1"/>
              <a:t>Matplotlib</a:t>
            </a:r>
            <a:r>
              <a:rPr lang="en-US" dirty="0"/>
              <a:t> work like </a:t>
            </a:r>
            <a:r>
              <a:rPr lang="en-US" dirty="0" err="1" smtClean="0"/>
              <a:t>Matlab</a:t>
            </a:r>
            <a:r>
              <a:rPr lang="en-US" dirty="0" smtClean="0"/>
              <a:t>. </a:t>
            </a:r>
            <a:r>
              <a:rPr lang="en-US" dirty="0"/>
              <a:t>Each </a:t>
            </a:r>
            <a:r>
              <a:rPr lang="en-US" dirty="0" err="1"/>
              <a:t>Pyplot</a:t>
            </a:r>
            <a:r>
              <a:rPr lang="en-US" dirty="0"/>
              <a:t> function makes some change to a </a:t>
            </a:r>
            <a:r>
              <a:rPr lang="en-US" dirty="0" smtClean="0"/>
              <a:t>figure:</a:t>
            </a:r>
          </a:p>
          <a:p>
            <a:pPr marL="640080" lvl="1" indent="-178920">
              <a:spcBef>
                <a:spcPts val="1200"/>
              </a:spcBef>
              <a:buClr>
                <a:srgbClr val="0047BA"/>
              </a:buClr>
              <a:buSzPct val="65000"/>
              <a:buFont typeface="Wingdings" charset="2"/>
              <a:buChar char=""/>
            </a:pPr>
            <a:r>
              <a:rPr lang="en-US" dirty="0"/>
              <a:t>C</a:t>
            </a:r>
            <a:r>
              <a:rPr lang="en-US" dirty="0" smtClean="0"/>
              <a:t>reates </a:t>
            </a:r>
            <a:r>
              <a:rPr lang="en-US" dirty="0"/>
              <a:t>a </a:t>
            </a:r>
            <a:r>
              <a:rPr lang="en-US" dirty="0" smtClean="0"/>
              <a:t>figure.</a:t>
            </a:r>
          </a:p>
          <a:p>
            <a:pPr marL="640080" lvl="1" indent="-178920">
              <a:spcBef>
                <a:spcPts val="1200"/>
              </a:spcBef>
              <a:buClr>
                <a:srgbClr val="0047BA"/>
              </a:buClr>
              <a:buSzPct val="65000"/>
              <a:buFont typeface="Wingdings" charset="2"/>
              <a:buChar char=""/>
            </a:pPr>
            <a:r>
              <a:rPr lang="en-US" dirty="0"/>
              <a:t>C</a:t>
            </a:r>
            <a:r>
              <a:rPr lang="en-US" dirty="0" smtClean="0"/>
              <a:t>reates </a:t>
            </a:r>
            <a:r>
              <a:rPr lang="en-US" dirty="0"/>
              <a:t>a </a:t>
            </a:r>
            <a:r>
              <a:rPr lang="en-US" dirty="0" smtClean="0"/>
              <a:t>plotting area in a figure.</a:t>
            </a:r>
          </a:p>
          <a:p>
            <a:pPr marL="640080" lvl="1" indent="-178920">
              <a:spcBef>
                <a:spcPts val="1200"/>
              </a:spcBef>
              <a:buClr>
                <a:srgbClr val="0047BA"/>
              </a:buClr>
              <a:buSzPct val="65000"/>
              <a:buFont typeface="Wingdings" charset="2"/>
              <a:buChar char=""/>
            </a:pPr>
            <a:r>
              <a:rPr lang="en-US" dirty="0"/>
              <a:t>P</a:t>
            </a:r>
            <a:r>
              <a:rPr lang="en-US" dirty="0" smtClean="0"/>
              <a:t>lots </a:t>
            </a:r>
            <a:r>
              <a:rPr lang="en-US" dirty="0"/>
              <a:t>some lines in a plotting </a:t>
            </a:r>
            <a:r>
              <a:rPr lang="en-US" dirty="0" smtClean="0"/>
              <a:t>area.</a:t>
            </a:r>
          </a:p>
          <a:p>
            <a:pPr marL="640080" lvl="1" indent="-178920">
              <a:spcBef>
                <a:spcPts val="1200"/>
              </a:spcBef>
              <a:buClr>
                <a:srgbClr val="0047BA"/>
              </a:buClr>
              <a:buSzPct val="65000"/>
              <a:buFont typeface="Wingdings" charset="2"/>
              <a:buChar char=""/>
            </a:pPr>
            <a:r>
              <a:rPr lang="en-US" dirty="0"/>
              <a:t>D</a:t>
            </a:r>
            <a:r>
              <a:rPr lang="en-US" dirty="0" smtClean="0"/>
              <a:t>ecorates </a:t>
            </a:r>
            <a:r>
              <a:rPr lang="en-US" dirty="0"/>
              <a:t>the plot with </a:t>
            </a:r>
            <a:r>
              <a:rPr lang="en-US" dirty="0" smtClean="0"/>
              <a:t>labels</a:t>
            </a:r>
            <a:r>
              <a:rPr lang="en-US" spc="-1" dirty="0" smtClean="0">
                <a:latin typeface="Arial"/>
              </a:rPr>
              <a:t>.</a:t>
            </a:r>
          </a:p>
          <a:p>
            <a:pPr marL="182880" indent="-178920">
              <a:lnSpc>
                <a:spcPct val="100000"/>
              </a:lnSpc>
              <a:spcBef>
                <a:spcPts val="3169"/>
              </a:spcBef>
              <a:buClr>
                <a:srgbClr val="0047BA"/>
              </a:buClr>
              <a:buSzPct val="65000"/>
              <a:buFont typeface="Wingdings" charset="2"/>
              <a:buChar char=""/>
            </a:pPr>
            <a:r>
              <a:rPr lang="en-US" dirty="0" err="1" smtClean="0"/>
              <a:t>pyplot</a:t>
            </a:r>
            <a:r>
              <a:rPr lang="en-US" dirty="0" smtClean="0"/>
              <a:t> is </a:t>
            </a:r>
            <a:r>
              <a:rPr lang="en-US" b="1" dirty="0" err="1" smtClean="0">
                <a:solidFill>
                  <a:schemeClr val="tx2"/>
                </a:solidFill>
              </a:rPr>
              <a:t>stateful</a:t>
            </a:r>
            <a:r>
              <a:rPr lang="en-US" dirty="0"/>
              <a:t>, in that it keeps track of the current figure and plotting area, and the plotting functions are directed to the current axes</a:t>
            </a:r>
            <a:endParaRPr lang="en-US" sz="1600" b="1" spc="-1" dirty="0" smtClean="0">
              <a:solidFill>
                <a:schemeClr val="tx2"/>
              </a:solidFill>
            </a:endParaRPr>
          </a:p>
          <a:p>
            <a:pPr marL="182880" indent="-178920">
              <a:lnSpc>
                <a:spcPct val="100000"/>
              </a:lnSpc>
              <a:spcBef>
                <a:spcPts val="3169"/>
              </a:spcBef>
              <a:buClr>
                <a:srgbClr val="0047BA"/>
              </a:buClr>
              <a:buSzPct val="65000"/>
              <a:buFont typeface="Wingdings" charset="2"/>
              <a:buChar char=""/>
            </a:pPr>
            <a:r>
              <a:rPr lang="en-US" b="1" spc="-1" dirty="0" smtClean="0">
                <a:solidFill>
                  <a:schemeClr val="tx2"/>
                </a:solidFill>
              </a:rPr>
              <a:t>Let’s </a:t>
            </a:r>
            <a:r>
              <a:rPr lang="en-US" b="1" spc="-1" dirty="0">
                <a:solidFill>
                  <a:schemeClr val="tx2"/>
                </a:solidFill>
              </a:rPr>
              <a:t>see some </a:t>
            </a:r>
            <a:r>
              <a:rPr lang="en-US" b="1" spc="-1" dirty="0" smtClean="0">
                <a:solidFill>
                  <a:schemeClr val="tx2"/>
                </a:solidFill>
              </a:rPr>
              <a:t>examples:</a:t>
            </a:r>
          </a:p>
          <a:p>
            <a:pPr marL="461160" lvl="1">
              <a:spcBef>
                <a:spcPts val="600"/>
              </a:spcBef>
              <a:buClr>
                <a:srgbClr val="0047BA"/>
              </a:buClr>
              <a:buSzPct val="65000"/>
            </a:pPr>
            <a:r>
              <a:rPr lang="en-US" spc="-1" dirty="0" smtClean="0">
                <a:solidFill>
                  <a:schemeClr val="tx2"/>
                </a:solidFill>
              </a:rPr>
              <a:t>01_Introduction/</a:t>
            </a:r>
            <a:r>
              <a:rPr lang="en-US" spc="-1" dirty="0" err="1" smtClean="0">
                <a:solidFill>
                  <a:schemeClr val="tx2"/>
                </a:solidFill>
              </a:rPr>
              <a:t>pyplot_stateful.ipynb</a:t>
            </a:r>
            <a:endParaRPr lang="en-US" spc="-1" dirty="0" smtClean="0">
              <a:solidFill>
                <a:schemeClr val="tx2"/>
              </a:solidFill>
            </a:endParaRPr>
          </a:p>
          <a:p>
            <a:pPr marL="182880" indent="-178920">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401494832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a:pPr>
            <a:r>
              <a:rPr lang="en-US" sz="3600" b="1" strike="noStrike" spc="15" dirty="0" smtClean="0">
                <a:solidFill>
                  <a:srgbClr val="0047BA"/>
                </a:solidFill>
                <a:latin typeface="Arial"/>
                <a:ea typeface="DejaVu Sans"/>
              </a:rPr>
              <a:t>Introduction</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6</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2400"/>
              </a:spcBef>
              <a:buClr>
                <a:srgbClr val="0047BA"/>
              </a:buClr>
              <a:buSzPct val="65000"/>
              <a:buFont typeface="Wingdings" charset="2"/>
              <a:buChar char=""/>
            </a:pPr>
            <a:r>
              <a:rPr lang="en-US" sz="2400" strike="noStrike" spc="-1" dirty="0" err="1" smtClean="0">
                <a:solidFill>
                  <a:srgbClr val="0047BA"/>
                </a:solidFill>
                <a:latin typeface="Arial"/>
                <a:ea typeface="DejaVu Sans"/>
              </a:rPr>
              <a:t>Matplotlib</a:t>
            </a:r>
            <a:endParaRPr lang="en-US" sz="2400" strike="noStrike" spc="-1" dirty="0" smtClean="0">
              <a:solidFill>
                <a:srgbClr val="0047BA"/>
              </a:solidFill>
              <a:latin typeface="Arial"/>
              <a:ea typeface="DejaVu Sans"/>
            </a:endParaRPr>
          </a:p>
          <a:p>
            <a:pPr marL="182880" indent="-178920">
              <a:lnSpc>
                <a:spcPct val="100000"/>
              </a:lnSpc>
              <a:spcBef>
                <a:spcPts val="2400"/>
              </a:spcBef>
              <a:buClr>
                <a:srgbClr val="0047BA"/>
              </a:buClr>
              <a:buSzPct val="65000"/>
              <a:buFont typeface="Wingdings" charset="2"/>
              <a:buChar char=""/>
            </a:pPr>
            <a:r>
              <a:rPr lang="en-US" sz="2400" strike="noStrike" spc="-1" dirty="0" smtClean="0">
                <a:solidFill>
                  <a:srgbClr val="0047BA"/>
                </a:solidFill>
                <a:latin typeface="Arial"/>
                <a:ea typeface="DejaVu Sans"/>
              </a:rPr>
              <a:t>Import the package</a:t>
            </a:r>
          </a:p>
          <a:p>
            <a:pPr marL="182880" indent="-178920">
              <a:lnSpc>
                <a:spcPct val="100000"/>
              </a:lnSpc>
              <a:spcBef>
                <a:spcPts val="2400"/>
              </a:spcBef>
              <a:buClr>
                <a:srgbClr val="0047BA"/>
              </a:buClr>
              <a:buSzPct val="65000"/>
              <a:buFont typeface="Wingdings" charset="2"/>
              <a:buChar char=""/>
            </a:pPr>
            <a:r>
              <a:rPr lang="en-US" sz="2400" spc="-1" dirty="0" err="1" smtClean="0">
                <a:solidFill>
                  <a:srgbClr val="0047BA"/>
                </a:solidFill>
                <a:latin typeface="Arial"/>
              </a:rPr>
              <a:t>pyplot</a:t>
            </a:r>
            <a:r>
              <a:rPr lang="en-US" sz="2400" spc="-1" dirty="0" smtClean="0">
                <a:solidFill>
                  <a:srgbClr val="0047BA"/>
                </a:solidFill>
                <a:latin typeface="Arial"/>
              </a:rPr>
              <a:t> API</a:t>
            </a:r>
          </a:p>
          <a:p>
            <a:pPr marL="182880" indent="-178920">
              <a:spcBef>
                <a:spcPts val="2400"/>
              </a:spcBef>
              <a:buClr>
                <a:srgbClr val="0047BA"/>
              </a:buClr>
              <a:buSzPct val="65000"/>
              <a:buFont typeface="Wingdings" charset="2"/>
              <a:buChar char=""/>
            </a:pPr>
            <a:r>
              <a:rPr lang="en-US" sz="2800" b="1" spc="-1" dirty="0">
                <a:solidFill>
                  <a:srgbClr val="0047BA"/>
                </a:solidFill>
              </a:rPr>
              <a:t>Plot </a:t>
            </a:r>
            <a:r>
              <a:rPr lang="en-US" sz="2800" b="1" spc="-1" dirty="0" smtClean="0">
                <a:solidFill>
                  <a:srgbClr val="0047BA"/>
                </a:solidFill>
              </a:rPr>
              <a:t>backend</a:t>
            </a:r>
            <a:endParaRPr lang="en-US" sz="2800" b="1" spc="-1" dirty="0">
              <a:solidFill>
                <a:srgbClr val="0047BA"/>
              </a:solidFill>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It is possible to change the behavior of the notebook when the plots are created. This is achieved by selecting the </a:t>
            </a:r>
            <a:r>
              <a:rPr lang="en-US" b="1" dirty="0" smtClean="0">
                <a:solidFill>
                  <a:schemeClr val="tx2"/>
                </a:solidFill>
              </a:rPr>
              <a:t>plot backend</a:t>
            </a:r>
            <a:r>
              <a:rPr lang="en-US" dirty="0" smtClean="0"/>
              <a:t>.</a:t>
            </a:r>
          </a:p>
          <a:p>
            <a:pPr marL="182880" indent="-178920">
              <a:lnSpc>
                <a:spcPct val="100000"/>
              </a:lnSpc>
              <a:spcBef>
                <a:spcPts val="3000"/>
              </a:spcBef>
              <a:buClr>
                <a:srgbClr val="0047BA"/>
              </a:buClr>
              <a:buSzPct val="65000"/>
              <a:buFont typeface="Wingdings" charset="2"/>
              <a:buChar char=""/>
            </a:pPr>
            <a:r>
              <a:rPr lang="en-US" dirty="0"/>
              <a:t>To set this up, before any plotting or import of </a:t>
            </a:r>
            <a:r>
              <a:rPr lang="en-US" dirty="0" err="1"/>
              <a:t>matplotlib</a:t>
            </a:r>
            <a:r>
              <a:rPr lang="en-US" dirty="0"/>
              <a:t> is performed you must execute the </a:t>
            </a:r>
            <a:r>
              <a:rPr lang="en-US" b="1" dirty="0">
                <a:solidFill>
                  <a:schemeClr val="tx2"/>
                </a:solidFill>
              </a:rPr>
              <a:t>%</a:t>
            </a:r>
            <a:r>
              <a:rPr lang="en-US" b="1" dirty="0" err="1">
                <a:solidFill>
                  <a:schemeClr val="tx2"/>
                </a:solidFill>
              </a:rPr>
              <a:t>matplotlib</a:t>
            </a:r>
            <a:r>
              <a:rPr lang="en-US" b="1" dirty="0">
                <a:solidFill>
                  <a:schemeClr val="tx2"/>
                </a:solidFill>
              </a:rPr>
              <a:t> </a:t>
            </a:r>
            <a:r>
              <a:rPr lang="en-US" dirty="0">
                <a:solidFill>
                  <a:schemeClr val="tx2"/>
                </a:solidFill>
              </a:rPr>
              <a:t>magic </a:t>
            </a:r>
            <a:r>
              <a:rPr lang="en-US" dirty="0" smtClean="0">
                <a:solidFill>
                  <a:schemeClr val="tx2"/>
                </a:solidFill>
              </a:rPr>
              <a:t>command</a:t>
            </a:r>
            <a:r>
              <a:rPr lang="en-US" dirty="0"/>
              <a:t>:</a:t>
            </a:r>
            <a:endParaRPr lang="en-US" dirty="0" smtClean="0"/>
          </a:p>
          <a:p>
            <a:pPr marL="640080" lvl="1" indent="-178920">
              <a:spcBef>
                <a:spcPts val="2400"/>
              </a:spcBef>
              <a:buClr>
                <a:srgbClr val="0047BA"/>
              </a:buClr>
              <a:buSzPct val="65000"/>
              <a:buFont typeface="Wingdings" charset="2"/>
              <a:buChar char=""/>
            </a:pPr>
            <a:r>
              <a:rPr lang="en-US" b="1" dirty="0" smtClean="0">
                <a:solidFill>
                  <a:schemeClr val="tx2"/>
                </a:solidFill>
                <a:latin typeface="Courier New" panose="02070309020205020404" pitchFamily="49" charset="0"/>
                <a:cs typeface="Courier New" panose="02070309020205020404" pitchFamily="49" charset="0"/>
              </a:rPr>
              <a:t>%</a:t>
            </a:r>
            <a:r>
              <a:rPr lang="en-US" b="1" dirty="0" err="1" smtClean="0">
                <a:solidFill>
                  <a:schemeClr val="tx2"/>
                </a:solidFill>
                <a:latin typeface="Courier New" panose="02070309020205020404" pitchFamily="49" charset="0"/>
                <a:cs typeface="Courier New" panose="02070309020205020404" pitchFamily="49" charset="0"/>
              </a:rPr>
              <a:t>matplotlib</a:t>
            </a:r>
            <a:r>
              <a:rPr lang="en-US" b="1" dirty="0" smtClean="0">
                <a:solidFill>
                  <a:schemeClr val="tx2"/>
                </a:solidFill>
                <a:latin typeface="Courier New" panose="02070309020205020404" pitchFamily="49" charset="0"/>
                <a:cs typeface="Courier New" panose="02070309020205020404" pitchFamily="49" charset="0"/>
              </a:rPr>
              <a:t> inline</a:t>
            </a:r>
            <a:r>
              <a:rPr lang="en-US" dirty="0" smtClean="0"/>
              <a:t>: will draw static images in the notebook.</a:t>
            </a:r>
          </a:p>
          <a:p>
            <a:pPr marL="640080" lvl="1" indent="-178920">
              <a:spcBef>
                <a:spcPts val="2400"/>
              </a:spcBef>
              <a:buClr>
                <a:srgbClr val="0047BA"/>
              </a:buClr>
              <a:buSzPct val="65000"/>
              <a:buFont typeface="Wingdings" charset="2"/>
              <a:buChar char=""/>
            </a:pPr>
            <a:r>
              <a:rPr lang="en-US" b="1" dirty="0">
                <a:solidFill>
                  <a:schemeClr val="tx2"/>
                </a:solidFill>
                <a:latin typeface="Courier New" panose="02070309020205020404" pitchFamily="49" charset="0"/>
                <a:cs typeface="Courier New" panose="02070309020205020404" pitchFamily="49" charset="0"/>
              </a:rPr>
              <a:t>%</a:t>
            </a:r>
            <a:r>
              <a:rPr lang="en-US" b="1" dirty="0" err="1">
                <a:solidFill>
                  <a:schemeClr val="tx2"/>
                </a:solidFill>
                <a:latin typeface="Courier New" panose="02070309020205020404" pitchFamily="49" charset="0"/>
                <a:cs typeface="Courier New" panose="02070309020205020404" pitchFamily="49" charset="0"/>
              </a:rPr>
              <a:t>matplotlib</a:t>
            </a:r>
            <a:r>
              <a:rPr lang="en-US" b="1" dirty="0">
                <a:solidFill>
                  <a:schemeClr val="tx2"/>
                </a:solidFill>
                <a:latin typeface="Courier New" panose="02070309020205020404" pitchFamily="49" charset="0"/>
                <a:cs typeface="Courier New" panose="02070309020205020404" pitchFamily="49" charset="0"/>
              </a:rPr>
              <a:t> </a:t>
            </a:r>
            <a:r>
              <a:rPr lang="en-US" b="1" dirty="0" smtClean="0">
                <a:solidFill>
                  <a:schemeClr val="tx2"/>
                </a:solidFill>
                <a:latin typeface="Courier New" panose="02070309020205020404" pitchFamily="49" charset="0"/>
                <a:cs typeface="Courier New" panose="02070309020205020404" pitchFamily="49" charset="0"/>
              </a:rPr>
              <a:t>notebook</a:t>
            </a:r>
            <a:r>
              <a:rPr lang="en-US" dirty="0" smtClean="0"/>
              <a:t>: </a:t>
            </a:r>
            <a:r>
              <a:rPr lang="en-US" dirty="0"/>
              <a:t>will lead to interactive plots embedded within the notebook, you can zoom and resize the </a:t>
            </a:r>
            <a:r>
              <a:rPr lang="en-US" dirty="0" smtClean="0"/>
              <a:t>figure.</a:t>
            </a:r>
          </a:p>
          <a:p>
            <a:pPr marL="182880" indent="-178920">
              <a:lnSpc>
                <a:spcPct val="100000"/>
              </a:lnSpc>
              <a:spcBef>
                <a:spcPts val="3169"/>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01_Introduction/</a:t>
            </a:r>
            <a:r>
              <a:rPr lang="en-US" spc="-1" dirty="0" err="1" smtClean="0">
                <a:solidFill>
                  <a:schemeClr val="tx2"/>
                </a:solidFill>
              </a:rPr>
              <a:t>plot_backend.ipynb</a:t>
            </a:r>
            <a:endParaRPr lang="en-US" spc="-1" dirty="0">
              <a:solidFill>
                <a:schemeClr val="tx2"/>
              </a:solidFill>
            </a:endParaRPr>
          </a:p>
          <a:p>
            <a:pPr marL="182880" indent="-178920">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405180051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7</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800" b="1" spc="-1" dirty="0" smtClean="0">
                <a:solidFill>
                  <a:schemeClr val="tx2"/>
                </a:solidFill>
              </a:rPr>
              <a:t>Object-oriented API</a:t>
            </a:r>
          </a:p>
          <a:p>
            <a:pPr marL="182880" indent="-178920">
              <a:lnSpc>
                <a:spcPct val="100000"/>
              </a:lnSpc>
              <a:spcBef>
                <a:spcPts val="2400"/>
              </a:spcBef>
              <a:buClr>
                <a:srgbClr val="0047BA"/>
              </a:buClr>
              <a:buSzPct val="65000"/>
              <a:buFont typeface="Wingdings" charset="2"/>
              <a:buChar char=""/>
            </a:pPr>
            <a:r>
              <a:rPr lang="en-US" sz="2400" spc="-1" dirty="0">
                <a:solidFill>
                  <a:srgbClr val="0047BA"/>
                </a:solidFill>
              </a:rPr>
              <a:t>Figure class</a:t>
            </a:r>
          </a:p>
          <a:p>
            <a:pPr marL="182880" indent="-178920">
              <a:lnSpc>
                <a:spcPct val="100000"/>
              </a:lnSpc>
              <a:spcBef>
                <a:spcPts val="2400"/>
              </a:spcBef>
              <a:buClr>
                <a:srgbClr val="0047BA"/>
              </a:buClr>
              <a:buSzPct val="65000"/>
              <a:buFont typeface="Wingdings" charset="2"/>
              <a:buChar char=""/>
            </a:pPr>
            <a:r>
              <a:rPr lang="en-US" sz="2400" spc="-1" dirty="0">
                <a:solidFill>
                  <a:srgbClr val="0047BA"/>
                </a:solidFill>
              </a:rPr>
              <a:t>Axes class</a:t>
            </a:r>
          </a:p>
          <a:p>
            <a:pPr marL="182880" indent="-178920">
              <a:spcBef>
                <a:spcPts val="2400"/>
              </a:spcBef>
              <a:buClr>
                <a:srgbClr val="0047BA"/>
              </a:buClr>
              <a:buSzPct val="65000"/>
              <a:buFont typeface="Wingdings" charset="2"/>
              <a:buChar char=""/>
            </a:pPr>
            <a:endParaRPr lang="en-US" sz="2800" b="1" spc="-1" dirty="0">
              <a:solidFill>
                <a:schemeClr val="tx2"/>
              </a:solidFill>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At its core </a:t>
            </a:r>
            <a:r>
              <a:rPr lang="en-US" dirty="0" err="1" smtClean="0"/>
              <a:t>Matplotlib</a:t>
            </a:r>
            <a:r>
              <a:rPr lang="en-US" dirty="0" smtClean="0"/>
              <a:t> is </a:t>
            </a:r>
            <a:r>
              <a:rPr lang="en-US" b="1" dirty="0" smtClean="0">
                <a:solidFill>
                  <a:schemeClr val="tx2"/>
                </a:solidFill>
              </a:rPr>
              <a:t>object-oriented</a:t>
            </a:r>
            <a:r>
              <a:rPr lang="en-US" dirty="0" smtClean="0"/>
              <a:t>.</a:t>
            </a:r>
          </a:p>
          <a:p>
            <a:pPr marL="182880" indent="-178920">
              <a:lnSpc>
                <a:spcPct val="100000"/>
              </a:lnSpc>
              <a:spcBef>
                <a:spcPts val="3000"/>
              </a:spcBef>
              <a:buClr>
                <a:srgbClr val="0047BA"/>
              </a:buClr>
              <a:buSzPct val="65000"/>
              <a:buFont typeface="Wingdings" charset="2"/>
              <a:buChar char=""/>
            </a:pPr>
            <a:r>
              <a:rPr lang="en-US" dirty="0"/>
              <a:t>Most of the </a:t>
            </a:r>
            <a:r>
              <a:rPr lang="en-US" dirty="0" smtClean="0"/>
              <a:t>functions available in </a:t>
            </a:r>
            <a:r>
              <a:rPr lang="en-US" b="1" dirty="0" err="1" smtClean="0">
                <a:solidFill>
                  <a:schemeClr val="tx2"/>
                </a:solidFill>
              </a:rPr>
              <a:t>matplotlib.pyplot</a:t>
            </a:r>
            <a:r>
              <a:rPr lang="en-US" dirty="0" smtClean="0"/>
              <a:t> </a:t>
            </a:r>
            <a:r>
              <a:rPr lang="en-US" dirty="0"/>
              <a:t>are also available </a:t>
            </a:r>
            <a:r>
              <a:rPr lang="en-US" dirty="0" smtClean="0"/>
              <a:t>in the</a:t>
            </a:r>
            <a:r>
              <a:rPr lang="en-US" dirty="0"/>
              <a:t> </a:t>
            </a:r>
            <a:r>
              <a:rPr lang="en-US" b="1" dirty="0" err="1">
                <a:solidFill>
                  <a:schemeClr val="tx2"/>
                </a:solidFill>
              </a:rPr>
              <a:t>matplotlib.axes.Axes</a:t>
            </a:r>
            <a:r>
              <a:rPr lang="en-US" dirty="0"/>
              <a:t> class.</a:t>
            </a:r>
            <a:endParaRPr lang="en-US" dirty="0" smtClean="0"/>
          </a:p>
          <a:p>
            <a:pPr marL="182880" indent="-178920">
              <a:lnSpc>
                <a:spcPct val="100000"/>
              </a:lnSpc>
              <a:spcBef>
                <a:spcPts val="3000"/>
              </a:spcBef>
              <a:buClr>
                <a:srgbClr val="0047BA"/>
              </a:buClr>
              <a:buSzPct val="65000"/>
              <a:buFont typeface="Wingdings" charset="2"/>
              <a:buChar char=""/>
            </a:pPr>
            <a:r>
              <a:rPr lang="en-US" dirty="0" smtClean="0"/>
              <a:t>Working directly with the objects gives more </a:t>
            </a:r>
            <a:r>
              <a:rPr lang="en-US" b="1" dirty="0" smtClean="0">
                <a:solidFill>
                  <a:schemeClr val="tx2"/>
                </a:solidFill>
              </a:rPr>
              <a:t>control and customization</a:t>
            </a:r>
            <a:r>
              <a:rPr lang="en-US" dirty="0" smtClean="0"/>
              <a:t> to the plots.</a:t>
            </a:r>
          </a:p>
          <a:p>
            <a:pPr marL="182880" indent="-178920">
              <a:lnSpc>
                <a:spcPct val="100000"/>
              </a:lnSpc>
              <a:spcBef>
                <a:spcPts val="3000"/>
              </a:spcBef>
              <a:buClr>
                <a:srgbClr val="0047BA"/>
              </a:buClr>
              <a:buSzPct val="65000"/>
              <a:buFont typeface="Wingdings" charset="2"/>
              <a:buChar char=""/>
            </a:pPr>
            <a:r>
              <a:rPr lang="en-US" dirty="0"/>
              <a:t>In object-oriented interface, </a:t>
            </a:r>
            <a:r>
              <a:rPr lang="en-US" dirty="0" err="1"/>
              <a:t>Pyplot</a:t>
            </a:r>
            <a:r>
              <a:rPr lang="en-US" dirty="0"/>
              <a:t> is used only for a few functions such as </a:t>
            </a:r>
            <a:r>
              <a:rPr lang="en-US" b="1" dirty="0">
                <a:solidFill>
                  <a:schemeClr val="tx2"/>
                </a:solidFill>
              </a:rPr>
              <a:t>figure creation</a:t>
            </a:r>
            <a:r>
              <a:rPr lang="en-US" dirty="0"/>
              <a:t>, and </a:t>
            </a:r>
            <a:r>
              <a:rPr lang="en-US" b="1" dirty="0">
                <a:solidFill>
                  <a:schemeClr val="tx2"/>
                </a:solidFill>
              </a:rPr>
              <a:t>the user explicitly creates and keeps track of the figure and axes objects</a:t>
            </a:r>
            <a:r>
              <a:rPr lang="en-US" dirty="0" smtClean="0"/>
              <a:t>.</a:t>
            </a:r>
          </a:p>
          <a:p>
            <a:pPr marL="182880" indent="-178920">
              <a:lnSpc>
                <a:spcPct val="100000"/>
              </a:lnSpc>
              <a:spcBef>
                <a:spcPts val="3169"/>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02_Figures_and_axes/</a:t>
            </a:r>
            <a:r>
              <a:rPr lang="en-US" spc="-1" dirty="0" err="1" smtClean="0">
                <a:solidFill>
                  <a:schemeClr val="tx2"/>
                </a:solidFill>
              </a:rPr>
              <a:t>pyplot_object_oriented.ipynb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dirty="0" smtClean="0"/>
          </a:p>
          <a:p>
            <a:pPr marL="182880" indent="-178920">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60824109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8</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API</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The</a:t>
            </a:r>
            <a:r>
              <a:rPr lang="en-US" dirty="0"/>
              <a:t> </a:t>
            </a:r>
            <a:r>
              <a:rPr lang="en-US" b="1" dirty="0" err="1">
                <a:solidFill>
                  <a:schemeClr val="tx2"/>
                </a:solidFill>
              </a:rPr>
              <a:t>matplotlib.figure</a:t>
            </a:r>
            <a:r>
              <a:rPr lang="en-US" dirty="0"/>
              <a:t> module contains the Figure class. It is a top-level container for all plot elements. The Figure object is instantiated by calling the</a:t>
            </a:r>
            <a:r>
              <a:rPr lang="en-US" dirty="0">
                <a:solidFill>
                  <a:schemeClr val="tx2"/>
                </a:solidFill>
              </a:rPr>
              <a:t> </a:t>
            </a:r>
            <a:r>
              <a:rPr lang="en-US" b="1" dirty="0">
                <a:solidFill>
                  <a:schemeClr val="tx2"/>
                </a:solidFill>
              </a:rPr>
              <a:t>figure()</a:t>
            </a:r>
            <a:r>
              <a:rPr lang="en-US" dirty="0"/>
              <a:t> function from the </a:t>
            </a:r>
            <a:r>
              <a:rPr lang="en-US" dirty="0" err="1"/>
              <a:t>pyplot</a:t>
            </a:r>
            <a:r>
              <a:rPr lang="en-US" dirty="0"/>
              <a:t> </a:t>
            </a:r>
            <a:r>
              <a:rPr lang="en-US" dirty="0" smtClean="0"/>
              <a:t>module.</a:t>
            </a: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169"/>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02_Figures_and_axes/</a:t>
            </a:r>
            <a:r>
              <a:rPr lang="en-US" spc="-1" dirty="0" err="1" smtClean="0">
                <a:solidFill>
                  <a:schemeClr val="tx2"/>
                </a:solidFill>
              </a:rPr>
              <a:t>figures.ipynb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a:p>
            <a:pPr marL="182880" indent="-178920">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
        <p:nvSpPr>
          <p:cNvPr id="10" name="Rectangle 9"/>
          <p:cNvSpPr/>
          <p:nvPr/>
        </p:nvSpPr>
        <p:spPr>
          <a:xfrm>
            <a:off x="5287651" y="2400490"/>
            <a:ext cx="6275549" cy="369332"/>
          </a:xfrm>
          <a:prstGeom prst="rect">
            <a:avLst/>
          </a:prstGeom>
          <a:solidFill>
            <a:schemeClr val="bg1">
              <a:lumMod val="95000"/>
            </a:schemeClr>
          </a:solidFill>
        </p:spPr>
        <p:txBody>
          <a:bodyPr wrap="square">
            <a:spAutoFit/>
          </a:bodyPr>
          <a:lstStyle/>
          <a:p>
            <a:r>
              <a:rPr lang="en-US" altLang="en-US" dirty="0" smtClean="0">
                <a:solidFill>
                  <a:srgbClr val="333333"/>
                </a:solidFill>
                <a:latin typeface="Courier New" panose="02070309020205020404" pitchFamily="49" charset="0"/>
                <a:cs typeface="Courier New" panose="02070309020205020404" pitchFamily="49" charset="0"/>
              </a:rPr>
              <a:t>fig = </a:t>
            </a:r>
            <a:r>
              <a:rPr lang="en-US" altLang="en-US" dirty="0" err="1" smtClean="0">
                <a:solidFill>
                  <a:srgbClr val="333333"/>
                </a:solidFill>
                <a:latin typeface="Courier New" panose="02070309020205020404" pitchFamily="49" charset="0"/>
                <a:cs typeface="Courier New" panose="02070309020205020404" pitchFamily="49" charset="0"/>
              </a:rPr>
              <a:t>plt.figure</a:t>
            </a:r>
            <a:r>
              <a:rPr lang="en-US" altLang="en-US" dirty="0" smtClean="0">
                <a:solidFill>
                  <a:srgbClr val="333333"/>
                </a:solidFill>
                <a:latin typeface="Courier New" panose="02070309020205020404" pitchFamily="49" charset="0"/>
                <a:cs typeface="Courier New" panose="02070309020205020404" pitchFamily="49" charset="0"/>
              </a:rPr>
              <a:t>()</a:t>
            </a:r>
            <a:endParaRPr lang="en-US" altLang="en-US" sz="1400" dirty="0">
              <a:latin typeface="Courier New" panose="02070309020205020404" pitchFamily="49" charset="0"/>
              <a:cs typeface="Courier New" panose="02070309020205020404" pitchFamily="49"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1030413810"/>
              </p:ext>
            </p:extLst>
          </p:nvPr>
        </p:nvGraphicFramePr>
        <p:xfrm>
          <a:off x="5287649" y="2845453"/>
          <a:ext cx="6275551" cy="3135454"/>
        </p:xfrm>
        <a:graphic>
          <a:graphicData uri="http://schemas.openxmlformats.org/drawingml/2006/table">
            <a:tbl>
              <a:tblPr/>
              <a:tblGrid>
                <a:gridCol w="662701">
                  <a:extLst>
                    <a:ext uri="{9D8B030D-6E8A-4147-A177-3AD203B41FA5}">
                      <a16:colId xmlns:a16="http://schemas.microsoft.com/office/drawing/2014/main" val="3733997974"/>
                    </a:ext>
                  </a:extLst>
                </a:gridCol>
                <a:gridCol w="5612850">
                  <a:extLst>
                    <a:ext uri="{9D8B030D-6E8A-4147-A177-3AD203B41FA5}">
                      <a16:colId xmlns:a16="http://schemas.microsoft.com/office/drawing/2014/main" val="2260607036"/>
                    </a:ext>
                  </a:extLst>
                </a:gridCol>
              </a:tblGrid>
              <a:tr h="229026">
                <a:tc>
                  <a:txBody>
                    <a:bodyPr/>
                    <a:lstStyle/>
                    <a:p>
                      <a:pPr algn="ctr" fontAlgn="t"/>
                      <a:r>
                        <a:rPr lang="en-US" sz="1400" b="1" dirty="0" err="1">
                          <a:solidFill>
                            <a:schemeClr val="bg1"/>
                          </a:solidFill>
                          <a:effectLst/>
                        </a:rPr>
                        <a:t>Sr.No</a:t>
                      </a:r>
                      <a:r>
                        <a:rPr lang="en-US" sz="1400" b="1" dirty="0">
                          <a:solidFill>
                            <a:schemeClr val="bg1"/>
                          </a:solidFill>
                          <a:effectLst/>
                        </a:rPr>
                        <a:t>.</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tx2"/>
                    </a:solidFill>
                  </a:tcPr>
                </a:tc>
                <a:tc>
                  <a:txBody>
                    <a:bodyPr/>
                    <a:lstStyle/>
                    <a:p>
                      <a:pPr algn="ctr" fontAlgn="t"/>
                      <a:r>
                        <a:rPr lang="en-US" sz="1400" b="1" dirty="0">
                          <a:solidFill>
                            <a:schemeClr val="bg1"/>
                          </a:solidFill>
                          <a:effectLst/>
                        </a:rPr>
                        <a:t>Parameter &amp; Description</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tx2"/>
                    </a:solidFill>
                  </a:tcPr>
                </a:tc>
                <a:extLst>
                  <a:ext uri="{0D108BD9-81ED-4DB2-BD59-A6C34878D82A}">
                    <a16:rowId xmlns:a16="http://schemas.microsoft.com/office/drawing/2014/main" val="1770441469"/>
                  </a:ext>
                </a:extLst>
              </a:tr>
              <a:tr h="583350">
                <a:tc>
                  <a:txBody>
                    <a:bodyPr/>
                    <a:lstStyle/>
                    <a:p>
                      <a:pPr fontAlgn="t"/>
                      <a:r>
                        <a:rPr lang="en-US" sz="1100" dirty="0">
                          <a:effectLst/>
                        </a:rPr>
                        <a:t>1</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100" b="1" i="0" kern="1200" dirty="0" err="1" smtClean="0">
                          <a:solidFill>
                            <a:schemeClr val="tx1"/>
                          </a:solidFill>
                          <a:effectLst/>
                          <a:latin typeface="+mn-lt"/>
                          <a:ea typeface="+mn-ea"/>
                          <a:cs typeface="+mn-cs"/>
                        </a:rPr>
                        <a:t>num</a:t>
                      </a:r>
                      <a:r>
                        <a:rPr lang="en-US" sz="1100" b="0" i="0" kern="1200" dirty="0" smtClean="0">
                          <a:solidFill>
                            <a:schemeClr val="tx1"/>
                          </a:solidFill>
                          <a:effectLst/>
                          <a:latin typeface="+mn-lt"/>
                          <a:ea typeface="+mn-ea"/>
                          <a:cs typeface="+mn-cs"/>
                        </a:rPr>
                        <a:t> : integer or string, optional, default: None</a:t>
                      </a:r>
                    </a:p>
                    <a:p>
                      <a:pPr algn="just" fontAlgn="t"/>
                      <a:r>
                        <a:rPr lang="en-US" sz="1100" b="0" i="0" kern="1200" dirty="0" smtClean="0">
                          <a:solidFill>
                            <a:schemeClr val="tx1"/>
                          </a:solidFill>
                          <a:effectLst/>
                          <a:latin typeface="+mn-lt"/>
                          <a:ea typeface="+mn-ea"/>
                          <a:cs typeface="+mn-cs"/>
                        </a:rPr>
                        <a:t>If not provided, a new figure will be created. If </a:t>
                      </a:r>
                      <a:r>
                        <a:rPr lang="en-US" sz="1100" b="0" i="0" kern="1200" dirty="0" err="1" smtClean="0">
                          <a:solidFill>
                            <a:schemeClr val="tx1"/>
                          </a:solidFill>
                          <a:effectLst/>
                          <a:latin typeface="+mn-lt"/>
                          <a:ea typeface="+mn-ea"/>
                          <a:cs typeface="+mn-cs"/>
                        </a:rPr>
                        <a:t>num</a:t>
                      </a:r>
                      <a:r>
                        <a:rPr lang="en-US" sz="1100" b="0" i="0" kern="1200" dirty="0" smtClean="0">
                          <a:solidFill>
                            <a:schemeClr val="tx1"/>
                          </a:solidFill>
                          <a:effectLst/>
                          <a:latin typeface="+mn-lt"/>
                          <a:ea typeface="+mn-ea"/>
                          <a:cs typeface="+mn-cs"/>
                        </a:rPr>
                        <a:t> is provided, and a figure with this id already exists, make it active, and returns a reference to it. If this figure does not exists, create it and returns it.</a:t>
                      </a:r>
                      <a:endParaRPr lang="en-US" sz="110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478149"/>
                  </a:ext>
                </a:extLst>
              </a:tr>
              <a:tr h="323512">
                <a:tc>
                  <a:txBody>
                    <a:bodyPr/>
                    <a:lstStyle/>
                    <a:p>
                      <a:pPr fontAlgn="t"/>
                      <a:r>
                        <a:rPr lang="en-US" sz="1100">
                          <a:effectLst/>
                        </a:rPr>
                        <a:t>2</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100" b="1" i="0" kern="1200" dirty="0" err="1" smtClean="0">
                          <a:solidFill>
                            <a:schemeClr val="tx1"/>
                          </a:solidFill>
                          <a:effectLst/>
                          <a:latin typeface="+mn-lt"/>
                          <a:ea typeface="+mn-ea"/>
                          <a:cs typeface="+mn-cs"/>
                        </a:rPr>
                        <a:t>figsize</a:t>
                      </a:r>
                      <a:r>
                        <a:rPr lang="en-US" sz="1100" b="0" i="0" kern="1200" dirty="0" smtClean="0">
                          <a:solidFill>
                            <a:schemeClr val="tx1"/>
                          </a:solidFill>
                          <a:effectLst/>
                          <a:latin typeface="+mn-lt"/>
                          <a:ea typeface="+mn-ea"/>
                          <a:cs typeface="+mn-cs"/>
                        </a:rPr>
                        <a:t> : (float, float), optional, default: None</a:t>
                      </a:r>
                      <a:endParaRPr lang="en-US" sz="1100" dirty="0">
                        <a:solidFill>
                          <a:srgbClr val="000000"/>
                        </a:solidFill>
                        <a:effectLst/>
                      </a:endParaRPr>
                    </a:p>
                    <a:p>
                      <a:pPr algn="just" fontAlgn="t"/>
                      <a:r>
                        <a:rPr lang="en-US" sz="1100" b="0" i="0" kern="1200" dirty="0" smtClean="0">
                          <a:solidFill>
                            <a:schemeClr val="tx1"/>
                          </a:solidFill>
                          <a:effectLst/>
                          <a:latin typeface="+mn-lt"/>
                          <a:ea typeface="+mn-ea"/>
                          <a:cs typeface="+mn-cs"/>
                        </a:rPr>
                        <a:t>Width, height in inches.</a:t>
                      </a:r>
                      <a:endParaRPr lang="en-US" sz="110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46996407"/>
                  </a:ext>
                </a:extLst>
              </a:tr>
              <a:tr h="323512">
                <a:tc>
                  <a:txBody>
                    <a:bodyPr/>
                    <a:lstStyle/>
                    <a:p>
                      <a:pPr fontAlgn="t"/>
                      <a:r>
                        <a:rPr lang="en-US" sz="1100">
                          <a:effectLst/>
                        </a:rPr>
                        <a:t>3</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da-DK" sz="1100" b="1" i="0" kern="1200" dirty="0" smtClean="0">
                          <a:solidFill>
                            <a:schemeClr val="tx1"/>
                          </a:solidFill>
                          <a:effectLst/>
                          <a:latin typeface="+mn-lt"/>
                          <a:ea typeface="+mn-ea"/>
                          <a:cs typeface="+mn-cs"/>
                        </a:rPr>
                        <a:t>dpi</a:t>
                      </a:r>
                      <a:r>
                        <a:rPr lang="da-DK" sz="1100" b="0" i="0" kern="1200" dirty="0" smtClean="0">
                          <a:solidFill>
                            <a:schemeClr val="tx1"/>
                          </a:solidFill>
                          <a:effectLst/>
                          <a:latin typeface="+mn-lt"/>
                          <a:ea typeface="+mn-ea"/>
                          <a:cs typeface="+mn-cs"/>
                        </a:rPr>
                        <a:t> : integer, optional, default: None</a:t>
                      </a:r>
                      <a:endParaRPr lang="en-US" sz="1100" dirty="0">
                        <a:solidFill>
                          <a:srgbClr val="000000"/>
                        </a:solidFill>
                        <a:effectLst/>
                      </a:endParaRPr>
                    </a:p>
                    <a:p>
                      <a:pPr algn="just" fontAlgn="t"/>
                      <a:r>
                        <a:rPr lang="en-US" sz="1100" b="0" i="0" kern="1200" dirty="0" smtClean="0">
                          <a:solidFill>
                            <a:schemeClr val="tx1"/>
                          </a:solidFill>
                          <a:effectLst/>
                          <a:latin typeface="+mn-lt"/>
                          <a:ea typeface="+mn-ea"/>
                          <a:cs typeface="+mn-cs"/>
                        </a:rPr>
                        <a:t>Resolution of the figure.</a:t>
                      </a:r>
                      <a:endParaRPr lang="en-US" sz="110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11983743"/>
                  </a:ext>
                </a:extLst>
              </a:tr>
              <a:tr h="323512">
                <a:tc>
                  <a:txBody>
                    <a:bodyPr/>
                    <a:lstStyle/>
                    <a:p>
                      <a:pPr fontAlgn="t"/>
                      <a:r>
                        <a:rPr lang="en-US" sz="1100">
                          <a:effectLst/>
                        </a:rPr>
                        <a:t>4</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100" b="1" i="0" kern="1200" dirty="0" err="1" smtClean="0">
                          <a:solidFill>
                            <a:schemeClr val="tx1"/>
                          </a:solidFill>
                          <a:effectLst/>
                          <a:latin typeface="+mn-lt"/>
                          <a:ea typeface="+mn-ea"/>
                          <a:cs typeface="+mn-cs"/>
                        </a:rPr>
                        <a:t>facecolor</a:t>
                      </a:r>
                      <a:r>
                        <a:rPr lang="en-US" sz="1100" b="0" i="0" kern="1200" dirty="0" smtClean="0">
                          <a:solidFill>
                            <a:schemeClr val="tx1"/>
                          </a:solidFill>
                          <a:effectLst/>
                          <a:latin typeface="+mn-lt"/>
                          <a:ea typeface="+mn-ea"/>
                          <a:cs typeface="+mn-cs"/>
                        </a:rPr>
                        <a:t> : color spec</a:t>
                      </a:r>
                      <a:endParaRPr lang="en-US" sz="1100" dirty="0">
                        <a:solidFill>
                          <a:srgbClr val="000000"/>
                        </a:solidFill>
                        <a:effectLst/>
                      </a:endParaRPr>
                    </a:p>
                    <a:p>
                      <a:pPr algn="just" fontAlgn="t"/>
                      <a:r>
                        <a:rPr lang="en-US" sz="1100" b="0" i="0" kern="1200" dirty="0" smtClean="0">
                          <a:solidFill>
                            <a:schemeClr val="tx1"/>
                          </a:solidFill>
                          <a:effectLst/>
                          <a:latin typeface="+mn-lt"/>
                          <a:ea typeface="+mn-ea"/>
                          <a:cs typeface="+mn-cs"/>
                        </a:rPr>
                        <a:t>The background color</a:t>
                      </a:r>
                      <a:endParaRPr lang="en-US" sz="110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916878220"/>
                  </a:ext>
                </a:extLst>
              </a:tr>
              <a:tr h="323512">
                <a:tc>
                  <a:txBody>
                    <a:bodyPr/>
                    <a:lstStyle/>
                    <a:p>
                      <a:pPr fontAlgn="t"/>
                      <a:r>
                        <a:rPr lang="en-US" sz="1100" dirty="0">
                          <a:effectLst/>
                        </a:rPr>
                        <a:t>5</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100" b="1" i="0" kern="1200" dirty="0" err="1" smtClean="0">
                          <a:solidFill>
                            <a:schemeClr val="tx1"/>
                          </a:solidFill>
                          <a:effectLst/>
                          <a:latin typeface="+mn-lt"/>
                          <a:ea typeface="+mn-ea"/>
                          <a:cs typeface="+mn-cs"/>
                        </a:rPr>
                        <a:t>edgecolor</a:t>
                      </a:r>
                      <a:r>
                        <a:rPr lang="en-US" sz="1100" b="0" i="0" kern="1200" dirty="0" smtClean="0">
                          <a:solidFill>
                            <a:schemeClr val="tx1"/>
                          </a:solidFill>
                          <a:effectLst/>
                          <a:latin typeface="+mn-lt"/>
                          <a:ea typeface="+mn-ea"/>
                          <a:cs typeface="+mn-cs"/>
                        </a:rPr>
                        <a:t> : color spec</a:t>
                      </a:r>
                    </a:p>
                    <a:p>
                      <a:pPr algn="just" fontAlgn="t"/>
                      <a:r>
                        <a:rPr lang="en-US" sz="1100" b="0" i="0" kern="1200" dirty="0" smtClean="0">
                          <a:solidFill>
                            <a:schemeClr val="tx1"/>
                          </a:solidFill>
                          <a:effectLst/>
                          <a:latin typeface="+mn-lt"/>
                          <a:ea typeface="+mn-ea"/>
                          <a:cs typeface="+mn-cs"/>
                        </a:rPr>
                        <a:t>The border color.</a:t>
                      </a:r>
                      <a:endParaRPr lang="en-US" sz="110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08386291"/>
                  </a:ext>
                </a:extLst>
              </a:tr>
              <a:tr h="323512">
                <a:tc>
                  <a:txBody>
                    <a:bodyPr/>
                    <a:lstStyle/>
                    <a:p>
                      <a:pPr fontAlgn="t"/>
                      <a:r>
                        <a:rPr lang="en-US" sz="1100" dirty="0" smtClean="0">
                          <a:effectLst/>
                        </a:rPr>
                        <a:t>6</a:t>
                      </a:r>
                      <a:endParaRPr lang="en-US" sz="1100" dirty="0">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100" b="1" i="0" kern="1200" dirty="0" smtClean="0">
                          <a:solidFill>
                            <a:schemeClr val="tx1"/>
                          </a:solidFill>
                          <a:effectLst/>
                          <a:latin typeface="+mn-lt"/>
                          <a:ea typeface="+mn-ea"/>
                          <a:cs typeface="+mn-cs"/>
                        </a:rPr>
                        <a:t>linewidth</a:t>
                      </a:r>
                      <a:r>
                        <a:rPr lang="en-US" sz="1100" b="0" i="0" kern="1200" dirty="0" smtClean="0">
                          <a:solidFill>
                            <a:schemeClr val="tx1"/>
                          </a:solidFill>
                          <a:effectLst/>
                          <a:latin typeface="+mn-lt"/>
                          <a:ea typeface="+mn-ea"/>
                          <a:cs typeface="+mn-cs"/>
                        </a:rPr>
                        <a:t> : float</a:t>
                      </a:r>
                    </a:p>
                    <a:p>
                      <a:pPr algn="just" fontAlgn="t"/>
                      <a:r>
                        <a:rPr lang="en-US" sz="1100" b="0" i="0" kern="1200" dirty="0" smtClean="0">
                          <a:solidFill>
                            <a:schemeClr val="tx1"/>
                          </a:solidFill>
                          <a:effectLst/>
                          <a:latin typeface="+mn-lt"/>
                          <a:ea typeface="+mn-ea"/>
                          <a:cs typeface="+mn-cs"/>
                        </a:rPr>
                        <a:t>The linewidth of the frame (i.e. the edge linewidth of the figure patch).</a:t>
                      </a:r>
                      <a:endParaRPr lang="en-US" sz="110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24914910"/>
                  </a:ext>
                </a:extLst>
              </a:tr>
            </a:tbl>
          </a:graphicData>
        </a:graphic>
      </p:graphicFrame>
    </p:spTree>
    <p:extLst>
      <p:ext uri="{BB962C8B-B14F-4D97-AF65-F5344CB8AC3E}">
        <p14:creationId xmlns:p14="http://schemas.microsoft.com/office/powerpoint/2010/main" val="430756277"/>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a:pPr>
            <a:r>
              <a:rPr lang="en-US" sz="3600" b="1" strike="noStrike" spc="15" dirty="0" smtClean="0">
                <a:solidFill>
                  <a:srgbClr val="0047BA"/>
                </a:solidFill>
                <a:latin typeface="Arial"/>
                <a:ea typeface="DejaVu Sans"/>
              </a:rPr>
              <a:t>Introduction</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9</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b="1" dirty="0">
                <a:solidFill>
                  <a:schemeClr val="tx2"/>
                </a:solidFill>
              </a:rPr>
              <a:t>Axes</a:t>
            </a:r>
            <a:r>
              <a:rPr lang="en-US" dirty="0"/>
              <a:t> object is the region of the image with the data space. </a:t>
            </a:r>
            <a:endParaRPr lang="en-US" dirty="0" smtClean="0"/>
          </a:p>
          <a:p>
            <a:pPr marL="182880" indent="-178920">
              <a:lnSpc>
                <a:spcPct val="100000"/>
              </a:lnSpc>
              <a:spcBef>
                <a:spcPts val="3000"/>
              </a:spcBef>
              <a:buClr>
                <a:srgbClr val="0047BA"/>
              </a:buClr>
              <a:buSzPct val="65000"/>
              <a:buFont typeface="Wingdings" charset="2"/>
              <a:buChar char=""/>
            </a:pPr>
            <a:r>
              <a:rPr lang="en-US" dirty="0" smtClean="0"/>
              <a:t>A </a:t>
            </a:r>
            <a:r>
              <a:rPr lang="en-US" dirty="0"/>
              <a:t>given figure can contain many Axes, but a given Axes object </a:t>
            </a:r>
            <a:r>
              <a:rPr lang="en-US" b="1" dirty="0">
                <a:solidFill>
                  <a:schemeClr val="tx2"/>
                </a:solidFill>
              </a:rPr>
              <a:t>can only be in one </a:t>
            </a:r>
            <a:r>
              <a:rPr lang="en-US" dirty="0"/>
              <a:t>Figure. </a:t>
            </a:r>
            <a:endParaRPr lang="en-US" dirty="0" smtClean="0"/>
          </a:p>
          <a:p>
            <a:pPr marL="182880" indent="-178920">
              <a:lnSpc>
                <a:spcPct val="100000"/>
              </a:lnSpc>
              <a:spcBef>
                <a:spcPts val="3000"/>
              </a:spcBef>
              <a:buClr>
                <a:srgbClr val="0047BA"/>
              </a:buClr>
              <a:buSzPct val="65000"/>
              <a:buFont typeface="Wingdings" charset="2"/>
              <a:buChar char=""/>
            </a:pPr>
            <a:r>
              <a:rPr lang="en-US" dirty="0" smtClean="0"/>
              <a:t>The </a:t>
            </a:r>
            <a:r>
              <a:rPr lang="en-US" dirty="0"/>
              <a:t>Axes contains two (or three in the case of 3D) </a:t>
            </a:r>
            <a:r>
              <a:rPr lang="en-US" b="1" dirty="0">
                <a:solidFill>
                  <a:schemeClr val="tx2"/>
                </a:solidFill>
              </a:rPr>
              <a:t>Axis objects</a:t>
            </a:r>
            <a:r>
              <a:rPr lang="en-US" dirty="0"/>
              <a:t>. </a:t>
            </a:r>
            <a:endParaRPr lang="en-US" dirty="0" smtClean="0"/>
          </a:p>
          <a:p>
            <a:pPr marL="182880" indent="-178920">
              <a:lnSpc>
                <a:spcPct val="100000"/>
              </a:lnSpc>
              <a:spcBef>
                <a:spcPts val="3000"/>
              </a:spcBef>
              <a:buClr>
                <a:srgbClr val="0047BA"/>
              </a:buClr>
              <a:buSzPct val="65000"/>
              <a:buFont typeface="Wingdings" charset="2"/>
              <a:buChar char=""/>
            </a:pPr>
            <a:r>
              <a:rPr lang="en-US" dirty="0" smtClean="0"/>
              <a:t>It contain most of the figure elements: Axis, Tick, Label, Legend, Text…</a:t>
            </a:r>
          </a:p>
          <a:p>
            <a:pPr marL="182880" indent="-178920">
              <a:lnSpc>
                <a:spcPct val="100000"/>
              </a:lnSpc>
              <a:spcBef>
                <a:spcPts val="3000"/>
              </a:spcBef>
              <a:buClr>
                <a:srgbClr val="0047BA"/>
              </a:buClr>
              <a:buSzPct val="65000"/>
              <a:buFont typeface="Wingdings" charset="2"/>
              <a:buChar char=""/>
            </a:pPr>
            <a:r>
              <a:rPr lang="en-US" dirty="0" smtClean="0"/>
              <a:t>The </a:t>
            </a:r>
            <a:r>
              <a:rPr lang="en-US" dirty="0"/>
              <a:t>Axes class and its member functions are </a:t>
            </a:r>
            <a:r>
              <a:rPr lang="en-US" b="1" dirty="0">
                <a:solidFill>
                  <a:schemeClr val="tx2"/>
                </a:solidFill>
              </a:rPr>
              <a:t>the primary entry point to working with the OO interface</a:t>
            </a:r>
            <a:r>
              <a:rPr lang="en-US" dirty="0" smtClean="0"/>
              <a:t>.</a:t>
            </a:r>
          </a:p>
          <a:p>
            <a:pPr marL="182880" indent="-178920">
              <a:spcBef>
                <a:spcPts val="3000"/>
              </a:spcBef>
              <a:buClr>
                <a:srgbClr val="0047BA"/>
              </a:buClr>
              <a:buSzPct val="65000"/>
              <a:buFont typeface="Wingdings" charset="2"/>
              <a:buChar char=""/>
            </a:pPr>
            <a:r>
              <a:rPr lang="en-US" dirty="0"/>
              <a:t>There are multiple constructors to create axes objects. The most logical way is to </a:t>
            </a:r>
            <a:r>
              <a:rPr lang="en-US" b="1" dirty="0">
                <a:solidFill>
                  <a:schemeClr val="tx2"/>
                </a:solidFill>
              </a:rPr>
              <a:t>add axes to a </a:t>
            </a:r>
            <a:r>
              <a:rPr lang="en-US" b="1" dirty="0" smtClean="0">
                <a:solidFill>
                  <a:schemeClr val="tx2"/>
                </a:solidFill>
              </a:rPr>
              <a:t>figure</a:t>
            </a:r>
            <a:r>
              <a:rPr lang="en-US" b="1" dirty="0">
                <a:solidFill>
                  <a:schemeClr val="tx2"/>
                </a:solidFill>
              </a:rPr>
              <a:t> </a:t>
            </a:r>
            <a:r>
              <a:rPr lang="en-US" b="1" dirty="0" smtClean="0">
                <a:solidFill>
                  <a:schemeClr val="tx2"/>
                </a:solidFill>
              </a:rPr>
              <a:t>using Figure functions</a:t>
            </a:r>
            <a:r>
              <a:rPr lang="en-US" dirty="0" smtClean="0"/>
              <a:t>.</a:t>
            </a: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58552139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10</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 </a:t>
            </a:r>
            <a:r>
              <a:rPr lang="en-US" b="1" dirty="0" err="1" smtClean="0">
                <a:solidFill>
                  <a:schemeClr val="tx2"/>
                </a:solidFill>
              </a:rPr>
              <a:t>figure.add_axes</a:t>
            </a:r>
            <a:r>
              <a:rPr lang="en-US" b="1" dirty="0" smtClean="0">
                <a:solidFill>
                  <a:schemeClr val="tx2"/>
                </a:solidFill>
              </a:rPr>
              <a:t>()</a:t>
            </a:r>
            <a:r>
              <a:rPr lang="en-US" dirty="0" smtClean="0"/>
              <a:t>:</a:t>
            </a:r>
          </a:p>
          <a:p>
            <a:pPr marL="640080" lvl="1" indent="-178920">
              <a:spcBef>
                <a:spcPts val="3000"/>
              </a:spcBef>
              <a:buClr>
                <a:srgbClr val="0047BA"/>
              </a:buClr>
              <a:buSzPct val="65000"/>
              <a:buFont typeface="Wingdings" charset="2"/>
              <a:buChar char=""/>
            </a:pPr>
            <a:r>
              <a:rPr lang="en-US" dirty="0" smtClean="0"/>
              <a:t>The </a:t>
            </a:r>
            <a:r>
              <a:rPr lang="en-US" dirty="0"/>
              <a:t>calling signature of </a:t>
            </a:r>
            <a:r>
              <a:rPr lang="en-US" dirty="0" err="1"/>
              <a:t>add_axes</a:t>
            </a:r>
            <a:r>
              <a:rPr lang="en-US" dirty="0"/>
              <a:t> is </a:t>
            </a:r>
            <a:r>
              <a:rPr lang="en-US" b="1" dirty="0" err="1">
                <a:solidFill>
                  <a:schemeClr val="tx2"/>
                </a:solidFill>
              </a:rPr>
              <a:t>add_axes</a:t>
            </a:r>
            <a:r>
              <a:rPr lang="en-US" b="1" dirty="0">
                <a:solidFill>
                  <a:schemeClr val="tx2"/>
                </a:solidFill>
              </a:rPr>
              <a:t>(</a:t>
            </a:r>
            <a:r>
              <a:rPr lang="en-US" b="1" dirty="0" err="1">
                <a:solidFill>
                  <a:schemeClr val="tx2"/>
                </a:solidFill>
              </a:rPr>
              <a:t>rect</a:t>
            </a:r>
            <a:r>
              <a:rPr lang="en-US" b="1" dirty="0">
                <a:solidFill>
                  <a:schemeClr val="tx2"/>
                </a:solidFill>
              </a:rPr>
              <a:t>)</a:t>
            </a:r>
            <a:r>
              <a:rPr lang="en-US" dirty="0"/>
              <a:t>, where </a:t>
            </a:r>
            <a:r>
              <a:rPr lang="en-US" dirty="0" err="1"/>
              <a:t>rect</a:t>
            </a:r>
            <a:r>
              <a:rPr lang="en-US" dirty="0"/>
              <a:t> is a list [x0, y0, width, height] denoting the lower left point of the new axes in figure </a:t>
            </a:r>
            <a:r>
              <a:rPr lang="en-US" dirty="0" smtClean="0"/>
              <a:t>coordinates </a:t>
            </a:r>
            <a:r>
              <a:rPr lang="en-US" dirty="0"/>
              <a:t>(x0,y0) and its width and height. So the axes is </a:t>
            </a:r>
            <a:r>
              <a:rPr lang="en-US" dirty="0" smtClean="0"/>
              <a:t>positioned </a:t>
            </a:r>
            <a:r>
              <a:rPr lang="en-US" dirty="0"/>
              <a:t>in absolute coordinates on the canvas. E.g</a:t>
            </a:r>
            <a:r>
              <a:rPr lang="en-US" dirty="0" smtClean="0"/>
              <a:t>.</a:t>
            </a:r>
          </a:p>
          <a:p>
            <a:pPr marL="640080" lvl="1" indent="-178920">
              <a:spcBef>
                <a:spcPts val="3000"/>
              </a:spcBef>
              <a:buClr>
                <a:srgbClr val="0047BA"/>
              </a:buClr>
              <a:buSzPct val="65000"/>
              <a:buFont typeface="Wingdings" charset="2"/>
              <a:buChar char=""/>
            </a:pPr>
            <a:endParaRPr lang="en-US" dirty="0"/>
          </a:p>
          <a:p>
            <a:pPr marL="640080" lvl="1" indent="-178920">
              <a:spcBef>
                <a:spcPts val="3000"/>
              </a:spcBef>
              <a:buClr>
                <a:srgbClr val="0047BA"/>
              </a:buClr>
              <a:buSzPct val="65000"/>
              <a:buFont typeface="Wingdings" charset="2"/>
              <a:buChar char=""/>
            </a:pPr>
            <a:r>
              <a:rPr lang="en-US" dirty="0" smtClean="0"/>
              <a:t>The values of the parameters are based on the normalized size of the figure.</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
        <p:nvSpPr>
          <p:cNvPr id="10" name="Rectangle 9"/>
          <p:cNvSpPr/>
          <p:nvPr/>
        </p:nvSpPr>
        <p:spPr>
          <a:xfrm>
            <a:off x="5287651" y="3623803"/>
            <a:ext cx="6275549" cy="646331"/>
          </a:xfrm>
          <a:prstGeom prst="rect">
            <a:avLst/>
          </a:prstGeom>
          <a:solidFill>
            <a:schemeClr val="bg1">
              <a:lumMod val="95000"/>
            </a:schemeClr>
          </a:solidFill>
        </p:spPr>
        <p:txBody>
          <a:bodyPr wrap="square">
            <a:spAutoFit/>
          </a:bodyPr>
          <a:lstStyle/>
          <a:p>
            <a:pPr eaLnBrk="0" fontAlgn="base" hangingPunct="0">
              <a:spcBef>
                <a:spcPct val="0"/>
              </a:spcBef>
              <a:spcAft>
                <a:spcPct val="0"/>
              </a:spcAft>
            </a:pPr>
            <a:r>
              <a:rPr lang="en-US" altLang="en-US" dirty="0">
                <a:solidFill>
                  <a:srgbClr val="333333"/>
                </a:solidFill>
                <a:latin typeface="Courier New" panose="02070309020205020404" pitchFamily="49" charset="0"/>
                <a:cs typeface="Courier New" panose="02070309020205020404" pitchFamily="49" charset="0"/>
              </a:rPr>
              <a:t>fig </a:t>
            </a:r>
            <a:r>
              <a:rPr lang="en-US" altLang="en-US" dirty="0">
                <a:solidFill>
                  <a:srgbClr val="666666"/>
                </a:solidFill>
                <a:latin typeface="Courier New" panose="02070309020205020404" pitchFamily="49" charset="0"/>
                <a:cs typeface="Courier New" panose="02070309020205020404" pitchFamily="49" charset="0"/>
              </a:rPr>
              <a:t>=</a:t>
            </a:r>
            <a:r>
              <a:rPr lang="en-US" altLang="en-US" dirty="0">
                <a:solidFill>
                  <a:srgbClr val="333333"/>
                </a:solidFill>
                <a:latin typeface="Courier New" panose="02070309020205020404" pitchFamily="49" charset="0"/>
                <a:cs typeface="Courier New" panose="02070309020205020404" pitchFamily="49" charset="0"/>
              </a:rPr>
              <a:t> </a:t>
            </a:r>
            <a:r>
              <a:rPr lang="en-US" altLang="en-US" dirty="0" err="1" smtClean="0">
                <a:solidFill>
                  <a:srgbClr val="333333"/>
                </a:solidFill>
                <a:latin typeface="Courier New" panose="02070309020205020404" pitchFamily="49" charset="0"/>
                <a:cs typeface="Courier New" panose="02070309020205020404" pitchFamily="49" charset="0"/>
              </a:rPr>
              <a:t>plt</a:t>
            </a:r>
            <a:r>
              <a:rPr lang="en-US" altLang="en-US" dirty="0" err="1" smtClean="0">
                <a:solidFill>
                  <a:srgbClr val="666666"/>
                </a:solidFill>
                <a:latin typeface="Courier New" panose="02070309020205020404" pitchFamily="49" charset="0"/>
                <a:cs typeface="Courier New" panose="02070309020205020404" pitchFamily="49" charset="0"/>
              </a:rPr>
              <a:t>.</a:t>
            </a:r>
            <a:r>
              <a:rPr lang="en-US" altLang="en-US" dirty="0" err="1" smtClean="0">
                <a:solidFill>
                  <a:srgbClr val="333333"/>
                </a:solidFill>
                <a:latin typeface="Courier New" panose="02070309020205020404" pitchFamily="49" charset="0"/>
                <a:cs typeface="Courier New" panose="02070309020205020404" pitchFamily="49" charset="0"/>
              </a:rPr>
              <a:t>figure</a:t>
            </a:r>
            <a:r>
              <a:rPr lang="en-US" altLang="en-US" dirty="0" smtClean="0">
                <a:solidFill>
                  <a:srgbClr val="333333"/>
                </a:solidFill>
                <a:latin typeface="Courier New" panose="02070309020205020404" pitchFamily="49" charset="0"/>
                <a:cs typeface="Courier New" panose="02070309020205020404" pitchFamily="49" charset="0"/>
              </a:rPr>
              <a:t>()</a:t>
            </a:r>
          </a:p>
          <a:p>
            <a:pPr eaLnBrk="0" fontAlgn="base" hangingPunct="0">
              <a:spcBef>
                <a:spcPct val="0"/>
              </a:spcBef>
              <a:spcAft>
                <a:spcPct val="0"/>
              </a:spcAft>
            </a:pPr>
            <a:r>
              <a:rPr lang="en-US" altLang="en-US" dirty="0" smtClean="0">
                <a:solidFill>
                  <a:srgbClr val="333333"/>
                </a:solidFill>
                <a:latin typeface="Courier New" panose="02070309020205020404" pitchFamily="49" charset="0"/>
                <a:cs typeface="Courier New" panose="02070309020205020404" pitchFamily="49" charset="0"/>
              </a:rPr>
              <a:t>ax = </a:t>
            </a:r>
            <a:r>
              <a:rPr lang="en-US" altLang="en-US" dirty="0" err="1" smtClean="0">
                <a:solidFill>
                  <a:srgbClr val="333333"/>
                </a:solidFill>
                <a:latin typeface="Courier New" panose="02070309020205020404" pitchFamily="49" charset="0"/>
                <a:cs typeface="Courier New" panose="02070309020205020404" pitchFamily="49" charset="0"/>
              </a:rPr>
              <a:t>fig</a:t>
            </a:r>
            <a:r>
              <a:rPr lang="en-US" altLang="en-US" dirty="0" err="1" smtClean="0">
                <a:solidFill>
                  <a:srgbClr val="666666"/>
                </a:solidFill>
                <a:latin typeface="Courier New" panose="02070309020205020404" pitchFamily="49" charset="0"/>
                <a:cs typeface="Courier New" panose="02070309020205020404" pitchFamily="49" charset="0"/>
              </a:rPr>
              <a:t>.</a:t>
            </a:r>
            <a:r>
              <a:rPr lang="en-US" altLang="en-US" dirty="0" err="1" smtClean="0">
                <a:solidFill>
                  <a:srgbClr val="333333"/>
                </a:solidFill>
                <a:latin typeface="Courier New" panose="02070309020205020404" pitchFamily="49" charset="0"/>
                <a:cs typeface="Courier New" panose="02070309020205020404" pitchFamily="49" charset="0"/>
              </a:rPr>
              <a:t>add_axes</a:t>
            </a:r>
            <a:r>
              <a:rPr lang="en-US" altLang="en-US" dirty="0">
                <a:solidFill>
                  <a:srgbClr val="333333"/>
                </a:solidFill>
                <a:latin typeface="Courier New" panose="02070309020205020404" pitchFamily="49" charset="0"/>
                <a:cs typeface="Courier New" panose="02070309020205020404" pitchFamily="49" charset="0"/>
              </a:rPr>
              <a:t>([</a:t>
            </a:r>
            <a:r>
              <a:rPr lang="en-US" altLang="en-US" dirty="0">
                <a:solidFill>
                  <a:srgbClr val="666666"/>
                </a:solidFill>
                <a:latin typeface="Courier New" panose="02070309020205020404" pitchFamily="49" charset="0"/>
                <a:cs typeface="Courier New" panose="02070309020205020404" pitchFamily="49" charset="0"/>
              </a:rPr>
              <a:t>0</a:t>
            </a:r>
            <a:r>
              <a:rPr lang="en-US" altLang="en-US" dirty="0">
                <a:solidFill>
                  <a:srgbClr val="333333"/>
                </a:solidFill>
                <a:latin typeface="Courier New" panose="02070309020205020404" pitchFamily="49" charset="0"/>
                <a:cs typeface="Courier New" panose="02070309020205020404" pitchFamily="49" charset="0"/>
              </a:rPr>
              <a:t>,</a:t>
            </a:r>
            <a:r>
              <a:rPr lang="en-US" altLang="en-US" dirty="0">
                <a:solidFill>
                  <a:srgbClr val="666666"/>
                </a:solidFill>
                <a:latin typeface="Courier New" panose="02070309020205020404" pitchFamily="49" charset="0"/>
                <a:cs typeface="Courier New" panose="02070309020205020404" pitchFamily="49" charset="0"/>
              </a:rPr>
              <a:t>0</a:t>
            </a:r>
            <a:r>
              <a:rPr lang="en-US" altLang="en-US" dirty="0">
                <a:solidFill>
                  <a:srgbClr val="333333"/>
                </a:solidFill>
                <a:latin typeface="Courier New" panose="02070309020205020404" pitchFamily="49" charset="0"/>
                <a:cs typeface="Courier New" panose="02070309020205020404" pitchFamily="49" charset="0"/>
              </a:rPr>
              <a:t>,</a:t>
            </a:r>
            <a:r>
              <a:rPr lang="en-US" altLang="en-US" dirty="0">
                <a:solidFill>
                  <a:srgbClr val="666666"/>
                </a:solidFill>
                <a:latin typeface="Courier New" panose="02070309020205020404" pitchFamily="49" charset="0"/>
                <a:cs typeface="Courier New" panose="02070309020205020404" pitchFamily="49" charset="0"/>
              </a:rPr>
              <a:t>1</a:t>
            </a:r>
            <a:r>
              <a:rPr lang="en-US" altLang="en-US" dirty="0">
                <a:solidFill>
                  <a:srgbClr val="333333"/>
                </a:solidFill>
                <a:latin typeface="Courier New" panose="02070309020205020404" pitchFamily="49" charset="0"/>
                <a:cs typeface="Courier New" panose="02070309020205020404" pitchFamily="49" charset="0"/>
              </a:rPr>
              <a:t>,</a:t>
            </a:r>
            <a:r>
              <a:rPr lang="en-US" altLang="en-US" dirty="0">
                <a:solidFill>
                  <a:srgbClr val="666666"/>
                </a:solidFill>
                <a:latin typeface="Courier New" panose="02070309020205020404" pitchFamily="49" charset="0"/>
                <a:cs typeface="Courier New" panose="02070309020205020404" pitchFamily="49" charset="0"/>
              </a:rPr>
              <a:t>1</a:t>
            </a:r>
            <a:r>
              <a:rPr lang="en-US" altLang="en-US" dirty="0">
                <a:solidFill>
                  <a:srgbClr val="333333"/>
                </a:solidFill>
                <a:latin typeface="Courier New" panose="02070309020205020404" pitchFamily="49" charset="0"/>
                <a:cs typeface="Courier New" panose="02070309020205020404" pitchFamily="49" charset="0"/>
              </a:rPr>
              <a:t>])</a:t>
            </a:r>
            <a:r>
              <a:rPr lang="en-US" altLang="en-US"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03640912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11</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 </a:t>
            </a:r>
            <a:r>
              <a:rPr lang="en-US" b="1" dirty="0" err="1" smtClean="0">
                <a:solidFill>
                  <a:schemeClr val="tx2"/>
                </a:solidFill>
              </a:rPr>
              <a:t>figure.add_axes</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5" name="Picture 4"/>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32653537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12</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 </a:t>
            </a:r>
            <a:r>
              <a:rPr lang="en-US" b="1" dirty="0" err="1" smtClean="0">
                <a:solidFill>
                  <a:schemeClr val="tx2"/>
                </a:solidFill>
              </a:rPr>
              <a:t>figure.add_axes</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2288050579"/>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13</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 </a:t>
            </a:r>
            <a:r>
              <a:rPr lang="en-US" b="1" dirty="0" err="1" smtClean="0">
                <a:solidFill>
                  <a:schemeClr val="tx2"/>
                </a:solidFill>
              </a:rPr>
              <a:t>figure.add_axes</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76262541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14</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 </a:t>
            </a:r>
            <a:r>
              <a:rPr lang="en-US" b="1" dirty="0" err="1" smtClean="0">
                <a:solidFill>
                  <a:schemeClr val="tx2"/>
                </a:solidFill>
              </a:rPr>
              <a:t>figure.add_axes</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4" name="Picture 3"/>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2463545547"/>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15</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 </a:t>
            </a:r>
            <a:r>
              <a:rPr lang="en-US" b="1" dirty="0" err="1" smtClean="0">
                <a:solidFill>
                  <a:schemeClr val="tx2"/>
                </a:solidFill>
              </a:rPr>
              <a:t>figure.add_axes</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274488286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16</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 </a:t>
            </a:r>
            <a:r>
              <a:rPr lang="en-US" b="1" dirty="0" err="1" smtClean="0">
                <a:solidFill>
                  <a:schemeClr val="tx2"/>
                </a:solidFill>
              </a:rPr>
              <a:t>figure.add_axes</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92036626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17</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 </a:t>
            </a:r>
            <a:r>
              <a:rPr lang="en-US" b="1" dirty="0" err="1" smtClean="0">
                <a:solidFill>
                  <a:schemeClr val="tx2"/>
                </a:solidFill>
              </a:rPr>
              <a:t>figure.add_axes</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3385911124"/>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18</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 </a:t>
            </a:r>
            <a:r>
              <a:rPr lang="en-US" b="1" dirty="0" err="1" smtClean="0">
                <a:solidFill>
                  <a:schemeClr val="tx2"/>
                </a:solidFill>
              </a:rPr>
              <a:t>figure.add_axes</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344235674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19</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3000"/>
              </a:spcBef>
              <a:buClr>
                <a:srgbClr val="0047BA"/>
              </a:buClr>
              <a:buSzPct val="65000"/>
              <a:buFont typeface="Wingdings" charset="2"/>
              <a:buChar char=""/>
            </a:pPr>
            <a:r>
              <a:rPr lang="en-US" dirty="0"/>
              <a:t>Axes creation </a:t>
            </a:r>
            <a:r>
              <a:rPr lang="en-US" dirty="0" smtClean="0"/>
              <a:t>II, </a:t>
            </a:r>
            <a:r>
              <a:rPr lang="en-US" b="1" dirty="0" err="1" smtClean="0">
                <a:solidFill>
                  <a:schemeClr val="tx2"/>
                </a:solidFill>
              </a:rPr>
              <a:t>figure.add_subplot</a:t>
            </a:r>
            <a:r>
              <a:rPr lang="en-US" b="1" dirty="0" smtClean="0">
                <a:solidFill>
                  <a:schemeClr val="tx2"/>
                </a:solidFill>
              </a:rPr>
              <a:t>()</a:t>
            </a:r>
            <a:r>
              <a:rPr lang="en-US" dirty="0" smtClean="0"/>
              <a:t>:</a:t>
            </a:r>
            <a:endParaRPr lang="en-US" dirty="0"/>
          </a:p>
          <a:p>
            <a:pPr marL="640080" lvl="1" indent="-178920">
              <a:spcBef>
                <a:spcPts val="3000"/>
              </a:spcBef>
              <a:buClr>
                <a:srgbClr val="0047BA"/>
              </a:buClr>
              <a:buSzPct val="65000"/>
              <a:buFont typeface="Wingdings" charset="2"/>
              <a:buChar char=""/>
            </a:pPr>
            <a:r>
              <a:rPr lang="en-US" dirty="0" smtClean="0"/>
              <a:t>The </a:t>
            </a:r>
            <a:r>
              <a:rPr lang="en-US" dirty="0"/>
              <a:t>calling signature of </a:t>
            </a:r>
            <a:r>
              <a:rPr lang="en-US" dirty="0" err="1"/>
              <a:t>add_subplot</a:t>
            </a:r>
            <a:r>
              <a:rPr lang="en-US" dirty="0"/>
              <a:t> is </a:t>
            </a:r>
            <a:r>
              <a:rPr lang="en-US" b="1" dirty="0" err="1">
                <a:solidFill>
                  <a:schemeClr val="tx2"/>
                </a:solidFill>
              </a:rPr>
              <a:t>add_subplot</a:t>
            </a:r>
            <a:r>
              <a:rPr lang="en-US" b="1" dirty="0">
                <a:solidFill>
                  <a:schemeClr val="tx2"/>
                </a:solidFill>
              </a:rPr>
              <a:t>(</a:t>
            </a:r>
            <a:r>
              <a:rPr lang="en-US" b="1" dirty="0" err="1">
                <a:solidFill>
                  <a:schemeClr val="tx2"/>
                </a:solidFill>
              </a:rPr>
              <a:t>nrows</a:t>
            </a:r>
            <a:r>
              <a:rPr lang="en-US" b="1" dirty="0">
                <a:solidFill>
                  <a:schemeClr val="tx2"/>
                </a:solidFill>
              </a:rPr>
              <a:t>, </a:t>
            </a:r>
            <a:r>
              <a:rPr lang="en-US" b="1" dirty="0" err="1">
                <a:solidFill>
                  <a:schemeClr val="tx2"/>
                </a:solidFill>
              </a:rPr>
              <a:t>ncols</a:t>
            </a:r>
            <a:r>
              <a:rPr lang="en-US" b="1" dirty="0">
                <a:solidFill>
                  <a:schemeClr val="tx2"/>
                </a:solidFill>
              </a:rPr>
              <a:t>, index</a:t>
            </a:r>
            <a:r>
              <a:rPr lang="en-US" b="1" dirty="0" smtClean="0">
                <a:solidFill>
                  <a:schemeClr val="tx2"/>
                </a:solidFill>
              </a:rPr>
              <a:t>)</a:t>
            </a:r>
            <a:r>
              <a:rPr lang="en-US" dirty="0" smtClean="0"/>
              <a:t>, it allows </a:t>
            </a:r>
            <a:r>
              <a:rPr lang="en-US" dirty="0"/>
              <a:t>to specify where the axes should be situated according to a subplot grid. </a:t>
            </a:r>
            <a:endParaRPr lang="en-US" dirty="0" smtClean="0"/>
          </a:p>
          <a:p>
            <a:pPr marL="640080" lvl="1" indent="-178920">
              <a:spcBef>
                <a:spcPts val="3000"/>
              </a:spcBef>
              <a:buClr>
                <a:srgbClr val="0047BA"/>
              </a:buClr>
              <a:buSzPct val="65000"/>
              <a:buFont typeface="Wingdings" charset="2"/>
              <a:buChar char=""/>
            </a:pPr>
            <a:r>
              <a:rPr lang="en-US" dirty="0"/>
              <a:t>The subplot will take the </a:t>
            </a:r>
            <a:r>
              <a:rPr lang="en-US" b="1" dirty="0">
                <a:solidFill>
                  <a:schemeClr val="tx2"/>
                </a:solidFill>
              </a:rPr>
              <a:t>index</a:t>
            </a:r>
            <a:r>
              <a:rPr lang="en-US" dirty="0"/>
              <a:t> position on a grid with </a:t>
            </a:r>
            <a:r>
              <a:rPr lang="en-US" b="1" dirty="0" err="1">
                <a:solidFill>
                  <a:schemeClr val="tx2"/>
                </a:solidFill>
              </a:rPr>
              <a:t>nrows</a:t>
            </a:r>
            <a:r>
              <a:rPr lang="en-US" dirty="0"/>
              <a:t> rows and </a:t>
            </a:r>
            <a:r>
              <a:rPr lang="en-US" b="1" dirty="0" err="1">
                <a:solidFill>
                  <a:schemeClr val="tx2"/>
                </a:solidFill>
              </a:rPr>
              <a:t>ncols</a:t>
            </a:r>
            <a:r>
              <a:rPr lang="en-US" dirty="0"/>
              <a:t> columns. index starts at 1 in the upper left corner and increases to the right</a:t>
            </a:r>
            <a:r>
              <a:rPr lang="en-US" dirty="0" smtClean="0"/>
              <a:t>.</a:t>
            </a:r>
          </a:p>
          <a:p>
            <a:pPr marL="640080" lvl="1" indent="-178920">
              <a:spcBef>
                <a:spcPts val="3000"/>
              </a:spcBef>
              <a:buClr>
                <a:srgbClr val="0047BA"/>
              </a:buClr>
              <a:buSzPct val="65000"/>
              <a:buFont typeface="Wingdings" charset="2"/>
              <a:buChar char=""/>
            </a:pPr>
            <a:endParaRPr lang="en-US" dirty="0"/>
          </a:p>
          <a:p>
            <a:pPr marL="182880" indent="-178920">
              <a:spcBef>
                <a:spcPts val="3000"/>
              </a:spcBef>
              <a:buClr>
                <a:srgbClr val="0047BA"/>
              </a:buClr>
              <a:buSzPct val="65000"/>
              <a:buFont typeface="Wingdings" charset="2"/>
              <a:buChar char=""/>
            </a:pPr>
            <a:endParaRPr lang="en-US" dirty="0" smtClean="0"/>
          </a:p>
          <a:p>
            <a:pPr marL="640080" lvl="1" indent="-178920">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
        <p:nvSpPr>
          <p:cNvPr id="10" name="Rectangle 9"/>
          <p:cNvSpPr/>
          <p:nvPr/>
        </p:nvSpPr>
        <p:spPr>
          <a:xfrm>
            <a:off x="5287651" y="4300805"/>
            <a:ext cx="6275549" cy="646331"/>
          </a:xfrm>
          <a:prstGeom prst="rect">
            <a:avLst/>
          </a:prstGeom>
          <a:solidFill>
            <a:schemeClr val="bg1">
              <a:lumMod val="95000"/>
            </a:schemeClr>
          </a:solidFill>
        </p:spPr>
        <p:txBody>
          <a:bodyPr wrap="square">
            <a:spAutoFit/>
          </a:bodyPr>
          <a:lstStyle/>
          <a:p>
            <a:pPr eaLnBrk="0" fontAlgn="base" hangingPunct="0">
              <a:spcBef>
                <a:spcPct val="0"/>
              </a:spcBef>
              <a:spcAft>
                <a:spcPct val="0"/>
              </a:spcAft>
            </a:pPr>
            <a:r>
              <a:rPr lang="en-US" altLang="en-US" dirty="0" smtClean="0">
                <a:solidFill>
                  <a:srgbClr val="333333"/>
                </a:solidFill>
                <a:latin typeface="Courier New" panose="02070309020205020404" pitchFamily="49" charset="0"/>
                <a:cs typeface="Courier New" panose="02070309020205020404" pitchFamily="49" charset="0"/>
              </a:rPr>
              <a:t>fig </a:t>
            </a:r>
            <a:r>
              <a:rPr lang="en-US" altLang="en-US" dirty="0" smtClean="0">
                <a:solidFill>
                  <a:srgbClr val="666666"/>
                </a:solidFill>
                <a:latin typeface="Courier New" panose="02070309020205020404" pitchFamily="49" charset="0"/>
                <a:cs typeface="Courier New" panose="02070309020205020404" pitchFamily="49" charset="0"/>
              </a:rPr>
              <a:t>=</a:t>
            </a:r>
            <a:r>
              <a:rPr lang="en-US" altLang="en-US" dirty="0" smtClean="0">
                <a:solidFill>
                  <a:srgbClr val="333333"/>
                </a:solidFill>
                <a:latin typeface="Courier New" panose="02070309020205020404" pitchFamily="49" charset="0"/>
                <a:cs typeface="Courier New" panose="02070309020205020404" pitchFamily="49" charset="0"/>
              </a:rPr>
              <a:t> </a:t>
            </a:r>
            <a:r>
              <a:rPr lang="en-US" altLang="en-US" dirty="0" err="1" smtClean="0">
                <a:solidFill>
                  <a:srgbClr val="333333"/>
                </a:solidFill>
                <a:latin typeface="Courier New" panose="02070309020205020404" pitchFamily="49" charset="0"/>
                <a:cs typeface="Courier New" panose="02070309020205020404" pitchFamily="49" charset="0"/>
              </a:rPr>
              <a:t>plt</a:t>
            </a:r>
            <a:r>
              <a:rPr lang="en-US" altLang="en-US" dirty="0" err="1" smtClean="0">
                <a:solidFill>
                  <a:srgbClr val="666666"/>
                </a:solidFill>
                <a:latin typeface="Courier New" panose="02070309020205020404" pitchFamily="49" charset="0"/>
                <a:cs typeface="Courier New" panose="02070309020205020404" pitchFamily="49" charset="0"/>
              </a:rPr>
              <a:t>.</a:t>
            </a:r>
            <a:r>
              <a:rPr lang="en-US" altLang="en-US" dirty="0" err="1" smtClean="0">
                <a:solidFill>
                  <a:srgbClr val="333333"/>
                </a:solidFill>
                <a:latin typeface="Courier New" panose="02070309020205020404" pitchFamily="49" charset="0"/>
                <a:cs typeface="Courier New" panose="02070309020205020404" pitchFamily="49" charset="0"/>
              </a:rPr>
              <a:t>figure</a:t>
            </a:r>
            <a:r>
              <a:rPr lang="en-US" altLang="en-US" dirty="0" smtClean="0">
                <a:solidFill>
                  <a:srgbClr val="333333"/>
                </a:solidFill>
                <a:latin typeface="Courier New" panose="02070309020205020404" pitchFamily="49" charset="0"/>
                <a:cs typeface="Courier New" panose="02070309020205020404" pitchFamily="49" charset="0"/>
              </a:rPr>
              <a:t>()</a:t>
            </a:r>
          </a:p>
          <a:p>
            <a:pPr eaLnBrk="0" fontAlgn="base" hangingPunct="0">
              <a:spcBef>
                <a:spcPct val="0"/>
              </a:spcBef>
              <a:spcAft>
                <a:spcPct val="0"/>
              </a:spcAft>
            </a:pPr>
            <a:r>
              <a:rPr lang="en-US" altLang="en-US" dirty="0" smtClean="0">
                <a:solidFill>
                  <a:srgbClr val="333333"/>
                </a:solidFill>
                <a:latin typeface="Courier New" panose="02070309020205020404" pitchFamily="49" charset="0"/>
                <a:cs typeface="Courier New" panose="02070309020205020404" pitchFamily="49" charset="0"/>
              </a:rPr>
              <a:t>ax = </a:t>
            </a:r>
            <a:r>
              <a:rPr lang="en-US" altLang="en-US" dirty="0" err="1" smtClean="0">
                <a:solidFill>
                  <a:srgbClr val="333333"/>
                </a:solidFill>
                <a:latin typeface="Courier New" panose="02070309020205020404" pitchFamily="49" charset="0"/>
                <a:cs typeface="Courier New" panose="02070309020205020404" pitchFamily="49" charset="0"/>
              </a:rPr>
              <a:t>fig</a:t>
            </a:r>
            <a:r>
              <a:rPr lang="en-US" altLang="en-US" dirty="0" err="1" smtClean="0">
                <a:solidFill>
                  <a:srgbClr val="666666"/>
                </a:solidFill>
                <a:latin typeface="Courier New" panose="02070309020205020404" pitchFamily="49" charset="0"/>
                <a:cs typeface="Courier New" panose="02070309020205020404" pitchFamily="49" charset="0"/>
              </a:rPr>
              <a:t>.</a:t>
            </a:r>
            <a:r>
              <a:rPr lang="en-US" altLang="en-US" dirty="0" err="1" smtClean="0">
                <a:solidFill>
                  <a:srgbClr val="333333"/>
                </a:solidFill>
                <a:latin typeface="Courier New" panose="02070309020205020404" pitchFamily="49" charset="0"/>
                <a:cs typeface="Courier New" panose="02070309020205020404" pitchFamily="49" charset="0"/>
              </a:rPr>
              <a:t>add_subplot</a:t>
            </a:r>
            <a:r>
              <a:rPr lang="en-US" altLang="en-US" dirty="0" smtClean="0">
                <a:solidFill>
                  <a:srgbClr val="333333"/>
                </a:solidFill>
                <a:latin typeface="Courier New" panose="02070309020205020404" pitchFamily="49" charset="0"/>
                <a:cs typeface="Courier New" panose="02070309020205020404" pitchFamily="49" charset="0"/>
              </a:rPr>
              <a:t>(2,3,1)</a:t>
            </a:r>
            <a:r>
              <a:rPr lang="en-US" altLang="en-US" dirty="0" smtClean="0">
                <a:latin typeface="Courier New" panose="02070309020205020404" pitchFamily="49" charset="0"/>
                <a:cs typeface="Courier New" panose="02070309020205020404" pitchFamily="49" charset="0"/>
              </a:rPr>
              <a:t> </a:t>
            </a:r>
            <a:endParaRPr lang="en-US" alt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07986984"/>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20</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3000"/>
              </a:spcBef>
              <a:buClr>
                <a:srgbClr val="0047BA"/>
              </a:buClr>
              <a:buSzPct val="65000"/>
              <a:buFont typeface="Wingdings" charset="2"/>
              <a:buChar char=""/>
            </a:pPr>
            <a:r>
              <a:rPr lang="en-US" dirty="0"/>
              <a:t>Axes creation </a:t>
            </a:r>
            <a:r>
              <a:rPr lang="en-US" dirty="0" smtClean="0"/>
              <a:t>II, </a:t>
            </a:r>
            <a:r>
              <a:rPr lang="en-US" b="1" dirty="0" err="1" smtClean="0">
                <a:solidFill>
                  <a:schemeClr val="tx2"/>
                </a:solidFill>
              </a:rPr>
              <a:t>figure.add_subplot</a:t>
            </a:r>
            <a:r>
              <a:rPr lang="en-US" b="1" dirty="0" smtClean="0">
                <a:solidFill>
                  <a:schemeClr val="tx2"/>
                </a:solidFill>
              </a:rPr>
              <a:t>()</a:t>
            </a:r>
            <a:r>
              <a:rPr lang="en-US" dirty="0" smtClean="0"/>
              <a:t>:</a:t>
            </a:r>
            <a:endParaRPr lang="en-US" dirty="0"/>
          </a:p>
          <a:p>
            <a:pPr marL="640080" lvl="1" indent="-178920">
              <a:spcBef>
                <a:spcPts val="3000"/>
              </a:spcBef>
              <a:buClr>
                <a:srgbClr val="0047BA"/>
              </a:buClr>
              <a:buSzPct val="65000"/>
              <a:buFont typeface="Wingdings" charset="2"/>
              <a:buChar char=""/>
            </a:pPr>
            <a:r>
              <a:rPr lang="en-US" dirty="0" smtClean="0"/>
              <a:t>Another calling of </a:t>
            </a:r>
            <a:r>
              <a:rPr lang="en-US" dirty="0" err="1"/>
              <a:t>add_subplot</a:t>
            </a:r>
            <a:r>
              <a:rPr lang="en-US" dirty="0"/>
              <a:t> is </a:t>
            </a:r>
            <a:r>
              <a:rPr lang="en-US" b="1" dirty="0" err="1" smtClean="0">
                <a:solidFill>
                  <a:schemeClr val="tx2"/>
                </a:solidFill>
              </a:rPr>
              <a:t>add_subplot</a:t>
            </a:r>
            <a:r>
              <a:rPr lang="en-US" b="1" dirty="0" smtClean="0">
                <a:solidFill>
                  <a:schemeClr val="tx2"/>
                </a:solidFill>
              </a:rPr>
              <a:t>(</a:t>
            </a:r>
            <a:r>
              <a:rPr lang="en-US" b="1" dirty="0" err="1" smtClean="0">
                <a:solidFill>
                  <a:schemeClr val="tx2"/>
                </a:solidFill>
              </a:rPr>
              <a:t>nrows,ncols</a:t>
            </a:r>
            <a:r>
              <a:rPr lang="en-US" b="1" dirty="0">
                <a:solidFill>
                  <a:schemeClr val="tx2"/>
                </a:solidFill>
              </a:rPr>
              <a:t>, </a:t>
            </a:r>
            <a:r>
              <a:rPr lang="en-US" b="1" dirty="0" smtClean="0">
                <a:solidFill>
                  <a:schemeClr val="tx2"/>
                </a:solidFill>
              </a:rPr>
              <a:t>(</a:t>
            </a:r>
            <a:r>
              <a:rPr lang="en-US" b="1" dirty="0" err="1" smtClean="0">
                <a:solidFill>
                  <a:schemeClr val="tx2"/>
                </a:solidFill>
              </a:rPr>
              <a:t>first,last</a:t>
            </a:r>
            <a:r>
              <a:rPr lang="en-US" b="1" dirty="0" smtClean="0">
                <a:solidFill>
                  <a:schemeClr val="tx2"/>
                </a:solidFill>
              </a:rPr>
              <a:t>))</a:t>
            </a:r>
            <a:r>
              <a:rPr lang="en-US" dirty="0" smtClean="0"/>
              <a:t>, it allows </a:t>
            </a:r>
            <a:r>
              <a:rPr lang="en-US" dirty="0"/>
              <a:t>to specify where the axes should be situated according to a subplot grid. </a:t>
            </a:r>
            <a:endParaRPr lang="en-US" dirty="0" smtClean="0"/>
          </a:p>
          <a:p>
            <a:pPr marL="640080" lvl="1" indent="-178920">
              <a:spcBef>
                <a:spcPts val="3000"/>
              </a:spcBef>
              <a:buClr>
                <a:srgbClr val="0047BA"/>
              </a:buClr>
              <a:buSzPct val="65000"/>
              <a:buFont typeface="Wingdings" charset="2"/>
              <a:buChar char=""/>
            </a:pPr>
            <a:r>
              <a:rPr lang="en-US" dirty="0" smtClean="0"/>
              <a:t>It spans the subplot from </a:t>
            </a:r>
            <a:r>
              <a:rPr lang="en-US" b="1" dirty="0" smtClean="0">
                <a:solidFill>
                  <a:schemeClr val="tx2"/>
                </a:solidFill>
              </a:rPr>
              <a:t>first</a:t>
            </a:r>
            <a:r>
              <a:rPr lang="en-US" dirty="0" smtClean="0"/>
              <a:t> cell to </a:t>
            </a:r>
            <a:r>
              <a:rPr lang="en-US" b="1" dirty="0" smtClean="0">
                <a:solidFill>
                  <a:schemeClr val="tx2"/>
                </a:solidFill>
              </a:rPr>
              <a:t>last</a:t>
            </a:r>
            <a:r>
              <a:rPr lang="en-US" dirty="0" smtClean="0"/>
              <a:t> cell </a:t>
            </a:r>
            <a:r>
              <a:rPr lang="en-US" dirty="0"/>
              <a:t>on a grid with </a:t>
            </a:r>
            <a:r>
              <a:rPr lang="en-US" b="1" dirty="0" err="1">
                <a:solidFill>
                  <a:schemeClr val="tx2"/>
                </a:solidFill>
              </a:rPr>
              <a:t>nrows</a:t>
            </a:r>
            <a:r>
              <a:rPr lang="en-US" dirty="0"/>
              <a:t> rows and </a:t>
            </a:r>
            <a:r>
              <a:rPr lang="en-US" b="1" dirty="0" err="1">
                <a:solidFill>
                  <a:schemeClr val="tx2"/>
                </a:solidFill>
              </a:rPr>
              <a:t>ncols</a:t>
            </a:r>
            <a:r>
              <a:rPr lang="en-US" dirty="0"/>
              <a:t> columns. index starts at 1 in the upper left corner and increases to the right</a:t>
            </a:r>
            <a:r>
              <a:rPr lang="en-US" dirty="0" smtClean="0"/>
              <a:t>.</a:t>
            </a:r>
          </a:p>
          <a:p>
            <a:pPr marL="640080" lvl="1" indent="-178920">
              <a:spcBef>
                <a:spcPts val="3000"/>
              </a:spcBef>
              <a:buClr>
                <a:srgbClr val="0047BA"/>
              </a:buClr>
              <a:buSzPct val="65000"/>
              <a:buFont typeface="Wingdings" charset="2"/>
              <a:buChar char=""/>
            </a:pPr>
            <a:endParaRPr lang="en-US" dirty="0"/>
          </a:p>
          <a:p>
            <a:pPr marL="182880" indent="-178920">
              <a:spcBef>
                <a:spcPts val="3000"/>
              </a:spcBef>
              <a:buClr>
                <a:srgbClr val="0047BA"/>
              </a:buClr>
              <a:buSzPct val="65000"/>
              <a:buFont typeface="Wingdings" charset="2"/>
              <a:buChar char=""/>
            </a:pPr>
            <a:endParaRPr lang="en-US" dirty="0" smtClean="0"/>
          </a:p>
          <a:p>
            <a:pPr marL="640080" lvl="1" indent="-178920">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
        <p:nvSpPr>
          <p:cNvPr id="10" name="Rectangle 9"/>
          <p:cNvSpPr/>
          <p:nvPr/>
        </p:nvSpPr>
        <p:spPr>
          <a:xfrm>
            <a:off x="5287651" y="4300805"/>
            <a:ext cx="6275549" cy="646331"/>
          </a:xfrm>
          <a:prstGeom prst="rect">
            <a:avLst/>
          </a:prstGeom>
          <a:solidFill>
            <a:schemeClr val="bg1">
              <a:lumMod val="95000"/>
            </a:schemeClr>
          </a:solidFill>
        </p:spPr>
        <p:txBody>
          <a:bodyPr wrap="square">
            <a:spAutoFit/>
          </a:bodyPr>
          <a:lstStyle/>
          <a:p>
            <a:pPr eaLnBrk="0" fontAlgn="base" hangingPunct="0">
              <a:spcBef>
                <a:spcPct val="0"/>
              </a:spcBef>
              <a:spcAft>
                <a:spcPct val="0"/>
              </a:spcAft>
            </a:pPr>
            <a:r>
              <a:rPr lang="en-US" altLang="en-US" dirty="0" smtClean="0">
                <a:solidFill>
                  <a:srgbClr val="333333"/>
                </a:solidFill>
                <a:latin typeface="Courier New" panose="02070309020205020404" pitchFamily="49" charset="0"/>
                <a:cs typeface="Courier New" panose="02070309020205020404" pitchFamily="49" charset="0"/>
              </a:rPr>
              <a:t>fig </a:t>
            </a:r>
            <a:r>
              <a:rPr lang="en-US" altLang="en-US" dirty="0" smtClean="0">
                <a:solidFill>
                  <a:srgbClr val="666666"/>
                </a:solidFill>
                <a:latin typeface="Courier New" panose="02070309020205020404" pitchFamily="49" charset="0"/>
                <a:cs typeface="Courier New" panose="02070309020205020404" pitchFamily="49" charset="0"/>
              </a:rPr>
              <a:t>=</a:t>
            </a:r>
            <a:r>
              <a:rPr lang="en-US" altLang="en-US" dirty="0" smtClean="0">
                <a:solidFill>
                  <a:srgbClr val="333333"/>
                </a:solidFill>
                <a:latin typeface="Courier New" panose="02070309020205020404" pitchFamily="49" charset="0"/>
                <a:cs typeface="Courier New" panose="02070309020205020404" pitchFamily="49" charset="0"/>
              </a:rPr>
              <a:t> </a:t>
            </a:r>
            <a:r>
              <a:rPr lang="en-US" altLang="en-US" dirty="0" err="1" smtClean="0">
                <a:solidFill>
                  <a:srgbClr val="333333"/>
                </a:solidFill>
                <a:latin typeface="Courier New" panose="02070309020205020404" pitchFamily="49" charset="0"/>
                <a:cs typeface="Courier New" panose="02070309020205020404" pitchFamily="49" charset="0"/>
              </a:rPr>
              <a:t>plt</a:t>
            </a:r>
            <a:r>
              <a:rPr lang="en-US" altLang="en-US" dirty="0" err="1" smtClean="0">
                <a:solidFill>
                  <a:srgbClr val="666666"/>
                </a:solidFill>
                <a:latin typeface="Courier New" panose="02070309020205020404" pitchFamily="49" charset="0"/>
                <a:cs typeface="Courier New" panose="02070309020205020404" pitchFamily="49" charset="0"/>
              </a:rPr>
              <a:t>.</a:t>
            </a:r>
            <a:r>
              <a:rPr lang="en-US" altLang="en-US" dirty="0" err="1" smtClean="0">
                <a:solidFill>
                  <a:srgbClr val="333333"/>
                </a:solidFill>
                <a:latin typeface="Courier New" panose="02070309020205020404" pitchFamily="49" charset="0"/>
                <a:cs typeface="Courier New" panose="02070309020205020404" pitchFamily="49" charset="0"/>
              </a:rPr>
              <a:t>figure</a:t>
            </a:r>
            <a:r>
              <a:rPr lang="en-US" altLang="en-US" dirty="0" smtClean="0">
                <a:solidFill>
                  <a:srgbClr val="333333"/>
                </a:solidFill>
                <a:latin typeface="Courier New" panose="02070309020205020404" pitchFamily="49" charset="0"/>
                <a:cs typeface="Courier New" panose="02070309020205020404" pitchFamily="49" charset="0"/>
              </a:rPr>
              <a:t>()</a:t>
            </a:r>
          </a:p>
          <a:p>
            <a:pPr eaLnBrk="0" fontAlgn="base" hangingPunct="0">
              <a:spcBef>
                <a:spcPct val="0"/>
              </a:spcBef>
              <a:spcAft>
                <a:spcPct val="0"/>
              </a:spcAft>
            </a:pPr>
            <a:r>
              <a:rPr lang="en-US" altLang="en-US" dirty="0" smtClean="0">
                <a:solidFill>
                  <a:srgbClr val="333333"/>
                </a:solidFill>
                <a:latin typeface="Courier New" panose="02070309020205020404" pitchFamily="49" charset="0"/>
                <a:cs typeface="Courier New" panose="02070309020205020404" pitchFamily="49" charset="0"/>
              </a:rPr>
              <a:t>ax = </a:t>
            </a:r>
            <a:r>
              <a:rPr lang="en-US" altLang="en-US" dirty="0" err="1" smtClean="0">
                <a:solidFill>
                  <a:srgbClr val="333333"/>
                </a:solidFill>
                <a:latin typeface="Courier New" panose="02070309020205020404" pitchFamily="49" charset="0"/>
                <a:cs typeface="Courier New" panose="02070309020205020404" pitchFamily="49" charset="0"/>
              </a:rPr>
              <a:t>fig</a:t>
            </a:r>
            <a:r>
              <a:rPr lang="en-US" altLang="en-US" dirty="0" err="1" smtClean="0">
                <a:solidFill>
                  <a:srgbClr val="666666"/>
                </a:solidFill>
                <a:latin typeface="Courier New" panose="02070309020205020404" pitchFamily="49" charset="0"/>
                <a:cs typeface="Courier New" panose="02070309020205020404" pitchFamily="49" charset="0"/>
              </a:rPr>
              <a:t>.</a:t>
            </a:r>
            <a:r>
              <a:rPr lang="en-US" altLang="en-US" dirty="0" err="1" smtClean="0">
                <a:solidFill>
                  <a:srgbClr val="333333"/>
                </a:solidFill>
                <a:latin typeface="Courier New" panose="02070309020205020404" pitchFamily="49" charset="0"/>
                <a:cs typeface="Courier New" panose="02070309020205020404" pitchFamily="49" charset="0"/>
              </a:rPr>
              <a:t>add_subplot</a:t>
            </a:r>
            <a:r>
              <a:rPr lang="en-US" altLang="en-US" dirty="0" smtClean="0">
                <a:solidFill>
                  <a:srgbClr val="333333"/>
                </a:solidFill>
                <a:latin typeface="Courier New" panose="02070309020205020404" pitchFamily="49" charset="0"/>
                <a:cs typeface="Courier New" panose="02070309020205020404" pitchFamily="49" charset="0"/>
              </a:rPr>
              <a:t>(2,3,(2,5))</a:t>
            </a:r>
            <a:r>
              <a:rPr lang="en-US" altLang="en-US" dirty="0" smtClean="0">
                <a:latin typeface="Courier New" panose="02070309020205020404" pitchFamily="49" charset="0"/>
                <a:cs typeface="Courier New" panose="02070309020205020404" pitchFamily="49" charset="0"/>
              </a:rPr>
              <a:t> </a:t>
            </a:r>
            <a:endParaRPr lang="en-US" alt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2950060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21</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II, </a:t>
            </a:r>
            <a:r>
              <a:rPr lang="en-US" b="1" dirty="0" err="1" smtClean="0">
                <a:solidFill>
                  <a:schemeClr val="tx2"/>
                </a:solidFill>
              </a:rPr>
              <a:t>figure.add_subplot</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21179495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22</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II, </a:t>
            </a:r>
            <a:r>
              <a:rPr lang="en-US" b="1" dirty="0" err="1" smtClean="0">
                <a:solidFill>
                  <a:schemeClr val="tx2"/>
                </a:solidFill>
              </a:rPr>
              <a:t>figure.add_subplot</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1187726324"/>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23</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II, </a:t>
            </a:r>
            <a:r>
              <a:rPr lang="en-US" b="1" dirty="0" err="1" smtClean="0">
                <a:solidFill>
                  <a:schemeClr val="tx2"/>
                </a:solidFill>
              </a:rPr>
              <a:t>figure.add_subplot</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201273939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24</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II, </a:t>
            </a:r>
            <a:r>
              <a:rPr lang="en-US" b="1" dirty="0" err="1" smtClean="0">
                <a:solidFill>
                  <a:schemeClr val="tx2"/>
                </a:solidFill>
              </a:rPr>
              <a:t>figure.add_subplot</a:t>
            </a:r>
            <a:r>
              <a:rPr lang="en-US" b="1" dirty="0" smtClean="0">
                <a:solidFill>
                  <a:schemeClr val="tx2"/>
                </a:solidFill>
              </a:rPr>
              <a:t>()</a:t>
            </a:r>
            <a:r>
              <a:rPr lang="en-US" dirty="0" smtClean="0"/>
              <a:t>:</a:t>
            </a: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572814"/>
            <a:ext cx="5982535" cy="4286848"/>
          </a:xfrm>
          <a:prstGeom prst="rect">
            <a:avLst/>
          </a:prstGeom>
        </p:spPr>
      </p:pic>
    </p:spTree>
    <p:extLst>
      <p:ext uri="{BB962C8B-B14F-4D97-AF65-F5344CB8AC3E}">
        <p14:creationId xmlns:p14="http://schemas.microsoft.com/office/powerpoint/2010/main" val="362454455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a:solidFill>
                  <a:srgbClr val="0047BA"/>
                </a:solidFill>
              </a:rPr>
              <a:t>Figures and axes</a:t>
            </a:r>
            <a:endParaRPr lang="en-US" sz="3600" spc="-1" dirty="0"/>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25</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III, </a:t>
            </a:r>
            <a:r>
              <a:rPr lang="en-US" b="1" dirty="0" smtClean="0">
                <a:solidFill>
                  <a:schemeClr val="tx2"/>
                </a:solidFill>
              </a:rPr>
              <a:t>other functions to create axes</a:t>
            </a:r>
          </a:p>
          <a:p>
            <a:pPr marL="640080" lvl="1" indent="-178920">
              <a:spcBef>
                <a:spcPts val="3000"/>
              </a:spcBef>
              <a:buClr>
                <a:srgbClr val="0047BA"/>
              </a:buClr>
              <a:buSzPct val="65000"/>
              <a:buFont typeface="Wingdings" charset="2"/>
              <a:buChar char=""/>
            </a:pPr>
            <a:r>
              <a:rPr lang="en-US" b="1" dirty="0" err="1">
                <a:solidFill>
                  <a:schemeClr val="tx2"/>
                </a:solidFill>
              </a:rPr>
              <a:t>plt.subplot</a:t>
            </a:r>
            <a:r>
              <a:rPr lang="en-US" b="1" dirty="0">
                <a:solidFill>
                  <a:schemeClr val="tx2"/>
                </a:solidFill>
              </a:rPr>
              <a:t>(</a:t>
            </a:r>
            <a:r>
              <a:rPr lang="en-US" b="1" dirty="0" err="1">
                <a:solidFill>
                  <a:schemeClr val="tx2"/>
                </a:solidFill>
              </a:rPr>
              <a:t>nrows</a:t>
            </a:r>
            <a:r>
              <a:rPr lang="en-US" b="1" dirty="0">
                <a:solidFill>
                  <a:schemeClr val="tx2"/>
                </a:solidFill>
              </a:rPr>
              <a:t>, </a:t>
            </a:r>
            <a:r>
              <a:rPr lang="en-US" b="1" dirty="0" err="1">
                <a:solidFill>
                  <a:schemeClr val="tx2"/>
                </a:solidFill>
              </a:rPr>
              <a:t>ncols</a:t>
            </a:r>
            <a:r>
              <a:rPr lang="en-US" b="1" dirty="0">
                <a:solidFill>
                  <a:schemeClr val="tx2"/>
                </a:solidFill>
              </a:rPr>
              <a:t>, index)</a:t>
            </a:r>
            <a:r>
              <a:rPr lang="en-US" dirty="0"/>
              <a:t>: In the current figure, the function creates and returns an Axes object, at position </a:t>
            </a:r>
            <a:r>
              <a:rPr lang="en-US" b="1" dirty="0">
                <a:solidFill>
                  <a:schemeClr val="tx2"/>
                </a:solidFill>
              </a:rPr>
              <a:t>index</a:t>
            </a:r>
            <a:r>
              <a:rPr lang="en-US" dirty="0"/>
              <a:t> of a grid of </a:t>
            </a:r>
            <a:r>
              <a:rPr lang="en-US" b="1" dirty="0" err="1">
                <a:solidFill>
                  <a:schemeClr val="tx2"/>
                </a:solidFill>
              </a:rPr>
              <a:t>nrows</a:t>
            </a:r>
            <a:r>
              <a:rPr lang="en-US" dirty="0"/>
              <a:t> by </a:t>
            </a:r>
            <a:r>
              <a:rPr lang="en-US" b="1" dirty="0" err="1" smtClean="0">
                <a:solidFill>
                  <a:schemeClr val="tx2"/>
                </a:solidFill>
              </a:rPr>
              <a:t>ncols</a:t>
            </a:r>
            <a:r>
              <a:rPr lang="en-US" dirty="0" smtClean="0"/>
              <a:t> axes</a:t>
            </a:r>
            <a:r>
              <a:rPr lang="en-US" dirty="0"/>
              <a:t>. Creating a subplot will delete any pre-existing subplot that overlaps with it beyond sharing a boundary</a:t>
            </a:r>
            <a:r>
              <a:rPr lang="en-US" dirty="0" smtClean="0"/>
              <a:t>.</a:t>
            </a:r>
          </a:p>
          <a:p>
            <a:pPr marL="640080" lvl="1" indent="-178920">
              <a:spcBef>
                <a:spcPts val="3000"/>
              </a:spcBef>
              <a:buClr>
                <a:srgbClr val="0047BA"/>
              </a:buClr>
              <a:buSzPct val="65000"/>
              <a:buFont typeface="Wingdings" charset="2"/>
              <a:buChar char=""/>
            </a:pPr>
            <a:r>
              <a:rPr lang="en-US" b="1" dirty="0" err="1">
                <a:solidFill>
                  <a:schemeClr val="tx2"/>
                </a:solidFill>
              </a:rPr>
              <a:t>plt.subplots</a:t>
            </a:r>
            <a:r>
              <a:rPr lang="en-US" b="1" dirty="0">
                <a:solidFill>
                  <a:schemeClr val="tx2"/>
                </a:solidFill>
              </a:rPr>
              <a:t>(</a:t>
            </a:r>
            <a:r>
              <a:rPr lang="en-US" b="1" dirty="0" err="1">
                <a:solidFill>
                  <a:schemeClr val="tx2"/>
                </a:solidFill>
              </a:rPr>
              <a:t>nrows</a:t>
            </a:r>
            <a:r>
              <a:rPr lang="en-US" b="1" dirty="0">
                <a:solidFill>
                  <a:schemeClr val="tx2"/>
                </a:solidFill>
              </a:rPr>
              <a:t>, </a:t>
            </a:r>
            <a:r>
              <a:rPr lang="en-US" b="1" dirty="0" err="1">
                <a:solidFill>
                  <a:schemeClr val="tx2"/>
                </a:solidFill>
              </a:rPr>
              <a:t>ncols</a:t>
            </a:r>
            <a:r>
              <a:rPr lang="en-US" b="1" dirty="0" smtClean="0">
                <a:solidFill>
                  <a:schemeClr val="tx2"/>
                </a:solidFill>
              </a:rPr>
              <a:t>)</a:t>
            </a:r>
            <a:r>
              <a:rPr lang="en-US" dirty="0" smtClean="0"/>
              <a:t>: The </a:t>
            </a:r>
            <a:r>
              <a:rPr lang="en-US" dirty="0"/>
              <a:t>two integer arguments to this function specify the number of </a:t>
            </a:r>
            <a:r>
              <a:rPr lang="en-US" b="1" dirty="0">
                <a:solidFill>
                  <a:schemeClr val="tx2"/>
                </a:solidFill>
              </a:rPr>
              <a:t>rows</a:t>
            </a:r>
            <a:r>
              <a:rPr lang="en-US" dirty="0"/>
              <a:t> and </a:t>
            </a:r>
            <a:r>
              <a:rPr lang="en-US" b="1" dirty="0">
                <a:solidFill>
                  <a:schemeClr val="tx2"/>
                </a:solidFill>
              </a:rPr>
              <a:t>columns</a:t>
            </a:r>
            <a:r>
              <a:rPr lang="en-US" dirty="0"/>
              <a:t> of the subplot grid. The function </a:t>
            </a:r>
            <a:r>
              <a:rPr lang="en-US" b="1" dirty="0">
                <a:solidFill>
                  <a:schemeClr val="tx2"/>
                </a:solidFill>
              </a:rPr>
              <a:t>returns a figure object and a tuple</a:t>
            </a:r>
            <a:r>
              <a:rPr lang="en-US" dirty="0"/>
              <a:t> containing axes objects equal to </a:t>
            </a:r>
            <a:r>
              <a:rPr lang="en-US" dirty="0" err="1"/>
              <a:t>nrows</a:t>
            </a:r>
            <a:r>
              <a:rPr lang="en-US" dirty="0"/>
              <a:t>*</a:t>
            </a:r>
            <a:r>
              <a:rPr lang="en-US" dirty="0" err="1"/>
              <a:t>ncols</a:t>
            </a:r>
            <a:r>
              <a:rPr lang="en-US" dirty="0"/>
              <a:t>. Each axes object is accessible by its index.</a:t>
            </a: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58259151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2"/>
            </a:pPr>
            <a:r>
              <a:rPr lang="en-US" sz="3600" b="1" spc="15" dirty="0" smtClean="0">
                <a:solidFill>
                  <a:srgbClr val="0047BA"/>
                </a:solidFill>
                <a:latin typeface="Arial"/>
              </a:rPr>
              <a:t>Figures and axes</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26</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spcBef>
                <a:spcPts val="2400"/>
              </a:spcBef>
              <a:buClr>
                <a:srgbClr val="0047BA"/>
              </a:buClr>
              <a:buSzPct val="65000"/>
              <a:buFont typeface="Wingdings" charset="2"/>
              <a:buChar char=""/>
            </a:pPr>
            <a:r>
              <a:rPr lang="en-US" sz="2400" spc="-1" dirty="0" smtClean="0">
                <a:solidFill>
                  <a:schemeClr val="tx2"/>
                </a:solidFill>
              </a:rPr>
              <a:t>Object-oriented </a:t>
            </a:r>
            <a:r>
              <a:rPr lang="en-US" sz="2400" spc="-1" dirty="0">
                <a:solidFill>
                  <a:schemeClr val="tx2"/>
                </a:solidFill>
              </a:rPr>
              <a:t>API</a:t>
            </a:r>
          </a:p>
          <a:p>
            <a:pPr marL="182880" indent="-178920">
              <a:lnSpc>
                <a:spcPct val="100000"/>
              </a:lnSpc>
              <a:spcBef>
                <a:spcPts val="2400"/>
              </a:spcBef>
              <a:buClr>
                <a:srgbClr val="0047BA"/>
              </a:buClr>
              <a:buSzPct val="65000"/>
              <a:buFont typeface="Wingdings" charset="2"/>
              <a:buChar char=""/>
            </a:pPr>
            <a:r>
              <a:rPr lang="en-US" sz="2400" spc="-1" dirty="0" smtClean="0">
                <a:solidFill>
                  <a:srgbClr val="0047BA"/>
                </a:solidFill>
                <a:latin typeface="Arial"/>
              </a:rPr>
              <a:t>Figure class</a:t>
            </a:r>
          </a:p>
          <a:p>
            <a:pPr marL="182880" indent="-178920">
              <a:lnSpc>
                <a:spcPct val="100000"/>
              </a:lnSpc>
              <a:spcBef>
                <a:spcPts val="2400"/>
              </a:spcBef>
              <a:buClr>
                <a:srgbClr val="0047BA"/>
              </a:buClr>
              <a:buSzPct val="65000"/>
              <a:buFont typeface="Wingdings" charset="2"/>
              <a:buChar char=""/>
            </a:pPr>
            <a:r>
              <a:rPr lang="en-US" sz="2800" b="1" spc="-1" dirty="0" smtClean="0">
                <a:solidFill>
                  <a:srgbClr val="0047BA"/>
                </a:solidFill>
                <a:latin typeface="Arial"/>
              </a:rPr>
              <a:t>Axes class</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creation III, </a:t>
            </a:r>
            <a:r>
              <a:rPr lang="en-US" b="1" dirty="0" smtClean="0">
                <a:solidFill>
                  <a:schemeClr val="tx2"/>
                </a:solidFill>
              </a:rPr>
              <a:t>other functions to create axes</a:t>
            </a:r>
          </a:p>
          <a:p>
            <a:pPr marL="640080" lvl="1" indent="-178920">
              <a:spcBef>
                <a:spcPts val="3000"/>
              </a:spcBef>
              <a:buClr>
                <a:srgbClr val="0047BA"/>
              </a:buClr>
              <a:buSzPct val="65000"/>
              <a:buFont typeface="Wingdings" charset="2"/>
              <a:buChar char=""/>
            </a:pPr>
            <a:r>
              <a:rPr lang="en-US" b="1" dirty="0" err="1">
                <a:solidFill>
                  <a:schemeClr val="tx2"/>
                </a:solidFill>
              </a:rPr>
              <a:t>plt</a:t>
            </a:r>
            <a:r>
              <a:rPr lang="en-US" b="1" dirty="0">
                <a:solidFill>
                  <a:schemeClr val="tx2"/>
                </a:solidFill>
              </a:rPr>
              <a:t>. </a:t>
            </a:r>
            <a:r>
              <a:rPr lang="en-US" b="1" dirty="0" smtClean="0">
                <a:solidFill>
                  <a:schemeClr val="tx2"/>
                </a:solidFill>
              </a:rPr>
              <a:t>subplot2grid(</a:t>
            </a:r>
            <a:r>
              <a:rPr lang="en-US" b="1" dirty="0" err="1" smtClean="0">
                <a:solidFill>
                  <a:schemeClr val="tx2"/>
                </a:solidFill>
              </a:rPr>
              <a:t>shape,location,rowspan,colspan</a:t>
            </a:r>
            <a:r>
              <a:rPr lang="en-US" b="1" dirty="0" smtClean="0">
                <a:solidFill>
                  <a:schemeClr val="tx2"/>
                </a:solidFill>
              </a:rPr>
              <a:t>)</a:t>
            </a:r>
            <a:r>
              <a:rPr lang="en-US" dirty="0"/>
              <a:t>: This function gives more flexibility in creating an axes object at a specific location of the grid. It also allows the axes object to be spanned across multiple rows or columns.</a:t>
            </a:r>
            <a:endParaRPr lang="en-US" dirty="0" smtClean="0"/>
          </a:p>
          <a:p>
            <a:pPr marL="182880" indent="-178920">
              <a:lnSpc>
                <a:spcPct val="100000"/>
              </a:lnSpc>
              <a:spcBef>
                <a:spcPts val="3169"/>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02_Figures_and_axes/</a:t>
            </a:r>
            <a:r>
              <a:rPr lang="en-US" spc="-1" dirty="0" err="1" smtClean="0">
                <a:solidFill>
                  <a:schemeClr val="tx2"/>
                </a:solidFill>
              </a:rPr>
              <a:t>axes.ipynb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98693301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27</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800" b="1"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Labels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Spines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Scale</a:t>
            </a:r>
            <a:endParaRPr lang="en-US" sz="2400" strike="noStrike"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Legend</a:t>
            </a:r>
            <a:endParaRPr lang="en-US" sz="2400"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The </a:t>
            </a:r>
            <a:r>
              <a:rPr lang="en-US" b="1" dirty="0">
                <a:solidFill>
                  <a:schemeClr val="tx2"/>
                </a:solidFill>
              </a:rPr>
              <a:t>grid()</a:t>
            </a:r>
            <a:r>
              <a:rPr lang="en-US" dirty="0"/>
              <a:t> function of axes object sets visibility of grid inside the figure to on or off. You can also display major / minor (or both) ticks of the grid. Additionally </a:t>
            </a:r>
            <a:r>
              <a:rPr lang="en-US" b="1" dirty="0">
                <a:solidFill>
                  <a:schemeClr val="tx2"/>
                </a:solidFill>
              </a:rPr>
              <a:t>color, </a:t>
            </a:r>
            <a:r>
              <a:rPr lang="en-US" b="1" dirty="0" err="1">
                <a:solidFill>
                  <a:schemeClr val="tx2"/>
                </a:solidFill>
              </a:rPr>
              <a:t>linestyle</a:t>
            </a:r>
            <a:r>
              <a:rPr lang="en-US" b="1" dirty="0">
                <a:solidFill>
                  <a:schemeClr val="tx2"/>
                </a:solidFill>
              </a:rPr>
              <a:t> and linewidth</a:t>
            </a:r>
            <a:r>
              <a:rPr lang="en-US" dirty="0"/>
              <a:t> properties can be set in the grid() function</a:t>
            </a:r>
            <a:r>
              <a:rPr lang="en-US" dirty="0" smtClean="0"/>
              <a:t>.</a:t>
            </a:r>
          </a:p>
          <a:p>
            <a:pPr marL="182880" indent="-178920">
              <a:lnSpc>
                <a:spcPct val="100000"/>
              </a:lnSpc>
              <a:spcBef>
                <a:spcPts val="3000"/>
              </a:spcBef>
              <a:buClr>
                <a:srgbClr val="0047BA"/>
              </a:buClr>
              <a:buSzPct val="65000"/>
              <a:buFont typeface="Wingdings" charset="2"/>
              <a:buChar char=""/>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graphicFrame>
        <p:nvGraphicFramePr>
          <p:cNvPr id="11" name="Table 10"/>
          <p:cNvGraphicFramePr>
            <a:graphicFrameLocks noGrp="1"/>
          </p:cNvGraphicFramePr>
          <p:nvPr>
            <p:extLst>
              <p:ext uri="{D42A27DB-BD31-4B8C-83A1-F6EECF244321}">
                <p14:modId xmlns:p14="http://schemas.microsoft.com/office/powerpoint/2010/main" val="2277207052"/>
              </p:ext>
            </p:extLst>
          </p:nvPr>
        </p:nvGraphicFramePr>
        <p:xfrm>
          <a:off x="5287649" y="2502547"/>
          <a:ext cx="6275551" cy="2890815"/>
        </p:xfrm>
        <a:graphic>
          <a:graphicData uri="http://schemas.openxmlformats.org/drawingml/2006/table">
            <a:tbl>
              <a:tblPr/>
              <a:tblGrid>
                <a:gridCol w="662701">
                  <a:extLst>
                    <a:ext uri="{9D8B030D-6E8A-4147-A177-3AD203B41FA5}">
                      <a16:colId xmlns:a16="http://schemas.microsoft.com/office/drawing/2014/main" val="3733997974"/>
                    </a:ext>
                  </a:extLst>
                </a:gridCol>
                <a:gridCol w="5612850">
                  <a:extLst>
                    <a:ext uri="{9D8B030D-6E8A-4147-A177-3AD203B41FA5}">
                      <a16:colId xmlns:a16="http://schemas.microsoft.com/office/drawing/2014/main" val="2260607036"/>
                    </a:ext>
                  </a:extLst>
                </a:gridCol>
              </a:tblGrid>
              <a:tr h="230056">
                <a:tc>
                  <a:txBody>
                    <a:bodyPr/>
                    <a:lstStyle/>
                    <a:p>
                      <a:pPr algn="ctr" fontAlgn="t"/>
                      <a:r>
                        <a:rPr lang="en-US" sz="1400" b="1" dirty="0" err="1">
                          <a:solidFill>
                            <a:schemeClr val="bg1"/>
                          </a:solidFill>
                          <a:effectLst/>
                        </a:rPr>
                        <a:t>Sr.No</a:t>
                      </a:r>
                      <a:r>
                        <a:rPr lang="en-US" sz="1400" b="1" dirty="0">
                          <a:solidFill>
                            <a:schemeClr val="bg1"/>
                          </a:solidFill>
                          <a:effectLst/>
                        </a:rPr>
                        <a:t>.</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tx2"/>
                    </a:solidFill>
                  </a:tcPr>
                </a:tc>
                <a:tc>
                  <a:txBody>
                    <a:bodyPr/>
                    <a:lstStyle/>
                    <a:p>
                      <a:pPr algn="ctr" fontAlgn="t"/>
                      <a:r>
                        <a:rPr lang="en-US" sz="1400" b="1" dirty="0">
                          <a:solidFill>
                            <a:schemeClr val="bg1"/>
                          </a:solidFill>
                          <a:effectLst/>
                        </a:rPr>
                        <a:t>Parameter &amp; Description</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tx2"/>
                    </a:solidFill>
                  </a:tcPr>
                </a:tc>
                <a:extLst>
                  <a:ext uri="{0D108BD9-81ED-4DB2-BD59-A6C34878D82A}">
                    <a16:rowId xmlns:a16="http://schemas.microsoft.com/office/drawing/2014/main" val="1770441469"/>
                  </a:ext>
                </a:extLst>
              </a:tr>
              <a:tr h="463112">
                <a:tc>
                  <a:txBody>
                    <a:bodyPr/>
                    <a:lstStyle/>
                    <a:p>
                      <a:pPr fontAlgn="t"/>
                      <a:r>
                        <a:rPr lang="en-US" sz="1400" dirty="0">
                          <a:effectLst/>
                        </a:rPr>
                        <a:t>1</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i="0" kern="1200" dirty="0" smtClean="0">
                          <a:solidFill>
                            <a:schemeClr val="tx1"/>
                          </a:solidFill>
                          <a:effectLst/>
                          <a:latin typeface="+mn-lt"/>
                          <a:ea typeface="+mn-ea"/>
                          <a:cs typeface="+mn-cs"/>
                        </a:rPr>
                        <a:t>which</a:t>
                      </a:r>
                      <a:r>
                        <a:rPr lang="en-US" sz="1400" b="0" i="0" kern="1200" dirty="0" smtClean="0">
                          <a:solidFill>
                            <a:schemeClr val="tx1"/>
                          </a:solidFill>
                          <a:effectLst/>
                          <a:latin typeface="+mn-lt"/>
                          <a:ea typeface="+mn-ea"/>
                          <a:cs typeface="+mn-cs"/>
                        </a:rPr>
                        <a:t>{'major', 'minor', 'both'}, optional</a:t>
                      </a:r>
                    </a:p>
                    <a:p>
                      <a:pPr algn="just" fontAlgn="t"/>
                      <a:r>
                        <a:rPr lang="en-US" sz="1400" b="0" i="0" kern="1200" dirty="0" smtClean="0">
                          <a:solidFill>
                            <a:schemeClr val="tx1"/>
                          </a:solidFill>
                          <a:effectLst/>
                          <a:latin typeface="+mn-lt"/>
                          <a:ea typeface="+mn-ea"/>
                          <a:cs typeface="+mn-cs"/>
                        </a:rPr>
                        <a:t>The grid lines to apply the changes on.</a:t>
                      </a:r>
                      <a:endParaRPr lang="en-US" sz="140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478149"/>
                  </a:ext>
                </a:extLst>
              </a:tr>
              <a:tr h="525843">
                <a:tc>
                  <a:txBody>
                    <a:bodyPr/>
                    <a:lstStyle/>
                    <a:p>
                      <a:pPr fontAlgn="t"/>
                      <a:r>
                        <a:rPr lang="en-US" sz="1400">
                          <a:effectLst/>
                        </a:rPr>
                        <a:t>2</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i="0" kern="1200" dirty="0" smtClean="0">
                          <a:solidFill>
                            <a:schemeClr val="tx1"/>
                          </a:solidFill>
                          <a:effectLst/>
                          <a:latin typeface="+mn-lt"/>
                          <a:ea typeface="+mn-ea"/>
                          <a:cs typeface="+mn-cs"/>
                        </a:rPr>
                        <a:t>axis</a:t>
                      </a:r>
                      <a:r>
                        <a:rPr lang="en-US" sz="1400" b="0" i="0" kern="1200" dirty="0" smtClean="0">
                          <a:solidFill>
                            <a:schemeClr val="tx1"/>
                          </a:solidFill>
                          <a:effectLst/>
                          <a:latin typeface="+mn-lt"/>
                          <a:ea typeface="+mn-ea"/>
                          <a:cs typeface="+mn-cs"/>
                        </a:rPr>
                        <a:t>{'both', 'x', 'y'}, optional</a:t>
                      </a:r>
                    </a:p>
                    <a:p>
                      <a:pPr algn="just" fontAlgn="t"/>
                      <a:r>
                        <a:rPr lang="en-US" sz="1400" b="0" i="0" kern="1200" dirty="0" smtClean="0">
                          <a:solidFill>
                            <a:schemeClr val="tx1"/>
                          </a:solidFill>
                          <a:effectLst/>
                          <a:latin typeface="+mn-lt"/>
                          <a:ea typeface="+mn-ea"/>
                          <a:cs typeface="+mn-cs"/>
                        </a:rPr>
                        <a:t>The axis to apply the changes on.</a:t>
                      </a:r>
                      <a:endParaRPr lang="en-US" sz="140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46996407"/>
                  </a:ext>
                </a:extLst>
              </a:tr>
              <a:tr h="525843">
                <a:tc>
                  <a:txBody>
                    <a:bodyPr/>
                    <a:lstStyle/>
                    <a:p>
                      <a:pPr fontAlgn="t"/>
                      <a:r>
                        <a:rPr lang="en-US" sz="1400">
                          <a:effectLst/>
                        </a:rPr>
                        <a:t>3</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dirty="0" smtClean="0">
                          <a:solidFill>
                            <a:srgbClr val="000000"/>
                          </a:solidFill>
                          <a:effectLst/>
                        </a:rPr>
                        <a:t>color</a:t>
                      </a:r>
                    </a:p>
                    <a:p>
                      <a:pPr algn="just" fontAlgn="t"/>
                      <a:r>
                        <a:rPr lang="en-US" sz="1400" dirty="0" smtClean="0">
                          <a:solidFill>
                            <a:srgbClr val="000000"/>
                          </a:solidFill>
                          <a:effectLst/>
                        </a:rPr>
                        <a:t>color</a:t>
                      </a:r>
                      <a:endParaRPr lang="en-US" sz="140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11983743"/>
                  </a:ext>
                </a:extLst>
              </a:tr>
              <a:tr h="525843">
                <a:tc>
                  <a:txBody>
                    <a:bodyPr/>
                    <a:lstStyle/>
                    <a:p>
                      <a:pPr fontAlgn="t"/>
                      <a:r>
                        <a:rPr lang="en-US" sz="1400">
                          <a:effectLst/>
                        </a:rPr>
                        <a:t>4</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dirty="0" err="1" smtClean="0">
                          <a:solidFill>
                            <a:srgbClr val="000000"/>
                          </a:solidFill>
                          <a:effectLst/>
                        </a:rPr>
                        <a:t>linestyle</a:t>
                      </a:r>
                      <a:endParaRPr lang="en-US" sz="1400" b="1" dirty="0" smtClean="0">
                        <a:solidFill>
                          <a:srgbClr val="000000"/>
                        </a:solidFill>
                        <a:effectLst/>
                      </a:endParaRPr>
                    </a:p>
                    <a:p>
                      <a:pPr algn="just" fontAlgn="t"/>
                      <a:r>
                        <a:rPr lang="en-US" sz="1400" b="0" i="0" kern="1200" dirty="0" smtClean="0">
                          <a:solidFill>
                            <a:schemeClr val="tx1"/>
                          </a:solidFill>
                          <a:effectLst/>
                          <a:latin typeface="+mn-lt"/>
                          <a:ea typeface="+mn-ea"/>
                          <a:cs typeface="+mn-cs"/>
                        </a:rPr>
                        <a:t>{'-', '--', '-.', ':', '', (offset, on-off-</a:t>
                      </a:r>
                      <a:r>
                        <a:rPr lang="en-US" sz="1400" b="0" i="0" kern="1200" dirty="0" err="1" smtClean="0">
                          <a:solidFill>
                            <a:schemeClr val="tx1"/>
                          </a:solidFill>
                          <a:effectLst/>
                          <a:latin typeface="+mn-lt"/>
                          <a:ea typeface="+mn-ea"/>
                          <a:cs typeface="+mn-cs"/>
                        </a:rPr>
                        <a:t>seq</a:t>
                      </a:r>
                      <a:r>
                        <a:rPr lang="en-US" sz="1400" b="0" i="0" kern="1200" dirty="0" smtClean="0">
                          <a:solidFill>
                            <a:schemeClr val="tx1"/>
                          </a:solidFill>
                          <a:effectLst/>
                          <a:latin typeface="+mn-lt"/>
                          <a:ea typeface="+mn-ea"/>
                          <a:cs typeface="+mn-cs"/>
                        </a:rPr>
                        <a:t>), ...}</a:t>
                      </a:r>
                      <a:endParaRPr lang="en-US" sz="140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916878220"/>
                  </a:ext>
                </a:extLst>
              </a:tr>
              <a:tr h="507548">
                <a:tc>
                  <a:txBody>
                    <a:bodyPr/>
                    <a:lstStyle/>
                    <a:p>
                      <a:pPr fontAlgn="t"/>
                      <a:r>
                        <a:rPr lang="en-US" sz="1400" dirty="0">
                          <a:effectLst/>
                        </a:rPr>
                        <a:t>5</a:t>
                      </a: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i="0" kern="1200" dirty="0" smtClean="0">
                          <a:solidFill>
                            <a:schemeClr val="tx1"/>
                          </a:solidFill>
                          <a:effectLst/>
                          <a:latin typeface="+mn-lt"/>
                          <a:ea typeface="+mn-ea"/>
                          <a:cs typeface="+mn-cs"/>
                        </a:rPr>
                        <a:t>linewidth</a:t>
                      </a:r>
                    </a:p>
                    <a:p>
                      <a:pPr algn="just" fontAlgn="t"/>
                      <a:r>
                        <a:rPr lang="en-US" sz="1400" b="0" i="0" kern="1200" dirty="0" smtClean="0">
                          <a:solidFill>
                            <a:schemeClr val="tx1"/>
                          </a:solidFill>
                          <a:effectLst/>
                          <a:latin typeface="+mn-lt"/>
                          <a:ea typeface="+mn-ea"/>
                          <a:cs typeface="+mn-cs"/>
                        </a:rPr>
                        <a:t>float</a:t>
                      </a:r>
                      <a:endParaRPr lang="en-US" sz="1400" b="0" dirty="0">
                        <a:solidFill>
                          <a:srgbClr val="000000"/>
                        </a:solidFill>
                        <a:effectLst/>
                      </a:endParaRPr>
                    </a:p>
                  </a:txBody>
                  <a:tcPr marL="41081" marR="41081" marT="41081" marB="410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08386291"/>
                  </a:ext>
                </a:extLst>
              </a:tr>
            </a:tbl>
          </a:graphicData>
        </a:graphic>
      </p:graphicFrame>
    </p:spTree>
    <p:extLst>
      <p:ext uri="{BB962C8B-B14F-4D97-AF65-F5344CB8AC3E}">
        <p14:creationId xmlns:p14="http://schemas.microsoft.com/office/powerpoint/2010/main" val="51406161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28</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800" b="1"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strike="noStrike" spc="-1" dirty="0" smtClean="0">
              <a:solidFill>
                <a:srgbClr val="0047BA"/>
              </a:solidFill>
              <a:latin typeface="Arial"/>
              <a:ea typeface="DejaVu Sans"/>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8292" y="2294794"/>
            <a:ext cx="4255269" cy="3178154"/>
          </a:xfrm>
          <a:prstGeom prst="rect">
            <a:avLst/>
          </a:prstGeom>
        </p:spPr>
      </p:pic>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The </a:t>
            </a:r>
            <a:r>
              <a:rPr lang="en-US" b="1" dirty="0" smtClean="0">
                <a:solidFill>
                  <a:schemeClr val="tx2"/>
                </a:solidFill>
              </a:rPr>
              <a:t>grid()</a:t>
            </a:r>
            <a:r>
              <a:rPr lang="en-US" dirty="0" smtClean="0"/>
              <a:t> function of axes object sets visibility of grid inside the figure to on or off. You can also display major / minor (or both) ticks of the grid. Additionally </a:t>
            </a:r>
            <a:r>
              <a:rPr lang="en-US" b="1" dirty="0" smtClean="0">
                <a:solidFill>
                  <a:schemeClr val="tx2"/>
                </a:solidFill>
              </a:rPr>
              <a:t>color, </a:t>
            </a:r>
            <a:r>
              <a:rPr lang="en-US" b="1" dirty="0" err="1" smtClean="0">
                <a:solidFill>
                  <a:schemeClr val="tx2"/>
                </a:solidFill>
              </a:rPr>
              <a:t>linestyle</a:t>
            </a:r>
            <a:r>
              <a:rPr lang="en-US" b="1" dirty="0" smtClean="0">
                <a:solidFill>
                  <a:schemeClr val="tx2"/>
                </a:solidFill>
              </a:rPr>
              <a:t> and linewidth</a:t>
            </a:r>
            <a:r>
              <a:rPr lang="en-US" dirty="0" smtClean="0"/>
              <a:t> properties can be set in the grid() function.</a:t>
            </a: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169"/>
              </a:spcBef>
              <a:buClr>
                <a:srgbClr val="0047BA"/>
              </a:buClr>
              <a:buSzPct val="65000"/>
              <a:buFont typeface="Wingdings" charset="2"/>
              <a:buChar char=""/>
            </a:pPr>
            <a:r>
              <a:rPr lang="en-US" b="1" spc="-1" dirty="0" smtClean="0">
                <a:solidFill>
                  <a:schemeClr val="tx2"/>
                </a:solidFill>
              </a:rPr>
              <a:t>Let’s </a:t>
            </a:r>
            <a:r>
              <a:rPr lang="en-US" b="1" spc="-1" dirty="0">
                <a:solidFill>
                  <a:schemeClr val="tx2"/>
                </a:solidFill>
              </a:rPr>
              <a:t>see some examples:</a:t>
            </a:r>
          </a:p>
          <a:p>
            <a:pPr marL="461160" lvl="1">
              <a:spcBef>
                <a:spcPts val="600"/>
              </a:spcBef>
              <a:buClr>
                <a:srgbClr val="0047BA"/>
              </a:buClr>
              <a:buSzPct val="65000"/>
            </a:pPr>
            <a:r>
              <a:rPr lang="en-US" spc="-1" dirty="0" smtClean="0">
                <a:solidFill>
                  <a:schemeClr val="tx2"/>
                </a:solidFill>
              </a:rPr>
              <a:t>03_Formatting/</a:t>
            </a:r>
            <a:r>
              <a:rPr lang="en-US" spc="-1" dirty="0" err="1" smtClean="0">
                <a:solidFill>
                  <a:schemeClr val="tx2"/>
                </a:solidFill>
              </a:rPr>
              <a:t>grids.ipynb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2586625517"/>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29</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Labels</a:t>
            </a:r>
            <a:endParaRPr lang="en-US" sz="2400" b="1" spc="-1" dirty="0">
              <a:solidFill>
                <a:srgbClr val="0047BA"/>
              </a:solidFill>
            </a:endParaRP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It is always desirable to include labels on the plot:</a:t>
            </a:r>
          </a:p>
          <a:p>
            <a:pPr marL="640080" lvl="1" indent="-178920">
              <a:spcBef>
                <a:spcPts val="3000"/>
              </a:spcBef>
              <a:buClr>
                <a:srgbClr val="0047BA"/>
              </a:buClr>
              <a:buSzPct val="65000"/>
              <a:buFont typeface="Wingdings" charset="2"/>
              <a:buChar char=""/>
            </a:pPr>
            <a:r>
              <a:rPr lang="en-US" b="1" dirty="0" err="1" smtClean="0">
                <a:solidFill>
                  <a:schemeClr val="tx2"/>
                </a:solidFill>
              </a:rPr>
              <a:t>Axes.set_title</a:t>
            </a:r>
            <a:r>
              <a:rPr lang="en-US" b="1" dirty="0" smtClean="0">
                <a:solidFill>
                  <a:schemeClr val="tx2"/>
                </a:solidFill>
              </a:rPr>
              <a:t>()</a:t>
            </a:r>
            <a:r>
              <a:rPr lang="en-US" dirty="0" smtClean="0"/>
              <a:t>: sets </a:t>
            </a:r>
            <a:r>
              <a:rPr lang="en-US" dirty="0"/>
              <a:t>a title for the axes</a:t>
            </a:r>
            <a:r>
              <a:rPr lang="en-US" dirty="0" smtClean="0"/>
              <a:t>.</a:t>
            </a:r>
          </a:p>
          <a:p>
            <a:pPr marL="640080" lvl="1" indent="-178920">
              <a:spcBef>
                <a:spcPts val="3000"/>
              </a:spcBef>
              <a:buClr>
                <a:srgbClr val="0047BA"/>
              </a:buClr>
              <a:buSzPct val="65000"/>
              <a:buFont typeface="Wingdings" charset="2"/>
              <a:buChar char=""/>
            </a:pPr>
            <a:r>
              <a:rPr lang="en-US" b="1" dirty="0" err="1" smtClean="0">
                <a:solidFill>
                  <a:schemeClr val="tx2"/>
                </a:solidFill>
              </a:rPr>
              <a:t>Axes.set_xlabel</a:t>
            </a:r>
            <a:r>
              <a:rPr lang="en-US" b="1" dirty="0" smtClean="0">
                <a:solidFill>
                  <a:schemeClr val="tx2"/>
                </a:solidFill>
              </a:rPr>
              <a:t>()</a:t>
            </a:r>
            <a:r>
              <a:rPr lang="en-US" dirty="0" smtClean="0"/>
              <a:t>: sets label of x axis.</a:t>
            </a:r>
          </a:p>
          <a:p>
            <a:pPr marL="640080" lvl="1" indent="-178920">
              <a:spcBef>
                <a:spcPts val="3000"/>
              </a:spcBef>
              <a:buClr>
                <a:srgbClr val="0047BA"/>
              </a:buClr>
              <a:buSzPct val="65000"/>
              <a:buFont typeface="Wingdings" charset="2"/>
              <a:buChar char=""/>
            </a:pPr>
            <a:r>
              <a:rPr lang="en-US" b="1" dirty="0" err="1" smtClean="0">
                <a:solidFill>
                  <a:schemeClr val="tx2"/>
                </a:solidFill>
              </a:rPr>
              <a:t>Axes.set_ylabel</a:t>
            </a:r>
            <a:r>
              <a:rPr lang="en-US" b="1" dirty="0">
                <a:solidFill>
                  <a:schemeClr val="tx2"/>
                </a:solidFill>
              </a:rPr>
              <a:t>()</a:t>
            </a:r>
            <a:r>
              <a:rPr lang="en-US" dirty="0"/>
              <a:t>: sets label of </a:t>
            </a:r>
            <a:r>
              <a:rPr lang="en-US" dirty="0" smtClean="0"/>
              <a:t>y </a:t>
            </a:r>
            <a:r>
              <a:rPr lang="en-US" dirty="0"/>
              <a:t>axis.</a:t>
            </a: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22123122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30</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labeling:</a:t>
            </a:r>
          </a:p>
          <a:p>
            <a:pPr marL="182880" indent="-178920">
              <a:lnSpc>
                <a:spcPct val="100000"/>
              </a:lnSpc>
              <a:spcBef>
                <a:spcPts val="3169"/>
              </a:spcBef>
              <a:buClr>
                <a:srgbClr val="0047BA"/>
              </a:buClr>
              <a:buSzPct val="65000"/>
              <a:buFont typeface="Wingdings" charset="2"/>
              <a:buChar char=""/>
            </a:pPr>
            <a:endParaRPr lang="en-US" b="1" spc="-1" dirty="0" smtClean="0">
              <a:solidFill>
                <a:schemeClr val="tx2"/>
              </a:solidFill>
            </a:endParaRPr>
          </a:p>
          <a:p>
            <a:pPr marL="182880" indent="-178920">
              <a:lnSpc>
                <a:spcPct val="100000"/>
              </a:lnSpc>
              <a:spcBef>
                <a:spcPts val="3169"/>
              </a:spcBef>
              <a:buClr>
                <a:srgbClr val="0047BA"/>
              </a:buClr>
              <a:buSzPct val="65000"/>
              <a:buFont typeface="Wingdings" charset="2"/>
              <a:buChar char=""/>
            </a:pPr>
            <a:endParaRPr lang="en-US" b="1" spc="-1" dirty="0">
              <a:solidFill>
                <a:schemeClr val="tx2"/>
              </a:solidFill>
            </a:endParaRPr>
          </a:p>
          <a:p>
            <a:pPr marL="182880" indent="-178920">
              <a:lnSpc>
                <a:spcPct val="100000"/>
              </a:lnSpc>
              <a:spcBef>
                <a:spcPts val="3169"/>
              </a:spcBef>
              <a:buClr>
                <a:srgbClr val="0047BA"/>
              </a:buClr>
              <a:buSzPct val="65000"/>
              <a:buFont typeface="Wingdings" charset="2"/>
              <a:buChar char=""/>
            </a:pPr>
            <a:endParaRPr lang="en-US" b="1" spc="-1" dirty="0" smtClean="0">
              <a:solidFill>
                <a:schemeClr val="tx2"/>
              </a:solidFill>
            </a:endParaRPr>
          </a:p>
          <a:p>
            <a:pPr marL="182880" indent="-178920">
              <a:lnSpc>
                <a:spcPct val="100000"/>
              </a:lnSpc>
              <a:spcBef>
                <a:spcPts val="3169"/>
              </a:spcBef>
              <a:buClr>
                <a:srgbClr val="0047BA"/>
              </a:buClr>
              <a:buSzPct val="65000"/>
              <a:buFont typeface="Wingdings" charset="2"/>
              <a:buChar char=""/>
            </a:pPr>
            <a:endParaRPr lang="en-US" b="1" spc="-1" dirty="0">
              <a:solidFill>
                <a:schemeClr val="tx2"/>
              </a:solidFill>
            </a:endParaRPr>
          </a:p>
          <a:p>
            <a:pPr marL="182880" indent="-178920">
              <a:lnSpc>
                <a:spcPct val="100000"/>
              </a:lnSpc>
              <a:spcBef>
                <a:spcPts val="3169"/>
              </a:spcBef>
              <a:buClr>
                <a:srgbClr val="0047BA"/>
              </a:buClr>
              <a:buSzPct val="65000"/>
              <a:buFont typeface="Wingdings" charset="2"/>
              <a:buChar char=""/>
            </a:pPr>
            <a:endParaRPr lang="en-US" b="1" spc="-1" dirty="0" smtClean="0">
              <a:solidFill>
                <a:schemeClr val="tx2"/>
              </a:solidFill>
            </a:endParaRPr>
          </a:p>
          <a:p>
            <a:pPr marL="182880" indent="-178920">
              <a:lnSpc>
                <a:spcPct val="100000"/>
              </a:lnSpc>
              <a:spcBef>
                <a:spcPts val="3169"/>
              </a:spcBef>
              <a:buClr>
                <a:srgbClr val="0047BA"/>
              </a:buClr>
              <a:buSzPct val="65000"/>
              <a:buFont typeface="Wingdings" charset="2"/>
              <a:buChar char=""/>
            </a:pPr>
            <a:r>
              <a:rPr lang="en-US" b="1" spc="-1" dirty="0" smtClean="0">
                <a:solidFill>
                  <a:schemeClr val="tx2"/>
                </a:solidFill>
              </a:rPr>
              <a:t>Let’s </a:t>
            </a:r>
            <a:r>
              <a:rPr lang="en-US" b="1" spc="-1" dirty="0">
                <a:solidFill>
                  <a:schemeClr val="tx2"/>
                </a:solidFill>
              </a:rPr>
              <a:t>see some examples:</a:t>
            </a:r>
          </a:p>
          <a:p>
            <a:pPr marL="461160" lvl="1">
              <a:spcBef>
                <a:spcPts val="600"/>
              </a:spcBef>
              <a:buClr>
                <a:srgbClr val="0047BA"/>
              </a:buClr>
              <a:buSzPct val="65000"/>
            </a:pPr>
            <a:r>
              <a:rPr lang="en-US" spc="-1" dirty="0" smtClean="0">
                <a:solidFill>
                  <a:schemeClr val="tx2"/>
                </a:solidFill>
              </a:rPr>
              <a:t>03_Formatting/</a:t>
            </a:r>
            <a:r>
              <a:rPr lang="en-US" spc="-1" dirty="0" err="1" smtClean="0">
                <a:solidFill>
                  <a:schemeClr val="tx2"/>
                </a:solidFill>
              </a:rPr>
              <a:t>labels.ipynb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280" y="1679040"/>
            <a:ext cx="4630097" cy="3458104"/>
          </a:xfrm>
          <a:prstGeom prst="rect">
            <a:avLst/>
          </a:prstGeom>
        </p:spPr>
      </p:pic>
    </p:spTree>
    <p:extLst>
      <p:ext uri="{BB962C8B-B14F-4D97-AF65-F5344CB8AC3E}">
        <p14:creationId xmlns:p14="http://schemas.microsoft.com/office/powerpoint/2010/main" val="3048015229"/>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31</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a:t>Axis </a:t>
            </a:r>
            <a:r>
              <a:rPr lang="en-US" b="1" dirty="0">
                <a:solidFill>
                  <a:schemeClr val="tx2"/>
                </a:solidFill>
              </a:rPr>
              <a:t>spines</a:t>
            </a:r>
            <a:r>
              <a:rPr lang="en-US" dirty="0"/>
              <a:t> are the lines connecting axis tick marks demarcating boundaries of plot area. The axes object has spines located at </a:t>
            </a:r>
            <a:r>
              <a:rPr lang="en-US" b="1" dirty="0">
                <a:solidFill>
                  <a:schemeClr val="tx2"/>
                </a:solidFill>
              </a:rPr>
              <a:t>top</a:t>
            </a:r>
            <a:r>
              <a:rPr lang="en-US" dirty="0"/>
              <a:t>, </a:t>
            </a:r>
            <a:r>
              <a:rPr lang="en-US" b="1" dirty="0">
                <a:solidFill>
                  <a:schemeClr val="tx2"/>
                </a:solidFill>
              </a:rPr>
              <a:t>bottom</a:t>
            </a:r>
            <a:r>
              <a:rPr lang="en-US" dirty="0"/>
              <a:t>, </a:t>
            </a:r>
            <a:r>
              <a:rPr lang="en-US" b="1" dirty="0">
                <a:solidFill>
                  <a:schemeClr val="tx2"/>
                </a:solidFill>
              </a:rPr>
              <a:t>left</a:t>
            </a:r>
            <a:r>
              <a:rPr lang="en-US" dirty="0"/>
              <a:t> and </a:t>
            </a:r>
            <a:r>
              <a:rPr lang="en-US" b="1" dirty="0">
                <a:solidFill>
                  <a:schemeClr val="tx2"/>
                </a:solidFill>
              </a:rPr>
              <a:t>right</a:t>
            </a:r>
            <a:r>
              <a:rPr lang="en-US" dirty="0" smtClean="0"/>
              <a:t>.</a:t>
            </a:r>
          </a:p>
          <a:p>
            <a:pPr marL="182880" indent="-178920">
              <a:lnSpc>
                <a:spcPct val="100000"/>
              </a:lnSpc>
              <a:spcBef>
                <a:spcPts val="3000"/>
              </a:spcBef>
              <a:buClr>
                <a:srgbClr val="0047BA"/>
              </a:buClr>
              <a:buSzPct val="65000"/>
              <a:buFont typeface="Wingdings" charset="2"/>
              <a:buChar char=""/>
            </a:pPr>
            <a:r>
              <a:rPr lang="en-US" dirty="0"/>
              <a:t>Each spine can be formatted by specifying color and width. Any edge can be made </a:t>
            </a:r>
            <a:r>
              <a:rPr lang="en-US" b="1" dirty="0">
                <a:solidFill>
                  <a:schemeClr val="tx2"/>
                </a:solidFill>
              </a:rPr>
              <a:t>invisible</a:t>
            </a:r>
            <a:r>
              <a:rPr lang="en-US" dirty="0"/>
              <a:t> if its color is set to none</a:t>
            </a:r>
            <a:r>
              <a:rPr lang="en-US" dirty="0" smtClean="0"/>
              <a:t>.</a:t>
            </a: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169"/>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03_Formatting/</a:t>
            </a:r>
            <a:r>
              <a:rPr lang="en-US" spc="-1" dirty="0" err="1" smtClean="0">
                <a:solidFill>
                  <a:schemeClr val="tx2"/>
                </a:solidFill>
              </a:rPr>
              <a:t>spines.ipynb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2220" y="3253504"/>
            <a:ext cx="5486411" cy="1810516"/>
          </a:xfrm>
          <a:prstGeom prst="rect">
            <a:avLst/>
          </a:prstGeom>
        </p:spPr>
      </p:pic>
    </p:spTree>
    <p:extLst>
      <p:ext uri="{BB962C8B-B14F-4D97-AF65-F5344CB8AC3E}">
        <p14:creationId xmlns:p14="http://schemas.microsoft.com/office/powerpoint/2010/main" val="182487496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32</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Scale</a:t>
            </a:r>
            <a:endParaRPr lang="en-US" sz="2400" b="1" spc="-1" dirty="0">
              <a:solidFill>
                <a:srgbClr val="0047BA"/>
              </a:solidFill>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a:t>Sometimes, one or a few points are much larger than the bulk of data. In such a case, the </a:t>
            </a:r>
            <a:r>
              <a:rPr lang="en-US" b="1" dirty="0">
                <a:solidFill>
                  <a:schemeClr val="tx2"/>
                </a:solidFill>
              </a:rPr>
              <a:t>scale</a:t>
            </a:r>
            <a:r>
              <a:rPr lang="en-US" dirty="0"/>
              <a:t> of an axis needs to be set as logarithmic rather than the normal scale</a:t>
            </a:r>
            <a:r>
              <a:rPr lang="en-US" dirty="0" smtClean="0"/>
              <a:t>. </a:t>
            </a:r>
            <a:r>
              <a:rPr lang="en-US" dirty="0"/>
              <a:t>In </a:t>
            </a:r>
            <a:r>
              <a:rPr lang="en-US" dirty="0" err="1"/>
              <a:t>Matplotlib</a:t>
            </a:r>
            <a:r>
              <a:rPr lang="en-US" dirty="0"/>
              <a:t>, it is possible by setting </a:t>
            </a:r>
            <a:r>
              <a:rPr lang="en-US" b="1" dirty="0" err="1">
                <a:solidFill>
                  <a:schemeClr val="tx2"/>
                </a:solidFill>
              </a:rPr>
              <a:t>xscale</a:t>
            </a:r>
            <a:r>
              <a:rPr lang="en-US" dirty="0"/>
              <a:t> or </a:t>
            </a:r>
            <a:r>
              <a:rPr lang="en-US" b="1" dirty="0" err="1">
                <a:solidFill>
                  <a:schemeClr val="tx2"/>
                </a:solidFill>
              </a:rPr>
              <a:t>y</a:t>
            </a:r>
            <a:r>
              <a:rPr lang="en-US" b="1" dirty="0" err="1" smtClean="0">
                <a:solidFill>
                  <a:schemeClr val="tx2"/>
                </a:solidFill>
              </a:rPr>
              <a:t>scale</a:t>
            </a:r>
            <a:r>
              <a:rPr lang="en-US" dirty="0" smtClean="0"/>
              <a:t> </a:t>
            </a:r>
            <a:r>
              <a:rPr lang="en-US" dirty="0"/>
              <a:t>property of axes object to ‘log</a:t>
            </a:r>
            <a:r>
              <a:rPr lang="en-US" dirty="0" smtClean="0"/>
              <a:t>’.</a:t>
            </a:r>
          </a:p>
          <a:p>
            <a:pPr marL="640080" lvl="1" indent="-178920">
              <a:spcBef>
                <a:spcPts val="3000"/>
              </a:spcBef>
              <a:buClr>
                <a:srgbClr val="0047BA"/>
              </a:buClr>
              <a:buSzPct val="65000"/>
              <a:buFont typeface="Wingdings" charset="2"/>
              <a:buChar char=""/>
            </a:pPr>
            <a:r>
              <a:rPr lang="en-US" b="1" dirty="0" err="1" smtClean="0">
                <a:solidFill>
                  <a:schemeClr val="tx2"/>
                </a:solidFill>
              </a:rPr>
              <a:t>Axes.set_xscale</a:t>
            </a:r>
            <a:r>
              <a:rPr lang="en-US" b="1" dirty="0">
                <a:solidFill>
                  <a:schemeClr val="tx2"/>
                </a:solidFill>
              </a:rPr>
              <a:t>("log")</a:t>
            </a:r>
            <a:r>
              <a:rPr lang="en-US" dirty="0"/>
              <a:t>: </a:t>
            </a:r>
            <a:r>
              <a:rPr lang="en-US" dirty="0" smtClean="0"/>
              <a:t>sets logarithmic scale in x-axis.</a:t>
            </a:r>
          </a:p>
          <a:p>
            <a:pPr marL="640080" lvl="1" indent="-178920">
              <a:spcBef>
                <a:spcPts val="3000"/>
              </a:spcBef>
              <a:buClr>
                <a:srgbClr val="0047BA"/>
              </a:buClr>
              <a:buSzPct val="65000"/>
              <a:buFont typeface="Wingdings" charset="2"/>
              <a:buChar char=""/>
            </a:pPr>
            <a:r>
              <a:rPr lang="en-US" b="1" dirty="0" err="1" smtClean="0">
                <a:solidFill>
                  <a:schemeClr val="tx2"/>
                </a:solidFill>
              </a:rPr>
              <a:t>Axes.set_yscale</a:t>
            </a:r>
            <a:r>
              <a:rPr lang="en-US" b="1" dirty="0">
                <a:solidFill>
                  <a:schemeClr val="tx2"/>
                </a:solidFill>
              </a:rPr>
              <a:t>("log")</a:t>
            </a:r>
            <a:r>
              <a:rPr lang="en-US" dirty="0"/>
              <a:t>: sets logarithmic scale in </a:t>
            </a:r>
            <a:r>
              <a:rPr lang="en-US" dirty="0" smtClean="0"/>
              <a:t>y-axis</a:t>
            </a:r>
            <a:r>
              <a:rPr lang="en-US" dirty="0"/>
              <a:t>.</a:t>
            </a: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87828611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33</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Scale</a:t>
            </a:r>
            <a:endParaRPr lang="en-US" sz="2400" b="1" spc="-1" dirty="0">
              <a:solidFill>
                <a:srgbClr val="0047BA"/>
              </a:solidFill>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Axes scale:</a:t>
            </a: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169"/>
              </a:spcBef>
              <a:buClr>
                <a:srgbClr val="0047BA"/>
              </a:buClr>
              <a:buSzPct val="65000"/>
              <a:buFont typeface="Wingdings" charset="2"/>
              <a:buChar char=""/>
            </a:pPr>
            <a:r>
              <a:rPr lang="en-US" b="1" spc="-1" dirty="0" smtClean="0">
                <a:solidFill>
                  <a:schemeClr val="tx2"/>
                </a:solidFill>
              </a:rPr>
              <a:t>Let’s </a:t>
            </a:r>
            <a:r>
              <a:rPr lang="en-US" b="1" spc="-1" dirty="0">
                <a:solidFill>
                  <a:schemeClr val="tx2"/>
                </a:solidFill>
              </a:rPr>
              <a:t>see some examples:</a:t>
            </a:r>
          </a:p>
          <a:p>
            <a:pPr marL="461160" lvl="1">
              <a:spcBef>
                <a:spcPts val="600"/>
              </a:spcBef>
              <a:buClr>
                <a:srgbClr val="0047BA"/>
              </a:buClr>
              <a:buSzPct val="65000"/>
            </a:pPr>
            <a:r>
              <a:rPr lang="en-US" spc="-1" dirty="0" smtClean="0">
                <a:solidFill>
                  <a:schemeClr val="tx2"/>
                </a:solidFill>
              </a:rPr>
              <a:t>03_Formatting/</a:t>
            </a:r>
            <a:r>
              <a:rPr lang="en-US" spc="-1" dirty="0" err="1" smtClean="0">
                <a:solidFill>
                  <a:schemeClr val="tx2"/>
                </a:solidFill>
              </a:rPr>
              <a:t>scale.ipynb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1259" y="1497918"/>
            <a:ext cx="4948333" cy="3695786"/>
          </a:xfrm>
          <a:prstGeom prst="rect">
            <a:avLst/>
          </a:prstGeom>
        </p:spPr>
      </p:pic>
    </p:spTree>
    <p:extLst>
      <p:ext uri="{BB962C8B-B14F-4D97-AF65-F5344CB8AC3E}">
        <p14:creationId xmlns:p14="http://schemas.microsoft.com/office/powerpoint/2010/main" val="67564360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34</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800" b="1" spc="-1" dirty="0" smtClean="0">
                <a:solidFill>
                  <a:srgbClr val="0047BA"/>
                </a:solidFill>
                <a:latin typeface="Arial"/>
                <a:ea typeface="DejaVu Sans"/>
              </a:rPr>
              <a:t>Limits</a:t>
            </a:r>
            <a:endParaRPr lang="en-US" sz="2400" b="1"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err="1"/>
              <a:t>Matplotlib</a:t>
            </a:r>
            <a:r>
              <a:rPr lang="en-US" dirty="0"/>
              <a:t> automatically arrives at the minimum and maximum values of variables to be displayed along x, y (and z axis in case of 3D plot) axes of a plot. However, it is possible to set the limits explicitly by using </a:t>
            </a:r>
            <a:r>
              <a:rPr lang="en-US" b="1" dirty="0" err="1">
                <a:solidFill>
                  <a:schemeClr val="tx2"/>
                </a:solidFill>
              </a:rPr>
              <a:t>set_xlim</a:t>
            </a:r>
            <a:r>
              <a:rPr lang="en-US" b="1" dirty="0">
                <a:solidFill>
                  <a:schemeClr val="tx2"/>
                </a:solidFill>
              </a:rPr>
              <a:t>()</a:t>
            </a:r>
            <a:r>
              <a:rPr lang="en-US" dirty="0"/>
              <a:t> and </a:t>
            </a:r>
            <a:r>
              <a:rPr lang="en-US" b="1" dirty="0" err="1">
                <a:solidFill>
                  <a:schemeClr val="tx2"/>
                </a:solidFill>
              </a:rPr>
              <a:t>set_ylim</a:t>
            </a:r>
            <a:r>
              <a:rPr lang="en-US" b="1" dirty="0">
                <a:solidFill>
                  <a:schemeClr val="tx2"/>
                </a:solidFill>
              </a:rPr>
              <a:t>() </a:t>
            </a:r>
            <a:r>
              <a:rPr lang="en-US" dirty="0"/>
              <a:t>functions</a:t>
            </a:r>
            <a:r>
              <a:rPr lang="en-US" dirty="0" smtClean="0"/>
              <a:t>.</a:t>
            </a:r>
          </a:p>
          <a:p>
            <a:pPr marL="640080" lvl="1" indent="-178920">
              <a:spcBef>
                <a:spcPts val="3000"/>
              </a:spcBef>
              <a:buClr>
                <a:srgbClr val="0047BA"/>
              </a:buClr>
              <a:buSzPct val="65000"/>
              <a:buFont typeface="Wingdings" charset="2"/>
              <a:buChar char=""/>
            </a:pPr>
            <a:r>
              <a:rPr lang="en-US" b="1" dirty="0" err="1" smtClean="0">
                <a:solidFill>
                  <a:schemeClr val="tx2"/>
                </a:solidFill>
              </a:rPr>
              <a:t>Axes.set_xlim</a:t>
            </a:r>
            <a:r>
              <a:rPr lang="en-US" b="1" dirty="0" smtClean="0">
                <a:solidFill>
                  <a:schemeClr val="tx2"/>
                </a:solidFill>
              </a:rPr>
              <a:t>(left, right)</a:t>
            </a:r>
            <a:r>
              <a:rPr lang="en-US" dirty="0"/>
              <a:t>: Set the </a:t>
            </a:r>
            <a:r>
              <a:rPr lang="en-US" dirty="0" smtClean="0"/>
              <a:t>x-axis </a:t>
            </a:r>
            <a:r>
              <a:rPr lang="en-US" dirty="0"/>
              <a:t>view limits.</a:t>
            </a:r>
            <a:endParaRPr lang="en-US" dirty="0" smtClean="0"/>
          </a:p>
          <a:p>
            <a:pPr marL="640080" lvl="1" indent="-178920">
              <a:spcBef>
                <a:spcPts val="3000"/>
              </a:spcBef>
              <a:buClr>
                <a:srgbClr val="0047BA"/>
              </a:buClr>
              <a:buSzPct val="65000"/>
              <a:buFont typeface="Wingdings" charset="2"/>
              <a:buChar char=""/>
            </a:pPr>
            <a:r>
              <a:rPr lang="en-US" b="1" dirty="0" err="1" smtClean="0">
                <a:solidFill>
                  <a:schemeClr val="tx2"/>
                </a:solidFill>
              </a:rPr>
              <a:t>Axes.set_ylim</a:t>
            </a:r>
            <a:r>
              <a:rPr lang="en-US" b="1" dirty="0" smtClean="0">
                <a:solidFill>
                  <a:schemeClr val="tx2"/>
                </a:solidFill>
              </a:rPr>
              <a:t>(</a:t>
            </a:r>
            <a:r>
              <a:rPr lang="en-US" b="1" dirty="0" err="1" smtClean="0">
                <a:solidFill>
                  <a:schemeClr val="tx2"/>
                </a:solidFill>
              </a:rPr>
              <a:t>bottom,top</a:t>
            </a:r>
            <a:r>
              <a:rPr lang="en-US" b="1" dirty="0" smtClean="0">
                <a:solidFill>
                  <a:schemeClr val="tx2"/>
                </a:solidFill>
              </a:rPr>
              <a:t>)</a:t>
            </a:r>
            <a:r>
              <a:rPr lang="en-US" dirty="0"/>
              <a:t>: Set the y-axis view limits.</a:t>
            </a:r>
            <a:endParaRPr lang="en-US" dirty="0" smtClean="0"/>
          </a:p>
          <a:p>
            <a:pPr marL="182880" indent="-178920">
              <a:lnSpc>
                <a:spcPct val="100000"/>
              </a:lnSpc>
              <a:spcBef>
                <a:spcPts val="3000"/>
              </a:spcBef>
              <a:buClr>
                <a:srgbClr val="0047BA"/>
              </a:buClr>
              <a:buSzPct val="65000"/>
              <a:buFont typeface="Wingdings" charset="2"/>
              <a:buChar char=""/>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57221718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35</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800" b="1" spc="-1" dirty="0" smtClean="0">
                <a:solidFill>
                  <a:srgbClr val="0047BA"/>
                </a:solidFill>
                <a:latin typeface="Arial"/>
                <a:ea typeface="DejaVu Sans"/>
              </a:rPr>
              <a:t>Limits</a:t>
            </a:r>
            <a:endParaRPr lang="en-US" sz="2400" b="1"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Limiting axes view:</a:t>
            </a: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169"/>
              </a:spcBef>
              <a:buClr>
                <a:srgbClr val="0047BA"/>
              </a:buClr>
              <a:buSzPct val="65000"/>
              <a:buFont typeface="Wingdings" charset="2"/>
              <a:buChar char=""/>
            </a:pPr>
            <a:endParaRPr lang="en-US" b="1" spc="-1" dirty="0" smtClean="0">
              <a:solidFill>
                <a:schemeClr val="tx2"/>
              </a:solidFill>
            </a:endParaRPr>
          </a:p>
          <a:p>
            <a:pPr marL="182880" indent="-178920">
              <a:lnSpc>
                <a:spcPct val="100000"/>
              </a:lnSpc>
              <a:spcBef>
                <a:spcPts val="3169"/>
              </a:spcBef>
              <a:buClr>
                <a:srgbClr val="0047BA"/>
              </a:buClr>
              <a:buSzPct val="65000"/>
              <a:buFont typeface="Wingdings" charset="2"/>
              <a:buChar char=""/>
            </a:pPr>
            <a:endParaRPr lang="en-US" b="1" spc="-1" dirty="0">
              <a:solidFill>
                <a:schemeClr val="tx2"/>
              </a:solidFill>
            </a:endParaRPr>
          </a:p>
          <a:p>
            <a:pPr marL="182880" indent="-178920">
              <a:lnSpc>
                <a:spcPct val="100000"/>
              </a:lnSpc>
              <a:spcBef>
                <a:spcPts val="3169"/>
              </a:spcBef>
              <a:buClr>
                <a:srgbClr val="0047BA"/>
              </a:buClr>
              <a:buSzPct val="65000"/>
              <a:buFont typeface="Wingdings" charset="2"/>
              <a:buChar char=""/>
            </a:pPr>
            <a:endParaRPr lang="en-US" b="1" spc="-1" dirty="0" smtClean="0">
              <a:solidFill>
                <a:schemeClr val="tx2"/>
              </a:solidFill>
            </a:endParaRPr>
          </a:p>
          <a:p>
            <a:pPr marL="182880" indent="-178920">
              <a:lnSpc>
                <a:spcPct val="100000"/>
              </a:lnSpc>
              <a:spcBef>
                <a:spcPts val="3169"/>
              </a:spcBef>
              <a:buClr>
                <a:srgbClr val="0047BA"/>
              </a:buClr>
              <a:buSzPct val="65000"/>
              <a:buFont typeface="Wingdings" charset="2"/>
              <a:buChar char=""/>
            </a:pPr>
            <a:endParaRPr lang="en-US" b="1" spc="-1" dirty="0">
              <a:solidFill>
                <a:schemeClr val="tx2"/>
              </a:solidFill>
            </a:endParaRPr>
          </a:p>
          <a:p>
            <a:pPr marL="182880" indent="-178920">
              <a:lnSpc>
                <a:spcPct val="100000"/>
              </a:lnSpc>
              <a:spcBef>
                <a:spcPts val="3169"/>
              </a:spcBef>
              <a:buClr>
                <a:srgbClr val="0047BA"/>
              </a:buClr>
              <a:buSzPct val="65000"/>
              <a:buFont typeface="Wingdings" charset="2"/>
              <a:buChar char=""/>
            </a:pPr>
            <a:r>
              <a:rPr lang="en-US" b="1" spc="-1" dirty="0" smtClean="0">
                <a:solidFill>
                  <a:schemeClr val="tx2"/>
                </a:solidFill>
              </a:rPr>
              <a:t>Let’s </a:t>
            </a:r>
            <a:r>
              <a:rPr lang="en-US" b="1" spc="-1" dirty="0">
                <a:solidFill>
                  <a:schemeClr val="tx2"/>
                </a:solidFill>
              </a:rPr>
              <a:t>see some examples:</a:t>
            </a:r>
          </a:p>
          <a:p>
            <a:pPr marL="461160" lvl="1">
              <a:spcBef>
                <a:spcPts val="600"/>
              </a:spcBef>
              <a:buClr>
                <a:srgbClr val="0047BA"/>
              </a:buClr>
              <a:buSzPct val="65000"/>
            </a:pPr>
            <a:r>
              <a:rPr lang="en-US" spc="-1" dirty="0" smtClean="0">
                <a:solidFill>
                  <a:schemeClr val="tx2"/>
                </a:solidFill>
              </a:rPr>
              <a:t>03_Formatting/</a:t>
            </a:r>
            <a:r>
              <a:rPr lang="en-US" spc="-1" dirty="0" err="1" smtClean="0">
                <a:solidFill>
                  <a:schemeClr val="tx2"/>
                </a:solidFill>
              </a:rPr>
              <a:t>limits.ipynb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2337" y="1536018"/>
            <a:ext cx="4946177" cy="3694176"/>
          </a:xfrm>
          <a:prstGeom prst="rect">
            <a:avLst/>
          </a:prstGeom>
        </p:spPr>
      </p:pic>
    </p:spTree>
    <p:extLst>
      <p:ext uri="{BB962C8B-B14F-4D97-AF65-F5344CB8AC3E}">
        <p14:creationId xmlns:p14="http://schemas.microsoft.com/office/powerpoint/2010/main" val="4136152217"/>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36</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800" b="1"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b="1" dirty="0">
                <a:solidFill>
                  <a:schemeClr val="tx2"/>
                </a:solidFill>
              </a:rPr>
              <a:t>Ticks</a:t>
            </a:r>
            <a:r>
              <a:rPr lang="en-US" dirty="0"/>
              <a:t> are the markers denoting data points on </a:t>
            </a:r>
            <a:r>
              <a:rPr lang="en-US" dirty="0" smtClean="0"/>
              <a:t>axes. </a:t>
            </a:r>
            <a:r>
              <a:rPr lang="en-US" dirty="0" err="1" smtClean="0"/>
              <a:t>Matplotlib's</a:t>
            </a:r>
            <a:r>
              <a:rPr lang="en-US" dirty="0" smtClean="0"/>
              <a:t> </a:t>
            </a:r>
            <a:r>
              <a:rPr lang="en-US" dirty="0"/>
              <a:t>default tick locators and formatters are designed to be generally sufficient in many common situations. Position and labels of ticks can be explicitly mentioned to suit specific requirements</a:t>
            </a:r>
            <a:r>
              <a:rPr lang="en-US" dirty="0" smtClean="0"/>
              <a:t>.</a:t>
            </a:r>
          </a:p>
          <a:p>
            <a:pPr marL="182880" indent="-178920">
              <a:lnSpc>
                <a:spcPct val="100000"/>
              </a:lnSpc>
              <a:spcBef>
                <a:spcPts val="3000"/>
              </a:spcBef>
              <a:buClr>
                <a:srgbClr val="0047BA"/>
              </a:buClr>
              <a:buSzPct val="65000"/>
              <a:buFont typeface="Wingdings" charset="2"/>
              <a:buChar char=""/>
            </a:pPr>
            <a:r>
              <a:rPr lang="en-US" dirty="0"/>
              <a:t>The </a:t>
            </a:r>
            <a:r>
              <a:rPr lang="en-US" b="1" dirty="0" err="1" smtClean="0">
                <a:solidFill>
                  <a:schemeClr val="tx2"/>
                </a:solidFill>
              </a:rPr>
              <a:t>set_xticks</a:t>
            </a:r>
            <a:r>
              <a:rPr lang="en-US" b="1" dirty="0">
                <a:solidFill>
                  <a:schemeClr val="tx2"/>
                </a:solidFill>
              </a:rPr>
              <a:t>()</a:t>
            </a:r>
            <a:r>
              <a:rPr lang="en-US" dirty="0"/>
              <a:t> and </a:t>
            </a:r>
            <a:r>
              <a:rPr lang="en-US" b="1" dirty="0" err="1" smtClean="0">
                <a:solidFill>
                  <a:schemeClr val="tx2"/>
                </a:solidFill>
              </a:rPr>
              <a:t>set_yticks</a:t>
            </a:r>
            <a:r>
              <a:rPr lang="en-US" b="1" dirty="0">
                <a:solidFill>
                  <a:schemeClr val="tx2"/>
                </a:solidFill>
              </a:rPr>
              <a:t>()</a:t>
            </a:r>
            <a:r>
              <a:rPr lang="en-US" dirty="0"/>
              <a:t> function takes a list object as argument. The elements in the list denote the positions on corresponding action where ticks will be displayed</a:t>
            </a:r>
            <a:r>
              <a:rPr lang="en-US" dirty="0" smtClean="0"/>
              <a:t>.</a:t>
            </a:r>
          </a:p>
          <a:p>
            <a:pPr marL="182880" indent="-178920">
              <a:lnSpc>
                <a:spcPct val="100000"/>
              </a:lnSpc>
              <a:spcBef>
                <a:spcPts val="3000"/>
              </a:spcBef>
              <a:buClr>
                <a:srgbClr val="0047BA"/>
              </a:buClr>
              <a:buSzPct val="65000"/>
              <a:buFont typeface="Wingdings" charset="2"/>
              <a:buChar char=""/>
            </a:pPr>
            <a:r>
              <a:rPr lang="en-US" dirty="0"/>
              <a:t>Similarly, labels corresponding to tick marks can be set by </a:t>
            </a:r>
            <a:r>
              <a:rPr lang="en-US" b="1" dirty="0" err="1">
                <a:solidFill>
                  <a:schemeClr val="tx2"/>
                </a:solidFill>
              </a:rPr>
              <a:t>set_xlabels</a:t>
            </a:r>
            <a:r>
              <a:rPr lang="en-US" b="1" dirty="0">
                <a:solidFill>
                  <a:schemeClr val="tx2"/>
                </a:solidFill>
              </a:rPr>
              <a:t>()</a:t>
            </a:r>
            <a:r>
              <a:rPr lang="en-US" dirty="0"/>
              <a:t> and </a:t>
            </a:r>
            <a:r>
              <a:rPr lang="en-US" b="1" dirty="0" err="1">
                <a:solidFill>
                  <a:schemeClr val="tx2"/>
                </a:solidFill>
              </a:rPr>
              <a:t>set_ylabels</a:t>
            </a:r>
            <a:r>
              <a:rPr lang="en-US" b="1" dirty="0">
                <a:solidFill>
                  <a:schemeClr val="tx2"/>
                </a:solidFill>
              </a:rPr>
              <a:t>()</a:t>
            </a:r>
            <a:r>
              <a:rPr lang="en-US" dirty="0"/>
              <a:t> functions respectively.</a:t>
            </a: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38633475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37</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800" b="1" spc="-1" dirty="0" smtClean="0">
                <a:solidFill>
                  <a:srgbClr val="0047BA"/>
                </a:solidFill>
                <a:latin typeface="Arial"/>
                <a:ea typeface="DejaVu Sans"/>
              </a:rPr>
              <a:t>Ticks</a:t>
            </a: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a:t>Ticks </a:t>
            </a:r>
            <a:r>
              <a:rPr lang="en-US" dirty="0" smtClean="0"/>
              <a:t>and ticks’ labels:</a:t>
            </a: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169"/>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03_Formatting/</a:t>
            </a:r>
            <a:r>
              <a:rPr lang="en-US" spc="-1" dirty="0" err="1" smtClean="0">
                <a:solidFill>
                  <a:schemeClr val="tx2"/>
                </a:solidFill>
              </a:rPr>
              <a:t>ticks.ipynb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4692" y="1679040"/>
            <a:ext cx="5245068" cy="3917410"/>
          </a:xfrm>
          <a:prstGeom prst="rect">
            <a:avLst/>
          </a:prstGeom>
        </p:spPr>
      </p:pic>
    </p:spTree>
    <p:extLst>
      <p:ext uri="{BB962C8B-B14F-4D97-AF65-F5344CB8AC3E}">
        <p14:creationId xmlns:p14="http://schemas.microsoft.com/office/powerpoint/2010/main" val="210764505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38</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800" b="1"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b="1"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a:t>It is </a:t>
            </a:r>
            <a:r>
              <a:rPr lang="en-US" dirty="0" smtClean="0"/>
              <a:t>useful </a:t>
            </a:r>
            <a:r>
              <a:rPr lang="en-US" dirty="0"/>
              <a:t>to have dual x or y axes in a figure. More so, when plotting curves with different units together. </a:t>
            </a:r>
            <a:r>
              <a:rPr lang="en-US" dirty="0" err="1"/>
              <a:t>Matplotlib</a:t>
            </a:r>
            <a:r>
              <a:rPr lang="en-US" dirty="0"/>
              <a:t> supports this with the </a:t>
            </a:r>
            <a:r>
              <a:rPr lang="en-US" b="1" dirty="0" err="1" smtClean="0">
                <a:solidFill>
                  <a:schemeClr val="tx2"/>
                </a:solidFill>
              </a:rPr>
              <a:t>twinx</a:t>
            </a:r>
            <a:r>
              <a:rPr lang="en-US" b="1" dirty="0" smtClean="0">
                <a:solidFill>
                  <a:schemeClr val="tx2"/>
                </a:solidFill>
              </a:rPr>
              <a:t> </a:t>
            </a:r>
            <a:r>
              <a:rPr lang="en-US" dirty="0" smtClean="0"/>
              <a:t>and </a:t>
            </a:r>
            <a:r>
              <a:rPr lang="en-US" b="1" dirty="0" err="1">
                <a:solidFill>
                  <a:schemeClr val="tx2"/>
                </a:solidFill>
              </a:rPr>
              <a:t>twiny</a:t>
            </a:r>
            <a:r>
              <a:rPr lang="en-US" dirty="0"/>
              <a:t> functions</a:t>
            </a:r>
            <a:r>
              <a:rPr lang="en-US" dirty="0" smtClean="0"/>
              <a:t>.</a:t>
            </a:r>
          </a:p>
          <a:p>
            <a:pPr marL="640080" lvl="1" indent="-178920">
              <a:spcBef>
                <a:spcPts val="3000"/>
              </a:spcBef>
              <a:buClr>
                <a:srgbClr val="0047BA"/>
              </a:buClr>
              <a:buSzPct val="65000"/>
              <a:buFont typeface="Wingdings" charset="2"/>
              <a:buChar char=""/>
            </a:pPr>
            <a:r>
              <a:rPr lang="en-US" b="1" dirty="0" err="1" smtClean="0">
                <a:solidFill>
                  <a:schemeClr val="tx2"/>
                </a:solidFill>
              </a:rPr>
              <a:t>Axes.twinx</a:t>
            </a:r>
            <a:r>
              <a:rPr lang="en-US" b="1" dirty="0" smtClean="0">
                <a:solidFill>
                  <a:schemeClr val="tx2"/>
                </a:solidFill>
              </a:rPr>
              <a:t>()</a:t>
            </a:r>
            <a:r>
              <a:rPr lang="en-US" dirty="0" smtClean="0"/>
              <a:t>: </a:t>
            </a:r>
            <a:r>
              <a:rPr lang="en-US" dirty="0"/>
              <a:t>Create a twin Axes sharing the </a:t>
            </a:r>
            <a:r>
              <a:rPr lang="en-US" dirty="0" smtClean="0"/>
              <a:t>x-axis.</a:t>
            </a:r>
          </a:p>
          <a:p>
            <a:pPr marL="640080" lvl="1" indent="-178920">
              <a:spcBef>
                <a:spcPts val="3000"/>
              </a:spcBef>
              <a:buClr>
                <a:srgbClr val="0047BA"/>
              </a:buClr>
              <a:buSzPct val="65000"/>
              <a:buFont typeface="Wingdings" charset="2"/>
              <a:buChar char=""/>
            </a:pPr>
            <a:r>
              <a:rPr lang="en-US" b="1" dirty="0" err="1" smtClean="0">
                <a:solidFill>
                  <a:schemeClr val="tx2"/>
                </a:solidFill>
              </a:rPr>
              <a:t>Axes.twiny</a:t>
            </a:r>
            <a:r>
              <a:rPr lang="en-US" b="1" dirty="0" smtClean="0">
                <a:solidFill>
                  <a:schemeClr val="tx2"/>
                </a:solidFill>
              </a:rPr>
              <a:t>()</a:t>
            </a:r>
            <a:r>
              <a:rPr lang="en-US" dirty="0" smtClean="0"/>
              <a:t>: </a:t>
            </a:r>
            <a:r>
              <a:rPr lang="en-US" dirty="0"/>
              <a:t>Create a twin Axes sharing the </a:t>
            </a:r>
            <a:r>
              <a:rPr lang="en-US" dirty="0" smtClean="0"/>
              <a:t>y-axis.</a:t>
            </a:r>
          </a:p>
          <a:p>
            <a:pPr marL="182880" indent="-178920">
              <a:lnSpc>
                <a:spcPct val="100000"/>
              </a:lnSpc>
              <a:spcBef>
                <a:spcPts val="3000"/>
              </a:spcBef>
              <a:buClr>
                <a:srgbClr val="0047BA"/>
              </a:buClr>
              <a:buSzPct val="65000"/>
              <a:buFont typeface="Wingdings" charset="2"/>
              <a:buChar char=""/>
            </a:pPr>
            <a:endParaRPr lang="en-US" spc="-1" dirty="0" smtClean="0"/>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14547436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39</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800" b="1"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Legend</a:t>
            </a:r>
            <a:endParaRPr lang="en-US" sz="2400" b="1"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Twin axes:</a:t>
            </a: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169"/>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03_Formatting/</a:t>
            </a:r>
            <a:r>
              <a:rPr lang="en-US" spc="-1" dirty="0" err="1" smtClean="0">
                <a:solidFill>
                  <a:schemeClr val="tx2"/>
                </a:solidFill>
              </a:rPr>
              <a:t>twin_axes.ipynb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spc="-1" dirty="0" smtClean="0"/>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2337" y="1497918"/>
            <a:ext cx="4946177" cy="3694176"/>
          </a:xfrm>
          <a:prstGeom prst="rect">
            <a:avLst/>
          </a:prstGeom>
        </p:spPr>
      </p:pic>
    </p:spTree>
    <p:extLst>
      <p:ext uri="{BB962C8B-B14F-4D97-AF65-F5344CB8AC3E}">
        <p14:creationId xmlns:p14="http://schemas.microsoft.com/office/powerpoint/2010/main" val="3338358717"/>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40</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a:t>The </a:t>
            </a:r>
            <a:r>
              <a:rPr lang="en-US" b="1" dirty="0" smtClean="0">
                <a:solidFill>
                  <a:schemeClr val="tx2"/>
                </a:solidFill>
              </a:rPr>
              <a:t>legend(handles, labels, </a:t>
            </a:r>
            <a:r>
              <a:rPr lang="en-US" b="1" dirty="0" err="1" smtClean="0">
                <a:solidFill>
                  <a:schemeClr val="tx2"/>
                </a:solidFill>
              </a:rPr>
              <a:t>loc</a:t>
            </a:r>
            <a:r>
              <a:rPr lang="en-US" b="1" dirty="0" smtClean="0">
                <a:solidFill>
                  <a:schemeClr val="tx2"/>
                </a:solidFill>
              </a:rPr>
              <a:t>) </a:t>
            </a:r>
            <a:r>
              <a:rPr lang="en-US" dirty="0"/>
              <a:t>method of axes class adds a legend to the plot figure. It takes three </a:t>
            </a:r>
            <a:r>
              <a:rPr lang="en-US" dirty="0" smtClean="0"/>
              <a:t>parameters: </a:t>
            </a:r>
          </a:p>
          <a:p>
            <a:pPr marL="640080" lvl="1" indent="-178920">
              <a:spcBef>
                <a:spcPts val="1200"/>
              </a:spcBef>
              <a:buClr>
                <a:srgbClr val="0047BA"/>
              </a:buClr>
              <a:buSzPct val="65000"/>
              <a:buFont typeface="Wingdings" charset="2"/>
              <a:buChar char=""/>
            </a:pPr>
            <a:r>
              <a:rPr lang="en-US" spc="-1" dirty="0" smtClean="0">
                <a:solidFill>
                  <a:schemeClr val="tx2"/>
                </a:solidFill>
              </a:rPr>
              <a:t>handles</a:t>
            </a:r>
            <a:r>
              <a:rPr lang="en-US" spc="-1" dirty="0" smtClean="0"/>
              <a:t>: </a:t>
            </a:r>
            <a:r>
              <a:rPr lang="en-US" dirty="0"/>
              <a:t>a sequence of Line2D or Patch </a:t>
            </a:r>
            <a:r>
              <a:rPr lang="en-US" dirty="0" smtClean="0"/>
              <a:t>instances.</a:t>
            </a:r>
            <a:endParaRPr lang="en-US" spc="-1" dirty="0" smtClean="0"/>
          </a:p>
          <a:p>
            <a:pPr marL="640080" lvl="1" indent="-178920">
              <a:spcBef>
                <a:spcPts val="1200"/>
              </a:spcBef>
              <a:buClr>
                <a:srgbClr val="0047BA"/>
              </a:buClr>
              <a:buSzPct val="65000"/>
              <a:buFont typeface="Wingdings" charset="2"/>
              <a:buChar char=""/>
            </a:pPr>
            <a:r>
              <a:rPr lang="en-US" spc="-1" dirty="0" smtClean="0">
                <a:solidFill>
                  <a:schemeClr val="tx2"/>
                </a:solidFill>
              </a:rPr>
              <a:t>labels</a:t>
            </a:r>
            <a:r>
              <a:rPr lang="en-US" spc="-1" dirty="0" smtClean="0"/>
              <a:t>: a sequence of strings.</a:t>
            </a:r>
          </a:p>
          <a:p>
            <a:pPr marL="640080" lvl="1" indent="-178920">
              <a:spcBef>
                <a:spcPts val="1200"/>
              </a:spcBef>
              <a:buClr>
                <a:srgbClr val="0047BA"/>
              </a:buClr>
              <a:buSzPct val="65000"/>
              <a:buFont typeface="Wingdings" charset="2"/>
              <a:buChar char=""/>
            </a:pPr>
            <a:r>
              <a:rPr lang="en-US" spc="-1" dirty="0" err="1" smtClean="0">
                <a:solidFill>
                  <a:schemeClr val="tx2"/>
                </a:solidFill>
              </a:rPr>
              <a:t>loc</a:t>
            </a:r>
            <a:r>
              <a:rPr lang="en-US" spc="-1" dirty="0" smtClean="0"/>
              <a:t>: </a:t>
            </a:r>
            <a:r>
              <a:rPr lang="en-US" dirty="0"/>
              <a:t>can be a string or an integer specifying the legend </a:t>
            </a:r>
            <a:r>
              <a:rPr lang="en-US" dirty="0" smtClean="0"/>
              <a:t>location.</a:t>
            </a:r>
          </a:p>
          <a:p>
            <a:pPr marL="640080" lvl="1" indent="-178920">
              <a:spcBef>
                <a:spcPts val="3000"/>
              </a:spcBef>
              <a:buClr>
                <a:srgbClr val="0047BA"/>
              </a:buClr>
              <a:buSzPct val="65000"/>
              <a:buFont typeface="Wingdings" charset="2"/>
              <a:buChar char=""/>
            </a:pPr>
            <a:endParaRPr lang="en-US" spc="-1" dirty="0" smtClean="0"/>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graphicFrame>
        <p:nvGraphicFramePr>
          <p:cNvPr id="2" name="Table 1"/>
          <p:cNvGraphicFramePr>
            <a:graphicFrameLocks noGrp="1"/>
          </p:cNvGraphicFramePr>
          <p:nvPr>
            <p:extLst>
              <p:ext uri="{D42A27DB-BD31-4B8C-83A1-F6EECF244321}">
                <p14:modId xmlns:p14="http://schemas.microsoft.com/office/powerpoint/2010/main" val="2756483111"/>
              </p:ext>
            </p:extLst>
          </p:nvPr>
        </p:nvGraphicFramePr>
        <p:xfrm>
          <a:off x="5287652" y="3530139"/>
          <a:ext cx="6289948" cy="2475691"/>
        </p:xfrm>
        <a:graphic>
          <a:graphicData uri="http://schemas.openxmlformats.org/drawingml/2006/table">
            <a:tbl>
              <a:tblPr>
                <a:tableStyleId>{10A1B5D5-9B99-4C35-A422-299274C87663}</a:tableStyleId>
              </a:tblPr>
              <a:tblGrid>
                <a:gridCol w="3144974">
                  <a:extLst>
                    <a:ext uri="{9D8B030D-6E8A-4147-A177-3AD203B41FA5}">
                      <a16:colId xmlns:a16="http://schemas.microsoft.com/office/drawing/2014/main" val="1963548052"/>
                    </a:ext>
                  </a:extLst>
                </a:gridCol>
                <a:gridCol w="3144974">
                  <a:extLst>
                    <a:ext uri="{9D8B030D-6E8A-4147-A177-3AD203B41FA5}">
                      <a16:colId xmlns:a16="http://schemas.microsoft.com/office/drawing/2014/main" val="1162624450"/>
                    </a:ext>
                  </a:extLst>
                </a:gridCol>
              </a:tblGrid>
              <a:tr h="238467">
                <a:tc>
                  <a:txBody>
                    <a:bodyPr/>
                    <a:lstStyle/>
                    <a:p>
                      <a:r>
                        <a:rPr lang="en-US" sz="1000" dirty="0">
                          <a:ln>
                            <a:solidFill>
                              <a:schemeClr val="bg1"/>
                            </a:solidFill>
                          </a:ln>
                          <a:solidFill>
                            <a:schemeClr val="bg1"/>
                          </a:solidFill>
                          <a:effectLst/>
                        </a:rPr>
                        <a:t>Location String</a:t>
                      </a:r>
                    </a:p>
                  </a:txBody>
                  <a:tcPr marL="50983" marR="50983" marT="25492" marB="25492" anchor="ctr">
                    <a:lnR w="12700" cap="flat" cmpd="sng" algn="ctr">
                      <a:solidFill>
                        <a:schemeClr val="accent6"/>
                      </a:solidFill>
                      <a:prstDash val="solid"/>
                      <a:round/>
                      <a:headEnd type="none" w="med" len="med"/>
                      <a:tailEnd type="none" w="med" len="med"/>
                    </a:lnR>
                    <a:solidFill>
                      <a:srgbClr val="0047BA"/>
                    </a:solidFill>
                  </a:tcPr>
                </a:tc>
                <a:tc>
                  <a:txBody>
                    <a:bodyPr/>
                    <a:lstStyle/>
                    <a:p>
                      <a:r>
                        <a:rPr lang="en-US" sz="1000" dirty="0">
                          <a:ln>
                            <a:solidFill>
                              <a:schemeClr val="bg1"/>
                            </a:solidFill>
                          </a:ln>
                          <a:solidFill>
                            <a:schemeClr val="bg1"/>
                          </a:solidFill>
                          <a:effectLst/>
                        </a:rPr>
                        <a:t>Location Code</a:t>
                      </a:r>
                    </a:p>
                  </a:txBody>
                  <a:tcPr marL="50983" marR="50983" marT="25492" marB="25492" anchor="ctr">
                    <a:lnL w="12700" cap="flat" cmpd="sng" algn="ctr">
                      <a:solidFill>
                        <a:schemeClr val="accent6"/>
                      </a:solidFill>
                      <a:prstDash val="solid"/>
                      <a:round/>
                      <a:headEnd type="none" w="med" len="med"/>
                      <a:tailEnd type="none" w="med" len="med"/>
                    </a:lnL>
                    <a:solidFill>
                      <a:srgbClr val="0047BA"/>
                    </a:solidFill>
                  </a:tcPr>
                </a:tc>
                <a:extLst>
                  <a:ext uri="{0D108BD9-81ED-4DB2-BD59-A6C34878D82A}">
                    <a16:rowId xmlns:a16="http://schemas.microsoft.com/office/drawing/2014/main" val="2249446505"/>
                  </a:ext>
                </a:extLst>
              </a:tr>
              <a:tr h="95387">
                <a:tc>
                  <a:txBody>
                    <a:bodyPr/>
                    <a:lstStyle/>
                    <a:p>
                      <a:r>
                        <a:rPr lang="en-US" sz="1000" dirty="0">
                          <a:effectLst/>
                        </a:rPr>
                        <a:t>'best'</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a:effectLst/>
                        </a:rPr>
                        <a:t>0</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4116748571"/>
                  </a:ext>
                </a:extLst>
              </a:tr>
              <a:tr h="166927">
                <a:tc>
                  <a:txBody>
                    <a:bodyPr/>
                    <a:lstStyle/>
                    <a:p>
                      <a:r>
                        <a:rPr lang="en-US" sz="1000" dirty="0">
                          <a:effectLst/>
                        </a:rPr>
                        <a:t>'upper right'</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a:effectLst/>
                        </a:rPr>
                        <a:t>1</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4021484369"/>
                  </a:ext>
                </a:extLst>
              </a:tr>
              <a:tr h="166927">
                <a:tc>
                  <a:txBody>
                    <a:bodyPr/>
                    <a:lstStyle/>
                    <a:p>
                      <a:r>
                        <a:rPr lang="en-US" sz="1000" dirty="0">
                          <a:effectLst/>
                        </a:rPr>
                        <a:t>'upper left'</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a:effectLst/>
                        </a:rPr>
                        <a:t>2</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2385448532"/>
                  </a:ext>
                </a:extLst>
              </a:tr>
              <a:tr h="166927">
                <a:tc>
                  <a:txBody>
                    <a:bodyPr/>
                    <a:lstStyle/>
                    <a:p>
                      <a:r>
                        <a:rPr lang="en-US" sz="1000" dirty="0">
                          <a:effectLst/>
                        </a:rPr>
                        <a:t>'lower left'</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a:effectLst/>
                        </a:rPr>
                        <a:t>3</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940661130"/>
                  </a:ext>
                </a:extLst>
              </a:tr>
              <a:tr h="166927">
                <a:tc>
                  <a:txBody>
                    <a:bodyPr/>
                    <a:lstStyle/>
                    <a:p>
                      <a:r>
                        <a:rPr lang="en-US" sz="1000" dirty="0">
                          <a:effectLst/>
                        </a:rPr>
                        <a:t>'lower right'</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dirty="0">
                          <a:effectLst/>
                        </a:rPr>
                        <a:t>4</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3360776065"/>
                  </a:ext>
                </a:extLst>
              </a:tr>
              <a:tr h="95387">
                <a:tc>
                  <a:txBody>
                    <a:bodyPr/>
                    <a:lstStyle/>
                    <a:p>
                      <a:r>
                        <a:rPr lang="en-US" sz="1000">
                          <a:effectLst/>
                        </a:rPr>
                        <a:t>'right'</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dirty="0">
                          <a:effectLst/>
                        </a:rPr>
                        <a:t>5</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1061999635"/>
                  </a:ext>
                </a:extLst>
              </a:tr>
              <a:tr h="166927">
                <a:tc>
                  <a:txBody>
                    <a:bodyPr/>
                    <a:lstStyle/>
                    <a:p>
                      <a:r>
                        <a:rPr lang="en-US" sz="1000">
                          <a:effectLst/>
                        </a:rPr>
                        <a:t>'center left'</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dirty="0">
                          <a:effectLst/>
                        </a:rPr>
                        <a:t>6</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1725744911"/>
                  </a:ext>
                </a:extLst>
              </a:tr>
              <a:tr h="166927">
                <a:tc>
                  <a:txBody>
                    <a:bodyPr/>
                    <a:lstStyle/>
                    <a:p>
                      <a:r>
                        <a:rPr lang="en-US" sz="1000">
                          <a:effectLst/>
                        </a:rPr>
                        <a:t>'center right'</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dirty="0">
                          <a:effectLst/>
                        </a:rPr>
                        <a:t>7</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4222343625"/>
                  </a:ext>
                </a:extLst>
              </a:tr>
              <a:tr h="166927">
                <a:tc>
                  <a:txBody>
                    <a:bodyPr/>
                    <a:lstStyle/>
                    <a:p>
                      <a:r>
                        <a:rPr lang="en-US" sz="1000">
                          <a:effectLst/>
                        </a:rPr>
                        <a:t>'lower center'</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dirty="0">
                          <a:effectLst/>
                        </a:rPr>
                        <a:t>8</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3121664746"/>
                  </a:ext>
                </a:extLst>
              </a:tr>
              <a:tr h="166927">
                <a:tc>
                  <a:txBody>
                    <a:bodyPr/>
                    <a:lstStyle/>
                    <a:p>
                      <a:r>
                        <a:rPr lang="en-US" sz="1000" dirty="0">
                          <a:effectLst/>
                        </a:rPr>
                        <a:t>'upper center'</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dirty="0">
                          <a:effectLst/>
                        </a:rPr>
                        <a:t>9</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1576968878"/>
                  </a:ext>
                </a:extLst>
              </a:tr>
              <a:tr h="95387">
                <a:tc>
                  <a:txBody>
                    <a:bodyPr/>
                    <a:lstStyle/>
                    <a:p>
                      <a:r>
                        <a:rPr lang="en-US" sz="1000" dirty="0">
                          <a:effectLst/>
                        </a:rPr>
                        <a:t>'center'</a:t>
                      </a:r>
                    </a:p>
                  </a:txBody>
                  <a:tcPr marL="50983" marR="50983" marT="25492" marB="25492" anchor="ctr">
                    <a:lnR w="12700" cap="flat" cmpd="sng" algn="ctr">
                      <a:solidFill>
                        <a:schemeClr val="accent6"/>
                      </a:solidFill>
                      <a:prstDash val="solid"/>
                      <a:round/>
                      <a:headEnd type="none" w="med" len="med"/>
                      <a:tailEnd type="none" w="med" len="med"/>
                    </a:lnR>
                  </a:tcPr>
                </a:tc>
                <a:tc>
                  <a:txBody>
                    <a:bodyPr/>
                    <a:lstStyle/>
                    <a:p>
                      <a:r>
                        <a:rPr lang="en-US" sz="1000" dirty="0">
                          <a:effectLst/>
                        </a:rPr>
                        <a:t>10</a:t>
                      </a:r>
                    </a:p>
                  </a:txBody>
                  <a:tcPr marL="50983" marR="50983" marT="25492" marB="25492" anchor="ctr">
                    <a:lnL w="12700" cap="flat" cmpd="sng" algn="ctr">
                      <a:solidFill>
                        <a:schemeClr val="accent6"/>
                      </a:solidFill>
                      <a:prstDash val="solid"/>
                      <a:round/>
                      <a:headEnd type="none" w="med" len="med"/>
                      <a:tailEnd type="none" w="med" len="med"/>
                    </a:lnL>
                  </a:tcPr>
                </a:tc>
                <a:extLst>
                  <a:ext uri="{0D108BD9-81ED-4DB2-BD59-A6C34878D82A}">
                    <a16:rowId xmlns:a16="http://schemas.microsoft.com/office/drawing/2014/main" val="3427615239"/>
                  </a:ext>
                </a:extLst>
              </a:tr>
            </a:tbl>
          </a:graphicData>
        </a:graphic>
      </p:graphicFrame>
    </p:spTree>
    <p:extLst>
      <p:ext uri="{BB962C8B-B14F-4D97-AF65-F5344CB8AC3E}">
        <p14:creationId xmlns:p14="http://schemas.microsoft.com/office/powerpoint/2010/main" val="186698100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41</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a:t>
            </a:r>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dirty="0" smtClean="0"/>
          </a:p>
          <a:p>
            <a:pPr marL="182880" indent="-178920">
              <a:lnSpc>
                <a:spcPct val="100000"/>
              </a:lnSpc>
              <a:spcBef>
                <a:spcPts val="3000"/>
              </a:spcBef>
              <a:buClr>
                <a:srgbClr val="0047BA"/>
              </a:buClr>
              <a:buSzPct val="65000"/>
              <a:buFont typeface="Wingdings" charset="2"/>
              <a:buChar char=""/>
            </a:pPr>
            <a:endParaRPr lang="en-US" spc="-1" dirty="0" smtClean="0"/>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2337" y="1497918"/>
            <a:ext cx="4946177" cy="3694176"/>
          </a:xfrm>
          <a:prstGeom prst="rect">
            <a:avLst/>
          </a:prstGeom>
        </p:spPr>
      </p:pic>
    </p:spTree>
    <p:extLst>
      <p:ext uri="{BB962C8B-B14F-4D97-AF65-F5344CB8AC3E}">
        <p14:creationId xmlns:p14="http://schemas.microsoft.com/office/powerpoint/2010/main" val="2751926903"/>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42</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In order to have more control on the legend’s position and size</a:t>
            </a:r>
            <a:r>
              <a:rPr lang="en-US" dirty="0"/>
              <a:t>, </a:t>
            </a:r>
            <a:r>
              <a:rPr lang="en-US" b="1" dirty="0" err="1" smtClean="0">
                <a:solidFill>
                  <a:schemeClr val="tx2"/>
                </a:solidFill>
              </a:rPr>
              <a:t>bbox_to_anchor</a:t>
            </a:r>
            <a:r>
              <a:rPr lang="en-US" dirty="0" smtClean="0"/>
              <a:t> parameter can be used together with </a:t>
            </a:r>
            <a:r>
              <a:rPr lang="en-US" b="1" dirty="0" smtClean="0">
                <a:solidFill>
                  <a:schemeClr val="tx2"/>
                </a:solidFill>
              </a:rPr>
              <a:t>loc</a:t>
            </a:r>
            <a:r>
              <a:rPr lang="en-US" dirty="0" smtClean="0"/>
              <a:t>. Following is the syntax:</a:t>
            </a:r>
          </a:p>
          <a:p>
            <a:pPr marL="640080" lvl="1" indent="-178920">
              <a:spcBef>
                <a:spcPts val="3000"/>
              </a:spcBef>
              <a:buClr>
                <a:srgbClr val="0047BA"/>
              </a:buClr>
              <a:buSzPct val="65000"/>
              <a:buFont typeface="Wingdings" charset="2"/>
              <a:buChar char=""/>
            </a:pPr>
            <a:r>
              <a:rPr lang="en-US" b="1" dirty="0" err="1">
                <a:solidFill>
                  <a:schemeClr val="tx2"/>
                </a:solidFill>
              </a:rPr>
              <a:t>bbox_to_anchor</a:t>
            </a:r>
            <a:r>
              <a:rPr lang="en-US" b="1" dirty="0">
                <a:solidFill>
                  <a:schemeClr val="tx2"/>
                </a:solidFill>
              </a:rPr>
              <a:t>=(x, y)</a:t>
            </a:r>
            <a:r>
              <a:rPr lang="en-US" dirty="0"/>
              <a:t>: Places the corner of the legend specified by </a:t>
            </a:r>
            <a:r>
              <a:rPr lang="en-US" i="1" dirty="0" err="1"/>
              <a:t>loc</a:t>
            </a:r>
            <a:r>
              <a:rPr lang="en-US" dirty="0"/>
              <a:t> at x, y.</a:t>
            </a:r>
          </a:p>
          <a:p>
            <a:pPr marL="640080" lvl="1" indent="-178920">
              <a:spcBef>
                <a:spcPts val="3000"/>
              </a:spcBef>
              <a:buClr>
                <a:srgbClr val="0047BA"/>
              </a:buClr>
              <a:buSzPct val="65000"/>
              <a:buFont typeface="Wingdings" charset="2"/>
              <a:buChar char=""/>
            </a:pPr>
            <a:r>
              <a:rPr lang="en-US" b="1" dirty="0" err="1" smtClean="0">
                <a:solidFill>
                  <a:schemeClr val="tx2"/>
                </a:solidFill>
              </a:rPr>
              <a:t>bbox_to_anchor</a:t>
            </a:r>
            <a:r>
              <a:rPr lang="en-US" b="1" dirty="0" smtClean="0">
                <a:solidFill>
                  <a:schemeClr val="tx2"/>
                </a:solidFill>
              </a:rPr>
              <a:t>=(x, y, width, height)</a:t>
            </a:r>
            <a:r>
              <a:rPr lang="en-US" dirty="0" smtClean="0"/>
              <a:t>. Specifies the box where the legend is placed in.</a:t>
            </a:r>
          </a:p>
          <a:p>
            <a:pPr marL="640080" lvl="1" indent="-178920">
              <a:spcBef>
                <a:spcPts val="3000"/>
              </a:spcBef>
              <a:buClr>
                <a:srgbClr val="0047BA"/>
              </a:buClr>
              <a:buSzPct val="65000"/>
              <a:buFont typeface="Wingdings" charset="2"/>
              <a:buChar char=""/>
            </a:pPr>
            <a:endParaRPr lang="en-US" spc="-1" dirty="0" smtClean="0"/>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469318779"/>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43</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y)</a:t>
            </a: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2704378129"/>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44</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y)</a:t>
            </a: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25210280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45</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y)</a:t>
            </a: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4" name="Picture 3"/>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266419908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46</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y)</a:t>
            </a: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2156114537"/>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47</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y)</a:t>
            </a: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47682030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48</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a:t>
            </a:r>
            <a:r>
              <a:rPr lang="en-US" b="1" dirty="0" smtClean="0">
                <a:solidFill>
                  <a:schemeClr val="tx2"/>
                </a:solidFill>
              </a:rPr>
              <a:t>y, width, height)</a:t>
            </a: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379342100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49</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a:t>
            </a:r>
            <a:r>
              <a:rPr lang="en-US" b="1" dirty="0" smtClean="0">
                <a:solidFill>
                  <a:schemeClr val="tx2"/>
                </a:solidFill>
              </a:rPr>
              <a:t>y, width, height)</a:t>
            </a: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194966116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50</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a:t>
            </a:r>
            <a:r>
              <a:rPr lang="en-US" b="1" dirty="0" smtClean="0">
                <a:solidFill>
                  <a:schemeClr val="tx2"/>
                </a:solidFill>
              </a:rPr>
              <a:t>y, width, height)</a:t>
            </a: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4" name="Picture 3"/>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228138609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51</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a:t>
            </a:r>
            <a:r>
              <a:rPr lang="en-US" b="1" dirty="0" smtClean="0">
                <a:solidFill>
                  <a:schemeClr val="tx2"/>
                </a:solidFill>
              </a:rPr>
              <a:t>y, width, height)</a:t>
            </a: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303102558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52</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a:t>
            </a:r>
            <a:r>
              <a:rPr lang="en-US" b="1" dirty="0" smtClean="0">
                <a:solidFill>
                  <a:schemeClr val="tx2"/>
                </a:solidFill>
              </a:rPr>
              <a:t>y, width, height)</a:t>
            </a: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3" name="Picture 2"/>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43050990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102384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3"/>
            </a:pPr>
            <a:r>
              <a:rPr lang="en-US" sz="3600" b="1" strike="noStrike" spc="15" dirty="0" smtClean="0">
                <a:solidFill>
                  <a:srgbClr val="0047BA"/>
                </a:solidFill>
                <a:latin typeface="Arial"/>
                <a:ea typeface="DejaVu Sans"/>
              </a:rPr>
              <a:t>Formatting</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53</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Grids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Labels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Spines</a:t>
            </a:r>
          </a:p>
          <a:p>
            <a:pPr marL="182880" indent="-178920">
              <a:lnSpc>
                <a:spcPct val="100000"/>
              </a:lnSpc>
              <a:spcBef>
                <a:spcPts val="1800"/>
              </a:spcBef>
              <a:buClr>
                <a:srgbClr val="0047BA"/>
              </a:buClr>
              <a:buSzPct val="65000"/>
              <a:buFont typeface="Wingdings" charset="2"/>
              <a:buChar char=""/>
            </a:pPr>
            <a:r>
              <a:rPr lang="en-US" sz="2400" spc="-1" dirty="0">
                <a:solidFill>
                  <a:srgbClr val="0047BA"/>
                </a:solidFill>
              </a:rPr>
              <a:t>Scale</a:t>
            </a: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Limits</a:t>
            </a:r>
            <a:endParaRPr lang="en-US" sz="20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pc="-1" dirty="0" smtClean="0">
                <a:solidFill>
                  <a:srgbClr val="0047BA"/>
                </a:solidFill>
                <a:latin typeface="Arial"/>
                <a:ea typeface="DejaVu Sans"/>
              </a:rPr>
              <a:t>Ticks</a:t>
            </a:r>
            <a:endParaRPr lang="en-US" sz="2800" spc="-1" dirty="0" smtClean="0">
              <a:solidFill>
                <a:srgbClr val="0047BA"/>
              </a:solidFill>
              <a:latin typeface="Arial"/>
              <a:ea typeface="DejaVu Sans"/>
            </a:endParaRPr>
          </a:p>
          <a:p>
            <a:pPr marL="182880" indent="-178920">
              <a:lnSpc>
                <a:spcPct val="100000"/>
              </a:lnSpc>
              <a:spcBef>
                <a:spcPts val="1800"/>
              </a:spcBef>
              <a:buClr>
                <a:srgbClr val="0047BA"/>
              </a:buClr>
              <a:buSzPct val="65000"/>
              <a:buFont typeface="Wingdings" charset="2"/>
              <a:buChar char=""/>
            </a:pPr>
            <a:r>
              <a:rPr lang="en-US" sz="2400" strike="noStrike" spc="-1" dirty="0" smtClean="0">
                <a:solidFill>
                  <a:srgbClr val="0047BA"/>
                </a:solidFill>
                <a:latin typeface="Arial"/>
                <a:ea typeface="DejaVu Sans"/>
              </a:rPr>
              <a:t>Twin axes</a:t>
            </a:r>
          </a:p>
          <a:p>
            <a:pPr marL="182880" indent="-178920">
              <a:lnSpc>
                <a:spcPct val="100000"/>
              </a:lnSpc>
              <a:spcBef>
                <a:spcPts val="1800"/>
              </a:spcBef>
              <a:buClr>
                <a:srgbClr val="0047BA"/>
              </a:buClr>
              <a:buSzPct val="65000"/>
              <a:buFont typeface="Wingdings" charset="2"/>
              <a:buChar char=""/>
            </a:pPr>
            <a:r>
              <a:rPr lang="en-US" sz="2800" b="1" spc="-1" dirty="0">
                <a:solidFill>
                  <a:srgbClr val="0047BA"/>
                </a:solidFill>
              </a:rPr>
              <a:t>Legend</a:t>
            </a:r>
            <a:endParaRPr lang="en-US" sz="2800" b="1" strike="noStrike" spc="-1" dirty="0" smtClean="0">
              <a:solidFill>
                <a:srgbClr val="0047BA"/>
              </a:solidFill>
              <a:latin typeface="Arial"/>
              <a:ea typeface="DejaVu Sans"/>
            </a:endParaRPr>
          </a:p>
        </p:txBody>
      </p:sp>
      <p:sp>
        <p:nvSpPr>
          <p:cNvPr id="332" name="CustomShape 7"/>
          <p:cNvSpPr/>
          <p:nvPr/>
        </p:nvSpPr>
        <p:spPr>
          <a:xfrm>
            <a:off x="5287652" y="1164059"/>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Legend position </a:t>
            </a:r>
            <a:r>
              <a:rPr lang="en-US" b="1" dirty="0" err="1">
                <a:solidFill>
                  <a:schemeClr val="tx2"/>
                </a:solidFill>
              </a:rPr>
              <a:t>bbox_to_anchor</a:t>
            </a:r>
            <a:r>
              <a:rPr lang="en-US" b="1" dirty="0">
                <a:solidFill>
                  <a:schemeClr val="tx2"/>
                </a:solidFill>
              </a:rPr>
              <a:t>=(x, </a:t>
            </a:r>
            <a:r>
              <a:rPr lang="en-US" b="1" dirty="0" smtClean="0">
                <a:solidFill>
                  <a:schemeClr val="tx2"/>
                </a:solidFill>
              </a:rPr>
              <a:t>y, width, height)</a:t>
            </a:r>
          </a:p>
          <a:p>
            <a:pPr marL="182880" indent="-178920">
              <a:lnSpc>
                <a:spcPct val="100000"/>
              </a:lnSpc>
              <a:spcBef>
                <a:spcPts val="3000"/>
              </a:spcBef>
              <a:buClr>
                <a:srgbClr val="0047BA"/>
              </a:buClr>
              <a:buSzPct val="65000"/>
              <a:buFont typeface="Wingdings" charset="2"/>
              <a:buChar char=""/>
            </a:pPr>
            <a:endParaRPr lang="en-US" sz="1800" b="1" strike="noStrike" spc="-1" dirty="0">
              <a:solidFill>
                <a:schemeClr val="tx2"/>
              </a:solidFill>
              <a:latin typeface="Arial"/>
            </a:endParaRPr>
          </a:p>
          <a:p>
            <a:pPr marL="182880" indent="-178920">
              <a:lnSpc>
                <a:spcPct val="100000"/>
              </a:lnSpc>
              <a:spcBef>
                <a:spcPts val="3000"/>
              </a:spcBef>
              <a:buClr>
                <a:srgbClr val="0047BA"/>
              </a:buClr>
              <a:buSzPct val="65000"/>
              <a:buFont typeface="Wingdings" charset="2"/>
              <a:buChar char=""/>
            </a:pPr>
            <a:endParaRPr lang="en-US" b="1" spc="-1" dirty="0" smtClean="0">
              <a:solidFill>
                <a:schemeClr val="tx2"/>
              </a:solidFill>
              <a:latin typeface="Arial"/>
            </a:endParaRPr>
          </a:p>
          <a:p>
            <a:pPr marL="182880" indent="-178920">
              <a:lnSpc>
                <a:spcPct val="100000"/>
              </a:lnSpc>
              <a:spcBef>
                <a:spcPts val="3000"/>
              </a:spcBef>
              <a:buClr>
                <a:srgbClr val="0047BA"/>
              </a:buClr>
              <a:buSzPct val="65000"/>
              <a:buFont typeface="Wingdings" charset="2"/>
              <a:buChar char=""/>
            </a:pPr>
            <a:endParaRPr lang="en-US" sz="1800" b="1" strike="noStrike" spc="-1" dirty="0">
              <a:solidFill>
                <a:schemeClr val="tx2"/>
              </a:solidFill>
              <a:latin typeface="Arial"/>
            </a:endParaRPr>
          </a:p>
          <a:p>
            <a:pPr marL="182880" indent="-178920">
              <a:lnSpc>
                <a:spcPct val="100000"/>
              </a:lnSpc>
              <a:spcBef>
                <a:spcPts val="3000"/>
              </a:spcBef>
              <a:buClr>
                <a:srgbClr val="0047BA"/>
              </a:buClr>
              <a:buSzPct val="65000"/>
              <a:buFont typeface="Wingdings" charset="2"/>
              <a:buChar char=""/>
            </a:pPr>
            <a:endParaRPr lang="en-US" b="1" spc="-1" dirty="0" smtClean="0">
              <a:solidFill>
                <a:schemeClr val="tx2"/>
              </a:solidFill>
              <a:latin typeface="Arial"/>
            </a:endParaRPr>
          </a:p>
          <a:p>
            <a:pPr marL="182880" indent="-178920">
              <a:lnSpc>
                <a:spcPct val="100000"/>
              </a:lnSpc>
              <a:spcBef>
                <a:spcPts val="3000"/>
              </a:spcBef>
              <a:buClr>
                <a:srgbClr val="0047BA"/>
              </a:buClr>
              <a:buSzPct val="65000"/>
              <a:buFont typeface="Wingdings" charset="2"/>
              <a:buChar char=""/>
            </a:pPr>
            <a:endParaRPr lang="en-US" sz="1800" b="1" strike="noStrike" spc="-1" dirty="0">
              <a:solidFill>
                <a:schemeClr val="tx2"/>
              </a:solidFill>
              <a:latin typeface="Arial"/>
            </a:endParaRPr>
          </a:p>
          <a:p>
            <a:pPr marL="182880" indent="-178920">
              <a:lnSpc>
                <a:spcPct val="100000"/>
              </a:lnSpc>
              <a:spcBef>
                <a:spcPts val="3000"/>
              </a:spcBef>
              <a:buClr>
                <a:srgbClr val="0047BA"/>
              </a:buClr>
              <a:buSzPct val="65000"/>
              <a:buFont typeface="Wingdings" charset="2"/>
              <a:buChar char=""/>
            </a:pPr>
            <a:endParaRPr lang="en-US" b="1" spc="-1" dirty="0" smtClean="0">
              <a:solidFill>
                <a:schemeClr val="tx2"/>
              </a:solidFill>
              <a:latin typeface="Arial"/>
            </a:endParaRPr>
          </a:p>
          <a:p>
            <a:pPr marL="182880" indent="-178920">
              <a:lnSpc>
                <a:spcPct val="100000"/>
              </a:lnSpc>
              <a:spcBef>
                <a:spcPts val="3169"/>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a:solidFill>
                  <a:schemeClr val="tx2"/>
                </a:solidFill>
              </a:rPr>
              <a:t>03_Formatting/</a:t>
            </a:r>
            <a:r>
              <a:rPr lang="en-US" spc="-1" dirty="0" err="1">
                <a:solidFill>
                  <a:schemeClr val="tx2"/>
                </a:solidFill>
              </a:rPr>
              <a:t>legend.ipynb</a:t>
            </a:r>
            <a:endParaRPr lang="en-US" spc="-1" dirty="0">
              <a:solidFill>
                <a:schemeClr val="tx2"/>
              </a:solidFill>
            </a:endParaRPr>
          </a:p>
          <a:p>
            <a:pPr marL="182880" indent="-178920">
              <a:lnSpc>
                <a:spcPct val="100000"/>
              </a:lnSpc>
              <a:spcBef>
                <a:spcPts val="3000"/>
              </a:spcBef>
              <a:buClr>
                <a:srgbClr val="0047BA"/>
              </a:buClr>
              <a:buSzPct val="65000"/>
              <a:buFont typeface="Wingdings" charset="2"/>
              <a:buChar char=""/>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pic>
        <p:nvPicPr>
          <p:cNvPr id="2" name="Picture 1"/>
          <p:cNvPicPr>
            <a:picLocks noChangeAspect="1"/>
          </p:cNvPicPr>
          <p:nvPr/>
        </p:nvPicPr>
        <p:blipFill>
          <a:blip r:embed="rId2"/>
          <a:stretch>
            <a:fillRect/>
          </a:stretch>
        </p:blipFill>
        <p:spPr>
          <a:xfrm>
            <a:off x="5434159" y="1719707"/>
            <a:ext cx="5982535" cy="4382112"/>
          </a:xfrm>
          <a:prstGeom prst="rect">
            <a:avLst/>
          </a:prstGeom>
        </p:spPr>
      </p:pic>
    </p:spTree>
    <p:extLst>
      <p:ext uri="{BB962C8B-B14F-4D97-AF65-F5344CB8AC3E}">
        <p14:creationId xmlns:p14="http://schemas.microsoft.com/office/powerpoint/2010/main" val="245088316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4"/>
            </a:pPr>
            <a:r>
              <a:rPr lang="en-US" sz="3600" b="1" strike="noStrike" spc="15" dirty="0" smtClean="0">
                <a:solidFill>
                  <a:srgbClr val="0047BA"/>
                </a:solidFill>
                <a:latin typeface="Arial"/>
                <a:ea typeface="DejaVu Sans"/>
              </a:rPr>
              <a:t>2D plots</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54</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169"/>
              </a:spcBef>
              <a:buClr>
                <a:srgbClr val="0047BA"/>
              </a:buClr>
              <a:buSzPct val="65000"/>
              <a:buFont typeface="Wingdings" charset="2"/>
              <a:buChar char=""/>
            </a:pPr>
            <a:r>
              <a:rPr lang="en-US" sz="2800" b="1" strike="noStrike" spc="-1" dirty="0" smtClean="0">
                <a:solidFill>
                  <a:srgbClr val="0047BA"/>
                </a:solidFill>
                <a:latin typeface="Arial"/>
                <a:ea typeface="DejaVu Sans"/>
              </a:rPr>
              <a:t>Scatter</a:t>
            </a: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Bar</a:t>
            </a:r>
            <a:endParaRPr lang="en-US" sz="2400" strike="noStrike"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Pie</a:t>
            </a:r>
          </a:p>
          <a:p>
            <a:pPr marL="182880" indent="-178920">
              <a:lnSpc>
                <a:spcPct val="100000"/>
              </a:lnSpc>
              <a:spcBef>
                <a:spcPts val="3169"/>
              </a:spcBef>
              <a:buClr>
                <a:srgbClr val="0047BA"/>
              </a:buClr>
              <a:buSzPct val="65000"/>
              <a:buFont typeface="Wingdings" charset="2"/>
              <a:buChar char=""/>
            </a:pPr>
            <a:r>
              <a:rPr lang="en-US" sz="2400" spc="-1" dirty="0" err="1" smtClean="0">
                <a:solidFill>
                  <a:srgbClr val="0047BA"/>
                </a:solidFill>
                <a:latin typeface="Arial"/>
                <a:ea typeface="DejaVu Sans"/>
              </a:rPr>
              <a:t>Imshow</a:t>
            </a:r>
            <a:endParaRPr lang="en-US" sz="2400"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Contour</a:t>
            </a: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spc="-1" dirty="0"/>
              <a:t>Scatter plots are used to plot </a:t>
            </a:r>
            <a:r>
              <a:rPr lang="en-US" b="1" spc="-1" dirty="0">
                <a:solidFill>
                  <a:schemeClr val="tx2"/>
                </a:solidFill>
              </a:rPr>
              <a:t>data points</a:t>
            </a:r>
            <a:r>
              <a:rPr lang="en-US" spc="-1" dirty="0"/>
              <a:t> on </a:t>
            </a:r>
            <a:r>
              <a:rPr lang="en-US" b="1" spc="-1" dirty="0" smtClean="0">
                <a:solidFill>
                  <a:schemeClr val="tx2"/>
                </a:solidFill>
              </a:rPr>
              <a:t>x</a:t>
            </a:r>
            <a:r>
              <a:rPr lang="en-US" spc="-1" dirty="0" smtClean="0"/>
              <a:t> </a:t>
            </a:r>
            <a:r>
              <a:rPr lang="en-US" spc="-1" dirty="0"/>
              <a:t>and </a:t>
            </a:r>
            <a:r>
              <a:rPr lang="en-US" b="1" spc="-1" dirty="0" smtClean="0">
                <a:solidFill>
                  <a:schemeClr val="tx2"/>
                </a:solidFill>
              </a:rPr>
              <a:t>y</a:t>
            </a:r>
            <a:r>
              <a:rPr lang="en-US" spc="-1" dirty="0" smtClean="0"/>
              <a:t> </a:t>
            </a:r>
            <a:r>
              <a:rPr lang="en-US" spc="-1" dirty="0"/>
              <a:t>axis in the attempt to show how much one variable is affected by another. </a:t>
            </a:r>
            <a:endParaRPr lang="en-US" spc="-1" dirty="0" smtClean="0"/>
          </a:p>
          <a:p>
            <a:pPr marL="182880" indent="-178920">
              <a:lnSpc>
                <a:spcPct val="100000"/>
              </a:lnSpc>
              <a:spcBef>
                <a:spcPts val="3000"/>
              </a:spcBef>
              <a:buClr>
                <a:srgbClr val="0047BA"/>
              </a:buClr>
              <a:buSzPct val="65000"/>
              <a:buFont typeface="Wingdings" charset="2"/>
              <a:buChar char=""/>
            </a:pPr>
            <a:r>
              <a:rPr lang="en-US" spc="-1" dirty="0" smtClean="0"/>
              <a:t>A </a:t>
            </a:r>
            <a:r>
              <a:rPr lang="en-US" spc="-1" dirty="0"/>
              <a:t>third variable can be set to correspond to the </a:t>
            </a:r>
            <a:r>
              <a:rPr lang="en-US" b="1" spc="-1" dirty="0">
                <a:solidFill>
                  <a:schemeClr val="tx2"/>
                </a:solidFill>
              </a:rPr>
              <a:t>color</a:t>
            </a:r>
            <a:r>
              <a:rPr lang="en-US" spc="-1" dirty="0"/>
              <a:t> or </a:t>
            </a:r>
            <a:r>
              <a:rPr lang="en-US" b="1" spc="-1" dirty="0">
                <a:solidFill>
                  <a:schemeClr val="tx2"/>
                </a:solidFill>
              </a:rPr>
              <a:t>size</a:t>
            </a:r>
            <a:r>
              <a:rPr lang="en-US" spc="-1" dirty="0"/>
              <a:t> of the markers, thus adding yet another dimension to the plot</a:t>
            </a:r>
            <a:r>
              <a:rPr lang="en-US" spc="-1" dirty="0" smtClean="0"/>
              <a:t>.</a:t>
            </a:r>
          </a:p>
          <a:p>
            <a:pPr marL="182880" indent="-178920">
              <a:lnSpc>
                <a:spcPct val="100000"/>
              </a:lnSpc>
              <a:spcBef>
                <a:spcPts val="3000"/>
              </a:spcBef>
              <a:buClr>
                <a:srgbClr val="0047BA"/>
              </a:buClr>
              <a:buSzPct val="65000"/>
              <a:buFont typeface="Wingdings" charset="2"/>
              <a:buChar char=""/>
            </a:pPr>
            <a:r>
              <a:rPr lang="en-US" spc="-1" dirty="0" smtClean="0"/>
              <a:t>Signature of </a:t>
            </a:r>
            <a:r>
              <a:rPr lang="en-US" spc="-1" dirty="0" err="1" smtClean="0"/>
              <a:t>Axes.scatter</a:t>
            </a:r>
            <a:r>
              <a:rPr lang="en-US" spc="-1" dirty="0" smtClean="0"/>
              <a:t>() function:</a:t>
            </a:r>
          </a:p>
          <a:p>
            <a:pPr marL="640080" lvl="1" indent="-178920">
              <a:spcBef>
                <a:spcPts val="3000"/>
              </a:spcBef>
              <a:buClr>
                <a:srgbClr val="0047BA"/>
              </a:buClr>
              <a:buSzPct val="65000"/>
              <a:buFont typeface="Wingdings" charset="2"/>
              <a:buChar char=""/>
            </a:pPr>
            <a:r>
              <a:rPr lang="en-US" b="1" spc="-1" dirty="0" err="1" smtClean="0">
                <a:solidFill>
                  <a:schemeClr val="tx2"/>
                </a:solidFill>
                <a:latin typeface="Arial"/>
                <a:ea typeface="DejaVu Sans"/>
              </a:rPr>
              <a:t>Axes.scatter</a:t>
            </a:r>
            <a:r>
              <a:rPr lang="en-US" b="1" spc="-1" dirty="0" smtClean="0">
                <a:solidFill>
                  <a:schemeClr val="tx2"/>
                </a:solidFill>
                <a:latin typeface="Arial"/>
                <a:ea typeface="DejaVu Sans"/>
              </a:rPr>
              <a:t>(</a:t>
            </a:r>
            <a:r>
              <a:rPr lang="en-US" b="1" spc="-1" dirty="0" err="1" smtClean="0">
                <a:solidFill>
                  <a:schemeClr val="tx2"/>
                </a:solidFill>
                <a:latin typeface="Arial"/>
                <a:ea typeface="DejaVu Sans"/>
              </a:rPr>
              <a:t>x,y,s,c,cmap</a:t>
            </a:r>
            <a:r>
              <a:rPr lang="en-US" b="1" spc="-1" dirty="0" smtClean="0">
                <a:solidFill>
                  <a:schemeClr val="tx2"/>
                </a:solidFill>
                <a:latin typeface="Arial"/>
                <a:ea typeface="DejaVu Sans"/>
              </a:rPr>
              <a:t>)</a:t>
            </a:r>
          </a:p>
          <a:p>
            <a:pPr marL="182880" indent="-178920">
              <a:lnSpc>
                <a:spcPct val="100000"/>
              </a:lnSpc>
              <a:spcBef>
                <a:spcPts val="3169"/>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04_2D_plots/</a:t>
            </a:r>
            <a:r>
              <a:rPr lang="en-US" spc="-1" dirty="0" err="1" smtClean="0">
                <a:solidFill>
                  <a:schemeClr val="tx2"/>
                </a:solidFill>
              </a:rPr>
              <a:t>scatter.ipynb</a:t>
            </a:r>
            <a:endParaRPr lang="en-US" spc="-1" dirty="0">
              <a:solidFill>
                <a:schemeClr val="tx2"/>
              </a:solidFill>
            </a:endParaRPr>
          </a:p>
          <a:p>
            <a:pPr marL="182880" indent="-178920">
              <a:spcBef>
                <a:spcPts val="3000"/>
              </a:spcBef>
              <a:buClr>
                <a:srgbClr val="0047BA"/>
              </a:buClr>
              <a:buSzPct val="65000"/>
              <a:buFont typeface="Wingdings" charset="2"/>
              <a:buChar char=""/>
            </a:pPr>
            <a:endParaRPr lang="en-US" b="1" spc="-1" dirty="0" smtClean="0">
              <a:solidFill>
                <a:schemeClr val="tx2"/>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96671067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4"/>
            </a:pPr>
            <a:r>
              <a:rPr lang="en-US" sz="3600" b="1" strike="noStrike" spc="15" dirty="0" smtClean="0">
                <a:solidFill>
                  <a:srgbClr val="0047BA"/>
                </a:solidFill>
                <a:latin typeface="Arial"/>
                <a:ea typeface="DejaVu Sans"/>
              </a:rPr>
              <a:t>2D plots</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55</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169"/>
              </a:spcBef>
              <a:buClr>
                <a:srgbClr val="0047BA"/>
              </a:buClr>
              <a:buSzPct val="65000"/>
              <a:buFont typeface="Wingdings" charset="2"/>
              <a:buChar char=""/>
            </a:pPr>
            <a:r>
              <a:rPr lang="en-US" sz="2400" strike="noStrike" spc="-1" dirty="0" smtClean="0">
                <a:solidFill>
                  <a:srgbClr val="0047BA"/>
                </a:solidFill>
                <a:latin typeface="Arial"/>
                <a:ea typeface="DejaVu Sans"/>
              </a:rPr>
              <a:t>Scatter</a:t>
            </a:r>
          </a:p>
          <a:p>
            <a:pPr marL="182880" indent="-178920">
              <a:lnSpc>
                <a:spcPct val="100000"/>
              </a:lnSpc>
              <a:spcBef>
                <a:spcPts val="3169"/>
              </a:spcBef>
              <a:buClr>
                <a:srgbClr val="0047BA"/>
              </a:buClr>
              <a:buSzPct val="65000"/>
              <a:buFont typeface="Wingdings" charset="2"/>
              <a:buChar char=""/>
            </a:pPr>
            <a:r>
              <a:rPr lang="en-US" sz="2800" b="1" spc="-1" dirty="0" smtClean="0">
                <a:solidFill>
                  <a:srgbClr val="0047BA"/>
                </a:solidFill>
                <a:latin typeface="Arial"/>
                <a:ea typeface="DejaVu Sans"/>
              </a:rPr>
              <a:t>Bar</a:t>
            </a:r>
            <a:endParaRPr lang="en-US" sz="2800" b="1" strike="noStrike"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Pie</a:t>
            </a:r>
          </a:p>
          <a:p>
            <a:pPr marL="182880" indent="-178920">
              <a:spcBef>
                <a:spcPts val="3169"/>
              </a:spcBef>
              <a:buClr>
                <a:srgbClr val="0047BA"/>
              </a:buClr>
              <a:buSzPct val="65000"/>
              <a:buFont typeface="Wingdings" charset="2"/>
              <a:buChar char=""/>
            </a:pPr>
            <a:r>
              <a:rPr lang="en-US" sz="2400" spc="-1" dirty="0" err="1" smtClean="0">
                <a:solidFill>
                  <a:srgbClr val="0047BA"/>
                </a:solidFill>
              </a:rPr>
              <a:t>Imshow</a:t>
            </a:r>
            <a:endParaRPr lang="en-US" sz="2400" spc="-1" dirty="0" smtClean="0">
              <a:solidFill>
                <a:srgbClr val="0047BA"/>
              </a:solidFill>
            </a:endParaRPr>
          </a:p>
          <a:p>
            <a:pPr marL="182880" indent="-178920">
              <a:spcBef>
                <a:spcPts val="3169"/>
              </a:spcBef>
              <a:buClr>
                <a:srgbClr val="0047BA"/>
              </a:buClr>
              <a:buSzPct val="65000"/>
              <a:buFont typeface="Wingdings" charset="2"/>
              <a:buChar char=""/>
            </a:pPr>
            <a:r>
              <a:rPr lang="en-US" sz="2400" spc="-1" dirty="0">
                <a:solidFill>
                  <a:srgbClr val="0047BA"/>
                </a:solidFill>
              </a:rPr>
              <a:t>Contour</a:t>
            </a:r>
          </a:p>
          <a:p>
            <a:pPr marL="182880" indent="-178920">
              <a:spcBef>
                <a:spcPts val="3169"/>
              </a:spcBef>
              <a:buClr>
                <a:srgbClr val="0047BA"/>
              </a:buClr>
              <a:buSzPct val="65000"/>
              <a:buFont typeface="Wingdings" charset="2"/>
              <a:buChar char=""/>
            </a:pPr>
            <a:endParaRPr lang="en-US" sz="2400" spc="-1" dirty="0">
              <a:solidFill>
                <a:srgbClr val="0047BA"/>
              </a:solidFill>
            </a:endParaRPr>
          </a:p>
          <a:p>
            <a:pPr marL="182880" indent="-178920">
              <a:lnSpc>
                <a:spcPct val="100000"/>
              </a:lnSpc>
              <a:spcBef>
                <a:spcPts val="3169"/>
              </a:spcBef>
              <a:buClr>
                <a:srgbClr val="0047BA"/>
              </a:buClr>
              <a:buSzPct val="65000"/>
              <a:buFont typeface="Wingdings" charset="2"/>
              <a:buChar char=""/>
            </a:pPr>
            <a:endParaRPr lang="en-US" sz="2400"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spc="-1" dirty="0" smtClean="0"/>
              <a:t>Bar charts </a:t>
            </a:r>
            <a:r>
              <a:rPr lang="en-US" dirty="0" smtClean="0"/>
              <a:t>present </a:t>
            </a:r>
            <a:r>
              <a:rPr lang="en-US" dirty="0"/>
              <a:t>categorical data with rectangular bars with heights or lengths proportional to the values that they represent. The bars can be plotted vertically or horizontally</a:t>
            </a:r>
            <a:r>
              <a:rPr lang="en-US" dirty="0" smtClean="0"/>
              <a:t>.</a:t>
            </a:r>
          </a:p>
          <a:p>
            <a:pPr marL="182880" indent="-178920">
              <a:lnSpc>
                <a:spcPct val="100000"/>
              </a:lnSpc>
              <a:spcBef>
                <a:spcPts val="3000"/>
              </a:spcBef>
              <a:buClr>
                <a:srgbClr val="0047BA"/>
              </a:buClr>
              <a:buSzPct val="65000"/>
              <a:buFont typeface="Wingdings" charset="2"/>
              <a:buChar char=""/>
            </a:pPr>
            <a:r>
              <a:rPr lang="en-US" dirty="0"/>
              <a:t>One axis of the chart shows the specific categories being compared, and the other axis represents a measured value</a:t>
            </a:r>
            <a:r>
              <a:rPr lang="en-US" dirty="0" smtClean="0"/>
              <a:t>.</a:t>
            </a:r>
          </a:p>
          <a:p>
            <a:pPr marL="182880" indent="-178920">
              <a:lnSpc>
                <a:spcPct val="100000"/>
              </a:lnSpc>
              <a:spcBef>
                <a:spcPts val="3000"/>
              </a:spcBef>
              <a:buClr>
                <a:srgbClr val="0047BA"/>
              </a:buClr>
              <a:buSzPct val="65000"/>
              <a:buFont typeface="Wingdings" charset="2"/>
              <a:buChar char=""/>
            </a:pPr>
            <a:r>
              <a:rPr lang="en-US" dirty="0" smtClean="0"/>
              <a:t>Signature of </a:t>
            </a:r>
            <a:r>
              <a:rPr lang="en-US" dirty="0" err="1" smtClean="0"/>
              <a:t>Axes.bar</a:t>
            </a:r>
            <a:r>
              <a:rPr lang="en-US" dirty="0" smtClean="0"/>
              <a:t>() function:</a:t>
            </a:r>
          </a:p>
          <a:p>
            <a:pPr marL="640080" lvl="1" indent="-178920">
              <a:spcBef>
                <a:spcPts val="3000"/>
              </a:spcBef>
              <a:buClr>
                <a:srgbClr val="0047BA"/>
              </a:buClr>
              <a:buSzPct val="65000"/>
              <a:buFont typeface="Wingdings" charset="2"/>
              <a:buChar char=""/>
            </a:pPr>
            <a:r>
              <a:rPr lang="en-US" b="1" dirty="0" smtClean="0">
                <a:solidFill>
                  <a:schemeClr val="tx2"/>
                </a:solidFill>
              </a:rPr>
              <a:t>Axes</a:t>
            </a:r>
            <a:r>
              <a:rPr lang="en-US" b="1" dirty="0">
                <a:solidFill>
                  <a:schemeClr val="tx2"/>
                </a:solidFill>
              </a:rPr>
              <a:t>. bar(x, height, width, bottom, align</a:t>
            </a:r>
            <a:r>
              <a:rPr lang="en-US" b="1" dirty="0" smtClean="0">
                <a:solidFill>
                  <a:schemeClr val="tx2"/>
                </a:solidFill>
              </a:rPr>
              <a:t>)</a:t>
            </a:r>
          </a:p>
          <a:p>
            <a:pPr marL="182880" indent="-178920">
              <a:spcBef>
                <a:spcPts val="3000"/>
              </a:spcBef>
              <a:buClr>
                <a:srgbClr val="0047BA"/>
              </a:buClr>
              <a:buSzPct val="65000"/>
              <a:buFont typeface="Wingdings" charset="2"/>
              <a:buChar char=""/>
            </a:pPr>
            <a:r>
              <a:rPr lang="en-US" b="1" spc="-1" dirty="0" smtClean="0">
                <a:solidFill>
                  <a:schemeClr val="tx2"/>
                </a:solidFill>
              </a:rPr>
              <a:t>Let’s </a:t>
            </a:r>
            <a:r>
              <a:rPr lang="en-US" b="1" spc="-1" dirty="0">
                <a:solidFill>
                  <a:schemeClr val="tx2"/>
                </a:solidFill>
              </a:rPr>
              <a:t>see some examples:</a:t>
            </a:r>
          </a:p>
          <a:p>
            <a:pPr marL="461160" lvl="1">
              <a:spcBef>
                <a:spcPts val="600"/>
              </a:spcBef>
              <a:buClr>
                <a:srgbClr val="0047BA"/>
              </a:buClr>
              <a:buSzPct val="65000"/>
            </a:pPr>
            <a:r>
              <a:rPr lang="en-US" spc="-1" dirty="0" smtClean="0">
                <a:solidFill>
                  <a:schemeClr val="tx2"/>
                </a:solidFill>
              </a:rPr>
              <a:t>04_2D_plots/</a:t>
            </a:r>
            <a:r>
              <a:rPr lang="en-US" spc="-1" dirty="0" err="1" smtClean="0">
                <a:solidFill>
                  <a:schemeClr val="tx2"/>
                </a:solidFill>
              </a:rPr>
              <a:t>bar.ipynb</a:t>
            </a:r>
            <a:endParaRPr lang="en-US" spc="-1" dirty="0">
              <a:solidFill>
                <a:schemeClr val="tx2"/>
              </a:solidFill>
            </a:endParaRPr>
          </a:p>
          <a:p>
            <a:pPr marL="182880" indent="-178920">
              <a:spcBef>
                <a:spcPts val="3000"/>
              </a:spcBef>
              <a:buClr>
                <a:srgbClr val="0047BA"/>
              </a:buClr>
              <a:buSzPct val="65000"/>
              <a:buFont typeface="Wingdings" charset="2"/>
              <a:buChar char=""/>
            </a:pPr>
            <a:endParaRPr lang="en-US" b="1" spc="-1" dirty="0" smtClean="0">
              <a:solidFill>
                <a:schemeClr val="tx2"/>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424494385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4"/>
            </a:pPr>
            <a:r>
              <a:rPr lang="en-US" sz="3600" b="1" strike="noStrike" spc="15" dirty="0" smtClean="0">
                <a:solidFill>
                  <a:srgbClr val="0047BA"/>
                </a:solidFill>
                <a:latin typeface="Arial"/>
                <a:ea typeface="DejaVu Sans"/>
              </a:rPr>
              <a:t>2D plots</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56</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169"/>
              </a:spcBef>
              <a:buClr>
                <a:srgbClr val="0047BA"/>
              </a:buClr>
              <a:buSzPct val="65000"/>
              <a:buFont typeface="Wingdings" charset="2"/>
              <a:buChar char=""/>
            </a:pPr>
            <a:r>
              <a:rPr lang="en-US" sz="2400" strike="noStrike" spc="-1" dirty="0" smtClean="0">
                <a:solidFill>
                  <a:srgbClr val="0047BA"/>
                </a:solidFill>
                <a:latin typeface="Arial"/>
                <a:ea typeface="DejaVu Sans"/>
              </a:rPr>
              <a:t>Scatter</a:t>
            </a: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Bar</a:t>
            </a:r>
            <a:endParaRPr lang="en-US" sz="2800" strike="noStrike"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800" b="1" spc="-1" dirty="0" smtClean="0">
                <a:solidFill>
                  <a:srgbClr val="0047BA"/>
                </a:solidFill>
                <a:latin typeface="Arial"/>
                <a:ea typeface="DejaVu Sans"/>
              </a:rPr>
              <a:t>Pie</a:t>
            </a:r>
            <a:endParaRPr lang="en-US" sz="2400" b="1" spc="-1" dirty="0" smtClean="0">
              <a:solidFill>
                <a:srgbClr val="0047BA"/>
              </a:solidFill>
              <a:latin typeface="Arial"/>
              <a:ea typeface="DejaVu Sans"/>
            </a:endParaRPr>
          </a:p>
          <a:p>
            <a:pPr marL="182880" indent="-178920">
              <a:spcBef>
                <a:spcPts val="3169"/>
              </a:spcBef>
              <a:buClr>
                <a:srgbClr val="0047BA"/>
              </a:buClr>
              <a:buSzPct val="65000"/>
              <a:buFont typeface="Wingdings" charset="2"/>
              <a:buChar char=""/>
            </a:pPr>
            <a:r>
              <a:rPr lang="en-US" sz="2400" spc="-1" dirty="0" err="1" smtClean="0">
                <a:solidFill>
                  <a:srgbClr val="0047BA"/>
                </a:solidFill>
              </a:rPr>
              <a:t>Imshow</a:t>
            </a:r>
            <a:endParaRPr lang="en-US" sz="2400" spc="-1" dirty="0" smtClean="0">
              <a:solidFill>
                <a:srgbClr val="0047BA"/>
              </a:solidFill>
            </a:endParaRPr>
          </a:p>
          <a:p>
            <a:pPr marL="182880" indent="-178920">
              <a:spcBef>
                <a:spcPts val="3169"/>
              </a:spcBef>
              <a:buClr>
                <a:srgbClr val="0047BA"/>
              </a:buClr>
              <a:buSzPct val="65000"/>
              <a:buFont typeface="Wingdings" charset="2"/>
              <a:buChar char=""/>
            </a:pPr>
            <a:r>
              <a:rPr lang="en-US" sz="2400" spc="-1" dirty="0">
                <a:solidFill>
                  <a:srgbClr val="0047BA"/>
                </a:solidFill>
              </a:rPr>
              <a:t>Contour</a:t>
            </a:r>
          </a:p>
          <a:p>
            <a:pPr marL="182880" indent="-178920">
              <a:spcBef>
                <a:spcPts val="3169"/>
              </a:spcBef>
              <a:buClr>
                <a:srgbClr val="0047BA"/>
              </a:buClr>
              <a:buSzPct val="65000"/>
              <a:buFont typeface="Wingdings" charset="2"/>
              <a:buChar char=""/>
            </a:pPr>
            <a:endParaRPr lang="en-US" sz="2400" spc="-1" dirty="0">
              <a:solidFill>
                <a:srgbClr val="0047BA"/>
              </a:solidFill>
            </a:endParaRPr>
          </a:p>
          <a:p>
            <a:pPr marL="182880" indent="-178920">
              <a:lnSpc>
                <a:spcPct val="100000"/>
              </a:lnSpc>
              <a:spcBef>
                <a:spcPts val="3169"/>
              </a:spcBef>
              <a:buClr>
                <a:srgbClr val="0047BA"/>
              </a:buClr>
              <a:buSzPct val="65000"/>
              <a:buFont typeface="Wingdings" charset="2"/>
              <a:buChar char=""/>
            </a:pPr>
            <a:endParaRPr lang="en-US" sz="2400"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a:t>A Pie Chart can only display one series of data. Pie charts show the size of items (called wedge) in one data series, proportional to the sum of the items. The data points in a pie chart are shown as a percentage of the whole pie</a:t>
            </a:r>
            <a:r>
              <a:rPr lang="en-US" dirty="0" smtClean="0"/>
              <a:t>.</a:t>
            </a:r>
          </a:p>
          <a:p>
            <a:pPr marL="182880" indent="-178920">
              <a:lnSpc>
                <a:spcPct val="100000"/>
              </a:lnSpc>
              <a:spcBef>
                <a:spcPts val="3000"/>
              </a:spcBef>
              <a:buClr>
                <a:srgbClr val="0047BA"/>
              </a:buClr>
              <a:buSzPct val="65000"/>
              <a:buFont typeface="Wingdings" charset="2"/>
              <a:buChar char=""/>
            </a:pPr>
            <a:r>
              <a:rPr lang="en-US" dirty="0" smtClean="0"/>
              <a:t>Signature of </a:t>
            </a:r>
            <a:r>
              <a:rPr lang="en-US" dirty="0" err="1" smtClean="0"/>
              <a:t>Axes.pie</a:t>
            </a:r>
            <a:r>
              <a:rPr lang="en-US" dirty="0" smtClean="0"/>
              <a:t>() function:</a:t>
            </a:r>
          </a:p>
          <a:p>
            <a:pPr marL="640080" lvl="1" indent="-178920">
              <a:spcBef>
                <a:spcPts val="3000"/>
              </a:spcBef>
              <a:buClr>
                <a:srgbClr val="0047BA"/>
              </a:buClr>
              <a:buSzPct val="65000"/>
              <a:buFont typeface="Wingdings" charset="2"/>
              <a:buChar char=""/>
            </a:pPr>
            <a:r>
              <a:rPr lang="en-US" b="1" dirty="0" smtClean="0">
                <a:solidFill>
                  <a:schemeClr val="tx2"/>
                </a:solidFill>
              </a:rPr>
              <a:t>Axes</a:t>
            </a:r>
            <a:r>
              <a:rPr lang="en-US" b="1" dirty="0">
                <a:solidFill>
                  <a:schemeClr val="tx2"/>
                </a:solidFill>
              </a:rPr>
              <a:t>. </a:t>
            </a:r>
            <a:r>
              <a:rPr lang="en-US" b="1" dirty="0" smtClean="0">
                <a:solidFill>
                  <a:schemeClr val="tx2"/>
                </a:solidFill>
              </a:rPr>
              <a:t>pie(x</a:t>
            </a:r>
            <a:r>
              <a:rPr lang="en-US" b="1" dirty="0">
                <a:solidFill>
                  <a:schemeClr val="tx2"/>
                </a:solidFill>
              </a:rPr>
              <a:t>, </a:t>
            </a:r>
            <a:r>
              <a:rPr lang="en-US" b="1" dirty="0" smtClean="0">
                <a:solidFill>
                  <a:schemeClr val="tx2"/>
                </a:solidFill>
              </a:rPr>
              <a:t>labels, colors, </a:t>
            </a:r>
            <a:r>
              <a:rPr lang="en-US" b="1" dirty="0" err="1" smtClean="0">
                <a:solidFill>
                  <a:schemeClr val="tx2"/>
                </a:solidFill>
              </a:rPr>
              <a:t>autopct</a:t>
            </a:r>
            <a:r>
              <a:rPr lang="en-US" b="1" dirty="0" smtClean="0">
                <a:solidFill>
                  <a:schemeClr val="tx2"/>
                </a:solidFill>
              </a:rPr>
              <a:t>)</a:t>
            </a:r>
          </a:p>
          <a:p>
            <a:pPr marL="461160" lvl="1">
              <a:spcBef>
                <a:spcPts val="3000"/>
              </a:spcBef>
              <a:buClr>
                <a:srgbClr val="0047BA"/>
              </a:buClr>
              <a:buSzPct val="65000"/>
            </a:pPr>
            <a:r>
              <a:rPr lang="en-US" dirty="0" err="1" smtClean="0">
                <a:solidFill>
                  <a:schemeClr val="tx2"/>
                </a:solidFill>
              </a:rPr>
              <a:t>autopct</a:t>
            </a:r>
            <a:r>
              <a:rPr lang="en-US" b="1" dirty="0" smtClean="0">
                <a:solidFill>
                  <a:schemeClr val="tx2"/>
                </a:solidFill>
              </a:rPr>
              <a:t> </a:t>
            </a:r>
            <a:r>
              <a:rPr lang="en-US" dirty="0" smtClean="0"/>
              <a:t>is used </a:t>
            </a:r>
            <a:r>
              <a:rPr lang="en-US" dirty="0"/>
              <a:t>to label the wedges with their numeric value. The label will be placed inside the wedge. The format string will be </a:t>
            </a:r>
            <a:r>
              <a:rPr lang="en-US" dirty="0" err="1"/>
              <a:t>fmt%pct</a:t>
            </a:r>
            <a:r>
              <a:rPr lang="en-US" dirty="0"/>
              <a:t>.</a:t>
            </a:r>
            <a:endParaRPr lang="en-US" b="1" dirty="0" smtClean="0">
              <a:solidFill>
                <a:schemeClr val="tx2"/>
              </a:solidFill>
            </a:endParaRPr>
          </a:p>
          <a:p>
            <a:pPr marL="182880" indent="-178920">
              <a:spcBef>
                <a:spcPts val="3000"/>
              </a:spcBef>
              <a:buClr>
                <a:srgbClr val="0047BA"/>
              </a:buClr>
              <a:buSzPct val="65000"/>
              <a:buFont typeface="Wingdings" charset="2"/>
              <a:buChar char=""/>
            </a:pPr>
            <a:r>
              <a:rPr lang="en-US" b="1" spc="-1" dirty="0" smtClean="0">
                <a:solidFill>
                  <a:schemeClr val="tx2"/>
                </a:solidFill>
              </a:rPr>
              <a:t>Let’s </a:t>
            </a:r>
            <a:r>
              <a:rPr lang="en-US" b="1" spc="-1" dirty="0">
                <a:solidFill>
                  <a:schemeClr val="tx2"/>
                </a:solidFill>
              </a:rPr>
              <a:t>see some examples:</a:t>
            </a:r>
          </a:p>
          <a:p>
            <a:pPr marL="461160" lvl="1">
              <a:spcBef>
                <a:spcPts val="600"/>
              </a:spcBef>
              <a:buClr>
                <a:srgbClr val="0047BA"/>
              </a:buClr>
              <a:buSzPct val="65000"/>
            </a:pPr>
            <a:r>
              <a:rPr lang="en-US" spc="-1" dirty="0" smtClean="0">
                <a:solidFill>
                  <a:schemeClr val="tx2"/>
                </a:solidFill>
              </a:rPr>
              <a:t>04_2D_plots/</a:t>
            </a:r>
            <a:r>
              <a:rPr lang="en-US" spc="-1" dirty="0" err="1" smtClean="0">
                <a:solidFill>
                  <a:schemeClr val="tx2"/>
                </a:solidFill>
              </a:rPr>
              <a:t>pie.ipynb</a:t>
            </a:r>
            <a:endParaRPr lang="en-US" spc="-1" dirty="0">
              <a:solidFill>
                <a:schemeClr val="tx2"/>
              </a:solidFill>
            </a:endParaRPr>
          </a:p>
          <a:p>
            <a:pPr marL="182880" indent="-178920">
              <a:spcBef>
                <a:spcPts val="3000"/>
              </a:spcBef>
              <a:buClr>
                <a:srgbClr val="0047BA"/>
              </a:buClr>
              <a:buSzPct val="65000"/>
              <a:buFont typeface="Wingdings" charset="2"/>
              <a:buChar char=""/>
            </a:pPr>
            <a:endParaRPr lang="en-US" b="1" spc="-1" dirty="0" smtClean="0">
              <a:solidFill>
                <a:schemeClr val="tx2"/>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27438440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4"/>
            </a:pPr>
            <a:r>
              <a:rPr lang="en-US" sz="3600" b="1" strike="noStrike" spc="15" dirty="0" smtClean="0">
                <a:solidFill>
                  <a:srgbClr val="0047BA"/>
                </a:solidFill>
                <a:latin typeface="Arial"/>
                <a:ea typeface="DejaVu Sans"/>
              </a:rPr>
              <a:t>2D plots</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57</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169"/>
              </a:spcBef>
              <a:buClr>
                <a:srgbClr val="0047BA"/>
              </a:buClr>
              <a:buSzPct val="65000"/>
              <a:buFont typeface="Wingdings" charset="2"/>
              <a:buChar char=""/>
            </a:pPr>
            <a:r>
              <a:rPr lang="en-US" sz="2400" strike="noStrike" spc="-1" dirty="0" smtClean="0">
                <a:solidFill>
                  <a:srgbClr val="0047BA"/>
                </a:solidFill>
                <a:latin typeface="Arial"/>
                <a:ea typeface="DejaVu Sans"/>
              </a:rPr>
              <a:t>Scatter</a:t>
            </a: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Bar</a:t>
            </a:r>
            <a:endParaRPr lang="en-US" sz="2800" strike="noStrike"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Pie</a:t>
            </a:r>
          </a:p>
          <a:p>
            <a:pPr marL="182880" indent="-178920">
              <a:spcBef>
                <a:spcPts val="3169"/>
              </a:spcBef>
              <a:buClr>
                <a:srgbClr val="0047BA"/>
              </a:buClr>
              <a:buSzPct val="65000"/>
              <a:buFont typeface="Wingdings" charset="2"/>
              <a:buChar char=""/>
            </a:pPr>
            <a:r>
              <a:rPr lang="en-US" sz="2800" b="1" spc="-1" dirty="0" err="1" smtClean="0">
                <a:solidFill>
                  <a:srgbClr val="0047BA"/>
                </a:solidFill>
              </a:rPr>
              <a:t>Imshow</a:t>
            </a:r>
            <a:endParaRPr lang="en-US" sz="2800" b="1" spc="-1" dirty="0" smtClean="0">
              <a:solidFill>
                <a:srgbClr val="0047BA"/>
              </a:solidFill>
            </a:endParaRPr>
          </a:p>
          <a:p>
            <a:pPr marL="182880" indent="-178920">
              <a:spcBef>
                <a:spcPts val="3169"/>
              </a:spcBef>
              <a:buClr>
                <a:srgbClr val="0047BA"/>
              </a:buClr>
              <a:buSzPct val="65000"/>
              <a:buFont typeface="Wingdings" charset="2"/>
              <a:buChar char=""/>
            </a:pPr>
            <a:r>
              <a:rPr lang="en-US" sz="2400" spc="-1" dirty="0">
                <a:solidFill>
                  <a:srgbClr val="0047BA"/>
                </a:solidFill>
              </a:rPr>
              <a:t>Contour</a:t>
            </a:r>
          </a:p>
          <a:p>
            <a:pPr marL="182880" indent="-178920">
              <a:spcBef>
                <a:spcPts val="3169"/>
              </a:spcBef>
              <a:buClr>
                <a:srgbClr val="0047BA"/>
              </a:buClr>
              <a:buSzPct val="65000"/>
              <a:buFont typeface="Wingdings" charset="2"/>
              <a:buChar char=""/>
            </a:pPr>
            <a:endParaRPr lang="en-US" sz="2400" b="1" spc="-1" dirty="0">
              <a:solidFill>
                <a:srgbClr val="0047BA"/>
              </a:solidFill>
            </a:endParaRPr>
          </a:p>
          <a:p>
            <a:pPr marL="182880" indent="-178920">
              <a:lnSpc>
                <a:spcPct val="100000"/>
              </a:lnSpc>
              <a:spcBef>
                <a:spcPts val="3169"/>
              </a:spcBef>
              <a:buClr>
                <a:srgbClr val="0047BA"/>
              </a:buClr>
              <a:buSzPct val="65000"/>
              <a:buFont typeface="Wingdings" charset="2"/>
              <a:buChar char=""/>
            </a:pPr>
            <a:endParaRPr lang="en-US" sz="2400"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Display </a:t>
            </a:r>
            <a:r>
              <a:rPr lang="en-US" dirty="0"/>
              <a:t>data as an image, i.e., on a 2D regular raster.</a:t>
            </a:r>
            <a:endParaRPr lang="en-US" dirty="0" smtClean="0"/>
          </a:p>
          <a:p>
            <a:pPr marL="182880" indent="-178920">
              <a:lnSpc>
                <a:spcPct val="100000"/>
              </a:lnSpc>
              <a:spcBef>
                <a:spcPts val="3000"/>
              </a:spcBef>
              <a:buClr>
                <a:srgbClr val="0047BA"/>
              </a:buClr>
              <a:buSzPct val="65000"/>
              <a:buFont typeface="Wingdings" charset="2"/>
              <a:buChar char=""/>
            </a:pPr>
            <a:r>
              <a:rPr lang="en-US" dirty="0"/>
              <a:t>The input may either be actual RGB(A) data, or 2D scalar data, which will be rendered as a </a:t>
            </a:r>
            <a:r>
              <a:rPr lang="en-US" dirty="0" err="1"/>
              <a:t>pseudocolor</a:t>
            </a:r>
            <a:r>
              <a:rPr lang="en-US" dirty="0"/>
              <a:t> image. </a:t>
            </a:r>
            <a:endParaRPr lang="en-US" dirty="0" smtClean="0"/>
          </a:p>
          <a:p>
            <a:pPr marL="182880" indent="-178920">
              <a:lnSpc>
                <a:spcPct val="100000"/>
              </a:lnSpc>
              <a:spcBef>
                <a:spcPts val="3000"/>
              </a:spcBef>
              <a:buClr>
                <a:srgbClr val="0047BA"/>
              </a:buClr>
              <a:buSzPct val="65000"/>
              <a:buFont typeface="Wingdings" charset="2"/>
              <a:buChar char=""/>
            </a:pPr>
            <a:r>
              <a:rPr lang="en-US" dirty="0" smtClean="0"/>
              <a:t>For </a:t>
            </a:r>
            <a:r>
              <a:rPr lang="en-US" dirty="0"/>
              <a:t>displaying a grayscale image set up the color mapping using the parameters </a:t>
            </a:r>
            <a:r>
              <a:rPr lang="en-US" dirty="0" err="1"/>
              <a:t>cmap</a:t>
            </a:r>
            <a:r>
              <a:rPr lang="en-US" dirty="0"/>
              <a:t>='gray', </a:t>
            </a:r>
            <a:r>
              <a:rPr lang="en-US" dirty="0" err="1"/>
              <a:t>vmin</a:t>
            </a:r>
            <a:r>
              <a:rPr lang="en-US" dirty="0"/>
              <a:t>=0, </a:t>
            </a:r>
            <a:r>
              <a:rPr lang="en-US" dirty="0" err="1"/>
              <a:t>vmax</a:t>
            </a:r>
            <a:r>
              <a:rPr lang="en-US" dirty="0"/>
              <a:t>=255.</a:t>
            </a:r>
            <a:endParaRPr lang="en-US" dirty="0" smtClean="0"/>
          </a:p>
          <a:p>
            <a:pPr marL="640080" lvl="1" indent="-178920">
              <a:spcBef>
                <a:spcPts val="3000"/>
              </a:spcBef>
              <a:buClr>
                <a:srgbClr val="0047BA"/>
              </a:buClr>
              <a:buSzPct val="65000"/>
              <a:buFont typeface="Wingdings" charset="2"/>
              <a:buChar char=""/>
            </a:pPr>
            <a:r>
              <a:rPr lang="en-US" b="1" dirty="0" smtClean="0">
                <a:solidFill>
                  <a:schemeClr val="tx2"/>
                </a:solidFill>
              </a:rPr>
              <a:t>Axes</a:t>
            </a:r>
            <a:r>
              <a:rPr lang="en-US" b="1" dirty="0">
                <a:solidFill>
                  <a:schemeClr val="tx2"/>
                </a:solidFill>
              </a:rPr>
              <a:t>. </a:t>
            </a:r>
            <a:r>
              <a:rPr lang="en-US" b="1" dirty="0" err="1" smtClean="0">
                <a:solidFill>
                  <a:schemeClr val="tx2"/>
                </a:solidFill>
              </a:rPr>
              <a:t>imshow</a:t>
            </a:r>
            <a:r>
              <a:rPr lang="en-US" b="1" dirty="0" smtClean="0">
                <a:solidFill>
                  <a:schemeClr val="tx2"/>
                </a:solidFill>
              </a:rPr>
              <a:t>(x</a:t>
            </a:r>
            <a:r>
              <a:rPr lang="en-US" b="1" dirty="0">
                <a:solidFill>
                  <a:schemeClr val="tx2"/>
                </a:solidFill>
              </a:rPr>
              <a:t>, </a:t>
            </a:r>
            <a:r>
              <a:rPr lang="en-US" b="1" dirty="0" err="1" smtClean="0">
                <a:solidFill>
                  <a:schemeClr val="tx2"/>
                </a:solidFill>
              </a:rPr>
              <a:t>cmap</a:t>
            </a:r>
            <a:r>
              <a:rPr lang="en-US" b="1" dirty="0" smtClean="0">
                <a:solidFill>
                  <a:schemeClr val="tx2"/>
                </a:solidFill>
              </a:rPr>
              <a:t>, </a:t>
            </a:r>
            <a:r>
              <a:rPr lang="en-US" b="1" dirty="0" err="1" smtClean="0">
                <a:solidFill>
                  <a:schemeClr val="tx2"/>
                </a:solidFill>
              </a:rPr>
              <a:t>vmin</a:t>
            </a:r>
            <a:r>
              <a:rPr lang="en-US" b="1" dirty="0" smtClean="0">
                <a:solidFill>
                  <a:schemeClr val="tx2"/>
                </a:solidFill>
              </a:rPr>
              <a:t>, </a:t>
            </a:r>
            <a:r>
              <a:rPr lang="en-US" b="1" dirty="0" err="1" smtClean="0">
                <a:solidFill>
                  <a:schemeClr val="tx2"/>
                </a:solidFill>
              </a:rPr>
              <a:t>vmax</a:t>
            </a:r>
            <a:r>
              <a:rPr lang="en-US" b="1" dirty="0" smtClean="0">
                <a:solidFill>
                  <a:schemeClr val="tx2"/>
                </a:solidFill>
              </a:rPr>
              <a:t>)</a:t>
            </a:r>
          </a:p>
          <a:p>
            <a:pPr marL="182880" indent="-178920">
              <a:spcBef>
                <a:spcPts val="3000"/>
              </a:spcBef>
              <a:buClr>
                <a:srgbClr val="0047BA"/>
              </a:buClr>
              <a:buSzPct val="65000"/>
              <a:buFont typeface="Wingdings" charset="2"/>
              <a:buChar char=""/>
            </a:pPr>
            <a:r>
              <a:rPr lang="en-US" b="1" spc="-1" dirty="0" smtClean="0">
                <a:solidFill>
                  <a:schemeClr val="tx2"/>
                </a:solidFill>
              </a:rPr>
              <a:t>Let’s </a:t>
            </a:r>
            <a:r>
              <a:rPr lang="en-US" b="1" spc="-1" dirty="0">
                <a:solidFill>
                  <a:schemeClr val="tx2"/>
                </a:solidFill>
              </a:rPr>
              <a:t>see some examples:</a:t>
            </a:r>
          </a:p>
          <a:p>
            <a:pPr marL="461160" lvl="1">
              <a:spcBef>
                <a:spcPts val="600"/>
              </a:spcBef>
              <a:buClr>
                <a:srgbClr val="0047BA"/>
              </a:buClr>
              <a:buSzPct val="65000"/>
            </a:pPr>
            <a:r>
              <a:rPr lang="en-US" spc="-1" dirty="0" smtClean="0">
                <a:solidFill>
                  <a:schemeClr val="tx2"/>
                </a:solidFill>
              </a:rPr>
              <a:t>04_2D_plots/</a:t>
            </a:r>
            <a:r>
              <a:rPr lang="en-US" spc="-1" dirty="0" err="1" smtClean="0">
                <a:solidFill>
                  <a:schemeClr val="tx2"/>
                </a:solidFill>
              </a:rPr>
              <a:t>imshow.ipynb</a:t>
            </a:r>
            <a:endParaRPr lang="en-US" spc="-1" dirty="0">
              <a:solidFill>
                <a:schemeClr val="tx2"/>
              </a:solidFill>
            </a:endParaRPr>
          </a:p>
          <a:p>
            <a:pPr marL="182880" indent="-178920">
              <a:spcBef>
                <a:spcPts val="3000"/>
              </a:spcBef>
              <a:buClr>
                <a:srgbClr val="0047BA"/>
              </a:buClr>
              <a:buSzPct val="65000"/>
              <a:buFont typeface="Wingdings" charset="2"/>
              <a:buChar char=""/>
            </a:pPr>
            <a:endParaRPr lang="en-US" b="1" spc="-1" dirty="0" smtClean="0">
              <a:solidFill>
                <a:schemeClr val="tx2"/>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145470185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4"/>
            </a:pPr>
            <a:r>
              <a:rPr lang="en-US" sz="3600" b="1" strike="noStrike" spc="15" dirty="0" smtClean="0">
                <a:solidFill>
                  <a:srgbClr val="0047BA"/>
                </a:solidFill>
                <a:latin typeface="Arial"/>
                <a:ea typeface="DejaVu Sans"/>
              </a:rPr>
              <a:t>2D plots</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58</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169"/>
              </a:spcBef>
              <a:buClr>
                <a:srgbClr val="0047BA"/>
              </a:buClr>
              <a:buSzPct val="65000"/>
              <a:buFont typeface="Wingdings" charset="2"/>
              <a:buChar char=""/>
            </a:pPr>
            <a:r>
              <a:rPr lang="en-US" sz="2400" strike="noStrike" spc="-1" dirty="0" smtClean="0">
                <a:solidFill>
                  <a:srgbClr val="0047BA"/>
                </a:solidFill>
                <a:latin typeface="Arial"/>
                <a:ea typeface="DejaVu Sans"/>
              </a:rPr>
              <a:t>Scatter</a:t>
            </a: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Bar</a:t>
            </a:r>
            <a:endParaRPr lang="en-US" sz="2800" strike="noStrike"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Pie</a:t>
            </a:r>
          </a:p>
          <a:p>
            <a:pPr marL="182880" indent="-178920">
              <a:spcBef>
                <a:spcPts val="3169"/>
              </a:spcBef>
              <a:buClr>
                <a:srgbClr val="0047BA"/>
              </a:buClr>
              <a:buSzPct val="65000"/>
              <a:buFont typeface="Wingdings" charset="2"/>
              <a:buChar char=""/>
            </a:pPr>
            <a:r>
              <a:rPr lang="en-US" sz="2400" spc="-1" dirty="0" err="1" smtClean="0">
                <a:solidFill>
                  <a:srgbClr val="0047BA"/>
                </a:solidFill>
              </a:rPr>
              <a:t>Imshow</a:t>
            </a:r>
            <a:endParaRPr lang="en-US" sz="2800" spc="-1" dirty="0" smtClean="0">
              <a:solidFill>
                <a:srgbClr val="0047BA"/>
              </a:solidFill>
            </a:endParaRPr>
          </a:p>
          <a:p>
            <a:pPr marL="182880" indent="-178920">
              <a:spcBef>
                <a:spcPts val="3169"/>
              </a:spcBef>
              <a:buClr>
                <a:srgbClr val="0047BA"/>
              </a:buClr>
              <a:buSzPct val="65000"/>
              <a:buFont typeface="Wingdings" charset="2"/>
              <a:buChar char=""/>
            </a:pPr>
            <a:r>
              <a:rPr lang="en-US" sz="2800" b="1" spc="-1" dirty="0">
                <a:solidFill>
                  <a:srgbClr val="0047BA"/>
                </a:solidFill>
              </a:rPr>
              <a:t>Contour</a:t>
            </a:r>
            <a:endParaRPr lang="en-US" sz="2400" b="1" spc="-1" dirty="0">
              <a:solidFill>
                <a:srgbClr val="0047BA"/>
              </a:solidFill>
            </a:endParaRPr>
          </a:p>
          <a:p>
            <a:pPr marL="182880" indent="-178920">
              <a:spcBef>
                <a:spcPts val="3169"/>
              </a:spcBef>
              <a:buClr>
                <a:srgbClr val="0047BA"/>
              </a:buClr>
              <a:buSzPct val="65000"/>
              <a:buFont typeface="Wingdings" charset="2"/>
              <a:buChar char=""/>
            </a:pPr>
            <a:endParaRPr lang="en-US" sz="2400" b="1" spc="-1" dirty="0">
              <a:solidFill>
                <a:srgbClr val="0047BA"/>
              </a:solidFill>
            </a:endParaRPr>
          </a:p>
          <a:p>
            <a:pPr marL="182880" indent="-178920">
              <a:lnSpc>
                <a:spcPct val="100000"/>
              </a:lnSpc>
              <a:spcBef>
                <a:spcPts val="3169"/>
              </a:spcBef>
              <a:buClr>
                <a:srgbClr val="0047BA"/>
              </a:buClr>
              <a:buSzPct val="65000"/>
              <a:buFont typeface="Wingdings" charset="2"/>
              <a:buChar char=""/>
            </a:pPr>
            <a:endParaRPr lang="en-US" sz="2400"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Contour </a:t>
            </a:r>
            <a:r>
              <a:rPr lang="en-US" dirty="0"/>
              <a:t>plots (sometimes called Level Plots) are a way to show a three-dimensional surface on a two-dimensional plane. </a:t>
            </a:r>
            <a:endParaRPr lang="en-US" dirty="0" smtClean="0"/>
          </a:p>
          <a:p>
            <a:pPr marL="182880" indent="-178920">
              <a:lnSpc>
                <a:spcPct val="100000"/>
              </a:lnSpc>
              <a:spcBef>
                <a:spcPts val="3000"/>
              </a:spcBef>
              <a:buClr>
                <a:srgbClr val="0047BA"/>
              </a:buClr>
              <a:buSzPct val="65000"/>
              <a:buFont typeface="Wingdings" charset="2"/>
              <a:buChar char=""/>
            </a:pPr>
            <a:r>
              <a:rPr lang="en-US" dirty="0" smtClean="0"/>
              <a:t>It </a:t>
            </a:r>
            <a:r>
              <a:rPr lang="en-US" dirty="0"/>
              <a:t>graphs two predictor variables X Y on the y-axis and a response variable Z as contours. These contours are sometimes called the z-slices or the </a:t>
            </a:r>
            <a:r>
              <a:rPr lang="en-US" dirty="0" err="1"/>
              <a:t>iso</a:t>
            </a:r>
            <a:r>
              <a:rPr lang="en-US" dirty="0"/>
              <a:t>-response values</a:t>
            </a:r>
            <a:r>
              <a:rPr lang="en-US" dirty="0" smtClean="0"/>
              <a:t>.</a:t>
            </a:r>
          </a:p>
          <a:p>
            <a:pPr marL="640080" lvl="1" indent="-178920">
              <a:spcBef>
                <a:spcPts val="3000"/>
              </a:spcBef>
              <a:buClr>
                <a:srgbClr val="0047BA"/>
              </a:buClr>
              <a:buSzPct val="65000"/>
              <a:buFont typeface="Wingdings" charset="2"/>
              <a:buChar char=""/>
            </a:pPr>
            <a:r>
              <a:rPr lang="en-US" b="1" dirty="0" err="1" smtClean="0">
                <a:solidFill>
                  <a:schemeClr val="tx2"/>
                </a:solidFill>
              </a:rPr>
              <a:t>Axes.contour</a:t>
            </a:r>
            <a:r>
              <a:rPr lang="en-US" b="1" dirty="0" smtClean="0">
                <a:solidFill>
                  <a:schemeClr val="tx2"/>
                </a:solidFill>
              </a:rPr>
              <a:t>(x, </a:t>
            </a:r>
            <a:r>
              <a:rPr lang="en-US" b="1" dirty="0">
                <a:solidFill>
                  <a:schemeClr val="tx2"/>
                </a:solidFill>
              </a:rPr>
              <a:t>y</a:t>
            </a:r>
            <a:r>
              <a:rPr lang="en-US" b="1" dirty="0" smtClean="0">
                <a:solidFill>
                  <a:schemeClr val="tx2"/>
                </a:solidFill>
              </a:rPr>
              <a:t>, z, levels)</a:t>
            </a:r>
          </a:p>
          <a:p>
            <a:pPr marL="640080" lvl="1" indent="-178920">
              <a:spcBef>
                <a:spcPts val="3000"/>
              </a:spcBef>
              <a:buClr>
                <a:srgbClr val="0047BA"/>
              </a:buClr>
              <a:buSzPct val="65000"/>
              <a:buFont typeface="Wingdings" charset="2"/>
              <a:buChar char=""/>
            </a:pPr>
            <a:r>
              <a:rPr lang="en-US" b="1" dirty="0" err="1">
                <a:solidFill>
                  <a:schemeClr val="tx2"/>
                </a:solidFill>
              </a:rPr>
              <a:t>Axes.contourf</a:t>
            </a:r>
            <a:r>
              <a:rPr lang="en-US" b="1" dirty="0">
                <a:solidFill>
                  <a:schemeClr val="tx2"/>
                </a:solidFill>
              </a:rPr>
              <a:t>(x, y, z</a:t>
            </a:r>
            <a:r>
              <a:rPr lang="en-US" b="1" dirty="0" smtClean="0">
                <a:solidFill>
                  <a:schemeClr val="tx2"/>
                </a:solidFill>
              </a:rPr>
              <a:t>, levels)</a:t>
            </a:r>
            <a:endParaRPr lang="en-US" b="1" dirty="0">
              <a:solidFill>
                <a:schemeClr val="tx2"/>
              </a:solidFill>
            </a:endParaRPr>
          </a:p>
          <a:p>
            <a:pPr marL="182880" indent="-178920">
              <a:lnSpc>
                <a:spcPct val="100000"/>
              </a:lnSpc>
              <a:spcBef>
                <a:spcPts val="3000"/>
              </a:spcBef>
              <a:buClr>
                <a:srgbClr val="0047BA"/>
              </a:buClr>
              <a:buSzPct val="65000"/>
              <a:buFont typeface="Wingdings" charset="2"/>
              <a:buChar char=""/>
            </a:pPr>
            <a:r>
              <a:rPr lang="en-US" b="1" spc="-1" dirty="0" smtClean="0">
                <a:solidFill>
                  <a:schemeClr val="tx2"/>
                </a:solidFill>
              </a:rPr>
              <a:t>Let’s </a:t>
            </a:r>
            <a:r>
              <a:rPr lang="en-US" b="1" spc="-1" dirty="0">
                <a:solidFill>
                  <a:schemeClr val="tx2"/>
                </a:solidFill>
              </a:rPr>
              <a:t>see some examples:</a:t>
            </a:r>
          </a:p>
          <a:p>
            <a:pPr marL="461160" lvl="1">
              <a:spcBef>
                <a:spcPts val="600"/>
              </a:spcBef>
              <a:buClr>
                <a:srgbClr val="0047BA"/>
              </a:buClr>
              <a:buSzPct val="65000"/>
            </a:pPr>
            <a:r>
              <a:rPr lang="en-US" spc="-1" dirty="0" smtClean="0">
                <a:solidFill>
                  <a:schemeClr val="tx2"/>
                </a:solidFill>
              </a:rPr>
              <a:t>04_2D_plots/</a:t>
            </a:r>
            <a:r>
              <a:rPr lang="en-US" spc="-1" dirty="0" err="1" smtClean="0">
                <a:solidFill>
                  <a:schemeClr val="tx2"/>
                </a:solidFill>
              </a:rPr>
              <a:t>contour.ipynb</a:t>
            </a:r>
            <a:endParaRPr lang="en-US" spc="-1" dirty="0">
              <a:solidFill>
                <a:schemeClr val="tx2"/>
              </a:solidFill>
            </a:endParaRPr>
          </a:p>
          <a:p>
            <a:pPr marL="182880" indent="-178920">
              <a:spcBef>
                <a:spcPts val="3000"/>
              </a:spcBef>
              <a:buClr>
                <a:srgbClr val="0047BA"/>
              </a:buClr>
              <a:buSzPct val="65000"/>
              <a:buFont typeface="Wingdings" charset="2"/>
              <a:buChar char=""/>
            </a:pPr>
            <a:endParaRPr lang="en-US" b="1" spc="-1" dirty="0" smtClean="0">
              <a:solidFill>
                <a:schemeClr val="tx2"/>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25025972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5"/>
            </a:pPr>
            <a:r>
              <a:rPr lang="en-US" sz="3600" b="1" strike="noStrike" spc="15" dirty="0" smtClean="0">
                <a:solidFill>
                  <a:srgbClr val="0047BA"/>
                </a:solidFill>
                <a:latin typeface="Arial"/>
                <a:ea typeface="DejaVu Sans"/>
              </a:rPr>
              <a:t>3D plots</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59</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169"/>
              </a:spcBef>
              <a:buClr>
                <a:srgbClr val="0047BA"/>
              </a:buClr>
              <a:buSzPct val="65000"/>
              <a:buFont typeface="Wingdings" charset="2"/>
              <a:buChar char=""/>
            </a:pPr>
            <a:r>
              <a:rPr lang="en-US" sz="2800" b="1" strike="noStrike" spc="-1" dirty="0" smtClean="0">
                <a:solidFill>
                  <a:srgbClr val="0047BA"/>
                </a:solidFill>
                <a:latin typeface="Arial"/>
                <a:ea typeface="DejaVu Sans"/>
              </a:rPr>
              <a:t>Contour</a:t>
            </a: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Wireframe</a:t>
            </a:r>
            <a:endParaRPr lang="en-US" sz="2400" strike="noStrike"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Surface</a:t>
            </a:r>
          </a:p>
          <a:p>
            <a:pPr marL="182880" indent="-178920">
              <a:lnSpc>
                <a:spcPct val="100000"/>
              </a:lnSpc>
              <a:spcBef>
                <a:spcPts val="3169"/>
              </a:spcBef>
              <a:buClr>
                <a:srgbClr val="0047BA"/>
              </a:buClr>
              <a:buSzPct val="65000"/>
              <a:buFont typeface="Wingdings" charset="2"/>
              <a:buChar char=""/>
            </a:pPr>
            <a:endParaRPr lang="en-US" sz="2400"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The</a:t>
            </a:r>
            <a:r>
              <a:rPr lang="en-US" dirty="0"/>
              <a:t> </a:t>
            </a:r>
            <a:r>
              <a:rPr lang="en-US" b="1" dirty="0" smtClean="0">
                <a:solidFill>
                  <a:schemeClr val="tx2"/>
                </a:solidFill>
              </a:rPr>
              <a:t>Axes3D.contour3D</a:t>
            </a:r>
            <a:r>
              <a:rPr lang="en-US" b="1" dirty="0">
                <a:solidFill>
                  <a:schemeClr val="tx2"/>
                </a:solidFill>
              </a:rPr>
              <a:t>()</a:t>
            </a:r>
            <a:r>
              <a:rPr lang="en-US" dirty="0"/>
              <a:t> function creates three-dimensional contour plot. It requires all the input data to be in the form of two-dimensional regular grids, with the Z-data evaluated at each point. </a:t>
            </a:r>
            <a:endParaRPr lang="en-US" dirty="0" smtClean="0"/>
          </a:p>
          <a:p>
            <a:pPr marL="182880" indent="-178920">
              <a:lnSpc>
                <a:spcPct val="100000"/>
              </a:lnSpc>
              <a:spcBef>
                <a:spcPts val="3000"/>
              </a:spcBef>
              <a:buClr>
                <a:srgbClr val="0047BA"/>
              </a:buClr>
              <a:buSzPct val="65000"/>
              <a:buFont typeface="Wingdings" charset="2"/>
              <a:buChar char=""/>
            </a:pPr>
            <a:r>
              <a:rPr lang="en-US" dirty="0" smtClean="0"/>
              <a:t>Axes object need to be 3D (</a:t>
            </a:r>
            <a:r>
              <a:rPr lang="en-US" dirty="0" smtClean="0">
                <a:solidFill>
                  <a:schemeClr val="tx2"/>
                </a:solidFill>
                <a:latin typeface="Courier New" panose="02070309020205020404" pitchFamily="49" charset="0"/>
                <a:cs typeface="Courier New" panose="02070309020205020404" pitchFamily="49" charset="0"/>
              </a:rPr>
              <a:t>projection=‘3d’</a:t>
            </a:r>
            <a:r>
              <a:rPr lang="en-US" dirty="0" smtClean="0"/>
              <a:t>)</a:t>
            </a:r>
          </a:p>
          <a:p>
            <a:pPr marL="640080" lvl="1" indent="-178920">
              <a:spcBef>
                <a:spcPts val="3000"/>
              </a:spcBef>
              <a:buClr>
                <a:srgbClr val="0047BA"/>
              </a:buClr>
              <a:buSzPct val="65000"/>
              <a:buFont typeface="Wingdings" charset="2"/>
              <a:buChar char=""/>
            </a:pPr>
            <a:r>
              <a:rPr lang="en-US" b="1" dirty="0" smtClean="0">
                <a:solidFill>
                  <a:schemeClr val="tx2"/>
                </a:solidFill>
              </a:rPr>
              <a:t>Axes3D.contour3D(x</a:t>
            </a:r>
            <a:r>
              <a:rPr lang="en-US" b="1" dirty="0">
                <a:solidFill>
                  <a:schemeClr val="tx2"/>
                </a:solidFill>
              </a:rPr>
              <a:t>, y, z, levels)</a:t>
            </a:r>
          </a:p>
          <a:p>
            <a:pPr marL="182880" indent="-178920">
              <a:lnSpc>
                <a:spcPct val="100000"/>
              </a:lnSpc>
              <a:spcBef>
                <a:spcPts val="3000"/>
              </a:spcBef>
              <a:buClr>
                <a:srgbClr val="0047BA"/>
              </a:buClr>
              <a:buSzPct val="65000"/>
              <a:buFont typeface="Wingdings" charset="2"/>
              <a:buChar char=""/>
            </a:pPr>
            <a:r>
              <a:rPr lang="en-US" b="1" spc="-1" dirty="0" smtClean="0">
                <a:solidFill>
                  <a:schemeClr val="tx2"/>
                </a:solidFill>
              </a:rPr>
              <a:t>Let’s </a:t>
            </a:r>
            <a:r>
              <a:rPr lang="en-US" b="1" spc="-1" dirty="0">
                <a:solidFill>
                  <a:schemeClr val="tx2"/>
                </a:solidFill>
              </a:rPr>
              <a:t>see some examples:</a:t>
            </a:r>
          </a:p>
          <a:p>
            <a:pPr marL="461160" lvl="1">
              <a:spcBef>
                <a:spcPts val="600"/>
              </a:spcBef>
              <a:buClr>
                <a:srgbClr val="0047BA"/>
              </a:buClr>
              <a:buSzPct val="65000"/>
            </a:pPr>
            <a:r>
              <a:rPr lang="en-US" spc="-1" dirty="0" smtClean="0">
                <a:solidFill>
                  <a:schemeClr val="tx2"/>
                </a:solidFill>
              </a:rPr>
              <a:t>05_3D_plots/</a:t>
            </a:r>
            <a:r>
              <a:rPr lang="en-US" spc="-1" dirty="0" err="1" smtClean="0">
                <a:solidFill>
                  <a:schemeClr val="tx2"/>
                </a:solidFill>
              </a:rPr>
              <a:t>contour.ipynb</a:t>
            </a:r>
            <a:endParaRPr lang="en-US" spc="-1" dirty="0">
              <a:solidFill>
                <a:schemeClr val="tx2"/>
              </a:solidFill>
            </a:endParaRPr>
          </a:p>
          <a:p>
            <a:pPr marL="3960" lvl="0">
              <a:spcBef>
                <a:spcPts val="3169"/>
              </a:spcBef>
              <a:buClr>
                <a:srgbClr val="0047BA"/>
              </a:buClr>
              <a:buSzPct val="65000"/>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78757149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5"/>
            </a:pPr>
            <a:r>
              <a:rPr lang="en-US" sz="3600" b="1" strike="noStrike" spc="15" dirty="0" smtClean="0">
                <a:solidFill>
                  <a:srgbClr val="0047BA"/>
                </a:solidFill>
                <a:latin typeface="Arial"/>
                <a:ea typeface="DejaVu Sans"/>
              </a:rPr>
              <a:t>3D plots</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60</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169"/>
              </a:spcBef>
              <a:buClr>
                <a:srgbClr val="0047BA"/>
              </a:buClr>
              <a:buSzPct val="65000"/>
              <a:buFont typeface="Wingdings" charset="2"/>
              <a:buChar char=""/>
            </a:pPr>
            <a:r>
              <a:rPr lang="en-US" sz="2400" strike="noStrike" spc="-1" dirty="0" smtClean="0">
                <a:solidFill>
                  <a:srgbClr val="0047BA"/>
                </a:solidFill>
                <a:latin typeface="Arial"/>
                <a:ea typeface="DejaVu Sans"/>
              </a:rPr>
              <a:t>Contour</a:t>
            </a:r>
            <a:endParaRPr lang="en-US" sz="2800" strike="noStrike"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800" b="1" spc="-1" dirty="0" smtClean="0">
                <a:solidFill>
                  <a:srgbClr val="0047BA"/>
                </a:solidFill>
                <a:latin typeface="Arial"/>
                <a:ea typeface="DejaVu Sans"/>
              </a:rPr>
              <a:t>Wireframe</a:t>
            </a:r>
            <a:endParaRPr lang="en-US" sz="2400" b="1" strike="noStrike"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Surface</a:t>
            </a:r>
          </a:p>
          <a:p>
            <a:pPr marL="182880" indent="-178920">
              <a:lnSpc>
                <a:spcPct val="100000"/>
              </a:lnSpc>
              <a:spcBef>
                <a:spcPts val="3169"/>
              </a:spcBef>
              <a:buClr>
                <a:srgbClr val="0047BA"/>
              </a:buClr>
              <a:buSzPct val="65000"/>
              <a:buFont typeface="Wingdings" charset="2"/>
              <a:buChar char=""/>
            </a:pPr>
            <a:endParaRPr lang="en-US" sz="2400"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smtClean="0"/>
              <a:t>Wireframe </a:t>
            </a:r>
            <a:r>
              <a:rPr lang="en-US" dirty="0"/>
              <a:t>plot takes a grid of values and projects it onto the specified three-dimensional surface, and can make the resulting three-dimensional forms quite easy to visualize. The </a:t>
            </a:r>
            <a:r>
              <a:rPr lang="en-US" b="1" dirty="0" smtClean="0">
                <a:solidFill>
                  <a:schemeClr val="tx2"/>
                </a:solidFill>
              </a:rPr>
              <a:t>Axes3D.plot_wireframe</a:t>
            </a:r>
            <a:r>
              <a:rPr lang="en-US" b="1" dirty="0">
                <a:solidFill>
                  <a:schemeClr val="tx2"/>
                </a:solidFill>
              </a:rPr>
              <a:t>()</a:t>
            </a:r>
            <a:r>
              <a:rPr lang="en-US" dirty="0"/>
              <a:t> function is used for the </a:t>
            </a:r>
            <a:r>
              <a:rPr lang="en-US" dirty="0" smtClean="0"/>
              <a:t>purpose.</a:t>
            </a:r>
          </a:p>
          <a:p>
            <a:pPr marL="182880" indent="-178920">
              <a:lnSpc>
                <a:spcPct val="100000"/>
              </a:lnSpc>
              <a:spcBef>
                <a:spcPts val="3000"/>
              </a:spcBef>
              <a:buClr>
                <a:srgbClr val="0047BA"/>
              </a:buClr>
              <a:buSzPct val="65000"/>
              <a:buFont typeface="Wingdings" charset="2"/>
              <a:buChar char=""/>
            </a:pPr>
            <a:r>
              <a:rPr lang="en-US" dirty="0" smtClean="0"/>
              <a:t>Axes </a:t>
            </a:r>
            <a:r>
              <a:rPr lang="en-US" dirty="0"/>
              <a:t>object need to be 3D</a:t>
            </a:r>
            <a:r>
              <a:rPr lang="en-US" dirty="0" smtClean="0"/>
              <a:t>. </a:t>
            </a:r>
            <a:r>
              <a:rPr lang="en-US" dirty="0"/>
              <a:t>(</a:t>
            </a:r>
            <a:r>
              <a:rPr lang="en-US" dirty="0">
                <a:solidFill>
                  <a:schemeClr val="tx2"/>
                </a:solidFill>
                <a:latin typeface="Courier New" panose="02070309020205020404" pitchFamily="49" charset="0"/>
                <a:cs typeface="Courier New" panose="02070309020205020404" pitchFamily="49" charset="0"/>
              </a:rPr>
              <a:t>projection=‘3d’</a:t>
            </a:r>
            <a:r>
              <a:rPr lang="en-US" dirty="0"/>
              <a:t>)</a:t>
            </a:r>
          </a:p>
          <a:p>
            <a:pPr marL="640080" lvl="1" indent="-178920">
              <a:spcBef>
                <a:spcPts val="3000"/>
              </a:spcBef>
              <a:buClr>
                <a:srgbClr val="0047BA"/>
              </a:buClr>
              <a:buSzPct val="65000"/>
              <a:buFont typeface="Wingdings" charset="2"/>
              <a:buChar char=""/>
            </a:pPr>
            <a:r>
              <a:rPr lang="en-US" b="1" dirty="0" smtClean="0">
                <a:solidFill>
                  <a:schemeClr val="tx2"/>
                </a:solidFill>
              </a:rPr>
              <a:t>Axes3D.plot_wireframe(x</a:t>
            </a:r>
            <a:r>
              <a:rPr lang="en-US" b="1" dirty="0">
                <a:solidFill>
                  <a:schemeClr val="tx2"/>
                </a:solidFill>
              </a:rPr>
              <a:t>, y, z, </a:t>
            </a:r>
            <a:r>
              <a:rPr lang="en-US" b="1" dirty="0" err="1" smtClean="0">
                <a:solidFill>
                  <a:schemeClr val="tx2"/>
                </a:solidFill>
              </a:rPr>
              <a:t>rstride</a:t>
            </a:r>
            <a:r>
              <a:rPr lang="en-US" b="1" dirty="0" smtClean="0">
                <a:solidFill>
                  <a:schemeClr val="tx2"/>
                </a:solidFill>
              </a:rPr>
              <a:t>, </a:t>
            </a:r>
            <a:r>
              <a:rPr lang="en-US" b="1" dirty="0" err="1" smtClean="0">
                <a:solidFill>
                  <a:schemeClr val="tx2"/>
                </a:solidFill>
              </a:rPr>
              <a:t>cstride</a:t>
            </a:r>
            <a:r>
              <a:rPr lang="en-US" b="1" dirty="0" smtClean="0">
                <a:solidFill>
                  <a:schemeClr val="tx2"/>
                </a:solidFill>
              </a:rPr>
              <a:t>)</a:t>
            </a:r>
            <a:endParaRPr lang="en-US" b="1" dirty="0">
              <a:solidFill>
                <a:schemeClr val="tx2"/>
              </a:solidFill>
            </a:endParaRPr>
          </a:p>
          <a:p>
            <a:pPr marL="182880" indent="-178920">
              <a:lnSpc>
                <a:spcPct val="100000"/>
              </a:lnSpc>
              <a:spcBef>
                <a:spcPts val="3000"/>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05_3D_plots/</a:t>
            </a:r>
            <a:r>
              <a:rPr lang="en-US" spc="-1" dirty="0" err="1" smtClean="0">
                <a:solidFill>
                  <a:schemeClr val="tx2"/>
                </a:solidFill>
              </a:rPr>
              <a:t>wireframe.ipynb</a:t>
            </a:r>
            <a:endParaRPr lang="en-US" spc="-1" dirty="0">
              <a:solidFill>
                <a:schemeClr val="tx2"/>
              </a:solidFill>
            </a:endParaRPr>
          </a:p>
          <a:p>
            <a:pPr marL="3960" lvl="0">
              <a:spcBef>
                <a:spcPts val="3169"/>
              </a:spcBef>
              <a:buClr>
                <a:srgbClr val="0047BA"/>
              </a:buClr>
              <a:buSzPct val="65000"/>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2343686784"/>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5"/>
            </a:pPr>
            <a:r>
              <a:rPr lang="en-US" sz="3600" b="1" strike="noStrike" spc="15" dirty="0" smtClean="0">
                <a:solidFill>
                  <a:srgbClr val="0047BA"/>
                </a:solidFill>
                <a:latin typeface="Arial"/>
                <a:ea typeface="DejaVu Sans"/>
              </a:rPr>
              <a:t>3D plots</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61</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169"/>
              </a:spcBef>
              <a:buClr>
                <a:srgbClr val="0047BA"/>
              </a:buClr>
              <a:buSzPct val="65000"/>
              <a:buFont typeface="Wingdings" charset="2"/>
              <a:buChar char=""/>
            </a:pPr>
            <a:r>
              <a:rPr lang="en-US" sz="2400" strike="noStrike" spc="-1" dirty="0" smtClean="0">
                <a:solidFill>
                  <a:srgbClr val="0047BA"/>
                </a:solidFill>
                <a:latin typeface="Arial"/>
                <a:ea typeface="DejaVu Sans"/>
              </a:rPr>
              <a:t>Contour</a:t>
            </a:r>
            <a:endParaRPr lang="en-US" sz="2800" strike="noStrike"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400" spc="-1" dirty="0" smtClean="0">
                <a:solidFill>
                  <a:srgbClr val="0047BA"/>
                </a:solidFill>
                <a:latin typeface="Arial"/>
                <a:ea typeface="DejaVu Sans"/>
              </a:rPr>
              <a:t>Wireframe</a:t>
            </a:r>
            <a:endParaRPr lang="en-US" sz="2400" strike="noStrike"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r>
              <a:rPr lang="en-US" sz="2800" b="1" spc="-1" dirty="0" smtClean="0">
                <a:solidFill>
                  <a:srgbClr val="0047BA"/>
                </a:solidFill>
                <a:latin typeface="Arial"/>
                <a:ea typeface="DejaVu Sans"/>
              </a:rPr>
              <a:t>Surface</a:t>
            </a:r>
            <a:endParaRPr lang="en-US" sz="2400" b="1" spc="-1" dirty="0" smtClean="0">
              <a:solidFill>
                <a:srgbClr val="0047BA"/>
              </a:solidFill>
              <a:latin typeface="Arial"/>
              <a:ea typeface="DejaVu Sans"/>
            </a:endParaRPr>
          </a:p>
          <a:p>
            <a:pPr marL="182880" indent="-178920">
              <a:lnSpc>
                <a:spcPct val="100000"/>
              </a:lnSpc>
              <a:spcBef>
                <a:spcPts val="3169"/>
              </a:spcBef>
              <a:buClr>
                <a:srgbClr val="0047BA"/>
              </a:buClr>
              <a:buSzPct val="65000"/>
              <a:buFont typeface="Wingdings" charset="2"/>
              <a:buChar char=""/>
            </a:pPr>
            <a:endParaRPr lang="en-US" sz="2400"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dirty="0"/>
              <a:t>Surface plot shows a functional relationship between a designated dependent variable (Y), and two independent variables (X and Z). </a:t>
            </a:r>
            <a:r>
              <a:rPr lang="en-US" dirty="0" smtClean="0"/>
              <a:t>A </a:t>
            </a:r>
            <a:r>
              <a:rPr lang="en-US" dirty="0"/>
              <a:t>surface plot is like a wireframe plot, but each face of the wireframe is a filled polygon. </a:t>
            </a:r>
            <a:endParaRPr lang="en-US" dirty="0" smtClean="0"/>
          </a:p>
          <a:p>
            <a:pPr marL="182880" indent="-178920">
              <a:lnSpc>
                <a:spcPct val="100000"/>
              </a:lnSpc>
              <a:spcBef>
                <a:spcPts val="3000"/>
              </a:spcBef>
              <a:buClr>
                <a:srgbClr val="0047BA"/>
              </a:buClr>
              <a:buSzPct val="65000"/>
              <a:buFont typeface="Wingdings" charset="2"/>
              <a:buChar char=""/>
            </a:pPr>
            <a:r>
              <a:rPr lang="en-US" dirty="0" smtClean="0"/>
              <a:t>This </a:t>
            </a:r>
            <a:r>
              <a:rPr lang="en-US" dirty="0"/>
              <a:t>can aid perception of the topology of the surface being visualized. The </a:t>
            </a:r>
            <a:r>
              <a:rPr lang="en-US" b="1" dirty="0" err="1">
                <a:solidFill>
                  <a:schemeClr val="tx2"/>
                </a:solidFill>
              </a:rPr>
              <a:t>plot_surface</a:t>
            </a:r>
            <a:r>
              <a:rPr lang="en-US" b="1" dirty="0">
                <a:solidFill>
                  <a:schemeClr val="tx2"/>
                </a:solidFill>
              </a:rPr>
              <a:t>()</a:t>
            </a:r>
            <a:r>
              <a:rPr lang="en-US" dirty="0"/>
              <a:t> function </a:t>
            </a:r>
            <a:r>
              <a:rPr lang="en-US" dirty="0" err="1"/>
              <a:t>x,y</a:t>
            </a:r>
            <a:r>
              <a:rPr lang="en-US" dirty="0"/>
              <a:t> and z as arguments</a:t>
            </a:r>
            <a:r>
              <a:rPr lang="en-US" dirty="0" smtClean="0"/>
              <a:t>.</a:t>
            </a:r>
          </a:p>
          <a:p>
            <a:pPr marL="182880" indent="-178920">
              <a:lnSpc>
                <a:spcPct val="100000"/>
              </a:lnSpc>
              <a:spcBef>
                <a:spcPts val="3000"/>
              </a:spcBef>
              <a:buClr>
                <a:srgbClr val="0047BA"/>
              </a:buClr>
              <a:buSzPct val="65000"/>
              <a:buFont typeface="Wingdings" charset="2"/>
              <a:buChar char=""/>
            </a:pPr>
            <a:r>
              <a:rPr lang="en-US" dirty="0" smtClean="0"/>
              <a:t>Axes </a:t>
            </a:r>
            <a:r>
              <a:rPr lang="en-US" dirty="0"/>
              <a:t>object need to be 3D. (</a:t>
            </a:r>
            <a:r>
              <a:rPr lang="en-US" dirty="0">
                <a:solidFill>
                  <a:schemeClr val="tx2"/>
                </a:solidFill>
                <a:latin typeface="Courier New" panose="02070309020205020404" pitchFamily="49" charset="0"/>
                <a:cs typeface="Courier New" panose="02070309020205020404" pitchFamily="49" charset="0"/>
              </a:rPr>
              <a:t>projection=‘3d’</a:t>
            </a:r>
            <a:r>
              <a:rPr lang="en-US" dirty="0"/>
              <a:t>)</a:t>
            </a:r>
          </a:p>
          <a:p>
            <a:pPr marL="640080" lvl="1" indent="-178920">
              <a:spcBef>
                <a:spcPts val="3000"/>
              </a:spcBef>
              <a:buClr>
                <a:srgbClr val="0047BA"/>
              </a:buClr>
              <a:buSzPct val="65000"/>
              <a:buFont typeface="Wingdings" charset="2"/>
              <a:buChar char=""/>
            </a:pPr>
            <a:r>
              <a:rPr lang="en-US" b="1" dirty="0" smtClean="0">
                <a:solidFill>
                  <a:schemeClr val="tx2"/>
                </a:solidFill>
              </a:rPr>
              <a:t>Axes3D.plot_surface(x</a:t>
            </a:r>
            <a:r>
              <a:rPr lang="en-US" b="1" dirty="0">
                <a:solidFill>
                  <a:schemeClr val="tx2"/>
                </a:solidFill>
              </a:rPr>
              <a:t>, y, z, </a:t>
            </a:r>
            <a:r>
              <a:rPr lang="en-US" b="1" dirty="0" err="1">
                <a:solidFill>
                  <a:schemeClr val="tx2"/>
                </a:solidFill>
              </a:rPr>
              <a:t>rstride</a:t>
            </a:r>
            <a:r>
              <a:rPr lang="en-US" b="1" dirty="0">
                <a:solidFill>
                  <a:schemeClr val="tx2"/>
                </a:solidFill>
              </a:rPr>
              <a:t>, </a:t>
            </a:r>
            <a:r>
              <a:rPr lang="en-US" b="1" dirty="0" err="1">
                <a:solidFill>
                  <a:schemeClr val="tx2"/>
                </a:solidFill>
              </a:rPr>
              <a:t>cstride</a:t>
            </a:r>
            <a:r>
              <a:rPr lang="en-US" b="1" dirty="0">
                <a:solidFill>
                  <a:schemeClr val="tx2"/>
                </a:solidFill>
              </a:rPr>
              <a:t>)</a:t>
            </a:r>
          </a:p>
          <a:p>
            <a:pPr marL="182880" indent="-178920">
              <a:lnSpc>
                <a:spcPct val="100000"/>
              </a:lnSpc>
              <a:spcBef>
                <a:spcPts val="3000"/>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05_3D_plots/</a:t>
            </a:r>
            <a:r>
              <a:rPr lang="en-US" spc="-1" dirty="0" err="1" smtClean="0">
                <a:solidFill>
                  <a:schemeClr val="tx2"/>
                </a:solidFill>
              </a:rPr>
              <a:t>surface.ipynb</a:t>
            </a:r>
            <a:endParaRPr lang="en-US" spc="-1" dirty="0">
              <a:solidFill>
                <a:schemeClr val="tx2"/>
              </a:solidFill>
            </a:endParaRPr>
          </a:p>
          <a:p>
            <a:pPr marL="3960" lvl="0">
              <a:spcBef>
                <a:spcPts val="3169"/>
              </a:spcBef>
              <a:buClr>
                <a:srgbClr val="0047BA"/>
              </a:buClr>
              <a:buSzPct val="65000"/>
            </a:pPr>
            <a:endParaRPr lang="en-US" spc="-1" dirty="0" smtClean="0">
              <a:solidFill>
                <a:srgbClr val="000000"/>
              </a:solidFill>
              <a:latin typeface="Arial"/>
              <a:ea typeface="DejaVu Sans"/>
            </a:endParaRPr>
          </a:p>
          <a:p>
            <a:pPr marL="3960" lvl="0">
              <a:spcBef>
                <a:spcPts val="3169"/>
              </a:spcBef>
              <a:buClr>
                <a:srgbClr val="0047BA"/>
              </a:buClr>
              <a:buSzPct val="65000"/>
            </a:pPr>
            <a:endParaRPr lang="en-US" spc="-1" dirty="0" smtClean="0">
              <a:solidFill>
                <a:srgbClr val="000000"/>
              </a:solidFill>
            </a:endParaRPr>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76557336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CustomShape 1"/>
          <p:cNvSpPr/>
          <p:nvPr/>
        </p:nvSpPr>
        <p:spPr>
          <a:xfrm>
            <a:off x="828720" y="501840"/>
            <a:ext cx="10539360" cy="649800"/>
          </a:xfrm>
          <a:prstGeom prst="rect">
            <a:avLst/>
          </a:prstGeom>
          <a:noFill/>
          <a:ln>
            <a:noFill/>
          </a:ln>
        </p:spPr>
        <p:style>
          <a:lnRef idx="0">
            <a:scrgbClr r="0" g="0" b="0"/>
          </a:lnRef>
          <a:fillRef idx="0">
            <a:scrgbClr r="0" g="0" b="0"/>
          </a:fillRef>
          <a:effectRef idx="0">
            <a:scrgbClr r="0" g="0" b="0"/>
          </a:effectRef>
          <a:fontRef idx="minor"/>
        </p:style>
      </p:sp>
      <p:sp>
        <p:nvSpPr>
          <p:cNvPr id="327" name="CustomShape 2"/>
          <p:cNvSpPr/>
          <p:nvPr/>
        </p:nvSpPr>
        <p:spPr>
          <a:xfrm>
            <a:off x="609480" y="693360"/>
            <a:ext cx="109681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marL="742950" indent="-742950">
              <a:lnSpc>
                <a:spcPct val="100000"/>
              </a:lnSpc>
              <a:buFont typeface="+mj-lt"/>
              <a:buAutoNum type="arabicPeriod" startAt="6"/>
            </a:pPr>
            <a:r>
              <a:rPr lang="en-US" sz="3600" b="1" strike="noStrike" spc="15" dirty="0" smtClean="0">
                <a:solidFill>
                  <a:srgbClr val="0047BA"/>
                </a:solidFill>
                <a:latin typeface="Arial"/>
                <a:ea typeface="DejaVu Sans"/>
              </a:rPr>
              <a:t>Save plots</a:t>
            </a:r>
            <a:endParaRPr lang="en-US" sz="3600" b="0" strike="noStrike" spc="-1" dirty="0">
              <a:latin typeface="Arial"/>
            </a:endParaRPr>
          </a:p>
        </p:txBody>
      </p:sp>
      <p:sp>
        <p:nvSpPr>
          <p:cNvPr id="328" name="CustomShape 3"/>
          <p:cNvSpPr/>
          <p:nvPr/>
        </p:nvSpPr>
        <p:spPr>
          <a:xfrm>
            <a:off x="4755600" y="266760"/>
            <a:ext cx="2921400" cy="182160"/>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gn="ctr">
              <a:lnSpc>
                <a:spcPct val="100000"/>
              </a:lnSpc>
            </a:pPr>
            <a:r>
              <a:rPr lang="en-US" sz="1200" b="1" strike="noStrike" spc="15">
                <a:solidFill>
                  <a:srgbClr val="0047BA"/>
                </a:solidFill>
                <a:latin typeface="Arial"/>
                <a:ea typeface="DejaVu Sans"/>
              </a:rPr>
              <a:t>Research Computing Department</a:t>
            </a:r>
            <a:endParaRPr lang="en-US" sz="1200" b="0" strike="noStrike" spc="-1">
              <a:latin typeface="Arial"/>
            </a:endParaRPr>
          </a:p>
        </p:txBody>
      </p:sp>
      <p:sp>
        <p:nvSpPr>
          <p:cNvPr id="329" name="CustomShape 4"/>
          <p:cNvSpPr/>
          <p:nvPr/>
        </p:nvSpPr>
        <p:spPr>
          <a:xfrm>
            <a:off x="11563200" y="203040"/>
            <a:ext cx="519120" cy="239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2E28BA95-554F-4AC4-9EEF-291BEA73B25E}" type="slidenum">
              <a:rPr lang="en-US" sz="850" b="0" strike="noStrike" spc="-1">
                <a:solidFill>
                  <a:srgbClr val="96969A"/>
                </a:solidFill>
                <a:latin typeface="Arial"/>
                <a:ea typeface="DejaVu Sans"/>
              </a:rPr>
              <a:t>62</a:t>
            </a:fld>
            <a:endParaRPr lang="en-US" sz="850" b="0" strike="noStrike" spc="-1">
              <a:latin typeface="Arial"/>
            </a:endParaRPr>
          </a:p>
        </p:txBody>
      </p:sp>
      <p:sp>
        <p:nvSpPr>
          <p:cNvPr id="330" name="CustomShape 5"/>
          <p:cNvSpPr/>
          <p:nvPr/>
        </p:nvSpPr>
        <p:spPr>
          <a:xfrm>
            <a:off x="609480" y="1679040"/>
            <a:ext cx="4146120" cy="45388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169"/>
              </a:spcBef>
              <a:buClr>
                <a:srgbClr val="0047BA"/>
              </a:buClr>
              <a:buSzPct val="65000"/>
              <a:buFont typeface="Wingdings" charset="2"/>
              <a:buChar char=""/>
            </a:pPr>
            <a:r>
              <a:rPr lang="en-US" sz="2800" b="1" strike="noStrike" spc="-1" dirty="0" smtClean="0">
                <a:solidFill>
                  <a:srgbClr val="0047BA"/>
                </a:solidFill>
                <a:latin typeface="Arial"/>
                <a:ea typeface="DejaVu Sans"/>
              </a:rPr>
              <a:t>Save plots</a:t>
            </a:r>
          </a:p>
          <a:p>
            <a:pPr marL="182880" indent="-178920">
              <a:lnSpc>
                <a:spcPct val="100000"/>
              </a:lnSpc>
              <a:spcBef>
                <a:spcPts val="3169"/>
              </a:spcBef>
              <a:buClr>
                <a:srgbClr val="0047BA"/>
              </a:buClr>
              <a:buSzPct val="65000"/>
              <a:buFont typeface="Wingdings" charset="2"/>
              <a:buChar char=""/>
            </a:pPr>
            <a:endParaRPr lang="en-US" sz="2400" spc="-1" dirty="0" smtClean="0">
              <a:solidFill>
                <a:srgbClr val="0047BA"/>
              </a:solidFill>
              <a:latin typeface="Arial"/>
              <a:ea typeface="DejaVu Sans"/>
            </a:endParaRPr>
          </a:p>
        </p:txBody>
      </p:sp>
      <p:sp>
        <p:nvSpPr>
          <p:cNvPr id="332" name="CustomShape 7"/>
          <p:cNvSpPr/>
          <p:nvPr/>
        </p:nvSpPr>
        <p:spPr>
          <a:xfrm>
            <a:off x="5287652" y="1247358"/>
            <a:ext cx="6275548" cy="4937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78920">
              <a:lnSpc>
                <a:spcPct val="100000"/>
              </a:lnSpc>
              <a:spcBef>
                <a:spcPts val="3000"/>
              </a:spcBef>
              <a:buClr>
                <a:srgbClr val="0047BA"/>
              </a:buClr>
              <a:buSzPct val="65000"/>
              <a:buFont typeface="Wingdings" charset="2"/>
              <a:buChar char=""/>
            </a:pPr>
            <a:r>
              <a:rPr lang="en-US" spc="-1" dirty="0" smtClean="0">
                <a:latin typeface="Arial"/>
                <a:ea typeface="DejaVu Sans"/>
              </a:rPr>
              <a:t>The figures created can be saved to our local machines in different formats using </a:t>
            </a:r>
            <a:r>
              <a:rPr lang="en-US" b="1" spc="-1" dirty="0" err="1" smtClean="0">
                <a:solidFill>
                  <a:schemeClr val="tx2"/>
                </a:solidFill>
                <a:latin typeface="Arial"/>
                <a:ea typeface="DejaVu Sans"/>
              </a:rPr>
              <a:t>pyplot.savefig</a:t>
            </a:r>
            <a:r>
              <a:rPr lang="en-US" b="1" spc="-1" dirty="0" smtClean="0">
                <a:solidFill>
                  <a:schemeClr val="tx2"/>
                </a:solidFill>
                <a:latin typeface="Arial"/>
                <a:ea typeface="DejaVu Sans"/>
              </a:rPr>
              <a:t>()</a:t>
            </a:r>
            <a:r>
              <a:rPr lang="en-US" spc="-1" dirty="0"/>
              <a:t> </a:t>
            </a:r>
            <a:r>
              <a:rPr lang="en-US" spc="-1" dirty="0" smtClean="0"/>
              <a:t>method.</a:t>
            </a:r>
          </a:p>
          <a:p>
            <a:pPr marL="640080" lvl="1" indent="-178920">
              <a:spcBef>
                <a:spcPts val="3000"/>
              </a:spcBef>
              <a:buClr>
                <a:srgbClr val="0047BA"/>
              </a:buClr>
              <a:buSzPct val="65000"/>
              <a:buFont typeface="Wingdings" charset="2"/>
              <a:buChar char=""/>
            </a:pPr>
            <a:r>
              <a:rPr lang="en-US" b="1" dirty="0" err="1" smtClean="0">
                <a:solidFill>
                  <a:schemeClr val="tx2"/>
                </a:solidFill>
              </a:rPr>
              <a:t>pyplot.savefig</a:t>
            </a:r>
            <a:r>
              <a:rPr lang="en-US" b="1" dirty="0" smtClean="0">
                <a:solidFill>
                  <a:schemeClr val="tx2"/>
                </a:solidFill>
              </a:rPr>
              <a:t>(</a:t>
            </a:r>
            <a:r>
              <a:rPr lang="en-US" b="1" dirty="0" err="1" smtClean="0">
                <a:solidFill>
                  <a:schemeClr val="tx2"/>
                </a:solidFill>
              </a:rPr>
              <a:t>fname</a:t>
            </a:r>
            <a:r>
              <a:rPr lang="en-US" b="1" dirty="0" smtClean="0">
                <a:solidFill>
                  <a:schemeClr val="tx2"/>
                </a:solidFill>
              </a:rPr>
              <a:t>, dpi, format, </a:t>
            </a:r>
            <a:r>
              <a:rPr lang="en-US" b="1" dirty="0" err="1" smtClean="0">
                <a:solidFill>
                  <a:schemeClr val="tx2"/>
                </a:solidFill>
              </a:rPr>
              <a:t>facecolor</a:t>
            </a:r>
            <a:r>
              <a:rPr lang="en-US" b="1" dirty="0" smtClean="0">
                <a:solidFill>
                  <a:schemeClr val="tx2"/>
                </a:solidFill>
              </a:rPr>
              <a:t>, </a:t>
            </a:r>
            <a:r>
              <a:rPr lang="en-US" b="1" dirty="0" err="1" smtClean="0">
                <a:solidFill>
                  <a:schemeClr val="tx2"/>
                </a:solidFill>
              </a:rPr>
              <a:t>edgecolor</a:t>
            </a:r>
            <a:r>
              <a:rPr lang="en-US" b="1" dirty="0" smtClean="0">
                <a:solidFill>
                  <a:schemeClr val="tx2"/>
                </a:solidFill>
              </a:rPr>
              <a:t>)</a:t>
            </a:r>
          </a:p>
          <a:p>
            <a:pPr marL="182880" indent="-178920">
              <a:lnSpc>
                <a:spcPct val="100000"/>
              </a:lnSpc>
              <a:spcBef>
                <a:spcPts val="3000"/>
              </a:spcBef>
              <a:buClr>
                <a:srgbClr val="0047BA"/>
              </a:buClr>
              <a:buSzPct val="65000"/>
              <a:buFont typeface="Wingdings" charset="2"/>
              <a:buChar char=""/>
            </a:pPr>
            <a:r>
              <a:rPr lang="en-US" b="1" spc="-1" dirty="0">
                <a:solidFill>
                  <a:schemeClr val="tx2"/>
                </a:solidFill>
              </a:rPr>
              <a:t>Let’s see some examples:</a:t>
            </a:r>
          </a:p>
          <a:p>
            <a:pPr marL="461160" lvl="1">
              <a:spcBef>
                <a:spcPts val="600"/>
              </a:spcBef>
              <a:buClr>
                <a:srgbClr val="0047BA"/>
              </a:buClr>
              <a:buSzPct val="65000"/>
            </a:pPr>
            <a:r>
              <a:rPr lang="en-US" spc="-1" dirty="0" smtClean="0">
                <a:solidFill>
                  <a:schemeClr val="tx2"/>
                </a:solidFill>
              </a:rPr>
              <a:t>06_Save_plots/</a:t>
            </a:r>
            <a:r>
              <a:rPr lang="en-US" spc="-1" dirty="0" err="1" smtClean="0">
                <a:solidFill>
                  <a:schemeClr val="tx2"/>
                </a:solidFill>
              </a:rPr>
              <a:t>save_plots.ipynb</a:t>
            </a:r>
            <a:endParaRPr lang="en-US" spc="-1" dirty="0">
              <a:solidFill>
                <a:schemeClr val="tx2"/>
              </a:solidFill>
            </a:endParaRPr>
          </a:p>
          <a:p>
            <a:pPr marL="182880" indent="-178920">
              <a:spcBef>
                <a:spcPts val="3000"/>
              </a:spcBef>
              <a:buClr>
                <a:srgbClr val="0047BA"/>
              </a:buClr>
              <a:buSzPct val="65000"/>
              <a:buFont typeface="Wingdings" charset="2"/>
              <a:buChar char=""/>
            </a:pPr>
            <a:endParaRPr lang="en-US" b="1" dirty="0">
              <a:solidFill>
                <a:schemeClr val="tx2"/>
              </a:solidFill>
            </a:endParaRPr>
          </a:p>
          <a:p>
            <a:pPr marL="640080" lvl="1" indent="-178920">
              <a:spcBef>
                <a:spcPts val="3000"/>
              </a:spcBef>
              <a:buClr>
                <a:srgbClr val="0047BA"/>
              </a:buClr>
              <a:buSzPct val="65000"/>
              <a:buFont typeface="Wingdings" charset="2"/>
              <a:buChar char=""/>
            </a:pPr>
            <a:endParaRPr lang="en-US" spc="-1" dirty="0" smtClean="0"/>
          </a:p>
          <a:p>
            <a:pPr marL="3960">
              <a:lnSpc>
                <a:spcPct val="100000"/>
              </a:lnSpc>
              <a:spcBef>
                <a:spcPts val="1585"/>
              </a:spcBef>
              <a:buClr>
                <a:srgbClr val="0047BA"/>
              </a:buClr>
              <a:buSzPct val="65000"/>
            </a:pPr>
            <a:endParaRPr lang="en-US" sz="1800" b="0" strike="noStrike" spc="-1" dirty="0">
              <a:latin typeface="Arial"/>
            </a:endParaRPr>
          </a:p>
        </p:txBody>
      </p:sp>
      <p:sp>
        <p:nvSpPr>
          <p:cNvPr id="9" name="Line 6"/>
          <p:cNvSpPr/>
          <p:nvPr/>
        </p:nvSpPr>
        <p:spPr>
          <a:xfrm>
            <a:off x="4755600" y="1247358"/>
            <a:ext cx="0" cy="4847471"/>
          </a:xfrm>
          <a:prstGeom prst="line">
            <a:avLst/>
          </a:prstGeom>
          <a:ln>
            <a:solidFill>
              <a:srgbClr val="3465A4"/>
            </a:solid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2838336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KU Theme</Template>
  <TotalTime>7066</TotalTime>
  <Words>3534</Words>
  <Application>Microsoft Office PowerPoint</Application>
  <PresentationFormat>Widescreen</PresentationFormat>
  <Paragraphs>865</Paragraphs>
  <Slides>63</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63</vt:i4>
      </vt:variant>
    </vt:vector>
  </HeadingPairs>
  <TitlesOfParts>
    <vt:vector size="71" baseType="lpstr">
      <vt:lpstr>Arial</vt:lpstr>
      <vt:lpstr>Courier New</vt:lpstr>
      <vt:lpstr>DejaVu Sans</vt:lpstr>
      <vt:lpstr>Symbol</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Goes Here</dc:title>
  <dc:subject/>
  <dc:creator/>
  <dc:description/>
  <cp:lastModifiedBy>Sergio Martinez</cp:lastModifiedBy>
  <cp:revision>359</cp:revision>
  <cp:lastPrinted>2020-09-10T04:39:50Z</cp:lastPrinted>
  <dcterms:created xsi:type="dcterms:W3CDTF">2018-04-29T10:48:36Z</dcterms:created>
  <dcterms:modified xsi:type="dcterms:W3CDTF">2020-09-24T08:49:48Z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16.0012</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