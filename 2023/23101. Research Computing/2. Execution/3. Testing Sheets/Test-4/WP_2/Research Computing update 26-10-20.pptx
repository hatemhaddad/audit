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61" r:id="rId3"/>
    <p:sldId id="291" r:id="rId4"/>
    <p:sldId id="299" r:id="rId5"/>
    <p:sldId id="292" r:id="rId6"/>
    <p:sldId id="283" r:id="rId7"/>
    <p:sldId id="284" r:id="rId8"/>
    <p:sldId id="297" r:id="rId9"/>
    <p:sldId id="298" r:id="rId10"/>
    <p:sldId id="289" r:id="rId11"/>
    <p:sldId id="286" r:id="rId12"/>
    <p:sldId id="287" r:id="rId13"/>
    <p:sldId id="293" r:id="rId1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862" autoAdjust="0"/>
    <p:restoredTop sz="86395" autoAdjust="0"/>
  </p:normalViewPr>
  <p:slideViewPr>
    <p:cSldViewPr snapToGrid="0" showGuides="1">
      <p:cViewPr varScale="1">
        <p:scale>
          <a:sx n="105" d="100"/>
          <a:sy n="105" d="100"/>
        </p:scale>
        <p:origin x="1128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\delmoghraby\Documents\KU_files\presentations\HPC%20requirements%20for%20ELC\Training_Accoun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Attendees per course from</a:t>
            </a:r>
            <a:r>
              <a:rPr lang="en-US" sz="1600" baseline="0"/>
              <a:t> March to October 2020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Sheet2!$A$2:$A$6</c:f>
              <c:strCache>
                <c:ptCount val="5"/>
                <c:pt idx="0">
                  <c:v>Research Computing introductory session</c:v>
                </c:pt>
                <c:pt idx="1">
                  <c:v>Introduction to the Linux command Line</c:v>
                </c:pt>
                <c:pt idx="2">
                  <c:v>Introduction to the KU HPC</c:v>
                </c:pt>
                <c:pt idx="3">
                  <c:v>Python - Numpy</c:v>
                </c:pt>
                <c:pt idx="4">
                  <c:v>Python - Matplotlib</c:v>
                </c:pt>
              </c:strCache>
            </c:strRef>
          </c:cat>
          <c:val>
            <c:numRef>
              <c:f>Sheet2!$C$2:$C$6</c:f>
              <c:numCache>
                <c:formatCode>General</c:formatCode>
                <c:ptCount val="5"/>
                <c:pt idx="0">
                  <c:v>100</c:v>
                </c:pt>
                <c:pt idx="1">
                  <c:v>54</c:v>
                </c:pt>
                <c:pt idx="2">
                  <c:v>77</c:v>
                </c:pt>
                <c:pt idx="3">
                  <c:v>11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94-5D48-8D52-E6F2F376F3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-27"/>
        <c:axId val="850773248"/>
        <c:axId val="850775744"/>
      </c:barChart>
      <c:catAx>
        <c:axId val="8507732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850775744"/>
        <c:crosses val="autoZero"/>
        <c:auto val="1"/>
        <c:lblAlgn val="ctr"/>
        <c:lblOffset val="100"/>
        <c:noMultiLvlLbl val="0"/>
      </c:catAx>
      <c:valAx>
        <c:axId val="850775744"/>
        <c:scaling>
          <c:orientation val="minMax"/>
          <c:max val="10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No.</a:t>
                </a:r>
                <a:r>
                  <a:rPr lang="en-US" sz="1400" baseline="0"/>
                  <a:t>  of attedees </a:t>
                </a:r>
                <a:endParaRPr lang="en-US" sz="140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A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158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8507732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up.com/ksquu2jki56nesnr6n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.xlsx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September</a:t>
            </a:r>
            <a:r>
              <a:rPr lang="en-US" noProof="0" dirty="0"/>
              <a:t>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KU</a:t>
            </a:r>
            <a:r>
              <a:rPr lang="en-US" sz="2400" noProof="0" dirty="0"/>
              <a:t> HPC Cluster</a:t>
            </a:r>
          </a:p>
          <a:p>
            <a:pPr lvl="2"/>
            <a:r>
              <a:rPr lang="en-US" sz="1997" dirty="0"/>
              <a:t>PR for support for h/w is finally completed, 3 months after support period, and 12 months after PR being raised.</a:t>
            </a:r>
            <a:endParaRPr lang="en-US" noProof="0" dirty="0"/>
          </a:p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Technical evaluation completed, and in commercial stage.</a:t>
            </a:r>
          </a:p>
          <a:p>
            <a:pPr lvl="1"/>
            <a:r>
              <a:rPr lang="en-US" sz="2400" dirty="0"/>
              <a:t>Procurement halted as there is a lack of assigned funds.</a:t>
            </a:r>
          </a:p>
          <a:p>
            <a:pPr lvl="1"/>
            <a:r>
              <a:rPr lang="en-US" sz="2400" dirty="0"/>
              <a:t>Have contacted VP of Finance to make funds available.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848604" cy="5104562"/>
          </a:xfrm>
        </p:spPr>
        <p:txBody>
          <a:bodyPr>
            <a:normAutofit/>
          </a:bodyPr>
          <a:lstStyle/>
          <a:p>
            <a:r>
              <a:rPr lang="en-US" sz="2400" b="0" dirty="0"/>
              <a:t>“Research Computing intro session”, “Introduction to Linux”, and “Introduction to HPC” courses are all well attended and well received. </a:t>
            </a:r>
          </a:p>
          <a:p>
            <a:pPr lvl="1"/>
            <a:r>
              <a:rPr lang="en-US" sz="2400" dirty="0"/>
              <a:t>Training calendar is available at </a:t>
            </a:r>
            <a:r>
              <a:rPr lang="en-US" sz="2400" dirty="0">
                <a:hlinkClick r:id="rId2"/>
              </a:rPr>
              <a:t>https://teamup.com/ksquu2jki56nesnr6n</a:t>
            </a:r>
            <a:endParaRPr lang="en-US" sz="2400" dirty="0"/>
          </a:p>
          <a:p>
            <a:r>
              <a:rPr lang="en-US" sz="2400" b="0" dirty="0"/>
              <a:t> Due to course being online, places are limited to 5 per session.</a:t>
            </a:r>
          </a:p>
          <a:p>
            <a:r>
              <a:rPr lang="en-US" sz="2400" b="0" dirty="0"/>
              <a:t>All three courses are delivered on a weekly basis.</a:t>
            </a:r>
          </a:p>
          <a:p>
            <a:r>
              <a:rPr lang="en-US" sz="2400" b="0" dirty="0"/>
              <a:t>Developed and delivered two specific Python based courses to a small group of students, as part of a larger AI course being delivered by faculty.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EC1E600-77E0-4D0E-A13B-C87D0A48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 dirty="0"/>
              <a:t>Training Courses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9534061D-8264-4DF0-B992-54685DB14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0464" y="203201"/>
            <a:ext cx="1408509" cy="2444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DD Month 20XX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00463D5F-4A24-499F-9760-775CB5B9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9458" y="203201"/>
            <a:ext cx="3343275" cy="24447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5222" y="203201"/>
            <a:ext cx="425648" cy="24447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E68DD1B-5CD8-424B-8173-19E182143E0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91D9957-3E2A-324D-940C-4156487905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1056063"/>
              </p:ext>
            </p:extLst>
          </p:nvPr>
        </p:nvGraphicFramePr>
        <p:xfrm>
          <a:off x="760974" y="1502876"/>
          <a:ext cx="8520709" cy="481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938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" name="Picture 3" descr="Chart, bar chart&#10;&#10;Description automatically generated">
            <a:extLst>
              <a:ext uri="{FF2B5EF4-FFF2-40B4-BE49-F238E27FC236}">
                <a16:creationId xmlns:a16="http://schemas.microsoft.com/office/drawing/2014/main" id="{22D5FBC3-AE6F-1E4E-BF66-90F63CF08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4006"/>
            <a:ext cx="9820870" cy="5275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61E38A7D-B745-4944-96AD-FFFD522F8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7503"/>
            <a:ext cx="9906000" cy="520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8FE5C955-7DDB-5945-80E7-9C2B4628F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0986"/>
            <a:ext cx="9906000" cy="5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2846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September 2020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AA10AC4-ECE0-FF4B-A303-5E5E23C0C2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333527"/>
              </p:ext>
            </p:extLst>
          </p:nvPr>
        </p:nvGraphicFramePr>
        <p:xfrm>
          <a:off x="1473200" y="1213704"/>
          <a:ext cx="5927344" cy="5364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Worksheet" r:id="rId4" imgW="6959600" imgH="6299200" progId="Excel.Sheet.12">
                  <p:embed/>
                </p:oleObj>
              </mc:Choice>
              <mc:Fallback>
                <p:oleObj name="Worksheet" r:id="rId4" imgW="6959600" imgH="6299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73200" y="1213704"/>
                        <a:ext cx="5927344" cy="5364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56C0427A-B466-E442-BFEE-27A53B5A1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8317"/>
            <a:ext cx="9906000" cy="5401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13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2169C8-2F50-DF40-A17A-2305D9689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8279939"/>
              </p:ext>
            </p:extLst>
          </p:nvPr>
        </p:nvGraphicFramePr>
        <p:xfrm>
          <a:off x="554038" y="1146175"/>
          <a:ext cx="8666162" cy="546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Worksheet" r:id="rId3" imgW="11531600" imgH="7277100" progId="Excel.Sheet.12">
                  <p:embed/>
                </p:oleObj>
              </mc:Choice>
              <mc:Fallback>
                <p:oleObj name="Worksheet" r:id="rId3" imgW="11531600" imgH="7277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038" y="1146175"/>
                        <a:ext cx="8666162" cy="546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294</Words>
  <Application>Microsoft Macintosh PowerPoint</Application>
  <PresentationFormat>A4 Paper (210x297 mm)</PresentationFormat>
  <Paragraphs>58</Paragraphs>
  <Slides>13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KU Theme</vt:lpstr>
      <vt:lpstr>Microsoft Excel Worksheet</vt:lpstr>
      <vt:lpstr>Research Computing Update</vt:lpstr>
      <vt:lpstr>HPC Resources</vt:lpstr>
      <vt:lpstr>Training</vt:lpstr>
      <vt:lpstr>Training Courses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3</cp:revision>
  <dcterms:created xsi:type="dcterms:W3CDTF">2020-10-26T05:15:30Z</dcterms:created>
  <dcterms:modified xsi:type="dcterms:W3CDTF">2020-10-26T05:45:58Z</dcterms:modified>
</cp:coreProperties>
</file>