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9"/>
  </p:notesMasterIdLst>
  <p:sldIdLst>
    <p:sldId id="357" r:id="rId2"/>
    <p:sldId id="362" r:id="rId3"/>
    <p:sldId id="363" r:id="rId4"/>
    <p:sldId id="369" r:id="rId5"/>
    <p:sldId id="365" r:id="rId6"/>
    <p:sldId id="375" r:id="rId7"/>
    <p:sldId id="377" r:id="rId8"/>
    <p:sldId id="378" r:id="rId9"/>
    <p:sldId id="379" r:id="rId10"/>
    <p:sldId id="380" r:id="rId11"/>
    <p:sldId id="390" r:id="rId12"/>
    <p:sldId id="382" r:id="rId13"/>
    <p:sldId id="384" r:id="rId14"/>
    <p:sldId id="386" r:id="rId15"/>
    <p:sldId id="387" r:id="rId16"/>
    <p:sldId id="388" r:id="rId17"/>
    <p:sldId id="389" r:id="rId18"/>
  </p:sldIdLst>
  <p:sldSz cx="9906000" cy="6858000" type="A4"/>
  <p:notesSz cx="6797675" cy="9928225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3100" kern="1200">
        <a:solidFill>
          <a:srgbClr val="414141"/>
        </a:solidFill>
        <a:latin typeface="Gill Sans Light" charset="0"/>
        <a:ea typeface="ヒラギノ角ゴ ProN W3" charset="-128"/>
        <a:cs typeface="+mn-cs"/>
        <a:sym typeface="Gill Sans Light" charset="0"/>
      </a:defRPr>
    </a:lvl1pPr>
    <a:lvl2pPr marL="336774" algn="ctr" rtl="0" fontAlgn="base">
      <a:spcBef>
        <a:spcPct val="0"/>
      </a:spcBef>
      <a:spcAft>
        <a:spcPct val="0"/>
      </a:spcAft>
      <a:defRPr sz="3100" kern="1200">
        <a:solidFill>
          <a:srgbClr val="414141"/>
        </a:solidFill>
        <a:latin typeface="Gill Sans Light" charset="0"/>
        <a:ea typeface="ヒラギノ角ゴ ProN W3" charset="-128"/>
        <a:cs typeface="+mn-cs"/>
        <a:sym typeface="Gill Sans Light" charset="0"/>
      </a:defRPr>
    </a:lvl2pPr>
    <a:lvl3pPr marL="673547" algn="ctr" rtl="0" fontAlgn="base">
      <a:spcBef>
        <a:spcPct val="0"/>
      </a:spcBef>
      <a:spcAft>
        <a:spcPct val="0"/>
      </a:spcAft>
      <a:defRPr sz="3100" kern="1200">
        <a:solidFill>
          <a:srgbClr val="414141"/>
        </a:solidFill>
        <a:latin typeface="Gill Sans Light" charset="0"/>
        <a:ea typeface="ヒラギノ角ゴ ProN W3" charset="-128"/>
        <a:cs typeface="+mn-cs"/>
        <a:sym typeface="Gill Sans Light" charset="0"/>
      </a:defRPr>
    </a:lvl3pPr>
    <a:lvl4pPr marL="1010321" algn="ctr" rtl="0" fontAlgn="base">
      <a:spcBef>
        <a:spcPct val="0"/>
      </a:spcBef>
      <a:spcAft>
        <a:spcPct val="0"/>
      </a:spcAft>
      <a:defRPr sz="3100" kern="1200">
        <a:solidFill>
          <a:srgbClr val="414141"/>
        </a:solidFill>
        <a:latin typeface="Gill Sans Light" charset="0"/>
        <a:ea typeface="ヒラギノ角ゴ ProN W3" charset="-128"/>
        <a:cs typeface="+mn-cs"/>
        <a:sym typeface="Gill Sans Light" charset="0"/>
      </a:defRPr>
    </a:lvl4pPr>
    <a:lvl5pPr marL="1347094" algn="ctr" rtl="0" fontAlgn="base">
      <a:spcBef>
        <a:spcPct val="0"/>
      </a:spcBef>
      <a:spcAft>
        <a:spcPct val="0"/>
      </a:spcAft>
      <a:defRPr sz="3100" kern="1200">
        <a:solidFill>
          <a:srgbClr val="414141"/>
        </a:solidFill>
        <a:latin typeface="Gill Sans Light" charset="0"/>
        <a:ea typeface="ヒラギノ角ゴ ProN W3" charset="-128"/>
        <a:cs typeface="+mn-cs"/>
        <a:sym typeface="Gill Sans Light" charset="0"/>
      </a:defRPr>
    </a:lvl5pPr>
    <a:lvl6pPr marL="1683868" algn="l" defTabSz="673547" rtl="0" eaLnBrk="1" latinLnBrk="0" hangingPunct="1">
      <a:defRPr sz="3100" kern="1200">
        <a:solidFill>
          <a:srgbClr val="414141"/>
        </a:solidFill>
        <a:latin typeface="Gill Sans Light" charset="0"/>
        <a:ea typeface="ヒラギノ角ゴ ProN W3" charset="-128"/>
        <a:cs typeface="+mn-cs"/>
        <a:sym typeface="Gill Sans Light" charset="0"/>
      </a:defRPr>
    </a:lvl6pPr>
    <a:lvl7pPr marL="2020641" algn="l" defTabSz="673547" rtl="0" eaLnBrk="1" latinLnBrk="0" hangingPunct="1">
      <a:defRPr sz="3100" kern="1200">
        <a:solidFill>
          <a:srgbClr val="414141"/>
        </a:solidFill>
        <a:latin typeface="Gill Sans Light" charset="0"/>
        <a:ea typeface="ヒラギノ角ゴ ProN W3" charset="-128"/>
        <a:cs typeface="+mn-cs"/>
        <a:sym typeface="Gill Sans Light" charset="0"/>
      </a:defRPr>
    </a:lvl7pPr>
    <a:lvl8pPr marL="2357415" algn="l" defTabSz="673547" rtl="0" eaLnBrk="1" latinLnBrk="0" hangingPunct="1">
      <a:defRPr sz="3100" kern="1200">
        <a:solidFill>
          <a:srgbClr val="414141"/>
        </a:solidFill>
        <a:latin typeface="Gill Sans Light" charset="0"/>
        <a:ea typeface="ヒラギノ角ゴ ProN W3" charset="-128"/>
        <a:cs typeface="+mn-cs"/>
        <a:sym typeface="Gill Sans Light" charset="0"/>
      </a:defRPr>
    </a:lvl8pPr>
    <a:lvl9pPr marL="2694188" algn="l" defTabSz="673547" rtl="0" eaLnBrk="1" latinLnBrk="0" hangingPunct="1">
      <a:defRPr sz="3100" kern="1200">
        <a:solidFill>
          <a:srgbClr val="414141"/>
        </a:solidFill>
        <a:latin typeface="Gill Sans Light" charset="0"/>
        <a:ea typeface="ヒラギノ角ゴ ProN W3" charset="-128"/>
        <a:cs typeface="+mn-cs"/>
        <a:sym typeface="Gill Sans Light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6471"/>
    <a:srgbClr val="1553A9"/>
    <a:srgbClr val="011A2A"/>
    <a:srgbClr val="042E4A"/>
    <a:srgbClr val="063555"/>
    <a:srgbClr val="E39146"/>
    <a:srgbClr val="E3751E"/>
    <a:srgbClr val="E55C26"/>
    <a:srgbClr val="0E6AA7"/>
    <a:srgbClr val="0E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66" autoAdjust="0"/>
    <p:restoredTop sz="94622"/>
  </p:normalViewPr>
  <p:slideViewPr>
    <p:cSldViewPr snapToGrid="0" snapToObjects="1">
      <p:cViewPr>
        <p:scale>
          <a:sx n="150" d="100"/>
          <a:sy n="150" d="100"/>
        </p:scale>
        <p:origin x="648" y="-8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7E26BC-3E45-9544-96C2-726B8F1731F9}" type="datetimeFigureOut">
              <a:rPr lang="en-US" smtClean="0"/>
              <a:t>5/24/18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6463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488AF-BDF9-FB4C-B99F-5A8F8776A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71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 research,</a:t>
            </a:r>
            <a:r>
              <a:rPr lang="en-US" baseline="0" dirty="0" smtClean="0"/>
              <a:t> none and desktop 4 years old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488AF-BDF9-FB4C-B99F-5A8F8776AE5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150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 bwMode="auto">
          <a:xfrm>
            <a:off x="-1" y="1119565"/>
            <a:ext cx="9906001" cy="0"/>
          </a:xfrm>
          <a:prstGeom prst="line">
            <a:avLst/>
          </a:prstGeom>
          <a:solidFill>
            <a:srgbClr val="6C7472"/>
          </a:solidFill>
          <a:ln w="12700" cap="flat" cmpd="sng" algn="ctr">
            <a:solidFill>
              <a:srgbClr val="E3751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Rounded Rectangle 2"/>
          <p:cNvSpPr/>
          <p:nvPr userDrawn="1"/>
        </p:nvSpPr>
        <p:spPr bwMode="auto">
          <a:xfrm>
            <a:off x="-71350" y="723602"/>
            <a:ext cx="199778" cy="791925"/>
          </a:xfrm>
          <a:prstGeom prst="roundRect">
            <a:avLst/>
          </a:prstGeom>
          <a:solidFill>
            <a:srgbClr val="E3751E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ヒラギノ角ゴ ProN W3" charset="-128"/>
              <a:sym typeface="Gill Sans Light" charset="0"/>
            </a:endParaRP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39115" y="294671"/>
            <a:ext cx="4774459" cy="56730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lang="en-US" sz="2500" b="1" kern="1200" baseline="0" dirty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Add Title (One Line Title)</a:t>
            </a:r>
            <a:endParaRPr lang="en-US" dirty="0"/>
          </a:p>
        </p:txBody>
      </p:sp>
      <p:sp>
        <p:nvSpPr>
          <p:cNvPr id="15" name="Content Placeholder 8"/>
          <p:cNvSpPr>
            <a:spLocks noGrp="1"/>
          </p:cNvSpPr>
          <p:nvPr>
            <p:ph sz="quarter" idx="14" hasCustomPrompt="1"/>
          </p:nvPr>
        </p:nvSpPr>
        <p:spPr>
          <a:xfrm>
            <a:off x="459300" y="1495297"/>
            <a:ext cx="9022379" cy="2599031"/>
          </a:xfrm>
          <a:prstGeom prst="rect">
            <a:avLst/>
          </a:prstGeom>
        </p:spPr>
        <p:txBody>
          <a:bodyPr vert="horz"/>
          <a:lstStyle>
            <a:lvl1pPr marL="0" indent="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Wingdings" charset="2"/>
              <a:buNone/>
              <a:defRPr lang="en-US" sz="15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1pPr>
            <a:lvl2pPr marL="177800" indent="-17780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Wingdings" charset="2"/>
              <a:buChar char="§"/>
              <a:defRPr lang="en-US" sz="15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2pPr>
            <a:lvl3pPr marL="285750" indent="-28575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Wingdings" charset="2"/>
              <a:buChar char="Ø"/>
              <a:defRPr lang="en-US" sz="15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3pPr>
            <a:lvl5pPr>
              <a:defRPr lang="en-US" sz="15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5pPr>
          </a:lstStyle>
          <a:p>
            <a:pPr lvl="0"/>
            <a:r>
              <a:rPr lang="en-US" dirty="0" smtClean="0"/>
              <a:t>Click to add content</a:t>
            </a:r>
          </a:p>
          <a:p>
            <a:pPr lvl="1"/>
            <a:r>
              <a:rPr lang="en-US" dirty="0" smtClean="0"/>
              <a:t>First level</a:t>
            </a:r>
          </a:p>
          <a:p>
            <a:pPr marL="622523" lvl="2" indent="-28575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Arial"/>
              <a:buChar char="•"/>
            </a:pPr>
            <a:r>
              <a:rPr lang="en-US" dirty="0" smtClean="0"/>
              <a:t>Second level</a:t>
            </a:r>
          </a:p>
          <a:p>
            <a:pPr lvl="4"/>
            <a:r>
              <a:rPr lang="en-US" dirty="0" smtClean="0"/>
              <a:t>Third level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ines Ti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 bwMode="auto">
          <a:xfrm>
            <a:off x="-1" y="1119565"/>
            <a:ext cx="9906001" cy="0"/>
          </a:xfrm>
          <a:prstGeom prst="line">
            <a:avLst/>
          </a:prstGeom>
          <a:solidFill>
            <a:srgbClr val="6C7472"/>
          </a:solidFill>
          <a:ln w="12700" cap="flat" cmpd="sng" algn="ctr">
            <a:solidFill>
              <a:srgbClr val="E3751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Rounded Rectangle 3"/>
          <p:cNvSpPr/>
          <p:nvPr userDrawn="1"/>
        </p:nvSpPr>
        <p:spPr bwMode="auto">
          <a:xfrm>
            <a:off x="-71350" y="723602"/>
            <a:ext cx="199778" cy="791925"/>
          </a:xfrm>
          <a:prstGeom prst="roundRect">
            <a:avLst/>
          </a:prstGeom>
          <a:solidFill>
            <a:srgbClr val="E3751E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ヒラギノ角ゴ ProN W3" charset="-128"/>
              <a:sym typeface="Gill Sans Light" charset="0"/>
            </a:endParaRPr>
          </a:p>
        </p:txBody>
      </p:sp>
      <p:sp>
        <p:nvSpPr>
          <p:cNvPr id="6" name="Content Placeholder 8"/>
          <p:cNvSpPr>
            <a:spLocks noGrp="1"/>
          </p:cNvSpPr>
          <p:nvPr>
            <p:ph sz="quarter" idx="14" hasCustomPrompt="1"/>
          </p:nvPr>
        </p:nvSpPr>
        <p:spPr>
          <a:xfrm>
            <a:off x="459300" y="1495297"/>
            <a:ext cx="9022379" cy="2599031"/>
          </a:xfrm>
          <a:prstGeom prst="rect">
            <a:avLst/>
          </a:prstGeom>
        </p:spPr>
        <p:txBody>
          <a:bodyPr vert="horz"/>
          <a:lstStyle>
            <a:lvl1pPr marL="0" indent="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Wingdings" charset="2"/>
              <a:buNone/>
              <a:defRPr lang="en-US" sz="15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1pPr>
            <a:lvl2pPr marL="177800" indent="-17780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Wingdings" charset="2"/>
              <a:buChar char="§"/>
              <a:defRPr lang="en-US" sz="15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2pPr>
            <a:lvl3pPr marL="285750" indent="-28575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Wingdings" charset="2"/>
              <a:buChar char="Ø"/>
              <a:defRPr lang="en-US" sz="15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3pPr>
            <a:lvl5pPr>
              <a:defRPr lang="en-US" sz="15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5pPr>
          </a:lstStyle>
          <a:p>
            <a:pPr lvl="0"/>
            <a:r>
              <a:rPr lang="en-US" dirty="0" smtClean="0"/>
              <a:t>Click to add content</a:t>
            </a:r>
          </a:p>
          <a:p>
            <a:pPr lvl="1"/>
            <a:r>
              <a:rPr lang="en-US" dirty="0" smtClean="0"/>
              <a:t>First level</a:t>
            </a:r>
          </a:p>
          <a:p>
            <a:pPr marL="622523" lvl="2" indent="-28575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Arial"/>
              <a:buChar char="•"/>
            </a:pPr>
            <a:r>
              <a:rPr lang="en-US" dirty="0" smtClean="0"/>
              <a:t>Second level</a:t>
            </a:r>
          </a:p>
          <a:p>
            <a:pPr lvl="4"/>
            <a:r>
              <a:rPr lang="en-US" dirty="0" smtClean="0"/>
              <a:t>Third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445032" y="108414"/>
            <a:ext cx="3966454" cy="850900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en-US" sz="2500" b="1" kern="1200" baseline="0" dirty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Click To Add Title</a:t>
            </a:r>
            <a:r>
              <a:rPr lang="x-none" dirty="0" smtClean="0"/>
              <a:t> </a:t>
            </a:r>
            <a:r>
              <a:rPr lang="en-US" dirty="0" smtClean="0"/>
              <a:t>(Two Lines Title)</a:t>
            </a:r>
          </a:p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511569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 bwMode="auto">
          <a:xfrm>
            <a:off x="-1" y="1119565"/>
            <a:ext cx="9906001" cy="0"/>
          </a:xfrm>
          <a:prstGeom prst="line">
            <a:avLst/>
          </a:prstGeom>
          <a:solidFill>
            <a:srgbClr val="6C7472"/>
          </a:solidFill>
          <a:ln w="12700" cap="flat" cmpd="sng" algn="ctr">
            <a:solidFill>
              <a:srgbClr val="E3751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Rounded Rectangle 3"/>
          <p:cNvSpPr/>
          <p:nvPr userDrawn="1"/>
        </p:nvSpPr>
        <p:spPr bwMode="auto">
          <a:xfrm>
            <a:off x="-71350" y="723602"/>
            <a:ext cx="199778" cy="791925"/>
          </a:xfrm>
          <a:prstGeom prst="roundRect">
            <a:avLst/>
          </a:prstGeom>
          <a:solidFill>
            <a:srgbClr val="E3751E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ヒラギノ角ゴ ProN W3" charset="-128"/>
              <a:sym typeface="Gill Sans Light" charset="0"/>
            </a:endParaRP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445032" y="108414"/>
            <a:ext cx="3966454" cy="8509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lang="en-US" sz="2500" b="1" kern="1200" baseline="0" dirty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Add Title</a:t>
            </a:r>
          </a:p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(Two Lines Title)</a:t>
            </a:r>
            <a:endParaRPr lang="en-US" dirty="0"/>
          </a:p>
        </p:txBody>
      </p:sp>
      <p:sp>
        <p:nvSpPr>
          <p:cNvPr id="13" name="Content Placeholder 8"/>
          <p:cNvSpPr>
            <a:spLocks noGrp="1"/>
          </p:cNvSpPr>
          <p:nvPr>
            <p:ph sz="quarter" idx="11" hasCustomPrompt="1"/>
          </p:nvPr>
        </p:nvSpPr>
        <p:spPr>
          <a:xfrm>
            <a:off x="461741" y="1492399"/>
            <a:ext cx="3949744" cy="4356642"/>
          </a:xfrm>
          <a:prstGeom prst="rect">
            <a:avLst/>
          </a:prstGeom>
        </p:spPr>
        <p:txBody>
          <a:bodyPr vert="horz"/>
          <a:lstStyle>
            <a:lvl1pPr marL="0" indent="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Wingdings" charset="2"/>
              <a:buNone/>
              <a:defRPr lang="en-US" sz="15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1pPr>
            <a:lvl2pPr marL="177800" indent="-17780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Wingdings" charset="2"/>
              <a:buChar char="§"/>
              <a:defRPr lang="en-US" sz="15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2pPr>
            <a:lvl3pPr marL="285750" indent="-28575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Wingdings" charset="2"/>
              <a:buChar char="Ø"/>
              <a:defRPr lang="en-US" sz="15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3pPr>
            <a:lvl5pPr>
              <a:defRPr lang="en-US" sz="15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5pPr>
          </a:lstStyle>
          <a:p>
            <a:pPr lvl="0"/>
            <a:r>
              <a:rPr lang="en-US" dirty="0" smtClean="0"/>
              <a:t>Click to add content</a:t>
            </a:r>
          </a:p>
          <a:p>
            <a:pPr lvl="1"/>
            <a:r>
              <a:rPr lang="en-US" dirty="0" smtClean="0"/>
              <a:t>First level</a:t>
            </a:r>
          </a:p>
          <a:p>
            <a:pPr marL="622523" lvl="2" indent="-28575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Arial"/>
              <a:buChar char="•"/>
            </a:pPr>
            <a:r>
              <a:rPr lang="en-US" dirty="0" smtClean="0"/>
              <a:t>Second level</a:t>
            </a:r>
          </a:p>
          <a:p>
            <a:pPr lvl="4"/>
            <a:r>
              <a:rPr lang="en-US" dirty="0" smtClean="0"/>
              <a:t>Third level</a:t>
            </a:r>
            <a:endParaRPr lang="en-US" dirty="0"/>
          </a:p>
        </p:txBody>
      </p:sp>
      <p:sp>
        <p:nvSpPr>
          <p:cNvPr id="14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4862513" y="0"/>
            <a:ext cx="5043487" cy="6858000"/>
          </a:xfrm>
          <a:prstGeom prst="rect">
            <a:avLst/>
          </a:prstGeom>
        </p:spPr>
        <p:txBody>
          <a:bodyPr vert="horz"/>
          <a:lstStyle>
            <a:lvl1pPr algn="ctr">
              <a:defRPr lang="en-US" sz="1500" kern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1pPr>
          </a:lstStyle>
          <a:p>
            <a:pPr marL="0" lvl="0" indent="0" algn="l" rtl="0" eaLnBrk="1" fontAlgn="base" hangingPunct="1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Wingdings" charset="2"/>
              <a:buNone/>
            </a:pPr>
            <a:r>
              <a:rPr lang="en-US" smtClean="0"/>
              <a:t>Drag picture to placeholder or click icon to add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819398" y="1654500"/>
            <a:ext cx="8355012" cy="4227964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cs typeface="Calibri"/>
              </a:defRPr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 bwMode="auto">
          <a:xfrm>
            <a:off x="-1" y="1119565"/>
            <a:ext cx="9906001" cy="0"/>
          </a:xfrm>
          <a:prstGeom prst="line">
            <a:avLst/>
          </a:prstGeom>
          <a:solidFill>
            <a:srgbClr val="6C7472"/>
          </a:solidFill>
          <a:ln w="12700" cap="flat" cmpd="sng" algn="ctr">
            <a:solidFill>
              <a:srgbClr val="E3751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Rounded Rectangle 5"/>
          <p:cNvSpPr/>
          <p:nvPr userDrawn="1"/>
        </p:nvSpPr>
        <p:spPr bwMode="auto">
          <a:xfrm>
            <a:off x="-71350" y="723602"/>
            <a:ext cx="199778" cy="791925"/>
          </a:xfrm>
          <a:prstGeom prst="roundRect">
            <a:avLst/>
          </a:prstGeom>
          <a:solidFill>
            <a:srgbClr val="E3751E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ヒラギノ角ゴ ProN W3" charset="-128"/>
              <a:sym typeface="Gill Sans Light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39115" y="294671"/>
            <a:ext cx="4774459" cy="56730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lang="en-US" sz="2500" b="1" kern="1200" baseline="0" dirty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Add Title (One Line Title)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 bwMode="auto">
          <a:xfrm>
            <a:off x="-1" y="1119565"/>
            <a:ext cx="9906001" cy="0"/>
          </a:xfrm>
          <a:prstGeom prst="line">
            <a:avLst/>
          </a:prstGeom>
          <a:solidFill>
            <a:srgbClr val="6C7472"/>
          </a:solidFill>
          <a:ln w="12700" cap="flat" cmpd="sng" algn="ctr">
            <a:solidFill>
              <a:srgbClr val="E3751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Rounded Rectangle 2"/>
          <p:cNvSpPr/>
          <p:nvPr userDrawn="1"/>
        </p:nvSpPr>
        <p:spPr bwMode="auto">
          <a:xfrm>
            <a:off x="-71350" y="723602"/>
            <a:ext cx="199778" cy="791925"/>
          </a:xfrm>
          <a:prstGeom prst="roundRect">
            <a:avLst/>
          </a:prstGeom>
          <a:solidFill>
            <a:srgbClr val="E3751E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ヒラギノ角ゴ ProN W3" charset="-128"/>
              <a:sym typeface="Gill Sans Light" charset="0"/>
            </a:endParaRP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39115" y="294671"/>
            <a:ext cx="4774459" cy="56730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lang="en-US" sz="2500" b="1" kern="1200" baseline="0" dirty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Add Title (One Line Title)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5"/>
          </p:nvPr>
        </p:nvSpPr>
        <p:spPr>
          <a:xfrm>
            <a:off x="459299" y="1495297"/>
            <a:ext cx="9048789" cy="23653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500">
                <a:solidFill>
                  <a:srgbClr val="595959"/>
                </a:solidFill>
                <a:latin typeface="Calibri"/>
                <a:cs typeface="Calibri"/>
              </a:defRPr>
            </a:lvl1pPr>
          </a:lstStyle>
          <a:p>
            <a:r>
              <a:rPr lang="en-US" smtClean="0"/>
              <a:t>Click icon to add table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 bwMode="auto">
          <a:xfrm>
            <a:off x="-1" y="1119565"/>
            <a:ext cx="9906001" cy="0"/>
          </a:xfrm>
          <a:prstGeom prst="line">
            <a:avLst/>
          </a:prstGeom>
          <a:solidFill>
            <a:srgbClr val="6C7472"/>
          </a:solidFill>
          <a:ln w="12700" cap="flat" cmpd="sng" algn="ctr">
            <a:solidFill>
              <a:srgbClr val="E3751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Rounded Rectangle 2"/>
          <p:cNvSpPr/>
          <p:nvPr userDrawn="1"/>
        </p:nvSpPr>
        <p:spPr bwMode="auto">
          <a:xfrm>
            <a:off x="-71350" y="723602"/>
            <a:ext cx="199778" cy="791925"/>
          </a:xfrm>
          <a:prstGeom prst="roundRect">
            <a:avLst/>
          </a:prstGeom>
          <a:solidFill>
            <a:srgbClr val="E3751E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ヒラギノ角ゴ ProN W3" charset="-128"/>
              <a:sym typeface="Gill Sans Light" charset="0"/>
            </a:endParaRP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39115" y="294671"/>
            <a:ext cx="4774459" cy="56730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lang="en-US" sz="2500" b="1" kern="1200" baseline="0" dirty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Add Title (One Line Title)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5"/>
          </p:nvPr>
        </p:nvSpPr>
        <p:spPr>
          <a:xfrm>
            <a:off x="459299" y="1495296"/>
            <a:ext cx="4061901" cy="4214531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500">
                <a:solidFill>
                  <a:srgbClr val="595959"/>
                </a:solidFill>
                <a:latin typeface="Calibri"/>
                <a:cs typeface="Calibri"/>
              </a:defRPr>
            </a:lvl1pPr>
          </a:lstStyle>
          <a:p>
            <a:r>
              <a:rPr lang="en-US" smtClean="0"/>
              <a:t>Click icon to add table</a:t>
            </a:r>
            <a:endParaRPr lang="en-US" dirty="0"/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4910666" y="1490331"/>
            <a:ext cx="4480413" cy="421949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cs typeface="Calibri"/>
              </a:defRPr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1985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 bwMode="auto">
          <a:xfrm>
            <a:off x="-1" y="1119565"/>
            <a:ext cx="9906001" cy="0"/>
          </a:xfrm>
          <a:prstGeom prst="line">
            <a:avLst/>
          </a:prstGeom>
          <a:solidFill>
            <a:srgbClr val="6C7472"/>
          </a:solidFill>
          <a:ln w="12700" cap="flat" cmpd="sng" algn="ctr">
            <a:solidFill>
              <a:srgbClr val="E3751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Rounded Rectangle 3"/>
          <p:cNvSpPr/>
          <p:nvPr userDrawn="1"/>
        </p:nvSpPr>
        <p:spPr bwMode="auto">
          <a:xfrm>
            <a:off x="-71350" y="723602"/>
            <a:ext cx="199778" cy="791925"/>
          </a:xfrm>
          <a:prstGeom prst="roundRect">
            <a:avLst/>
          </a:prstGeom>
          <a:solidFill>
            <a:srgbClr val="E3751E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ヒラギノ角ゴ ProN W3" charset="-128"/>
              <a:sym typeface="Gill Sans Light" charset="0"/>
            </a:endParaRP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39115" y="294671"/>
            <a:ext cx="4774459" cy="56730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lang="en-US" sz="2500" b="1" kern="1200" baseline="0" dirty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Add Title (One Line Title)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624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 userDrawn="1"/>
        </p:nvSpPr>
        <p:spPr bwMode="auto">
          <a:xfrm>
            <a:off x="-71349" y="730104"/>
            <a:ext cx="199778" cy="791925"/>
          </a:xfrm>
          <a:prstGeom prst="roundRect">
            <a:avLst/>
          </a:prstGeom>
          <a:solidFill>
            <a:srgbClr val="0E6AA7"/>
          </a:solidFill>
          <a:ln w="12700" cap="flat" cmpd="sng" algn="ctr">
            <a:solidFill>
              <a:srgbClr val="0E6AA7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ヒラギノ角ゴ ProN W3" charset="-128"/>
              <a:sym typeface="Gill Sans Light" charset="0"/>
            </a:endParaRPr>
          </a:p>
        </p:txBody>
      </p:sp>
      <p:cxnSp>
        <p:nvCxnSpPr>
          <p:cNvPr id="8" name="Straight Connector 7"/>
          <p:cNvCxnSpPr/>
          <p:nvPr userDrawn="1"/>
        </p:nvCxnSpPr>
        <p:spPr bwMode="auto">
          <a:xfrm>
            <a:off x="0" y="1115261"/>
            <a:ext cx="9906000" cy="0"/>
          </a:xfrm>
          <a:prstGeom prst="line">
            <a:avLst/>
          </a:prstGeom>
          <a:solidFill>
            <a:srgbClr val="6C7472"/>
          </a:solidFill>
          <a:ln w="12700" cap="flat" cmpd="sng" algn="ctr">
            <a:solidFill>
              <a:srgbClr val="0E6AA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39115" y="294671"/>
            <a:ext cx="6613618" cy="56730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lang="en-US" sz="2500" b="1" kern="1200" baseline="0" dirty="0">
                <a:solidFill>
                  <a:srgbClr val="0E6AA7"/>
                </a:solidFill>
                <a:latin typeface="Calibri"/>
                <a:ea typeface="ＭＳ Ｐゴシック" charset="-128"/>
                <a:cs typeface="Calibri"/>
                <a:sym typeface="Arial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Add Divider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2569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>
            <a:stCxn id="4" idx="1"/>
          </p:cNvCxnSpPr>
          <p:nvPr userDrawn="1"/>
        </p:nvCxnSpPr>
        <p:spPr bwMode="auto">
          <a:xfrm>
            <a:off x="6347208" y="-63347"/>
            <a:ext cx="2" cy="6921347"/>
          </a:xfrm>
          <a:prstGeom prst="line">
            <a:avLst/>
          </a:prstGeom>
          <a:solidFill>
            <a:srgbClr val="6C7472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Rounded Rectangle 3"/>
          <p:cNvSpPr/>
          <p:nvPr userDrawn="1"/>
        </p:nvSpPr>
        <p:spPr bwMode="auto">
          <a:xfrm rot="5400000">
            <a:off x="6247319" y="-359420"/>
            <a:ext cx="199778" cy="791925"/>
          </a:xfrm>
          <a:prstGeom prst="roundRect">
            <a:avLst/>
          </a:prstGeom>
          <a:solidFill>
            <a:srgbClr val="009DD9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ヒラギノ角ゴ ProN W3" charset="-128"/>
              <a:sym typeface="Gill Sans Light" charset="0"/>
            </a:endParaRP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747929" y="1259871"/>
            <a:ext cx="2717803" cy="39132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lang="en-US" sz="2500" b="1" kern="1200" baseline="0" dirty="0">
                <a:solidFill>
                  <a:schemeClr val="accent2"/>
                </a:solidFill>
                <a:latin typeface="Calibri"/>
                <a:ea typeface="ＭＳ Ｐゴシック" charset="-128"/>
                <a:cs typeface="Calibri"/>
                <a:sym typeface="Arial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Add Divider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0790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 bwMode="auto">
          <a:xfrm>
            <a:off x="-1" y="4895718"/>
            <a:ext cx="9906001" cy="0"/>
          </a:xfrm>
          <a:prstGeom prst="line">
            <a:avLst/>
          </a:prstGeom>
          <a:solidFill>
            <a:srgbClr val="6C7472"/>
          </a:solidFill>
          <a:ln w="12700" cap="flat" cmpd="sng" algn="ctr">
            <a:solidFill>
              <a:srgbClr val="0E6AA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Rounded Rectangle 3"/>
          <p:cNvSpPr/>
          <p:nvPr userDrawn="1"/>
        </p:nvSpPr>
        <p:spPr bwMode="auto">
          <a:xfrm>
            <a:off x="-71350" y="4499755"/>
            <a:ext cx="199778" cy="791925"/>
          </a:xfrm>
          <a:prstGeom prst="roundRect">
            <a:avLst/>
          </a:prstGeom>
          <a:solidFill>
            <a:srgbClr val="0E6AA7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ヒラギノ角ゴ ProN W3" charset="-128"/>
              <a:sym typeface="Gill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4553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8521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9346208" y="6400800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EE24951-3932-7C43-91CA-F6847985FA28}" type="slidenum">
              <a:rPr lang="en-US" sz="1200" smtClean="0">
                <a:solidFill>
                  <a:schemeClr val="bg1">
                    <a:lumMod val="65000"/>
                  </a:schemeClr>
                </a:solidFill>
                <a:latin typeface="DINPro-Light"/>
                <a:cs typeface="DINPro-Light"/>
              </a:rPr>
              <a:pPr/>
              <a:t>‹#›</a:t>
            </a:fld>
            <a:endParaRPr lang="en-US" sz="1200" dirty="0" smtClean="0">
              <a:solidFill>
                <a:schemeClr val="bg1">
                  <a:lumMod val="65000"/>
                </a:schemeClr>
              </a:solidFill>
              <a:latin typeface="DINPro-Light"/>
              <a:cs typeface="DINPro-Ligh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02" r:id="rId2"/>
    <p:sldLayoutId id="2147483669" r:id="rId3"/>
    <p:sldLayoutId id="2147483670" r:id="rId4"/>
    <p:sldLayoutId id="2147483672" r:id="rId5"/>
    <p:sldLayoutId id="2147483705" r:id="rId6"/>
    <p:sldLayoutId id="2147483704" r:id="rId7"/>
    <p:sldLayoutId id="2147483707" r:id="rId8"/>
    <p:sldLayoutId id="2147483708" r:id="rId9"/>
    <p:sldLayoutId id="2147483706" r:id="rId10"/>
    <p:sldLayoutId id="2147483703" r:id="rId11"/>
  </p:sldLayoutIdLst>
  <p:transition/>
  <p:timing>
    <p:tnLst>
      <p:par>
        <p:cTn id="1" dur="indefinite" restart="never" nodeType="tmRoot"/>
      </p:par>
    </p:tnLst>
  </p:timing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FFFFFF"/>
          </a:solidFill>
          <a:latin typeface="+mj-lt"/>
          <a:ea typeface="+mj-ea"/>
          <a:cs typeface="+mj-cs"/>
          <a:sym typeface="Arial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FFFFFF"/>
          </a:solidFill>
          <a:latin typeface="Arial" charset="0"/>
          <a:ea typeface="ヒラギノ角ゴ ProN W3" charset="-128"/>
          <a:sym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FFFFFF"/>
          </a:solidFill>
          <a:latin typeface="Arial" charset="0"/>
          <a:ea typeface="ヒラギノ角ゴ ProN W3" charset="-128"/>
          <a:sym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FFFFFF"/>
          </a:solidFill>
          <a:latin typeface="Arial" charset="0"/>
          <a:ea typeface="ヒラギノ角ゴ ProN W3" charset="-128"/>
          <a:sym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FFFFFF"/>
          </a:solidFill>
          <a:latin typeface="Arial" charset="0"/>
          <a:ea typeface="ヒラギノ角ゴ ProN W3" charset="-128"/>
          <a:sym typeface="Arial" charset="0"/>
        </a:defRPr>
      </a:lvl5pPr>
      <a:lvl6pPr marL="336774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FFFFFF"/>
          </a:solidFill>
          <a:latin typeface="Arial" charset="0"/>
          <a:ea typeface="ヒラギノ角ゴ ProN W3" charset="-128"/>
          <a:sym typeface="Arial" charset="0"/>
        </a:defRPr>
      </a:lvl6pPr>
      <a:lvl7pPr marL="673547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FFFFFF"/>
          </a:solidFill>
          <a:latin typeface="Arial" charset="0"/>
          <a:ea typeface="ヒラギノ角ゴ ProN W3" charset="-128"/>
          <a:sym typeface="Arial" charset="0"/>
        </a:defRPr>
      </a:lvl7pPr>
      <a:lvl8pPr marL="1010321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FFFFFF"/>
          </a:solidFill>
          <a:latin typeface="Arial" charset="0"/>
          <a:ea typeface="ヒラギノ角ゴ ProN W3" charset="-128"/>
          <a:sym typeface="Arial" charset="0"/>
        </a:defRPr>
      </a:lvl8pPr>
      <a:lvl9pPr marL="1347094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FFFFFF"/>
          </a:solidFill>
          <a:latin typeface="Arial" charset="0"/>
          <a:ea typeface="ヒラギノ角ゴ ProN W3" charset="-128"/>
          <a:sym typeface="Arial" charset="0"/>
        </a:defRPr>
      </a:lvl9pPr>
    </p:titleStyle>
    <p:bodyStyle>
      <a:lvl1pPr marL="252580" indent="-252580" algn="l" rtl="0" eaLnBrk="1" fontAlgn="base" hangingPunct="1">
        <a:spcBef>
          <a:spcPct val="0"/>
        </a:spcBef>
        <a:spcAft>
          <a:spcPct val="0"/>
        </a:spcAft>
        <a:buChar char="•"/>
        <a:defRPr sz="1800">
          <a:solidFill>
            <a:srgbClr val="2F669E"/>
          </a:solidFill>
          <a:latin typeface="+mn-lt"/>
          <a:ea typeface="+mn-ea"/>
          <a:cs typeface="+mn-cs"/>
          <a:sym typeface="Arial" charset="0"/>
        </a:defRPr>
      </a:lvl1pPr>
      <a:lvl2pPr marL="547257" indent="-210483" algn="l" rtl="0" eaLnBrk="1" fontAlgn="base" hangingPunct="1">
        <a:spcBef>
          <a:spcPct val="0"/>
        </a:spcBef>
        <a:spcAft>
          <a:spcPct val="0"/>
        </a:spcAft>
        <a:buChar char="–"/>
        <a:defRPr sz="1800">
          <a:solidFill>
            <a:srgbClr val="2F669E"/>
          </a:solidFill>
          <a:latin typeface="+mn-lt"/>
          <a:ea typeface="+mn-ea"/>
          <a:sym typeface="Arial" charset="0"/>
        </a:defRPr>
      </a:lvl2pPr>
      <a:lvl3pPr marL="841934" indent="-168387" algn="l" rtl="0" eaLnBrk="1" fontAlgn="base" hangingPunct="1">
        <a:spcBef>
          <a:spcPct val="0"/>
        </a:spcBef>
        <a:spcAft>
          <a:spcPct val="0"/>
        </a:spcAft>
        <a:buChar char="•"/>
        <a:defRPr sz="1800">
          <a:solidFill>
            <a:srgbClr val="2F669E"/>
          </a:solidFill>
          <a:latin typeface="+mn-lt"/>
          <a:ea typeface="+mn-ea"/>
          <a:sym typeface="Arial" charset="0"/>
        </a:defRPr>
      </a:lvl3pPr>
      <a:lvl4pPr marL="1178707" indent="-168387" algn="l" rtl="0" eaLnBrk="1" fontAlgn="base" hangingPunct="1">
        <a:spcBef>
          <a:spcPct val="0"/>
        </a:spcBef>
        <a:spcAft>
          <a:spcPct val="0"/>
        </a:spcAft>
        <a:buChar char="–"/>
        <a:defRPr sz="1800">
          <a:solidFill>
            <a:srgbClr val="2F669E"/>
          </a:solidFill>
          <a:latin typeface="+mn-lt"/>
          <a:ea typeface="+mn-ea"/>
          <a:sym typeface="Arial" charset="0"/>
        </a:defRPr>
      </a:lvl4pPr>
      <a:lvl5pPr marL="1515481" indent="-168387" algn="l" rtl="0" eaLnBrk="1" fontAlgn="base" hangingPunct="1">
        <a:spcBef>
          <a:spcPct val="0"/>
        </a:spcBef>
        <a:spcAft>
          <a:spcPct val="0"/>
        </a:spcAft>
        <a:buChar char="»"/>
        <a:defRPr sz="1800">
          <a:solidFill>
            <a:srgbClr val="2F669E"/>
          </a:solidFill>
          <a:latin typeface="+mn-lt"/>
          <a:ea typeface="+mn-ea"/>
          <a:sym typeface="Arial" charset="0"/>
        </a:defRPr>
      </a:lvl5pPr>
      <a:lvl6pPr marL="336774" algn="l" rtl="0" eaLnBrk="1" fontAlgn="base" hangingPunct="1">
        <a:spcBef>
          <a:spcPct val="0"/>
        </a:spcBef>
        <a:spcAft>
          <a:spcPct val="0"/>
        </a:spcAft>
        <a:defRPr sz="1800">
          <a:solidFill>
            <a:srgbClr val="2F669E"/>
          </a:solidFill>
          <a:latin typeface="+mn-lt"/>
          <a:ea typeface="+mn-ea"/>
          <a:sym typeface="Arial" charset="0"/>
        </a:defRPr>
      </a:lvl6pPr>
      <a:lvl7pPr marL="673547" algn="l" rtl="0" eaLnBrk="1" fontAlgn="base" hangingPunct="1">
        <a:spcBef>
          <a:spcPct val="0"/>
        </a:spcBef>
        <a:spcAft>
          <a:spcPct val="0"/>
        </a:spcAft>
        <a:defRPr sz="1800">
          <a:solidFill>
            <a:srgbClr val="2F669E"/>
          </a:solidFill>
          <a:latin typeface="+mn-lt"/>
          <a:ea typeface="+mn-ea"/>
          <a:sym typeface="Arial" charset="0"/>
        </a:defRPr>
      </a:lvl7pPr>
      <a:lvl8pPr marL="1010321" algn="l" rtl="0" eaLnBrk="1" fontAlgn="base" hangingPunct="1">
        <a:spcBef>
          <a:spcPct val="0"/>
        </a:spcBef>
        <a:spcAft>
          <a:spcPct val="0"/>
        </a:spcAft>
        <a:defRPr sz="1800">
          <a:solidFill>
            <a:srgbClr val="2F669E"/>
          </a:solidFill>
          <a:latin typeface="+mn-lt"/>
          <a:ea typeface="+mn-ea"/>
          <a:sym typeface="Arial" charset="0"/>
        </a:defRPr>
      </a:lvl8pPr>
      <a:lvl9pPr marL="1347094" algn="l" rtl="0" eaLnBrk="1" fontAlgn="base" hangingPunct="1">
        <a:spcBef>
          <a:spcPct val="0"/>
        </a:spcBef>
        <a:spcAft>
          <a:spcPct val="0"/>
        </a:spcAft>
        <a:defRPr sz="1800">
          <a:solidFill>
            <a:srgbClr val="2F669E"/>
          </a:solidFill>
          <a:latin typeface="+mn-lt"/>
          <a:ea typeface="+mn-ea"/>
          <a:sym typeface="Arial" charset="0"/>
        </a:defRPr>
      </a:lvl9pPr>
    </p:bodyStyle>
    <p:otherStyle>
      <a:defPPr>
        <a:defRPr lang="en-US"/>
      </a:defPPr>
      <a:lvl1pPr marL="0" algn="l" defTabSz="67354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36774" algn="l" defTabSz="67354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73547" algn="l" defTabSz="67354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10321" algn="l" defTabSz="67354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47094" algn="l" defTabSz="67354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83868" algn="l" defTabSz="67354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020641" algn="l" defTabSz="67354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57415" algn="l" defTabSz="67354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694188" algn="l" defTabSz="67354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eg"/><Relationship Id="rId7" Type="http://schemas.openxmlformats.org/officeDocument/2006/relationships/image" Target="../media/image6.jpeg"/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rey-MIT-Logo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815" y="322863"/>
            <a:ext cx="1643209" cy="603628"/>
          </a:xfrm>
          <a:prstGeom prst="rect">
            <a:avLst/>
          </a:prstGeom>
        </p:spPr>
      </p:pic>
      <p:sp>
        <p:nvSpPr>
          <p:cNvPr id="7" name="Title 2"/>
          <p:cNvSpPr txBox="1">
            <a:spLocks/>
          </p:cNvSpPr>
          <p:nvPr/>
        </p:nvSpPr>
        <p:spPr>
          <a:xfrm>
            <a:off x="357632" y="5154026"/>
            <a:ext cx="9188914" cy="1296222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500">
                <a:solidFill>
                  <a:srgbClr val="FFFFFF"/>
                </a:solidFill>
                <a:latin typeface="+mj-lt"/>
                <a:ea typeface="+mj-ea"/>
                <a:cs typeface="+mj-cs"/>
                <a:sym typeface="Arial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500">
                <a:solidFill>
                  <a:srgbClr val="FFFFFF"/>
                </a:solidFill>
                <a:latin typeface="Arial" charset="0"/>
                <a:ea typeface="ヒラギノ角ゴ ProN W3" charset="-128"/>
                <a:sym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500">
                <a:solidFill>
                  <a:srgbClr val="FFFFFF"/>
                </a:solidFill>
                <a:latin typeface="Arial" charset="0"/>
                <a:ea typeface="ヒラギノ角ゴ ProN W3" charset="-128"/>
                <a:sym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500">
                <a:solidFill>
                  <a:srgbClr val="FFFFFF"/>
                </a:solidFill>
                <a:latin typeface="Arial" charset="0"/>
                <a:ea typeface="ヒラギノ角ゴ ProN W3" charset="-128"/>
                <a:sym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500">
                <a:solidFill>
                  <a:srgbClr val="FFFFFF"/>
                </a:solidFill>
                <a:latin typeface="Arial" charset="0"/>
                <a:ea typeface="ヒラギノ角ゴ ProN W3" charset="-128"/>
                <a:sym typeface="Arial" charset="0"/>
              </a:defRPr>
            </a:lvl5pPr>
            <a:lvl6pPr marL="336774" algn="l" rtl="0" eaLnBrk="1" fontAlgn="base" hangingPunct="1">
              <a:spcBef>
                <a:spcPct val="0"/>
              </a:spcBef>
              <a:spcAft>
                <a:spcPct val="0"/>
              </a:spcAft>
              <a:defRPr sz="3500">
                <a:solidFill>
                  <a:srgbClr val="FFFFFF"/>
                </a:solidFill>
                <a:latin typeface="Arial" charset="0"/>
                <a:ea typeface="ヒラギノ角ゴ ProN W3" charset="-128"/>
                <a:sym typeface="Arial" charset="0"/>
              </a:defRPr>
            </a:lvl6pPr>
            <a:lvl7pPr marL="673547" algn="l" rtl="0" eaLnBrk="1" fontAlgn="base" hangingPunct="1">
              <a:spcBef>
                <a:spcPct val="0"/>
              </a:spcBef>
              <a:spcAft>
                <a:spcPct val="0"/>
              </a:spcAft>
              <a:defRPr sz="3500">
                <a:solidFill>
                  <a:srgbClr val="FFFFFF"/>
                </a:solidFill>
                <a:latin typeface="Arial" charset="0"/>
                <a:ea typeface="ヒラギノ角ゴ ProN W3" charset="-128"/>
                <a:sym typeface="Arial" charset="0"/>
              </a:defRPr>
            </a:lvl7pPr>
            <a:lvl8pPr marL="1010321" algn="l" rtl="0" eaLnBrk="1" fontAlgn="base" hangingPunct="1">
              <a:spcBef>
                <a:spcPct val="0"/>
              </a:spcBef>
              <a:spcAft>
                <a:spcPct val="0"/>
              </a:spcAft>
              <a:defRPr sz="3500">
                <a:solidFill>
                  <a:srgbClr val="FFFFFF"/>
                </a:solidFill>
                <a:latin typeface="Arial" charset="0"/>
                <a:ea typeface="ヒラギノ角ゴ ProN W3" charset="-128"/>
                <a:sym typeface="Arial" charset="0"/>
              </a:defRPr>
            </a:lvl8pPr>
            <a:lvl9pPr marL="1347094" algn="l" rtl="0" eaLnBrk="1" fontAlgn="base" hangingPunct="1">
              <a:spcBef>
                <a:spcPct val="0"/>
              </a:spcBef>
              <a:spcAft>
                <a:spcPct val="0"/>
              </a:spcAft>
              <a:defRPr sz="3500">
                <a:solidFill>
                  <a:srgbClr val="FFFFFF"/>
                </a:solidFill>
                <a:latin typeface="Arial" charset="0"/>
                <a:ea typeface="ヒラギノ角ゴ ProN W3" charset="-128"/>
                <a:sym typeface="Arial" charset="0"/>
              </a:defRPr>
            </a:lvl9pPr>
          </a:lstStyle>
          <a:p>
            <a:pPr algn="ctr"/>
            <a:r>
              <a:rPr lang="en-US" sz="4000" b="1" dirty="0" smtClean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</a:rPr>
              <a:t>Research Computing requirements	</a:t>
            </a:r>
            <a:endParaRPr lang="en-US" sz="4000" b="1" kern="1200" dirty="0" smtClean="0">
              <a:solidFill>
                <a:srgbClr val="E3751E"/>
              </a:solidFill>
              <a:latin typeface="Calibri"/>
              <a:ea typeface="ＭＳ Ｐゴシック" charset="-128"/>
              <a:cs typeface="Calibri"/>
            </a:endParaRPr>
          </a:p>
          <a:p>
            <a:pPr algn="ctr"/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ＭＳ Ｐゴシック" charset="-128"/>
                <a:cs typeface="Calibri"/>
              </a:rPr>
              <a:t>Survey results</a:t>
            </a:r>
            <a:endParaRPr lang="en-US" sz="2800" b="1" dirty="0">
              <a:solidFill>
                <a:schemeClr val="tx1">
                  <a:lumMod val="50000"/>
                  <a:lumOff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8" name="Picture 7" descr="MI-Logo-High-Resolution.jp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62086" y="143765"/>
            <a:ext cx="2226068" cy="942532"/>
          </a:xfrm>
          <a:prstGeom prst="rect">
            <a:avLst/>
          </a:prstGeom>
        </p:spPr>
      </p:pic>
      <p:pic>
        <p:nvPicPr>
          <p:cNvPr id="11" name="Picture 10" descr="Shadow PP_10440.jpg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23" t="10900" r="11567" b="1560"/>
          <a:stretch/>
        </p:blipFill>
        <p:spPr>
          <a:xfrm>
            <a:off x="7509935" y="1241544"/>
            <a:ext cx="2396065" cy="3599050"/>
          </a:xfrm>
          <a:prstGeom prst="rect">
            <a:avLst/>
          </a:prstGeom>
        </p:spPr>
      </p:pic>
      <p:pic>
        <p:nvPicPr>
          <p:cNvPr id="12" name="Picture 11" descr="MIday4-047.jpg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41" r="3131"/>
          <a:stretch/>
        </p:blipFill>
        <p:spPr>
          <a:xfrm flipH="1">
            <a:off x="-16934" y="1241544"/>
            <a:ext cx="3522133" cy="3599050"/>
          </a:xfrm>
          <a:prstGeom prst="rect">
            <a:avLst/>
          </a:prstGeom>
        </p:spPr>
      </p:pic>
      <p:pic>
        <p:nvPicPr>
          <p:cNvPr id="13" name="Picture 12" descr="ShadowPP MASDAR2 1195.jpg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79" r="7969" b="4260"/>
          <a:stretch/>
        </p:blipFill>
        <p:spPr>
          <a:xfrm>
            <a:off x="3412066" y="1241544"/>
            <a:ext cx="2306409" cy="3599050"/>
          </a:xfrm>
          <a:prstGeom prst="rect">
            <a:avLst/>
          </a:prstGeom>
        </p:spPr>
      </p:pic>
      <p:pic>
        <p:nvPicPr>
          <p:cNvPr id="14" name="Picture 13" descr="ShadowPP MASDAR4 3054.jpg"/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15" r="33961" b="1709"/>
          <a:stretch/>
        </p:blipFill>
        <p:spPr>
          <a:xfrm>
            <a:off x="5499353" y="1241545"/>
            <a:ext cx="2020059" cy="3599050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 bwMode="auto">
          <a:xfrm>
            <a:off x="0" y="4840595"/>
            <a:ext cx="9906000" cy="0"/>
          </a:xfrm>
          <a:prstGeom prst="line">
            <a:avLst/>
          </a:prstGeom>
          <a:solidFill>
            <a:srgbClr val="6C7472"/>
          </a:solidFill>
          <a:ln w="12700" cap="flat" cmpd="sng" algn="ctr">
            <a:solidFill>
              <a:srgbClr val="E3751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Rounded Rectangle 16"/>
          <p:cNvSpPr/>
          <p:nvPr/>
        </p:nvSpPr>
        <p:spPr bwMode="auto">
          <a:xfrm>
            <a:off x="-71349" y="4437498"/>
            <a:ext cx="199778" cy="791925"/>
          </a:xfrm>
          <a:prstGeom prst="roundRect">
            <a:avLst/>
          </a:prstGeom>
          <a:solidFill>
            <a:srgbClr val="E3751E"/>
          </a:solidFill>
          <a:ln w="12700" cap="flat" cmpd="sng" algn="ctr">
            <a:solidFill>
              <a:srgbClr val="E3751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ヒラギノ角ゴ ProN W3" charset="-128"/>
              <a:sym typeface="Gill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0431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Overall Response to survey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459300" y="1495297"/>
            <a:ext cx="9022379" cy="5057903"/>
          </a:xfrm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We received a total of </a:t>
            </a:r>
            <a:r>
              <a:rPr lang="en-US" sz="1800" dirty="0" smtClean="0"/>
              <a:t>68</a:t>
            </a:r>
            <a:r>
              <a:rPr lang="en-US" sz="1800" dirty="0" smtClean="0"/>
              <a:t> </a:t>
            </a:r>
            <a:r>
              <a:rPr lang="en-US" sz="1800" dirty="0" smtClean="0"/>
              <a:t>responses to the survey</a:t>
            </a:r>
          </a:p>
          <a:p>
            <a:pPr marL="463550" lvl="1" indent="-285750">
              <a:buFont typeface="Arial" charset="0"/>
              <a:buChar char="•"/>
            </a:pPr>
            <a:r>
              <a:rPr lang="en-US" sz="1600" dirty="0" smtClean="0"/>
              <a:t>27</a:t>
            </a:r>
            <a:r>
              <a:rPr lang="en-US" sz="1600" dirty="0" smtClean="0"/>
              <a:t> </a:t>
            </a:r>
            <a:r>
              <a:rPr lang="en-US" sz="1600" dirty="0" smtClean="0"/>
              <a:t>responses from the </a:t>
            </a:r>
            <a:r>
              <a:rPr lang="en-US" sz="1600" dirty="0" err="1" smtClean="0"/>
              <a:t>Sas</a:t>
            </a:r>
            <a:r>
              <a:rPr lang="en-US" sz="1600" dirty="0" smtClean="0"/>
              <a:t> Al </a:t>
            </a:r>
            <a:r>
              <a:rPr lang="en-US" sz="1600" dirty="0" err="1" smtClean="0"/>
              <a:t>Nakhl</a:t>
            </a:r>
            <a:r>
              <a:rPr lang="en-US" sz="1600" dirty="0" smtClean="0"/>
              <a:t> Campus.</a:t>
            </a:r>
            <a:endParaRPr lang="en-US" sz="1600" dirty="0" smtClean="0"/>
          </a:p>
          <a:p>
            <a:pPr marL="463550" lvl="1" indent="-285750">
              <a:buFont typeface="Arial" charset="0"/>
              <a:buChar char="•"/>
            </a:pPr>
            <a:r>
              <a:rPr lang="en-US" sz="1600" dirty="0" smtClean="0"/>
              <a:t>13</a:t>
            </a:r>
            <a:r>
              <a:rPr lang="en-US" sz="1600" dirty="0" smtClean="0"/>
              <a:t> responses </a:t>
            </a:r>
            <a:r>
              <a:rPr lang="en-US" sz="1600" dirty="0" smtClean="0"/>
              <a:t>from Masdar </a:t>
            </a:r>
            <a:r>
              <a:rPr lang="en-US" sz="1600" dirty="0" smtClean="0"/>
              <a:t>City Campus.</a:t>
            </a:r>
          </a:p>
          <a:p>
            <a:pPr marL="463550" lvl="1" indent="-285750">
              <a:buFont typeface="Arial" charset="0"/>
              <a:buChar char="•"/>
            </a:pPr>
            <a:r>
              <a:rPr lang="en-US" sz="1600" dirty="0" smtClean="0"/>
              <a:t>28  responses from Main Campus.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51 </a:t>
            </a:r>
            <a:r>
              <a:rPr lang="en-US" sz="1800" dirty="0" smtClean="0"/>
              <a:t> </a:t>
            </a:r>
            <a:r>
              <a:rPr lang="en-US" sz="1800" dirty="0" smtClean="0"/>
              <a:t>were faculty members </a:t>
            </a:r>
          </a:p>
          <a:p>
            <a:pPr marL="463550" lvl="1" indent="-285750">
              <a:buFont typeface="Arial" charset="0"/>
              <a:buChar char="•"/>
            </a:pPr>
            <a:r>
              <a:rPr lang="en-US" sz="1600" dirty="0" smtClean="0"/>
              <a:t>The  remaining </a:t>
            </a:r>
            <a:r>
              <a:rPr lang="en-US" sz="1600" dirty="0" smtClean="0"/>
              <a:t>17 </a:t>
            </a:r>
            <a:r>
              <a:rPr lang="en-US" sz="1600" dirty="0" smtClean="0"/>
              <a:t>were a mixture of </a:t>
            </a:r>
            <a:r>
              <a:rPr lang="en-US" sz="1600" dirty="0" smtClean="0"/>
              <a:t>postdocs, graduate students, and a </a:t>
            </a:r>
            <a:r>
              <a:rPr lang="en-US" sz="1600" dirty="0" smtClean="0"/>
              <a:t>research engineers</a:t>
            </a:r>
            <a:r>
              <a:rPr lang="en-US" sz="1600" dirty="0"/>
              <a:t>.</a:t>
            </a:r>
            <a:endParaRPr lang="en-US" sz="1600" dirty="0" smtClean="0"/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Of the </a:t>
            </a:r>
            <a:r>
              <a:rPr lang="en-US" sz="1800" dirty="0" smtClean="0"/>
              <a:t>68</a:t>
            </a:r>
            <a:r>
              <a:rPr lang="en-US" sz="1800" dirty="0" smtClean="0"/>
              <a:t> </a:t>
            </a:r>
            <a:r>
              <a:rPr lang="en-US" sz="1800" dirty="0" smtClean="0"/>
              <a:t>respondents </a:t>
            </a:r>
            <a:r>
              <a:rPr lang="en-US" sz="1800" dirty="0" smtClean="0"/>
              <a:t>43</a:t>
            </a:r>
            <a:r>
              <a:rPr lang="en-US" sz="1800" dirty="0" smtClean="0"/>
              <a:t> </a:t>
            </a:r>
            <a:r>
              <a:rPr lang="en-US" sz="1800" dirty="0" smtClean="0"/>
              <a:t>had researchers, postdoc or grad students reporting to them. </a:t>
            </a:r>
            <a:r>
              <a:rPr lang="en-US" sz="1800" dirty="0" smtClean="0"/>
              <a:t>25 </a:t>
            </a:r>
            <a:r>
              <a:rPr lang="en-US" sz="1800" dirty="0" smtClean="0"/>
              <a:t>had no direct reports</a:t>
            </a:r>
          </a:p>
          <a:p>
            <a:pPr marL="463550" lvl="1" indent="-285750">
              <a:buFont typeface="Arial" charset="0"/>
              <a:buChar char="•"/>
            </a:pPr>
            <a:r>
              <a:rPr lang="en-US" sz="1800" dirty="0" smtClean="0"/>
              <a:t>Combined these respondents were responsible for:</a:t>
            </a:r>
          </a:p>
          <a:p>
            <a:pPr marL="571500" lvl="2">
              <a:buFont typeface="Arial" charset="0"/>
              <a:buChar char="•"/>
            </a:pPr>
            <a:r>
              <a:rPr lang="en-US" sz="1600" dirty="0" smtClean="0"/>
              <a:t>36 </a:t>
            </a:r>
            <a:r>
              <a:rPr lang="en-US" sz="1600" dirty="0" smtClean="0"/>
              <a:t>researchers, </a:t>
            </a:r>
            <a:r>
              <a:rPr lang="en-US" sz="1600" dirty="0" smtClean="0"/>
              <a:t>35</a:t>
            </a:r>
            <a:r>
              <a:rPr lang="en-US" sz="1600" dirty="0" smtClean="0"/>
              <a:t> </a:t>
            </a:r>
            <a:r>
              <a:rPr lang="en-US" sz="1600" dirty="0" smtClean="0"/>
              <a:t>post docs and </a:t>
            </a:r>
            <a:r>
              <a:rPr lang="en-US" sz="1600" dirty="0" smtClean="0"/>
              <a:t>35</a:t>
            </a:r>
            <a:r>
              <a:rPr lang="en-US" sz="1600" dirty="0" smtClean="0"/>
              <a:t> </a:t>
            </a:r>
            <a:r>
              <a:rPr lang="en-US" sz="1600" dirty="0" smtClean="0"/>
              <a:t>graduate students.</a:t>
            </a:r>
            <a:endParaRPr lang="en-US" sz="1600" dirty="0"/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This is a much smaller sample size than the last survey.</a:t>
            </a:r>
            <a:endParaRPr lang="en-US" sz="1800" dirty="0" smtClean="0"/>
          </a:p>
          <a:p>
            <a:pPr marL="285750" indent="-285750">
              <a:buFont typeface="Arial" charset="0"/>
              <a:buChar char="•"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30100970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45032" y="108414"/>
            <a:ext cx="7530568" cy="850900"/>
          </a:xfrm>
        </p:spPr>
        <p:txBody>
          <a:bodyPr/>
          <a:lstStyle/>
          <a:p>
            <a:r>
              <a:rPr lang="en-US" b="0" dirty="0" smtClean="0"/>
              <a:t>Q2.5 </a:t>
            </a:r>
            <a:r>
              <a:rPr lang="en-US" b="0" dirty="0"/>
              <a:t>- Do you have any active projects in one of the following research areas? </a:t>
            </a:r>
            <a:endParaRPr lang="en-US" dirty="0"/>
          </a:p>
        </p:txBody>
      </p:sp>
      <p:pic>
        <p:nvPicPr>
          <p:cNvPr id="5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6467" y="1165291"/>
            <a:ext cx="8864599" cy="554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7522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39115" y="294671"/>
            <a:ext cx="9466885" cy="789062"/>
          </a:xfrm>
        </p:spPr>
        <p:txBody>
          <a:bodyPr/>
          <a:lstStyle/>
          <a:p>
            <a:r>
              <a:rPr lang="en-US" b="0" dirty="0"/>
              <a:t>Q3.1 - Currently, how do you conduct research computing ? Select all that apply</a:t>
            </a:r>
            <a:endParaRPr lang="en-US" dirty="0"/>
          </a:p>
        </p:txBody>
      </p:sp>
      <p:pic>
        <p:nvPicPr>
          <p:cNvPr id="4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1999" y="1218107"/>
            <a:ext cx="8360333" cy="522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431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39115" y="294671"/>
            <a:ext cx="9077418" cy="814462"/>
          </a:xfrm>
        </p:spPr>
        <p:txBody>
          <a:bodyPr/>
          <a:lstStyle/>
          <a:p>
            <a:r>
              <a:rPr lang="en-US" b="0" dirty="0"/>
              <a:t>Q3.2 - What HPC / research computing technology do you want or hope to use over the next two years? Select all that apply</a:t>
            </a:r>
            <a:endParaRPr lang="en-US" dirty="0"/>
          </a:p>
        </p:txBody>
      </p:sp>
      <p:pic>
        <p:nvPicPr>
          <p:cNvPr id="5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1999" y="1199999"/>
            <a:ext cx="8284133" cy="5177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644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39115" y="294671"/>
            <a:ext cx="8831885" cy="797529"/>
          </a:xfrm>
        </p:spPr>
        <p:txBody>
          <a:bodyPr/>
          <a:lstStyle/>
          <a:p>
            <a:r>
              <a:rPr lang="en-US" b="0" dirty="0"/>
              <a:t>Q3.3 - Please rank the following in terms of importance , most important first.</a:t>
            </a:r>
            <a:endParaRPr lang="en-US" dirty="0"/>
          </a:p>
        </p:txBody>
      </p:sp>
      <p:pic>
        <p:nvPicPr>
          <p:cNvPr id="4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2000" y="1200000"/>
            <a:ext cx="8000000" cy="5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5958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59300" y="1495297"/>
            <a:ext cx="9022379" cy="4888570"/>
          </a:xfrm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67% </a:t>
            </a:r>
            <a:r>
              <a:rPr lang="en-US" sz="1800" dirty="0" smtClean="0"/>
              <a:t>	- “Yes, I am happy with current provision”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33% </a:t>
            </a:r>
            <a:r>
              <a:rPr lang="en-US" sz="1800" dirty="0" smtClean="0"/>
              <a:t>	- “No, I am unable to carry out some research</a:t>
            </a:r>
            <a:r>
              <a:rPr lang="is-IS" sz="1800" dirty="0" smtClean="0"/>
              <a:t>…” </a:t>
            </a:r>
          </a:p>
          <a:p>
            <a:pPr marL="342900" indent="-342900">
              <a:spcBef>
                <a:spcPct val="0"/>
              </a:spcBef>
              <a:spcAft>
                <a:spcPct val="0"/>
              </a:spcAft>
              <a:buClrTx/>
              <a:buFont typeface="Arial" charset="0"/>
              <a:buChar char="•"/>
            </a:pPr>
            <a:endParaRPr lang="is-IS" sz="1800" dirty="0" smtClean="0"/>
          </a:p>
          <a:p>
            <a:pPr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000" kern="1200" dirty="0" smtClean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rPr>
              <a:t>Q3.5 </a:t>
            </a:r>
            <a:r>
              <a:rPr lang="en-US" sz="2000" kern="1200" dirty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rPr>
              <a:t>- What are you is it that you are unable to do? E.g. study a larger system, more time steps, finer mesh etc</a:t>
            </a:r>
            <a:r>
              <a:rPr lang="en-US" sz="2000" kern="1200" dirty="0" smtClean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rPr>
              <a:t>..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</a:pPr>
            <a:endParaRPr lang="is-IS" sz="2000" kern="1200" dirty="0" smtClean="0">
              <a:solidFill>
                <a:srgbClr val="E3751E"/>
              </a:solidFill>
              <a:latin typeface="Calibri"/>
              <a:ea typeface="ＭＳ Ｐゴシック" charset="-128"/>
              <a:cs typeface="Calibri"/>
              <a:sym typeface="Arial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is-IS" sz="1800" dirty="0" smtClean="0">
                <a:sym typeface="Arial" charset="0"/>
              </a:rPr>
              <a:t>The comments were overwhelmingly about studing larger systems, or using finer meshes.  I.e. </a:t>
            </a:r>
            <a:r>
              <a:rPr lang="en-US" sz="1800" dirty="0" smtClean="0">
                <a:sym typeface="Arial" charset="0"/>
              </a:rPr>
              <a:t>N</a:t>
            </a:r>
            <a:r>
              <a:rPr lang="is-IS" sz="1800" dirty="0" smtClean="0">
                <a:sym typeface="Arial" charset="0"/>
              </a:rPr>
              <a:t>o comments about new technolgies or other change in direction</a:t>
            </a:r>
            <a:r>
              <a:rPr lang="is-IS" sz="1800" dirty="0" smtClean="0">
                <a:sym typeface="Arial" charset="0"/>
              </a:rPr>
              <a:t>.</a:t>
            </a:r>
          </a:p>
          <a:p>
            <a:pPr marL="285750" indent="-285750">
              <a:buFont typeface="Arial" charset="0"/>
              <a:buChar char="•"/>
            </a:pPr>
            <a:r>
              <a:rPr lang="is-IS" sz="1800" dirty="0" smtClean="0">
                <a:sym typeface="Arial" charset="0"/>
              </a:rPr>
              <a:t>A few comments on limitations due to software licnences.</a:t>
            </a:r>
            <a:endParaRPr lang="is-IS" sz="1800" dirty="0" smtClean="0">
              <a:sym typeface="Arial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is-IS" sz="1800" dirty="0" smtClean="0">
                <a:sym typeface="Arial" charset="0"/>
              </a:rPr>
              <a:t>T</a:t>
            </a:r>
            <a:r>
              <a:rPr lang="en-US" sz="1800" dirty="0" smtClean="0">
                <a:sym typeface="Arial" charset="0"/>
              </a:rPr>
              <a:t>h</a:t>
            </a:r>
            <a:r>
              <a:rPr lang="is-IS" sz="1800" dirty="0" smtClean="0">
                <a:sym typeface="Arial" charset="0"/>
              </a:rPr>
              <a:t>ere were a few comments about lack of knowledgable/adequate support both in terms of system adminsitration and HPC specific user support.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45032" y="108414"/>
            <a:ext cx="9164635" cy="850900"/>
          </a:xfrm>
        </p:spPr>
        <p:txBody>
          <a:bodyPr/>
          <a:lstStyle/>
          <a:p>
            <a:r>
              <a:rPr lang="en-US" sz="2000" b="0" dirty="0"/>
              <a:t>Q3.4 - Overall, are the current research computing facilities adequate for your research? Are you able to address your research questions with current resources?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6978020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39115" y="294671"/>
            <a:ext cx="9042564" cy="772129"/>
          </a:xfrm>
        </p:spPr>
        <p:txBody>
          <a:bodyPr/>
          <a:lstStyle/>
          <a:p>
            <a:r>
              <a:rPr lang="en-US" b="0" dirty="0"/>
              <a:t>Q3.6 - What resource or tools do you need to remove these limitations?</a:t>
            </a:r>
            <a:endParaRPr lang="en-US" dirty="0"/>
          </a:p>
        </p:txBody>
      </p:sp>
      <p:pic>
        <p:nvPicPr>
          <p:cNvPr id="5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9115" y="1208466"/>
            <a:ext cx="8631267" cy="539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03849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39115" y="294671"/>
            <a:ext cx="9042564" cy="805996"/>
          </a:xfrm>
        </p:spPr>
        <p:txBody>
          <a:bodyPr/>
          <a:lstStyle/>
          <a:p>
            <a:r>
              <a:rPr lang="en-US" b="0" dirty="0"/>
              <a:t>Q3.6 - What resource or tools do you need to remove these limitations</a:t>
            </a:r>
            <a:r>
              <a:rPr lang="en-US" b="0" dirty="0" smtClean="0"/>
              <a:t>? Contd.</a:t>
            </a:r>
            <a:endParaRPr lang="en-US" dirty="0"/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There is an emphasis on processing power and memory, with software applications being another important concern for the researchers.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Training of students was also mentioned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3901652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39115" y="294671"/>
            <a:ext cx="8798018" cy="772129"/>
          </a:xfrm>
        </p:spPr>
        <p:txBody>
          <a:bodyPr/>
          <a:lstStyle/>
          <a:p>
            <a:r>
              <a:rPr lang="en-US" sz="2000" b="0" dirty="0" smtClean="0"/>
              <a:t>Q4.1 What </a:t>
            </a:r>
            <a:r>
              <a:rPr lang="en-US" sz="2000" b="0" dirty="0"/>
              <a:t>are the top three essential software applications for your research ? </a:t>
            </a:r>
            <a:r>
              <a:rPr lang="en-US" sz="2000" b="0" dirty="0" smtClean="0"/>
              <a:t> Are they funded centrally or from research budget?</a:t>
            </a:r>
            <a:endParaRPr lang="en-US" sz="2000" b="0" dirty="0"/>
          </a:p>
          <a:p>
            <a:endParaRPr lang="en-US" dirty="0"/>
          </a:p>
        </p:txBody>
      </p:sp>
      <p:pic>
        <p:nvPicPr>
          <p:cNvPr id="5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1999" y="1199999"/>
            <a:ext cx="8842933" cy="552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43495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45031" y="108414"/>
            <a:ext cx="9036647" cy="850900"/>
          </a:xfrm>
        </p:spPr>
        <p:txBody>
          <a:bodyPr/>
          <a:lstStyle/>
          <a:p>
            <a:r>
              <a:rPr lang="en-US" sz="2000" b="0" dirty="0"/>
              <a:t>Q4.1 What are the top three essential software applications for your research ?  Are they funded centrally or from research budget? Contd.</a:t>
            </a:r>
          </a:p>
          <a:p>
            <a:endParaRPr lang="en-US" dirty="0"/>
          </a:p>
        </p:txBody>
      </p:sp>
      <p:pic>
        <p:nvPicPr>
          <p:cNvPr id="4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1999" y="1199999"/>
            <a:ext cx="8402667" cy="525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51086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39115" y="294671"/>
            <a:ext cx="9246752" cy="645129"/>
          </a:xfrm>
        </p:spPr>
        <p:txBody>
          <a:bodyPr/>
          <a:lstStyle/>
          <a:p>
            <a:r>
              <a:rPr lang="en-US" b="0" dirty="0"/>
              <a:t>Q4.2 - What training courses would you find </a:t>
            </a:r>
            <a:r>
              <a:rPr lang="en-US" b="0" dirty="0" smtClean="0"/>
              <a:t>useful, pick all that apply</a:t>
            </a:r>
            <a:endParaRPr lang="en-US" dirty="0"/>
          </a:p>
        </p:txBody>
      </p:sp>
      <p:pic>
        <p:nvPicPr>
          <p:cNvPr id="5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5066" y="1208467"/>
            <a:ext cx="8631267" cy="539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912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39115" y="294671"/>
            <a:ext cx="9466885" cy="712862"/>
          </a:xfrm>
        </p:spPr>
        <p:txBody>
          <a:bodyPr/>
          <a:lstStyle/>
          <a:p>
            <a:r>
              <a:rPr lang="en-US" sz="2000" b="0" dirty="0" smtClean="0"/>
              <a:t>Q5.1 - Specifically </a:t>
            </a:r>
            <a:r>
              <a:rPr lang="en-US" sz="2000" b="0" dirty="0"/>
              <a:t>for research data storage, please rank the following characteristics in order of importance, most important first</a:t>
            </a:r>
            <a:endParaRPr lang="en-US" sz="2000" dirty="0"/>
          </a:p>
        </p:txBody>
      </p:sp>
      <p:pic>
        <p:nvPicPr>
          <p:cNvPr id="5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1999" y="1200000"/>
            <a:ext cx="8529667" cy="533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6368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45031" y="108414"/>
            <a:ext cx="9164635" cy="850900"/>
          </a:xfrm>
        </p:spPr>
        <p:txBody>
          <a:bodyPr/>
          <a:lstStyle/>
          <a:p>
            <a:r>
              <a:rPr lang="en-US" b="0" dirty="0"/>
              <a:t>Q5.2 - How much storage do you need for your research data over the next two years?</a:t>
            </a:r>
            <a:endParaRPr lang="en-US" dirty="0"/>
          </a:p>
        </p:txBody>
      </p:sp>
      <p:pic>
        <p:nvPicPr>
          <p:cNvPr id="5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4333" y="1284667"/>
            <a:ext cx="8000000" cy="5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72926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59300" y="1495297"/>
            <a:ext cx="9022379" cy="4643036"/>
          </a:xfrm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To put these numbers in context, currently research computing at Masdar have a total ~ 400Tb of storage, PI reported ~460Tb and 24Tb at </a:t>
            </a:r>
            <a:r>
              <a:rPr lang="en-US" sz="1800" dirty="0" err="1" smtClean="0"/>
              <a:t>Khalifa</a:t>
            </a:r>
            <a:r>
              <a:rPr lang="en-US" sz="1800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endParaRPr lang="en-US" sz="18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500" kern="1200" dirty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rPr>
              <a:t>Q6.1 - How do you see your requirements changing over the next two years? For, instance do you anticipate a demand for new technologies? If so, what are they</a:t>
            </a:r>
            <a:r>
              <a:rPr lang="en-US" sz="2500" kern="1200" dirty="0" smtClean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rPr>
              <a:t>?</a:t>
            </a:r>
          </a:p>
          <a:p>
            <a:pPr marL="342900" indent="-342900">
              <a:spcBef>
                <a:spcPct val="0"/>
              </a:spcBef>
              <a:spcAft>
                <a:spcPct val="0"/>
              </a:spcAft>
              <a:buClrTx/>
              <a:buFont typeface="Arial" charset="0"/>
              <a:buChar char="•"/>
            </a:pPr>
            <a:endParaRPr lang="en-US" sz="1800" kern="1200" dirty="0" smtClean="0">
              <a:solidFill>
                <a:srgbClr val="E3751E"/>
              </a:solidFill>
              <a:latin typeface="Calibri"/>
              <a:ea typeface="ＭＳ Ｐゴシック" charset="-128"/>
              <a:cs typeface="Calibri"/>
              <a:sym typeface="Arial" charset="0"/>
            </a:endParaRPr>
          </a:p>
          <a:p>
            <a:pPr marL="342900" indent="-342900">
              <a:spcBef>
                <a:spcPct val="0"/>
              </a:spcBef>
              <a:spcAft>
                <a:spcPct val="0"/>
              </a:spcAft>
              <a:buClrTx/>
              <a:buFont typeface="Arial" charset="0"/>
              <a:buChar char="•"/>
            </a:pPr>
            <a:r>
              <a:rPr lang="en-US" sz="1800" dirty="0" smtClean="0">
                <a:sym typeface="Arial" charset="0"/>
              </a:rPr>
              <a:t>Generally, the comments were either stating that no change in technology or software is expected, or to ask for more compute power, support, and storage.</a:t>
            </a:r>
            <a:endParaRPr lang="en-US" sz="1800" dirty="0">
              <a:sym typeface="Arial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45032" y="108414"/>
            <a:ext cx="8521168" cy="850900"/>
          </a:xfrm>
        </p:spPr>
        <p:txBody>
          <a:bodyPr/>
          <a:lstStyle/>
          <a:p>
            <a:r>
              <a:rPr lang="en-US" b="0" dirty="0"/>
              <a:t>Q5.2 - How much storage do you need for your research data over the next two years</a:t>
            </a:r>
            <a:r>
              <a:rPr lang="en-US" b="0" dirty="0" smtClean="0"/>
              <a:t>? Contd.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1970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dirty="0" smtClean="0"/>
              <a:t>There was an emphasis on the need for support, both system administration and user support.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A few comments were around the desire to access HPC resources from all 3 institutions.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The number of software licenses was also mentioned</a:t>
            </a:r>
            <a:r>
              <a:rPr lang="en-US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One comment was requesting the KU webpages be updated!</a:t>
            </a:r>
            <a:endParaRPr lang="en-US" dirty="0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45031" y="108414"/>
            <a:ext cx="8377235" cy="850900"/>
          </a:xfrm>
        </p:spPr>
        <p:txBody>
          <a:bodyPr/>
          <a:lstStyle/>
          <a:p>
            <a:r>
              <a:rPr lang="en-US" b="0" dirty="0"/>
              <a:t>Q6.2 - Do you wish to add any other comments? e.g. specific application support or anything else we may have missed?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43562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9300" y="1495297"/>
            <a:ext cx="9022379" cy="3965703"/>
          </a:xfrm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The results do not show a significant change from the </a:t>
            </a:r>
            <a:r>
              <a:rPr lang="en-US" sz="1800" smtClean="0"/>
              <a:t>last survey.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The </a:t>
            </a:r>
            <a:r>
              <a:rPr lang="en-US" sz="1800" dirty="0" smtClean="0"/>
              <a:t>survey results strongly suggest that there is a large need for HPC resources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Some of this need is being met, but clearly more needs to be done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The emphasis is currently on more compute capacity, with storage being a secondary concern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The need for support, both system admin and user support,  is another common theme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There is a need for basic HPC training as well as courses to enable researchers to better develop their own code, and make use of existing GPU resources</a:t>
            </a:r>
          </a:p>
        </p:txBody>
      </p:sp>
    </p:spTree>
    <p:extLst>
      <p:ext uri="{BB962C8B-B14F-4D97-AF65-F5344CB8AC3E}">
        <p14:creationId xmlns:p14="http://schemas.microsoft.com/office/powerpoint/2010/main" val="179679933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Title &amp; Subtitle">
      <a:majorFont>
        <a:latin typeface="Arial"/>
        <a:ea typeface="ヒラギノ角ゴ ProN W3"/>
        <a:cs typeface=""/>
      </a:majorFont>
      <a:minorFont>
        <a:latin typeface="Arial"/>
        <a:ea typeface="ヒラギノ角ゴ ProN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-128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-128"/>
            <a:sym typeface="Gill Sans Light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600" dirty="0" smtClean="0">
            <a:solidFill>
              <a:srgbClr val="007AA5"/>
            </a:solidFill>
            <a:latin typeface="DINPro-Light"/>
            <a:cs typeface="DINPro-Light"/>
          </a:defRPr>
        </a:defPPr>
      </a:lstStyle>
    </a:tx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asdar Institute Presentation Template" id="{B188B43E-F571-9340-A989-9F9DE41BF78D}" vid="{3710A80E-D3E5-C34F-A74E-8D2ACFE7ABA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Masdar Institute Presentation Template</Template>
  <TotalTime>430</TotalTime>
  <Words>669</Words>
  <Application>Microsoft Macintosh PowerPoint</Application>
  <PresentationFormat>A4 Paper (210x297 mm)</PresentationFormat>
  <Paragraphs>55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Calibri</vt:lpstr>
      <vt:lpstr>DINPro-Light</vt:lpstr>
      <vt:lpstr>Gill Sans Light</vt:lpstr>
      <vt:lpstr>ＭＳ Ｐゴシック</vt:lpstr>
      <vt:lpstr>Wingdings</vt:lpstr>
      <vt:lpstr>ヒラギノ角ゴ ProN W3</vt:lpstr>
      <vt:lpstr>Arial</vt:lpstr>
      <vt:lpstr>Default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Dureid El-Moghraby</dc:creator>
  <cp:lastModifiedBy>Dureid El-Moghraby</cp:lastModifiedBy>
  <cp:revision>30</cp:revision>
  <dcterms:created xsi:type="dcterms:W3CDTF">2017-02-15T08:16:24Z</dcterms:created>
  <dcterms:modified xsi:type="dcterms:W3CDTF">2018-05-24T05:35:31Z</dcterms:modified>
</cp:coreProperties>
</file>