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433" r:id="rId3"/>
    <p:sldId id="470" r:id="rId4"/>
    <p:sldId id="457" r:id="rId5"/>
    <p:sldId id="458" r:id="rId6"/>
    <p:sldId id="474" r:id="rId7"/>
    <p:sldId id="475" r:id="rId8"/>
    <p:sldId id="479" r:id="rId9"/>
    <p:sldId id="452" r:id="rId10"/>
    <p:sldId id="482" r:id="rId11"/>
    <p:sldId id="486" r:id="rId12"/>
    <p:sldId id="487" r:id="rId13"/>
    <p:sldId id="480" r:id="rId14"/>
    <p:sldId id="488" r:id="rId15"/>
    <p:sldId id="489" r:id="rId16"/>
    <p:sldId id="478" r:id="rId17"/>
    <p:sldId id="339" r:id="rId18"/>
    <p:sldId id="476" r:id="rId19"/>
    <p:sldId id="484" r:id="rId20"/>
    <p:sldId id="4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93"/>
    <a:srgbClr val="003366"/>
    <a:srgbClr val="AFB086"/>
    <a:srgbClr val="56838C"/>
    <a:srgbClr val="4F7993"/>
    <a:srgbClr val="344B70"/>
    <a:srgbClr val="9BA492"/>
    <a:srgbClr val="7199C5"/>
    <a:srgbClr val="526580"/>
    <a:srgbClr val="647B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00" autoAdjust="0"/>
    <p:restoredTop sz="94660"/>
  </p:normalViewPr>
  <p:slideViewPr>
    <p:cSldViewPr snapToGrid="0">
      <p:cViewPr varScale="1">
        <p:scale>
          <a:sx n="65" d="100"/>
          <a:sy n="65" d="100"/>
        </p:scale>
        <p:origin x="80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4EC6E0-607C-4805-8283-008D81604C08}" type="datetimeFigureOut">
              <a:rPr lang="en-US" smtClean="0"/>
              <a:t>5/10/2023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2FBDD9-B294-417D-956A-0A43B6F86EC9}" type="slidenum">
              <a:rPr lang="en-US" smtClean="0"/>
              <a:t>‹#›</a:t>
            </a:fld>
            <a:endParaRPr lang="en-US"/>
          </a:p>
        </p:txBody>
      </p:sp>
    </p:spTree>
    <p:extLst>
      <p:ext uri="{BB962C8B-B14F-4D97-AF65-F5344CB8AC3E}">
        <p14:creationId xmlns:p14="http://schemas.microsoft.com/office/powerpoint/2010/main" val="2650515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FBDD9-B294-417D-956A-0A43B6F86E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0727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2FBDD9-B294-417D-956A-0A43B6F86EC9}" type="slidenum">
              <a:rPr lang="en-US" smtClean="0"/>
              <a:t>18</a:t>
            </a:fld>
            <a:endParaRPr lang="en-US"/>
          </a:p>
        </p:txBody>
      </p:sp>
    </p:spTree>
    <p:extLst>
      <p:ext uri="{BB962C8B-B14F-4D97-AF65-F5344CB8AC3E}">
        <p14:creationId xmlns:p14="http://schemas.microsoft.com/office/powerpoint/2010/main" val="3902128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44252-E08B-49A3-A276-30CA135018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1324EB-D102-43CE-BD58-C2AAEB7FF7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1971B1-F789-467C-B744-A01C7FDAE2A2}"/>
              </a:ext>
            </a:extLst>
          </p:cNvPr>
          <p:cNvSpPr>
            <a:spLocks noGrp="1"/>
          </p:cNvSpPr>
          <p:nvPr>
            <p:ph type="dt" sz="half" idx="10"/>
          </p:nvPr>
        </p:nvSpPr>
        <p:spPr/>
        <p:txBody>
          <a:bodyPr/>
          <a:lstStyle/>
          <a:p>
            <a:fld id="{60A5DFA1-C5FD-48BE-A0DE-9D610AD38983}" type="datetime1">
              <a:rPr lang="en-US" smtClean="0"/>
              <a:t>5/10/2023</a:t>
            </a:fld>
            <a:endParaRPr lang="en-US"/>
          </a:p>
        </p:txBody>
      </p:sp>
      <p:sp>
        <p:nvSpPr>
          <p:cNvPr id="5" name="Footer Placeholder 4">
            <a:extLst>
              <a:ext uri="{FF2B5EF4-FFF2-40B4-BE49-F238E27FC236}">
                <a16:creationId xmlns:a16="http://schemas.microsoft.com/office/drawing/2014/main" id="{3190AC69-4AC2-48B1-A357-AB01AC0FE0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E6996-18DD-4629-8E0F-F21DF992FB8C}"/>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139518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776E-3FB2-4AE9-BBBE-8A789090CF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1600C3-7A08-49D6-850F-348969AC629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32A6AC-4E1D-4FB6-8A65-73A09F1F6C87}"/>
              </a:ext>
            </a:extLst>
          </p:cNvPr>
          <p:cNvSpPr>
            <a:spLocks noGrp="1"/>
          </p:cNvSpPr>
          <p:nvPr>
            <p:ph type="dt" sz="half" idx="10"/>
          </p:nvPr>
        </p:nvSpPr>
        <p:spPr/>
        <p:txBody>
          <a:bodyPr/>
          <a:lstStyle/>
          <a:p>
            <a:fld id="{8082ACC9-007B-4A27-A3A5-25609A7B3217}" type="datetime1">
              <a:rPr lang="en-US" smtClean="0"/>
              <a:t>5/10/2023</a:t>
            </a:fld>
            <a:endParaRPr lang="en-US" dirty="0"/>
          </a:p>
        </p:txBody>
      </p:sp>
      <p:sp>
        <p:nvSpPr>
          <p:cNvPr id="5" name="Footer Placeholder 4">
            <a:extLst>
              <a:ext uri="{FF2B5EF4-FFF2-40B4-BE49-F238E27FC236}">
                <a16:creationId xmlns:a16="http://schemas.microsoft.com/office/drawing/2014/main" id="{A00B9EC4-0D48-4BA7-8D4A-179834784D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2A0937-34DC-4AF4-AAA7-8D3BFD864D8E}"/>
              </a:ext>
            </a:extLst>
          </p:cNvPr>
          <p:cNvSpPr>
            <a:spLocks noGrp="1"/>
          </p:cNvSpPr>
          <p:nvPr>
            <p:ph type="sldNum" sz="quarter" idx="12"/>
          </p:nvPr>
        </p:nvSpPr>
        <p:spPr/>
        <p:txBody>
          <a:bodyPr/>
          <a:lstStyle/>
          <a:p>
            <a:fld id="{1AF0B153-E3E2-4097-9E51-5A688B93C85A}" type="slidenum">
              <a:rPr lang="en-US" smtClean="0"/>
              <a:t>‹#›</a:t>
            </a:fld>
            <a:endParaRPr lang="en-US"/>
          </a:p>
        </p:txBody>
      </p:sp>
      <p:pic>
        <p:nvPicPr>
          <p:cNvPr id="7" name="Picture 6">
            <a:extLst>
              <a:ext uri="{FF2B5EF4-FFF2-40B4-BE49-F238E27FC236}">
                <a16:creationId xmlns:a16="http://schemas.microsoft.com/office/drawing/2014/main" id="{FF43302E-1B07-472A-8B65-43549A5C15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182780"/>
            <a:ext cx="1811848" cy="185303"/>
          </a:xfrm>
          <a:prstGeom prst="rect">
            <a:avLst/>
          </a:prstGeom>
        </p:spPr>
      </p:pic>
      <p:cxnSp>
        <p:nvCxnSpPr>
          <p:cNvPr id="9" name="Straight Connector 8">
            <a:extLst>
              <a:ext uri="{FF2B5EF4-FFF2-40B4-BE49-F238E27FC236}">
                <a16:creationId xmlns:a16="http://schemas.microsoft.com/office/drawing/2014/main" id="{76B08B4C-EB73-4D96-9105-37C3E5FE826A}"/>
              </a:ext>
            </a:extLst>
          </p:cNvPr>
          <p:cNvCxnSpPr/>
          <p:nvPr userDrawn="1"/>
        </p:nvCxnSpPr>
        <p:spPr>
          <a:xfrm>
            <a:off x="631859" y="555195"/>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6A4EEF4-230F-41BD-816E-04624CB41D5E}"/>
              </a:ext>
            </a:extLst>
          </p:cNvPr>
          <p:cNvSpPr/>
          <p:nvPr userDrawn="1"/>
        </p:nvSpPr>
        <p:spPr>
          <a:xfrm>
            <a:off x="10396230" y="90892"/>
            <a:ext cx="957570" cy="369332"/>
          </a:xfrm>
          <a:prstGeom prst="rect">
            <a:avLst/>
          </a:prstGeom>
        </p:spPr>
        <p:txBody>
          <a:bodyPr wrap="none">
            <a:spAutoFit/>
          </a:bodyPr>
          <a:lstStyle/>
          <a:p>
            <a:pPr algn="r"/>
            <a:r>
              <a:rPr lang="fi-FI" sz="1800" dirty="0">
                <a:solidFill>
                  <a:schemeClr val="bg2"/>
                </a:solidFill>
              </a:rPr>
              <a:t>ku.ac.ae</a:t>
            </a:r>
            <a:endParaRPr lang="en-US" sz="1800" dirty="0">
              <a:solidFill>
                <a:schemeClr val="bg2"/>
              </a:solidFill>
            </a:endParaRPr>
          </a:p>
        </p:txBody>
      </p:sp>
    </p:spTree>
    <p:extLst>
      <p:ext uri="{BB962C8B-B14F-4D97-AF65-F5344CB8AC3E}">
        <p14:creationId xmlns:p14="http://schemas.microsoft.com/office/powerpoint/2010/main" val="1882878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E750A-72E8-440E-8603-82B0E2F801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0CE0CD-932D-427D-A588-DF5FE8A293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FF19EB-648D-464D-BCD9-E5B99B6318F9}"/>
              </a:ext>
            </a:extLst>
          </p:cNvPr>
          <p:cNvSpPr>
            <a:spLocks noGrp="1"/>
          </p:cNvSpPr>
          <p:nvPr>
            <p:ph type="dt" sz="half" idx="10"/>
          </p:nvPr>
        </p:nvSpPr>
        <p:spPr/>
        <p:txBody>
          <a:bodyPr/>
          <a:lstStyle/>
          <a:p>
            <a:fld id="{08EC28FB-8AD2-4CCD-8DF8-C1FF8EDB1C5A}" type="datetime1">
              <a:rPr lang="en-US" smtClean="0"/>
              <a:t>5/10/2023</a:t>
            </a:fld>
            <a:endParaRPr lang="en-US"/>
          </a:p>
        </p:txBody>
      </p:sp>
      <p:sp>
        <p:nvSpPr>
          <p:cNvPr id="5" name="Footer Placeholder 4">
            <a:extLst>
              <a:ext uri="{FF2B5EF4-FFF2-40B4-BE49-F238E27FC236}">
                <a16:creationId xmlns:a16="http://schemas.microsoft.com/office/drawing/2014/main" id="{F6467C6D-109C-4F15-93EF-57CA20C3D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120BB-A34D-4C50-A64F-1502BB205A1A}"/>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794254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0F7F-005B-4C6B-90B5-C166CABCA6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3BF27-4170-49F9-A100-7D384F530C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128A44-C747-4876-976E-F21FB99D82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D6F690-751D-475D-BA2C-8A9A13C17A2D}"/>
              </a:ext>
            </a:extLst>
          </p:cNvPr>
          <p:cNvSpPr>
            <a:spLocks noGrp="1"/>
          </p:cNvSpPr>
          <p:nvPr>
            <p:ph type="dt" sz="half" idx="10"/>
          </p:nvPr>
        </p:nvSpPr>
        <p:spPr/>
        <p:txBody>
          <a:bodyPr/>
          <a:lstStyle/>
          <a:p>
            <a:fld id="{0102285C-8CA1-4ACC-8612-C37383CA7CE9}" type="datetime1">
              <a:rPr lang="en-US" smtClean="0"/>
              <a:t>5/10/2023</a:t>
            </a:fld>
            <a:endParaRPr lang="en-US"/>
          </a:p>
        </p:txBody>
      </p:sp>
      <p:sp>
        <p:nvSpPr>
          <p:cNvPr id="6" name="Footer Placeholder 5">
            <a:extLst>
              <a:ext uri="{FF2B5EF4-FFF2-40B4-BE49-F238E27FC236}">
                <a16:creationId xmlns:a16="http://schemas.microsoft.com/office/drawing/2014/main" id="{343F7EDB-7BA0-4BB2-9792-3881D958BD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64F106-7F86-4222-A27D-7940EA4DC13E}"/>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1340238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0255-B59B-44D4-9565-0B727922DF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B7776B-B362-435F-B51D-242FBB4C9B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82DCDD-7036-43AD-8C92-799B7A7C16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E8260A-ADA6-47A7-85AE-C49E75A2BC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A3C27-2C4D-4608-B336-34D10CBF5B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A3B002-6CB0-4205-9977-1D2366F7610D}"/>
              </a:ext>
            </a:extLst>
          </p:cNvPr>
          <p:cNvSpPr>
            <a:spLocks noGrp="1"/>
          </p:cNvSpPr>
          <p:nvPr>
            <p:ph type="dt" sz="half" idx="10"/>
          </p:nvPr>
        </p:nvSpPr>
        <p:spPr/>
        <p:txBody>
          <a:bodyPr/>
          <a:lstStyle/>
          <a:p>
            <a:fld id="{F31C561A-982D-4AE6-AB27-772BE8DCEB66}" type="datetime1">
              <a:rPr lang="en-US" smtClean="0"/>
              <a:t>5/10/2023</a:t>
            </a:fld>
            <a:endParaRPr lang="en-US"/>
          </a:p>
        </p:txBody>
      </p:sp>
      <p:sp>
        <p:nvSpPr>
          <p:cNvPr id="8" name="Footer Placeholder 7">
            <a:extLst>
              <a:ext uri="{FF2B5EF4-FFF2-40B4-BE49-F238E27FC236}">
                <a16:creationId xmlns:a16="http://schemas.microsoft.com/office/drawing/2014/main" id="{49BE49C0-A4F5-49A2-B2CD-E059C0EDD3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8749C9-F221-4BE4-8CEE-15E499BE9991}"/>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1947750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4456-4585-40E9-AF9E-10CECAB3E2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15D053-68A3-4FC8-8CBE-7BAF6F9417C0}"/>
              </a:ext>
            </a:extLst>
          </p:cNvPr>
          <p:cNvSpPr>
            <a:spLocks noGrp="1"/>
          </p:cNvSpPr>
          <p:nvPr>
            <p:ph type="dt" sz="half" idx="10"/>
          </p:nvPr>
        </p:nvSpPr>
        <p:spPr/>
        <p:txBody>
          <a:bodyPr/>
          <a:lstStyle/>
          <a:p>
            <a:fld id="{CE28ECCF-470B-4465-B6D0-BE9EB2B35770}" type="datetime1">
              <a:rPr lang="en-US" smtClean="0"/>
              <a:t>5/10/2023</a:t>
            </a:fld>
            <a:endParaRPr lang="en-US"/>
          </a:p>
        </p:txBody>
      </p:sp>
      <p:sp>
        <p:nvSpPr>
          <p:cNvPr id="4" name="Footer Placeholder 3">
            <a:extLst>
              <a:ext uri="{FF2B5EF4-FFF2-40B4-BE49-F238E27FC236}">
                <a16:creationId xmlns:a16="http://schemas.microsoft.com/office/drawing/2014/main" id="{D7353761-B3E7-4C02-8C8F-DD40E38F87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0FA2A4-BC92-46EC-8BA0-D38B525368F7}"/>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27860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5179D-1290-4BC5-81C4-479AFF762AAD}"/>
              </a:ext>
            </a:extLst>
          </p:cNvPr>
          <p:cNvSpPr>
            <a:spLocks noGrp="1"/>
          </p:cNvSpPr>
          <p:nvPr>
            <p:ph type="dt" sz="half" idx="10"/>
          </p:nvPr>
        </p:nvSpPr>
        <p:spPr/>
        <p:txBody>
          <a:bodyPr/>
          <a:lstStyle/>
          <a:p>
            <a:fld id="{322433CC-99E8-444C-B924-1837D29F3DA3}" type="datetime1">
              <a:rPr lang="en-US" smtClean="0"/>
              <a:t>5/10/2023</a:t>
            </a:fld>
            <a:endParaRPr lang="en-US"/>
          </a:p>
        </p:txBody>
      </p:sp>
      <p:sp>
        <p:nvSpPr>
          <p:cNvPr id="3" name="Footer Placeholder 2">
            <a:extLst>
              <a:ext uri="{FF2B5EF4-FFF2-40B4-BE49-F238E27FC236}">
                <a16:creationId xmlns:a16="http://schemas.microsoft.com/office/drawing/2014/main" id="{A35875AD-E91A-4953-ACBB-64E3CC4796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41DF02-F497-4176-9C31-4F16AB22ECE6}"/>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2417782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00F8D-79DB-4EE4-82F1-A0B16300B2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CCF18C-2E74-43C3-AEFE-0905C617FF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56360D-A0E5-4DAC-B846-FA553B8F1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CB1B1F-9A6B-448E-8DF8-582FC10F040E}"/>
              </a:ext>
            </a:extLst>
          </p:cNvPr>
          <p:cNvSpPr>
            <a:spLocks noGrp="1"/>
          </p:cNvSpPr>
          <p:nvPr>
            <p:ph type="dt" sz="half" idx="10"/>
          </p:nvPr>
        </p:nvSpPr>
        <p:spPr/>
        <p:txBody>
          <a:bodyPr/>
          <a:lstStyle/>
          <a:p>
            <a:fld id="{56B8D5AC-7787-46EF-B202-CBEF849DA8C6}" type="datetime1">
              <a:rPr lang="en-US" smtClean="0"/>
              <a:t>5/10/2023</a:t>
            </a:fld>
            <a:endParaRPr lang="en-US"/>
          </a:p>
        </p:txBody>
      </p:sp>
      <p:sp>
        <p:nvSpPr>
          <p:cNvPr id="6" name="Footer Placeholder 5">
            <a:extLst>
              <a:ext uri="{FF2B5EF4-FFF2-40B4-BE49-F238E27FC236}">
                <a16:creationId xmlns:a16="http://schemas.microsoft.com/office/drawing/2014/main" id="{10C5B11A-2D9C-4A71-976A-D1A4A9A657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D6942A-DCA1-4D43-BD92-CA8E76A47C11}"/>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2269293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ED016-C67C-44C0-8B33-12A9F54E7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9E8BC2-AFBC-4F8E-8ED8-60929DFED1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75907F-E13A-4E95-963F-843E87CEB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DB4D2C-9F05-44F8-B47D-B3A38D18705D}"/>
              </a:ext>
            </a:extLst>
          </p:cNvPr>
          <p:cNvSpPr>
            <a:spLocks noGrp="1"/>
          </p:cNvSpPr>
          <p:nvPr>
            <p:ph type="dt" sz="half" idx="10"/>
          </p:nvPr>
        </p:nvSpPr>
        <p:spPr/>
        <p:txBody>
          <a:bodyPr/>
          <a:lstStyle/>
          <a:p>
            <a:fld id="{8949A9CC-71AF-4EE2-834F-F8670361CE1D}" type="datetime1">
              <a:rPr lang="en-US" smtClean="0"/>
              <a:t>5/10/2023</a:t>
            </a:fld>
            <a:endParaRPr lang="en-US"/>
          </a:p>
        </p:txBody>
      </p:sp>
      <p:sp>
        <p:nvSpPr>
          <p:cNvPr id="6" name="Footer Placeholder 5">
            <a:extLst>
              <a:ext uri="{FF2B5EF4-FFF2-40B4-BE49-F238E27FC236}">
                <a16:creationId xmlns:a16="http://schemas.microsoft.com/office/drawing/2014/main" id="{87BF696C-A829-4C32-B2A0-1C288C25F2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400402-FD2D-4C7F-A4E7-529D390DD5BF}"/>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1855286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63F0-D65C-4DFA-9033-87830BC087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DBD4D8-8FC0-450C-95FA-8FBA8D8BA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13234-6E5B-42F0-9F9D-93BE74BEBDCA}"/>
              </a:ext>
            </a:extLst>
          </p:cNvPr>
          <p:cNvSpPr>
            <a:spLocks noGrp="1"/>
          </p:cNvSpPr>
          <p:nvPr>
            <p:ph type="dt" sz="half" idx="10"/>
          </p:nvPr>
        </p:nvSpPr>
        <p:spPr/>
        <p:txBody>
          <a:bodyPr/>
          <a:lstStyle/>
          <a:p>
            <a:fld id="{659DB120-3B95-43CB-9808-F1300093FA82}" type="datetime1">
              <a:rPr lang="en-US" smtClean="0"/>
              <a:t>5/10/2023</a:t>
            </a:fld>
            <a:endParaRPr lang="en-US"/>
          </a:p>
        </p:txBody>
      </p:sp>
      <p:sp>
        <p:nvSpPr>
          <p:cNvPr id="5" name="Footer Placeholder 4">
            <a:extLst>
              <a:ext uri="{FF2B5EF4-FFF2-40B4-BE49-F238E27FC236}">
                <a16:creationId xmlns:a16="http://schemas.microsoft.com/office/drawing/2014/main" id="{662EC097-DBD9-480F-9686-A724208D5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CC1DBF-633E-4858-9995-13E21947E43D}"/>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3519823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21EAB-41EF-4BD7-B08D-EA266C5C5F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179E57-217B-410E-9B4D-1A8777FA85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DFBAA-E05E-4821-BFE0-969C270EC9BE}"/>
              </a:ext>
            </a:extLst>
          </p:cNvPr>
          <p:cNvSpPr>
            <a:spLocks noGrp="1"/>
          </p:cNvSpPr>
          <p:nvPr>
            <p:ph type="dt" sz="half" idx="10"/>
          </p:nvPr>
        </p:nvSpPr>
        <p:spPr/>
        <p:txBody>
          <a:bodyPr/>
          <a:lstStyle/>
          <a:p>
            <a:fld id="{6F06E608-01B2-4494-BD46-AE8B1F0ACA50}" type="datetime1">
              <a:rPr lang="en-US" smtClean="0"/>
              <a:t>5/10/2023</a:t>
            </a:fld>
            <a:endParaRPr lang="en-US"/>
          </a:p>
        </p:txBody>
      </p:sp>
      <p:sp>
        <p:nvSpPr>
          <p:cNvPr id="5" name="Footer Placeholder 4">
            <a:extLst>
              <a:ext uri="{FF2B5EF4-FFF2-40B4-BE49-F238E27FC236}">
                <a16:creationId xmlns:a16="http://schemas.microsoft.com/office/drawing/2014/main" id="{71DD1EDC-9AC9-4379-8BE2-A9C4E13F3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44E37-E688-4383-90FB-926584A54FCB}"/>
              </a:ext>
            </a:extLst>
          </p:cNvPr>
          <p:cNvSpPr>
            <a:spLocks noGrp="1"/>
          </p:cNvSpPr>
          <p:nvPr>
            <p:ph type="sldNum" sz="quarter" idx="12"/>
          </p:nvPr>
        </p:nvSpPr>
        <p:spPr/>
        <p:txBody>
          <a:bodyPr/>
          <a:lstStyle/>
          <a:p>
            <a:fld id="{1AF0B153-E3E2-4097-9E51-5A688B93C85A}" type="slidenum">
              <a:rPr lang="en-US" smtClean="0"/>
              <a:t>‹#›</a:t>
            </a:fld>
            <a:endParaRPr lang="en-US"/>
          </a:p>
        </p:txBody>
      </p:sp>
    </p:spTree>
    <p:extLst>
      <p:ext uri="{BB962C8B-B14F-4D97-AF65-F5344CB8AC3E}">
        <p14:creationId xmlns:p14="http://schemas.microsoft.com/office/powerpoint/2010/main" val="608509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ar-EG"/>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ar-EG"/>
          </a:p>
        </p:txBody>
      </p:sp>
      <p:sp>
        <p:nvSpPr>
          <p:cNvPr id="4" name="Date Placeholder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EBE3389-A277-430F-8354-0F1D2024276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81658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F1D2CAFB-9439-47F0-AD87-14D54E0E377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2808679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E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6E633A65-E812-47FA-9D7A-FF2AE818A9A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77728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383E0527-6198-4916-A51F-29602E1705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9612590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ar-E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7EE6D6C-36B4-48C9-8489-E53D28E24DD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726344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Date Placeholder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3642368F-92EB-45A0-BFDB-81BC3340401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3413198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DF562F-A64E-4CB6-B5C3-C5C91842D87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4533904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r">
              <a:defRPr sz="2000" b="1"/>
            </a:lvl1pPr>
          </a:lstStyle>
          <a:p>
            <a:r>
              <a:rPr lang="en-US"/>
              <a:t>Click to edit Master title style</a:t>
            </a:r>
            <a:endParaRPr lang="ar-EG"/>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DCCEAC1-AD48-4080-BC64-666E3EC343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9017373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r">
              <a:defRPr sz="2000" b="1"/>
            </a:lvl1pPr>
          </a:lstStyle>
          <a:p>
            <a:r>
              <a:rPr lang="en-US"/>
              <a:t>Click to edit Master title style</a:t>
            </a:r>
            <a:endParaRPr lang="ar-E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E06703B-DD71-40C3-A559-E7DD5E218CA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324149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F4D19B9-E985-4003-B26B-A0203EBEC32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2051348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ar-EG"/>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48D57DC-1605-4AD2-9062-3FB04C9D1B7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3731678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6162676" y="1152525"/>
            <a:ext cx="5191124" cy="5162121"/>
          </a:xfrm>
        </p:spPr>
        <p:txBody>
          <a:bodyPr/>
          <a:lstStyle>
            <a:lvl1pPr>
              <a:defRPr b="0"/>
            </a:lvl1pPr>
          </a:lstStyle>
          <a:p>
            <a:pPr lvl="0"/>
            <a:r>
              <a:rPr lang="en-US"/>
              <a:t>Heading 1</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pPr marL="0" marR="0" lvl="0" indent="0" algn="r" defTabSz="914363" rtl="0" eaLnBrk="1" fontAlgn="auto" latinLnBrk="0" hangingPunct="1">
              <a:lnSpc>
                <a:spcPct val="100000"/>
              </a:lnSpc>
              <a:spcBef>
                <a:spcPts val="0"/>
              </a:spcBef>
              <a:spcAft>
                <a:spcPts val="0"/>
              </a:spcAft>
              <a:buClrTx/>
              <a:buSzTx/>
              <a:buFontTx/>
              <a:buNone/>
              <a:tabLst/>
              <a:defRPr/>
            </a:pPr>
            <a:fld id="{7A746A50-F073-4D50-A357-44F6D6FD4294}" type="datetime1">
              <a:rPr kumimoji="0" lang="en-US" sz="850" b="0" i="0" u="none" strike="noStrike" kern="1200" cap="none" spc="0" normalizeH="0" baseline="0" noProof="0" smtClean="0">
                <a:ln>
                  <a:noFill/>
                </a:ln>
                <a:solidFill>
                  <a:srgbClr val="96969A"/>
                </a:solidFill>
                <a:effectLst/>
                <a:uLnTx/>
                <a:uFillTx/>
                <a:latin typeface="Arial" panose="020B0604020202020204"/>
                <a:ea typeface="+mn-ea"/>
                <a:cs typeface="+mn-cs"/>
              </a:rPr>
              <a:t>5/10/2023</a:t>
            </a:fld>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fld id="{1E68DD1B-5CD8-424B-8173-19E182143E0A}" type="slidenum">
              <a:rPr kumimoji="0" lang="en-US" sz="850" b="0" i="0" u="none" strike="noStrike" kern="1200" cap="none" spc="0" normalizeH="0" baseline="0" noProof="0" smtClean="0">
                <a:ln>
                  <a:noFill/>
                </a:ln>
                <a:solidFill>
                  <a:srgbClr val="96969A"/>
                </a:solidFill>
                <a:effectLst/>
                <a:uLnTx/>
                <a:uFillTx/>
                <a:latin typeface="Arial" panose="020B0604020202020204"/>
                <a:ea typeface="+mn-ea"/>
                <a:cs typeface="+mn-cs"/>
              </a:rPr>
              <a:pPr marL="0" marR="0" lvl="0" indent="0" algn="ctr" defTabSz="914363" rtl="0" eaLnBrk="1" fontAlgn="auto" latinLnBrk="0" hangingPunct="1">
                <a:lnSpc>
                  <a:spcPct val="100000"/>
                </a:lnSpc>
                <a:spcBef>
                  <a:spcPts val="0"/>
                </a:spcBef>
                <a:spcAft>
                  <a:spcPts val="0"/>
                </a:spcAft>
                <a:buClrTx/>
                <a:buSzTx/>
                <a:buFontTx/>
                <a:buNone/>
                <a:tabLst/>
                <a:defRPr/>
              </a:pPr>
              <a:t>‹#›</a:t>
            </a:fld>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1"/>
            <a:ext cx="962025" cy="244475"/>
          </a:xfrm>
          <a:prstGeom prst="rect">
            <a:avLst/>
          </a:prstGeom>
          <a:noFill/>
        </p:spPr>
        <p:txBody>
          <a:bodyPr wrap="square" lIns="0" tIns="0" rIns="0" bIns="0" rtlCol="0" anchor="ctr" anchorCtr="0">
            <a:noAutofit/>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kumimoji="0" lang="fi-FI" sz="850" b="0" i="0" u="none" strike="noStrike" kern="1200" cap="none" spc="0" normalizeH="0" baseline="0" noProof="0">
                <a:ln>
                  <a:noFill/>
                </a:ln>
                <a:solidFill>
                  <a:srgbClr val="96969A"/>
                </a:solidFill>
                <a:effectLst/>
                <a:uLnTx/>
                <a:uFillTx/>
                <a:latin typeface="Arial" panose="020B0604020202020204"/>
                <a:ea typeface="+mn-ea"/>
                <a:cs typeface="+mn-cs"/>
              </a:rPr>
              <a:t>ku.ac.ae</a:t>
            </a:r>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362075" y="1123951"/>
            <a:ext cx="4419600" cy="5190695"/>
          </a:xfrm>
        </p:spPr>
        <p:txBody>
          <a:bodyPr anchor="t" anchorCtr="0"/>
          <a:lstStyle/>
          <a:p>
            <a:r>
              <a:rPr lang="en-US"/>
              <a:t>Click to edit Master title style</a:t>
            </a:r>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83666"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9670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6162675" y="771526"/>
            <a:ext cx="5638800"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6"/>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1"/>
            <a:ext cx="4181476" cy="4448175"/>
          </a:xfrm>
        </p:spPr>
        <p:txBody>
          <a:bodyPr/>
          <a:lstStyle>
            <a:lvl1pPr marL="0" indent="0">
              <a:buNone/>
              <a:defRPr b="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pPr marL="0" marR="0" lvl="0" indent="0" algn="r" defTabSz="914363" rtl="0" eaLnBrk="1" fontAlgn="auto" latinLnBrk="0" hangingPunct="1">
              <a:lnSpc>
                <a:spcPct val="100000"/>
              </a:lnSpc>
              <a:spcBef>
                <a:spcPts val="0"/>
              </a:spcBef>
              <a:spcAft>
                <a:spcPts val="0"/>
              </a:spcAft>
              <a:buClrTx/>
              <a:buSzTx/>
              <a:buFontTx/>
              <a:buNone/>
              <a:tabLst/>
              <a:defRPr/>
            </a:pPr>
            <a:fld id="{AB3D2860-3FCE-43AF-AC97-EA3B6CA7509A}" type="datetime1">
              <a:rPr kumimoji="0" lang="en-US" sz="850" b="0" i="0" u="none" strike="noStrike" kern="1200" cap="none" spc="0" normalizeH="0" baseline="0" noProof="0" smtClean="0">
                <a:ln>
                  <a:noFill/>
                </a:ln>
                <a:solidFill>
                  <a:srgbClr val="96969A"/>
                </a:solidFill>
                <a:effectLst/>
                <a:uLnTx/>
                <a:uFillTx/>
                <a:latin typeface="Arial" panose="020B0604020202020204"/>
                <a:ea typeface="+mn-ea"/>
                <a:cs typeface="+mn-cs"/>
              </a:rPr>
              <a:t>5/10/2023</a:t>
            </a:fld>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fld id="{1E68DD1B-5CD8-424B-8173-19E182143E0A}" type="slidenum">
              <a:rPr kumimoji="0" lang="en-US" sz="850" b="0" i="0" u="none" strike="noStrike" kern="1200" cap="none" spc="0" normalizeH="0" baseline="0" noProof="0" smtClean="0">
                <a:ln>
                  <a:noFill/>
                </a:ln>
                <a:solidFill>
                  <a:srgbClr val="96969A"/>
                </a:solidFill>
                <a:effectLst/>
                <a:uLnTx/>
                <a:uFillTx/>
                <a:latin typeface="Arial" panose="020B0604020202020204"/>
                <a:ea typeface="+mn-ea"/>
                <a:cs typeface="+mn-cs"/>
              </a:rPr>
              <a:pPr marL="0" marR="0" lvl="0" indent="0" algn="ctr" defTabSz="914363" rtl="0" eaLnBrk="1" fontAlgn="auto" latinLnBrk="0" hangingPunct="1">
                <a:lnSpc>
                  <a:spcPct val="100000"/>
                </a:lnSpc>
                <a:spcBef>
                  <a:spcPts val="0"/>
                </a:spcBef>
                <a:spcAft>
                  <a:spcPts val="0"/>
                </a:spcAft>
                <a:buClrTx/>
                <a:buSzTx/>
                <a:buFontTx/>
                <a:buNone/>
                <a:tabLst/>
                <a:defRPr/>
              </a:pPr>
              <a:t>‹#›</a:t>
            </a:fld>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1"/>
            <a:ext cx="962025" cy="244475"/>
          </a:xfrm>
          <a:prstGeom prst="rect">
            <a:avLst/>
          </a:prstGeom>
          <a:noFill/>
        </p:spPr>
        <p:txBody>
          <a:bodyPr wrap="square" lIns="0" tIns="0" rIns="0" bIns="0" rtlCol="0" anchor="ctr" anchorCtr="0">
            <a:noAutofit/>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kumimoji="0" lang="fi-FI" sz="850" b="0" i="0" u="none" strike="noStrike" kern="1200" cap="none" spc="0" normalizeH="0" baseline="0" noProof="0">
                <a:ln>
                  <a:noFill/>
                </a:ln>
                <a:solidFill>
                  <a:srgbClr val="96969A"/>
                </a:solidFill>
                <a:effectLst/>
                <a:uLnTx/>
                <a:uFillTx/>
                <a:latin typeface="Arial" panose="020B0604020202020204"/>
                <a:ea typeface="+mn-ea"/>
                <a:cs typeface="+mn-cs"/>
              </a:rPr>
              <a:t>ku.ac.ae</a:t>
            </a:r>
            <a:endParaRPr kumimoji="0" lang="en-US" sz="850" b="0" i="0" u="none" strike="noStrike" kern="1200" cap="none" spc="0" normalizeH="0" baseline="0" noProof="0">
              <a:ln>
                <a:noFill/>
              </a:ln>
              <a:solidFill>
                <a:srgbClr val="96969A"/>
              </a:solidFill>
              <a:effectLst/>
              <a:uLnTx/>
              <a:uFillTx/>
              <a:latin typeface="Arial" panose="020B0604020202020204"/>
              <a:ea typeface="+mn-ea"/>
              <a:cs typeface="+mn-cs"/>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6"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108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1F1827-2910-4340-B145-3103077FA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DF67A46-98C3-4022-A10C-84F135A2BB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ACFC63-DA8C-4241-8F8C-CFB656D1A1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021A12-0253-4C15-BF13-14E26D4E5581}" type="datetime1">
              <a:rPr lang="en-US" smtClean="0"/>
              <a:t>5/10/2023</a:t>
            </a:fld>
            <a:endParaRPr lang="en-US"/>
          </a:p>
        </p:txBody>
      </p:sp>
      <p:sp>
        <p:nvSpPr>
          <p:cNvPr id="5" name="Footer Placeholder 4">
            <a:extLst>
              <a:ext uri="{FF2B5EF4-FFF2-40B4-BE49-F238E27FC236}">
                <a16:creationId xmlns:a16="http://schemas.microsoft.com/office/drawing/2014/main" id="{8BAACDA2-9375-47E3-9150-32BD86CA1F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6254E0-30A7-499A-AE8F-557EF7B7BC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F0B153-E3E2-4097-9E51-5A688B93C85A}" type="slidenum">
              <a:rPr lang="en-US" smtClean="0"/>
              <a:t>‹#›</a:t>
            </a:fld>
            <a:endParaRPr lang="en-US"/>
          </a:p>
        </p:txBody>
      </p:sp>
    </p:spTree>
    <p:extLst>
      <p:ext uri="{BB962C8B-B14F-4D97-AF65-F5344CB8AC3E}">
        <p14:creationId xmlns:p14="http://schemas.microsoft.com/office/powerpoint/2010/main" val="4099661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1" anchor="ctr">
            <a:normAutofit/>
          </a:bodyPr>
          <a:lstStyle/>
          <a:p>
            <a:r>
              <a:rPr lang="en-US"/>
              <a:t>Click to edit Master title style</a:t>
            </a:r>
            <a:endParaRPr lang="ar-EG"/>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2"/>
          </p:nvPr>
        </p:nvSpPr>
        <p:spPr>
          <a:xfrm>
            <a:off x="8737600" y="6356351"/>
            <a:ext cx="28448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0D51E2FC-70F2-4308-82F2-F836003C932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t>5/10/2023</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
        <p:nvSpPr>
          <p:cNvPr id="6" name="Slide Number Placeholder 5"/>
          <p:cNvSpPr>
            <a:spLocks noGrp="1"/>
          </p:cNvSpPr>
          <p:nvPr>
            <p:ph type="sldNum" sz="quarter" idx="4"/>
          </p:nvPr>
        </p:nvSpPr>
        <p:spPr>
          <a:xfrm>
            <a:off x="609600" y="6356351"/>
            <a:ext cx="28448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544593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slideLayout" Target="../slideLayouts/slideLayout13.xml"/><Relationship Id="rId1" Type="http://schemas.openxmlformats.org/officeDocument/2006/relationships/themeOverride" Target="../theme/themeOverride1.xml"/><Relationship Id="rId6" Type="http://schemas.openxmlformats.org/officeDocument/2006/relationships/image" Target="../media/image4.jpeg"/><Relationship Id="rId5" Type="http://schemas.openxmlformats.org/officeDocument/2006/relationships/image" Target="../media/image3.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11" Type="http://schemas.microsoft.com/office/2007/relationships/hdphoto" Target="../media/hdphoto2.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jpeg"/><Relationship Id="rId9" Type="http://schemas.openxmlformats.org/officeDocument/2006/relationships/image" Target="../media/image13.png"/><Relationship Id="rId14"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7.emf"/><Relationship Id="rId5" Type="http://schemas.openxmlformats.org/officeDocument/2006/relationships/image" Target="../media/image22.jpeg"/><Relationship Id="rId10" Type="http://schemas.microsoft.com/office/2007/relationships/hdphoto" Target="../media/hdphoto2.wdp"/><Relationship Id="rId4" Type="http://schemas.openxmlformats.org/officeDocument/2006/relationships/image" Target="../media/image21.pn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5.png"/><Relationship Id="rId7" Type="http://schemas.openxmlformats.org/officeDocument/2006/relationships/image" Target="../media/image7.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4.sv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1B3BB02-8DF6-4A1B-B2AF-7EA7AFA6D977}"/>
              </a:ext>
            </a:extLst>
          </p:cNvPr>
          <p:cNvSpPr>
            <a:spLocks noGrp="1"/>
          </p:cNvSpPr>
          <p:nvPr>
            <p:ph type="sldNum" sz="quarter" idx="12"/>
          </p:nvPr>
        </p:nvSpPr>
        <p:spPr/>
        <p:txBody>
          <a:bodyPr/>
          <a:lstStyle/>
          <a:p>
            <a:fld id="{1AF0B153-E3E2-4097-9E51-5A688B93C85A}" type="slidenum">
              <a:rPr lang="en-US" smtClean="0"/>
              <a:t>1</a:t>
            </a:fld>
            <a:endParaRPr lang="en-US" dirty="0"/>
          </a:p>
        </p:txBody>
      </p:sp>
      <p:pic>
        <p:nvPicPr>
          <p:cNvPr id="7" name="Picture 4">
            <a:extLst>
              <a:ext uri="{FF2B5EF4-FFF2-40B4-BE49-F238E27FC236}">
                <a16:creationId xmlns:a16="http://schemas.microsoft.com/office/drawing/2014/main" id="{8D123930-30FC-43E8-838D-A1F8FCFB056C}"/>
              </a:ext>
            </a:extLst>
          </p:cNvPr>
          <p:cNvPicPr>
            <a:picLocks noChangeAspect="1" noChangeArrowheads="1"/>
          </p:cNvPicPr>
          <p:nvPr/>
        </p:nvPicPr>
        <p:blipFill>
          <a:blip r:embed="rId3">
            <a:alphaModFix amt="63000"/>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rot="16200000">
            <a:off x="6553725" y="884565"/>
            <a:ext cx="3922423" cy="2206363"/>
          </a:xfrm>
          <a:prstGeom prst="rect">
            <a:avLst/>
          </a:prstGeom>
          <a:gradFill flip="none" rotWithShape="1">
            <a:gsLst>
              <a:gs pos="100000">
                <a:schemeClr val="tx1"/>
              </a:gs>
              <a:gs pos="100000">
                <a:schemeClr val="accent3">
                  <a:lumMod val="45000"/>
                  <a:lumOff val="55000"/>
                </a:schemeClr>
              </a:gs>
              <a:gs pos="100000">
                <a:schemeClr val="accent3">
                  <a:lumMod val="45000"/>
                  <a:lumOff val="55000"/>
                </a:schemeClr>
              </a:gs>
              <a:gs pos="100000">
                <a:schemeClr val="tx1">
                  <a:lumMod val="95000"/>
                  <a:lumOff val="5000"/>
                </a:schemeClr>
              </a:gs>
            </a:gsLst>
            <a:lin ang="5400000" scaled="1"/>
            <a:tileRect/>
          </a:gradFill>
        </p:spPr>
      </p:pic>
      <p:sp>
        <p:nvSpPr>
          <p:cNvPr id="12" name="Slide Number Placeholder 5">
            <a:extLst>
              <a:ext uri="{FF2B5EF4-FFF2-40B4-BE49-F238E27FC236}">
                <a16:creationId xmlns:a16="http://schemas.microsoft.com/office/drawing/2014/main" id="{E6CEFF50-77F3-470C-AD35-6DE8D6D72608}"/>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1AF0B153-E3E2-4097-9E51-5A688B93C85A}" type="slidenum">
              <a:rPr lang="en-US" smtClean="0">
                <a:solidFill>
                  <a:srgbClr val="FFFFFF"/>
                </a:solidFill>
              </a:rPr>
              <a:pPr>
                <a:spcAft>
                  <a:spcPts val="600"/>
                </a:spcAft>
              </a:pPr>
              <a:t>1</a:t>
            </a:fld>
            <a:endParaRPr lang="en-US" dirty="0">
              <a:solidFill>
                <a:srgbClr val="FFFFFF"/>
              </a:solidFill>
            </a:endParaRPr>
          </a:p>
        </p:txBody>
      </p:sp>
      <p:sp>
        <p:nvSpPr>
          <p:cNvPr id="13" name="Rectangle 12">
            <a:extLst>
              <a:ext uri="{FF2B5EF4-FFF2-40B4-BE49-F238E27FC236}">
                <a16:creationId xmlns:a16="http://schemas.microsoft.com/office/drawing/2014/main" id="{310E43D7-4384-4CD4-B8DC-78F19C07D1D3}"/>
              </a:ext>
            </a:extLst>
          </p:cNvPr>
          <p:cNvSpPr/>
          <p:nvPr/>
        </p:nvSpPr>
        <p:spPr>
          <a:xfrm>
            <a:off x="4392235" y="2559866"/>
            <a:ext cx="4603044" cy="369332"/>
          </a:xfrm>
          <a:prstGeom prst="rect">
            <a:avLst/>
          </a:prstGeom>
        </p:spPr>
        <p:txBody>
          <a:bodyPr wrap="square">
            <a:spAutoFit/>
          </a:bodyPr>
          <a:lstStyle/>
          <a:p>
            <a:r>
              <a:rPr lang="en-US" b="1" dirty="0">
                <a:solidFill>
                  <a:srgbClr val="FFFFFF"/>
                </a:solidFill>
              </a:rPr>
              <a:t>The Right Move…….</a:t>
            </a:r>
            <a:endParaRPr lang="en-US" b="1" dirty="0"/>
          </a:p>
        </p:txBody>
      </p:sp>
      <p:pic>
        <p:nvPicPr>
          <p:cNvPr id="15" name="Picture 14">
            <a:extLst>
              <a:ext uri="{FF2B5EF4-FFF2-40B4-BE49-F238E27FC236}">
                <a16:creationId xmlns:a16="http://schemas.microsoft.com/office/drawing/2014/main" id="{0C8A3267-3224-449E-B110-BDB90BE01FD6}"/>
              </a:ext>
            </a:extLst>
          </p:cNvPr>
          <p:cNvPicPr>
            <a:picLocks noChangeAspect="1"/>
          </p:cNvPicPr>
          <p:nvPr/>
        </p:nvPicPr>
        <p:blipFill rotWithShape="1">
          <a:blip r:embed="rId5" cstate="print">
            <a:alphaModFix amt="35000"/>
            <a:extLst>
              <a:ext uri="{28A0092B-C50C-407E-A947-70E740481C1C}">
                <a14:useLocalDpi xmlns:a14="http://schemas.microsoft.com/office/drawing/2010/main" val="0"/>
              </a:ext>
            </a:extLst>
          </a:blip>
          <a:srcRect r="17427" b="-3"/>
          <a:stretch/>
        </p:blipFill>
        <p:spPr>
          <a:xfrm>
            <a:off x="9053044" y="2793329"/>
            <a:ext cx="3138955" cy="1753413"/>
          </a:xfrm>
          <a:prstGeom prst="rect">
            <a:avLst/>
          </a:prstGeom>
        </p:spPr>
      </p:pic>
      <p:pic>
        <p:nvPicPr>
          <p:cNvPr id="16" name="Picture 15">
            <a:extLst>
              <a:ext uri="{FF2B5EF4-FFF2-40B4-BE49-F238E27FC236}">
                <a16:creationId xmlns:a16="http://schemas.microsoft.com/office/drawing/2014/main" id="{1750673B-34A3-4433-B3C1-2F96C1F24BB6}"/>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r="13595"/>
          <a:stretch/>
        </p:blipFill>
        <p:spPr>
          <a:xfrm>
            <a:off x="9189156" y="4602937"/>
            <a:ext cx="2885756" cy="1980932"/>
          </a:xfrm>
          <a:prstGeom prst="rect">
            <a:avLst/>
          </a:prstGeom>
        </p:spPr>
      </p:pic>
      <p:pic>
        <p:nvPicPr>
          <p:cNvPr id="17" name="Picture 2" descr="10 best Chess Games for Android Phones that you must try in 2018">
            <a:extLst>
              <a:ext uri="{FF2B5EF4-FFF2-40B4-BE49-F238E27FC236}">
                <a16:creationId xmlns:a16="http://schemas.microsoft.com/office/drawing/2014/main" id="{99548D04-7FD3-410F-9882-C0BF9B3C3B0D}"/>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37448" b="2"/>
          <a:stretch/>
        </p:blipFill>
        <p:spPr bwMode="auto">
          <a:xfrm>
            <a:off x="6693757" y="3088941"/>
            <a:ext cx="2359287" cy="2056433"/>
          </a:xfrm>
          <a:prstGeom prst="rect">
            <a:avLst/>
          </a:prstGeom>
          <a:no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DDEA5AD9-06B0-46EA-B838-DF1EAD640CD1}"/>
              </a:ext>
            </a:extLst>
          </p:cNvPr>
          <p:cNvSpPr txBox="1">
            <a:spLocks/>
          </p:cNvSpPr>
          <p:nvPr/>
        </p:nvSpPr>
        <p:spPr>
          <a:xfrm>
            <a:off x="419099" y="69330"/>
            <a:ext cx="6992656"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spc="0" baseline="0">
                <a:solidFill>
                  <a:schemeClr val="tx2"/>
                </a:solidFill>
                <a:latin typeface="+mj-lt"/>
                <a:ea typeface="+mj-ea"/>
                <a:cs typeface="+mj-cs"/>
              </a:defRPr>
            </a:lvl1pPr>
          </a:lstStyle>
          <a:p>
            <a:pPr algn="l">
              <a:spcAft>
                <a:spcPts val="600"/>
              </a:spcAft>
            </a:pPr>
            <a:endParaRPr lang="en-US" sz="3200" dirty="0">
              <a:solidFill>
                <a:schemeClr val="bg1"/>
              </a:solidFill>
              <a:latin typeface="Arial" panose="020B0604020202020204" pitchFamily="34" charset="0"/>
              <a:cs typeface="Arial" panose="020B0604020202020204" pitchFamily="34" charset="0"/>
            </a:endParaRPr>
          </a:p>
          <a:p>
            <a:pPr algn="l">
              <a:spcAft>
                <a:spcPts val="600"/>
              </a:spcAft>
            </a:pPr>
            <a:r>
              <a:rPr lang="en-US" sz="2400" dirty="0">
                <a:solidFill>
                  <a:schemeClr val="bg1"/>
                </a:solidFill>
                <a:latin typeface="Arial" panose="020B0604020202020204" pitchFamily="34" charset="0"/>
                <a:cs typeface="Arial" panose="020B0604020202020204" pitchFamily="34" charset="0"/>
              </a:rPr>
              <a:t>Khalifa University</a:t>
            </a:r>
            <a:br>
              <a:rPr lang="en-US" sz="2400" dirty="0">
                <a:solidFill>
                  <a:schemeClr val="bg1"/>
                </a:solidFill>
                <a:latin typeface="Arial" panose="020B0604020202020204" pitchFamily="34" charset="0"/>
                <a:cs typeface="Arial" panose="020B0604020202020204" pitchFamily="34" charset="0"/>
              </a:rPr>
            </a:br>
            <a:r>
              <a:rPr lang="en-US" sz="2400" dirty="0">
                <a:solidFill>
                  <a:schemeClr val="bg1"/>
                </a:solidFill>
                <a:latin typeface="Arial" panose="020B0604020202020204" pitchFamily="34" charset="0"/>
                <a:cs typeface="Arial" panose="020B0604020202020204" pitchFamily="34" charset="0"/>
              </a:rPr>
              <a:t>Establishing Science and Technology Companies </a:t>
            </a:r>
          </a:p>
        </p:txBody>
      </p:sp>
      <p:sp>
        <p:nvSpPr>
          <p:cNvPr id="19" name="Title 1"/>
          <p:cNvSpPr>
            <a:spLocks noGrp="1"/>
          </p:cNvSpPr>
          <p:nvPr>
            <p:ph type="title"/>
          </p:nvPr>
        </p:nvSpPr>
        <p:spPr>
          <a:xfrm>
            <a:off x="556022" y="3130237"/>
            <a:ext cx="6068713" cy="1637441"/>
          </a:xfrm>
        </p:spPr>
        <p:txBody>
          <a:bodyPr>
            <a:normAutofit/>
          </a:bodyPr>
          <a:lstStyle/>
          <a:p>
            <a:pPr algn="l" rtl="0"/>
            <a:r>
              <a:rPr lang="en-US" b="1" dirty="0">
                <a:solidFill>
                  <a:schemeClr val="bg1"/>
                </a:solidFill>
              </a:rPr>
              <a:t>KU Enterprise Management Company</a:t>
            </a:r>
            <a:endParaRPr lang="en-US" sz="2000" dirty="0">
              <a:solidFill>
                <a:schemeClr val="bg1"/>
              </a:solidFill>
            </a:endParaRPr>
          </a:p>
        </p:txBody>
      </p:sp>
      <p:pic>
        <p:nvPicPr>
          <p:cNvPr id="20" name="Picture 19">
            <a:extLst>
              <a:ext uri="{FF2B5EF4-FFF2-40B4-BE49-F238E27FC236}">
                <a16:creationId xmlns:a16="http://schemas.microsoft.com/office/drawing/2014/main" id="{CEA79536-344B-4703-95C3-7F5AD0BFB38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9528" y="277065"/>
            <a:ext cx="2952328" cy="576064"/>
          </a:xfrm>
          <a:prstGeom prst="rect">
            <a:avLst/>
          </a:prstGeom>
        </p:spPr>
      </p:pic>
    </p:spTree>
    <p:extLst>
      <p:ext uri="{BB962C8B-B14F-4D97-AF65-F5344CB8AC3E}">
        <p14:creationId xmlns:p14="http://schemas.microsoft.com/office/powerpoint/2010/main" val="2647319393"/>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5507" y="2896459"/>
            <a:ext cx="9044844" cy="1143000"/>
          </a:xfrm>
        </p:spPr>
        <p:txBody>
          <a:bodyPr>
            <a:normAutofit fontScale="90000"/>
          </a:bodyPr>
          <a:lstStyle/>
          <a:p>
            <a:pPr algn="l" rtl="0"/>
            <a:r>
              <a:rPr lang="en-US" dirty="0">
                <a:solidFill>
                  <a:schemeClr val="bg1"/>
                </a:solidFill>
              </a:rPr>
              <a:t>Part 1</a:t>
            </a:r>
            <a:r>
              <a:rPr lang="en-US" b="1" dirty="0">
                <a:solidFill>
                  <a:schemeClr val="bg1"/>
                </a:solidFill>
              </a:rPr>
              <a:t/>
            </a:r>
            <a:br>
              <a:rPr lang="en-US" b="1" dirty="0">
                <a:solidFill>
                  <a:schemeClr val="bg1"/>
                </a:solidFill>
              </a:rPr>
            </a:br>
            <a:r>
              <a:rPr lang="en-US" b="1" dirty="0">
                <a:solidFill>
                  <a:schemeClr val="bg1"/>
                </a:solidFill>
              </a:rPr>
              <a:t>Proposed Operating Model</a:t>
            </a:r>
            <a:endParaRPr lang="en-US" sz="3100" dirty="0">
              <a:solidFill>
                <a:schemeClr val="bg1"/>
              </a:solidFill>
            </a:endParaRPr>
          </a:p>
        </p:txBody>
      </p:sp>
      <p:pic>
        <p:nvPicPr>
          <p:cNvPr id="3" name="Picture 2">
            <a:extLst>
              <a:ext uri="{FF2B5EF4-FFF2-40B4-BE49-F238E27FC236}">
                <a16:creationId xmlns:a16="http://schemas.microsoft.com/office/drawing/2014/main" id="{CEA79536-344B-4703-95C3-7F5AD0BFB3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528" y="277065"/>
            <a:ext cx="2952328" cy="576064"/>
          </a:xfrm>
          <a:prstGeom prst="rect">
            <a:avLst/>
          </a:prstGeom>
        </p:spPr>
      </p:pic>
      <p:sp>
        <p:nvSpPr>
          <p:cNvPr id="4" name="Slide Number Placeholder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908310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22"/>
          <p:cNvSpPr/>
          <p:nvPr/>
        </p:nvSpPr>
        <p:spPr>
          <a:xfrm>
            <a:off x="8428485" y="3355146"/>
            <a:ext cx="2246372" cy="871711"/>
          </a:xfrm>
          <a:custGeom>
            <a:avLst/>
            <a:gdLst>
              <a:gd name="connsiteX0" fmla="*/ 0 w 1971708"/>
              <a:gd name="connsiteY0" fmla="*/ 0 h 1141234"/>
              <a:gd name="connsiteX1" fmla="*/ 1971708 w 1971708"/>
              <a:gd name="connsiteY1" fmla="*/ 0 h 1141234"/>
              <a:gd name="connsiteX2" fmla="*/ 1971708 w 1971708"/>
              <a:gd name="connsiteY2" fmla="*/ 1141234 h 1141234"/>
              <a:gd name="connsiteX3" fmla="*/ 0 w 1971708"/>
              <a:gd name="connsiteY3" fmla="*/ 1141234 h 1141234"/>
              <a:gd name="connsiteX4" fmla="*/ 0 w 1971708"/>
              <a:gd name="connsiteY4" fmla="*/ 0 h 1141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708" h="1141234">
                <a:moveTo>
                  <a:pt x="0" y="0"/>
                </a:moveTo>
                <a:lnTo>
                  <a:pt x="1971708" y="0"/>
                </a:lnTo>
                <a:lnTo>
                  <a:pt x="1971708" y="1141234"/>
                </a:lnTo>
                <a:lnTo>
                  <a:pt x="0" y="1141234"/>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Endowment Fund</a:t>
            </a:r>
          </a:p>
          <a:p>
            <a:pPr marL="0" marR="0" lvl="0" indent="0" algn="ctr" defTabSz="1066800" eaLnBrk="1" fontAlgn="auto" latinLnBrk="0" hangingPunct="1">
              <a:lnSpc>
                <a:spcPct val="90000"/>
              </a:lnSpc>
              <a:spcBef>
                <a:spcPct val="0"/>
              </a:spcBef>
              <a:spcAft>
                <a:spcPct val="35000"/>
              </a:spcAft>
              <a:buClrTx/>
              <a:buSzTx/>
              <a:buFontTx/>
              <a:buNone/>
              <a:tabLst/>
              <a:defRPr/>
            </a:pPr>
            <a:r>
              <a:rPr lang="en-US" sz="1200" dirty="0">
                <a:solidFill>
                  <a:prstClr val="white"/>
                </a:solidFill>
                <a:latin typeface="Calibri" panose="020F0502020204030204"/>
              </a:rPr>
              <a:t>~AED105 million</a:t>
            </a:r>
            <a:endParaRPr kumimoji="0" lang="en-US" sz="1200" i="0" u="none" strike="noStrike" kern="1200" cap="none" spc="0" normalizeH="0" baseline="0" noProof="0" dirty="0">
              <a:ln>
                <a:noFill/>
              </a:ln>
              <a:solidFill>
                <a:prstClr val="white"/>
              </a:solidFill>
              <a:effectLst/>
              <a:uLnTx/>
              <a:uFillTx/>
              <a:latin typeface="Calibri" panose="020F0502020204030204"/>
            </a:endParaRPr>
          </a:p>
        </p:txBody>
      </p:sp>
      <p:sp>
        <p:nvSpPr>
          <p:cNvPr id="2" name="Title 1"/>
          <p:cNvSpPr>
            <a:spLocks noGrp="1"/>
          </p:cNvSpPr>
          <p:nvPr>
            <p:ph type="title"/>
          </p:nvPr>
        </p:nvSpPr>
        <p:spPr>
          <a:xfrm>
            <a:off x="561975" y="371167"/>
            <a:ext cx="11249026" cy="1169108"/>
          </a:xfrm>
        </p:spPr>
        <p:txBody>
          <a:bodyPr>
            <a:normAutofit/>
          </a:bodyPr>
          <a:lstStyle/>
          <a:p>
            <a:r>
              <a:rPr lang="en-US" sz="2000" b="1" spc="50" dirty="0">
                <a:solidFill>
                  <a:schemeClr val="tx1">
                    <a:lumMod val="75000"/>
                    <a:lumOff val="25000"/>
                  </a:schemeClr>
                </a:solidFill>
                <a:latin typeface="+mn-lt"/>
                <a:cs typeface="Times New Roman" panose="02020603050405020304" pitchFamily="18" charset="0"/>
              </a:rPr>
              <a:t>Proposed Operating Model for Khalifa University Enterprises Management Company</a:t>
            </a:r>
            <a:endParaRPr lang="en-US" sz="2000" b="1" dirty="0">
              <a:solidFill>
                <a:schemeClr val="tx1">
                  <a:lumMod val="75000"/>
                  <a:lumOff val="25000"/>
                </a:schemeClr>
              </a:solidFill>
              <a:latin typeface="+mn-lt"/>
              <a:cs typeface="Times New Roman" panose="02020603050405020304" pitchFamily="18" charset="0"/>
            </a:endParaRPr>
          </a:p>
        </p:txBody>
      </p:sp>
      <p:sp>
        <p:nvSpPr>
          <p:cNvPr id="6" name="Slide Number Placeholder 5"/>
          <p:cNvSpPr>
            <a:spLocks noGrp="1"/>
          </p:cNvSpPr>
          <p:nvPr>
            <p:ph type="sldNum" sz="quarter" idx="12"/>
          </p:nvPr>
        </p:nvSpPr>
        <p:spPr>
          <a:xfrm>
            <a:off x="9296400" y="6586256"/>
            <a:ext cx="2743200" cy="25577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8DD1B-5CD8-424B-8173-19E182143E0A}"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1" name="Freeform 20"/>
          <p:cNvSpPr/>
          <p:nvPr/>
        </p:nvSpPr>
        <p:spPr>
          <a:xfrm>
            <a:off x="3818152" y="1428245"/>
            <a:ext cx="4849598" cy="506803"/>
          </a:xfrm>
          <a:custGeom>
            <a:avLst/>
            <a:gdLst>
              <a:gd name="connsiteX0" fmla="*/ 0 w 2639922"/>
              <a:gd name="connsiteY0" fmla="*/ 0 h 1111611"/>
              <a:gd name="connsiteX1" fmla="*/ 2639922 w 2639922"/>
              <a:gd name="connsiteY1" fmla="*/ 0 h 1111611"/>
              <a:gd name="connsiteX2" fmla="*/ 2639922 w 2639922"/>
              <a:gd name="connsiteY2" fmla="*/ 1111611 h 1111611"/>
              <a:gd name="connsiteX3" fmla="*/ 0 w 2639922"/>
              <a:gd name="connsiteY3" fmla="*/ 1111611 h 1111611"/>
              <a:gd name="connsiteX4" fmla="*/ 0 w 2639922"/>
              <a:gd name="connsiteY4" fmla="*/ 0 h 111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9922" h="1111611">
                <a:moveTo>
                  <a:pt x="0" y="0"/>
                </a:moveTo>
                <a:lnTo>
                  <a:pt x="2639922" y="0"/>
                </a:lnTo>
                <a:lnTo>
                  <a:pt x="2639922" y="1111611"/>
                </a:lnTo>
                <a:lnTo>
                  <a:pt x="0" y="1111611"/>
                </a:lnTo>
                <a:lnTo>
                  <a:pt x="0" y="0"/>
                </a:lnTo>
                <a:close/>
              </a:path>
            </a:pathLst>
          </a:custGeom>
          <a:solidFill>
            <a:schemeClr val="tx2">
              <a:lumMod val="75000"/>
            </a:schemeClr>
          </a:solidFill>
          <a:ln w="25400"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Investment Committee of the Board of Trustees</a:t>
            </a:r>
          </a:p>
        </p:txBody>
      </p:sp>
      <p:sp>
        <p:nvSpPr>
          <p:cNvPr id="22" name="Freeform 21"/>
          <p:cNvSpPr/>
          <p:nvPr/>
        </p:nvSpPr>
        <p:spPr>
          <a:xfrm>
            <a:off x="1418442" y="3340346"/>
            <a:ext cx="1906175" cy="871712"/>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KU Ventures</a:t>
            </a:r>
          </a:p>
        </p:txBody>
      </p:sp>
      <p:sp>
        <p:nvSpPr>
          <p:cNvPr id="24" name="Freeform 23"/>
          <p:cNvSpPr/>
          <p:nvPr/>
        </p:nvSpPr>
        <p:spPr>
          <a:xfrm>
            <a:off x="4091232" y="3358069"/>
            <a:ext cx="1906175" cy="871712"/>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Innovation Acceleration </a:t>
            </a:r>
            <a:r>
              <a:rPr lang="en-US" b="1" dirty="0">
                <a:solidFill>
                  <a:prstClr val="white"/>
                </a:solidFill>
                <a:latin typeface="Calibri" panose="020F0502020204030204"/>
              </a:rPr>
              <a:t>&amp; Startups</a:t>
            </a: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Freeform 24"/>
          <p:cNvSpPr/>
          <p:nvPr/>
        </p:nvSpPr>
        <p:spPr>
          <a:xfrm>
            <a:off x="4332502" y="2351106"/>
            <a:ext cx="3820898" cy="506831"/>
          </a:xfrm>
          <a:custGeom>
            <a:avLst/>
            <a:gdLst>
              <a:gd name="connsiteX0" fmla="*/ 0 w 1971708"/>
              <a:gd name="connsiteY0" fmla="*/ 0 h 1141234"/>
              <a:gd name="connsiteX1" fmla="*/ 1971708 w 1971708"/>
              <a:gd name="connsiteY1" fmla="*/ 0 h 1141234"/>
              <a:gd name="connsiteX2" fmla="*/ 1971708 w 1971708"/>
              <a:gd name="connsiteY2" fmla="*/ 1141234 h 1141234"/>
              <a:gd name="connsiteX3" fmla="*/ 0 w 1971708"/>
              <a:gd name="connsiteY3" fmla="*/ 1141234 h 1141234"/>
              <a:gd name="connsiteX4" fmla="*/ 0 w 1971708"/>
              <a:gd name="connsiteY4" fmla="*/ 0 h 1141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708" h="1141234">
                <a:moveTo>
                  <a:pt x="0" y="0"/>
                </a:moveTo>
                <a:lnTo>
                  <a:pt x="1971708" y="0"/>
                </a:lnTo>
                <a:lnTo>
                  <a:pt x="1971708" y="1141234"/>
                </a:lnTo>
                <a:lnTo>
                  <a:pt x="0" y="1141234"/>
                </a:lnTo>
                <a:lnTo>
                  <a:pt x="0" y="0"/>
                </a:lnTo>
                <a:close/>
              </a:path>
            </a:pathLst>
          </a:custGeom>
          <a:solidFill>
            <a:schemeClr val="accent5">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KU Enterprises Management Company</a:t>
            </a:r>
          </a:p>
        </p:txBody>
      </p:sp>
      <p:sp>
        <p:nvSpPr>
          <p:cNvPr id="29" name="TextBox 28"/>
          <p:cNvSpPr txBox="1"/>
          <p:nvPr/>
        </p:nvSpPr>
        <p:spPr>
          <a:xfrm>
            <a:off x="3871953" y="4330180"/>
            <a:ext cx="2340768" cy="1089497"/>
          </a:xfrm>
          <a:prstGeom prst="rect">
            <a:avLst/>
          </a:prstGeom>
          <a:solidFill>
            <a:srgbClr val="CEE4DA"/>
          </a:solidFill>
          <a:ln>
            <a:solidFill>
              <a:schemeClr val="accent2">
                <a:lumMod val="60000"/>
                <a:lumOff val="40000"/>
              </a:schemeClr>
            </a:solidFill>
          </a:ln>
        </p:spPr>
        <p:txBody>
          <a:bodyPr wrap="square" rtlCol="0">
            <a:noAutofit/>
          </a:bodyPr>
          <a:lstStyle>
            <a:defPPr>
              <a:defRPr lang="en-US"/>
            </a:defPPr>
            <a:lvl1pPr marL="114300" marR="0" lvl="0" indent="-114300" fontAlgn="auto">
              <a:lnSpc>
                <a:spcPct val="100000"/>
              </a:lnSpc>
              <a:spcBef>
                <a:spcPts val="0"/>
              </a:spcBef>
              <a:spcAft>
                <a:spcPts val="0"/>
              </a:spcAft>
              <a:buClrTx/>
              <a:buSzTx/>
              <a:buFont typeface="Wingdings" panose="05000000000000000000" pitchFamily="2" charset="2"/>
              <a:buChar char="§"/>
              <a:tabLst/>
              <a:defRPr kumimoji="0" sz="1300" b="0" i="0" u="none" strike="noStrike" cap="none" spc="0" normalizeH="0" baseline="0">
                <a:ln>
                  <a:noFill/>
                </a:ln>
                <a:solidFill>
                  <a:prstClr val="black"/>
                </a:solidFill>
                <a:effectLst/>
                <a:uLnTx/>
                <a:uFillTx/>
                <a:latin typeface="Calibri" panose="020F0502020204030204"/>
              </a:defRPr>
            </a:lvl1pPr>
          </a:lstStyle>
          <a:p>
            <a:r>
              <a:rPr lang="en-US" dirty="0"/>
              <a:t>Supports commercialization of university IP through funding innovation programs and investing in startups</a:t>
            </a:r>
          </a:p>
        </p:txBody>
      </p:sp>
      <p:sp>
        <p:nvSpPr>
          <p:cNvPr id="34" name="TextBox 33"/>
          <p:cNvSpPr txBox="1"/>
          <p:nvPr/>
        </p:nvSpPr>
        <p:spPr>
          <a:xfrm>
            <a:off x="1228529" y="4330181"/>
            <a:ext cx="2286000" cy="1077694"/>
          </a:xfrm>
          <a:prstGeom prst="rect">
            <a:avLst/>
          </a:prstGeom>
          <a:solidFill>
            <a:srgbClr val="CEE4DA"/>
          </a:solidFill>
          <a:ln>
            <a:solidFill>
              <a:schemeClr val="accent2">
                <a:lumMod val="60000"/>
                <a:lumOff val="40000"/>
              </a:schemeClr>
            </a:solidFill>
          </a:ln>
        </p:spPr>
        <p:txBody>
          <a:bodyPr wrap="square" rtlCol="0">
            <a:noAutofit/>
          </a:bodyPr>
          <a:lstStyle/>
          <a:p>
            <a:pPr marL="114300" marR="0" lvl="0" indent="-1143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rPr>
              <a:t>Supports establishing and operating non-IP technology companies that can provide valuable technical products and services</a:t>
            </a:r>
          </a:p>
        </p:txBody>
      </p:sp>
      <p:cxnSp>
        <p:nvCxnSpPr>
          <p:cNvPr id="52" name="Elbow Connector 51"/>
          <p:cNvCxnSpPr>
            <a:stCxn id="20" idx="2"/>
            <a:endCxn id="53" idx="0"/>
          </p:cNvCxnSpPr>
          <p:nvPr/>
        </p:nvCxnSpPr>
        <p:spPr>
          <a:xfrm rot="5400000">
            <a:off x="4080642" y="1179731"/>
            <a:ext cx="451505" cy="3869727"/>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sp>
        <p:nvSpPr>
          <p:cNvPr id="53" name="Rectangle 52"/>
          <p:cNvSpPr/>
          <p:nvPr/>
        </p:nvSpPr>
        <p:spPr>
          <a:xfrm>
            <a:off x="1422130" y="3340347"/>
            <a:ext cx="1898800" cy="85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Rectangle 53"/>
          <p:cNvSpPr/>
          <p:nvPr/>
        </p:nvSpPr>
        <p:spPr>
          <a:xfrm>
            <a:off x="8644324" y="3413537"/>
            <a:ext cx="1914784" cy="85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 name="Rectangle 54"/>
          <p:cNvSpPr/>
          <p:nvPr/>
        </p:nvSpPr>
        <p:spPr>
          <a:xfrm>
            <a:off x="4094919" y="3389534"/>
            <a:ext cx="1898800" cy="85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8" name="Elbow Connector 57"/>
          <p:cNvCxnSpPr>
            <a:stCxn id="20" idx="2"/>
            <a:endCxn id="10" idx="0"/>
          </p:cNvCxnSpPr>
          <p:nvPr/>
        </p:nvCxnSpPr>
        <p:spPr>
          <a:xfrm rot="5400000">
            <a:off x="5415590" y="2513885"/>
            <a:ext cx="450711" cy="1200625"/>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flipV="1">
            <a:off x="6242951" y="1980313"/>
            <a:ext cx="0" cy="327337"/>
          </a:xfrm>
          <a:prstGeom prst="straightConnector1">
            <a:avLst/>
          </a:prstGeom>
          <a:ln w="38100">
            <a:solidFill>
              <a:schemeClr val="tx1">
                <a:lumMod val="75000"/>
                <a:lumOff val="25000"/>
              </a:schemeClr>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p:nvPr/>
        </p:nvCxnSpPr>
        <p:spPr>
          <a:xfrm flipH="1">
            <a:off x="6693339" y="3663606"/>
            <a:ext cx="1554480" cy="0"/>
          </a:xfrm>
          <a:prstGeom prst="straightConnector1">
            <a:avLst/>
          </a:prstGeom>
          <a:ln w="44450">
            <a:solidFill>
              <a:schemeClr val="tx2">
                <a:lumMod val="75000"/>
              </a:schemeClr>
            </a:solidFill>
            <a:prstDash val="solid"/>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p:nvPr/>
        </p:nvCxnSpPr>
        <p:spPr>
          <a:xfrm>
            <a:off x="6713177" y="3812674"/>
            <a:ext cx="1554480" cy="0"/>
          </a:xfrm>
          <a:prstGeom prst="straightConnector1">
            <a:avLst/>
          </a:prstGeom>
          <a:ln w="44450">
            <a:solidFill>
              <a:schemeClr val="tx2">
                <a:lumMod val="75000"/>
              </a:schemeClr>
            </a:solidFill>
            <a:prstDash val="solid"/>
            <a:tailEnd type="triangle"/>
          </a:ln>
        </p:spPr>
        <p:style>
          <a:lnRef idx="1">
            <a:schemeClr val="dk1"/>
          </a:lnRef>
          <a:fillRef idx="0">
            <a:schemeClr val="dk1"/>
          </a:fillRef>
          <a:effectRef idx="0">
            <a:schemeClr val="dk1"/>
          </a:effectRef>
          <a:fontRef idx="minor">
            <a:schemeClr val="tx1"/>
          </a:fontRef>
        </p:style>
      </p:cxnSp>
      <p:sp>
        <p:nvSpPr>
          <p:cNvPr id="74" name="TextBox 73">
            <a:extLst>
              <a:ext uri="{FF2B5EF4-FFF2-40B4-BE49-F238E27FC236}">
                <a16:creationId xmlns:a16="http://schemas.microsoft.com/office/drawing/2014/main" id="{DBCF68FB-6AC3-4007-A64C-A52A22A21DF8}"/>
              </a:ext>
            </a:extLst>
          </p:cNvPr>
          <p:cNvSpPr txBox="1"/>
          <p:nvPr/>
        </p:nvSpPr>
        <p:spPr>
          <a:xfrm>
            <a:off x="6773464" y="3356027"/>
            <a:ext cx="152658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Annual contribution</a:t>
            </a:r>
          </a:p>
        </p:txBody>
      </p:sp>
      <p:sp>
        <p:nvSpPr>
          <p:cNvPr id="76" name="TextBox 75">
            <a:extLst>
              <a:ext uri="{FF2B5EF4-FFF2-40B4-BE49-F238E27FC236}">
                <a16:creationId xmlns:a16="http://schemas.microsoft.com/office/drawing/2014/main" id="{DBCF68FB-6AC3-4007-A64C-A52A22A21DF8}"/>
              </a:ext>
            </a:extLst>
          </p:cNvPr>
          <p:cNvSpPr txBox="1"/>
          <p:nvPr/>
        </p:nvSpPr>
        <p:spPr>
          <a:xfrm flipH="1">
            <a:off x="6512933" y="3842635"/>
            <a:ext cx="195358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Long-term financial returns</a:t>
            </a:r>
          </a:p>
        </p:txBody>
      </p:sp>
      <p:sp>
        <p:nvSpPr>
          <p:cNvPr id="10" name="Rectangle 9"/>
          <p:cNvSpPr/>
          <p:nvPr/>
        </p:nvSpPr>
        <p:spPr>
          <a:xfrm>
            <a:off x="4087545" y="3339553"/>
            <a:ext cx="1906174" cy="8873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7" name="Elbow Connector 36"/>
          <p:cNvCxnSpPr>
            <a:stCxn id="20" idx="2"/>
            <a:endCxn id="14" idx="0"/>
          </p:cNvCxnSpPr>
          <p:nvPr/>
        </p:nvCxnSpPr>
        <p:spPr>
          <a:xfrm rot="16200000" flipH="1">
            <a:off x="7658351" y="1471747"/>
            <a:ext cx="466306" cy="3300495"/>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sp>
        <p:nvSpPr>
          <p:cNvPr id="14" name="Rectangle 13"/>
          <p:cNvSpPr/>
          <p:nvPr/>
        </p:nvSpPr>
        <p:spPr>
          <a:xfrm>
            <a:off x="8408647" y="3355148"/>
            <a:ext cx="2266209" cy="871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Rectangle 44"/>
          <p:cNvSpPr/>
          <p:nvPr/>
        </p:nvSpPr>
        <p:spPr>
          <a:xfrm>
            <a:off x="1114913" y="3190000"/>
            <a:ext cx="5239659" cy="3412441"/>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p:cNvSpPr/>
          <p:nvPr/>
        </p:nvSpPr>
        <p:spPr>
          <a:xfrm>
            <a:off x="4295775" y="2318596"/>
            <a:ext cx="3890963" cy="5702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3E1C3AD1-587B-4466-BBAE-9771C8059437}"/>
              </a:ext>
            </a:extLst>
          </p:cNvPr>
          <p:cNvSpPr txBox="1"/>
          <p:nvPr/>
        </p:nvSpPr>
        <p:spPr>
          <a:xfrm>
            <a:off x="1486096" y="5511793"/>
            <a:ext cx="1157197"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prstClr val="black"/>
                </a:solidFill>
                <a:effectLst/>
                <a:uLnTx/>
                <a:uFillTx/>
                <a:latin typeface="Calibri" panose="020F0502020204030204"/>
                <a:ea typeface="+mn-ea"/>
                <a:cs typeface="+mn-cs"/>
              </a:rPr>
              <a:t>Jinomix</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6CA0ED94-2362-4FA0-BDEF-58651B4ED5AC}"/>
              </a:ext>
            </a:extLst>
          </p:cNvPr>
          <p:cNvPicPr/>
          <p:nvPr/>
        </p:nvPicPr>
        <p:blipFill>
          <a:blip r:embed="rId3"/>
          <a:stretch>
            <a:fillRect/>
          </a:stretch>
        </p:blipFill>
        <p:spPr>
          <a:xfrm>
            <a:off x="1246713" y="5964896"/>
            <a:ext cx="273406" cy="272654"/>
          </a:xfrm>
          <a:prstGeom prst="rect">
            <a:avLst/>
          </a:prstGeom>
        </p:spPr>
      </p:pic>
      <p:sp>
        <p:nvSpPr>
          <p:cNvPr id="31" name="TextBox 30">
            <a:extLst>
              <a:ext uri="{FF2B5EF4-FFF2-40B4-BE49-F238E27FC236}">
                <a16:creationId xmlns:a16="http://schemas.microsoft.com/office/drawing/2014/main" id="{B33EBE6B-0AE9-4954-91CA-41D2F13C7D72}"/>
              </a:ext>
            </a:extLst>
          </p:cNvPr>
          <p:cNvSpPr txBox="1"/>
          <p:nvPr/>
        </p:nvSpPr>
        <p:spPr>
          <a:xfrm>
            <a:off x="1486097" y="5986121"/>
            <a:ext cx="1635584"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Manufacturing Reagents</a:t>
            </a:r>
          </a:p>
        </p:txBody>
      </p:sp>
      <p:pic>
        <p:nvPicPr>
          <p:cNvPr id="32" name="Picture 2" descr="Human Dna String Sketch Illustration Stock Illustration ...">
            <a:extLst>
              <a:ext uri="{FF2B5EF4-FFF2-40B4-BE49-F238E27FC236}">
                <a16:creationId xmlns:a16="http://schemas.microsoft.com/office/drawing/2014/main" id="{B00526C6-AF4D-469B-895D-1B4048CA65E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96" r="14819"/>
          <a:stretch/>
        </p:blipFill>
        <p:spPr bwMode="auto">
          <a:xfrm>
            <a:off x="1276858" y="5522681"/>
            <a:ext cx="218208" cy="18596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C785D1A4-C188-4058-AB3E-3811162352E1}"/>
              </a:ext>
            </a:extLst>
          </p:cNvPr>
          <p:cNvPicPr/>
          <p:nvPr/>
        </p:nvPicPr>
        <p:blipFill>
          <a:blip r:embed="rId5"/>
          <a:stretch>
            <a:fillRect/>
          </a:stretch>
        </p:blipFill>
        <p:spPr>
          <a:xfrm>
            <a:off x="1314704" y="5756651"/>
            <a:ext cx="137424" cy="160259"/>
          </a:xfrm>
          <a:prstGeom prst="rect">
            <a:avLst/>
          </a:prstGeom>
        </p:spPr>
      </p:pic>
      <p:sp>
        <p:nvSpPr>
          <p:cNvPr id="35" name="TextBox 34">
            <a:extLst>
              <a:ext uri="{FF2B5EF4-FFF2-40B4-BE49-F238E27FC236}">
                <a16:creationId xmlns:a16="http://schemas.microsoft.com/office/drawing/2014/main" id="{CD114773-709B-41B1-9A3F-2A7E0DAC2670}"/>
              </a:ext>
            </a:extLst>
          </p:cNvPr>
          <p:cNvSpPr txBox="1"/>
          <p:nvPr/>
        </p:nvSpPr>
        <p:spPr>
          <a:xfrm>
            <a:off x="1486097" y="5756651"/>
            <a:ext cx="114532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Wastewater</a:t>
            </a:r>
          </a:p>
        </p:txBody>
      </p:sp>
      <p:pic>
        <p:nvPicPr>
          <p:cNvPr id="36" name="Picture 35">
            <a:extLst>
              <a:ext uri="{FF2B5EF4-FFF2-40B4-BE49-F238E27FC236}">
                <a16:creationId xmlns:a16="http://schemas.microsoft.com/office/drawing/2014/main" id="{8A3F9039-83FB-4A31-B578-598FA116F859}"/>
              </a:ext>
            </a:extLst>
          </p:cNvPr>
          <p:cNvPicPr/>
          <p:nvPr/>
        </p:nvPicPr>
        <p:blipFill>
          <a:blip r:embed="rId6"/>
          <a:stretch>
            <a:fillRect/>
          </a:stretch>
        </p:blipFill>
        <p:spPr>
          <a:xfrm>
            <a:off x="1216578" y="6297130"/>
            <a:ext cx="333676" cy="170223"/>
          </a:xfrm>
          <a:prstGeom prst="rect">
            <a:avLst/>
          </a:prstGeom>
        </p:spPr>
      </p:pic>
      <p:sp>
        <p:nvSpPr>
          <p:cNvPr id="38" name="TextBox 37">
            <a:extLst>
              <a:ext uri="{FF2B5EF4-FFF2-40B4-BE49-F238E27FC236}">
                <a16:creationId xmlns:a16="http://schemas.microsoft.com/office/drawing/2014/main" id="{F3AE6F6D-C838-469D-8997-0FD4F24929C3}"/>
              </a:ext>
            </a:extLst>
          </p:cNvPr>
          <p:cNvSpPr txBox="1"/>
          <p:nvPr/>
        </p:nvSpPr>
        <p:spPr>
          <a:xfrm>
            <a:off x="1486096" y="6255539"/>
            <a:ext cx="16355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Sports Equipment</a:t>
            </a:r>
          </a:p>
        </p:txBody>
      </p:sp>
      <p:sp>
        <p:nvSpPr>
          <p:cNvPr id="39" name="Rectangle 38"/>
          <p:cNvSpPr/>
          <p:nvPr/>
        </p:nvSpPr>
        <p:spPr>
          <a:xfrm>
            <a:off x="1081331" y="5795444"/>
            <a:ext cx="1003573" cy="446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0" name="Picture 2" descr="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64683" y="5511793"/>
            <a:ext cx="930954" cy="3132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cdn.brandfolder.io/CBWQP80B/as/q5uy8g-d6h6u8-53a4zf/1110x740-TS-blog.auto?width=500"/>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5743" t="35524" r="15631" b="34505"/>
          <a:stretch/>
        </p:blipFill>
        <p:spPr bwMode="auto">
          <a:xfrm>
            <a:off x="3892934" y="6035321"/>
            <a:ext cx="1294645" cy="3765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ub71"/>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5221161" y="6056528"/>
            <a:ext cx="1001895" cy="33414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https://khalifainnovation.ae/assets/img/logo.png"/>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5406107" y="5463935"/>
            <a:ext cx="540270" cy="54833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www.ku.ac.ae/wp-content/uploads/2018/08/logo.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086743" y="5571294"/>
            <a:ext cx="1026607" cy="22415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vestment Management &amp; Financial Services | BlackRock"/>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36666" b="36222"/>
          <a:stretch/>
        </p:blipFill>
        <p:spPr bwMode="auto">
          <a:xfrm>
            <a:off x="10101641" y="5289892"/>
            <a:ext cx="1221824" cy="331250"/>
          </a:xfrm>
          <a:prstGeom prst="rect">
            <a:avLst/>
          </a:prstGeom>
          <a:noFill/>
          <a:extLst>
            <a:ext uri="{909E8E84-426E-40DD-AFC4-6F175D3DCCD1}">
              <a14:hiddenFill xmlns:a14="http://schemas.microsoft.com/office/drawing/2010/main">
                <a:solidFill>
                  <a:srgbClr val="FFFFFF"/>
                </a:solidFill>
              </a14:hiddenFill>
            </a:ext>
          </a:extLst>
        </p:spPr>
      </p:pic>
      <p:sp>
        <p:nvSpPr>
          <p:cNvPr id="49" name="Freeform 48"/>
          <p:cNvSpPr/>
          <p:nvPr/>
        </p:nvSpPr>
        <p:spPr>
          <a:xfrm>
            <a:off x="9784981" y="4496052"/>
            <a:ext cx="1920240" cy="726270"/>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a:ea typeface="+mn-ea"/>
                <a:cs typeface="+mn-cs"/>
              </a:rPr>
              <a:t>Investment Allocation</a:t>
            </a:r>
          </a:p>
          <a:p>
            <a:pPr marL="0" marR="0" lvl="0" indent="0" algn="ctr" defTabSz="1066800" rtl="0" eaLnBrk="1" fontAlgn="auto" latinLnBrk="0" hangingPunct="1">
              <a:lnSpc>
                <a:spcPct val="90000"/>
              </a:lnSpc>
              <a:spcBef>
                <a:spcPct val="0"/>
              </a:spcBef>
              <a:spcAft>
                <a:spcPct val="35000"/>
              </a:spcAft>
              <a:buClrTx/>
              <a:buSzTx/>
              <a:buFontTx/>
              <a:buNone/>
              <a:tabLst/>
              <a:defRPr/>
            </a:pPr>
            <a:r>
              <a:rPr lang="en-US" sz="1200" dirty="0">
                <a:solidFill>
                  <a:prstClr val="white"/>
                </a:solidFill>
                <a:latin typeface="Calibri" panose="020F0502020204030204"/>
              </a:rPr>
              <a:t>AED 80 million</a:t>
            </a:r>
            <a:endParaRPr kumimoji="0" lang="en-US" sz="1200" i="0" u="none" strike="noStrike" kern="1200" cap="none" spc="0" normalizeH="0" baseline="0" noProof="0" dirty="0">
              <a:ln>
                <a:noFill/>
              </a:ln>
              <a:solidFill>
                <a:prstClr val="white"/>
              </a:solidFill>
              <a:effectLst/>
              <a:uLnTx/>
              <a:uFillTx/>
              <a:latin typeface="Calibri" panose="020F0502020204030204"/>
            </a:endParaRPr>
          </a:p>
        </p:txBody>
      </p:sp>
      <p:sp>
        <p:nvSpPr>
          <p:cNvPr id="50" name="Freeform 49"/>
          <p:cNvSpPr/>
          <p:nvPr/>
        </p:nvSpPr>
        <p:spPr>
          <a:xfrm>
            <a:off x="7376160" y="4496053"/>
            <a:ext cx="1920240" cy="726269"/>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a:ea typeface="+mn-ea"/>
                <a:cs typeface="+mn-cs"/>
              </a:rPr>
              <a:t>Operational</a:t>
            </a:r>
            <a:r>
              <a:rPr kumimoji="0" lang="en-US" sz="1400" b="1" i="0" u="none" strike="noStrike" kern="1200" cap="none" spc="0" normalizeH="0" noProof="0" dirty="0">
                <a:ln>
                  <a:noFill/>
                </a:ln>
                <a:solidFill>
                  <a:prstClr val="white"/>
                </a:solidFill>
                <a:effectLst/>
                <a:uLnTx/>
                <a:uFillTx/>
                <a:latin typeface="Calibri" panose="020F0502020204030204"/>
                <a:ea typeface="+mn-ea"/>
                <a:cs typeface="+mn-cs"/>
              </a:rPr>
              <a:t> Allocation</a:t>
            </a:r>
          </a:p>
          <a:p>
            <a:pPr marL="0" marR="0" lvl="0" indent="0" algn="ctr" defTabSz="1066800" rtl="0" eaLnBrk="1" fontAlgn="auto" latinLnBrk="0" hangingPunct="1">
              <a:lnSpc>
                <a:spcPct val="90000"/>
              </a:lnSpc>
              <a:spcBef>
                <a:spcPct val="0"/>
              </a:spcBef>
              <a:spcAft>
                <a:spcPct val="35000"/>
              </a:spcAft>
              <a:buClrTx/>
              <a:buSzTx/>
              <a:buFontTx/>
              <a:buNone/>
              <a:tabLst/>
              <a:defRPr/>
            </a:pPr>
            <a:r>
              <a:rPr lang="en-US" sz="1200" baseline="0" dirty="0">
                <a:solidFill>
                  <a:prstClr val="white"/>
                </a:solidFill>
                <a:latin typeface="Calibri" panose="020F0502020204030204"/>
              </a:rPr>
              <a:t>~AED</a:t>
            </a:r>
            <a:r>
              <a:rPr lang="en-US" sz="1200" dirty="0">
                <a:solidFill>
                  <a:prstClr val="white"/>
                </a:solidFill>
                <a:latin typeface="Calibri" panose="020F0502020204030204"/>
              </a:rPr>
              <a:t> 25 million</a:t>
            </a:r>
            <a:endParaRPr kumimoji="0" lang="en-US" sz="1200" i="0" u="none" strike="noStrike" kern="1200" cap="none" spc="0" normalizeH="0" baseline="0" noProof="0" dirty="0">
              <a:ln>
                <a:noFill/>
              </a:ln>
              <a:solidFill>
                <a:prstClr val="white"/>
              </a:solidFill>
              <a:effectLst/>
              <a:uLnTx/>
              <a:uFillTx/>
              <a:latin typeface="Calibri" panose="020F0502020204030204"/>
            </a:endParaRPr>
          </a:p>
        </p:txBody>
      </p:sp>
      <p:cxnSp>
        <p:nvCxnSpPr>
          <p:cNvPr id="56" name="Elbow Connector 55"/>
          <p:cNvCxnSpPr>
            <a:stCxn id="14" idx="2"/>
            <a:endCxn id="16" idx="0"/>
          </p:cNvCxnSpPr>
          <p:nvPr/>
        </p:nvCxnSpPr>
        <p:spPr>
          <a:xfrm rot="5400000">
            <a:off x="8804419" y="3758719"/>
            <a:ext cx="269194" cy="1205472"/>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sp>
        <p:nvSpPr>
          <p:cNvPr id="16" name="Rectangle 15"/>
          <p:cNvSpPr/>
          <p:nvPr/>
        </p:nvSpPr>
        <p:spPr>
          <a:xfrm>
            <a:off x="7376160" y="4496052"/>
            <a:ext cx="1920240" cy="726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784980" y="4496052"/>
            <a:ext cx="1918397" cy="726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Elbow Connector 61"/>
          <p:cNvCxnSpPr>
            <a:stCxn id="14" idx="2"/>
            <a:endCxn id="18" idx="0"/>
          </p:cNvCxnSpPr>
          <p:nvPr/>
        </p:nvCxnSpPr>
        <p:spPr>
          <a:xfrm rot="16200000" flipH="1">
            <a:off x="10008368" y="3760241"/>
            <a:ext cx="269194" cy="1202427"/>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sp>
        <p:nvSpPr>
          <p:cNvPr id="65" name="Freeform 64"/>
          <p:cNvSpPr/>
          <p:nvPr/>
        </p:nvSpPr>
        <p:spPr>
          <a:xfrm>
            <a:off x="7510088" y="5558105"/>
            <a:ext cx="1677160" cy="397092"/>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1">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algn="ctr" defTabSz="1066800">
              <a:lnSpc>
                <a:spcPct val="90000"/>
              </a:lnSpc>
              <a:spcBef>
                <a:spcPct val="0"/>
              </a:spcBef>
              <a:spcAft>
                <a:spcPct val="35000"/>
              </a:spcAft>
            </a:pPr>
            <a:r>
              <a:rPr lang="en-US" sz="1000" b="1" dirty="0">
                <a:solidFill>
                  <a:prstClr val="white"/>
                </a:solidFill>
                <a:latin typeface="Calibri" panose="020F0502020204030204"/>
              </a:rPr>
              <a:t>Ventures and Innovation Fund</a:t>
            </a:r>
          </a:p>
          <a:p>
            <a:pPr algn="ctr" defTabSz="1066800">
              <a:lnSpc>
                <a:spcPct val="90000"/>
              </a:lnSpc>
              <a:spcBef>
                <a:spcPct val="0"/>
              </a:spcBef>
              <a:spcAft>
                <a:spcPct val="35000"/>
              </a:spcAft>
            </a:pPr>
            <a:r>
              <a:rPr lang="en-US" sz="1000" b="1" dirty="0">
                <a:solidFill>
                  <a:prstClr val="white"/>
                </a:solidFill>
                <a:latin typeface="Calibri" panose="020F0502020204030204"/>
              </a:rPr>
              <a:t>~AED15 million</a:t>
            </a:r>
          </a:p>
        </p:txBody>
      </p:sp>
      <p:sp>
        <p:nvSpPr>
          <p:cNvPr id="67" name="Rectangle 66"/>
          <p:cNvSpPr/>
          <p:nvPr/>
        </p:nvSpPr>
        <p:spPr>
          <a:xfrm>
            <a:off x="7365129" y="4484831"/>
            <a:ext cx="1920240" cy="726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a:off x="7510088" y="6071909"/>
            <a:ext cx="1677160" cy="395444"/>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1">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algn="ctr" defTabSz="1066800">
              <a:lnSpc>
                <a:spcPct val="90000"/>
              </a:lnSpc>
              <a:spcBef>
                <a:spcPct val="0"/>
              </a:spcBef>
              <a:spcAft>
                <a:spcPct val="35000"/>
              </a:spcAft>
            </a:pPr>
            <a:r>
              <a:rPr lang="en-US" sz="900" b="1" dirty="0">
                <a:solidFill>
                  <a:prstClr val="white"/>
                </a:solidFill>
                <a:latin typeface="Calibri" panose="020F0502020204030204"/>
              </a:rPr>
              <a:t>Other Operational Fund</a:t>
            </a:r>
          </a:p>
          <a:p>
            <a:pPr algn="ctr" defTabSz="1066800">
              <a:lnSpc>
                <a:spcPct val="90000"/>
              </a:lnSpc>
              <a:spcBef>
                <a:spcPct val="0"/>
              </a:spcBef>
              <a:spcAft>
                <a:spcPct val="35000"/>
              </a:spcAft>
            </a:pPr>
            <a:r>
              <a:rPr lang="en-US" sz="900" b="1" dirty="0">
                <a:solidFill>
                  <a:prstClr val="white"/>
                </a:solidFill>
                <a:latin typeface="Calibri" panose="020F0502020204030204"/>
              </a:rPr>
              <a:t>~AED10 million</a:t>
            </a:r>
          </a:p>
        </p:txBody>
      </p:sp>
      <p:sp>
        <p:nvSpPr>
          <p:cNvPr id="44" name="Rectangle 43"/>
          <p:cNvSpPr/>
          <p:nvPr/>
        </p:nvSpPr>
        <p:spPr>
          <a:xfrm>
            <a:off x="7251826" y="4285246"/>
            <a:ext cx="2196974" cy="2317195"/>
          </a:xfrm>
          <a:prstGeom prst="rect">
            <a:avLst/>
          </a:prstGeom>
          <a:no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Elbow Connector 47"/>
          <p:cNvCxnSpPr>
            <a:stCxn id="44" idx="1"/>
            <a:endCxn id="45" idx="3"/>
          </p:cNvCxnSpPr>
          <p:nvPr/>
        </p:nvCxnSpPr>
        <p:spPr>
          <a:xfrm rot="10800000">
            <a:off x="6354572" y="4896222"/>
            <a:ext cx="897254" cy="547623"/>
          </a:xfrm>
          <a:prstGeom prst="bentConnector3">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1044" name="Picture 20" descr="Adia Logos"/>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101642" y="5724540"/>
            <a:ext cx="1245902" cy="701804"/>
          </a:xfrm>
          <a:prstGeom prst="rect">
            <a:avLst/>
          </a:prstGeom>
          <a:noFill/>
          <a:extLst>
            <a:ext uri="{909E8E84-426E-40DD-AFC4-6F175D3DCCD1}">
              <a14:hiddenFill xmlns:a14="http://schemas.microsoft.com/office/drawing/2010/main">
                <a:solidFill>
                  <a:srgbClr val="FFFFFF"/>
                </a:solidFill>
              </a14:hiddenFill>
            </a:ext>
          </a:extLst>
        </p:spPr>
      </p:pic>
      <p:sp>
        <p:nvSpPr>
          <p:cNvPr id="63" name="Oval 62"/>
          <p:cNvSpPr/>
          <p:nvPr/>
        </p:nvSpPr>
        <p:spPr>
          <a:xfrm>
            <a:off x="1392703" y="3336383"/>
            <a:ext cx="274320" cy="274320"/>
          </a:xfrm>
          <a:prstGeom prst="ellipse">
            <a:avLst/>
          </a:prstGeom>
          <a:no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80" name="Oval 79"/>
          <p:cNvSpPr/>
          <p:nvPr/>
        </p:nvSpPr>
        <p:spPr>
          <a:xfrm>
            <a:off x="4091231" y="3373849"/>
            <a:ext cx="274320" cy="274320"/>
          </a:xfrm>
          <a:prstGeom prst="ellipse">
            <a:avLst/>
          </a:prstGeom>
          <a:no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81" name="Oval 80"/>
          <p:cNvSpPr/>
          <p:nvPr/>
        </p:nvSpPr>
        <p:spPr>
          <a:xfrm>
            <a:off x="8413198" y="3358706"/>
            <a:ext cx="274320" cy="274320"/>
          </a:xfrm>
          <a:prstGeom prst="ellipse">
            <a:avLst/>
          </a:prstGeom>
          <a:no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pic>
        <p:nvPicPr>
          <p:cNvPr id="97" name="Picture 8" descr="https://www.ku.ac.ae/wp-content/uploads/2018/08/logo.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805723" y="5266917"/>
            <a:ext cx="1026607" cy="2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384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41BD0B4-FA63-46D8-A089-4633FE1825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F0B153-E3E2-4097-9E51-5A688B93C85A}"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3E1C3AD1-587B-4466-BBAE-9771C8059437}"/>
              </a:ext>
            </a:extLst>
          </p:cNvPr>
          <p:cNvSpPr txBox="1"/>
          <p:nvPr/>
        </p:nvSpPr>
        <p:spPr>
          <a:xfrm>
            <a:off x="1834306" y="3159420"/>
            <a:ext cx="2189464" cy="4149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black"/>
                </a:solidFill>
                <a:effectLst/>
                <a:uLnTx/>
                <a:uFillTx/>
                <a:latin typeface="Calibri" panose="020F0502020204030204"/>
                <a:ea typeface="+mn-ea"/>
                <a:cs typeface="+mn-cs"/>
              </a:rPr>
              <a:t>Jinomix</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6CA0ED94-2362-4FA0-BDEF-58651B4ED5AC}"/>
              </a:ext>
            </a:extLst>
          </p:cNvPr>
          <p:cNvPicPr/>
          <p:nvPr/>
        </p:nvPicPr>
        <p:blipFill>
          <a:blip r:embed="rId2"/>
          <a:stretch>
            <a:fillRect/>
          </a:stretch>
        </p:blipFill>
        <p:spPr>
          <a:xfrm>
            <a:off x="817810" y="4579613"/>
            <a:ext cx="754592" cy="847718"/>
          </a:xfrm>
          <a:prstGeom prst="rect">
            <a:avLst/>
          </a:prstGeom>
        </p:spPr>
      </p:pic>
      <p:sp>
        <p:nvSpPr>
          <p:cNvPr id="33" name="TextBox 32">
            <a:extLst>
              <a:ext uri="{FF2B5EF4-FFF2-40B4-BE49-F238E27FC236}">
                <a16:creationId xmlns:a16="http://schemas.microsoft.com/office/drawing/2014/main" id="{B33EBE6B-0AE9-4954-91CA-41D2F13C7D72}"/>
              </a:ext>
            </a:extLst>
          </p:cNvPr>
          <p:cNvSpPr txBox="1"/>
          <p:nvPr/>
        </p:nvSpPr>
        <p:spPr>
          <a:xfrm>
            <a:off x="1834306" y="4600505"/>
            <a:ext cx="231865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Manufacturing of RNA Extraction Reagents</a:t>
            </a:r>
          </a:p>
        </p:txBody>
      </p:sp>
      <p:pic>
        <p:nvPicPr>
          <p:cNvPr id="34" name="Picture 2" descr="Human Dna String Sketch Illustration Stock Illustration ...">
            <a:extLst>
              <a:ext uri="{FF2B5EF4-FFF2-40B4-BE49-F238E27FC236}">
                <a16:creationId xmlns:a16="http://schemas.microsoft.com/office/drawing/2014/main" id="{B00526C6-AF4D-469B-895D-1B4048CA65E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0496" r="14819"/>
          <a:stretch/>
        </p:blipFill>
        <p:spPr bwMode="auto">
          <a:xfrm>
            <a:off x="893984" y="3173218"/>
            <a:ext cx="602245" cy="52269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C785D1A4-C188-4058-AB3E-3811162352E1}"/>
              </a:ext>
            </a:extLst>
          </p:cNvPr>
          <p:cNvPicPr/>
          <p:nvPr/>
        </p:nvPicPr>
        <p:blipFill>
          <a:blip r:embed="rId4"/>
          <a:stretch>
            <a:fillRect/>
          </a:stretch>
        </p:blipFill>
        <p:spPr>
          <a:xfrm>
            <a:off x="1005463" y="3819551"/>
            <a:ext cx="379286" cy="498266"/>
          </a:xfrm>
          <a:prstGeom prst="rect">
            <a:avLst/>
          </a:prstGeom>
        </p:spPr>
      </p:pic>
      <p:sp>
        <p:nvSpPr>
          <p:cNvPr id="46" name="TextBox 45">
            <a:extLst>
              <a:ext uri="{FF2B5EF4-FFF2-40B4-BE49-F238E27FC236}">
                <a16:creationId xmlns:a16="http://schemas.microsoft.com/office/drawing/2014/main" id="{CD114773-709B-41B1-9A3F-2A7E0DAC2670}"/>
              </a:ext>
            </a:extLst>
          </p:cNvPr>
          <p:cNvSpPr txBox="1"/>
          <p:nvPr/>
        </p:nvSpPr>
        <p:spPr>
          <a:xfrm>
            <a:off x="1834306" y="3902782"/>
            <a:ext cx="21670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Wastewater</a:t>
            </a:r>
          </a:p>
        </p:txBody>
      </p:sp>
      <p:pic>
        <p:nvPicPr>
          <p:cNvPr id="48" name="Picture 47">
            <a:extLst>
              <a:ext uri="{FF2B5EF4-FFF2-40B4-BE49-F238E27FC236}">
                <a16:creationId xmlns:a16="http://schemas.microsoft.com/office/drawing/2014/main" id="{8A3F9039-83FB-4A31-B578-598FA116F859}"/>
              </a:ext>
            </a:extLst>
          </p:cNvPr>
          <p:cNvPicPr/>
          <p:nvPr/>
        </p:nvPicPr>
        <p:blipFill>
          <a:blip r:embed="rId5"/>
          <a:stretch>
            <a:fillRect/>
          </a:stretch>
        </p:blipFill>
        <p:spPr>
          <a:xfrm>
            <a:off x="734639" y="5692312"/>
            <a:ext cx="920934" cy="529246"/>
          </a:xfrm>
          <a:prstGeom prst="rect">
            <a:avLst/>
          </a:prstGeom>
        </p:spPr>
      </p:pic>
      <p:sp>
        <p:nvSpPr>
          <p:cNvPr id="49" name="TextBox 48">
            <a:extLst>
              <a:ext uri="{FF2B5EF4-FFF2-40B4-BE49-F238E27FC236}">
                <a16:creationId xmlns:a16="http://schemas.microsoft.com/office/drawing/2014/main" id="{F3AE6F6D-C838-469D-8997-0FD4F24929C3}"/>
              </a:ext>
            </a:extLst>
          </p:cNvPr>
          <p:cNvSpPr txBox="1"/>
          <p:nvPr/>
        </p:nvSpPr>
        <p:spPr>
          <a:xfrm>
            <a:off x="1834306" y="5575227"/>
            <a:ext cx="263209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Sports Equipment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Manufacturing Company</a:t>
            </a:r>
          </a:p>
        </p:txBody>
      </p:sp>
      <p:sp>
        <p:nvSpPr>
          <p:cNvPr id="51" name="Freeform 50"/>
          <p:cNvSpPr/>
          <p:nvPr/>
        </p:nvSpPr>
        <p:spPr>
          <a:xfrm>
            <a:off x="5360087" y="1150350"/>
            <a:ext cx="1906175" cy="871712"/>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2">
              <a:lumMod val="50000"/>
            </a:schemeClr>
          </a:solidFill>
          <a:ln cmpd="dbl">
            <a:solidFill>
              <a:schemeClr val="accent1">
                <a:lumMod val="75000"/>
              </a:schemeClr>
            </a:solid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1. KU Ventures</a:t>
            </a:r>
          </a:p>
        </p:txBody>
      </p:sp>
      <p:sp>
        <p:nvSpPr>
          <p:cNvPr id="53" name="TextBox 52"/>
          <p:cNvSpPr txBox="1"/>
          <p:nvPr/>
        </p:nvSpPr>
        <p:spPr>
          <a:xfrm>
            <a:off x="434350" y="492986"/>
            <a:ext cx="11757650" cy="764573"/>
          </a:xfrm>
          <a:prstGeom prst="rect">
            <a:avLst/>
          </a:prstGeom>
          <a:noFill/>
          <a:ln>
            <a:noFill/>
          </a:ln>
        </p:spPr>
        <p:txBody>
          <a:bodyPr wrap="square" rtlCol="0">
            <a:no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1. KU Ventures support establishing zero/low risk technology based companies that offer technical products and services.</a:t>
            </a:r>
          </a:p>
        </p:txBody>
      </p:sp>
      <p:sp>
        <p:nvSpPr>
          <p:cNvPr id="54" name="Rectangle 53"/>
          <p:cNvSpPr/>
          <p:nvPr/>
        </p:nvSpPr>
        <p:spPr>
          <a:xfrm>
            <a:off x="1068473" y="3977529"/>
            <a:ext cx="1898800" cy="85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Freeform 54"/>
          <p:cNvSpPr/>
          <p:nvPr/>
        </p:nvSpPr>
        <p:spPr>
          <a:xfrm>
            <a:off x="960423" y="2327244"/>
            <a:ext cx="2720882" cy="632318"/>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Technology Companies</a:t>
            </a:r>
          </a:p>
        </p:txBody>
      </p:sp>
      <p:sp>
        <p:nvSpPr>
          <p:cNvPr id="56" name="Freeform 55"/>
          <p:cNvSpPr/>
          <p:nvPr/>
        </p:nvSpPr>
        <p:spPr>
          <a:xfrm>
            <a:off x="4956221" y="2335000"/>
            <a:ext cx="2720882" cy="632318"/>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Operational Assets</a:t>
            </a:r>
          </a:p>
        </p:txBody>
      </p:sp>
      <p:sp>
        <p:nvSpPr>
          <p:cNvPr id="57" name="Freeform 56"/>
          <p:cNvSpPr/>
          <p:nvPr/>
        </p:nvSpPr>
        <p:spPr>
          <a:xfrm>
            <a:off x="8729701" y="2335302"/>
            <a:ext cx="2720882" cy="632318"/>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lang="en-US" b="1" dirty="0">
                <a:solidFill>
                  <a:prstClr val="white"/>
                </a:solidFill>
                <a:latin typeface="Calibri" panose="020F0502020204030204"/>
              </a:rPr>
              <a:t>Advisory</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 Services</a:t>
            </a:r>
          </a:p>
        </p:txBody>
      </p:sp>
      <p:pic>
        <p:nvPicPr>
          <p:cNvPr id="1026" name="Picture 2" descr="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4538" y="3185930"/>
            <a:ext cx="2442848" cy="822002"/>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Elbow Connector 59"/>
          <p:cNvCxnSpPr>
            <a:stCxn id="1031" idx="2"/>
            <a:endCxn id="1024" idx="0"/>
          </p:cNvCxnSpPr>
          <p:nvPr/>
        </p:nvCxnSpPr>
        <p:spPr>
          <a:xfrm rot="5400000">
            <a:off x="4161617" y="172198"/>
            <a:ext cx="314294" cy="3995799"/>
          </a:xfrm>
          <a:prstGeom prst="bentConnector3">
            <a:avLst>
              <a:gd name="adj1" fmla="val 50000"/>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24" name="Rectangle 1023"/>
          <p:cNvSpPr/>
          <p:nvPr/>
        </p:nvSpPr>
        <p:spPr>
          <a:xfrm>
            <a:off x="960423" y="2327244"/>
            <a:ext cx="2720882" cy="6323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ectangle 67"/>
          <p:cNvSpPr/>
          <p:nvPr/>
        </p:nvSpPr>
        <p:spPr>
          <a:xfrm>
            <a:off x="4956221" y="2335000"/>
            <a:ext cx="2720882" cy="6323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68"/>
          <p:cNvSpPr/>
          <p:nvPr/>
        </p:nvSpPr>
        <p:spPr>
          <a:xfrm>
            <a:off x="8723497" y="2335000"/>
            <a:ext cx="2720882" cy="6323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1030"/>
          <p:cNvSpPr/>
          <p:nvPr/>
        </p:nvSpPr>
        <p:spPr>
          <a:xfrm>
            <a:off x="5365750" y="1158730"/>
            <a:ext cx="1901825" cy="85422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34" name="Elbow Connector 1033"/>
          <p:cNvCxnSpPr>
            <a:stCxn id="1031" idx="2"/>
            <a:endCxn id="69" idx="0"/>
          </p:cNvCxnSpPr>
          <p:nvPr/>
        </p:nvCxnSpPr>
        <p:spPr>
          <a:xfrm rot="16200000" flipH="1">
            <a:off x="8039275" y="290337"/>
            <a:ext cx="322050" cy="3767275"/>
          </a:xfrm>
          <a:prstGeom prst="bentConnector3">
            <a:avLst>
              <a:gd name="adj1" fmla="val 50000"/>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8" name="Straight Connector 1037"/>
          <p:cNvCxnSpPr>
            <a:stCxn id="1031" idx="2"/>
            <a:endCxn id="68" idx="0"/>
          </p:cNvCxnSpPr>
          <p:nvPr/>
        </p:nvCxnSpPr>
        <p:spPr>
          <a:xfrm flipH="1">
            <a:off x="6316662" y="2012950"/>
            <a:ext cx="1" cy="32205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956221" y="4103656"/>
            <a:ext cx="2720882" cy="2145074"/>
          </a:xfrm>
          <a:prstGeom prst="rect">
            <a:avLst/>
          </a:prstGeom>
          <a:solidFill>
            <a:schemeClr val="tx2">
              <a:lumMod val="20000"/>
              <a:lumOff val="80000"/>
            </a:schemeClr>
          </a:solidFill>
        </p:spPr>
        <p:txBody>
          <a:bodyPr wrap="square">
            <a:spAutoFit/>
          </a:bodyPr>
          <a:lstStyle/>
          <a:p>
            <a:pPr marL="171450" indent="-171450">
              <a:lnSpc>
                <a:spcPct val="115000"/>
              </a:lnSpc>
              <a:spcBef>
                <a:spcPts val="600"/>
              </a:spcBef>
              <a:spcAft>
                <a:spcPts val="600"/>
              </a:spcAft>
              <a:buFont typeface="Wingdings" panose="05000000000000000000" pitchFamily="2" charset="2"/>
              <a:buChar char="§"/>
            </a:pPr>
            <a:r>
              <a:rPr lang="en-US" sz="1200" dirty="0"/>
              <a:t>Transfer </a:t>
            </a:r>
            <a:r>
              <a:rPr lang="en-US" sz="1200" dirty="0" err="1"/>
              <a:t>Ankabut</a:t>
            </a:r>
            <a:r>
              <a:rPr lang="en-US" sz="1200" dirty="0"/>
              <a:t> stake from KU to the Enterprise Management Company</a:t>
            </a:r>
          </a:p>
          <a:p>
            <a:pPr marL="171450" indent="-171450">
              <a:lnSpc>
                <a:spcPct val="115000"/>
              </a:lnSpc>
              <a:spcBef>
                <a:spcPts val="600"/>
              </a:spcBef>
              <a:spcAft>
                <a:spcPts val="600"/>
              </a:spcAft>
              <a:buFont typeface="Wingdings" panose="05000000000000000000" pitchFamily="2" charset="2"/>
              <a:buChar char="§"/>
            </a:pPr>
            <a:r>
              <a:rPr lang="en-US" sz="1200" dirty="0"/>
              <a:t>Operate </a:t>
            </a:r>
            <a:r>
              <a:rPr lang="en-US" sz="1200" dirty="0" err="1"/>
              <a:t>Ankabut</a:t>
            </a:r>
            <a:r>
              <a:rPr lang="en-US" sz="1200" dirty="0"/>
              <a:t> as a standalone commercial entity with its own Finance, HR, Marketing, &amp; Procurement divisions, to unlock business opportunities (expanding beyond education sector and beyond UAE)</a:t>
            </a:r>
          </a:p>
        </p:txBody>
      </p:sp>
      <p:sp>
        <p:nvSpPr>
          <p:cNvPr id="29" name="Rectangle 28"/>
          <p:cNvSpPr/>
          <p:nvPr/>
        </p:nvSpPr>
        <p:spPr>
          <a:xfrm>
            <a:off x="8723497" y="4103656"/>
            <a:ext cx="2720882" cy="1354089"/>
          </a:xfrm>
          <a:prstGeom prst="rect">
            <a:avLst/>
          </a:prstGeom>
          <a:solidFill>
            <a:schemeClr val="tx2">
              <a:lumMod val="20000"/>
              <a:lumOff val="80000"/>
            </a:schemeClr>
          </a:solidFill>
        </p:spPr>
        <p:txBody>
          <a:bodyPr wrap="square">
            <a:spAutoFit/>
          </a:bodyPr>
          <a:lstStyle/>
          <a:p>
            <a:pPr marL="171450" indent="-171450">
              <a:lnSpc>
                <a:spcPct val="115000"/>
              </a:lnSpc>
              <a:spcBef>
                <a:spcPts val="600"/>
              </a:spcBef>
              <a:spcAft>
                <a:spcPts val="600"/>
              </a:spcAft>
              <a:buFont typeface="Wingdings" panose="05000000000000000000" pitchFamily="2" charset="2"/>
              <a:buChar char="§"/>
            </a:pPr>
            <a:r>
              <a:rPr lang="en-US" sz="1200" dirty="0"/>
              <a:t>Provide advisory and consultancy services to the community, using high profile and experience of university faculties and staff in different scientific and technical areas of need and impact to UAE.</a:t>
            </a:r>
          </a:p>
        </p:txBody>
      </p:sp>
    </p:spTree>
    <p:extLst>
      <p:ext uri="{BB962C8B-B14F-4D97-AF65-F5344CB8AC3E}">
        <p14:creationId xmlns:p14="http://schemas.microsoft.com/office/powerpoint/2010/main" val="409853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41BD0B4-FA63-46D8-A089-4633FE1825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F0B153-E3E2-4097-9E51-5A688B93C85A}"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1" name="Freeform 50"/>
          <p:cNvSpPr/>
          <p:nvPr/>
        </p:nvSpPr>
        <p:spPr>
          <a:xfrm>
            <a:off x="4104004" y="1546140"/>
            <a:ext cx="3739516" cy="532284"/>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2">
              <a:lumMod val="50000"/>
            </a:schemeClr>
          </a:solidFill>
          <a:ln cmpd="dbl">
            <a:solidFill>
              <a:schemeClr val="accent1">
                <a:lumMod val="75000"/>
              </a:schemeClr>
            </a:solid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defRPr/>
            </a:pPr>
            <a:r>
              <a:rPr lang="en-US" b="1" dirty="0">
                <a:solidFill>
                  <a:prstClr val="white"/>
                </a:solidFill>
              </a:rPr>
              <a:t>2. Innovation Acceleration &amp; Startups</a:t>
            </a:r>
          </a:p>
        </p:txBody>
      </p:sp>
      <p:sp>
        <p:nvSpPr>
          <p:cNvPr id="53" name="TextBox 52"/>
          <p:cNvSpPr txBox="1"/>
          <p:nvPr/>
        </p:nvSpPr>
        <p:spPr>
          <a:xfrm>
            <a:off x="434350" y="492986"/>
            <a:ext cx="11757650" cy="764573"/>
          </a:xfrm>
          <a:prstGeom prst="rect">
            <a:avLst/>
          </a:prstGeom>
          <a:noFill/>
          <a:ln>
            <a:noFill/>
          </a:ln>
        </p:spPr>
        <p:txBody>
          <a:bodyPr wrap="square" rtlCol="0">
            <a:noAutofit/>
          </a:bodyPr>
          <a:lstStyle/>
          <a:p>
            <a:pPr lvl="0">
              <a:spcBef>
                <a:spcPts val="600"/>
              </a:spcBef>
              <a:spcAft>
                <a:spcPts val="600"/>
              </a:spcAft>
            </a:pPr>
            <a:r>
              <a:rPr lang="en-US" sz="2000" b="1" dirty="0">
                <a:solidFill>
                  <a:prstClr val="black"/>
                </a:solidFill>
              </a:rPr>
              <a:t>2. Innovation Acceleration supports commercialization of university IP through funding startups around KU research and IP</a:t>
            </a:r>
          </a:p>
        </p:txBody>
      </p:sp>
      <p:pic>
        <p:nvPicPr>
          <p:cNvPr id="2124" name="Picture 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0728" y="4022903"/>
            <a:ext cx="588010" cy="662445"/>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pic>
        <p:nvPicPr>
          <p:cNvPr id="2125"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3843" y="4021634"/>
            <a:ext cx="425450" cy="668791"/>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sp>
        <p:nvSpPr>
          <p:cNvPr id="78" name="Freeform 79"/>
          <p:cNvSpPr>
            <a:spLocks/>
          </p:cNvSpPr>
          <p:nvPr/>
        </p:nvSpPr>
        <p:spPr bwMode="auto">
          <a:xfrm>
            <a:off x="8198168" y="3523531"/>
            <a:ext cx="2757170" cy="1211945"/>
          </a:xfrm>
          <a:custGeom>
            <a:avLst/>
            <a:gdLst>
              <a:gd name="T0" fmla="+- 0 10354 10354"/>
              <a:gd name="T1" fmla="*/ T0 w 4342"/>
              <a:gd name="T2" fmla="+- 0 -2064 -2064"/>
              <a:gd name="T3" fmla="*/ -2064 h 1910"/>
              <a:gd name="T4" fmla="+- 0 13740 10354"/>
              <a:gd name="T5" fmla="*/ T4 w 4342"/>
              <a:gd name="T6" fmla="+- 0 -2064 -2064"/>
              <a:gd name="T7" fmla="*/ -2064 h 1910"/>
              <a:gd name="T8" fmla="+- 0 14695 10354"/>
              <a:gd name="T9" fmla="*/ T8 w 4342"/>
              <a:gd name="T10" fmla="+- 0 -1109 -2064"/>
              <a:gd name="T11" fmla="*/ -1109 h 1910"/>
              <a:gd name="T12" fmla="+- 0 13740 10354"/>
              <a:gd name="T13" fmla="*/ T12 w 4342"/>
              <a:gd name="T14" fmla="+- 0 -154 -2064"/>
              <a:gd name="T15" fmla="*/ -154 h 1910"/>
              <a:gd name="T16" fmla="+- 0 10354 10354"/>
              <a:gd name="T17" fmla="*/ T16 w 4342"/>
              <a:gd name="T18" fmla="+- 0 -154 -2064"/>
              <a:gd name="T19" fmla="*/ -154 h 1910"/>
              <a:gd name="T20" fmla="+- 0 11309 10354"/>
              <a:gd name="T21" fmla="*/ T20 w 4342"/>
              <a:gd name="T22" fmla="+- 0 -1109 -2064"/>
              <a:gd name="T23" fmla="*/ -1109 h 1910"/>
              <a:gd name="T24" fmla="+- 0 10354 10354"/>
              <a:gd name="T25" fmla="*/ T24 w 4342"/>
              <a:gd name="T26" fmla="+- 0 -2064 -2064"/>
              <a:gd name="T27" fmla="*/ -2064 h 1910"/>
            </a:gdLst>
            <a:ahLst/>
            <a:cxnLst>
              <a:cxn ang="0">
                <a:pos x="T1" y="T3"/>
              </a:cxn>
              <a:cxn ang="0">
                <a:pos x="T5" y="T7"/>
              </a:cxn>
              <a:cxn ang="0">
                <a:pos x="T9" y="T11"/>
              </a:cxn>
              <a:cxn ang="0">
                <a:pos x="T13" y="T15"/>
              </a:cxn>
              <a:cxn ang="0">
                <a:pos x="T17" y="T19"/>
              </a:cxn>
              <a:cxn ang="0">
                <a:pos x="T21" y="T23"/>
              </a:cxn>
              <a:cxn ang="0">
                <a:pos x="T25" y="T27"/>
              </a:cxn>
            </a:cxnLst>
            <a:rect l="0" t="0" r="r" b="b"/>
            <a:pathLst>
              <a:path w="4342" h="1910">
                <a:moveTo>
                  <a:pt x="0" y="0"/>
                </a:moveTo>
                <a:lnTo>
                  <a:pt x="3386" y="0"/>
                </a:lnTo>
                <a:lnTo>
                  <a:pt x="4341" y="955"/>
                </a:lnTo>
                <a:lnTo>
                  <a:pt x="3386" y="1910"/>
                </a:lnTo>
                <a:lnTo>
                  <a:pt x="0" y="1910"/>
                </a:lnTo>
                <a:lnTo>
                  <a:pt x="955" y="955"/>
                </a:lnTo>
                <a:lnTo>
                  <a:pt x="0" y="0"/>
                </a:lnTo>
                <a:close/>
              </a:path>
            </a:pathLst>
          </a:custGeom>
          <a:noFill/>
          <a:ln w="57912">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28" name="Picture 8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03413" y="4021634"/>
            <a:ext cx="790575" cy="663714"/>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pic>
        <p:nvPicPr>
          <p:cNvPr id="2129" name="Picture 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1790" y="4010847"/>
            <a:ext cx="441960" cy="645948"/>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sp>
        <p:nvSpPr>
          <p:cNvPr id="77" name="Freeform 83"/>
          <p:cNvSpPr>
            <a:spLocks/>
          </p:cNvSpPr>
          <p:nvPr/>
        </p:nvSpPr>
        <p:spPr bwMode="auto">
          <a:xfrm>
            <a:off x="1373187" y="3524800"/>
            <a:ext cx="2180590" cy="1215118"/>
          </a:xfrm>
          <a:custGeom>
            <a:avLst/>
            <a:gdLst>
              <a:gd name="T0" fmla="+- 0 566 566"/>
              <a:gd name="T1" fmla="*/ T0 w 3434"/>
              <a:gd name="T2" fmla="+- 0 -2062 -2062"/>
              <a:gd name="T3" fmla="*/ -2062 h 1915"/>
              <a:gd name="T4" fmla="+- 0 3043 566"/>
              <a:gd name="T5" fmla="*/ T4 w 3434"/>
              <a:gd name="T6" fmla="+- 0 -2062 -2062"/>
              <a:gd name="T7" fmla="*/ -2062 h 1915"/>
              <a:gd name="T8" fmla="+- 0 4001 566"/>
              <a:gd name="T9" fmla="*/ T8 w 3434"/>
              <a:gd name="T10" fmla="+- 0 -1104 -2062"/>
              <a:gd name="T11" fmla="*/ -1104 h 1915"/>
              <a:gd name="T12" fmla="+- 0 3043 566"/>
              <a:gd name="T13" fmla="*/ T12 w 3434"/>
              <a:gd name="T14" fmla="+- 0 -146 -2062"/>
              <a:gd name="T15" fmla="*/ -146 h 1915"/>
              <a:gd name="T16" fmla="+- 0 566 566"/>
              <a:gd name="T17" fmla="*/ T16 w 3434"/>
              <a:gd name="T18" fmla="+- 0 -146 -2062"/>
              <a:gd name="T19" fmla="*/ -146 h 1915"/>
              <a:gd name="T20" fmla="+- 0 566 566"/>
              <a:gd name="T21" fmla="*/ T20 w 3434"/>
              <a:gd name="T22" fmla="+- 0 -2062 -2062"/>
              <a:gd name="T23" fmla="*/ -2062 h 1915"/>
            </a:gdLst>
            <a:ahLst/>
            <a:cxnLst>
              <a:cxn ang="0">
                <a:pos x="T1" y="T3"/>
              </a:cxn>
              <a:cxn ang="0">
                <a:pos x="T5" y="T7"/>
              </a:cxn>
              <a:cxn ang="0">
                <a:pos x="T9" y="T11"/>
              </a:cxn>
              <a:cxn ang="0">
                <a:pos x="T13" y="T15"/>
              </a:cxn>
              <a:cxn ang="0">
                <a:pos x="T17" y="T19"/>
              </a:cxn>
              <a:cxn ang="0">
                <a:pos x="T21" y="T23"/>
              </a:cxn>
            </a:cxnLst>
            <a:rect l="0" t="0" r="r" b="b"/>
            <a:pathLst>
              <a:path w="3434" h="1915">
                <a:moveTo>
                  <a:pt x="0" y="0"/>
                </a:moveTo>
                <a:lnTo>
                  <a:pt x="2477" y="0"/>
                </a:lnTo>
                <a:lnTo>
                  <a:pt x="3435" y="958"/>
                </a:lnTo>
                <a:lnTo>
                  <a:pt x="2477" y="1916"/>
                </a:lnTo>
                <a:lnTo>
                  <a:pt x="0" y="1916"/>
                </a:lnTo>
                <a:lnTo>
                  <a:pt x="0" y="0"/>
                </a:lnTo>
                <a:close/>
              </a:path>
            </a:pathLst>
          </a:custGeom>
          <a:noFill/>
          <a:ln w="57912">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32" name="Picture 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8507" y="4026076"/>
            <a:ext cx="514985" cy="630719"/>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grpSp>
        <p:nvGrpSpPr>
          <p:cNvPr id="73" name="Group 85"/>
          <p:cNvGrpSpPr>
            <a:grpSpLocks/>
          </p:cNvGrpSpPr>
          <p:nvPr/>
        </p:nvGrpSpPr>
        <p:grpSpPr bwMode="auto">
          <a:xfrm>
            <a:off x="3346132" y="3523531"/>
            <a:ext cx="2627630" cy="1211945"/>
            <a:chOff x="3353" y="-2064"/>
            <a:chExt cx="4138" cy="1910"/>
          </a:xfrm>
        </p:grpSpPr>
        <p:sp>
          <p:nvSpPr>
            <p:cNvPr id="76" name="Freeform 86"/>
            <p:cNvSpPr>
              <a:spLocks/>
            </p:cNvSpPr>
            <p:nvPr/>
          </p:nvSpPr>
          <p:spPr bwMode="auto">
            <a:xfrm>
              <a:off x="3353" y="-2064"/>
              <a:ext cx="4138" cy="1910"/>
            </a:xfrm>
            <a:custGeom>
              <a:avLst/>
              <a:gdLst>
                <a:gd name="T0" fmla="+- 0 3353 3353"/>
                <a:gd name="T1" fmla="*/ T0 w 4138"/>
                <a:gd name="T2" fmla="+- 0 -2064 -2064"/>
                <a:gd name="T3" fmla="*/ -2064 h 1910"/>
                <a:gd name="T4" fmla="+- 0 6535 3353"/>
                <a:gd name="T5" fmla="*/ T4 w 4138"/>
                <a:gd name="T6" fmla="+- 0 -2064 -2064"/>
                <a:gd name="T7" fmla="*/ -2064 h 1910"/>
                <a:gd name="T8" fmla="+- 0 7490 3353"/>
                <a:gd name="T9" fmla="*/ T8 w 4138"/>
                <a:gd name="T10" fmla="+- 0 -1109 -2064"/>
                <a:gd name="T11" fmla="*/ -1109 h 1910"/>
                <a:gd name="T12" fmla="+- 0 6535 3353"/>
                <a:gd name="T13" fmla="*/ T12 w 4138"/>
                <a:gd name="T14" fmla="+- 0 -154 -2064"/>
                <a:gd name="T15" fmla="*/ -154 h 1910"/>
                <a:gd name="T16" fmla="+- 0 3353 3353"/>
                <a:gd name="T17" fmla="*/ T16 w 4138"/>
                <a:gd name="T18" fmla="+- 0 -154 -2064"/>
                <a:gd name="T19" fmla="*/ -154 h 1910"/>
                <a:gd name="T20" fmla="+- 0 4308 3353"/>
                <a:gd name="T21" fmla="*/ T20 w 4138"/>
                <a:gd name="T22" fmla="+- 0 -1109 -2064"/>
                <a:gd name="T23" fmla="*/ -1109 h 1910"/>
                <a:gd name="T24" fmla="+- 0 3353 3353"/>
                <a:gd name="T25" fmla="*/ T24 w 4138"/>
                <a:gd name="T26" fmla="+- 0 -2064 -2064"/>
                <a:gd name="T27" fmla="*/ -2064 h 1910"/>
              </a:gdLst>
              <a:ahLst/>
              <a:cxnLst>
                <a:cxn ang="0">
                  <a:pos x="T1" y="T3"/>
                </a:cxn>
                <a:cxn ang="0">
                  <a:pos x="T5" y="T7"/>
                </a:cxn>
                <a:cxn ang="0">
                  <a:pos x="T9" y="T11"/>
                </a:cxn>
                <a:cxn ang="0">
                  <a:pos x="T13" y="T15"/>
                </a:cxn>
                <a:cxn ang="0">
                  <a:pos x="T17" y="T19"/>
                </a:cxn>
                <a:cxn ang="0">
                  <a:pos x="T21" y="T23"/>
                </a:cxn>
                <a:cxn ang="0">
                  <a:pos x="T25" y="T27"/>
                </a:cxn>
              </a:cxnLst>
              <a:rect l="0" t="0" r="r" b="b"/>
              <a:pathLst>
                <a:path w="4138" h="1910">
                  <a:moveTo>
                    <a:pt x="0" y="0"/>
                  </a:moveTo>
                  <a:lnTo>
                    <a:pt x="3182" y="0"/>
                  </a:lnTo>
                  <a:lnTo>
                    <a:pt x="4137" y="955"/>
                  </a:lnTo>
                  <a:lnTo>
                    <a:pt x="3182" y="1910"/>
                  </a:lnTo>
                  <a:lnTo>
                    <a:pt x="0" y="1910"/>
                  </a:lnTo>
                  <a:lnTo>
                    <a:pt x="955" y="955"/>
                  </a:lnTo>
                  <a:lnTo>
                    <a:pt x="0" y="0"/>
                  </a:lnTo>
                  <a:close/>
                </a:path>
              </a:pathLst>
            </a:custGeom>
            <a:noFill/>
            <a:ln w="57912">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Freeform 88"/>
          <p:cNvSpPr>
            <a:spLocks/>
          </p:cNvSpPr>
          <p:nvPr/>
        </p:nvSpPr>
        <p:spPr bwMode="auto">
          <a:xfrm>
            <a:off x="5791517" y="3532415"/>
            <a:ext cx="2647315" cy="1203062"/>
          </a:xfrm>
          <a:custGeom>
            <a:avLst/>
            <a:gdLst>
              <a:gd name="T0" fmla="+- 0 6864 6864"/>
              <a:gd name="T1" fmla="*/ T0 w 4169"/>
              <a:gd name="T2" fmla="+- 0 -2050 -2050"/>
              <a:gd name="T3" fmla="*/ -2050 h 1896"/>
              <a:gd name="T4" fmla="+- 0 10085 6864"/>
              <a:gd name="T5" fmla="*/ T4 w 4169"/>
              <a:gd name="T6" fmla="+- 0 -2050 -2050"/>
              <a:gd name="T7" fmla="*/ -2050 h 1896"/>
              <a:gd name="T8" fmla="+- 0 11033 6864"/>
              <a:gd name="T9" fmla="*/ T8 w 4169"/>
              <a:gd name="T10" fmla="+- 0 -1102 -2050"/>
              <a:gd name="T11" fmla="*/ -1102 h 1896"/>
              <a:gd name="T12" fmla="+- 0 10085 6864"/>
              <a:gd name="T13" fmla="*/ T12 w 4169"/>
              <a:gd name="T14" fmla="+- 0 -154 -2050"/>
              <a:gd name="T15" fmla="*/ -154 h 1896"/>
              <a:gd name="T16" fmla="+- 0 6864 6864"/>
              <a:gd name="T17" fmla="*/ T16 w 4169"/>
              <a:gd name="T18" fmla="+- 0 -154 -2050"/>
              <a:gd name="T19" fmla="*/ -154 h 1896"/>
              <a:gd name="T20" fmla="+- 0 7812 6864"/>
              <a:gd name="T21" fmla="*/ T20 w 4169"/>
              <a:gd name="T22" fmla="+- 0 -1102 -2050"/>
              <a:gd name="T23" fmla="*/ -1102 h 1896"/>
              <a:gd name="T24" fmla="+- 0 6864 6864"/>
              <a:gd name="T25" fmla="*/ T24 w 4169"/>
              <a:gd name="T26" fmla="+- 0 -2050 -2050"/>
              <a:gd name="T27" fmla="*/ -2050 h 1896"/>
            </a:gdLst>
            <a:ahLst/>
            <a:cxnLst>
              <a:cxn ang="0">
                <a:pos x="T1" y="T3"/>
              </a:cxn>
              <a:cxn ang="0">
                <a:pos x="T5" y="T7"/>
              </a:cxn>
              <a:cxn ang="0">
                <a:pos x="T9" y="T11"/>
              </a:cxn>
              <a:cxn ang="0">
                <a:pos x="T13" y="T15"/>
              </a:cxn>
              <a:cxn ang="0">
                <a:pos x="T17" y="T19"/>
              </a:cxn>
              <a:cxn ang="0">
                <a:pos x="T21" y="T23"/>
              </a:cxn>
              <a:cxn ang="0">
                <a:pos x="T25" y="T27"/>
              </a:cxn>
            </a:cxnLst>
            <a:rect l="0" t="0" r="r" b="b"/>
            <a:pathLst>
              <a:path w="4169" h="1896">
                <a:moveTo>
                  <a:pt x="0" y="0"/>
                </a:moveTo>
                <a:lnTo>
                  <a:pt x="3221" y="0"/>
                </a:lnTo>
                <a:lnTo>
                  <a:pt x="4169" y="948"/>
                </a:lnTo>
                <a:lnTo>
                  <a:pt x="3221" y="1896"/>
                </a:lnTo>
                <a:lnTo>
                  <a:pt x="0" y="1896"/>
                </a:lnTo>
                <a:lnTo>
                  <a:pt x="948" y="948"/>
                </a:lnTo>
                <a:lnTo>
                  <a:pt x="0" y="0"/>
                </a:lnTo>
                <a:close/>
              </a:path>
            </a:pathLst>
          </a:custGeom>
          <a:noFill/>
          <a:ln w="57912">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TextBox 78"/>
          <p:cNvSpPr txBox="1"/>
          <p:nvPr/>
        </p:nvSpPr>
        <p:spPr>
          <a:xfrm>
            <a:off x="1412795" y="3570186"/>
            <a:ext cx="1333500" cy="523220"/>
          </a:xfrm>
          <a:prstGeom prst="rect">
            <a:avLst/>
          </a:prstGeom>
          <a:noFill/>
        </p:spPr>
        <p:txBody>
          <a:bodyPr wrap="square" rtlCol="0">
            <a:spAutoFit/>
          </a:bodyPr>
          <a:lstStyle/>
          <a:p>
            <a:r>
              <a:rPr lang="en-US" sz="1400" b="1" dirty="0"/>
              <a:t>University Research</a:t>
            </a:r>
          </a:p>
        </p:txBody>
      </p:sp>
      <p:sp>
        <p:nvSpPr>
          <p:cNvPr id="117" name="TextBox 116"/>
          <p:cNvSpPr txBox="1"/>
          <p:nvPr/>
        </p:nvSpPr>
        <p:spPr>
          <a:xfrm>
            <a:off x="3865561" y="3568183"/>
            <a:ext cx="1333500" cy="523220"/>
          </a:xfrm>
          <a:prstGeom prst="rect">
            <a:avLst/>
          </a:prstGeom>
          <a:noFill/>
        </p:spPr>
        <p:txBody>
          <a:bodyPr wrap="square" rtlCol="0">
            <a:spAutoFit/>
          </a:bodyPr>
          <a:lstStyle/>
          <a:p>
            <a:r>
              <a:rPr lang="en-US" sz="1400" b="1" dirty="0"/>
              <a:t>Intellectual Property</a:t>
            </a:r>
          </a:p>
        </p:txBody>
      </p:sp>
      <p:sp>
        <p:nvSpPr>
          <p:cNvPr id="118" name="TextBox 117"/>
          <p:cNvSpPr txBox="1"/>
          <p:nvPr/>
        </p:nvSpPr>
        <p:spPr>
          <a:xfrm>
            <a:off x="6258242" y="3568183"/>
            <a:ext cx="1333500" cy="523220"/>
          </a:xfrm>
          <a:prstGeom prst="rect">
            <a:avLst/>
          </a:prstGeom>
          <a:noFill/>
        </p:spPr>
        <p:txBody>
          <a:bodyPr wrap="square" rtlCol="0">
            <a:spAutoFit/>
          </a:bodyPr>
          <a:lstStyle/>
          <a:p>
            <a:r>
              <a:rPr lang="en-US" sz="1400" b="1" dirty="0"/>
              <a:t>Start-Up Education</a:t>
            </a:r>
          </a:p>
        </p:txBody>
      </p:sp>
      <p:sp>
        <p:nvSpPr>
          <p:cNvPr id="119" name="TextBox 118"/>
          <p:cNvSpPr txBox="1"/>
          <p:nvPr/>
        </p:nvSpPr>
        <p:spPr>
          <a:xfrm>
            <a:off x="8659812" y="3568183"/>
            <a:ext cx="1333500" cy="523220"/>
          </a:xfrm>
          <a:prstGeom prst="rect">
            <a:avLst/>
          </a:prstGeom>
          <a:noFill/>
        </p:spPr>
        <p:txBody>
          <a:bodyPr wrap="square" rtlCol="0">
            <a:spAutoFit/>
          </a:bodyPr>
          <a:lstStyle/>
          <a:p>
            <a:r>
              <a:rPr lang="en-US" sz="1400" b="1" dirty="0"/>
              <a:t>Start-Up Creation</a:t>
            </a:r>
          </a:p>
        </p:txBody>
      </p:sp>
      <p:pic>
        <p:nvPicPr>
          <p:cNvPr id="2137" name="Picture 8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21459" y="3133641"/>
            <a:ext cx="12001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8" name="Picture 9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32236" y="3155332"/>
            <a:ext cx="12001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9" name="Picture 9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78178" y="3160918"/>
            <a:ext cx="12001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40" name="Picture 9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766877" y="3149299"/>
            <a:ext cx="1076325" cy="290513"/>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9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530144" y="3160918"/>
            <a:ext cx="1076325" cy="290513"/>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6" descr="https://khalifainnovation.ae/assets/img/logo.png"/>
          <p:cNvPicPr>
            <a:picLocks noChangeAspect="1" noChangeArrowheads="1"/>
          </p:cNvPicPr>
          <p:nvPr/>
        </p:nvPicPr>
        <p:blipFill>
          <a:blip r:embed="rId9" cstate="print">
            <a:extLst>
              <a:ext uri="{BEBA8EAE-BF5A-486C-A8C5-ECC9F3942E4B}">
                <a14:imgProps xmlns:a14="http://schemas.microsoft.com/office/drawing/2010/main">
                  <a14:imgLayer r:embed="rId10">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5904241" y="2683677"/>
            <a:ext cx="774372" cy="785929"/>
          </a:xfrm>
          <a:prstGeom prst="rect">
            <a:avLst/>
          </a:prstGeom>
          <a:noFill/>
          <a:extLst>
            <a:ext uri="{909E8E84-426E-40DD-AFC4-6F175D3DCCD1}">
              <a14:hiddenFill xmlns:a14="http://schemas.microsoft.com/office/drawing/2010/main">
                <a:solidFill>
                  <a:srgbClr val="FFFFFF"/>
                </a:solidFill>
              </a14:hiddenFill>
            </a:ext>
          </a:extLst>
        </p:spPr>
      </p:pic>
      <p:grpSp>
        <p:nvGrpSpPr>
          <p:cNvPr id="80" name="Group 93"/>
          <p:cNvGrpSpPr>
            <a:grpSpLocks/>
          </p:cNvGrpSpPr>
          <p:nvPr/>
        </p:nvGrpSpPr>
        <p:grpSpPr bwMode="auto">
          <a:xfrm>
            <a:off x="1538287" y="2214363"/>
            <a:ext cx="8972551" cy="333375"/>
            <a:chOff x="526" y="1813"/>
            <a:chExt cx="15314" cy="526"/>
          </a:xfrm>
        </p:grpSpPr>
        <p:sp>
          <p:nvSpPr>
            <p:cNvPr id="81" name="Freeform 94"/>
            <p:cNvSpPr>
              <a:spLocks/>
            </p:cNvSpPr>
            <p:nvPr/>
          </p:nvSpPr>
          <p:spPr bwMode="auto">
            <a:xfrm>
              <a:off x="526" y="1813"/>
              <a:ext cx="15314" cy="526"/>
            </a:xfrm>
            <a:custGeom>
              <a:avLst/>
              <a:gdLst>
                <a:gd name="T0" fmla="+- 0 526 526"/>
                <a:gd name="T1" fmla="*/ T0 w 15314"/>
                <a:gd name="T2" fmla="+- 0 2339 1813"/>
                <a:gd name="T3" fmla="*/ 2339 h 526"/>
                <a:gd name="T4" fmla="+- 0 15840 526"/>
                <a:gd name="T5" fmla="*/ T4 w 15314"/>
                <a:gd name="T6" fmla="+- 0 2339 1813"/>
                <a:gd name="T7" fmla="*/ 2339 h 526"/>
                <a:gd name="T8" fmla="+- 0 15840 526"/>
                <a:gd name="T9" fmla="*/ T8 w 15314"/>
                <a:gd name="T10" fmla="+- 0 1813 1813"/>
                <a:gd name="T11" fmla="*/ 1813 h 526"/>
                <a:gd name="T12" fmla="+- 0 526 526"/>
                <a:gd name="T13" fmla="*/ T12 w 15314"/>
                <a:gd name="T14" fmla="+- 0 1813 1813"/>
                <a:gd name="T15" fmla="*/ 1813 h 526"/>
                <a:gd name="T16" fmla="+- 0 526 526"/>
                <a:gd name="T17" fmla="*/ T16 w 15314"/>
                <a:gd name="T18" fmla="+- 0 2339 1813"/>
                <a:gd name="T19" fmla="*/ 2339 h 526"/>
              </a:gdLst>
              <a:ahLst/>
              <a:cxnLst>
                <a:cxn ang="0">
                  <a:pos x="T1" y="T3"/>
                </a:cxn>
                <a:cxn ang="0">
                  <a:pos x="T5" y="T7"/>
                </a:cxn>
                <a:cxn ang="0">
                  <a:pos x="T9" y="T11"/>
                </a:cxn>
                <a:cxn ang="0">
                  <a:pos x="T13" y="T15"/>
                </a:cxn>
                <a:cxn ang="0">
                  <a:pos x="T17" y="T19"/>
                </a:cxn>
              </a:cxnLst>
              <a:rect l="0" t="0" r="r" b="b"/>
              <a:pathLst>
                <a:path w="15314" h="526">
                  <a:moveTo>
                    <a:pt x="0" y="526"/>
                  </a:moveTo>
                  <a:lnTo>
                    <a:pt x="15314" y="526"/>
                  </a:lnTo>
                  <a:lnTo>
                    <a:pt x="15314" y="0"/>
                  </a:lnTo>
                  <a:lnTo>
                    <a:pt x="0" y="0"/>
                  </a:lnTo>
                  <a:lnTo>
                    <a:pt x="0" y="526"/>
                  </a:lnTo>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r>
                <a:rPr lang="en-US" b="1" dirty="0">
                  <a:solidFill>
                    <a:schemeClr val="bg1"/>
                  </a:solidFill>
                </a:rPr>
                <a:t>Journey from University Research to Company Launch</a:t>
              </a:r>
            </a:p>
          </p:txBody>
        </p:sp>
      </p:grpSp>
      <p:sp>
        <p:nvSpPr>
          <p:cNvPr id="83" name="Rectangle 82"/>
          <p:cNvSpPr/>
          <p:nvPr/>
        </p:nvSpPr>
        <p:spPr>
          <a:xfrm>
            <a:off x="1187291" y="4856488"/>
            <a:ext cx="1784509" cy="860492"/>
          </a:xfrm>
          <a:prstGeom prst="rect">
            <a:avLst/>
          </a:prstGeom>
        </p:spPr>
        <p:txBody>
          <a:bodyPr wrap="square">
            <a:spAutoFit/>
          </a:bodyPr>
          <a:lstStyle/>
          <a:p>
            <a:pPr marL="128905" marR="0">
              <a:lnSpc>
                <a:spcPct val="104000"/>
              </a:lnSpc>
              <a:spcBef>
                <a:spcPts val="0"/>
              </a:spcBef>
              <a:spcAft>
                <a:spcPts val="0"/>
              </a:spcAft>
            </a:pPr>
            <a:r>
              <a:rPr lang="en-US" sz="1200" dirty="0">
                <a:ea typeface="Arial" panose="020B0604020202020204" pitchFamily="34" charset="0"/>
                <a:cs typeface="Arial" panose="020B0604020202020204" pitchFamily="34" charset="0"/>
              </a:rPr>
              <a:t>Pro</a:t>
            </a:r>
            <a:r>
              <a:rPr lang="en-US" sz="1200" spc="15" dirty="0">
                <a:ea typeface="Arial" panose="020B0604020202020204" pitchFamily="34" charset="0"/>
                <a:cs typeface="Arial" panose="020B0604020202020204" pitchFamily="34" charset="0"/>
              </a:rPr>
              <a:t>f</a:t>
            </a:r>
            <a:r>
              <a:rPr lang="en-US" sz="1200" spc="5" dirty="0">
                <a:ea typeface="Arial" panose="020B0604020202020204" pitchFamily="34" charset="0"/>
                <a:cs typeface="Arial" panose="020B0604020202020204" pitchFamily="34" charset="0"/>
              </a:rPr>
              <a:t>e</a:t>
            </a:r>
            <a:r>
              <a:rPr lang="en-US" sz="1200" dirty="0">
                <a:ea typeface="Arial" panose="020B0604020202020204" pitchFamily="34" charset="0"/>
                <a:cs typeface="Arial" panose="020B0604020202020204" pitchFamily="34" charset="0"/>
              </a:rPr>
              <a:t>ss</a:t>
            </a:r>
            <a:r>
              <a:rPr lang="en-US" sz="1200" spc="5" dirty="0">
                <a:ea typeface="Arial" panose="020B0604020202020204" pitchFamily="34" charset="0"/>
                <a:cs typeface="Arial" panose="020B0604020202020204" pitchFamily="34" charset="0"/>
              </a:rPr>
              <a:t>o</a:t>
            </a:r>
            <a:r>
              <a:rPr lang="en-US" sz="1200" dirty="0">
                <a:ea typeface="Arial" panose="020B0604020202020204" pitchFamily="34" charset="0"/>
                <a:cs typeface="Arial" panose="020B0604020202020204" pitchFamily="34" charset="0"/>
              </a:rPr>
              <a:t>rs</a:t>
            </a:r>
            <a:r>
              <a:rPr lang="en-US" sz="1200" spc="-35"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an</a:t>
            </a:r>
            <a:r>
              <a:rPr lang="en-US" sz="1200" dirty="0">
                <a:ea typeface="Arial" panose="020B0604020202020204" pitchFamily="34" charset="0"/>
                <a:cs typeface="Arial" panose="020B0604020202020204" pitchFamily="34" charset="0"/>
              </a:rPr>
              <a:t>d st</a:t>
            </a:r>
            <a:r>
              <a:rPr lang="en-US" sz="1200" spc="5" dirty="0">
                <a:ea typeface="Arial" panose="020B0604020202020204" pitchFamily="34" charset="0"/>
                <a:cs typeface="Arial" panose="020B0604020202020204" pitchFamily="34" charset="0"/>
              </a:rPr>
              <a:t>uden</a:t>
            </a:r>
            <a:r>
              <a:rPr lang="en-US" sz="1200" dirty="0">
                <a:ea typeface="Arial" panose="020B0604020202020204" pitchFamily="34" charset="0"/>
                <a:cs typeface="Arial" panose="020B0604020202020204" pitchFamily="34" charset="0"/>
              </a:rPr>
              <a:t>ts</a:t>
            </a:r>
            <a:r>
              <a:rPr lang="en-US" sz="1200" spc="-3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pe</a:t>
            </a:r>
            <a:r>
              <a:rPr lang="en-US" sz="1200" dirty="0">
                <a:ea typeface="Arial" panose="020B0604020202020204" pitchFamily="34" charset="0"/>
                <a:cs typeface="Arial" panose="020B0604020202020204" pitchFamily="34" charset="0"/>
              </a:rPr>
              <a:t>r</a:t>
            </a:r>
            <a:r>
              <a:rPr lang="en-US" sz="1200" spc="10" dirty="0">
                <a:ea typeface="Arial" panose="020B0604020202020204" pitchFamily="34" charset="0"/>
                <a:cs typeface="Arial" panose="020B0604020202020204" pitchFamily="34" charset="0"/>
              </a:rPr>
              <a:t>f</a:t>
            </a:r>
            <a:r>
              <a:rPr lang="en-US" sz="1200" spc="5" dirty="0">
                <a:ea typeface="Arial" panose="020B0604020202020204" pitchFamily="34" charset="0"/>
                <a:cs typeface="Arial" panose="020B0604020202020204" pitchFamily="34" charset="0"/>
              </a:rPr>
              <a:t>o</a:t>
            </a:r>
            <a:r>
              <a:rPr lang="en-US" sz="1200" dirty="0">
                <a:ea typeface="Arial" panose="020B0604020202020204" pitchFamily="34" charset="0"/>
                <a:cs typeface="Arial" panose="020B0604020202020204" pitchFamily="34" charset="0"/>
              </a:rPr>
              <a:t>rm res</a:t>
            </a:r>
            <a:r>
              <a:rPr lang="en-US" sz="1200" spc="5" dirty="0">
                <a:ea typeface="Arial" panose="020B0604020202020204" pitchFamily="34" charset="0"/>
                <a:cs typeface="Arial" panose="020B0604020202020204" pitchFamily="34" charset="0"/>
              </a:rPr>
              <a:t>ea</a:t>
            </a:r>
            <a:r>
              <a:rPr lang="en-US" sz="1200" dirty="0">
                <a:ea typeface="Arial" panose="020B0604020202020204" pitchFamily="34" charset="0"/>
                <a:cs typeface="Arial" panose="020B0604020202020204" pitchFamily="34" charset="0"/>
              </a:rPr>
              <a:t>rch</a:t>
            </a:r>
            <a:r>
              <a:rPr lang="en-US" sz="1200" spc="-20"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in</a:t>
            </a:r>
            <a:r>
              <a:rPr lang="en-US" sz="1200" spc="-5"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t</a:t>
            </a:r>
            <a:r>
              <a:rPr lang="en-US" sz="1200" spc="5" dirty="0">
                <a:ea typeface="Arial" panose="020B0604020202020204" pitchFamily="34" charset="0"/>
                <a:cs typeface="Arial" panose="020B0604020202020204" pitchFamily="34" charset="0"/>
              </a:rPr>
              <a:t>he</a:t>
            </a:r>
            <a:r>
              <a:rPr lang="en-US" sz="1200" dirty="0">
                <a:ea typeface="Arial" panose="020B0604020202020204" pitchFamily="34" charset="0"/>
                <a:cs typeface="Arial" panose="020B0604020202020204" pitchFamily="34" charset="0"/>
              </a:rPr>
              <a:t>ir</a:t>
            </a:r>
            <a:r>
              <a:rPr lang="en-US" sz="1200" spc="-15"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a</a:t>
            </a:r>
            <a:r>
              <a:rPr lang="en-US" sz="1200" dirty="0">
                <a:ea typeface="Arial" panose="020B0604020202020204" pitchFamily="34" charset="0"/>
                <a:cs typeface="Arial" panose="020B0604020202020204" pitchFamily="34" charset="0"/>
              </a:rPr>
              <a:t>re</a:t>
            </a:r>
            <a:r>
              <a:rPr lang="en-US" sz="1200" spc="5" dirty="0">
                <a:ea typeface="Arial" panose="020B0604020202020204" pitchFamily="34" charset="0"/>
                <a:cs typeface="Arial" panose="020B0604020202020204" pitchFamily="34" charset="0"/>
              </a:rPr>
              <a:t>a</a:t>
            </a:r>
            <a:r>
              <a:rPr lang="en-US" sz="1200" dirty="0">
                <a:ea typeface="Arial" panose="020B0604020202020204" pitchFamily="34" charset="0"/>
                <a:cs typeface="Arial" panose="020B0604020202020204" pitchFamily="34" charset="0"/>
              </a:rPr>
              <a:t>s </a:t>
            </a:r>
            <a:r>
              <a:rPr lang="en-US" sz="1200" spc="5" dirty="0">
                <a:ea typeface="Arial" panose="020B0604020202020204" pitchFamily="34" charset="0"/>
                <a:cs typeface="Arial" panose="020B0604020202020204" pitchFamily="34" charset="0"/>
              </a:rPr>
              <a:t>o</a:t>
            </a:r>
            <a:r>
              <a:rPr lang="en-US" sz="1200" dirty="0">
                <a:ea typeface="Arial" panose="020B0604020202020204" pitchFamily="34" charset="0"/>
                <a:cs typeface="Arial" panose="020B0604020202020204" pitchFamily="34" charset="0"/>
              </a:rPr>
              <a:t>f</a:t>
            </a:r>
            <a:r>
              <a:rPr lang="en-US" sz="1200" spc="-10" dirty="0">
                <a:ea typeface="Arial" panose="020B0604020202020204" pitchFamily="34" charset="0"/>
                <a:cs typeface="Arial" panose="020B0604020202020204" pitchFamily="34" charset="0"/>
              </a:rPr>
              <a:t> </a:t>
            </a:r>
            <a:r>
              <a:rPr lang="en-US" sz="1200" spc="15" dirty="0">
                <a:ea typeface="Arial" panose="020B0604020202020204" pitchFamily="34" charset="0"/>
                <a:cs typeface="Arial" panose="020B0604020202020204" pitchFamily="34" charset="0"/>
              </a:rPr>
              <a:t>f</a:t>
            </a:r>
            <a:r>
              <a:rPr lang="en-US" sz="1200" spc="5" dirty="0">
                <a:ea typeface="Arial" panose="020B0604020202020204" pitchFamily="34" charset="0"/>
                <a:cs typeface="Arial" panose="020B0604020202020204" pitchFamily="34" charset="0"/>
              </a:rPr>
              <a:t>o</a:t>
            </a:r>
            <a:r>
              <a:rPr lang="en-US" sz="1200" dirty="0">
                <a:ea typeface="Arial" panose="020B0604020202020204" pitchFamily="34" charset="0"/>
                <a:cs typeface="Arial" panose="020B0604020202020204" pitchFamily="34" charset="0"/>
              </a:rPr>
              <a:t>c</a:t>
            </a:r>
            <a:r>
              <a:rPr lang="en-US" sz="1200" spc="5" dirty="0">
                <a:ea typeface="Arial" panose="020B0604020202020204" pitchFamily="34" charset="0"/>
                <a:cs typeface="Arial" panose="020B0604020202020204" pitchFamily="34" charset="0"/>
              </a:rPr>
              <a:t>u</a:t>
            </a:r>
            <a:r>
              <a:rPr lang="en-US" sz="1200" dirty="0">
                <a:ea typeface="Arial" panose="020B0604020202020204" pitchFamily="34" charset="0"/>
                <a:cs typeface="Arial" panose="020B0604020202020204" pitchFamily="34" charset="0"/>
              </a:rPr>
              <a:t>s</a:t>
            </a:r>
            <a:endParaRPr lang="en-US" sz="1100" dirty="0">
              <a:effectLst/>
              <a:ea typeface="Calibri" panose="020F0502020204030204" pitchFamily="34" charset="0"/>
              <a:cs typeface="Arial" panose="020B0604020202020204" pitchFamily="34" charset="0"/>
            </a:endParaRPr>
          </a:p>
        </p:txBody>
      </p:sp>
      <p:sp>
        <p:nvSpPr>
          <p:cNvPr id="84" name="Rectangle 83"/>
          <p:cNvSpPr/>
          <p:nvPr/>
        </p:nvSpPr>
        <p:spPr>
          <a:xfrm>
            <a:off x="3239768" y="4805225"/>
            <a:ext cx="2327751" cy="1817998"/>
          </a:xfrm>
          <a:prstGeom prst="rect">
            <a:avLst/>
          </a:prstGeom>
        </p:spPr>
        <p:txBody>
          <a:bodyPr wrap="square">
            <a:spAutoFit/>
          </a:bodyPr>
          <a:lstStyle/>
          <a:p>
            <a:pPr>
              <a:lnSpc>
                <a:spcPct val="104000"/>
              </a:lnSpc>
              <a:spcAft>
                <a:spcPts val="600"/>
              </a:spcAft>
            </a:pPr>
            <a:r>
              <a:rPr lang="en-US" sz="1200" dirty="0">
                <a:ea typeface="Arial" panose="020B0604020202020204" pitchFamily="34" charset="0"/>
                <a:cs typeface="Arial" panose="020B0604020202020204" pitchFamily="34" charset="0"/>
              </a:rPr>
              <a:t>Pro</a:t>
            </a:r>
            <a:r>
              <a:rPr lang="en-US" sz="1200" spc="15" dirty="0">
                <a:ea typeface="Arial" panose="020B0604020202020204" pitchFamily="34" charset="0"/>
                <a:cs typeface="Arial" panose="020B0604020202020204" pitchFamily="34" charset="0"/>
              </a:rPr>
              <a:t>f</a:t>
            </a:r>
            <a:r>
              <a:rPr lang="en-US" sz="1200" spc="5" dirty="0">
                <a:ea typeface="Arial" panose="020B0604020202020204" pitchFamily="34" charset="0"/>
                <a:cs typeface="Arial" panose="020B0604020202020204" pitchFamily="34" charset="0"/>
              </a:rPr>
              <a:t>e</a:t>
            </a:r>
            <a:r>
              <a:rPr lang="en-US" sz="1200" dirty="0">
                <a:ea typeface="Arial" panose="020B0604020202020204" pitchFamily="34" charset="0"/>
                <a:cs typeface="Arial" panose="020B0604020202020204" pitchFamily="34" charset="0"/>
              </a:rPr>
              <a:t>ss</a:t>
            </a:r>
            <a:r>
              <a:rPr lang="en-US" sz="1200" spc="5" dirty="0">
                <a:ea typeface="Arial" panose="020B0604020202020204" pitchFamily="34" charset="0"/>
                <a:cs typeface="Arial" panose="020B0604020202020204" pitchFamily="34" charset="0"/>
              </a:rPr>
              <a:t>o</a:t>
            </a:r>
            <a:r>
              <a:rPr lang="en-US" sz="1200" dirty="0">
                <a:ea typeface="Arial" panose="020B0604020202020204" pitchFamily="34" charset="0"/>
                <a:cs typeface="Arial" panose="020B0604020202020204" pitchFamily="34" charset="0"/>
              </a:rPr>
              <a:t>rs</a:t>
            </a:r>
            <a:r>
              <a:rPr lang="en-US" sz="1200" spc="-35"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an</a:t>
            </a:r>
            <a:r>
              <a:rPr lang="en-US" sz="1200" dirty="0">
                <a:ea typeface="Arial" panose="020B0604020202020204" pitchFamily="34" charset="0"/>
                <a:cs typeface="Arial" panose="020B0604020202020204" pitchFamily="34" charset="0"/>
              </a:rPr>
              <a:t>d</a:t>
            </a:r>
            <a:r>
              <a:rPr lang="en-US" sz="1200" spc="-20"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st</a:t>
            </a:r>
            <a:r>
              <a:rPr lang="en-US" sz="1200" spc="5" dirty="0">
                <a:ea typeface="Arial" panose="020B0604020202020204" pitchFamily="34" charset="0"/>
                <a:cs typeface="Arial" panose="020B0604020202020204" pitchFamily="34" charset="0"/>
              </a:rPr>
              <a:t>uden</a:t>
            </a:r>
            <a:r>
              <a:rPr lang="en-US" sz="1200" dirty="0">
                <a:ea typeface="Arial" panose="020B0604020202020204" pitchFamily="34" charset="0"/>
                <a:cs typeface="Arial" panose="020B0604020202020204" pitchFamily="34" charset="0"/>
              </a:rPr>
              <a:t>ts </a:t>
            </a:r>
            <a:r>
              <a:rPr lang="en-US" sz="1200" spc="5" dirty="0">
                <a:ea typeface="Arial" panose="020B0604020202020204" pitchFamily="34" charset="0"/>
                <a:cs typeface="Arial" panose="020B0604020202020204" pitchFamily="34" charset="0"/>
              </a:rPr>
              <a:t>de</a:t>
            </a:r>
            <a:r>
              <a:rPr lang="en-US" sz="1200" spc="-10" dirty="0">
                <a:ea typeface="Arial" panose="020B0604020202020204" pitchFamily="34" charset="0"/>
                <a:cs typeface="Arial" panose="020B0604020202020204" pitchFamily="34" charset="0"/>
              </a:rPr>
              <a:t>v</a:t>
            </a:r>
            <a:r>
              <a:rPr lang="en-US" sz="1200" spc="5" dirty="0">
                <a:ea typeface="Arial" panose="020B0604020202020204" pitchFamily="34" charset="0"/>
                <a:cs typeface="Arial" panose="020B0604020202020204" pitchFamily="34" charset="0"/>
              </a:rPr>
              <a:t>e</a:t>
            </a:r>
            <a:r>
              <a:rPr lang="en-US" sz="1200" dirty="0">
                <a:ea typeface="Arial" panose="020B0604020202020204" pitchFamily="34" charset="0"/>
                <a:cs typeface="Arial" panose="020B0604020202020204" pitchFamily="34" charset="0"/>
              </a:rPr>
              <a:t>lop</a:t>
            </a:r>
            <a:r>
              <a:rPr lang="en-US" sz="1200" spc="-30"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in</a:t>
            </a:r>
            <a:r>
              <a:rPr lang="en-US" sz="1200" spc="-10" dirty="0">
                <a:ea typeface="Arial" panose="020B0604020202020204" pitchFamily="34" charset="0"/>
                <a:cs typeface="Arial" panose="020B0604020202020204" pitchFamily="34" charset="0"/>
              </a:rPr>
              <a:t>v</a:t>
            </a:r>
            <a:r>
              <a:rPr lang="en-US" sz="1200" spc="5" dirty="0">
                <a:ea typeface="Arial" panose="020B0604020202020204" pitchFamily="34" charset="0"/>
                <a:cs typeface="Arial" panose="020B0604020202020204" pitchFamily="34" charset="0"/>
              </a:rPr>
              <a:t>en</a:t>
            </a:r>
            <a:r>
              <a:rPr lang="en-US" sz="1200" dirty="0">
                <a:ea typeface="Arial" panose="020B0604020202020204" pitchFamily="34" charset="0"/>
                <a:cs typeface="Arial" panose="020B0604020202020204" pitchFamily="34" charset="0"/>
              </a:rPr>
              <a:t>ti</a:t>
            </a:r>
            <a:r>
              <a:rPr lang="en-US" sz="1200" spc="5" dirty="0">
                <a:ea typeface="Arial" panose="020B0604020202020204" pitchFamily="34" charset="0"/>
                <a:cs typeface="Arial" panose="020B0604020202020204" pitchFamily="34" charset="0"/>
              </a:rPr>
              <a:t>on</a:t>
            </a:r>
            <a:r>
              <a:rPr lang="en-US" sz="1200" dirty="0">
                <a:ea typeface="Arial" panose="020B0604020202020204" pitchFamily="34" charset="0"/>
                <a:cs typeface="Arial" panose="020B0604020202020204" pitchFamily="34" charset="0"/>
              </a:rPr>
              <a:t>s</a:t>
            </a:r>
            <a:r>
              <a:rPr lang="en-US" sz="1200" spc="-35"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an</a:t>
            </a:r>
            <a:r>
              <a:rPr lang="en-US" sz="1200" dirty="0">
                <a:ea typeface="Arial" panose="020B0604020202020204" pitchFamily="34" charset="0"/>
                <a:cs typeface="Arial" panose="020B0604020202020204" pitchFamily="34" charset="0"/>
              </a:rPr>
              <a:t>d </a:t>
            </a:r>
            <a:r>
              <a:rPr lang="en-US" sz="1200" spc="5" dirty="0">
                <a:ea typeface="Arial" panose="020B0604020202020204" pitchFamily="34" charset="0"/>
                <a:cs typeface="Arial" panose="020B0604020202020204" pitchFamily="34" charset="0"/>
              </a:rPr>
              <a:t>pa</a:t>
            </a:r>
            <a:r>
              <a:rPr lang="en-US" sz="1200" dirty="0">
                <a:ea typeface="Arial" panose="020B0604020202020204" pitchFamily="34" charset="0"/>
                <a:cs typeface="Arial" panose="020B0604020202020204" pitchFamily="34" charset="0"/>
              </a:rPr>
              <a:t>t</a:t>
            </a:r>
            <a:r>
              <a:rPr lang="en-US" sz="1200" spc="5" dirty="0">
                <a:ea typeface="Arial" panose="020B0604020202020204" pitchFamily="34" charset="0"/>
                <a:cs typeface="Arial" panose="020B0604020202020204" pitchFamily="34" charset="0"/>
              </a:rPr>
              <a:t>en</a:t>
            </a:r>
            <a:r>
              <a:rPr lang="en-US" sz="1200" dirty="0">
                <a:ea typeface="Arial" panose="020B0604020202020204" pitchFamily="34" charset="0"/>
                <a:cs typeface="Arial" panose="020B0604020202020204" pitchFamily="34" charset="0"/>
              </a:rPr>
              <a:t>ts</a:t>
            </a:r>
            <a:r>
              <a:rPr lang="en-US" sz="1200" spc="-3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ba</a:t>
            </a:r>
            <a:r>
              <a:rPr lang="en-US" sz="1200" dirty="0">
                <a:ea typeface="Arial" panose="020B0604020202020204" pitchFamily="34" charset="0"/>
                <a:cs typeface="Arial" panose="020B0604020202020204" pitchFamily="34" charset="0"/>
              </a:rPr>
              <a:t>s</a:t>
            </a:r>
            <a:r>
              <a:rPr lang="en-US" sz="1200" spc="5" dirty="0">
                <a:ea typeface="Arial" panose="020B0604020202020204" pitchFamily="34" charset="0"/>
                <a:cs typeface="Arial" panose="020B0604020202020204" pitchFamily="34" charset="0"/>
              </a:rPr>
              <a:t>e</a:t>
            </a:r>
            <a:r>
              <a:rPr lang="en-US" sz="1200" dirty="0">
                <a:ea typeface="Arial" panose="020B0604020202020204" pitchFamily="34" charset="0"/>
                <a:cs typeface="Arial" panose="020B0604020202020204" pitchFamily="34" charset="0"/>
              </a:rPr>
              <a:t>d</a:t>
            </a:r>
            <a:r>
              <a:rPr lang="en-US" sz="1200" spc="-3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o</a:t>
            </a:r>
            <a:r>
              <a:rPr lang="en-US" sz="1200" dirty="0">
                <a:ea typeface="Arial" panose="020B0604020202020204" pitchFamily="34" charset="0"/>
                <a:cs typeface="Arial" panose="020B0604020202020204" pitchFamily="34" charset="0"/>
              </a:rPr>
              <a:t>n</a:t>
            </a:r>
            <a:r>
              <a:rPr lang="en-US" sz="1200" spc="-5"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t</a:t>
            </a:r>
            <a:r>
              <a:rPr lang="en-US" sz="1200" spc="5" dirty="0">
                <a:ea typeface="Arial" panose="020B0604020202020204" pitchFamily="34" charset="0"/>
                <a:cs typeface="Arial" panose="020B0604020202020204" pitchFamily="34" charset="0"/>
              </a:rPr>
              <a:t>he</a:t>
            </a:r>
            <a:r>
              <a:rPr lang="en-US" sz="1200" dirty="0">
                <a:ea typeface="Arial" panose="020B0604020202020204" pitchFamily="34" charset="0"/>
                <a:cs typeface="Arial" panose="020B0604020202020204" pitchFamily="34" charset="0"/>
              </a:rPr>
              <a:t>ir res</a:t>
            </a:r>
            <a:r>
              <a:rPr lang="en-US" sz="1200" spc="5" dirty="0">
                <a:ea typeface="Arial" panose="020B0604020202020204" pitchFamily="34" charset="0"/>
                <a:cs typeface="Arial" panose="020B0604020202020204" pitchFamily="34" charset="0"/>
              </a:rPr>
              <a:t>ea</a:t>
            </a:r>
            <a:r>
              <a:rPr lang="en-US" sz="1200" dirty="0">
                <a:ea typeface="Arial" panose="020B0604020202020204" pitchFamily="34" charset="0"/>
                <a:cs typeface="Arial" panose="020B0604020202020204" pitchFamily="34" charset="0"/>
              </a:rPr>
              <a:t>rch.</a:t>
            </a:r>
            <a:endParaRPr lang="en-US" sz="1200" dirty="0">
              <a:ea typeface="Calibri" panose="020F0502020204030204" pitchFamily="34" charset="0"/>
              <a:cs typeface="Arial" panose="020B0604020202020204" pitchFamily="34" charset="0"/>
            </a:endParaRPr>
          </a:p>
          <a:p>
            <a:pPr>
              <a:lnSpc>
                <a:spcPct val="115000"/>
              </a:lnSpc>
            </a:pPr>
            <a:r>
              <a:rPr lang="en-US" sz="1200" b="1" u="heavy" dirty="0">
                <a:uFill>
                  <a:solidFill>
                    <a:srgbClr val="000000"/>
                  </a:solidFill>
                </a:uFill>
                <a:ea typeface="Arial" panose="020B0604020202020204" pitchFamily="34" charset="0"/>
                <a:cs typeface="Arial" panose="020B0604020202020204" pitchFamily="34" charset="0"/>
              </a:rPr>
              <a:t>KU</a:t>
            </a:r>
            <a:r>
              <a:rPr lang="en-US" sz="1200" b="1" u="heavy" spc="-5" dirty="0">
                <a:uFill>
                  <a:solidFill>
                    <a:srgbClr val="000000"/>
                  </a:solidFill>
                </a:uFill>
                <a:ea typeface="Arial" panose="020B0604020202020204" pitchFamily="34" charset="0"/>
                <a:cs typeface="Arial" panose="020B0604020202020204" pitchFamily="34" charset="0"/>
              </a:rPr>
              <a:t> </a:t>
            </a:r>
            <a:r>
              <a:rPr lang="en-US" sz="1200" b="1" u="heavy" dirty="0">
                <a:uFill>
                  <a:solidFill>
                    <a:srgbClr val="000000"/>
                  </a:solidFill>
                </a:uFill>
                <a:ea typeface="Arial" panose="020B0604020202020204" pitchFamily="34" charset="0"/>
                <a:cs typeface="Arial" panose="020B0604020202020204" pitchFamily="34" charset="0"/>
              </a:rPr>
              <a:t>Metri</a:t>
            </a:r>
            <a:r>
              <a:rPr lang="en-US" sz="1200" b="1" u="heavy" spc="5" dirty="0">
                <a:uFill>
                  <a:solidFill>
                    <a:srgbClr val="000000"/>
                  </a:solidFill>
                </a:uFill>
                <a:ea typeface="Arial" panose="020B0604020202020204" pitchFamily="34" charset="0"/>
                <a:cs typeface="Arial" panose="020B0604020202020204" pitchFamily="34" charset="0"/>
              </a:rPr>
              <a:t>c</a:t>
            </a:r>
            <a:r>
              <a:rPr lang="en-US" sz="1200" b="1" u="heavy" dirty="0">
                <a:uFill>
                  <a:solidFill>
                    <a:srgbClr val="000000"/>
                  </a:solidFill>
                </a:uFill>
                <a:ea typeface="Arial" panose="020B0604020202020204" pitchFamily="34" charset="0"/>
                <a:cs typeface="Arial" panose="020B0604020202020204" pitchFamily="34" charset="0"/>
              </a:rPr>
              <a:t>s</a:t>
            </a:r>
            <a:r>
              <a:rPr lang="en-US" sz="1200" b="1" u="heavy" spc="-20" dirty="0">
                <a:uFill>
                  <a:solidFill>
                    <a:srgbClr val="000000"/>
                  </a:solidFill>
                </a:uFill>
                <a:ea typeface="Arial" panose="020B0604020202020204" pitchFamily="34" charset="0"/>
                <a:cs typeface="Arial" panose="020B0604020202020204" pitchFamily="34" charset="0"/>
              </a:rPr>
              <a:t> </a:t>
            </a:r>
            <a:r>
              <a:rPr lang="en-US" sz="1200" b="1" u="heavy" dirty="0">
                <a:uFill>
                  <a:solidFill>
                    <a:srgbClr val="000000"/>
                  </a:solidFill>
                </a:uFill>
                <a:ea typeface="Arial" panose="020B0604020202020204" pitchFamily="34" charset="0"/>
                <a:cs typeface="Arial" panose="020B0604020202020204" pitchFamily="34" charset="0"/>
              </a:rPr>
              <a:t>to</a:t>
            </a:r>
            <a:r>
              <a:rPr lang="en-US" sz="1200" b="1" u="heavy" spc="10" dirty="0">
                <a:uFill>
                  <a:solidFill>
                    <a:srgbClr val="000000"/>
                  </a:solidFill>
                </a:uFill>
                <a:ea typeface="Arial" panose="020B0604020202020204" pitchFamily="34" charset="0"/>
                <a:cs typeface="Arial" panose="020B0604020202020204" pitchFamily="34" charset="0"/>
              </a:rPr>
              <a:t> </a:t>
            </a:r>
            <a:r>
              <a:rPr lang="en-US" sz="1200" b="1" u="heavy" dirty="0">
                <a:uFill>
                  <a:solidFill>
                    <a:srgbClr val="000000"/>
                  </a:solidFill>
                </a:uFill>
                <a:ea typeface="Arial" panose="020B0604020202020204" pitchFamily="34" charset="0"/>
                <a:cs typeface="Arial" panose="020B0604020202020204" pitchFamily="34" charset="0"/>
              </a:rPr>
              <a:t>date:</a:t>
            </a:r>
            <a:endParaRPr lang="en-US" sz="1200" dirty="0">
              <a:ea typeface="Calibri" panose="020F0502020204030204" pitchFamily="34" charset="0"/>
              <a:cs typeface="Arial" panose="020B0604020202020204" pitchFamily="34" charset="0"/>
            </a:endParaRPr>
          </a:p>
          <a:p>
            <a:pPr>
              <a:lnSpc>
                <a:spcPct val="115000"/>
              </a:lnSpc>
              <a:spcBef>
                <a:spcPts val="60"/>
              </a:spcBef>
            </a:pPr>
            <a:r>
              <a:rPr lang="en-US" sz="1200" dirty="0">
                <a:ea typeface="Arial" panose="020B0604020202020204" pitchFamily="34" charset="0"/>
                <a:cs typeface="Arial" panose="020B0604020202020204" pitchFamily="34" charset="0"/>
              </a:rPr>
              <a:t>- </a:t>
            </a:r>
            <a:r>
              <a:rPr lang="en-US" sz="1200" spc="29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443</a:t>
            </a:r>
            <a:r>
              <a:rPr lang="en-US" sz="1200" spc="-20"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in</a:t>
            </a:r>
            <a:r>
              <a:rPr lang="en-US" sz="1200" spc="-10" dirty="0">
                <a:ea typeface="Arial" panose="020B0604020202020204" pitchFamily="34" charset="0"/>
                <a:cs typeface="Arial" panose="020B0604020202020204" pitchFamily="34" charset="0"/>
              </a:rPr>
              <a:t>v</a:t>
            </a:r>
            <a:r>
              <a:rPr lang="en-US" sz="1200" spc="5" dirty="0">
                <a:ea typeface="Arial" panose="020B0604020202020204" pitchFamily="34" charset="0"/>
                <a:cs typeface="Arial" panose="020B0604020202020204" pitchFamily="34" charset="0"/>
              </a:rPr>
              <a:t>en</a:t>
            </a:r>
            <a:r>
              <a:rPr lang="en-US" sz="1200" dirty="0">
                <a:ea typeface="Arial" panose="020B0604020202020204" pitchFamily="34" charset="0"/>
                <a:cs typeface="Arial" panose="020B0604020202020204" pitchFamily="34" charset="0"/>
              </a:rPr>
              <a:t>ti</a:t>
            </a:r>
            <a:r>
              <a:rPr lang="en-US" sz="1200" spc="5" dirty="0">
                <a:ea typeface="Arial" panose="020B0604020202020204" pitchFamily="34" charset="0"/>
                <a:cs typeface="Arial" panose="020B0604020202020204" pitchFamily="34" charset="0"/>
              </a:rPr>
              <a:t>on</a:t>
            </a:r>
            <a:r>
              <a:rPr lang="en-US" sz="1200" dirty="0">
                <a:ea typeface="Arial" panose="020B0604020202020204" pitchFamily="34" charset="0"/>
                <a:cs typeface="Arial" panose="020B0604020202020204" pitchFamily="34" charset="0"/>
              </a:rPr>
              <a:t>s</a:t>
            </a:r>
            <a:endParaRPr lang="en-US" sz="1200" dirty="0">
              <a:ea typeface="Calibri" panose="020F0502020204030204" pitchFamily="34" charset="0"/>
              <a:cs typeface="Arial" panose="020B0604020202020204" pitchFamily="34" charset="0"/>
            </a:endParaRPr>
          </a:p>
          <a:p>
            <a:pPr>
              <a:lnSpc>
                <a:spcPct val="115000"/>
              </a:lnSpc>
              <a:spcBef>
                <a:spcPts val="60"/>
              </a:spcBef>
            </a:pPr>
            <a:r>
              <a:rPr lang="en-US" sz="1200" dirty="0">
                <a:ea typeface="Arial" panose="020B0604020202020204" pitchFamily="34" charset="0"/>
                <a:cs typeface="Arial" panose="020B0604020202020204" pitchFamily="34" charset="0"/>
              </a:rPr>
              <a:t>- </a:t>
            </a:r>
            <a:r>
              <a:rPr lang="en-US" sz="1200" spc="29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24</a:t>
            </a:r>
            <a:r>
              <a:rPr lang="en-US" sz="1200" dirty="0">
                <a:ea typeface="Arial" panose="020B0604020202020204" pitchFamily="34" charset="0"/>
                <a:cs typeface="Arial" panose="020B0604020202020204" pitchFamily="34" charset="0"/>
              </a:rPr>
              <a:t>0</a:t>
            </a:r>
            <a:r>
              <a:rPr lang="en-US" sz="1200" spc="-20" dirty="0">
                <a:ea typeface="Arial" panose="020B0604020202020204" pitchFamily="34" charset="0"/>
                <a:cs typeface="Arial" panose="020B0604020202020204" pitchFamily="34" charset="0"/>
              </a:rPr>
              <a:t> </a:t>
            </a:r>
            <a:r>
              <a:rPr lang="en-US" sz="1200" spc="15" dirty="0">
                <a:ea typeface="Arial" panose="020B0604020202020204" pitchFamily="34" charset="0"/>
                <a:cs typeface="Arial" panose="020B0604020202020204" pitchFamily="34" charset="0"/>
              </a:rPr>
              <a:t>f</a:t>
            </a:r>
            <a:r>
              <a:rPr lang="en-US" sz="1200" dirty="0">
                <a:ea typeface="Arial" panose="020B0604020202020204" pitchFamily="34" charset="0"/>
                <a:cs typeface="Arial" panose="020B0604020202020204" pitchFamily="34" charset="0"/>
              </a:rPr>
              <a:t>i</a:t>
            </a:r>
            <a:r>
              <a:rPr lang="en-US" sz="1200" spc="-5" dirty="0">
                <a:ea typeface="Arial" panose="020B0604020202020204" pitchFamily="34" charset="0"/>
                <a:cs typeface="Arial" panose="020B0604020202020204" pitchFamily="34" charset="0"/>
              </a:rPr>
              <a:t>l</a:t>
            </a:r>
            <a:r>
              <a:rPr lang="en-US" sz="1200" spc="5" dirty="0">
                <a:ea typeface="Arial" panose="020B0604020202020204" pitchFamily="34" charset="0"/>
                <a:cs typeface="Arial" panose="020B0604020202020204" pitchFamily="34" charset="0"/>
              </a:rPr>
              <a:t>e</a:t>
            </a:r>
            <a:r>
              <a:rPr lang="en-US" sz="1200" dirty="0">
                <a:ea typeface="Arial" panose="020B0604020202020204" pitchFamily="34" charset="0"/>
                <a:cs typeface="Arial" panose="020B0604020202020204" pitchFamily="34" charset="0"/>
              </a:rPr>
              <a:t>d</a:t>
            </a:r>
            <a:r>
              <a:rPr lang="en-US" sz="1200" spc="-3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pa</a:t>
            </a:r>
            <a:r>
              <a:rPr lang="en-US" sz="1200" dirty="0">
                <a:ea typeface="Arial" panose="020B0604020202020204" pitchFamily="34" charset="0"/>
                <a:cs typeface="Arial" panose="020B0604020202020204" pitchFamily="34" charset="0"/>
              </a:rPr>
              <a:t>t</a:t>
            </a:r>
            <a:r>
              <a:rPr lang="en-US" sz="1200" spc="5" dirty="0">
                <a:ea typeface="Arial" panose="020B0604020202020204" pitchFamily="34" charset="0"/>
                <a:cs typeface="Arial" panose="020B0604020202020204" pitchFamily="34" charset="0"/>
              </a:rPr>
              <a:t>en</a:t>
            </a:r>
            <a:r>
              <a:rPr lang="en-US" sz="1200" dirty="0">
                <a:ea typeface="Arial" panose="020B0604020202020204" pitchFamily="34" charset="0"/>
                <a:cs typeface="Arial" panose="020B0604020202020204" pitchFamily="34" charset="0"/>
              </a:rPr>
              <a:t>ts</a:t>
            </a:r>
            <a:endParaRPr lang="en-US" sz="1200" dirty="0">
              <a:ea typeface="Calibri" panose="020F0502020204030204" pitchFamily="34" charset="0"/>
              <a:cs typeface="Arial" panose="020B0604020202020204" pitchFamily="34" charset="0"/>
            </a:endParaRPr>
          </a:p>
          <a:p>
            <a:pPr>
              <a:lnSpc>
                <a:spcPct val="115000"/>
              </a:lnSpc>
              <a:spcBef>
                <a:spcPts val="60"/>
              </a:spcBef>
            </a:pPr>
            <a:r>
              <a:rPr lang="en-US" sz="1200" dirty="0">
                <a:ea typeface="Arial" panose="020B0604020202020204" pitchFamily="34" charset="0"/>
                <a:cs typeface="Arial" panose="020B0604020202020204" pitchFamily="34" charset="0"/>
              </a:rPr>
              <a:t>- </a:t>
            </a:r>
            <a:r>
              <a:rPr lang="en-US" sz="1200" spc="29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189</a:t>
            </a:r>
            <a:r>
              <a:rPr lang="en-US" sz="1200" spc="-20" dirty="0">
                <a:ea typeface="Arial" panose="020B0604020202020204" pitchFamily="34" charset="0"/>
                <a:cs typeface="Arial" panose="020B0604020202020204" pitchFamily="34" charset="0"/>
              </a:rPr>
              <a:t> </a:t>
            </a:r>
            <a:r>
              <a:rPr lang="en-US" sz="1200" dirty="0">
                <a:ea typeface="Arial" panose="020B0604020202020204" pitchFamily="34" charset="0"/>
                <a:cs typeface="Arial" panose="020B0604020202020204" pitchFamily="34" charset="0"/>
              </a:rPr>
              <a:t>issu</a:t>
            </a:r>
            <a:r>
              <a:rPr lang="en-US" sz="1200" spc="5" dirty="0">
                <a:ea typeface="Arial" panose="020B0604020202020204" pitchFamily="34" charset="0"/>
                <a:cs typeface="Arial" panose="020B0604020202020204" pitchFamily="34" charset="0"/>
              </a:rPr>
              <a:t>e</a:t>
            </a:r>
            <a:r>
              <a:rPr lang="en-US" sz="1200" dirty="0">
                <a:ea typeface="Arial" panose="020B0604020202020204" pitchFamily="34" charset="0"/>
                <a:cs typeface="Arial" panose="020B0604020202020204" pitchFamily="34" charset="0"/>
              </a:rPr>
              <a:t>d</a:t>
            </a:r>
            <a:r>
              <a:rPr lang="en-US" sz="1200" spc="-30" dirty="0">
                <a:ea typeface="Arial" panose="020B0604020202020204" pitchFamily="34" charset="0"/>
                <a:cs typeface="Arial" panose="020B0604020202020204" pitchFamily="34" charset="0"/>
              </a:rPr>
              <a:t> </a:t>
            </a:r>
            <a:r>
              <a:rPr lang="en-US" sz="1200" spc="5" dirty="0">
                <a:ea typeface="Arial" panose="020B0604020202020204" pitchFamily="34" charset="0"/>
                <a:cs typeface="Arial" panose="020B0604020202020204" pitchFamily="34" charset="0"/>
              </a:rPr>
              <a:t>pa</a:t>
            </a:r>
            <a:r>
              <a:rPr lang="en-US" sz="1200" dirty="0">
                <a:ea typeface="Arial" panose="020B0604020202020204" pitchFamily="34" charset="0"/>
                <a:cs typeface="Arial" panose="020B0604020202020204" pitchFamily="34" charset="0"/>
              </a:rPr>
              <a:t>t</a:t>
            </a:r>
            <a:r>
              <a:rPr lang="en-US" sz="1200" spc="5" dirty="0">
                <a:ea typeface="Arial" panose="020B0604020202020204" pitchFamily="34" charset="0"/>
                <a:cs typeface="Arial" panose="020B0604020202020204" pitchFamily="34" charset="0"/>
              </a:rPr>
              <a:t>en</a:t>
            </a:r>
            <a:r>
              <a:rPr lang="en-US" sz="1200" dirty="0">
                <a:ea typeface="Arial" panose="020B0604020202020204" pitchFamily="34" charset="0"/>
                <a:cs typeface="Arial" panose="020B0604020202020204" pitchFamily="34" charset="0"/>
              </a:rPr>
              <a:t>ts</a:t>
            </a:r>
            <a:endParaRPr lang="en-US" sz="1200" dirty="0">
              <a:ea typeface="Calibri" panose="020F0502020204030204" pitchFamily="34" charset="0"/>
              <a:cs typeface="Arial" panose="020B0604020202020204" pitchFamily="34" charset="0"/>
            </a:endParaRPr>
          </a:p>
          <a:p>
            <a:r>
              <a:rPr lang="en-US" sz="1200" dirty="0">
                <a:ea typeface="Arial" panose="020B0604020202020204" pitchFamily="34" charset="0"/>
              </a:rPr>
              <a:t>- </a:t>
            </a:r>
            <a:r>
              <a:rPr lang="en-US" sz="1200" spc="290" dirty="0">
                <a:ea typeface="Arial" panose="020B0604020202020204" pitchFamily="34" charset="0"/>
              </a:rPr>
              <a:t> </a:t>
            </a:r>
            <a:r>
              <a:rPr lang="en-US" sz="1200" spc="-80" dirty="0">
                <a:ea typeface="Arial" panose="020B0604020202020204" pitchFamily="34" charset="0"/>
              </a:rPr>
              <a:t>1</a:t>
            </a:r>
            <a:r>
              <a:rPr lang="en-US" sz="1200" dirty="0">
                <a:ea typeface="Arial" panose="020B0604020202020204" pitchFamily="34" charset="0"/>
              </a:rPr>
              <a:t>1</a:t>
            </a:r>
            <a:r>
              <a:rPr lang="en-US" sz="1200" spc="-20" dirty="0">
                <a:ea typeface="Arial" panose="020B0604020202020204" pitchFamily="34" charset="0"/>
              </a:rPr>
              <a:t> </a:t>
            </a:r>
            <a:r>
              <a:rPr lang="en-US" sz="1200" dirty="0">
                <a:ea typeface="Arial" panose="020B0604020202020204" pitchFamily="34" charset="0"/>
              </a:rPr>
              <a:t>st</a:t>
            </a:r>
            <a:r>
              <a:rPr lang="en-US" sz="1200" spc="5" dirty="0">
                <a:ea typeface="Arial" panose="020B0604020202020204" pitchFamily="34" charset="0"/>
              </a:rPr>
              <a:t>a</a:t>
            </a:r>
            <a:r>
              <a:rPr lang="en-US" sz="1200" dirty="0">
                <a:ea typeface="Arial" panose="020B0604020202020204" pitchFamily="34" charset="0"/>
              </a:rPr>
              <a:t>rtu</a:t>
            </a:r>
            <a:r>
              <a:rPr lang="en-US" sz="1200" spc="5" dirty="0">
                <a:ea typeface="Arial" panose="020B0604020202020204" pitchFamily="34" charset="0"/>
              </a:rPr>
              <a:t>p</a:t>
            </a:r>
            <a:r>
              <a:rPr lang="en-US" sz="1200" dirty="0">
                <a:ea typeface="Arial" panose="020B0604020202020204" pitchFamily="34" charset="0"/>
              </a:rPr>
              <a:t>s</a:t>
            </a:r>
            <a:endParaRPr lang="en-US" sz="1200" dirty="0"/>
          </a:p>
        </p:txBody>
      </p:sp>
      <p:sp>
        <p:nvSpPr>
          <p:cNvPr id="85" name="Rectangle 84"/>
          <p:cNvSpPr/>
          <p:nvPr/>
        </p:nvSpPr>
        <p:spPr>
          <a:xfrm>
            <a:off x="5791517" y="4856488"/>
            <a:ext cx="1950721" cy="1052532"/>
          </a:xfrm>
          <a:prstGeom prst="rect">
            <a:avLst/>
          </a:prstGeom>
        </p:spPr>
        <p:txBody>
          <a:bodyPr wrap="square">
            <a:spAutoFit/>
          </a:bodyPr>
          <a:lstStyle/>
          <a:p>
            <a:pPr>
              <a:lnSpc>
                <a:spcPct val="104000"/>
              </a:lnSpc>
            </a:pPr>
            <a:r>
              <a:rPr lang="en-US" sz="1200" b="1" dirty="0">
                <a:ea typeface="Arial" panose="020B0604020202020204" pitchFamily="34" charset="0"/>
                <a:cs typeface="Arial" panose="020B0604020202020204" pitchFamily="34" charset="0"/>
              </a:rPr>
              <a:t>KIC</a:t>
            </a:r>
            <a:r>
              <a:rPr lang="en-US" sz="1200" dirty="0">
                <a:ea typeface="Arial" panose="020B0604020202020204" pitchFamily="34" charset="0"/>
                <a:cs typeface="Arial" panose="020B0604020202020204" pitchFamily="34" charset="0"/>
              </a:rPr>
              <a:t> and </a:t>
            </a:r>
            <a:r>
              <a:rPr lang="en-US" sz="1200" b="1" dirty="0" err="1">
                <a:ea typeface="Arial" panose="020B0604020202020204" pitchFamily="34" charset="0"/>
                <a:cs typeface="Arial" panose="020B0604020202020204" pitchFamily="34" charset="0"/>
              </a:rPr>
              <a:t>Techstars</a:t>
            </a:r>
            <a:r>
              <a:rPr lang="en-US" sz="1200" dirty="0">
                <a:ea typeface="Arial" panose="020B0604020202020204" pitchFamily="34" charset="0"/>
                <a:cs typeface="Arial" panose="020B0604020202020204" pitchFamily="34" charset="0"/>
              </a:rPr>
              <a:t> can provide training for students and professors on how to build start-ups and raise venture capital financing</a:t>
            </a:r>
            <a:endParaRPr lang="en-US" sz="1100" dirty="0">
              <a:effectLst/>
              <a:ea typeface="Calibri" panose="020F0502020204030204" pitchFamily="34" charset="0"/>
              <a:cs typeface="Arial" panose="020B0604020202020204" pitchFamily="34" charset="0"/>
            </a:endParaRPr>
          </a:p>
        </p:txBody>
      </p:sp>
      <p:sp>
        <p:nvSpPr>
          <p:cNvPr id="132" name="Rectangle 131"/>
          <p:cNvSpPr/>
          <p:nvPr/>
        </p:nvSpPr>
        <p:spPr>
          <a:xfrm>
            <a:off x="8195913" y="4856488"/>
            <a:ext cx="2362898" cy="1813382"/>
          </a:xfrm>
          <a:prstGeom prst="rect">
            <a:avLst/>
          </a:prstGeom>
        </p:spPr>
        <p:txBody>
          <a:bodyPr wrap="square">
            <a:spAutoFit/>
          </a:bodyPr>
          <a:lstStyle/>
          <a:p>
            <a:pPr>
              <a:lnSpc>
                <a:spcPct val="104000"/>
              </a:lnSpc>
            </a:pPr>
            <a:r>
              <a:rPr lang="en-US" sz="1200" b="1" dirty="0" err="1">
                <a:ea typeface="Arial" panose="020B0604020202020204" pitchFamily="34" charset="0"/>
                <a:cs typeface="Arial" panose="020B0604020202020204" pitchFamily="34" charset="0"/>
              </a:rPr>
              <a:t>Techstars</a:t>
            </a:r>
            <a:r>
              <a:rPr lang="en-US" sz="1200" dirty="0">
                <a:ea typeface="Arial" panose="020B0604020202020204" pitchFamily="34" charset="0"/>
                <a:cs typeface="Arial" panose="020B0604020202020204" pitchFamily="34" charset="0"/>
              </a:rPr>
              <a:t> and </a:t>
            </a:r>
            <a:r>
              <a:rPr lang="en-US" sz="1200" b="1" dirty="0">
                <a:ea typeface="Arial" panose="020B0604020202020204" pitchFamily="34" charset="0"/>
                <a:cs typeface="Arial" panose="020B0604020202020204" pitchFamily="34" charset="0"/>
              </a:rPr>
              <a:t>Khalifa University</a:t>
            </a:r>
            <a:r>
              <a:rPr lang="en-US" sz="1200" dirty="0">
                <a:ea typeface="Arial" panose="020B0604020202020204" pitchFamily="34" charset="0"/>
                <a:cs typeface="Arial" panose="020B0604020202020204" pitchFamily="34" charset="0"/>
              </a:rPr>
              <a:t> collaborate to:</a:t>
            </a:r>
          </a:p>
          <a:p>
            <a:pPr>
              <a:lnSpc>
                <a:spcPct val="104000"/>
              </a:lnSpc>
            </a:pPr>
            <a:r>
              <a:rPr lang="en-US" sz="1200" dirty="0">
                <a:ea typeface="Arial" panose="020B0604020202020204" pitchFamily="34" charset="0"/>
                <a:cs typeface="Arial" panose="020B0604020202020204" pitchFamily="34" charset="0"/>
              </a:rPr>
              <a:t>1.  Identify the best IP</a:t>
            </a:r>
          </a:p>
          <a:p>
            <a:pPr>
              <a:lnSpc>
                <a:spcPct val="104000"/>
              </a:lnSpc>
            </a:pPr>
            <a:r>
              <a:rPr lang="en-US" sz="1200" dirty="0">
                <a:ea typeface="Arial" panose="020B0604020202020204" pitchFamily="34" charset="0"/>
                <a:cs typeface="Arial" panose="020B0604020202020204" pitchFamily="34" charset="0"/>
              </a:rPr>
              <a:t>2.  Identify business </a:t>
            </a:r>
            <a:r>
              <a:rPr lang="en-US" sz="1200" b="1" dirty="0">
                <a:ea typeface="Arial" panose="020B0604020202020204" pitchFamily="34" charset="0"/>
                <a:cs typeface="Arial" panose="020B0604020202020204" pitchFamily="34" charset="0"/>
              </a:rPr>
              <a:t>opportunities for that IP</a:t>
            </a:r>
          </a:p>
          <a:p>
            <a:pPr>
              <a:lnSpc>
                <a:spcPct val="104000"/>
              </a:lnSpc>
            </a:pPr>
            <a:r>
              <a:rPr lang="en-US" sz="1200" dirty="0">
                <a:ea typeface="Arial" panose="020B0604020202020204" pitchFamily="34" charset="0"/>
                <a:cs typeface="Arial" panose="020B0604020202020204" pitchFamily="34" charset="0"/>
              </a:rPr>
              <a:t>3.  Design a basic product</a:t>
            </a:r>
          </a:p>
          <a:p>
            <a:pPr>
              <a:lnSpc>
                <a:spcPct val="104000"/>
              </a:lnSpc>
            </a:pPr>
            <a:r>
              <a:rPr lang="en-US" sz="1200" dirty="0">
                <a:ea typeface="Arial" panose="020B0604020202020204" pitchFamily="34" charset="0"/>
                <a:cs typeface="Arial" panose="020B0604020202020204" pitchFamily="34" charset="0"/>
              </a:rPr>
              <a:t>4.  Market test the product</a:t>
            </a:r>
          </a:p>
          <a:p>
            <a:pPr>
              <a:lnSpc>
                <a:spcPct val="104000"/>
              </a:lnSpc>
            </a:pPr>
            <a:r>
              <a:rPr lang="en-US" sz="1200" dirty="0">
                <a:ea typeface="Arial" panose="020B0604020202020204" pitchFamily="34" charset="0"/>
                <a:cs typeface="Arial" panose="020B0604020202020204" pitchFamily="34" charset="0"/>
              </a:rPr>
              <a:t>5.  Build the start-up team</a:t>
            </a:r>
          </a:p>
          <a:p>
            <a:pPr>
              <a:lnSpc>
                <a:spcPct val="104000"/>
              </a:lnSpc>
            </a:pPr>
            <a:r>
              <a:rPr lang="en-US" sz="1200" dirty="0">
                <a:ea typeface="Arial" panose="020B0604020202020204" pitchFamily="34" charset="0"/>
                <a:cs typeface="Arial" panose="020B0604020202020204" pitchFamily="34" charset="0"/>
              </a:rPr>
              <a:t>6.  Prepare for fundraising</a:t>
            </a:r>
          </a:p>
        </p:txBody>
      </p:sp>
      <p:pic>
        <p:nvPicPr>
          <p:cNvPr id="87" name="Picture 86"/>
          <p:cNvPicPr>
            <a:picLocks noChangeAspect="1"/>
          </p:cNvPicPr>
          <p:nvPr/>
        </p:nvPicPr>
        <p:blipFill>
          <a:blip r:embed="rId11"/>
          <a:stretch>
            <a:fillRect/>
          </a:stretch>
        </p:blipFill>
        <p:spPr>
          <a:xfrm>
            <a:off x="11024237" y="3698179"/>
            <a:ext cx="900322" cy="786448"/>
          </a:xfrm>
          <a:prstGeom prst="rect">
            <a:avLst/>
          </a:prstGeom>
        </p:spPr>
      </p:pic>
    </p:spTree>
    <p:extLst>
      <p:ext uri="{BB962C8B-B14F-4D97-AF65-F5344CB8AC3E}">
        <p14:creationId xmlns:p14="http://schemas.microsoft.com/office/powerpoint/2010/main" val="2622608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p:cNvSpPr/>
          <p:nvPr/>
        </p:nvSpPr>
        <p:spPr>
          <a:xfrm>
            <a:off x="1605823" y="3012201"/>
            <a:ext cx="304934" cy="3264773"/>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602978" y="1877206"/>
            <a:ext cx="304934" cy="1006308"/>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41BD0B4-FA63-46D8-A089-4633FE1825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F0B153-E3E2-4097-9E51-5A688B93C85A}"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3" name="TextBox 52"/>
          <p:cNvSpPr txBox="1"/>
          <p:nvPr/>
        </p:nvSpPr>
        <p:spPr>
          <a:xfrm>
            <a:off x="434350" y="492986"/>
            <a:ext cx="11757650" cy="764573"/>
          </a:xfrm>
          <a:prstGeom prst="rect">
            <a:avLst/>
          </a:prstGeom>
          <a:noFill/>
          <a:ln>
            <a:noFill/>
          </a:ln>
        </p:spPr>
        <p:txBody>
          <a:bodyPr wrap="square" rtlCol="0">
            <a:noAutofit/>
          </a:bodyPr>
          <a:lstStyle/>
          <a:p>
            <a:r>
              <a:rPr lang="en-US" sz="2000" dirty="0"/>
              <a:t>Financial Assets</a:t>
            </a:r>
          </a:p>
          <a:p>
            <a:pPr lvl="0"/>
            <a:r>
              <a:rPr lang="en-US" sz="2000" b="1" dirty="0">
                <a:solidFill>
                  <a:prstClr val="black"/>
                </a:solidFill>
              </a:rPr>
              <a:t>3. Endowment Fund preserves capital and generates returns to support KU Enterprises and Innovation Fund Activities*</a:t>
            </a:r>
          </a:p>
        </p:txBody>
      </p:sp>
      <p:sp>
        <p:nvSpPr>
          <p:cNvPr id="28" name="Freeform 27"/>
          <p:cNvSpPr/>
          <p:nvPr/>
        </p:nvSpPr>
        <p:spPr>
          <a:xfrm>
            <a:off x="8301485" y="1839863"/>
            <a:ext cx="2246372" cy="871711"/>
          </a:xfrm>
          <a:custGeom>
            <a:avLst/>
            <a:gdLst>
              <a:gd name="connsiteX0" fmla="*/ 0 w 1971708"/>
              <a:gd name="connsiteY0" fmla="*/ 0 h 1141234"/>
              <a:gd name="connsiteX1" fmla="*/ 1971708 w 1971708"/>
              <a:gd name="connsiteY1" fmla="*/ 0 h 1141234"/>
              <a:gd name="connsiteX2" fmla="*/ 1971708 w 1971708"/>
              <a:gd name="connsiteY2" fmla="*/ 1141234 h 1141234"/>
              <a:gd name="connsiteX3" fmla="*/ 0 w 1971708"/>
              <a:gd name="connsiteY3" fmla="*/ 1141234 h 1141234"/>
              <a:gd name="connsiteX4" fmla="*/ 0 w 1971708"/>
              <a:gd name="connsiteY4" fmla="*/ 0 h 1141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708" h="1141234">
                <a:moveTo>
                  <a:pt x="0" y="0"/>
                </a:moveTo>
                <a:lnTo>
                  <a:pt x="1971708" y="0"/>
                </a:lnTo>
                <a:lnTo>
                  <a:pt x="1971708" y="1141234"/>
                </a:lnTo>
                <a:lnTo>
                  <a:pt x="0" y="1141234"/>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eaLnBrk="1" fontAlgn="auto" latinLnBrk="0" hangingPunct="1">
              <a:lnSpc>
                <a:spcPct val="90000"/>
              </a:lnSpc>
              <a:spcBef>
                <a:spcPct val="0"/>
              </a:spcBef>
              <a:spcAft>
                <a:spcPct val="350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3. Endowment Fund</a:t>
            </a:r>
          </a:p>
          <a:p>
            <a:pPr marL="0" marR="0" lvl="0" indent="0" algn="ctr" defTabSz="1066800" eaLnBrk="1" fontAlgn="auto" latinLnBrk="0" hangingPunct="1">
              <a:lnSpc>
                <a:spcPct val="90000"/>
              </a:lnSpc>
              <a:spcBef>
                <a:spcPct val="0"/>
              </a:spcBef>
              <a:spcAft>
                <a:spcPct val="35000"/>
              </a:spcAft>
              <a:buClrTx/>
              <a:buSzTx/>
              <a:buFontTx/>
              <a:buNone/>
              <a:tabLst/>
              <a:defRPr/>
            </a:pPr>
            <a:r>
              <a:rPr lang="en-US" sz="1200" dirty="0">
                <a:solidFill>
                  <a:prstClr val="white"/>
                </a:solidFill>
                <a:latin typeface="Calibri" panose="020F0502020204030204"/>
              </a:rPr>
              <a:t>~AED105 million</a:t>
            </a:r>
            <a:endParaRPr kumimoji="0" lang="en-US" sz="1200" i="0" u="none" strike="noStrike" kern="1200" cap="none" spc="0" normalizeH="0" baseline="0" noProof="0" dirty="0">
              <a:ln>
                <a:noFill/>
              </a:ln>
              <a:solidFill>
                <a:prstClr val="white"/>
              </a:solidFill>
              <a:effectLst/>
              <a:uLnTx/>
              <a:uFillTx/>
              <a:latin typeface="Calibri" panose="020F0502020204030204"/>
            </a:endParaRPr>
          </a:p>
        </p:txBody>
      </p:sp>
      <p:sp>
        <p:nvSpPr>
          <p:cNvPr id="29" name="Rectangle 28"/>
          <p:cNvSpPr/>
          <p:nvPr/>
        </p:nvSpPr>
        <p:spPr>
          <a:xfrm>
            <a:off x="8517324" y="1898254"/>
            <a:ext cx="1914784" cy="85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p:cNvSpPr/>
          <p:nvPr/>
        </p:nvSpPr>
        <p:spPr>
          <a:xfrm>
            <a:off x="8281647" y="1839865"/>
            <a:ext cx="2266209" cy="871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5" name="Picture 14" descr="Investment Management &amp; Financial Services | BlackRock"/>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6666" b="36222"/>
          <a:stretch/>
        </p:blipFill>
        <p:spPr bwMode="auto">
          <a:xfrm>
            <a:off x="9974641" y="3774609"/>
            <a:ext cx="1221824" cy="331250"/>
          </a:xfrm>
          <a:prstGeom prst="rect">
            <a:avLst/>
          </a:prstGeom>
          <a:noFill/>
          <a:extLst>
            <a:ext uri="{909E8E84-426E-40DD-AFC4-6F175D3DCCD1}">
              <a14:hiddenFill xmlns:a14="http://schemas.microsoft.com/office/drawing/2010/main">
                <a:solidFill>
                  <a:srgbClr val="FFFFFF"/>
                </a:solidFill>
              </a14:hiddenFill>
            </a:ext>
          </a:extLst>
        </p:spPr>
      </p:pic>
      <p:sp>
        <p:nvSpPr>
          <p:cNvPr id="36" name="Freeform 35"/>
          <p:cNvSpPr/>
          <p:nvPr/>
        </p:nvSpPr>
        <p:spPr>
          <a:xfrm>
            <a:off x="9657981" y="2980769"/>
            <a:ext cx="1920240" cy="726270"/>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a:ea typeface="+mn-ea"/>
                <a:cs typeface="+mn-cs"/>
              </a:rPr>
              <a:t>Investment Allocation</a:t>
            </a:r>
          </a:p>
          <a:p>
            <a:pPr marL="0" marR="0" lvl="0" indent="0" algn="ctr" defTabSz="1066800" rtl="0" eaLnBrk="1" fontAlgn="auto" latinLnBrk="0" hangingPunct="1">
              <a:lnSpc>
                <a:spcPct val="90000"/>
              </a:lnSpc>
              <a:spcBef>
                <a:spcPct val="0"/>
              </a:spcBef>
              <a:spcAft>
                <a:spcPct val="35000"/>
              </a:spcAft>
              <a:buClrTx/>
              <a:buSzTx/>
              <a:buFontTx/>
              <a:buNone/>
              <a:tabLst/>
              <a:defRPr/>
            </a:pPr>
            <a:r>
              <a:rPr lang="en-US" sz="1200" dirty="0">
                <a:solidFill>
                  <a:prstClr val="white"/>
                </a:solidFill>
                <a:latin typeface="Calibri" panose="020F0502020204030204"/>
              </a:rPr>
              <a:t>AED 80 million</a:t>
            </a:r>
            <a:endParaRPr kumimoji="0" lang="en-US" sz="1200" i="0" u="none" strike="noStrike" kern="1200" cap="none" spc="0" normalizeH="0" baseline="0" noProof="0" dirty="0">
              <a:ln>
                <a:noFill/>
              </a:ln>
              <a:solidFill>
                <a:prstClr val="white"/>
              </a:solidFill>
              <a:effectLst/>
              <a:uLnTx/>
              <a:uFillTx/>
              <a:latin typeface="Calibri" panose="020F0502020204030204"/>
            </a:endParaRPr>
          </a:p>
        </p:txBody>
      </p:sp>
      <p:sp>
        <p:nvSpPr>
          <p:cNvPr id="37" name="Freeform 36"/>
          <p:cNvSpPr/>
          <p:nvPr/>
        </p:nvSpPr>
        <p:spPr>
          <a:xfrm>
            <a:off x="7249160" y="2980770"/>
            <a:ext cx="1920240" cy="726269"/>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tx2">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a:ea typeface="+mn-ea"/>
                <a:cs typeface="+mn-cs"/>
              </a:rPr>
              <a:t>Operational</a:t>
            </a:r>
            <a:r>
              <a:rPr kumimoji="0" lang="en-US" sz="1400" b="1" i="0" u="none" strike="noStrike" kern="1200" cap="none" spc="0" normalizeH="0" noProof="0" dirty="0">
                <a:ln>
                  <a:noFill/>
                </a:ln>
                <a:solidFill>
                  <a:prstClr val="white"/>
                </a:solidFill>
                <a:effectLst/>
                <a:uLnTx/>
                <a:uFillTx/>
                <a:latin typeface="Calibri" panose="020F0502020204030204"/>
                <a:ea typeface="+mn-ea"/>
                <a:cs typeface="+mn-cs"/>
              </a:rPr>
              <a:t> Allocation</a:t>
            </a:r>
          </a:p>
          <a:p>
            <a:pPr marL="0" marR="0" lvl="0" indent="0" algn="ctr" defTabSz="1066800" rtl="0" eaLnBrk="1" fontAlgn="auto" latinLnBrk="0" hangingPunct="1">
              <a:lnSpc>
                <a:spcPct val="90000"/>
              </a:lnSpc>
              <a:spcBef>
                <a:spcPct val="0"/>
              </a:spcBef>
              <a:spcAft>
                <a:spcPct val="35000"/>
              </a:spcAft>
              <a:buClrTx/>
              <a:buSzTx/>
              <a:buFontTx/>
              <a:buNone/>
              <a:tabLst/>
              <a:defRPr/>
            </a:pPr>
            <a:r>
              <a:rPr lang="en-US" sz="1200" baseline="0" dirty="0">
                <a:solidFill>
                  <a:prstClr val="white"/>
                </a:solidFill>
                <a:latin typeface="Calibri" panose="020F0502020204030204"/>
              </a:rPr>
              <a:t>~AED</a:t>
            </a:r>
            <a:r>
              <a:rPr lang="en-US" sz="1200" dirty="0">
                <a:solidFill>
                  <a:prstClr val="white"/>
                </a:solidFill>
                <a:latin typeface="Calibri" panose="020F0502020204030204"/>
              </a:rPr>
              <a:t> 25 million</a:t>
            </a:r>
            <a:endParaRPr kumimoji="0" lang="en-US" sz="1200" i="0" u="none" strike="noStrike" kern="1200" cap="none" spc="0" normalizeH="0" baseline="0" noProof="0" dirty="0">
              <a:ln>
                <a:noFill/>
              </a:ln>
              <a:solidFill>
                <a:prstClr val="white"/>
              </a:solidFill>
              <a:effectLst/>
              <a:uLnTx/>
              <a:uFillTx/>
              <a:latin typeface="Calibri" panose="020F0502020204030204"/>
            </a:endParaRPr>
          </a:p>
        </p:txBody>
      </p:sp>
      <p:cxnSp>
        <p:nvCxnSpPr>
          <p:cNvPr id="38" name="Elbow Connector 37"/>
          <p:cNvCxnSpPr>
            <a:stCxn id="31" idx="2"/>
            <a:endCxn id="39" idx="0"/>
          </p:cNvCxnSpPr>
          <p:nvPr/>
        </p:nvCxnSpPr>
        <p:spPr>
          <a:xfrm rot="5400000">
            <a:off x="8677419" y="2243436"/>
            <a:ext cx="269194" cy="1205472"/>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sp>
        <p:nvSpPr>
          <p:cNvPr id="39" name="Rectangle 38"/>
          <p:cNvSpPr/>
          <p:nvPr/>
        </p:nvSpPr>
        <p:spPr>
          <a:xfrm>
            <a:off x="7249160" y="2980769"/>
            <a:ext cx="1920240" cy="726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9657980" y="2980769"/>
            <a:ext cx="1918397" cy="726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Elbow Connector 40"/>
          <p:cNvCxnSpPr>
            <a:stCxn id="31" idx="2"/>
            <a:endCxn id="40" idx="0"/>
          </p:cNvCxnSpPr>
          <p:nvPr/>
        </p:nvCxnSpPr>
        <p:spPr>
          <a:xfrm rot="16200000" flipH="1">
            <a:off x="9881368" y="2244958"/>
            <a:ext cx="269194" cy="1202427"/>
          </a:xfrm>
          <a:prstGeom prst="bentConnector3">
            <a:avLst>
              <a:gd name="adj1" fmla="val 50000"/>
            </a:avLst>
          </a:prstGeom>
          <a:ln w="2857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sp>
        <p:nvSpPr>
          <p:cNvPr id="42" name="Freeform 41"/>
          <p:cNvSpPr/>
          <p:nvPr/>
        </p:nvSpPr>
        <p:spPr>
          <a:xfrm>
            <a:off x="7370701" y="3813939"/>
            <a:ext cx="1677160" cy="495832"/>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1">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algn="ctr" defTabSz="1066800">
              <a:lnSpc>
                <a:spcPct val="90000"/>
              </a:lnSpc>
              <a:spcBef>
                <a:spcPct val="0"/>
              </a:spcBef>
              <a:spcAft>
                <a:spcPct val="35000"/>
              </a:spcAft>
            </a:pPr>
            <a:r>
              <a:rPr lang="en-US" sz="1000" b="1" dirty="0">
                <a:solidFill>
                  <a:prstClr val="white"/>
                </a:solidFill>
                <a:latin typeface="Calibri" panose="020F0502020204030204"/>
              </a:rPr>
              <a:t>Ventures and Innovation Fund</a:t>
            </a:r>
          </a:p>
          <a:p>
            <a:pPr algn="ctr" defTabSz="1066800">
              <a:lnSpc>
                <a:spcPct val="90000"/>
              </a:lnSpc>
              <a:spcBef>
                <a:spcPct val="0"/>
              </a:spcBef>
              <a:spcAft>
                <a:spcPct val="35000"/>
              </a:spcAft>
            </a:pPr>
            <a:r>
              <a:rPr lang="en-US" sz="1000" b="1" dirty="0">
                <a:solidFill>
                  <a:prstClr val="white"/>
                </a:solidFill>
                <a:latin typeface="Calibri" panose="020F0502020204030204"/>
              </a:rPr>
              <a:t>~AED 15 million</a:t>
            </a:r>
          </a:p>
        </p:txBody>
      </p:sp>
      <p:sp>
        <p:nvSpPr>
          <p:cNvPr id="43" name="Rectangle 42"/>
          <p:cNvSpPr/>
          <p:nvPr/>
        </p:nvSpPr>
        <p:spPr>
          <a:xfrm>
            <a:off x="7238129" y="2969548"/>
            <a:ext cx="1920240" cy="726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p:cNvSpPr/>
          <p:nvPr/>
        </p:nvSpPr>
        <p:spPr>
          <a:xfrm>
            <a:off x="7383088" y="4443452"/>
            <a:ext cx="1677160" cy="493776"/>
          </a:xfrm>
          <a:custGeom>
            <a:avLst/>
            <a:gdLst>
              <a:gd name="connsiteX0" fmla="*/ 0 w 1906175"/>
              <a:gd name="connsiteY0" fmla="*/ 0 h 1073441"/>
              <a:gd name="connsiteX1" fmla="*/ 1906175 w 1906175"/>
              <a:gd name="connsiteY1" fmla="*/ 0 h 1073441"/>
              <a:gd name="connsiteX2" fmla="*/ 1906175 w 1906175"/>
              <a:gd name="connsiteY2" fmla="*/ 1073441 h 1073441"/>
              <a:gd name="connsiteX3" fmla="*/ 0 w 1906175"/>
              <a:gd name="connsiteY3" fmla="*/ 1073441 h 1073441"/>
              <a:gd name="connsiteX4" fmla="*/ 0 w 1906175"/>
              <a:gd name="connsiteY4" fmla="*/ 0 h 1073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175" h="1073441">
                <a:moveTo>
                  <a:pt x="0" y="0"/>
                </a:moveTo>
                <a:lnTo>
                  <a:pt x="1906175" y="0"/>
                </a:lnTo>
                <a:lnTo>
                  <a:pt x="1906175" y="1073441"/>
                </a:lnTo>
                <a:lnTo>
                  <a:pt x="0" y="1073441"/>
                </a:lnTo>
                <a:lnTo>
                  <a:pt x="0" y="0"/>
                </a:lnTo>
                <a:close/>
              </a:path>
            </a:pathLst>
          </a:custGeom>
          <a:solidFill>
            <a:schemeClr val="accent1">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algn="ctr" defTabSz="1066800">
              <a:lnSpc>
                <a:spcPct val="90000"/>
              </a:lnSpc>
              <a:spcBef>
                <a:spcPct val="0"/>
              </a:spcBef>
              <a:spcAft>
                <a:spcPct val="35000"/>
              </a:spcAft>
            </a:pPr>
            <a:r>
              <a:rPr lang="en-US" sz="900" b="1" dirty="0">
                <a:solidFill>
                  <a:prstClr val="white"/>
                </a:solidFill>
                <a:latin typeface="Calibri" panose="020F0502020204030204"/>
              </a:rPr>
              <a:t>Other Operational Fund</a:t>
            </a:r>
          </a:p>
          <a:p>
            <a:pPr algn="ctr" defTabSz="1066800">
              <a:lnSpc>
                <a:spcPct val="90000"/>
              </a:lnSpc>
              <a:spcBef>
                <a:spcPct val="0"/>
              </a:spcBef>
              <a:spcAft>
                <a:spcPct val="35000"/>
              </a:spcAft>
            </a:pPr>
            <a:r>
              <a:rPr lang="en-US" sz="900" b="1" dirty="0">
                <a:solidFill>
                  <a:prstClr val="white"/>
                </a:solidFill>
                <a:latin typeface="Calibri" panose="020F0502020204030204"/>
              </a:rPr>
              <a:t>~AED 10 million</a:t>
            </a:r>
          </a:p>
        </p:txBody>
      </p:sp>
      <p:sp>
        <p:nvSpPr>
          <p:cNvPr id="47" name="Rectangle 46"/>
          <p:cNvSpPr/>
          <p:nvPr/>
        </p:nvSpPr>
        <p:spPr>
          <a:xfrm>
            <a:off x="7124826" y="2769963"/>
            <a:ext cx="2196974" cy="2317195"/>
          </a:xfrm>
          <a:prstGeom prst="rect">
            <a:avLst/>
          </a:prstGeom>
          <a:no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5"/>
          <p:cNvGrpSpPr>
            <a:grpSpLocks/>
          </p:cNvGrpSpPr>
          <p:nvPr/>
        </p:nvGrpSpPr>
        <p:grpSpPr bwMode="auto">
          <a:xfrm>
            <a:off x="1743746" y="1839863"/>
            <a:ext cx="5044764" cy="4590779"/>
            <a:chOff x="4640" y="413"/>
            <a:chExt cx="7558" cy="1354"/>
          </a:xfrm>
        </p:grpSpPr>
        <p:sp>
          <p:nvSpPr>
            <p:cNvPr id="8" name="Freeform 6"/>
            <p:cNvSpPr>
              <a:spLocks/>
            </p:cNvSpPr>
            <p:nvPr/>
          </p:nvSpPr>
          <p:spPr bwMode="auto">
            <a:xfrm>
              <a:off x="4640" y="413"/>
              <a:ext cx="7558" cy="1354"/>
            </a:xfrm>
            <a:custGeom>
              <a:avLst/>
              <a:gdLst>
                <a:gd name="T0" fmla="+- 0 2820 2820"/>
                <a:gd name="T1" fmla="*/ T0 w 7308"/>
                <a:gd name="T2" fmla="+- 0 2043 540"/>
                <a:gd name="T3" fmla="*/ 2043 h 1502"/>
                <a:gd name="T4" fmla="+- 0 10128 2820"/>
                <a:gd name="T5" fmla="*/ T4 w 7308"/>
                <a:gd name="T6" fmla="+- 0 2043 540"/>
                <a:gd name="T7" fmla="*/ 2043 h 1502"/>
                <a:gd name="T8" fmla="+- 0 10128 2820"/>
                <a:gd name="T9" fmla="*/ T8 w 7308"/>
                <a:gd name="T10" fmla="+- 0 540 540"/>
                <a:gd name="T11" fmla="*/ 540 h 1502"/>
                <a:gd name="T12" fmla="+- 0 2820 2820"/>
                <a:gd name="T13" fmla="*/ T12 w 7308"/>
                <a:gd name="T14" fmla="+- 0 540 540"/>
                <a:gd name="T15" fmla="*/ 540 h 1502"/>
                <a:gd name="T16" fmla="+- 0 2820 2820"/>
                <a:gd name="T17" fmla="*/ T16 w 7308"/>
                <a:gd name="T18" fmla="+- 0 2043 540"/>
                <a:gd name="T19" fmla="*/ 2043 h 1502"/>
              </a:gdLst>
              <a:ahLst/>
              <a:cxnLst>
                <a:cxn ang="0">
                  <a:pos x="T1" y="T3"/>
                </a:cxn>
                <a:cxn ang="0">
                  <a:pos x="T5" y="T7"/>
                </a:cxn>
                <a:cxn ang="0">
                  <a:pos x="T9" y="T11"/>
                </a:cxn>
                <a:cxn ang="0">
                  <a:pos x="T13" y="T15"/>
                </a:cxn>
                <a:cxn ang="0">
                  <a:pos x="T17" y="T19"/>
                </a:cxn>
              </a:cxnLst>
              <a:rect l="0" t="0" r="r" b="b"/>
              <a:pathLst>
                <a:path w="7308" h="1502">
                  <a:moveTo>
                    <a:pt x="0" y="1503"/>
                  </a:moveTo>
                  <a:lnTo>
                    <a:pt x="7308" y="1503"/>
                  </a:lnTo>
                  <a:lnTo>
                    <a:pt x="7308" y="0"/>
                  </a:lnTo>
                  <a:lnTo>
                    <a:pt x="0" y="0"/>
                  </a:lnTo>
                  <a:lnTo>
                    <a:pt x="0" y="1503"/>
                  </a:lnTo>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285750" indent="-285750">
                <a:spcBef>
                  <a:spcPts val="1200"/>
                </a:spcBef>
                <a:spcAft>
                  <a:spcPts val="1200"/>
                </a:spcAft>
                <a:buFont typeface="Wingdings" panose="05000000000000000000" pitchFamily="2" charset="2"/>
                <a:buChar char="§"/>
              </a:pPr>
              <a:r>
                <a:rPr lang="en-US" sz="1400" dirty="0"/>
                <a:t>~AED80m of the principle Endowment Fund will be managed by an external manager. Based on initial discussions, ADIA recommended BlackRock to be the most suitable asset manager</a:t>
              </a:r>
            </a:p>
            <a:p>
              <a:pPr marL="285750" indent="-285750">
                <a:spcBef>
                  <a:spcPts val="1200"/>
                </a:spcBef>
                <a:spcAft>
                  <a:spcPts val="1200"/>
                </a:spcAft>
                <a:buFont typeface="Wingdings" panose="05000000000000000000" pitchFamily="2" charset="2"/>
                <a:buChar char="§"/>
              </a:pPr>
              <a:r>
                <a:rPr lang="en-US" sz="1400" dirty="0"/>
                <a:t>~AED 25m of the principle Endowment Fund will be managed by a local investment entity (e.g. ADCB) and will be accessible to KU Enterprise Management Company  </a:t>
              </a:r>
            </a:p>
            <a:p>
              <a:pPr lvl="1" indent="-171450">
                <a:spcBef>
                  <a:spcPts val="1200"/>
                </a:spcBef>
                <a:spcAft>
                  <a:spcPts val="1200"/>
                </a:spcAft>
                <a:buFont typeface="Wingdings" panose="05000000000000000000" pitchFamily="2" charset="2"/>
                <a:buChar char="Ø"/>
              </a:pPr>
              <a:r>
                <a:rPr lang="en-US" sz="1400" dirty="0"/>
                <a:t>~AED15m (~15% of the principal endowment) to be allocated to support Venture and Innovation Acceleration funds under KU Enterprise Management Company.</a:t>
              </a:r>
            </a:p>
            <a:p>
              <a:pPr lvl="1" indent="-171450">
                <a:spcBef>
                  <a:spcPts val="1200"/>
                </a:spcBef>
                <a:spcAft>
                  <a:spcPts val="1200"/>
                </a:spcAft>
                <a:buFont typeface="Wingdings" panose="05000000000000000000" pitchFamily="2" charset="2"/>
                <a:buChar char="Ø"/>
              </a:pPr>
              <a:r>
                <a:rPr lang="en-US" sz="1400" dirty="0"/>
                <a:t>~AED10m to be reserved as an Operational Fund that can be accessed on need basis. </a:t>
              </a:r>
            </a:p>
            <a:p>
              <a:pPr marL="285750" indent="-285750">
                <a:spcBef>
                  <a:spcPts val="1200"/>
                </a:spcBef>
                <a:spcAft>
                  <a:spcPts val="1200"/>
                </a:spcAft>
                <a:buFont typeface="Wingdings" panose="05000000000000000000" pitchFamily="2" charset="2"/>
                <a:buChar char="§"/>
              </a:pPr>
              <a:r>
                <a:rPr lang="en-US" sz="1400" dirty="0"/>
                <a:t>100% of annual profits to support annual contributions of AED ~5m to the Innovation Fund to fund the IP commercialization activities</a:t>
              </a:r>
            </a:p>
            <a:p>
              <a:pPr marL="285750" indent="-285750">
                <a:spcBef>
                  <a:spcPts val="1200"/>
                </a:spcBef>
                <a:spcAft>
                  <a:spcPts val="1200"/>
                </a:spcAft>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p:txBody>
        </p:sp>
      </p:grpSp>
      <p:pic>
        <p:nvPicPr>
          <p:cNvPr id="58" name="Picture 14" descr="Investment Management &amp; Financial Services | BlackRock"/>
          <p:cNvPicPr>
            <a:picLocks noChangeAspect="1" noChangeArrowheads="1"/>
          </p:cNvPicPr>
          <p:nvPr/>
        </p:nvPicPr>
        <p:blipFill rotWithShape="1">
          <a:blip r:embed="rId2">
            <a:extLst>
              <a:ext uri="{28A0092B-C50C-407E-A947-70E740481C1C}">
                <a14:useLocalDpi xmlns:a14="http://schemas.microsoft.com/office/drawing/2010/main" val="0"/>
              </a:ext>
            </a:extLst>
          </a:blip>
          <a:srcRect t="36666" b="36222"/>
          <a:stretch/>
        </p:blipFill>
        <p:spPr bwMode="auto">
          <a:xfrm>
            <a:off x="205191" y="2151586"/>
            <a:ext cx="1301417" cy="35282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8" descr="https://www.ku.ac.ae/wp-content/uploads/2018/08/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55" y="4505303"/>
            <a:ext cx="1275837" cy="27856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261007" y="6538912"/>
            <a:ext cx="7654824" cy="261610"/>
          </a:xfrm>
          <a:prstGeom prst="rect">
            <a:avLst/>
          </a:prstGeom>
        </p:spPr>
        <p:txBody>
          <a:bodyPr wrap="square">
            <a:spAutoFit/>
          </a:bodyPr>
          <a:lstStyle/>
          <a:p>
            <a:pPr lvl="0"/>
            <a:r>
              <a:rPr lang="en-US" sz="1100" b="1" dirty="0">
                <a:solidFill>
                  <a:prstClr val="black"/>
                </a:solidFill>
              </a:rPr>
              <a:t>* Above listed recommendations are endorsed by the Investment Committee</a:t>
            </a:r>
          </a:p>
        </p:txBody>
      </p:sp>
    </p:spTree>
    <p:extLst>
      <p:ext uri="{BB962C8B-B14F-4D97-AF65-F5344CB8AC3E}">
        <p14:creationId xmlns:p14="http://schemas.microsoft.com/office/powerpoint/2010/main" val="288190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5507" y="2896459"/>
            <a:ext cx="9044844" cy="1143000"/>
          </a:xfrm>
        </p:spPr>
        <p:txBody>
          <a:bodyPr>
            <a:normAutofit fontScale="90000"/>
          </a:bodyPr>
          <a:lstStyle/>
          <a:p>
            <a:pPr algn="l" rtl="0"/>
            <a:r>
              <a:rPr lang="en-US" dirty="0">
                <a:solidFill>
                  <a:schemeClr val="bg1"/>
                </a:solidFill>
              </a:rPr>
              <a:t>Part 2</a:t>
            </a:r>
            <a:r>
              <a:rPr lang="en-US" b="1" dirty="0">
                <a:solidFill>
                  <a:schemeClr val="bg1"/>
                </a:solidFill>
              </a:rPr>
              <a:t/>
            </a:r>
            <a:br>
              <a:rPr lang="en-US" b="1" dirty="0">
                <a:solidFill>
                  <a:schemeClr val="bg1"/>
                </a:solidFill>
              </a:rPr>
            </a:br>
            <a:r>
              <a:rPr lang="en-US" b="1" dirty="0">
                <a:solidFill>
                  <a:schemeClr val="bg1"/>
                </a:solidFill>
              </a:rPr>
              <a:t>Proposed Governance Model</a:t>
            </a:r>
            <a:endParaRPr lang="en-US" sz="3100" dirty="0">
              <a:solidFill>
                <a:schemeClr val="bg1"/>
              </a:solidFill>
            </a:endParaRPr>
          </a:p>
        </p:txBody>
      </p:sp>
      <p:pic>
        <p:nvPicPr>
          <p:cNvPr id="3" name="Picture 2">
            <a:extLst>
              <a:ext uri="{FF2B5EF4-FFF2-40B4-BE49-F238E27FC236}">
                <a16:creationId xmlns:a16="http://schemas.microsoft.com/office/drawing/2014/main" id="{CEA79536-344B-4703-95C3-7F5AD0BFB3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528" y="277065"/>
            <a:ext cx="2952328" cy="576064"/>
          </a:xfrm>
          <a:prstGeom prst="rect">
            <a:avLst/>
          </a:prstGeom>
        </p:spPr>
      </p:pic>
      <p:sp>
        <p:nvSpPr>
          <p:cNvPr id="4" name="Slide Number Placeholder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7</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89299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5" name="Straight Connector 144"/>
          <p:cNvCxnSpPr>
            <a:stCxn id="123" idx="0"/>
          </p:cNvCxnSpPr>
          <p:nvPr/>
        </p:nvCxnSpPr>
        <p:spPr>
          <a:xfrm flipH="1" flipV="1">
            <a:off x="9944527" y="2528557"/>
            <a:ext cx="1" cy="515621"/>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1E68DD1B-5CD8-424B-8173-19E182143E0A}" type="slidenum">
              <a:rPr lang="en-US" smtClean="0"/>
              <a:t>8</a:t>
            </a:fld>
            <a:endParaRPr lang="en-US" dirty="0"/>
          </a:p>
        </p:txBody>
      </p:sp>
      <p:grpSp>
        <p:nvGrpSpPr>
          <p:cNvPr id="67" name="Group 66"/>
          <p:cNvGrpSpPr/>
          <p:nvPr/>
        </p:nvGrpSpPr>
        <p:grpSpPr>
          <a:xfrm>
            <a:off x="374344" y="2370920"/>
            <a:ext cx="3160695" cy="2951604"/>
            <a:chOff x="621702" y="2060770"/>
            <a:chExt cx="3618987" cy="3030656"/>
          </a:xfrm>
        </p:grpSpPr>
        <p:cxnSp>
          <p:nvCxnSpPr>
            <p:cNvPr id="42" name="Straight Connector 41"/>
            <p:cNvCxnSpPr>
              <a:stCxn id="24" idx="0"/>
            </p:cNvCxnSpPr>
            <p:nvPr/>
          </p:nvCxnSpPr>
          <p:spPr>
            <a:xfrm flipV="1">
              <a:off x="2429358" y="2233857"/>
              <a:ext cx="0" cy="571529"/>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621702" y="2060770"/>
              <a:ext cx="3618987" cy="3030656"/>
              <a:chOff x="855032" y="2057399"/>
              <a:chExt cx="3618987" cy="3030656"/>
            </a:xfrm>
          </p:grpSpPr>
          <p:grpSp>
            <p:nvGrpSpPr>
              <p:cNvPr id="19" name="Group 18"/>
              <p:cNvGrpSpPr/>
              <p:nvPr/>
            </p:nvGrpSpPr>
            <p:grpSpPr>
              <a:xfrm>
                <a:off x="855032" y="2057399"/>
                <a:ext cx="3618987" cy="3030656"/>
                <a:chOff x="956752" y="1866900"/>
                <a:chExt cx="4610460" cy="3837431"/>
              </a:xfrm>
            </p:grpSpPr>
            <p:sp>
              <p:nvSpPr>
                <p:cNvPr id="14" name="Freeform 13"/>
                <p:cNvSpPr/>
                <p:nvPr/>
              </p:nvSpPr>
              <p:spPr>
                <a:xfrm>
                  <a:off x="1919353" y="1866900"/>
                  <a:ext cx="2668443" cy="692102"/>
                </a:xfrm>
                <a:custGeom>
                  <a:avLst/>
                  <a:gdLst>
                    <a:gd name="connsiteX0" fmla="*/ 0 w 2535577"/>
                    <a:gd name="connsiteY0" fmla="*/ 0 h 1067674"/>
                    <a:gd name="connsiteX1" fmla="*/ 2535577 w 2535577"/>
                    <a:gd name="connsiteY1" fmla="*/ 0 h 1067674"/>
                    <a:gd name="connsiteX2" fmla="*/ 2535577 w 2535577"/>
                    <a:gd name="connsiteY2" fmla="*/ 1067674 h 1067674"/>
                    <a:gd name="connsiteX3" fmla="*/ 0 w 2535577"/>
                    <a:gd name="connsiteY3" fmla="*/ 1067674 h 1067674"/>
                    <a:gd name="connsiteX4" fmla="*/ 0 w 2535577"/>
                    <a:gd name="connsiteY4" fmla="*/ 0 h 1067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577" h="1067674">
                      <a:moveTo>
                        <a:pt x="0" y="0"/>
                      </a:moveTo>
                      <a:lnTo>
                        <a:pt x="2535577" y="0"/>
                      </a:lnTo>
                      <a:lnTo>
                        <a:pt x="2535577" y="1067674"/>
                      </a:lnTo>
                      <a:lnTo>
                        <a:pt x="0" y="1067674"/>
                      </a:lnTo>
                      <a:lnTo>
                        <a:pt x="0" y="0"/>
                      </a:lnTo>
                      <a:close/>
                    </a:path>
                  </a:pathLst>
                </a:custGeom>
                <a:solidFill>
                  <a:schemeClr val="tx2">
                    <a:lumMod val="75000"/>
                  </a:schemeClr>
                </a:solidFill>
                <a:ln w="25400"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algn="ctr" defTabSz="933450">
                    <a:lnSpc>
                      <a:spcPct val="90000"/>
                    </a:lnSpc>
                    <a:spcBef>
                      <a:spcPct val="0"/>
                    </a:spcBef>
                    <a:spcAft>
                      <a:spcPct val="35000"/>
                    </a:spcAft>
                  </a:pPr>
                  <a:r>
                    <a:rPr lang="en-US" sz="1200" dirty="0">
                      <a:solidFill>
                        <a:schemeClr val="bg1"/>
                      </a:solidFill>
                    </a:rPr>
                    <a:t>Board of Trustees</a:t>
                  </a:r>
                  <a:endParaRPr lang="en-US" sz="1200" b="1" kern="1200" dirty="0">
                    <a:solidFill>
                      <a:schemeClr val="bg1"/>
                    </a:solidFill>
                  </a:endParaRPr>
                </a:p>
                <a:p>
                  <a:pPr lvl="0" algn="ctr" defTabSz="933450">
                    <a:lnSpc>
                      <a:spcPct val="90000"/>
                    </a:lnSpc>
                    <a:spcBef>
                      <a:spcPct val="0"/>
                    </a:spcBef>
                    <a:spcAft>
                      <a:spcPct val="35000"/>
                    </a:spcAft>
                  </a:pPr>
                  <a:r>
                    <a:rPr lang="en-US" sz="1200" b="1" kern="1200" dirty="0">
                      <a:solidFill>
                        <a:schemeClr val="bg1"/>
                      </a:solidFill>
                    </a:rPr>
                    <a:t>Investment Committee</a:t>
                  </a:r>
                </a:p>
              </p:txBody>
            </p:sp>
            <p:sp>
              <p:nvSpPr>
                <p:cNvPr id="15" name="Freeform 14"/>
                <p:cNvSpPr/>
                <p:nvPr/>
              </p:nvSpPr>
              <p:spPr>
                <a:xfrm>
                  <a:off x="2331924" y="2834028"/>
                  <a:ext cx="1843299" cy="1038032"/>
                </a:xfrm>
                <a:custGeom>
                  <a:avLst/>
                  <a:gdLst>
                    <a:gd name="connsiteX0" fmla="*/ 0 w 1830832"/>
                    <a:gd name="connsiteY0" fmla="*/ 0 h 1031012"/>
                    <a:gd name="connsiteX1" fmla="*/ 1830832 w 1830832"/>
                    <a:gd name="connsiteY1" fmla="*/ 0 h 1031012"/>
                    <a:gd name="connsiteX2" fmla="*/ 1830832 w 1830832"/>
                    <a:gd name="connsiteY2" fmla="*/ 1031012 h 1031012"/>
                    <a:gd name="connsiteX3" fmla="*/ 0 w 1830832"/>
                    <a:gd name="connsiteY3" fmla="*/ 1031012 h 1031012"/>
                    <a:gd name="connsiteX4" fmla="*/ 0 w 1830832"/>
                    <a:gd name="connsiteY4" fmla="*/ 0 h 1031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0832" h="1031012">
                      <a:moveTo>
                        <a:pt x="0" y="0"/>
                      </a:moveTo>
                      <a:lnTo>
                        <a:pt x="1830832" y="0"/>
                      </a:lnTo>
                      <a:lnTo>
                        <a:pt x="1830832" y="1031012"/>
                      </a:lnTo>
                      <a:lnTo>
                        <a:pt x="0" y="1031012"/>
                      </a:lnTo>
                      <a:lnTo>
                        <a:pt x="0" y="0"/>
                      </a:lnTo>
                      <a:close/>
                    </a:path>
                  </a:pathLst>
                </a:custGeom>
                <a:solidFill>
                  <a:schemeClr val="accent1">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President of KU and CEO of Enterprises Company </a:t>
                  </a:r>
                </a:p>
              </p:txBody>
            </p:sp>
            <p:sp>
              <p:nvSpPr>
                <p:cNvPr id="16" name="Freeform 15"/>
                <p:cNvSpPr/>
                <p:nvPr/>
              </p:nvSpPr>
              <p:spPr>
                <a:xfrm>
                  <a:off x="2170893" y="5179912"/>
                  <a:ext cx="2190924" cy="524419"/>
                </a:xfrm>
                <a:custGeom>
                  <a:avLst/>
                  <a:gdLst>
                    <a:gd name="connsiteX0" fmla="*/ 0 w 2509412"/>
                    <a:gd name="connsiteY0" fmla="*/ 0 h 770027"/>
                    <a:gd name="connsiteX1" fmla="*/ 2509412 w 2509412"/>
                    <a:gd name="connsiteY1" fmla="*/ 0 h 770027"/>
                    <a:gd name="connsiteX2" fmla="*/ 2509412 w 2509412"/>
                    <a:gd name="connsiteY2" fmla="*/ 770027 h 770027"/>
                    <a:gd name="connsiteX3" fmla="*/ 0 w 2509412"/>
                    <a:gd name="connsiteY3" fmla="*/ 770027 h 770027"/>
                    <a:gd name="connsiteX4" fmla="*/ 0 w 2509412"/>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412" h="770027">
                      <a:moveTo>
                        <a:pt x="0" y="0"/>
                      </a:moveTo>
                      <a:lnTo>
                        <a:pt x="2509412" y="0"/>
                      </a:lnTo>
                      <a:lnTo>
                        <a:pt x="2509412"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Innovation Acceleration </a:t>
                  </a:r>
                  <a:r>
                    <a:rPr lang="en-US" sz="1200" dirty="0">
                      <a:solidFill>
                        <a:schemeClr val="bg1"/>
                      </a:solidFill>
                    </a:rPr>
                    <a:t>&amp; Startups</a:t>
                  </a:r>
                  <a:endParaRPr lang="en-US" sz="1200" kern="1200" dirty="0">
                    <a:solidFill>
                      <a:schemeClr val="bg1"/>
                    </a:solidFill>
                  </a:endParaRPr>
                </a:p>
              </p:txBody>
            </p:sp>
            <p:sp>
              <p:nvSpPr>
                <p:cNvPr id="17" name="Freeform 16"/>
                <p:cNvSpPr/>
                <p:nvPr/>
              </p:nvSpPr>
              <p:spPr>
                <a:xfrm>
                  <a:off x="956752" y="4205761"/>
                  <a:ext cx="2084230" cy="524419"/>
                </a:xfrm>
                <a:custGeom>
                  <a:avLst/>
                  <a:gdLst>
                    <a:gd name="connsiteX0" fmla="*/ 0 w 2511075"/>
                    <a:gd name="connsiteY0" fmla="*/ 0 h 770027"/>
                    <a:gd name="connsiteX1" fmla="*/ 2511075 w 2511075"/>
                    <a:gd name="connsiteY1" fmla="*/ 0 h 770027"/>
                    <a:gd name="connsiteX2" fmla="*/ 2511075 w 2511075"/>
                    <a:gd name="connsiteY2" fmla="*/ 770027 h 770027"/>
                    <a:gd name="connsiteX3" fmla="*/ 0 w 2511075"/>
                    <a:gd name="connsiteY3" fmla="*/ 770027 h 770027"/>
                    <a:gd name="connsiteX4" fmla="*/ 0 w 2511075"/>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075" h="770027">
                      <a:moveTo>
                        <a:pt x="0" y="0"/>
                      </a:moveTo>
                      <a:lnTo>
                        <a:pt x="2511075" y="0"/>
                      </a:lnTo>
                      <a:lnTo>
                        <a:pt x="2511075"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KU Ventures</a:t>
                  </a:r>
                </a:p>
              </p:txBody>
            </p:sp>
            <p:sp>
              <p:nvSpPr>
                <p:cNvPr id="18" name="Freeform 17"/>
                <p:cNvSpPr/>
                <p:nvPr/>
              </p:nvSpPr>
              <p:spPr>
                <a:xfrm>
                  <a:off x="3374918" y="4205761"/>
                  <a:ext cx="2192294" cy="524419"/>
                </a:xfrm>
                <a:custGeom>
                  <a:avLst/>
                  <a:gdLst>
                    <a:gd name="connsiteX0" fmla="*/ 0 w 2641271"/>
                    <a:gd name="connsiteY0" fmla="*/ 0 h 770027"/>
                    <a:gd name="connsiteX1" fmla="*/ 2641271 w 2641271"/>
                    <a:gd name="connsiteY1" fmla="*/ 0 h 770027"/>
                    <a:gd name="connsiteX2" fmla="*/ 2641271 w 2641271"/>
                    <a:gd name="connsiteY2" fmla="*/ 770027 h 770027"/>
                    <a:gd name="connsiteX3" fmla="*/ 0 w 2641271"/>
                    <a:gd name="connsiteY3" fmla="*/ 770027 h 770027"/>
                    <a:gd name="connsiteX4" fmla="*/ 0 w 2641271"/>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271" h="770027">
                      <a:moveTo>
                        <a:pt x="0" y="0"/>
                      </a:moveTo>
                      <a:lnTo>
                        <a:pt x="2641271" y="0"/>
                      </a:lnTo>
                      <a:lnTo>
                        <a:pt x="2641271"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algn="ctr" defTabSz="933450">
                    <a:lnSpc>
                      <a:spcPct val="90000"/>
                    </a:lnSpc>
                    <a:spcBef>
                      <a:spcPct val="0"/>
                    </a:spcBef>
                    <a:spcAft>
                      <a:spcPct val="35000"/>
                    </a:spcAft>
                  </a:pPr>
                  <a:r>
                    <a:rPr lang="en-US" sz="1200" dirty="0">
                      <a:solidFill>
                        <a:schemeClr val="bg1"/>
                      </a:solidFill>
                    </a:rPr>
                    <a:t>KU Endowment Fund</a:t>
                  </a:r>
                </a:p>
              </p:txBody>
            </p:sp>
          </p:grpSp>
          <p:cxnSp>
            <p:nvCxnSpPr>
              <p:cNvPr id="23" name="Elbow Connector 22"/>
              <p:cNvCxnSpPr>
                <a:stCxn id="27" idx="0"/>
                <a:endCxn id="24" idx="2"/>
              </p:cNvCxnSpPr>
              <p:nvPr/>
            </p:nvCxnSpPr>
            <p:spPr>
              <a:xfrm rot="5400000" flipH="1" flipV="1">
                <a:off x="2050410" y="3267039"/>
                <a:ext cx="234910" cy="989646"/>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934475" y="2802015"/>
                <a:ext cx="1456425" cy="842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 name="Rectangle 26"/>
              <p:cNvSpPr/>
              <p:nvPr/>
            </p:nvSpPr>
            <p:spPr>
              <a:xfrm>
                <a:off x="855032" y="3879317"/>
                <a:ext cx="1636019"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9" name="Rectangle 28"/>
              <p:cNvSpPr/>
              <p:nvPr/>
            </p:nvSpPr>
            <p:spPr>
              <a:xfrm>
                <a:off x="2753175" y="3879317"/>
                <a:ext cx="1720844"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0" name="Rectangle 29"/>
              <p:cNvSpPr/>
              <p:nvPr/>
            </p:nvSpPr>
            <p:spPr>
              <a:xfrm>
                <a:off x="1797502" y="4648664"/>
                <a:ext cx="1720844"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31" name="Elbow Connector 30"/>
              <p:cNvCxnSpPr>
                <a:stCxn id="29" idx="0"/>
                <a:endCxn id="24" idx="2"/>
              </p:cNvCxnSpPr>
              <p:nvPr/>
            </p:nvCxnSpPr>
            <p:spPr>
              <a:xfrm rot="16200000" flipV="1">
                <a:off x="3020688" y="3286407"/>
                <a:ext cx="234910" cy="950909"/>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30" idx="0"/>
                <a:endCxn id="24" idx="2"/>
              </p:cNvCxnSpPr>
              <p:nvPr/>
            </p:nvCxnSpPr>
            <p:spPr>
              <a:xfrm flipV="1">
                <a:off x="2657924" y="3644407"/>
                <a:ext cx="4764" cy="100425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5" name="Rectangle 44"/>
            <p:cNvSpPr/>
            <p:nvPr/>
          </p:nvSpPr>
          <p:spPr>
            <a:xfrm>
              <a:off x="1377297" y="2062811"/>
              <a:ext cx="2094598" cy="546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75" name="Title 1"/>
          <p:cNvSpPr>
            <a:spLocks noGrp="1"/>
          </p:cNvSpPr>
          <p:nvPr>
            <p:ph type="title"/>
          </p:nvPr>
        </p:nvSpPr>
        <p:spPr>
          <a:xfrm>
            <a:off x="588208" y="609323"/>
            <a:ext cx="11249026" cy="593602"/>
          </a:xfrm>
        </p:spPr>
        <p:txBody>
          <a:bodyPr>
            <a:noAutofit/>
          </a:bodyPr>
          <a:lstStyle/>
          <a:p>
            <a:pPr>
              <a:spcBef>
                <a:spcPts val="600"/>
              </a:spcBef>
              <a:spcAft>
                <a:spcPts val="600"/>
              </a:spcAft>
            </a:pPr>
            <a:r>
              <a:rPr lang="en-US" sz="1600" b="1" spc="50" dirty="0">
                <a:solidFill>
                  <a:schemeClr val="tx1">
                    <a:lumMod val="75000"/>
                    <a:lumOff val="25000"/>
                  </a:schemeClr>
                </a:solidFill>
                <a:latin typeface="+mn-lt"/>
                <a:cs typeface="Times New Roman" panose="02020603050405020304" pitchFamily="18" charset="0"/>
              </a:rPr>
              <a:t>Proposed Governance Model</a:t>
            </a:r>
            <a:br>
              <a:rPr lang="en-US" sz="1600" b="1" spc="50" dirty="0">
                <a:solidFill>
                  <a:schemeClr val="tx1">
                    <a:lumMod val="75000"/>
                    <a:lumOff val="25000"/>
                  </a:schemeClr>
                </a:solidFill>
                <a:latin typeface="+mn-lt"/>
                <a:cs typeface="Times New Roman" panose="02020603050405020304" pitchFamily="18" charset="0"/>
              </a:rPr>
            </a:br>
            <a:r>
              <a:rPr lang="en-US" sz="2000" b="1" spc="50" dirty="0">
                <a:solidFill>
                  <a:schemeClr val="tx1">
                    <a:lumMod val="75000"/>
                    <a:lumOff val="25000"/>
                  </a:schemeClr>
                </a:solidFill>
                <a:latin typeface="+mn-lt"/>
                <a:cs typeface="Times New Roman" panose="02020603050405020304" pitchFamily="18" charset="0"/>
              </a:rPr>
              <a:t>Options for the proposed governance structure</a:t>
            </a:r>
            <a:endParaRPr lang="en-US" sz="2000" b="1" dirty="0">
              <a:solidFill>
                <a:schemeClr val="tx1">
                  <a:lumMod val="75000"/>
                  <a:lumOff val="25000"/>
                </a:schemeClr>
              </a:solidFill>
              <a:latin typeface="+mn-lt"/>
              <a:cs typeface="Times New Roman" panose="02020603050405020304" pitchFamily="18" charset="0"/>
            </a:endParaRPr>
          </a:p>
        </p:txBody>
      </p:sp>
      <p:grpSp>
        <p:nvGrpSpPr>
          <p:cNvPr id="93" name="Group 92"/>
          <p:cNvGrpSpPr/>
          <p:nvPr/>
        </p:nvGrpSpPr>
        <p:grpSpPr>
          <a:xfrm>
            <a:off x="4179275" y="2209778"/>
            <a:ext cx="3766446" cy="3173376"/>
            <a:chOff x="4187341" y="3022181"/>
            <a:chExt cx="4423259" cy="3152620"/>
          </a:xfrm>
        </p:grpSpPr>
        <p:cxnSp>
          <p:nvCxnSpPr>
            <p:cNvPr id="88" name="Straight Connector 87"/>
            <p:cNvCxnSpPr>
              <a:stCxn id="51" idx="0"/>
            </p:cNvCxnSpPr>
            <p:nvPr/>
          </p:nvCxnSpPr>
          <p:spPr>
            <a:xfrm flipH="1" flipV="1">
              <a:off x="5990233" y="3417443"/>
              <a:ext cx="4764" cy="46379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a:xfrm>
              <a:off x="4187341" y="3144145"/>
              <a:ext cx="3618987" cy="3030656"/>
              <a:chOff x="855032" y="2057399"/>
              <a:chExt cx="3618987" cy="3030656"/>
            </a:xfrm>
          </p:grpSpPr>
          <p:grpSp>
            <p:nvGrpSpPr>
              <p:cNvPr id="49" name="Group 48"/>
              <p:cNvGrpSpPr/>
              <p:nvPr/>
            </p:nvGrpSpPr>
            <p:grpSpPr>
              <a:xfrm>
                <a:off x="855032" y="2057399"/>
                <a:ext cx="3618987" cy="3030656"/>
                <a:chOff x="956752" y="1866900"/>
                <a:chExt cx="4610460" cy="3837431"/>
              </a:xfrm>
            </p:grpSpPr>
            <p:sp>
              <p:nvSpPr>
                <p:cNvPr id="57" name="Freeform 56"/>
                <p:cNvSpPr/>
                <p:nvPr/>
              </p:nvSpPr>
              <p:spPr>
                <a:xfrm>
                  <a:off x="1919353" y="1866900"/>
                  <a:ext cx="2668443" cy="692102"/>
                </a:xfrm>
                <a:custGeom>
                  <a:avLst/>
                  <a:gdLst>
                    <a:gd name="connsiteX0" fmla="*/ 0 w 2535577"/>
                    <a:gd name="connsiteY0" fmla="*/ 0 h 1067674"/>
                    <a:gd name="connsiteX1" fmla="*/ 2535577 w 2535577"/>
                    <a:gd name="connsiteY1" fmla="*/ 0 h 1067674"/>
                    <a:gd name="connsiteX2" fmla="*/ 2535577 w 2535577"/>
                    <a:gd name="connsiteY2" fmla="*/ 1067674 h 1067674"/>
                    <a:gd name="connsiteX3" fmla="*/ 0 w 2535577"/>
                    <a:gd name="connsiteY3" fmla="*/ 1067674 h 1067674"/>
                    <a:gd name="connsiteX4" fmla="*/ 0 w 2535577"/>
                    <a:gd name="connsiteY4" fmla="*/ 0 h 1067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577" h="1067674">
                      <a:moveTo>
                        <a:pt x="0" y="0"/>
                      </a:moveTo>
                      <a:lnTo>
                        <a:pt x="2535577" y="0"/>
                      </a:lnTo>
                      <a:lnTo>
                        <a:pt x="2535577" y="1067674"/>
                      </a:lnTo>
                      <a:lnTo>
                        <a:pt x="0" y="1067674"/>
                      </a:lnTo>
                      <a:lnTo>
                        <a:pt x="0" y="0"/>
                      </a:lnTo>
                      <a:close/>
                    </a:path>
                  </a:pathLst>
                </a:custGeom>
                <a:solidFill>
                  <a:schemeClr val="tx2">
                    <a:lumMod val="75000"/>
                  </a:schemeClr>
                </a:solidFill>
                <a:ln w="25400"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algn="ctr" defTabSz="933450">
                    <a:lnSpc>
                      <a:spcPct val="90000"/>
                    </a:lnSpc>
                    <a:spcBef>
                      <a:spcPct val="0"/>
                    </a:spcBef>
                    <a:spcAft>
                      <a:spcPct val="35000"/>
                    </a:spcAft>
                  </a:pPr>
                  <a:r>
                    <a:rPr lang="en-US" sz="1200" dirty="0">
                      <a:solidFill>
                        <a:schemeClr val="bg1"/>
                      </a:solidFill>
                    </a:rPr>
                    <a:t>Board of Trustees</a:t>
                  </a:r>
                  <a:endParaRPr lang="en-US" sz="1200" b="1" kern="1200" dirty="0">
                    <a:solidFill>
                      <a:schemeClr val="bg1"/>
                    </a:solidFill>
                  </a:endParaRPr>
                </a:p>
                <a:p>
                  <a:pPr lvl="0" algn="ctr" defTabSz="933450">
                    <a:lnSpc>
                      <a:spcPct val="90000"/>
                    </a:lnSpc>
                    <a:spcBef>
                      <a:spcPct val="0"/>
                    </a:spcBef>
                    <a:spcAft>
                      <a:spcPct val="35000"/>
                    </a:spcAft>
                  </a:pPr>
                  <a:r>
                    <a:rPr lang="en-US" sz="1200" b="1" kern="1200" dirty="0">
                      <a:solidFill>
                        <a:schemeClr val="bg1"/>
                      </a:solidFill>
                    </a:rPr>
                    <a:t>Investment Committee</a:t>
                  </a:r>
                </a:p>
              </p:txBody>
            </p:sp>
            <p:sp>
              <p:nvSpPr>
                <p:cNvPr id="58" name="Freeform 57"/>
                <p:cNvSpPr/>
                <p:nvPr/>
              </p:nvSpPr>
              <p:spPr>
                <a:xfrm>
                  <a:off x="2331924" y="2834028"/>
                  <a:ext cx="1843299" cy="1038032"/>
                </a:xfrm>
                <a:custGeom>
                  <a:avLst/>
                  <a:gdLst>
                    <a:gd name="connsiteX0" fmla="*/ 0 w 1830832"/>
                    <a:gd name="connsiteY0" fmla="*/ 0 h 1031012"/>
                    <a:gd name="connsiteX1" fmla="*/ 1830832 w 1830832"/>
                    <a:gd name="connsiteY1" fmla="*/ 0 h 1031012"/>
                    <a:gd name="connsiteX2" fmla="*/ 1830832 w 1830832"/>
                    <a:gd name="connsiteY2" fmla="*/ 1031012 h 1031012"/>
                    <a:gd name="connsiteX3" fmla="*/ 0 w 1830832"/>
                    <a:gd name="connsiteY3" fmla="*/ 1031012 h 1031012"/>
                    <a:gd name="connsiteX4" fmla="*/ 0 w 1830832"/>
                    <a:gd name="connsiteY4" fmla="*/ 0 h 1031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0832" h="1031012">
                      <a:moveTo>
                        <a:pt x="0" y="0"/>
                      </a:moveTo>
                      <a:lnTo>
                        <a:pt x="1830832" y="0"/>
                      </a:lnTo>
                      <a:lnTo>
                        <a:pt x="1830832" y="1031012"/>
                      </a:lnTo>
                      <a:lnTo>
                        <a:pt x="0" y="1031012"/>
                      </a:lnTo>
                      <a:lnTo>
                        <a:pt x="0" y="0"/>
                      </a:lnTo>
                      <a:close/>
                    </a:path>
                  </a:pathLst>
                </a:custGeom>
                <a:solidFill>
                  <a:schemeClr val="accent1">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KU VP Business Development &amp; CEO of Enterprises Company </a:t>
                  </a:r>
                </a:p>
              </p:txBody>
            </p:sp>
            <p:sp>
              <p:nvSpPr>
                <p:cNvPr id="59" name="Freeform 58"/>
                <p:cNvSpPr/>
                <p:nvPr/>
              </p:nvSpPr>
              <p:spPr>
                <a:xfrm>
                  <a:off x="2127524" y="5179912"/>
                  <a:ext cx="2258920" cy="524419"/>
                </a:xfrm>
                <a:custGeom>
                  <a:avLst/>
                  <a:gdLst>
                    <a:gd name="connsiteX0" fmla="*/ 0 w 2509412"/>
                    <a:gd name="connsiteY0" fmla="*/ 0 h 770027"/>
                    <a:gd name="connsiteX1" fmla="*/ 2509412 w 2509412"/>
                    <a:gd name="connsiteY1" fmla="*/ 0 h 770027"/>
                    <a:gd name="connsiteX2" fmla="*/ 2509412 w 2509412"/>
                    <a:gd name="connsiteY2" fmla="*/ 770027 h 770027"/>
                    <a:gd name="connsiteX3" fmla="*/ 0 w 2509412"/>
                    <a:gd name="connsiteY3" fmla="*/ 770027 h 770027"/>
                    <a:gd name="connsiteX4" fmla="*/ 0 w 2509412"/>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412" h="770027">
                      <a:moveTo>
                        <a:pt x="0" y="0"/>
                      </a:moveTo>
                      <a:lnTo>
                        <a:pt x="2509412" y="0"/>
                      </a:lnTo>
                      <a:lnTo>
                        <a:pt x="2509412"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Innovation Acceleration &amp; Startups</a:t>
                  </a:r>
                </a:p>
              </p:txBody>
            </p:sp>
            <p:sp>
              <p:nvSpPr>
                <p:cNvPr id="60" name="Freeform 59"/>
                <p:cNvSpPr/>
                <p:nvPr/>
              </p:nvSpPr>
              <p:spPr>
                <a:xfrm>
                  <a:off x="956752" y="4205761"/>
                  <a:ext cx="2084230" cy="524419"/>
                </a:xfrm>
                <a:custGeom>
                  <a:avLst/>
                  <a:gdLst>
                    <a:gd name="connsiteX0" fmla="*/ 0 w 2511075"/>
                    <a:gd name="connsiteY0" fmla="*/ 0 h 770027"/>
                    <a:gd name="connsiteX1" fmla="*/ 2511075 w 2511075"/>
                    <a:gd name="connsiteY1" fmla="*/ 0 h 770027"/>
                    <a:gd name="connsiteX2" fmla="*/ 2511075 w 2511075"/>
                    <a:gd name="connsiteY2" fmla="*/ 770027 h 770027"/>
                    <a:gd name="connsiteX3" fmla="*/ 0 w 2511075"/>
                    <a:gd name="connsiteY3" fmla="*/ 770027 h 770027"/>
                    <a:gd name="connsiteX4" fmla="*/ 0 w 2511075"/>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075" h="770027">
                      <a:moveTo>
                        <a:pt x="0" y="0"/>
                      </a:moveTo>
                      <a:lnTo>
                        <a:pt x="2511075" y="0"/>
                      </a:lnTo>
                      <a:lnTo>
                        <a:pt x="2511075"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KU Ventures</a:t>
                  </a:r>
                </a:p>
              </p:txBody>
            </p:sp>
            <p:sp>
              <p:nvSpPr>
                <p:cNvPr id="61" name="Freeform 60"/>
                <p:cNvSpPr/>
                <p:nvPr/>
              </p:nvSpPr>
              <p:spPr>
                <a:xfrm>
                  <a:off x="3374918" y="4205761"/>
                  <a:ext cx="2192294" cy="524419"/>
                </a:xfrm>
                <a:custGeom>
                  <a:avLst/>
                  <a:gdLst>
                    <a:gd name="connsiteX0" fmla="*/ 0 w 2641271"/>
                    <a:gd name="connsiteY0" fmla="*/ 0 h 770027"/>
                    <a:gd name="connsiteX1" fmla="*/ 2641271 w 2641271"/>
                    <a:gd name="connsiteY1" fmla="*/ 0 h 770027"/>
                    <a:gd name="connsiteX2" fmla="*/ 2641271 w 2641271"/>
                    <a:gd name="connsiteY2" fmla="*/ 770027 h 770027"/>
                    <a:gd name="connsiteX3" fmla="*/ 0 w 2641271"/>
                    <a:gd name="connsiteY3" fmla="*/ 770027 h 770027"/>
                    <a:gd name="connsiteX4" fmla="*/ 0 w 2641271"/>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271" h="770027">
                      <a:moveTo>
                        <a:pt x="0" y="0"/>
                      </a:moveTo>
                      <a:lnTo>
                        <a:pt x="2641271" y="0"/>
                      </a:lnTo>
                      <a:lnTo>
                        <a:pt x="2641271"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algn="ctr" defTabSz="933450">
                    <a:lnSpc>
                      <a:spcPct val="90000"/>
                    </a:lnSpc>
                    <a:spcBef>
                      <a:spcPct val="0"/>
                    </a:spcBef>
                    <a:spcAft>
                      <a:spcPct val="35000"/>
                    </a:spcAft>
                  </a:pPr>
                  <a:r>
                    <a:rPr lang="en-US" sz="1200" dirty="0">
                      <a:solidFill>
                        <a:schemeClr val="bg1"/>
                      </a:solidFill>
                    </a:rPr>
                    <a:t>KU Endowment Fund</a:t>
                  </a:r>
                </a:p>
              </p:txBody>
            </p:sp>
          </p:grpSp>
          <p:cxnSp>
            <p:nvCxnSpPr>
              <p:cNvPr id="50" name="Elbow Connector 49"/>
              <p:cNvCxnSpPr>
                <a:stCxn id="52" idx="0"/>
                <a:endCxn id="51" idx="2"/>
              </p:cNvCxnSpPr>
              <p:nvPr/>
            </p:nvCxnSpPr>
            <p:spPr>
              <a:xfrm rot="5400000" flipH="1" flipV="1">
                <a:off x="2046650" y="3263279"/>
                <a:ext cx="242431" cy="989646"/>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1934475" y="2794494"/>
                <a:ext cx="1456425" cy="842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2" name="Rectangle 51"/>
              <p:cNvSpPr/>
              <p:nvPr/>
            </p:nvSpPr>
            <p:spPr>
              <a:xfrm>
                <a:off x="855032" y="3879317"/>
                <a:ext cx="1636019"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3" name="Rectangle 52"/>
              <p:cNvSpPr/>
              <p:nvPr/>
            </p:nvSpPr>
            <p:spPr>
              <a:xfrm>
                <a:off x="2753175" y="3879317"/>
                <a:ext cx="1720844"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ctangle 53"/>
              <p:cNvSpPr/>
              <p:nvPr/>
            </p:nvSpPr>
            <p:spPr>
              <a:xfrm>
                <a:off x="1797502" y="4648664"/>
                <a:ext cx="1720844"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55" name="Elbow Connector 54"/>
              <p:cNvCxnSpPr>
                <a:stCxn id="53" idx="0"/>
                <a:endCxn id="51" idx="2"/>
              </p:cNvCxnSpPr>
              <p:nvPr/>
            </p:nvCxnSpPr>
            <p:spPr>
              <a:xfrm rot="16200000" flipV="1">
                <a:off x="3016928" y="3282647"/>
                <a:ext cx="242431" cy="950909"/>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54" idx="0"/>
                <a:endCxn id="51" idx="2"/>
              </p:cNvCxnSpPr>
              <p:nvPr/>
            </p:nvCxnSpPr>
            <p:spPr>
              <a:xfrm flipV="1">
                <a:off x="2657924" y="3636886"/>
                <a:ext cx="4764" cy="1011778"/>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a:off x="7467600" y="3981098"/>
              <a:ext cx="1143000" cy="666375"/>
              <a:chOff x="8409147" y="2478247"/>
              <a:chExt cx="1143000" cy="666375"/>
            </a:xfrm>
          </p:grpSpPr>
          <p:sp>
            <p:nvSpPr>
              <p:cNvPr id="77" name="Rectangle 76"/>
              <p:cNvSpPr/>
              <p:nvPr/>
            </p:nvSpPr>
            <p:spPr>
              <a:xfrm>
                <a:off x="8409147" y="2478247"/>
                <a:ext cx="1143000" cy="666375"/>
              </a:xfrm>
              <a:prstGeom prst="rect">
                <a:avLst/>
              </a:prstGeom>
              <a:no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rPr>
                  <a:t>President</a:t>
                </a:r>
              </a:p>
            </p:txBody>
          </p:sp>
          <p:pic>
            <p:nvPicPr>
              <p:cNvPr id="76" name="Picture 8" descr="https://www.ku.ac.ae/wp-content/uploads/2018/08/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7344" y="2852780"/>
                <a:ext cx="1026607" cy="22415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0" name="Elbow Connector 79"/>
            <p:cNvCxnSpPr>
              <a:stCxn id="77" idx="0"/>
            </p:cNvCxnSpPr>
            <p:nvPr/>
          </p:nvCxnSpPr>
          <p:spPr>
            <a:xfrm rot="16200000" flipV="1">
              <a:off x="7256490" y="3198488"/>
              <a:ext cx="563655" cy="1001566"/>
            </a:xfrm>
            <a:prstGeom prst="bentConnector2">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77" idx="1"/>
            </p:cNvCxnSpPr>
            <p:nvPr/>
          </p:nvCxnSpPr>
          <p:spPr>
            <a:xfrm flipH="1" flipV="1">
              <a:off x="6713684" y="4309957"/>
              <a:ext cx="753916" cy="4329"/>
            </a:xfrm>
            <a:prstGeom prst="straightConnector1">
              <a:avLst/>
            </a:prstGeom>
            <a:ln w="28575">
              <a:solidFill>
                <a:schemeClr val="tx2"/>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7226210" y="3022181"/>
              <a:ext cx="1369828" cy="461665"/>
            </a:xfrm>
            <a:prstGeom prst="rect">
              <a:avLst/>
            </a:prstGeom>
            <a:noFill/>
          </p:spPr>
          <p:txBody>
            <a:bodyPr wrap="square" rtlCol="0">
              <a:spAutoFit/>
            </a:bodyPr>
            <a:lstStyle/>
            <a:p>
              <a:r>
                <a:rPr lang="en-US" sz="1200" b="1" dirty="0"/>
                <a:t>Non-voting ex officio member</a:t>
              </a:r>
            </a:p>
          </p:txBody>
        </p:sp>
      </p:grpSp>
      <p:grpSp>
        <p:nvGrpSpPr>
          <p:cNvPr id="118" name="Group 117"/>
          <p:cNvGrpSpPr/>
          <p:nvPr/>
        </p:nvGrpSpPr>
        <p:grpSpPr>
          <a:xfrm>
            <a:off x="8421744" y="2361991"/>
            <a:ext cx="3120912" cy="3684690"/>
            <a:chOff x="869589" y="2048529"/>
            <a:chExt cx="3665153" cy="3660592"/>
          </a:xfrm>
        </p:grpSpPr>
        <p:cxnSp>
          <p:nvCxnSpPr>
            <p:cNvPr id="132" name="Straight Connector 131"/>
            <p:cNvCxnSpPr>
              <a:endCxn id="127" idx="2"/>
            </p:cNvCxnSpPr>
            <p:nvPr/>
          </p:nvCxnSpPr>
          <p:spPr>
            <a:xfrm flipV="1">
              <a:off x="2662687" y="4397007"/>
              <a:ext cx="0" cy="1087969"/>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5" name="Group 124"/>
            <p:cNvGrpSpPr/>
            <p:nvPr/>
          </p:nvGrpSpPr>
          <p:grpSpPr>
            <a:xfrm>
              <a:off x="873093" y="2048529"/>
              <a:ext cx="3661649" cy="3660592"/>
              <a:chOff x="979761" y="1855669"/>
              <a:chExt cx="4664809" cy="4635063"/>
            </a:xfrm>
          </p:grpSpPr>
          <p:sp>
            <p:nvSpPr>
              <p:cNvPr id="133" name="Freeform 132"/>
              <p:cNvSpPr/>
              <p:nvPr/>
            </p:nvSpPr>
            <p:spPr>
              <a:xfrm>
                <a:off x="1919348" y="1855669"/>
                <a:ext cx="2668443" cy="692101"/>
              </a:xfrm>
              <a:custGeom>
                <a:avLst/>
                <a:gdLst>
                  <a:gd name="connsiteX0" fmla="*/ 0 w 2535577"/>
                  <a:gd name="connsiteY0" fmla="*/ 0 h 1067674"/>
                  <a:gd name="connsiteX1" fmla="*/ 2535577 w 2535577"/>
                  <a:gd name="connsiteY1" fmla="*/ 0 h 1067674"/>
                  <a:gd name="connsiteX2" fmla="*/ 2535577 w 2535577"/>
                  <a:gd name="connsiteY2" fmla="*/ 1067674 h 1067674"/>
                  <a:gd name="connsiteX3" fmla="*/ 0 w 2535577"/>
                  <a:gd name="connsiteY3" fmla="*/ 1067674 h 1067674"/>
                  <a:gd name="connsiteX4" fmla="*/ 0 w 2535577"/>
                  <a:gd name="connsiteY4" fmla="*/ 0 h 1067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577" h="1067674">
                    <a:moveTo>
                      <a:pt x="0" y="0"/>
                    </a:moveTo>
                    <a:lnTo>
                      <a:pt x="2535577" y="0"/>
                    </a:lnTo>
                    <a:lnTo>
                      <a:pt x="2535577" y="1067674"/>
                    </a:lnTo>
                    <a:lnTo>
                      <a:pt x="0" y="1067674"/>
                    </a:lnTo>
                    <a:lnTo>
                      <a:pt x="0" y="0"/>
                    </a:lnTo>
                    <a:close/>
                  </a:path>
                </a:pathLst>
              </a:custGeom>
              <a:solidFill>
                <a:schemeClr val="tx2">
                  <a:lumMod val="75000"/>
                </a:schemeClr>
              </a:solidFill>
              <a:ln w="25400"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algn="ctr" defTabSz="933450">
                  <a:lnSpc>
                    <a:spcPct val="90000"/>
                  </a:lnSpc>
                  <a:spcBef>
                    <a:spcPct val="0"/>
                  </a:spcBef>
                  <a:spcAft>
                    <a:spcPct val="35000"/>
                  </a:spcAft>
                </a:pPr>
                <a:r>
                  <a:rPr lang="en-US" sz="1200" dirty="0">
                    <a:solidFill>
                      <a:schemeClr val="bg1"/>
                    </a:solidFill>
                  </a:rPr>
                  <a:t>Board of Trustees</a:t>
                </a:r>
                <a:endParaRPr lang="en-US" sz="1200" b="1" kern="1200" dirty="0">
                  <a:solidFill>
                    <a:schemeClr val="bg1"/>
                  </a:solidFill>
                </a:endParaRPr>
              </a:p>
              <a:p>
                <a:pPr lvl="0" algn="ctr" defTabSz="933450">
                  <a:lnSpc>
                    <a:spcPct val="90000"/>
                  </a:lnSpc>
                  <a:spcBef>
                    <a:spcPct val="0"/>
                  </a:spcBef>
                  <a:spcAft>
                    <a:spcPct val="35000"/>
                  </a:spcAft>
                </a:pPr>
                <a:r>
                  <a:rPr lang="en-US" sz="1200" b="1" kern="1200" dirty="0">
                    <a:solidFill>
                      <a:schemeClr val="bg1"/>
                    </a:solidFill>
                  </a:rPr>
                  <a:t>Investment Committee</a:t>
                </a:r>
              </a:p>
            </p:txBody>
          </p:sp>
          <p:sp>
            <p:nvSpPr>
              <p:cNvPr id="134" name="Freeform 133"/>
              <p:cNvSpPr/>
              <p:nvPr/>
            </p:nvSpPr>
            <p:spPr>
              <a:xfrm>
                <a:off x="2331923" y="3769946"/>
                <a:ext cx="1843299" cy="1038032"/>
              </a:xfrm>
              <a:custGeom>
                <a:avLst/>
                <a:gdLst>
                  <a:gd name="connsiteX0" fmla="*/ 0 w 1830832"/>
                  <a:gd name="connsiteY0" fmla="*/ 0 h 1031012"/>
                  <a:gd name="connsiteX1" fmla="*/ 1830832 w 1830832"/>
                  <a:gd name="connsiteY1" fmla="*/ 0 h 1031012"/>
                  <a:gd name="connsiteX2" fmla="*/ 1830832 w 1830832"/>
                  <a:gd name="connsiteY2" fmla="*/ 1031012 h 1031012"/>
                  <a:gd name="connsiteX3" fmla="*/ 0 w 1830832"/>
                  <a:gd name="connsiteY3" fmla="*/ 1031012 h 1031012"/>
                  <a:gd name="connsiteX4" fmla="*/ 0 w 1830832"/>
                  <a:gd name="connsiteY4" fmla="*/ 0 h 1031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0832" h="1031012">
                    <a:moveTo>
                      <a:pt x="0" y="0"/>
                    </a:moveTo>
                    <a:lnTo>
                      <a:pt x="1830832" y="0"/>
                    </a:lnTo>
                    <a:lnTo>
                      <a:pt x="1830832" y="1031012"/>
                    </a:lnTo>
                    <a:lnTo>
                      <a:pt x="0" y="1031012"/>
                    </a:lnTo>
                    <a:lnTo>
                      <a:pt x="0" y="0"/>
                    </a:lnTo>
                    <a:close/>
                  </a:path>
                </a:pathLst>
              </a:custGeom>
              <a:solidFill>
                <a:schemeClr val="accent1">
                  <a:lumMod val="75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KU VP Business Development &amp; CEO of Enterprises Company </a:t>
                </a:r>
              </a:p>
            </p:txBody>
          </p:sp>
          <p:sp>
            <p:nvSpPr>
              <p:cNvPr id="135" name="Freeform 134"/>
              <p:cNvSpPr/>
              <p:nvPr/>
            </p:nvSpPr>
            <p:spPr>
              <a:xfrm>
                <a:off x="2113420" y="5966312"/>
                <a:ext cx="2302974" cy="524420"/>
              </a:xfrm>
              <a:custGeom>
                <a:avLst/>
                <a:gdLst>
                  <a:gd name="connsiteX0" fmla="*/ 0 w 2509412"/>
                  <a:gd name="connsiteY0" fmla="*/ 0 h 770027"/>
                  <a:gd name="connsiteX1" fmla="*/ 2509412 w 2509412"/>
                  <a:gd name="connsiteY1" fmla="*/ 0 h 770027"/>
                  <a:gd name="connsiteX2" fmla="*/ 2509412 w 2509412"/>
                  <a:gd name="connsiteY2" fmla="*/ 770027 h 770027"/>
                  <a:gd name="connsiteX3" fmla="*/ 0 w 2509412"/>
                  <a:gd name="connsiteY3" fmla="*/ 770027 h 770027"/>
                  <a:gd name="connsiteX4" fmla="*/ 0 w 2509412"/>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412" h="770027">
                    <a:moveTo>
                      <a:pt x="0" y="0"/>
                    </a:moveTo>
                    <a:lnTo>
                      <a:pt x="2509412" y="0"/>
                    </a:lnTo>
                    <a:lnTo>
                      <a:pt x="2509412"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Innovation Acceleration &amp; Startups</a:t>
                </a:r>
              </a:p>
            </p:txBody>
          </p:sp>
          <p:sp>
            <p:nvSpPr>
              <p:cNvPr id="136" name="Freeform 135"/>
              <p:cNvSpPr/>
              <p:nvPr/>
            </p:nvSpPr>
            <p:spPr>
              <a:xfrm>
                <a:off x="979761" y="5239356"/>
                <a:ext cx="2084230" cy="524419"/>
              </a:xfrm>
              <a:custGeom>
                <a:avLst/>
                <a:gdLst>
                  <a:gd name="connsiteX0" fmla="*/ 0 w 2511075"/>
                  <a:gd name="connsiteY0" fmla="*/ 0 h 770027"/>
                  <a:gd name="connsiteX1" fmla="*/ 2511075 w 2511075"/>
                  <a:gd name="connsiteY1" fmla="*/ 0 h 770027"/>
                  <a:gd name="connsiteX2" fmla="*/ 2511075 w 2511075"/>
                  <a:gd name="connsiteY2" fmla="*/ 770027 h 770027"/>
                  <a:gd name="connsiteX3" fmla="*/ 0 w 2511075"/>
                  <a:gd name="connsiteY3" fmla="*/ 770027 h 770027"/>
                  <a:gd name="connsiteX4" fmla="*/ 0 w 2511075"/>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075" h="770027">
                    <a:moveTo>
                      <a:pt x="0" y="0"/>
                    </a:moveTo>
                    <a:lnTo>
                      <a:pt x="2511075" y="0"/>
                    </a:lnTo>
                    <a:lnTo>
                      <a:pt x="2511075"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1200" kern="1200" dirty="0">
                    <a:solidFill>
                      <a:schemeClr val="bg1"/>
                    </a:solidFill>
                  </a:rPr>
                  <a:t>KU Ventures</a:t>
                </a:r>
              </a:p>
            </p:txBody>
          </p:sp>
          <p:sp>
            <p:nvSpPr>
              <p:cNvPr id="137" name="Freeform 136"/>
              <p:cNvSpPr/>
              <p:nvPr/>
            </p:nvSpPr>
            <p:spPr>
              <a:xfrm>
                <a:off x="3452276" y="5249359"/>
                <a:ext cx="2192294" cy="524419"/>
              </a:xfrm>
              <a:custGeom>
                <a:avLst/>
                <a:gdLst>
                  <a:gd name="connsiteX0" fmla="*/ 0 w 2641271"/>
                  <a:gd name="connsiteY0" fmla="*/ 0 h 770027"/>
                  <a:gd name="connsiteX1" fmla="*/ 2641271 w 2641271"/>
                  <a:gd name="connsiteY1" fmla="*/ 0 h 770027"/>
                  <a:gd name="connsiteX2" fmla="*/ 2641271 w 2641271"/>
                  <a:gd name="connsiteY2" fmla="*/ 770027 h 770027"/>
                  <a:gd name="connsiteX3" fmla="*/ 0 w 2641271"/>
                  <a:gd name="connsiteY3" fmla="*/ 770027 h 770027"/>
                  <a:gd name="connsiteX4" fmla="*/ 0 w 2641271"/>
                  <a:gd name="connsiteY4" fmla="*/ 0 h 770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271" h="770027">
                    <a:moveTo>
                      <a:pt x="0" y="0"/>
                    </a:moveTo>
                    <a:lnTo>
                      <a:pt x="2641271" y="0"/>
                    </a:lnTo>
                    <a:lnTo>
                      <a:pt x="2641271" y="770027"/>
                    </a:lnTo>
                    <a:lnTo>
                      <a:pt x="0" y="770027"/>
                    </a:lnTo>
                    <a:lnTo>
                      <a:pt x="0" y="0"/>
                    </a:lnTo>
                    <a:close/>
                  </a:path>
                </a:pathLst>
              </a:custGeom>
              <a:solidFill>
                <a:schemeClr val="accent2">
                  <a:lumMod val="50000"/>
                </a:schemeClr>
              </a:solidFill>
              <a:ln cmpd="dbl">
                <a:noFill/>
              </a:ln>
              <a:effectLst>
                <a:glow rad="635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13335" tIns="13335" rIns="13335" bIns="13335" numCol="1" spcCol="1270" anchor="ctr" anchorCtr="0">
                <a:noAutofit/>
              </a:bodyPr>
              <a:lstStyle/>
              <a:p>
                <a:pPr algn="ctr" defTabSz="933450">
                  <a:lnSpc>
                    <a:spcPct val="90000"/>
                  </a:lnSpc>
                  <a:spcBef>
                    <a:spcPct val="0"/>
                  </a:spcBef>
                  <a:spcAft>
                    <a:spcPct val="35000"/>
                  </a:spcAft>
                </a:pPr>
                <a:r>
                  <a:rPr lang="en-US" sz="1200" dirty="0">
                    <a:solidFill>
                      <a:schemeClr val="bg1"/>
                    </a:solidFill>
                  </a:rPr>
                  <a:t>KU Endowment Fund</a:t>
                </a:r>
              </a:p>
            </p:txBody>
          </p:sp>
        </p:grpSp>
        <p:cxnSp>
          <p:nvCxnSpPr>
            <p:cNvPr id="126" name="Elbow Connector 125"/>
            <p:cNvCxnSpPr>
              <a:stCxn id="128" idx="0"/>
              <a:endCxn id="127" idx="2"/>
            </p:cNvCxnSpPr>
            <p:nvPr/>
          </p:nvCxnSpPr>
          <p:spPr>
            <a:xfrm rot="5400000" flipH="1" flipV="1">
              <a:off x="2019536" y="4065070"/>
              <a:ext cx="311213" cy="975089"/>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7" name="Rectangle 126"/>
            <p:cNvSpPr/>
            <p:nvPr/>
          </p:nvSpPr>
          <p:spPr>
            <a:xfrm>
              <a:off x="1934475" y="3554615"/>
              <a:ext cx="1456426" cy="842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8" name="Rectangle 127"/>
            <p:cNvSpPr/>
            <p:nvPr/>
          </p:nvSpPr>
          <p:spPr>
            <a:xfrm>
              <a:off x="869589" y="4708220"/>
              <a:ext cx="1636020"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9" name="Rectangle 128"/>
            <p:cNvSpPr/>
            <p:nvPr/>
          </p:nvSpPr>
          <p:spPr>
            <a:xfrm>
              <a:off x="2787756" y="4728733"/>
              <a:ext cx="1720844"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0" name="Rectangle 129"/>
            <p:cNvSpPr/>
            <p:nvPr/>
          </p:nvSpPr>
          <p:spPr>
            <a:xfrm>
              <a:off x="1797502" y="4648664"/>
              <a:ext cx="1720844" cy="439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31" name="Elbow Connector 130"/>
            <p:cNvCxnSpPr>
              <a:stCxn id="129" idx="0"/>
              <a:endCxn id="127" idx="2"/>
            </p:cNvCxnSpPr>
            <p:nvPr/>
          </p:nvCxnSpPr>
          <p:spPr>
            <a:xfrm rot="16200000" flipV="1">
              <a:off x="2989570" y="4070124"/>
              <a:ext cx="331726" cy="985491"/>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p:cNvGrpSpPr/>
          <p:nvPr/>
        </p:nvGrpSpPr>
        <p:grpSpPr>
          <a:xfrm>
            <a:off x="9457890" y="3044178"/>
            <a:ext cx="973275" cy="670762"/>
            <a:chOff x="8409147" y="2478247"/>
            <a:chExt cx="1143000" cy="666375"/>
          </a:xfrm>
        </p:grpSpPr>
        <p:sp>
          <p:nvSpPr>
            <p:cNvPr id="123" name="Rectangle 122"/>
            <p:cNvSpPr/>
            <p:nvPr/>
          </p:nvSpPr>
          <p:spPr>
            <a:xfrm>
              <a:off x="8409147" y="2478247"/>
              <a:ext cx="1143000" cy="666375"/>
            </a:xfrm>
            <a:prstGeom prst="rect">
              <a:avLst/>
            </a:prstGeom>
            <a:no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pPr algn="ctr"/>
              <a:r>
                <a:rPr lang="en-US" sz="1200" b="1" dirty="0">
                  <a:solidFill>
                    <a:schemeClr val="tx1"/>
                  </a:solidFill>
                </a:rPr>
                <a:t>President</a:t>
              </a:r>
            </a:p>
          </p:txBody>
        </p:sp>
        <p:pic>
          <p:nvPicPr>
            <p:cNvPr id="124" name="Picture 8" descr="https://www.ku.ac.ae/wp-content/uploads/2018/08/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7344" y="2778622"/>
              <a:ext cx="1026607" cy="22415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9" name="Straight Connector 148"/>
          <p:cNvCxnSpPr>
            <a:stCxn id="127" idx="0"/>
            <a:endCxn id="123" idx="2"/>
          </p:cNvCxnSpPr>
          <p:nvPr/>
        </p:nvCxnSpPr>
        <p:spPr>
          <a:xfrm flipH="1" flipV="1">
            <a:off x="9944528" y="3714940"/>
            <a:ext cx="4056" cy="163052"/>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3881535" y="1567543"/>
            <a:ext cx="0" cy="4788807"/>
          </a:xfrm>
          <a:prstGeom prst="line">
            <a:avLst/>
          </a:prstGeom>
          <a:ln w="34925">
            <a:solidFill>
              <a:schemeClr val="accent3">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8111412" y="1483588"/>
            <a:ext cx="0" cy="4788807"/>
          </a:xfrm>
          <a:prstGeom prst="line">
            <a:avLst/>
          </a:prstGeom>
          <a:ln w="34925">
            <a:solidFill>
              <a:schemeClr val="accent3">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55" name="TextBox 154"/>
          <p:cNvSpPr txBox="1"/>
          <p:nvPr/>
        </p:nvSpPr>
        <p:spPr>
          <a:xfrm>
            <a:off x="1197464" y="1567543"/>
            <a:ext cx="1502924" cy="369332"/>
          </a:xfrm>
          <a:prstGeom prst="rect">
            <a:avLst/>
          </a:prstGeom>
          <a:noFill/>
        </p:spPr>
        <p:txBody>
          <a:bodyPr wrap="square" rtlCol="0">
            <a:spAutoFit/>
          </a:bodyPr>
          <a:lstStyle/>
          <a:p>
            <a:pPr algn="ctr"/>
            <a:r>
              <a:rPr lang="en-US" b="1" dirty="0"/>
              <a:t>Option 1</a:t>
            </a:r>
          </a:p>
        </p:txBody>
      </p:sp>
      <p:sp>
        <p:nvSpPr>
          <p:cNvPr id="156" name="TextBox 155"/>
          <p:cNvSpPr txBox="1"/>
          <p:nvPr/>
        </p:nvSpPr>
        <p:spPr>
          <a:xfrm>
            <a:off x="4962992" y="1516239"/>
            <a:ext cx="1502924" cy="369332"/>
          </a:xfrm>
          <a:prstGeom prst="rect">
            <a:avLst/>
          </a:prstGeom>
          <a:noFill/>
        </p:spPr>
        <p:txBody>
          <a:bodyPr wrap="square" rtlCol="0">
            <a:spAutoFit/>
          </a:bodyPr>
          <a:lstStyle/>
          <a:p>
            <a:pPr algn="ctr"/>
            <a:r>
              <a:rPr lang="en-US" b="1" dirty="0"/>
              <a:t>Option 2</a:t>
            </a:r>
          </a:p>
        </p:txBody>
      </p:sp>
      <p:sp>
        <p:nvSpPr>
          <p:cNvPr id="157" name="TextBox 156"/>
          <p:cNvSpPr txBox="1"/>
          <p:nvPr/>
        </p:nvSpPr>
        <p:spPr>
          <a:xfrm>
            <a:off x="9193065" y="1538224"/>
            <a:ext cx="1502924" cy="369332"/>
          </a:xfrm>
          <a:prstGeom prst="rect">
            <a:avLst/>
          </a:prstGeom>
          <a:noFill/>
        </p:spPr>
        <p:txBody>
          <a:bodyPr wrap="square" rtlCol="0">
            <a:spAutoFit/>
          </a:bodyPr>
          <a:lstStyle/>
          <a:p>
            <a:pPr algn="ctr"/>
            <a:r>
              <a:rPr lang="en-US" b="1" dirty="0"/>
              <a:t>Option 3</a:t>
            </a:r>
          </a:p>
        </p:txBody>
      </p:sp>
    </p:spTree>
    <p:extLst>
      <p:ext uri="{BB962C8B-B14F-4D97-AF65-F5344CB8AC3E}">
        <p14:creationId xmlns:p14="http://schemas.microsoft.com/office/powerpoint/2010/main" val="1495140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5507" y="2896459"/>
            <a:ext cx="9044844" cy="1143000"/>
          </a:xfrm>
        </p:spPr>
        <p:txBody>
          <a:bodyPr>
            <a:normAutofit fontScale="90000"/>
          </a:bodyPr>
          <a:lstStyle/>
          <a:p>
            <a:pPr algn="l" rtl="0"/>
            <a:r>
              <a:rPr lang="en-US" dirty="0">
                <a:solidFill>
                  <a:schemeClr val="bg1"/>
                </a:solidFill>
              </a:rPr>
              <a:t>Part 3</a:t>
            </a:r>
            <a:r>
              <a:rPr lang="en-US" b="1" dirty="0">
                <a:solidFill>
                  <a:schemeClr val="bg1"/>
                </a:solidFill>
              </a:rPr>
              <a:t/>
            </a:r>
            <a:br>
              <a:rPr lang="en-US" b="1" dirty="0">
                <a:solidFill>
                  <a:schemeClr val="bg1"/>
                </a:solidFill>
              </a:rPr>
            </a:br>
            <a:r>
              <a:rPr lang="en-US" b="1" dirty="0">
                <a:solidFill>
                  <a:schemeClr val="bg1"/>
                </a:solidFill>
              </a:rPr>
              <a:t>Khalifa University Financial Sustainability</a:t>
            </a:r>
            <a:endParaRPr lang="en-US" sz="3100" dirty="0">
              <a:solidFill>
                <a:schemeClr val="bg1"/>
              </a:solidFill>
            </a:endParaRPr>
          </a:p>
        </p:txBody>
      </p:sp>
      <p:pic>
        <p:nvPicPr>
          <p:cNvPr id="3" name="Picture 2">
            <a:extLst>
              <a:ext uri="{FF2B5EF4-FFF2-40B4-BE49-F238E27FC236}">
                <a16:creationId xmlns:a16="http://schemas.microsoft.com/office/drawing/2014/main" id="{CEA79536-344B-4703-95C3-7F5AD0BFB3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528" y="277065"/>
            <a:ext cx="2952328" cy="576064"/>
          </a:xfrm>
          <a:prstGeom prst="rect">
            <a:avLst/>
          </a:prstGeom>
        </p:spPr>
      </p:pic>
      <p:sp>
        <p:nvSpPr>
          <p:cNvPr id="4" name="Slide Number Placeholder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9</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923458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120" y="548556"/>
            <a:ext cx="10944112" cy="1114425"/>
          </a:xfrm>
        </p:spPr>
        <p:txBody>
          <a:bodyPr>
            <a:normAutofit fontScale="90000"/>
          </a:bodyPr>
          <a:lstStyle/>
          <a:p>
            <a:pPr marL="457200" indent="-457200" rtl="0">
              <a:buFont typeface="Wingdings" panose="05000000000000000000" pitchFamily="2" charset="2"/>
              <a:buChar char="q"/>
            </a:pPr>
            <a:r>
              <a:rPr lang="en-US" sz="2800" spc="50" dirty="0">
                <a:solidFill>
                  <a:srgbClr val="A39161"/>
                </a:solidFill>
                <a:ea typeface="+mj-ea"/>
                <a:cs typeface="Traditional Arabic"/>
              </a:rPr>
              <a:t>Perspectives on Management of Endowments in Top-Ranked Universities:</a:t>
            </a:r>
            <a:br>
              <a:rPr lang="en-US" sz="2800" spc="50" dirty="0">
                <a:solidFill>
                  <a:srgbClr val="A39161"/>
                </a:solidFill>
                <a:ea typeface="+mj-ea"/>
                <a:cs typeface="Traditional Arabic"/>
              </a:rPr>
            </a:br>
            <a:r>
              <a:rPr lang="en-US" sz="2600" dirty="0">
                <a:solidFill>
                  <a:srgbClr val="A39161"/>
                </a:solidFill>
                <a:latin typeface="Traditional Arabic"/>
                <a:cs typeface="Traditional Arabic"/>
              </a:rPr>
              <a:t/>
            </a:r>
            <a:br>
              <a:rPr lang="en-US" sz="2600" dirty="0">
                <a:solidFill>
                  <a:srgbClr val="A39161"/>
                </a:solidFill>
                <a:latin typeface="Traditional Arabic"/>
                <a:cs typeface="Traditional Arabic"/>
              </a:rPr>
            </a:br>
            <a:endParaRPr lang="en-US" sz="2600" dirty="0">
              <a:solidFill>
                <a:srgbClr val="A39161"/>
              </a:solidFill>
              <a:latin typeface="Traditional Arabic"/>
              <a:cs typeface="Traditional Arabic"/>
            </a:endParaRPr>
          </a:p>
        </p:txBody>
      </p:sp>
      <p:sp>
        <p:nvSpPr>
          <p:cNvPr id="3" name="Content Placeholder 2"/>
          <p:cNvSpPr>
            <a:spLocks noGrp="1"/>
          </p:cNvSpPr>
          <p:nvPr>
            <p:ph idx="1"/>
          </p:nvPr>
        </p:nvSpPr>
        <p:spPr>
          <a:xfrm>
            <a:off x="623944" y="1076461"/>
            <a:ext cx="11144922" cy="1267640"/>
          </a:xfrm>
        </p:spPr>
        <p:txBody>
          <a:bodyPr>
            <a:normAutofit fontScale="85000" lnSpcReduction="20000"/>
          </a:bodyPr>
          <a:lstStyle/>
          <a:p>
            <a:pPr marL="285750" indent="-285750" algn="l" rtl="0"/>
            <a:r>
              <a:rPr lang="en-US" sz="1900" dirty="0">
                <a:cs typeface="Times New Roman" panose="02020603050405020304" pitchFamily="18" charset="0"/>
              </a:rPr>
              <a:t>Top ranked universities utilize its endowments to effect its research and economic development agendas. </a:t>
            </a:r>
          </a:p>
          <a:p>
            <a:pPr marL="285750" indent="-285750" algn="l" rtl="0"/>
            <a:r>
              <a:rPr lang="en-US" sz="1900" dirty="0">
                <a:cs typeface="Times New Roman" panose="02020603050405020304" pitchFamily="18" charset="0"/>
              </a:rPr>
              <a:t>For example, universities uses revenue returns from investments in further funding its scientific research.</a:t>
            </a:r>
          </a:p>
          <a:p>
            <a:pPr marL="285750" indent="-285750" algn="l" rtl="0"/>
            <a:r>
              <a:rPr lang="en-US" sz="1900" dirty="0">
                <a:cs typeface="Times New Roman" panose="02020603050405020304" pitchFamily="18" charset="0"/>
              </a:rPr>
              <a:t>Similarly, invest in the outcomes of its research such as technologies, industry partnerships and startups to create economic impact. </a:t>
            </a:r>
          </a:p>
          <a:p>
            <a:pPr marL="285750" indent="-285750" algn="l" rtl="0"/>
            <a:r>
              <a:rPr lang="en-US" sz="1900" dirty="0">
                <a:cs typeface="Times New Roman" panose="02020603050405020304" pitchFamily="18" charset="0"/>
              </a:rPr>
              <a:t>Universities use portion of the endowment to invest to accelerate the economic impact (Venture Fund).</a:t>
            </a:r>
          </a:p>
          <a:p>
            <a:pPr marL="0" indent="0" algn="justLow" rtl="0">
              <a:buNone/>
            </a:pPr>
            <a:endParaRPr lang="en-US" sz="2400" b="0" dirty="0">
              <a:solidFill>
                <a:schemeClr val="tx2">
                  <a:lumMod val="75000"/>
                </a:schemeClr>
              </a:solidFill>
            </a:endParaRPr>
          </a:p>
          <a:p>
            <a:pPr algn="justLow" rtl="0"/>
            <a:endParaRPr lang="en-US" sz="2400" b="0" dirty="0">
              <a:solidFill>
                <a:schemeClr val="tx2">
                  <a:lumMod val="75000"/>
                </a:schemeClr>
              </a:solidFill>
            </a:endParaRPr>
          </a:p>
        </p:txBody>
      </p:sp>
      <p:sp>
        <p:nvSpPr>
          <p:cNvPr id="6" name="Slide Number Placeholder 5"/>
          <p:cNvSpPr>
            <a:spLocks noGrp="1"/>
          </p:cNvSpPr>
          <p:nvPr>
            <p:ph type="sldNum" sz="quarter" idx="12"/>
          </p:nvPr>
        </p:nvSpPr>
        <p:spPr/>
        <p:txBody>
          <a:bodyPr/>
          <a:lstStyle/>
          <a:p>
            <a:fld id="{1E68DD1B-5CD8-424B-8173-19E182143E0A}" type="slidenum">
              <a:rPr lang="en-US" smtClean="0"/>
              <a:t>10</a:t>
            </a:fld>
            <a:endParaRPr lang="en-US" dirty="0"/>
          </a:p>
        </p:txBody>
      </p:sp>
      <p:pic>
        <p:nvPicPr>
          <p:cNvPr id="7" name="Picture 6">
            <a:extLst>
              <a:ext uri="{FF2B5EF4-FFF2-40B4-BE49-F238E27FC236}">
                <a16:creationId xmlns:a16="http://schemas.microsoft.com/office/drawing/2014/main" id="{CBC20AF2-D3B5-442D-B113-49475C6660E4}"/>
              </a:ext>
            </a:extLst>
          </p:cNvPr>
          <p:cNvPicPr>
            <a:picLocks noChangeAspect="1"/>
          </p:cNvPicPr>
          <p:nvPr/>
        </p:nvPicPr>
        <p:blipFill>
          <a:blip r:embed="rId2"/>
          <a:stretch>
            <a:fillRect/>
          </a:stretch>
        </p:blipFill>
        <p:spPr>
          <a:xfrm>
            <a:off x="623944" y="2332536"/>
            <a:ext cx="10316465" cy="3775998"/>
          </a:xfrm>
          <a:prstGeom prst="rect">
            <a:avLst/>
          </a:prstGeom>
        </p:spPr>
      </p:pic>
      <p:sp>
        <p:nvSpPr>
          <p:cNvPr id="8" name="TextBox 7">
            <a:extLst>
              <a:ext uri="{FF2B5EF4-FFF2-40B4-BE49-F238E27FC236}">
                <a16:creationId xmlns:a16="http://schemas.microsoft.com/office/drawing/2014/main" id="{83E9A982-35AD-4596-ABF1-0DEE4CA83ADA}"/>
              </a:ext>
            </a:extLst>
          </p:cNvPr>
          <p:cNvSpPr txBox="1"/>
          <p:nvPr/>
        </p:nvSpPr>
        <p:spPr>
          <a:xfrm>
            <a:off x="660400" y="6108534"/>
            <a:ext cx="11531600" cy="276999"/>
          </a:xfrm>
          <a:prstGeom prst="rect">
            <a:avLst/>
          </a:prstGeom>
          <a:noFill/>
        </p:spPr>
        <p:txBody>
          <a:bodyPr wrap="square" rtlCol="0">
            <a:spAutoFit/>
          </a:bodyPr>
          <a:lstStyle/>
          <a:p>
            <a:r>
              <a:rPr lang="en-US" sz="1200" b="1" i="1" dirty="0"/>
              <a:t>* Please note these numbers are the closest estimates of the endowments </a:t>
            </a:r>
          </a:p>
        </p:txBody>
      </p:sp>
      <p:sp>
        <p:nvSpPr>
          <p:cNvPr id="5" name="Footer Placeholder 4">
            <a:extLst>
              <a:ext uri="{FF2B5EF4-FFF2-40B4-BE49-F238E27FC236}">
                <a16:creationId xmlns:a16="http://schemas.microsoft.com/office/drawing/2014/main" id="{B2BA5F31-06E3-4A42-962D-6DE227FD313E}"/>
              </a:ext>
            </a:extLst>
          </p:cNvPr>
          <p:cNvSpPr>
            <a:spLocks noGrp="1"/>
          </p:cNvSpPr>
          <p:nvPr>
            <p:ph type="ftr" sz="quarter" idx="11"/>
          </p:nvPr>
        </p:nvSpPr>
        <p:spPr/>
        <p:txBody>
          <a:bodyPr/>
          <a:lstStyle/>
          <a:p>
            <a:endParaRPr lang="en-US" dirty="0"/>
          </a:p>
        </p:txBody>
      </p:sp>
      <p:sp>
        <p:nvSpPr>
          <p:cNvPr id="9" name="Title 1"/>
          <p:cNvSpPr txBox="1">
            <a:spLocks/>
          </p:cNvSpPr>
          <p:nvPr/>
        </p:nvSpPr>
        <p:spPr>
          <a:xfrm>
            <a:off x="3702043" y="244266"/>
            <a:ext cx="4787914" cy="5572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spc="50" dirty="0">
                <a:solidFill>
                  <a:schemeClr val="tx2"/>
                </a:solidFill>
                <a:cs typeface="Traditional Arabic"/>
              </a:rPr>
              <a:t>Benchmark</a:t>
            </a:r>
            <a:br>
              <a:rPr lang="en-US" sz="3200" b="1" spc="50" dirty="0">
                <a:solidFill>
                  <a:schemeClr val="tx2"/>
                </a:solidFill>
                <a:cs typeface="Traditional Arabic"/>
              </a:rPr>
            </a:br>
            <a:endParaRPr lang="en-US" sz="3200" b="1" dirty="0">
              <a:solidFill>
                <a:schemeClr val="tx2"/>
              </a:solidFill>
              <a:latin typeface="Traditional Arabic"/>
              <a:cs typeface="Traditional Arabic"/>
            </a:endParaRPr>
          </a:p>
        </p:txBody>
      </p:sp>
      <p:sp>
        <p:nvSpPr>
          <p:cNvPr id="4" name="TextBox 3">
            <a:extLst>
              <a:ext uri="{FF2B5EF4-FFF2-40B4-BE49-F238E27FC236}">
                <a16:creationId xmlns:a16="http://schemas.microsoft.com/office/drawing/2014/main" id="{6ADABD3A-1DDD-45DD-9FD5-B3B3AD5ECF4D}"/>
              </a:ext>
            </a:extLst>
          </p:cNvPr>
          <p:cNvSpPr txBox="1"/>
          <p:nvPr/>
        </p:nvSpPr>
        <p:spPr>
          <a:xfrm>
            <a:off x="3580017" y="2873057"/>
            <a:ext cx="336557" cy="338554"/>
          </a:xfrm>
          <a:prstGeom prst="rect">
            <a:avLst/>
          </a:prstGeom>
          <a:noFill/>
        </p:spPr>
        <p:txBody>
          <a:bodyPr wrap="square" rtlCol="0">
            <a:spAutoFit/>
          </a:bodyPr>
          <a:lstStyle/>
          <a:p>
            <a:r>
              <a:rPr lang="en-US" sz="1600" dirty="0"/>
              <a:t>B</a:t>
            </a:r>
          </a:p>
        </p:txBody>
      </p:sp>
      <p:sp>
        <p:nvSpPr>
          <p:cNvPr id="11" name="TextBox 10">
            <a:extLst>
              <a:ext uri="{FF2B5EF4-FFF2-40B4-BE49-F238E27FC236}">
                <a16:creationId xmlns:a16="http://schemas.microsoft.com/office/drawing/2014/main" id="{A95F180A-74B3-44C6-8507-39B2173C19E6}"/>
              </a:ext>
            </a:extLst>
          </p:cNvPr>
          <p:cNvSpPr txBox="1"/>
          <p:nvPr/>
        </p:nvSpPr>
        <p:spPr>
          <a:xfrm>
            <a:off x="5849140" y="2926524"/>
            <a:ext cx="336557" cy="338554"/>
          </a:xfrm>
          <a:prstGeom prst="rect">
            <a:avLst/>
          </a:prstGeom>
          <a:noFill/>
        </p:spPr>
        <p:txBody>
          <a:bodyPr wrap="square" rtlCol="0">
            <a:spAutoFit/>
          </a:bodyPr>
          <a:lstStyle/>
          <a:p>
            <a:r>
              <a:rPr lang="en-US" sz="1600" dirty="0"/>
              <a:t>M</a:t>
            </a:r>
          </a:p>
        </p:txBody>
      </p:sp>
      <p:sp>
        <p:nvSpPr>
          <p:cNvPr id="13" name="TextBox 12">
            <a:extLst>
              <a:ext uri="{FF2B5EF4-FFF2-40B4-BE49-F238E27FC236}">
                <a16:creationId xmlns:a16="http://schemas.microsoft.com/office/drawing/2014/main" id="{073DD060-9154-4290-8F10-13BD687DD7DB}"/>
              </a:ext>
            </a:extLst>
          </p:cNvPr>
          <p:cNvSpPr txBox="1"/>
          <p:nvPr/>
        </p:nvSpPr>
        <p:spPr>
          <a:xfrm>
            <a:off x="5849139" y="3439929"/>
            <a:ext cx="336557" cy="338554"/>
          </a:xfrm>
          <a:prstGeom prst="rect">
            <a:avLst/>
          </a:prstGeom>
          <a:noFill/>
        </p:spPr>
        <p:txBody>
          <a:bodyPr wrap="square" rtlCol="0">
            <a:spAutoFit/>
          </a:bodyPr>
          <a:lstStyle/>
          <a:p>
            <a:r>
              <a:rPr lang="en-US" sz="1600" dirty="0"/>
              <a:t>M</a:t>
            </a:r>
          </a:p>
        </p:txBody>
      </p:sp>
      <p:sp>
        <p:nvSpPr>
          <p:cNvPr id="15" name="TextBox 14">
            <a:extLst>
              <a:ext uri="{FF2B5EF4-FFF2-40B4-BE49-F238E27FC236}">
                <a16:creationId xmlns:a16="http://schemas.microsoft.com/office/drawing/2014/main" id="{7BCB538F-368A-46A3-8D7F-DA2BF573F476}"/>
              </a:ext>
            </a:extLst>
          </p:cNvPr>
          <p:cNvSpPr txBox="1"/>
          <p:nvPr/>
        </p:nvSpPr>
        <p:spPr>
          <a:xfrm>
            <a:off x="3568295" y="3429491"/>
            <a:ext cx="336557" cy="338554"/>
          </a:xfrm>
          <a:prstGeom prst="rect">
            <a:avLst/>
          </a:prstGeom>
          <a:noFill/>
        </p:spPr>
        <p:txBody>
          <a:bodyPr wrap="square" rtlCol="0">
            <a:spAutoFit/>
          </a:bodyPr>
          <a:lstStyle/>
          <a:p>
            <a:r>
              <a:rPr lang="en-US" sz="1600" dirty="0"/>
              <a:t>B</a:t>
            </a:r>
          </a:p>
        </p:txBody>
      </p:sp>
      <p:sp>
        <p:nvSpPr>
          <p:cNvPr id="17" name="TextBox 16">
            <a:extLst>
              <a:ext uri="{FF2B5EF4-FFF2-40B4-BE49-F238E27FC236}">
                <a16:creationId xmlns:a16="http://schemas.microsoft.com/office/drawing/2014/main" id="{8CA051F1-F138-4B0A-B4D1-C9BC73EB996D}"/>
              </a:ext>
            </a:extLst>
          </p:cNvPr>
          <p:cNvSpPr txBox="1"/>
          <p:nvPr/>
        </p:nvSpPr>
        <p:spPr>
          <a:xfrm>
            <a:off x="3568295" y="3917389"/>
            <a:ext cx="336557" cy="338554"/>
          </a:xfrm>
          <a:prstGeom prst="rect">
            <a:avLst/>
          </a:prstGeom>
          <a:noFill/>
        </p:spPr>
        <p:txBody>
          <a:bodyPr wrap="square" rtlCol="0">
            <a:spAutoFit/>
          </a:bodyPr>
          <a:lstStyle/>
          <a:p>
            <a:r>
              <a:rPr lang="en-US" sz="1600" dirty="0"/>
              <a:t>B</a:t>
            </a:r>
          </a:p>
        </p:txBody>
      </p:sp>
      <p:sp>
        <p:nvSpPr>
          <p:cNvPr id="19" name="TextBox 18">
            <a:extLst>
              <a:ext uri="{FF2B5EF4-FFF2-40B4-BE49-F238E27FC236}">
                <a16:creationId xmlns:a16="http://schemas.microsoft.com/office/drawing/2014/main" id="{211057B4-C92B-4433-A167-DDEE64DB9360}"/>
              </a:ext>
            </a:extLst>
          </p:cNvPr>
          <p:cNvSpPr txBox="1"/>
          <p:nvPr/>
        </p:nvSpPr>
        <p:spPr>
          <a:xfrm>
            <a:off x="3580018" y="4367958"/>
            <a:ext cx="336557" cy="338554"/>
          </a:xfrm>
          <a:prstGeom prst="rect">
            <a:avLst/>
          </a:prstGeom>
          <a:noFill/>
        </p:spPr>
        <p:txBody>
          <a:bodyPr wrap="square" rtlCol="0">
            <a:spAutoFit/>
          </a:bodyPr>
          <a:lstStyle/>
          <a:p>
            <a:r>
              <a:rPr lang="en-US" sz="1600" dirty="0"/>
              <a:t>B</a:t>
            </a:r>
          </a:p>
        </p:txBody>
      </p:sp>
      <p:sp>
        <p:nvSpPr>
          <p:cNvPr id="21" name="TextBox 20">
            <a:extLst>
              <a:ext uri="{FF2B5EF4-FFF2-40B4-BE49-F238E27FC236}">
                <a16:creationId xmlns:a16="http://schemas.microsoft.com/office/drawing/2014/main" id="{61A6CC48-B388-4387-BEE6-69571D8422BC}"/>
              </a:ext>
            </a:extLst>
          </p:cNvPr>
          <p:cNvSpPr txBox="1"/>
          <p:nvPr/>
        </p:nvSpPr>
        <p:spPr>
          <a:xfrm>
            <a:off x="3584706" y="4899765"/>
            <a:ext cx="336557" cy="338554"/>
          </a:xfrm>
          <a:prstGeom prst="rect">
            <a:avLst/>
          </a:prstGeom>
          <a:noFill/>
        </p:spPr>
        <p:txBody>
          <a:bodyPr wrap="square" rtlCol="0">
            <a:spAutoFit/>
          </a:bodyPr>
          <a:lstStyle/>
          <a:p>
            <a:r>
              <a:rPr lang="en-US" sz="1600" dirty="0"/>
              <a:t>B</a:t>
            </a:r>
          </a:p>
        </p:txBody>
      </p:sp>
      <p:sp>
        <p:nvSpPr>
          <p:cNvPr id="23" name="TextBox 22">
            <a:extLst>
              <a:ext uri="{FF2B5EF4-FFF2-40B4-BE49-F238E27FC236}">
                <a16:creationId xmlns:a16="http://schemas.microsoft.com/office/drawing/2014/main" id="{5888A166-4F41-4A76-92AE-D62048218845}"/>
              </a:ext>
            </a:extLst>
          </p:cNvPr>
          <p:cNvSpPr txBox="1"/>
          <p:nvPr/>
        </p:nvSpPr>
        <p:spPr>
          <a:xfrm>
            <a:off x="3584707" y="5282002"/>
            <a:ext cx="336557" cy="338554"/>
          </a:xfrm>
          <a:prstGeom prst="rect">
            <a:avLst/>
          </a:prstGeom>
          <a:noFill/>
        </p:spPr>
        <p:txBody>
          <a:bodyPr wrap="square" rtlCol="0">
            <a:spAutoFit/>
          </a:bodyPr>
          <a:lstStyle/>
          <a:p>
            <a:r>
              <a:rPr lang="en-US" sz="1600" dirty="0"/>
              <a:t>B</a:t>
            </a:r>
          </a:p>
        </p:txBody>
      </p:sp>
      <p:sp>
        <p:nvSpPr>
          <p:cNvPr id="25" name="TextBox 24">
            <a:extLst>
              <a:ext uri="{FF2B5EF4-FFF2-40B4-BE49-F238E27FC236}">
                <a16:creationId xmlns:a16="http://schemas.microsoft.com/office/drawing/2014/main" id="{E64926C9-9D36-41B0-9DB8-559D84A830DE}"/>
              </a:ext>
            </a:extLst>
          </p:cNvPr>
          <p:cNvSpPr txBox="1"/>
          <p:nvPr/>
        </p:nvSpPr>
        <p:spPr>
          <a:xfrm>
            <a:off x="3584708" y="5653639"/>
            <a:ext cx="336557" cy="338554"/>
          </a:xfrm>
          <a:prstGeom prst="rect">
            <a:avLst/>
          </a:prstGeom>
          <a:noFill/>
        </p:spPr>
        <p:txBody>
          <a:bodyPr wrap="square" rtlCol="0">
            <a:spAutoFit/>
          </a:bodyPr>
          <a:lstStyle/>
          <a:p>
            <a:r>
              <a:rPr lang="en-US" sz="1600" dirty="0"/>
              <a:t>B</a:t>
            </a:r>
          </a:p>
        </p:txBody>
      </p:sp>
      <p:sp>
        <p:nvSpPr>
          <p:cNvPr id="27" name="TextBox 26">
            <a:extLst>
              <a:ext uri="{FF2B5EF4-FFF2-40B4-BE49-F238E27FC236}">
                <a16:creationId xmlns:a16="http://schemas.microsoft.com/office/drawing/2014/main" id="{1DB3E544-562C-40EC-AE05-EE94349688F4}"/>
              </a:ext>
            </a:extLst>
          </p:cNvPr>
          <p:cNvSpPr txBox="1"/>
          <p:nvPr/>
        </p:nvSpPr>
        <p:spPr>
          <a:xfrm>
            <a:off x="5828977" y="4393734"/>
            <a:ext cx="336557" cy="338554"/>
          </a:xfrm>
          <a:prstGeom prst="rect">
            <a:avLst/>
          </a:prstGeom>
          <a:noFill/>
        </p:spPr>
        <p:txBody>
          <a:bodyPr wrap="square" rtlCol="0">
            <a:spAutoFit/>
          </a:bodyPr>
          <a:lstStyle/>
          <a:p>
            <a:r>
              <a:rPr lang="en-US" sz="1600" dirty="0"/>
              <a:t>M</a:t>
            </a:r>
          </a:p>
        </p:txBody>
      </p:sp>
      <p:sp>
        <p:nvSpPr>
          <p:cNvPr id="29" name="TextBox 28">
            <a:extLst>
              <a:ext uri="{FF2B5EF4-FFF2-40B4-BE49-F238E27FC236}">
                <a16:creationId xmlns:a16="http://schemas.microsoft.com/office/drawing/2014/main" id="{6E159094-E766-44AB-BF79-9BD44D5737A5}"/>
              </a:ext>
            </a:extLst>
          </p:cNvPr>
          <p:cNvSpPr txBox="1"/>
          <p:nvPr/>
        </p:nvSpPr>
        <p:spPr>
          <a:xfrm>
            <a:off x="5828977" y="4883219"/>
            <a:ext cx="336557" cy="338554"/>
          </a:xfrm>
          <a:prstGeom prst="rect">
            <a:avLst/>
          </a:prstGeom>
          <a:noFill/>
        </p:spPr>
        <p:txBody>
          <a:bodyPr wrap="square" rtlCol="0">
            <a:spAutoFit/>
          </a:bodyPr>
          <a:lstStyle/>
          <a:p>
            <a:r>
              <a:rPr lang="en-US" sz="1600" dirty="0"/>
              <a:t>M</a:t>
            </a:r>
          </a:p>
        </p:txBody>
      </p:sp>
      <p:sp>
        <p:nvSpPr>
          <p:cNvPr id="31" name="TextBox 30">
            <a:extLst>
              <a:ext uri="{FF2B5EF4-FFF2-40B4-BE49-F238E27FC236}">
                <a16:creationId xmlns:a16="http://schemas.microsoft.com/office/drawing/2014/main" id="{93A084CD-B73A-434A-8985-BEA919D0A9A5}"/>
              </a:ext>
            </a:extLst>
          </p:cNvPr>
          <p:cNvSpPr txBox="1"/>
          <p:nvPr/>
        </p:nvSpPr>
        <p:spPr>
          <a:xfrm>
            <a:off x="5849140" y="5210246"/>
            <a:ext cx="336557" cy="338554"/>
          </a:xfrm>
          <a:prstGeom prst="rect">
            <a:avLst/>
          </a:prstGeom>
          <a:noFill/>
        </p:spPr>
        <p:txBody>
          <a:bodyPr wrap="square" rtlCol="0">
            <a:spAutoFit/>
          </a:bodyPr>
          <a:lstStyle/>
          <a:p>
            <a:r>
              <a:rPr lang="en-US" sz="1600" dirty="0"/>
              <a:t>M</a:t>
            </a:r>
          </a:p>
        </p:txBody>
      </p:sp>
      <p:sp>
        <p:nvSpPr>
          <p:cNvPr id="33" name="TextBox 32">
            <a:extLst>
              <a:ext uri="{FF2B5EF4-FFF2-40B4-BE49-F238E27FC236}">
                <a16:creationId xmlns:a16="http://schemas.microsoft.com/office/drawing/2014/main" id="{882FD243-43E7-4255-9EF2-71426D113090}"/>
              </a:ext>
            </a:extLst>
          </p:cNvPr>
          <p:cNvSpPr txBox="1"/>
          <p:nvPr/>
        </p:nvSpPr>
        <p:spPr>
          <a:xfrm>
            <a:off x="5849138" y="5625523"/>
            <a:ext cx="336557" cy="338554"/>
          </a:xfrm>
          <a:prstGeom prst="rect">
            <a:avLst/>
          </a:prstGeom>
          <a:noFill/>
        </p:spPr>
        <p:txBody>
          <a:bodyPr wrap="square" rtlCol="0">
            <a:spAutoFit/>
          </a:bodyPr>
          <a:lstStyle/>
          <a:p>
            <a:r>
              <a:rPr lang="en-US" sz="1600" dirty="0"/>
              <a:t>M</a:t>
            </a:r>
          </a:p>
        </p:txBody>
      </p:sp>
      <p:sp>
        <p:nvSpPr>
          <p:cNvPr id="35" name="TextBox 34">
            <a:extLst>
              <a:ext uri="{FF2B5EF4-FFF2-40B4-BE49-F238E27FC236}">
                <a16:creationId xmlns:a16="http://schemas.microsoft.com/office/drawing/2014/main" id="{E2160C6C-A496-4B7B-A2C1-697792BC8B40}"/>
              </a:ext>
            </a:extLst>
          </p:cNvPr>
          <p:cNvSpPr txBox="1"/>
          <p:nvPr/>
        </p:nvSpPr>
        <p:spPr>
          <a:xfrm>
            <a:off x="5859848" y="3911940"/>
            <a:ext cx="336557" cy="338554"/>
          </a:xfrm>
          <a:prstGeom prst="rect">
            <a:avLst/>
          </a:prstGeom>
          <a:noFill/>
        </p:spPr>
        <p:txBody>
          <a:bodyPr wrap="square" rtlCol="0">
            <a:spAutoFit/>
          </a:bodyPr>
          <a:lstStyle/>
          <a:p>
            <a:r>
              <a:rPr lang="en-US" sz="1600" dirty="0"/>
              <a:t>M</a:t>
            </a:r>
          </a:p>
        </p:txBody>
      </p:sp>
    </p:spTree>
    <p:extLst>
      <p:ext uri="{BB962C8B-B14F-4D97-AF65-F5344CB8AC3E}">
        <p14:creationId xmlns:p14="http://schemas.microsoft.com/office/powerpoint/2010/main" val="3212308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134" y="136524"/>
            <a:ext cx="10944112" cy="1114425"/>
          </a:xfrm>
        </p:spPr>
        <p:txBody>
          <a:bodyPr>
            <a:normAutofit/>
          </a:bodyPr>
          <a:lstStyle/>
          <a:p>
            <a:pPr marL="457200" indent="-457200" algn="l" rtl="0">
              <a:buFont typeface="Wingdings" panose="05000000000000000000" pitchFamily="2" charset="2"/>
              <a:buChar char="q"/>
            </a:pPr>
            <a:r>
              <a:rPr lang="en-US" sz="2800" spc="50" dirty="0">
                <a:solidFill>
                  <a:srgbClr val="A39161"/>
                </a:solidFill>
                <a:ea typeface="+mj-ea"/>
                <a:cs typeface="Traditional Arabic"/>
              </a:rPr>
              <a:t>KU Financial Sustainability </a:t>
            </a:r>
            <a:endParaRPr lang="en-US" sz="2600" dirty="0">
              <a:solidFill>
                <a:srgbClr val="A39161"/>
              </a:solidFill>
              <a:latin typeface="Traditional Arabic"/>
              <a:cs typeface="Traditional Arabic"/>
            </a:endParaRPr>
          </a:p>
        </p:txBody>
      </p:sp>
      <p:sp>
        <p:nvSpPr>
          <p:cNvPr id="3" name="Content Placeholder 2"/>
          <p:cNvSpPr>
            <a:spLocks noGrp="1"/>
          </p:cNvSpPr>
          <p:nvPr>
            <p:ph idx="1"/>
          </p:nvPr>
        </p:nvSpPr>
        <p:spPr>
          <a:xfrm>
            <a:off x="623944" y="1076461"/>
            <a:ext cx="11144922" cy="1267640"/>
          </a:xfrm>
        </p:spPr>
        <p:txBody>
          <a:bodyPr>
            <a:normAutofit/>
          </a:bodyPr>
          <a:lstStyle/>
          <a:p>
            <a:pPr marL="0" indent="0" algn="justLow" rtl="0">
              <a:buNone/>
            </a:pPr>
            <a:endParaRPr lang="en-US" sz="2400" b="0" dirty="0">
              <a:solidFill>
                <a:schemeClr val="tx2">
                  <a:lumMod val="75000"/>
                </a:schemeClr>
              </a:solidFill>
            </a:endParaRPr>
          </a:p>
          <a:p>
            <a:pPr algn="justLow" rtl="0"/>
            <a:endParaRPr lang="en-US" sz="2400" b="0" dirty="0">
              <a:solidFill>
                <a:schemeClr val="tx2">
                  <a:lumMod val="75000"/>
                </a:schemeClr>
              </a:solidFill>
            </a:endParaRPr>
          </a:p>
        </p:txBody>
      </p:sp>
      <p:sp>
        <p:nvSpPr>
          <p:cNvPr id="6" name="Slide Number Placeholder 5"/>
          <p:cNvSpPr>
            <a:spLocks noGrp="1"/>
          </p:cNvSpPr>
          <p:nvPr>
            <p:ph type="sldNum" sz="quarter" idx="12"/>
          </p:nvPr>
        </p:nvSpPr>
        <p:spPr/>
        <p:txBody>
          <a:bodyPr/>
          <a:lstStyle/>
          <a:p>
            <a:fld id="{1E68DD1B-5CD8-424B-8173-19E182143E0A}" type="slidenum">
              <a:rPr lang="en-US" smtClean="0"/>
              <a:t>11</a:t>
            </a:fld>
            <a:endParaRPr lang="en-US" dirty="0"/>
          </a:p>
        </p:txBody>
      </p:sp>
      <p:sp>
        <p:nvSpPr>
          <p:cNvPr id="5" name="Footer Placeholder 4">
            <a:extLst>
              <a:ext uri="{FF2B5EF4-FFF2-40B4-BE49-F238E27FC236}">
                <a16:creationId xmlns:a16="http://schemas.microsoft.com/office/drawing/2014/main" id="{B2BA5F31-06E3-4A42-962D-6DE227FD313E}"/>
              </a:ext>
            </a:extLst>
          </p:cNvPr>
          <p:cNvSpPr>
            <a:spLocks noGrp="1"/>
          </p:cNvSpPr>
          <p:nvPr>
            <p:ph type="ftr" sz="quarter" idx="11"/>
          </p:nvPr>
        </p:nvSpPr>
        <p:spPr/>
        <p:txBody>
          <a:bodyPr/>
          <a:lstStyle/>
          <a:p>
            <a:endParaRPr lang="en-US" dirty="0"/>
          </a:p>
        </p:txBody>
      </p:sp>
      <p:sp>
        <p:nvSpPr>
          <p:cNvPr id="9" name="Title 1"/>
          <p:cNvSpPr txBox="1">
            <a:spLocks/>
          </p:cNvSpPr>
          <p:nvPr/>
        </p:nvSpPr>
        <p:spPr>
          <a:xfrm>
            <a:off x="3702043" y="244266"/>
            <a:ext cx="4787914" cy="5572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spc="50" dirty="0">
                <a:solidFill>
                  <a:schemeClr val="tx2"/>
                </a:solidFill>
                <a:cs typeface="Traditional Arabic"/>
              </a:rPr>
              <a:t/>
            </a:r>
            <a:br>
              <a:rPr lang="en-US" sz="3200" b="1" spc="50" dirty="0">
                <a:solidFill>
                  <a:schemeClr val="tx2"/>
                </a:solidFill>
                <a:cs typeface="Traditional Arabic"/>
              </a:rPr>
            </a:br>
            <a:endParaRPr lang="en-US" sz="3200" b="1" dirty="0">
              <a:solidFill>
                <a:schemeClr val="tx2"/>
              </a:solidFill>
              <a:latin typeface="Traditional Arabic"/>
              <a:cs typeface="Traditional Arabic"/>
            </a:endParaRPr>
          </a:p>
        </p:txBody>
      </p:sp>
      <p:sp>
        <p:nvSpPr>
          <p:cNvPr id="24" name="TextBox 23">
            <a:extLst>
              <a:ext uri="{FF2B5EF4-FFF2-40B4-BE49-F238E27FC236}">
                <a16:creationId xmlns:a16="http://schemas.microsoft.com/office/drawing/2014/main" id="{2CE11408-2D64-4F6C-AF87-8C478ED5EB43}"/>
              </a:ext>
            </a:extLst>
          </p:cNvPr>
          <p:cNvSpPr txBox="1"/>
          <p:nvPr/>
        </p:nvSpPr>
        <p:spPr>
          <a:xfrm>
            <a:off x="609600" y="1477547"/>
            <a:ext cx="10489533" cy="3785652"/>
          </a:xfrm>
          <a:prstGeom prst="rect">
            <a:avLst/>
          </a:prstGeom>
          <a:noFill/>
        </p:spPr>
        <p:txBody>
          <a:bodyPr wrap="square">
            <a:spAutoFit/>
          </a:bodyPr>
          <a:lstStyle/>
          <a:p>
            <a:pPr marL="285750" indent="-285750">
              <a:buFont typeface="Wingdings" panose="05000000000000000000" pitchFamily="2" charset="2"/>
              <a:buChar char="Ø"/>
            </a:pPr>
            <a:r>
              <a:rPr lang="en-US" sz="2400" dirty="0"/>
              <a:t>In order to achieve better financial sustainability the following point highly recommended :-</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
            </a:pPr>
            <a:r>
              <a:rPr lang="en-US" sz="2400" dirty="0"/>
              <a:t>KU need to retain its revenue generated from normal operation activities (such as tuition fees, sponsorship fees, other students related fees, and other fees against using KU facilities)</a:t>
            </a:r>
          </a:p>
          <a:p>
            <a:pPr marL="285750" indent="-285750">
              <a:buFont typeface="Wingdings" panose="05000000000000000000" pitchFamily="2" charset="2"/>
              <a:buChar char="§"/>
            </a:pPr>
            <a:r>
              <a:rPr lang="en-US" sz="2400" dirty="0"/>
              <a:t>KU Financial autonomy and independence by providing secured budget based on students' headcounts and research inputs.</a:t>
            </a:r>
          </a:p>
          <a:p>
            <a:pPr marL="285750" indent="-285750">
              <a:buFont typeface="Wingdings" panose="05000000000000000000" pitchFamily="2" charset="2"/>
              <a:buChar char="§"/>
            </a:pPr>
            <a:r>
              <a:rPr lang="en-US" sz="2400" dirty="0"/>
              <a:t>Enhance the Endowment by increasing its principle, will enable generating sustainable revenue to cover the university research.</a:t>
            </a:r>
          </a:p>
        </p:txBody>
      </p:sp>
    </p:spTree>
    <p:extLst>
      <p:ext uri="{BB962C8B-B14F-4D97-AF65-F5344CB8AC3E}">
        <p14:creationId xmlns:p14="http://schemas.microsoft.com/office/powerpoint/2010/main" val="125025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5507" y="2896459"/>
            <a:ext cx="9044844" cy="1143000"/>
          </a:xfrm>
        </p:spPr>
        <p:txBody>
          <a:bodyPr>
            <a:normAutofit fontScale="90000"/>
          </a:bodyPr>
          <a:lstStyle/>
          <a:p>
            <a:pPr algn="l" rtl="0"/>
            <a:r>
              <a:rPr lang="en-US" dirty="0">
                <a:solidFill>
                  <a:schemeClr val="bg1"/>
                </a:solidFill>
              </a:rPr>
              <a:t>Part 4</a:t>
            </a:r>
            <a:r>
              <a:rPr lang="en-US" b="1" dirty="0">
                <a:solidFill>
                  <a:schemeClr val="bg1"/>
                </a:solidFill>
              </a:rPr>
              <a:t/>
            </a:r>
            <a:br>
              <a:rPr lang="en-US" b="1" dirty="0">
                <a:solidFill>
                  <a:schemeClr val="bg1"/>
                </a:solidFill>
              </a:rPr>
            </a:br>
            <a:r>
              <a:rPr lang="en-US" b="1" dirty="0">
                <a:solidFill>
                  <a:schemeClr val="bg1"/>
                </a:solidFill>
              </a:rPr>
              <a:t>Economic Model for Leveraging KU Facilities </a:t>
            </a:r>
            <a:endParaRPr lang="en-US" sz="3100" dirty="0">
              <a:solidFill>
                <a:schemeClr val="bg1"/>
              </a:solidFill>
            </a:endParaRPr>
          </a:p>
        </p:txBody>
      </p:sp>
      <p:pic>
        <p:nvPicPr>
          <p:cNvPr id="3" name="Picture 2">
            <a:extLst>
              <a:ext uri="{FF2B5EF4-FFF2-40B4-BE49-F238E27FC236}">
                <a16:creationId xmlns:a16="http://schemas.microsoft.com/office/drawing/2014/main" id="{CEA79536-344B-4703-95C3-7F5AD0BFB3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528" y="277065"/>
            <a:ext cx="2952328" cy="576064"/>
          </a:xfrm>
          <a:prstGeom prst="rect">
            <a:avLst/>
          </a:prstGeom>
        </p:spPr>
      </p:pic>
      <p:sp>
        <p:nvSpPr>
          <p:cNvPr id="4" name="Slide Number Placeholder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12</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049888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120" y="548556"/>
            <a:ext cx="10944112" cy="1114425"/>
          </a:xfrm>
        </p:spPr>
        <p:txBody>
          <a:bodyPr>
            <a:normAutofit fontScale="90000"/>
          </a:bodyPr>
          <a:lstStyle/>
          <a:p>
            <a:pPr marL="457200" indent="-457200" algn="l" rtl="0">
              <a:buFont typeface="Wingdings" panose="05000000000000000000" pitchFamily="2" charset="2"/>
              <a:buChar char="q"/>
            </a:pPr>
            <a:r>
              <a:rPr lang="en-US" sz="2800" spc="50" dirty="0">
                <a:solidFill>
                  <a:srgbClr val="A39161"/>
                </a:solidFill>
                <a:ea typeface="+mj-ea"/>
                <a:cs typeface="Traditional Arabic"/>
              </a:rPr>
              <a:t>Leveraging KU facilities:</a:t>
            </a:r>
            <a:br>
              <a:rPr lang="en-US" sz="2800" spc="50" dirty="0">
                <a:solidFill>
                  <a:srgbClr val="A39161"/>
                </a:solidFill>
                <a:ea typeface="+mj-ea"/>
                <a:cs typeface="Traditional Arabic"/>
              </a:rPr>
            </a:br>
            <a:r>
              <a:rPr lang="en-US" sz="2600" dirty="0">
                <a:solidFill>
                  <a:srgbClr val="A39161"/>
                </a:solidFill>
                <a:latin typeface="Traditional Arabic"/>
                <a:cs typeface="Traditional Arabic"/>
              </a:rPr>
              <a:t/>
            </a:r>
            <a:br>
              <a:rPr lang="en-US" sz="2600" dirty="0">
                <a:solidFill>
                  <a:srgbClr val="A39161"/>
                </a:solidFill>
                <a:latin typeface="Traditional Arabic"/>
                <a:cs typeface="Traditional Arabic"/>
              </a:rPr>
            </a:br>
            <a:endParaRPr lang="en-US" sz="2600" dirty="0">
              <a:solidFill>
                <a:srgbClr val="A39161"/>
              </a:solidFill>
              <a:latin typeface="Traditional Arabic"/>
              <a:cs typeface="Traditional Arabic"/>
            </a:endParaRPr>
          </a:p>
        </p:txBody>
      </p:sp>
      <p:sp>
        <p:nvSpPr>
          <p:cNvPr id="3" name="Content Placeholder 2"/>
          <p:cNvSpPr>
            <a:spLocks noGrp="1"/>
          </p:cNvSpPr>
          <p:nvPr>
            <p:ph idx="1"/>
          </p:nvPr>
        </p:nvSpPr>
        <p:spPr>
          <a:xfrm>
            <a:off x="623944" y="1076461"/>
            <a:ext cx="11144922" cy="1267640"/>
          </a:xfrm>
        </p:spPr>
        <p:txBody>
          <a:bodyPr>
            <a:normAutofit/>
          </a:bodyPr>
          <a:lstStyle/>
          <a:p>
            <a:pPr marL="0" indent="0" algn="justLow" rtl="0">
              <a:buNone/>
            </a:pPr>
            <a:endParaRPr lang="en-US" sz="2400" b="0" dirty="0">
              <a:solidFill>
                <a:schemeClr val="tx2">
                  <a:lumMod val="75000"/>
                </a:schemeClr>
              </a:solidFill>
            </a:endParaRPr>
          </a:p>
          <a:p>
            <a:pPr algn="justLow" rtl="0"/>
            <a:endParaRPr lang="en-US" sz="2400" b="0" dirty="0">
              <a:solidFill>
                <a:schemeClr val="tx2">
                  <a:lumMod val="75000"/>
                </a:schemeClr>
              </a:solidFill>
            </a:endParaRPr>
          </a:p>
        </p:txBody>
      </p:sp>
      <p:sp>
        <p:nvSpPr>
          <p:cNvPr id="6" name="Slide Number Placeholder 5"/>
          <p:cNvSpPr>
            <a:spLocks noGrp="1"/>
          </p:cNvSpPr>
          <p:nvPr>
            <p:ph type="sldNum" sz="quarter" idx="12"/>
          </p:nvPr>
        </p:nvSpPr>
        <p:spPr/>
        <p:txBody>
          <a:bodyPr/>
          <a:lstStyle/>
          <a:p>
            <a:fld id="{1E68DD1B-5CD8-424B-8173-19E182143E0A}" type="slidenum">
              <a:rPr lang="en-US" smtClean="0"/>
              <a:t>13</a:t>
            </a:fld>
            <a:endParaRPr lang="en-US" dirty="0"/>
          </a:p>
        </p:txBody>
      </p:sp>
      <p:sp>
        <p:nvSpPr>
          <p:cNvPr id="5" name="Footer Placeholder 4">
            <a:extLst>
              <a:ext uri="{FF2B5EF4-FFF2-40B4-BE49-F238E27FC236}">
                <a16:creationId xmlns:a16="http://schemas.microsoft.com/office/drawing/2014/main" id="{B2BA5F31-06E3-4A42-962D-6DE227FD313E}"/>
              </a:ext>
            </a:extLst>
          </p:cNvPr>
          <p:cNvSpPr>
            <a:spLocks noGrp="1"/>
          </p:cNvSpPr>
          <p:nvPr>
            <p:ph type="ftr" sz="quarter" idx="11"/>
          </p:nvPr>
        </p:nvSpPr>
        <p:spPr/>
        <p:txBody>
          <a:bodyPr/>
          <a:lstStyle/>
          <a:p>
            <a:endParaRPr lang="en-US" dirty="0"/>
          </a:p>
        </p:txBody>
      </p:sp>
      <p:sp>
        <p:nvSpPr>
          <p:cNvPr id="9" name="Title 1"/>
          <p:cNvSpPr txBox="1">
            <a:spLocks/>
          </p:cNvSpPr>
          <p:nvPr/>
        </p:nvSpPr>
        <p:spPr>
          <a:xfrm>
            <a:off x="3702043" y="244266"/>
            <a:ext cx="4787914" cy="5572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spc="50" dirty="0">
                <a:solidFill>
                  <a:schemeClr val="tx2"/>
                </a:solidFill>
                <a:cs typeface="Traditional Arabic"/>
              </a:rPr>
              <a:t/>
            </a:r>
            <a:br>
              <a:rPr lang="en-US" sz="3200" b="1" spc="50" dirty="0">
                <a:solidFill>
                  <a:schemeClr val="tx2"/>
                </a:solidFill>
                <a:cs typeface="Traditional Arabic"/>
              </a:rPr>
            </a:br>
            <a:endParaRPr lang="en-US" sz="3200" b="1" dirty="0">
              <a:solidFill>
                <a:schemeClr val="tx2"/>
              </a:solidFill>
              <a:latin typeface="Traditional Arabic"/>
              <a:cs typeface="Traditional Arabic"/>
            </a:endParaRPr>
          </a:p>
        </p:txBody>
      </p:sp>
      <p:sp>
        <p:nvSpPr>
          <p:cNvPr id="4" name="TextBox 3">
            <a:extLst>
              <a:ext uri="{FF2B5EF4-FFF2-40B4-BE49-F238E27FC236}">
                <a16:creationId xmlns:a16="http://schemas.microsoft.com/office/drawing/2014/main" id="{216AF826-D962-4CF5-B5B2-8366890A0DAF}"/>
              </a:ext>
            </a:extLst>
          </p:cNvPr>
          <p:cNvSpPr txBox="1"/>
          <p:nvPr/>
        </p:nvSpPr>
        <p:spPr>
          <a:xfrm>
            <a:off x="445831" y="1329384"/>
            <a:ext cx="11323035" cy="4462760"/>
          </a:xfrm>
          <a:prstGeom prst="rect">
            <a:avLst/>
          </a:prstGeom>
          <a:noFill/>
        </p:spPr>
        <p:txBody>
          <a:bodyPr wrap="square" rtlCol="0">
            <a:spAutoFit/>
          </a:bodyPr>
          <a:lstStyle/>
          <a:p>
            <a:pPr>
              <a:spcBef>
                <a:spcPts val="0"/>
              </a:spcBef>
              <a:spcAft>
                <a:spcPts val="0"/>
              </a:spcAft>
            </a:pPr>
            <a:r>
              <a:rPr lang="en-US" sz="2000" dirty="0">
                <a:solidFill>
                  <a:srgbClr val="0E101A"/>
                </a:solidFill>
                <a:effectLst/>
              </a:rPr>
              <a:t>Abu Dhabi government invested material amount in KU infrastructure and buildings (over AED 2 B), to assure high efficiency of using this infrastructure; KU looking to contribute actively with the UAE community by allowing stakeholders to use its laboratories and venues; the following are examples of current facilities of KU:-</a:t>
            </a:r>
          </a:p>
          <a:p>
            <a:pPr>
              <a:spcBef>
                <a:spcPts val="0"/>
              </a:spcBef>
              <a:spcAft>
                <a:spcPts val="0"/>
              </a:spcAft>
            </a:pPr>
            <a:endParaRPr lang="en-US" sz="2000" dirty="0">
              <a:solidFill>
                <a:srgbClr val="0E101A"/>
              </a:solidFill>
              <a:effectLst/>
            </a:endParaRPr>
          </a:p>
          <a:p>
            <a:pPr>
              <a:spcBef>
                <a:spcPts val="0"/>
              </a:spcBef>
              <a:spcAft>
                <a:spcPts val="0"/>
              </a:spcAft>
            </a:pPr>
            <a:r>
              <a:rPr lang="en-US" sz="2000" dirty="0">
                <a:solidFill>
                  <a:srgbClr val="0E101A"/>
                </a:solidFill>
                <a:effectLst/>
              </a:rPr>
              <a:t> </a:t>
            </a:r>
            <a:r>
              <a:rPr lang="en-US" sz="2000" b="1" u="sng" dirty="0">
                <a:solidFill>
                  <a:srgbClr val="0E101A"/>
                </a:solidFill>
                <a:effectLst/>
              </a:rPr>
              <a:t>1- Laboratories</a:t>
            </a:r>
            <a:r>
              <a:rPr lang="en-US" sz="2000" dirty="0">
                <a:solidFill>
                  <a:srgbClr val="0E101A"/>
                </a:solidFill>
                <a:effectLst/>
              </a:rPr>
              <a:t>: KU own state of art group of laboratories that had built it over the previous years, using the best </a:t>
            </a:r>
            <a:r>
              <a:rPr lang="en-US" sz="2000" dirty="0">
                <a:solidFill>
                  <a:srgbClr val="0E101A"/>
                </a:solidFill>
              </a:rPr>
              <a:t>practice and high technology laboratories for educational activities, research, and community </a:t>
            </a:r>
            <a:r>
              <a:rPr lang="en-US" sz="2000" dirty="0"/>
              <a:t>supporting .</a:t>
            </a:r>
            <a:r>
              <a:rPr lang="en-US" sz="2000" b="0" i="0" dirty="0">
                <a:effectLst/>
                <a:latin typeface="ff-meta-web-pro-1"/>
              </a:rPr>
              <a:t> It is conveniently located in the heart of Abu Dhabi which gives additional  competitive advantage.</a:t>
            </a:r>
            <a:endParaRPr lang="en-US" sz="2000" dirty="0"/>
          </a:p>
          <a:p>
            <a:pPr>
              <a:spcBef>
                <a:spcPts val="0"/>
              </a:spcBef>
              <a:spcAft>
                <a:spcPts val="0"/>
              </a:spcAft>
            </a:pPr>
            <a:endParaRPr lang="en-US" sz="2000" dirty="0">
              <a:solidFill>
                <a:srgbClr val="0E101A"/>
              </a:solidFill>
            </a:endParaRPr>
          </a:p>
          <a:p>
            <a:pPr>
              <a:spcBef>
                <a:spcPts val="0"/>
              </a:spcBef>
              <a:spcAft>
                <a:spcPts val="0"/>
              </a:spcAft>
            </a:pPr>
            <a:r>
              <a:rPr lang="en-US" sz="2000" b="1" u="sng" dirty="0">
                <a:solidFill>
                  <a:srgbClr val="0E101A"/>
                </a:solidFill>
                <a:effectLst/>
              </a:rPr>
              <a:t>2- Other Venues</a:t>
            </a:r>
            <a:r>
              <a:rPr lang="en-US" sz="2000" dirty="0">
                <a:solidFill>
                  <a:srgbClr val="0E101A"/>
                </a:solidFill>
                <a:effectLst/>
              </a:rPr>
              <a:t>: The huge venues in KU such as- Theaters, Conference rooms, Computer labs, classrooms, Sport facilities. can be extended to the community for renting activities.</a:t>
            </a:r>
          </a:p>
          <a:p>
            <a:pPr>
              <a:spcBef>
                <a:spcPts val="0"/>
              </a:spcBef>
              <a:spcAft>
                <a:spcPts val="0"/>
              </a:spcAft>
            </a:pPr>
            <a:endParaRPr lang="en-US" sz="2000" dirty="0">
              <a:solidFill>
                <a:srgbClr val="0E101A"/>
              </a:solidFill>
              <a:effectLst/>
            </a:endParaRPr>
          </a:p>
          <a:p>
            <a:endParaRPr lang="en-US" sz="2400" dirty="0"/>
          </a:p>
        </p:txBody>
      </p:sp>
    </p:spTree>
    <p:extLst>
      <p:ext uri="{BB962C8B-B14F-4D97-AF65-F5344CB8AC3E}">
        <p14:creationId xmlns:p14="http://schemas.microsoft.com/office/powerpoint/2010/main" val="180120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120" y="548556"/>
            <a:ext cx="10944112" cy="1114425"/>
          </a:xfrm>
        </p:spPr>
        <p:txBody>
          <a:bodyPr>
            <a:normAutofit fontScale="90000"/>
          </a:bodyPr>
          <a:lstStyle/>
          <a:p>
            <a:pPr marL="457200" indent="-457200" algn="l" rtl="0">
              <a:buFont typeface="Wingdings" panose="05000000000000000000" pitchFamily="2" charset="2"/>
              <a:buChar char="q"/>
            </a:pPr>
            <a:r>
              <a:rPr lang="en-US" sz="2800" spc="50" dirty="0">
                <a:solidFill>
                  <a:srgbClr val="A39161"/>
                </a:solidFill>
                <a:ea typeface="+mj-ea"/>
                <a:cs typeface="Traditional Arabic"/>
              </a:rPr>
              <a:t>Leveraging KU facilities (continue..)</a:t>
            </a:r>
            <a:br>
              <a:rPr lang="en-US" sz="2800" spc="50" dirty="0">
                <a:solidFill>
                  <a:srgbClr val="A39161"/>
                </a:solidFill>
                <a:ea typeface="+mj-ea"/>
                <a:cs typeface="Traditional Arabic"/>
              </a:rPr>
            </a:br>
            <a:r>
              <a:rPr lang="en-US" sz="2600" dirty="0">
                <a:solidFill>
                  <a:srgbClr val="A39161"/>
                </a:solidFill>
                <a:latin typeface="Traditional Arabic"/>
                <a:cs typeface="Traditional Arabic"/>
              </a:rPr>
              <a:t/>
            </a:r>
            <a:br>
              <a:rPr lang="en-US" sz="2600" dirty="0">
                <a:solidFill>
                  <a:srgbClr val="A39161"/>
                </a:solidFill>
                <a:latin typeface="Traditional Arabic"/>
                <a:cs typeface="Traditional Arabic"/>
              </a:rPr>
            </a:br>
            <a:r>
              <a:rPr lang="en-US" sz="2600" dirty="0">
                <a:solidFill>
                  <a:srgbClr val="A39161"/>
                </a:solidFill>
                <a:latin typeface="Traditional Arabic"/>
                <a:cs typeface="Traditional Arabic"/>
              </a:rPr>
              <a:t>Recommendations :-</a:t>
            </a:r>
          </a:p>
        </p:txBody>
      </p:sp>
      <p:sp>
        <p:nvSpPr>
          <p:cNvPr id="3" name="Content Placeholder 2"/>
          <p:cNvSpPr>
            <a:spLocks noGrp="1"/>
          </p:cNvSpPr>
          <p:nvPr>
            <p:ph idx="1"/>
          </p:nvPr>
        </p:nvSpPr>
        <p:spPr>
          <a:xfrm>
            <a:off x="623944" y="1076461"/>
            <a:ext cx="11144922" cy="1267640"/>
          </a:xfrm>
        </p:spPr>
        <p:txBody>
          <a:bodyPr>
            <a:normAutofit/>
          </a:bodyPr>
          <a:lstStyle/>
          <a:p>
            <a:pPr marL="0" indent="0" algn="justLow" rtl="0">
              <a:buNone/>
            </a:pPr>
            <a:endParaRPr lang="en-US" sz="2400" b="0" dirty="0">
              <a:solidFill>
                <a:schemeClr val="tx2">
                  <a:lumMod val="75000"/>
                </a:schemeClr>
              </a:solidFill>
            </a:endParaRPr>
          </a:p>
          <a:p>
            <a:pPr algn="justLow" rtl="0"/>
            <a:endParaRPr lang="en-US" sz="2400" b="0" dirty="0">
              <a:solidFill>
                <a:schemeClr val="tx2">
                  <a:lumMod val="75000"/>
                </a:schemeClr>
              </a:solidFill>
            </a:endParaRPr>
          </a:p>
        </p:txBody>
      </p:sp>
      <p:sp>
        <p:nvSpPr>
          <p:cNvPr id="6" name="Slide Number Placeholder 5"/>
          <p:cNvSpPr>
            <a:spLocks noGrp="1"/>
          </p:cNvSpPr>
          <p:nvPr>
            <p:ph type="sldNum" sz="quarter" idx="12"/>
          </p:nvPr>
        </p:nvSpPr>
        <p:spPr/>
        <p:txBody>
          <a:bodyPr/>
          <a:lstStyle/>
          <a:p>
            <a:fld id="{1E68DD1B-5CD8-424B-8173-19E182143E0A}" type="slidenum">
              <a:rPr lang="en-US" smtClean="0"/>
              <a:t>14</a:t>
            </a:fld>
            <a:endParaRPr lang="en-US" dirty="0"/>
          </a:p>
        </p:txBody>
      </p:sp>
      <p:sp>
        <p:nvSpPr>
          <p:cNvPr id="5" name="Footer Placeholder 4">
            <a:extLst>
              <a:ext uri="{FF2B5EF4-FFF2-40B4-BE49-F238E27FC236}">
                <a16:creationId xmlns:a16="http://schemas.microsoft.com/office/drawing/2014/main" id="{B2BA5F31-06E3-4A42-962D-6DE227FD313E}"/>
              </a:ext>
            </a:extLst>
          </p:cNvPr>
          <p:cNvSpPr>
            <a:spLocks noGrp="1"/>
          </p:cNvSpPr>
          <p:nvPr>
            <p:ph type="ftr" sz="quarter" idx="11"/>
          </p:nvPr>
        </p:nvSpPr>
        <p:spPr/>
        <p:txBody>
          <a:bodyPr/>
          <a:lstStyle/>
          <a:p>
            <a:endParaRPr lang="en-US" dirty="0"/>
          </a:p>
        </p:txBody>
      </p:sp>
      <p:sp>
        <p:nvSpPr>
          <p:cNvPr id="9" name="Title 1"/>
          <p:cNvSpPr txBox="1">
            <a:spLocks/>
          </p:cNvSpPr>
          <p:nvPr/>
        </p:nvSpPr>
        <p:spPr>
          <a:xfrm>
            <a:off x="3702043" y="244266"/>
            <a:ext cx="4787914" cy="5572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spc="50" dirty="0">
                <a:solidFill>
                  <a:schemeClr val="tx2"/>
                </a:solidFill>
                <a:cs typeface="Traditional Arabic"/>
              </a:rPr>
              <a:t/>
            </a:r>
            <a:br>
              <a:rPr lang="en-US" sz="3200" b="1" spc="50" dirty="0">
                <a:solidFill>
                  <a:schemeClr val="tx2"/>
                </a:solidFill>
                <a:cs typeface="Traditional Arabic"/>
              </a:rPr>
            </a:br>
            <a:endParaRPr lang="en-US" sz="3200" b="1" dirty="0">
              <a:solidFill>
                <a:schemeClr val="tx2"/>
              </a:solidFill>
              <a:latin typeface="Traditional Arabic"/>
              <a:cs typeface="Traditional Arabic"/>
            </a:endParaRPr>
          </a:p>
        </p:txBody>
      </p:sp>
      <p:sp>
        <p:nvSpPr>
          <p:cNvPr id="10" name="TextBox 9">
            <a:extLst>
              <a:ext uri="{FF2B5EF4-FFF2-40B4-BE49-F238E27FC236}">
                <a16:creationId xmlns:a16="http://schemas.microsoft.com/office/drawing/2014/main" id="{B9F3FAC9-B3F6-4465-BD74-A134C89D61EF}"/>
              </a:ext>
            </a:extLst>
          </p:cNvPr>
          <p:cNvSpPr txBox="1"/>
          <p:nvPr/>
        </p:nvSpPr>
        <p:spPr>
          <a:xfrm>
            <a:off x="583028" y="1720840"/>
            <a:ext cx="11185838" cy="3477875"/>
          </a:xfrm>
          <a:prstGeom prst="rect">
            <a:avLst/>
          </a:prstGeom>
          <a:noFill/>
        </p:spPr>
        <p:txBody>
          <a:bodyPr wrap="square">
            <a:spAutoFit/>
          </a:bodyPr>
          <a:lstStyle/>
          <a:p>
            <a:pPr>
              <a:spcBef>
                <a:spcPts val="0"/>
              </a:spcBef>
              <a:spcAft>
                <a:spcPts val="0"/>
              </a:spcAft>
            </a:pPr>
            <a:r>
              <a:rPr lang="en-US" sz="2000" dirty="0">
                <a:solidFill>
                  <a:srgbClr val="0E101A"/>
                </a:solidFill>
                <a:effectLst/>
              </a:rPr>
              <a:t>It is highly recommended to establish a specialized company to oversee renting laboratories and provide Laboratories services to the community,</a:t>
            </a:r>
            <a:r>
              <a:rPr lang="en-US" sz="2000" dirty="0">
                <a:solidFill>
                  <a:srgbClr val="0E101A"/>
                </a:solidFill>
              </a:rPr>
              <a:t> enabling businesses and organizations to take advantage of cutting-edge laboratories and research tools.</a:t>
            </a:r>
          </a:p>
          <a:p>
            <a:pPr>
              <a:spcBef>
                <a:spcPts val="0"/>
              </a:spcBef>
              <a:spcAft>
                <a:spcPts val="0"/>
              </a:spcAft>
            </a:pPr>
            <a:endParaRPr lang="en-US" sz="2000" dirty="0">
              <a:solidFill>
                <a:srgbClr val="0E101A"/>
              </a:solidFill>
            </a:endParaRPr>
          </a:p>
          <a:p>
            <a:pPr>
              <a:spcBef>
                <a:spcPts val="0"/>
              </a:spcBef>
              <a:spcAft>
                <a:spcPts val="0"/>
              </a:spcAft>
            </a:pPr>
            <a:r>
              <a:rPr lang="en-US" sz="2000" dirty="0">
                <a:solidFill>
                  <a:srgbClr val="0E101A"/>
                </a:solidFill>
              </a:rPr>
              <a:t>The new company project millstones will consider the following:-</a:t>
            </a:r>
          </a:p>
          <a:p>
            <a:pPr>
              <a:spcBef>
                <a:spcPts val="0"/>
              </a:spcBef>
              <a:spcAft>
                <a:spcPts val="0"/>
              </a:spcAft>
            </a:pPr>
            <a:endParaRPr lang="en-US" sz="2000" dirty="0">
              <a:solidFill>
                <a:srgbClr val="0E101A"/>
              </a:solidFill>
            </a:endParaRPr>
          </a:p>
          <a:p>
            <a:pPr>
              <a:spcBef>
                <a:spcPts val="0"/>
              </a:spcBef>
              <a:spcAft>
                <a:spcPts val="0"/>
              </a:spcAft>
            </a:pPr>
            <a:r>
              <a:rPr lang="en-US" sz="2000" dirty="0">
                <a:solidFill>
                  <a:srgbClr val="0E101A"/>
                </a:solidFill>
              </a:rPr>
              <a:t>1- Listing  all KU laboratories with its costs.</a:t>
            </a:r>
          </a:p>
          <a:p>
            <a:pPr>
              <a:spcBef>
                <a:spcPts val="0"/>
              </a:spcBef>
              <a:spcAft>
                <a:spcPts val="0"/>
              </a:spcAft>
            </a:pPr>
            <a:r>
              <a:rPr lang="en-US" sz="2000" dirty="0">
                <a:solidFill>
                  <a:srgbClr val="0E101A"/>
                </a:solidFill>
                <a:effectLst/>
              </a:rPr>
              <a:t>2- Costing of services, rental  and tests, and prepare the price list .</a:t>
            </a:r>
          </a:p>
          <a:p>
            <a:pPr>
              <a:spcBef>
                <a:spcPts val="0"/>
              </a:spcBef>
              <a:spcAft>
                <a:spcPts val="0"/>
              </a:spcAft>
            </a:pPr>
            <a:r>
              <a:rPr lang="en-US" sz="2000" dirty="0">
                <a:solidFill>
                  <a:srgbClr val="0E101A"/>
                </a:solidFill>
              </a:rPr>
              <a:t>3- Prepare full feasibility study and business plan.</a:t>
            </a:r>
            <a:endParaRPr lang="en-US" sz="2000" dirty="0">
              <a:solidFill>
                <a:srgbClr val="0E101A"/>
              </a:solidFill>
              <a:effectLst/>
            </a:endParaRPr>
          </a:p>
          <a:p>
            <a:pPr>
              <a:spcBef>
                <a:spcPts val="0"/>
              </a:spcBef>
              <a:spcAft>
                <a:spcPts val="0"/>
              </a:spcAft>
            </a:pPr>
            <a:r>
              <a:rPr lang="en-US" sz="2000" dirty="0">
                <a:solidFill>
                  <a:srgbClr val="0E101A"/>
                </a:solidFill>
              </a:rPr>
              <a:t>3- Establishing a specialized laboratories services company.</a:t>
            </a:r>
          </a:p>
          <a:p>
            <a:pPr>
              <a:spcBef>
                <a:spcPts val="0"/>
              </a:spcBef>
              <a:spcAft>
                <a:spcPts val="0"/>
              </a:spcAft>
            </a:pPr>
            <a:r>
              <a:rPr lang="en-US" sz="2000" dirty="0">
                <a:solidFill>
                  <a:srgbClr val="0E101A"/>
                </a:solidFill>
                <a:effectLst/>
              </a:rPr>
              <a:t>4- Strat renting and services activities of the new company.</a:t>
            </a:r>
          </a:p>
        </p:txBody>
      </p:sp>
    </p:spTree>
    <p:extLst>
      <p:ext uri="{BB962C8B-B14F-4D97-AF65-F5344CB8AC3E}">
        <p14:creationId xmlns:p14="http://schemas.microsoft.com/office/powerpoint/2010/main" val="2536929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5507" y="2896459"/>
            <a:ext cx="9044844" cy="1143000"/>
          </a:xfrm>
        </p:spPr>
        <p:txBody>
          <a:bodyPr>
            <a:normAutofit/>
          </a:bodyPr>
          <a:lstStyle/>
          <a:p>
            <a:pPr algn="l" rtl="0"/>
            <a:r>
              <a:rPr lang="en-US" b="1" dirty="0">
                <a:solidFill>
                  <a:schemeClr val="bg1"/>
                </a:solidFill>
              </a:rPr>
              <a:t>Appendix </a:t>
            </a:r>
            <a:endParaRPr lang="en-US" sz="3100" dirty="0">
              <a:solidFill>
                <a:schemeClr val="bg1"/>
              </a:solidFill>
            </a:endParaRPr>
          </a:p>
        </p:txBody>
      </p:sp>
      <p:pic>
        <p:nvPicPr>
          <p:cNvPr id="3" name="Picture 2">
            <a:extLst>
              <a:ext uri="{FF2B5EF4-FFF2-40B4-BE49-F238E27FC236}">
                <a16:creationId xmlns:a16="http://schemas.microsoft.com/office/drawing/2014/main" id="{CEA79536-344B-4703-95C3-7F5AD0BFB3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528" y="277065"/>
            <a:ext cx="2952328" cy="576064"/>
          </a:xfrm>
          <a:prstGeom prst="rect">
            <a:avLst/>
          </a:prstGeom>
        </p:spPr>
      </p:pic>
      <p:sp>
        <p:nvSpPr>
          <p:cNvPr id="4" name="Slide Number Placeholder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6BBAD6CA-586F-4311-8CF2-97A70B19B275}" type="slidenum">
              <a:rPr kumimoji="0" lang="ar-EG" sz="1200" b="0" i="0" u="none" strike="noStrike" kern="1200" cap="none" spc="0" normalizeH="0" baseline="0" noProof="0" smtClean="0">
                <a:ln>
                  <a:noFill/>
                </a:ln>
                <a:solidFill>
                  <a:prstClr val="black">
                    <a:tint val="75000"/>
                  </a:prstClr>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15</a:t>
            </a:fld>
            <a:endParaRPr kumimoji="0" lang="ar-EG" sz="1200" b="0" i="0" u="none" strike="noStrike" kern="1200" cap="none" spc="0" normalizeH="0" baseline="0" noProof="0">
              <a:ln>
                <a:noFill/>
              </a:ln>
              <a:solidFill>
                <a:prstClr val="black">
                  <a:tint val="75000"/>
                </a:prstClr>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792279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045" y="2871787"/>
            <a:ext cx="9991725" cy="1114425"/>
          </a:xfrm>
        </p:spPr>
        <p:txBody>
          <a:bodyPr>
            <a:normAutofit/>
          </a:bodyPr>
          <a:lstStyle/>
          <a:p>
            <a:pPr algn="ctr"/>
            <a:r>
              <a:rPr lang="en-US" sz="3600" b="1" dirty="0">
                <a:solidFill>
                  <a:srgbClr val="A39161"/>
                </a:solidFill>
                <a:latin typeface="Times New Roman" panose="02020603050405020304" pitchFamily="18" charset="0"/>
                <a:cs typeface="Times New Roman" panose="02020603050405020304" pitchFamily="18" charset="0"/>
              </a:rPr>
              <a:t>Thank You </a:t>
            </a:r>
            <a:r>
              <a:rPr lang="en-US" sz="2600" dirty="0">
                <a:solidFill>
                  <a:srgbClr val="A39161"/>
                </a:solidFill>
                <a:latin typeface="Traditional Arabic"/>
                <a:cs typeface="Traditional Arabic"/>
              </a:rPr>
              <a:t/>
            </a:r>
            <a:br>
              <a:rPr lang="en-US" sz="2600" dirty="0">
                <a:solidFill>
                  <a:srgbClr val="A39161"/>
                </a:solidFill>
                <a:latin typeface="Traditional Arabic"/>
                <a:cs typeface="Traditional Arabic"/>
              </a:rPr>
            </a:br>
            <a:endParaRPr lang="en-US" sz="2600" dirty="0">
              <a:solidFill>
                <a:srgbClr val="A39161"/>
              </a:solidFill>
              <a:latin typeface="Traditional Arabic"/>
              <a:cs typeface="Traditional Arabic"/>
            </a:endParaRPr>
          </a:p>
        </p:txBody>
      </p:sp>
      <p:sp>
        <p:nvSpPr>
          <p:cNvPr id="6" name="Slide Number Placeholder 5"/>
          <p:cNvSpPr>
            <a:spLocks noGrp="1"/>
          </p:cNvSpPr>
          <p:nvPr>
            <p:ph type="sldNum" sz="quarter" idx="12"/>
          </p:nvPr>
        </p:nvSpPr>
        <p:spPr/>
        <p:txBody>
          <a:bodyPr/>
          <a:lstStyle/>
          <a:p>
            <a:fld id="{1E68DD1B-5CD8-424B-8173-19E182143E0A}" type="slidenum">
              <a:rPr lang="en-US" smtClean="0"/>
              <a:t>16</a:t>
            </a:fld>
            <a:endParaRPr lang="en-US"/>
          </a:p>
        </p:txBody>
      </p:sp>
      <p:pic>
        <p:nvPicPr>
          <p:cNvPr id="4" name="Picture 3"/>
          <p:cNvPicPr>
            <a:picLocks noChangeAspect="1"/>
          </p:cNvPicPr>
          <p:nvPr/>
        </p:nvPicPr>
        <p:blipFill rotWithShape="1">
          <a:blip r:embed="rId2"/>
          <a:srcRect t="2820" b="4556"/>
          <a:stretch/>
        </p:blipFill>
        <p:spPr>
          <a:xfrm>
            <a:off x="1261940" y="580598"/>
            <a:ext cx="9784080" cy="6140877"/>
          </a:xfrm>
          <a:prstGeom prst="rect">
            <a:avLst/>
          </a:prstGeom>
        </p:spPr>
      </p:pic>
    </p:spTree>
    <p:extLst>
      <p:ext uri="{BB962C8B-B14F-4D97-AF65-F5344CB8AC3E}">
        <p14:creationId xmlns:p14="http://schemas.microsoft.com/office/powerpoint/2010/main" val="1685167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F0B153-E3E2-4097-9E51-5A688B93C85A}" type="slidenum">
              <a:rPr lang="en-US" smtClean="0"/>
              <a:t>17</a:t>
            </a:fld>
            <a:endParaRPr lang="en-US"/>
          </a:p>
        </p:txBody>
      </p:sp>
      <p:pic>
        <p:nvPicPr>
          <p:cNvPr id="5" name="Picture 4"/>
          <p:cNvPicPr>
            <a:picLocks noChangeAspect="1"/>
          </p:cNvPicPr>
          <p:nvPr/>
        </p:nvPicPr>
        <p:blipFill>
          <a:blip r:embed="rId2"/>
          <a:stretch>
            <a:fillRect/>
          </a:stretch>
        </p:blipFill>
        <p:spPr>
          <a:xfrm>
            <a:off x="1485900" y="326565"/>
            <a:ext cx="9144000" cy="6531435"/>
          </a:xfrm>
          <a:prstGeom prst="rect">
            <a:avLst/>
          </a:prstGeom>
        </p:spPr>
      </p:pic>
    </p:spTree>
    <p:extLst>
      <p:ext uri="{BB962C8B-B14F-4D97-AF65-F5344CB8AC3E}">
        <p14:creationId xmlns:p14="http://schemas.microsoft.com/office/powerpoint/2010/main" val="3307556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20F840A-6AEC-494D-883B-710DB23F470B}"/>
              </a:ext>
            </a:extLst>
          </p:cNvPr>
          <p:cNvSpPr>
            <a:spLocks noGrp="1"/>
          </p:cNvSpPr>
          <p:nvPr>
            <p:ph type="sldNum" sz="quarter" idx="12"/>
          </p:nvPr>
        </p:nvSpPr>
        <p:spPr/>
        <p:txBody>
          <a:bodyPr/>
          <a:lstStyle/>
          <a:p>
            <a:fld id="{1AF0B153-E3E2-4097-9E51-5A688B93C85A}" type="slidenum">
              <a:rPr lang="en-US" smtClean="0"/>
              <a:t>18</a:t>
            </a:fld>
            <a:endParaRPr lang="en-US"/>
          </a:p>
        </p:txBody>
      </p:sp>
      <p:pic>
        <p:nvPicPr>
          <p:cNvPr id="7" name="Picture 6">
            <a:extLst>
              <a:ext uri="{FF2B5EF4-FFF2-40B4-BE49-F238E27FC236}">
                <a16:creationId xmlns:a16="http://schemas.microsoft.com/office/drawing/2014/main" id="{D6C48941-4D3E-49B9-B487-CDA13CFA48CA}"/>
              </a:ext>
            </a:extLst>
          </p:cNvPr>
          <p:cNvPicPr>
            <a:picLocks noChangeAspect="1"/>
          </p:cNvPicPr>
          <p:nvPr/>
        </p:nvPicPr>
        <p:blipFill>
          <a:blip r:embed="rId3"/>
          <a:stretch>
            <a:fillRect/>
          </a:stretch>
        </p:blipFill>
        <p:spPr>
          <a:xfrm>
            <a:off x="1510901" y="2206614"/>
            <a:ext cx="1789731" cy="3424883"/>
          </a:xfrm>
          <a:prstGeom prst="rect">
            <a:avLst/>
          </a:prstGeom>
        </p:spPr>
      </p:pic>
      <p:sp>
        <p:nvSpPr>
          <p:cNvPr id="8" name="Hexagon 7">
            <a:extLst>
              <a:ext uri="{FF2B5EF4-FFF2-40B4-BE49-F238E27FC236}">
                <a16:creationId xmlns:a16="http://schemas.microsoft.com/office/drawing/2014/main" id="{E4861B79-CCA4-46EA-B0F1-ED1BFF4FF160}"/>
              </a:ext>
            </a:extLst>
          </p:cNvPr>
          <p:cNvSpPr/>
          <p:nvPr/>
        </p:nvSpPr>
        <p:spPr>
          <a:xfrm>
            <a:off x="3483035" y="3945836"/>
            <a:ext cx="989548" cy="777217"/>
          </a:xfrm>
          <a:prstGeom prst="hexagon">
            <a:avLst/>
          </a:prstGeom>
          <a:solidFill>
            <a:schemeClr val="bg1"/>
          </a:solidFill>
          <a:ln w="38100">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54FBCA70-6C69-4A3F-8883-207447837671}"/>
              </a:ext>
            </a:extLst>
          </p:cNvPr>
          <p:cNvSpPr/>
          <p:nvPr/>
        </p:nvSpPr>
        <p:spPr>
          <a:xfrm>
            <a:off x="3483035" y="2523555"/>
            <a:ext cx="989548" cy="777217"/>
          </a:xfrm>
          <a:prstGeom prst="hexagon">
            <a:avLst/>
          </a:prstGeom>
          <a:solidFill>
            <a:schemeClr val="bg1"/>
          </a:solidFill>
          <a:ln w="38100">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1F3BEFD1-03A7-4CA5-A7C4-669D4AE17631}"/>
              </a:ext>
            </a:extLst>
          </p:cNvPr>
          <p:cNvSpPr/>
          <p:nvPr/>
        </p:nvSpPr>
        <p:spPr>
          <a:xfrm>
            <a:off x="369530" y="3022168"/>
            <a:ext cx="2079203" cy="1875295"/>
          </a:xfrm>
          <a:prstGeom prst="hexagon">
            <a:avLst/>
          </a:prstGeom>
          <a:gradFill flip="none" rotWithShape="1">
            <a:gsLst>
              <a:gs pos="0">
                <a:schemeClr val="bg1">
                  <a:lumMod val="75000"/>
                  <a:shade val="30000"/>
                  <a:satMod val="115000"/>
                </a:schemeClr>
              </a:gs>
              <a:gs pos="50000">
                <a:schemeClr val="bg1">
                  <a:lumMod val="75000"/>
                  <a:shade val="67500"/>
                  <a:satMod val="115000"/>
                </a:schemeClr>
              </a:gs>
              <a:gs pos="100000">
                <a:schemeClr val="bg1">
                  <a:lumMod val="75000"/>
                  <a:shade val="100000"/>
                  <a:satMod val="115000"/>
                </a:schemeClr>
              </a:gs>
            </a:gsLst>
            <a:lin ang="16200000" scaled="1"/>
            <a:tileRect/>
          </a:gradFill>
          <a:ln>
            <a:solidFill>
              <a:schemeClr val="bg1">
                <a:lumMod val="65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a:p>
            <a:pPr algn="ctr"/>
            <a:r>
              <a:rPr lang="en-US" sz="1500" b="1" dirty="0">
                <a:solidFill>
                  <a:schemeClr val="tx1"/>
                </a:solidFill>
              </a:rPr>
              <a:t>KU Enterprises </a:t>
            </a:r>
            <a:r>
              <a:rPr lang="en-US" sz="1500" b="1" dirty="0" err="1">
                <a:solidFill>
                  <a:schemeClr val="tx1"/>
                </a:solidFill>
              </a:rPr>
              <a:t>CompanyL.L.C</a:t>
            </a:r>
            <a:endParaRPr lang="en-US" sz="1500" b="1" dirty="0">
              <a:solidFill>
                <a:schemeClr val="tx1"/>
              </a:solidFill>
            </a:endParaRPr>
          </a:p>
        </p:txBody>
      </p:sp>
      <p:sp>
        <p:nvSpPr>
          <p:cNvPr id="11" name="TextBox 10">
            <a:extLst>
              <a:ext uri="{FF2B5EF4-FFF2-40B4-BE49-F238E27FC236}">
                <a16:creationId xmlns:a16="http://schemas.microsoft.com/office/drawing/2014/main" id="{D28F803C-2E9F-484D-B8F5-1E058712FC59}"/>
              </a:ext>
            </a:extLst>
          </p:cNvPr>
          <p:cNvSpPr txBox="1"/>
          <p:nvPr/>
        </p:nvSpPr>
        <p:spPr>
          <a:xfrm>
            <a:off x="4645537" y="545573"/>
            <a:ext cx="1136066" cy="369332"/>
          </a:xfrm>
          <a:prstGeom prst="rect">
            <a:avLst/>
          </a:prstGeom>
          <a:noFill/>
        </p:spPr>
        <p:txBody>
          <a:bodyPr wrap="square" rtlCol="0">
            <a:spAutoFit/>
          </a:bodyPr>
          <a:lstStyle/>
          <a:p>
            <a:r>
              <a:rPr lang="en-US" b="1" dirty="0">
                <a:solidFill>
                  <a:srgbClr val="FF0000"/>
                </a:solidFill>
              </a:rPr>
              <a:t>Ankabut</a:t>
            </a:r>
          </a:p>
        </p:txBody>
      </p:sp>
      <p:sp>
        <p:nvSpPr>
          <p:cNvPr id="12" name="TextBox 11">
            <a:extLst>
              <a:ext uri="{FF2B5EF4-FFF2-40B4-BE49-F238E27FC236}">
                <a16:creationId xmlns:a16="http://schemas.microsoft.com/office/drawing/2014/main" id="{0662E0EE-AAC2-4156-B87E-A6A23797EFB6}"/>
              </a:ext>
            </a:extLst>
          </p:cNvPr>
          <p:cNvSpPr txBox="1"/>
          <p:nvPr/>
        </p:nvSpPr>
        <p:spPr>
          <a:xfrm>
            <a:off x="4653329" y="2144983"/>
            <a:ext cx="1134850" cy="369332"/>
          </a:xfrm>
          <a:prstGeom prst="rect">
            <a:avLst/>
          </a:prstGeom>
          <a:noFill/>
        </p:spPr>
        <p:txBody>
          <a:bodyPr wrap="square" rtlCol="0">
            <a:spAutoFit/>
          </a:bodyPr>
          <a:lstStyle/>
          <a:p>
            <a:r>
              <a:rPr lang="en-US" b="1" dirty="0" err="1">
                <a:solidFill>
                  <a:srgbClr val="FF0000"/>
                </a:solidFill>
              </a:rPr>
              <a:t>Jinomix</a:t>
            </a:r>
            <a:endParaRPr lang="en-US" b="1" dirty="0">
              <a:solidFill>
                <a:srgbClr val="FF0000"/>
              </a:solidFill>
            </a:endParaRPr>
          </a:p>
        </p:txBody>
      </p:sp>
      <p:pic>
        <p:nvPicPr>
          <p:cNvPr id="13" name="Picture 12">
            <a:extLst>
              <a:ext uri="{FF2B5EF4-FFF2-40B4-BE49-F238E27FC236}">
                <a16:creationId xmlns:a16="http://schemas.microsoft.com/office/drawing/2014/main" id="{3BE87864-BC58-41CB-A6D9-11F63338D74B}"/>
              </a:ext>
            </a:extLst>
          </p:cNvPr>
          <p:cNvPicPr>
            <a:picLocks noChangeAspect="1"/>
          </p:cNvPicPr>
          <p:nvPr/>
        </p:nvPicPr>
        <p:blipFill>
          <a:blip r:embed="rId4"/>
          <a:stretch>
            <a:fillRect/>
          </a:stretch>
        </p:blipFill>
        <p:spPr>
          <a:xfrm>
            <a:off x="3729006" y="4033612"/>
            <a:ext cx="458305" cy="626543"/>
          </a:xfrm>
          <a:prstGeom prst="rect">
            <a:avLst/>
          </a:prstGeom>
        </p:spPr>
      </p:pic>
      <p:sp>
        <p:nvSpPr>
          <p:cNvPr id="14" name="TextBox 13">
            <a:extLst>
              <a:ext uri="{FF2B5EF4-FFF2-40B4-BE49-F238E27FC236}">
                <a16:creationId xmlns:a16="http://schemas.microsoft.com/office/drawing/2014/main" id="{6D832521-2F0F-4233-99D1-E3B6A02710AB}"/>
              </a:ext>
            </a:extLst>
          </p:cNvPr>
          <p:cNvSpPr txBox="1"/>
          <p:nvPr/>
        </p:nvSpPr>
        <p:spPr>
          <a:xfrm>
            <a:off x="4644929" y="3571778"/>
            <a:ext cx="3763233" cy="369332"/>
          </a:xfrm>
          <a:prstGeom prst="rect">
            <a:avLst/>
          </a:prstGeom>
          <a:noFill/>
        </p:spPr>
        <p:txBody>
          <a:bodyPr wrap="square" rtlCol="0">
            <a:spAutoFit/>
          </a:bodyPr>
          <a:lstStyle/>
          <a:p>
            <a:r>
              <a:rPr lang="en-US" b="1" dirty="0">
                <a:solidFill>
                  <a:srgbClr val="FF0000"/>
                </a:solidFill>
              </a:rPr>
              <a:t>Khalifa Innovation Center</a:t>
            </a:r>
          </a:p>
        </p:txBody>
      </p:sp>
      <p:sp>
        <p:nvSpPr>
          <p:cNvPr id="15" name="TextBox 14">
            <a:extLst>
              <a:ext uri="{FF2B5EF4-FFF2-40B4-BE49-F238E27FC236}">
                <a16:creationId xmlns:a16="http://schemas.microsoft.com/office/drawing/2014/main" id="{52CBE620-DDA1-4C60-B9DB-9900BA459F6E}"/>
              </a:ext>
            </a:extLst>
          </p:cNvPr>
          <p:cNvSpPr txBox="1"/>
          <p:nvPr/>
        </p:nvSpPr>
        <p:spPr>
          <a:xfrm>
            <a:off x="4644929" y="5193217"/>
            <a:ext cx="1789731" cy="369332"/>
          </a:xfrm>
          <a:prstGeom prst="rect">
            <a:avLst/>
          </a:prstGeom>
          <a:noFill/>
        </p:spPr>
        <p:txBody>
          <a:bodyPr wrap="square" rtlCol="0">
            <a:spAutoFit/>
          </a:bodyPr>
          <a:lstStyle/>
          <a:p>
            <a:r>
              <a:rPr lang="en-US" b="1" dirty="0">
                <a:solidFill>
                  <a:srgbClr val="FF0000"/>
                </a:solidFill>
              </a:rPr>
              <a:t>Wastewater</a:t>
            </a:r>
          </a:p>
        </p:txBody>
      </p:sp>
      <p:sp>
        <p:nvSpPr>
          <p:cNvPr id="16" name="Rectangle: Rounded Corners 15">
            <a:extLst>
              <a:ext uri="{FF2B5EF4-FFF2-40B4-BE49-F238E27FC236}">
                <a16:creationId xmlns:a16="http://schemas.microsoft.com/office/drawing/2014/main" id="{949FEC1D-C8FB-4B81-98A6-AAE431C057EB}"/>
              </a:ext>
            </a:extLst>
          </p:cNvPr>
          <p:cNvSpPr/>
          <p:nvPr/>
        </p:nvSpPr>
        <p:spPr>
          <a:xfrm>
            <a:off x="4653329" y="914905"/>
            <a:ext cx="6349672" cy="1059706"/>
          </a:xfrm>
          <a:prstGeom prst="roundRect">
            <a:avLst/>
          </a:prstGeom>
          <a:solidFill>
            <a:schemeClr val="accent1">
              <a:lumMod val="20000"/>
              <a:lumOff val="80000"/>
            </a:schemeClr>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Business aligned technology with proven capabilities in the Learning Management System, Application Development / Maintenance, Cloud Computing, and Data Centers. </a:t>
            </a:r>
            <a:r>
              <a:rPr lang="en-US" dirty="0" err="1">
                <a:solidFill>
                  <a:schemeClr val="tx1"/>
                </a:solidFill>
              </a:rPr>
              <a:t>Abkabut</a:t>
            </a:r>
            <a:r>
              <a:rPr lang="en-US" dirty="0">
                <a:solidFill>
                  <a:schemeClr val="tx1"/>
                </a:solidFill>
              </a:rPr>
              <a:t> Leading in operating education Network (NREN) in UAE.</a:t>
            </a:r>
          </a:p>
        </p:txBody>
      </p:sp>
      <p:sp>
        <p:nvSpPr>
          <p:cNvPr id="17" name="Rectangle: Rounded Corners 16">
            <a:extLst>
              <a:ext uri="{FF2B5EF4-FFF2-40B4-BE49-F238E27FC236}">
                <a16:creationId xmlns:a16="http://schemas.microsoft.com/office/drawing/2014/main" id="{3FB7DB1E-85A0-4A2B-B134-ED607FADA15F}"/>
              </a:ext>
            </a:extLst>
          </p:cNvPr>
          <p:cNvSpPr/>
          <p:nvPr/>
        </p:nvSpPr>
        <p:spPr>
          <a:xfrm>
            <a:off x="4646144" y="2476618"/>
            <a:ext cx="6349672" cy="1008944"/>
          </a:xfrm>
          <a:prstGeom prst="roundRect">
            <a:avLst/>
          </a:prstGeom>
          <a:solidFill>
            <a:schemeClr val="accent1">
              <a:lumMod val="40000"/>
              <a:lumOff val="60000"/>
            </a:schemeClr>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Jinomix</a:t>
            </a:r>
            <a:r>
              <a:rPr lang="en-US" dirty="0">
                <a:solidFill>
                  <a:schemeClr val="tx1"/>
                </a:solidFill>
              </a:rPr>
              <a:t> is a comprehensive DNA and genome screening company that offers services to populations of the UAE and those that live in the surrounding region.</a:t>
            </a:r>
          </a:p>
        </p:txBody>
      </p:sp>
      <p:sp>
        <p:nvSpPr>
          <p:cNvPr id="18" name="Rectangle: Rounded Corners 17">
            <a:extLst>
              <a:ext uri="{FF2B5EF4-FFF2-40B4-BE49-F238E27FC236}">
                <a16:creationId xmlns:a16="http://schemas.microsoft.com/office/drawing/2014/main" id="{50081E4F-4CD5-4589-9607-869827442E02}"/>
              </a:ext>
            </a:extLst>
          </p:cNvPr>
          <p:cNvSpPr/>
          <p:nvPr/>
        </p:nvSpPr>
        <p:spPr>
          <a:xfrm>
            <a:off x="4644929" y="3886912"/>
            <a:ext cx="6349672" cy="1156727"/>
          </a:xfrm>
          <a:prstGeom prst="roundRect">
            <a:avLst/>
          </a:prstGeom>
          <a:solidFill>
            <a:schemeClr val="accent5">
              <a:lumMod val="20000"/>
              <a:lumOff val="80000"/>
            </a:schemeClr>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Khalifa Innovation Center is an innovation-based incubation center supporting high tech/high-impact start-ups to bring their new and improved products to the market.</a:t>
            </a:r>
          </a:p>
        </p:txBody>
      </p:sp>
      <p:sp>
        <p:nvSpPr>
          <p:cNvPr id="19" name="Rectangle: Rounded Corners 18">
            <a:extLst>
              <a:ext uri="{FF2B5EF4-FFF2-40B4-BE49-F238E27FC236}">
                <a16:creationId xmlns:a16="http://schemas.microsoft.com/office/drawing/2014/main" id="{B810B6A3-80D8-4BA3-919C-82526FD39FDE}"/>
              </a:ext>
            </a:extLst>
          </p:cNvPr>
          <p:cNvSpPr/>
          <p:nvPr/>
        </p:nvSpPr>
        <p:spPr>
          <a:xfrm>
            <a:off x="4644929" y="5495282"/>
            <a:ext cx="6406541" cy="1008944"/>
          </a:xfrm>
          <a:prstGeom prst="roundRect">
            <a:avLst/>
          </a:prstGeom>
          <a:solidFill>
            <a:schemeClr val="tx2">
              <a:lumMod val="20000"/>
              <a:lumOff val="80000"/>
            </a:schemeClr>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This is a research project using state-of-the-art university testing facility to serve the UAE in its fight against COVID 19. It uses the highest standards in water and wastewater testing and analysis.</a:t>
            </a:r>
          </a:p>
        </p:txBody>
      </p:sp>
      <p:pic>
        <p:nvPicPr>
          <p:cNvPr id="20" name="Graphic 32" descr="Crops">
            <a:extLst>
              <a:ext uri="{FF2B5EF4-FFF2-40B4-BE49-F238E27FC236}">
                <a16:creationId xmlns:a16="http://schemas.microsoft.com/office/drawing/2014/main" id="{5B99A314-20E7-4EB4-A8A4-091548DB42EC}"/>
              </a:ext>
            </a:extLst>
          </p:cNvPr>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152553" y="3137109"/>
            <a:ext cx="539538" cy="434669"/>
          </a:xfrm>
          <a:prstGeom prst="rect">
            <a:avLst/>
          </a:prstGeom>
        </p:spPr>
      </p:pic>
      <p:sp>
        <p:nvSpPr>
          <p:cNvPr id="21" name="Hexagon 20">
            <a:extLst>
              <a:ext uri="{FF2B5EF4-FFF2-40B4-BE49-F238E27FC236}">
                <a16:creationId xmlns:a16="http://schemas.microsoft.com/office/drawing/2014/main" id="{4C171DE2-50E3-468F-AAE2-05AC857ECF9A}"/>
              </a:ext>
            </a:extLst>
          </p:cNvPr>
          <p:cNvSpPr/>
          <p:nvPr/>
        </p:nvSpPr>
        <p:spPr>
          <a:xfrm>
            <a:off x="2935812" y="1006194"/>
            <a:ext cx="989548" cy="777217"/>
          </a:xfrm>
          <a:prstGeom prst="hexagon">
            <a:avLst/>
          </a:prstGeom>
          <a:solidFill>
            <a:schemeClr val="bg1"/>
          </a:solidFill>
          <a:ln w="38100">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D3C79CC6-5D23-4F8B-9E67-0BB3A44D054A}"/>
              </a:ext>
            </a:extLst>
          </p:cNvPr>
          <p:cNvPicPr/>
          <p:nvPr/>
        </p:nvPicPr>
        <p:blipFill>
          <a:blip r:embed="rId7"/>
          <a:stretch>
            <a:fillRect/>
          </a:stretch>
        </p:blipFill>
        <p:spPr>
          <a:xfrm>
            <a:off x="3115732" y="1117600"/>
            <a:ext cx="624287" cy="598309"/>
          </a:xfrm>
          <a:prstGeom prst="rect">
            <a:avLst/>
          </a:prstGeom>
        </p:spPr>
      </p:pic>
      <p:pic>
        <p:nvPicPr>
          <p:cNvPr id="23" name="Picture 2" descr="Human Dna String Sketch Illustration Stock Illustration ...">
            <a:extLst>
              <a:ext uri="{FF2B5EF4-FFF2-40B4-BE49-F238E27FC236}">
                <a16:creationId xmlns:a16="http://schemas.microsoft.com/office/drawing/2014/main" id="{25964453-52D6-4543-9BF8-142E5AB62AF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496" r="14819"/>
          <a:stretch/>
        </p:blipFill>
        <p:spPr bwMode="auto">
          <a:xfrm>
            <a:off x="3671658" y="2650815"/>
            <a:ext cx="602245" cy="522695"/>
          </a:xfrm>
          <a:prstGeom prst="rect">
            <a:avLst/>
          </a:prstGeom>
          <a:noFill/>
          <a:extLst>
            <a:ext uri="{909E8E84-426E-40DD-AFC4-6F175D3DCCD1}">
              <a14:hiddenFill xmlns:a14="http://schemas.microsoft.com/office/drawing/2010/main">
                <a:solidFill>
                  <a:srgbClr val="FFFFFF"/>
                </a:solidFill>
              </a14:hiddenFill>
            </a:ext>
          </a:extLst>
        </p:spPr>
      </p:pic>
      <p:sp>
        <p:nvSpPr>
          <p:cNvPr id="24" name="Hexagon 23">
            <a:extLst>
              <a:ext uri="{FF2B5EF4-FFF2-40B4-BE49-F238E27FC236}">
                <a16:creationId xmlns:a16="http://schemas.microsoft.com/office/drawing/2014/main" id="{73F6044D-BAC1-4C34-9712-F920764A33D2}"/>
              </a:ext>
            </a:extLst>
          </p:cNvPr>
          <p:cNvSpPr/>
          <p:nvPr/>
        </p:nvSpPr>
        <p:spPr>
          <a:xfrm>
            <a:off x="2932161" y="5331136"/>
            <a:ext cx="989548" cy="777217"/>
          </a:xfrm>
          <a:prstGeom prst="hexagon">
            <a:avLst/>
          </a:prstGeom>
          <a:solidFill>
            <a:schemeClr val="bg1"/>
          </a:solidFill>
          <a:ln w="38100">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1EB0683-5B86-43E1-B01F-E3E911072E32}"/>
              </a:ext>
            </a:extLst>
          </p:cNvPr>
          <p:cNvPicPr/>
          <p:nvPr/>
        </p:nvPicPr>
        <p:blipFill>
          <a:blip r:embed="rId9"/>
          <a:stretch>
            <a:fillRect/>
          </a:stretch>
        </p:blipFill>
        <p:spPr>
          <a:xfrm>
            <a:off x="3221762" y="5377883"/>
            <a:ext cx="335722" cy="621871"/>
          </a:xfrm>
          <a:prstGeom prst="rect">
            <a:avLst/>
          </a:prstGeom>
        </p:spPr>
      </p:pic>
      <p:cxnSp>
        <p:nvCxnSpPr>
          <p:cNvPr id="26" name="Straight Connector 25">
            <a:extLst>
              <a:ext uri="{FF2B5EF4-FFF2-40B4-BE49-F238E27FC236}">
                <a16:creationId xmlns:a16="http://schemas.microsoft.com/office/drawing/2014/main" id="{1602708A-2308-4FC9-A278-5194B76D06AF}"/>
              </a:ext>
            </a:extLst>
          </p:cNvPr>
          <p:cNvCxnSpPr>
            <a:cxnSpLocks/>
          </p:cNvCxnSpPr>
          <p:nvPr/>
        </p:nvCxnSpPr>
        <p:spPr>
          <a:xfrm flipV="1">
            <a:off x="2220686" y="1555668"/>
            <a:ext cx="795646" cy="8193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9441822-68D0-4E8D-8110-5090DDDA7CC4}"/>
              </a:ext>
            </a:extLst>
          </p:cNvPr>
          <p:cNvCxnSpPr>
            <a:cxnSpLocks/>
          </p:cNvCxnSpPr>
          <p:nvPr/>
        </p:nvCxnSpPr>
        <p:spPr>
          <a:xfrm>
            <a:off x="3221762" y="4033612"/>
            <a:ext cx="335722" cy="87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71B95D9-065B-4395-93EA-499B98AD7112}"/>
              </a:ext>
            </a:extLst>
          </p:cNvPr>
          <p:cNvCxnSpPr>
            <a:cxnSpLocks/>
            <a:endCxn id="9" idx="3"/>
          </p:cNvCxnSpPr>
          <p:nvPr/>
        </p:nvCxnSpPr>
        <p:spPr>
          <a:xfrm flipV="1">
            <a:off x="2932161" y="2912164"/>
            <a:ext cx="550874" cy="110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DD53AFB-7E7F-4472-8073-458590FC9DB2}"/>
              </a:ext>
            </a:extLst>
          </p:cNvPr>
          <p:cNvCxnSpPr>
            <a:cxnSpLocks/>
          </p:cNvCxnSpPr>
          <p:nvPr/>
        </p:nvCxnSpPr>
        <p:spPr>
          <a:xfrm>
            <a:off x="2671948" y="5193217"/>
            <a:ext cx="344384" cy="369332"/>
          </a:xfrm>
          <a:prstGeom prst="line">
            <a:avLst/>
          </a:prstGeom>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19B6086D-F658-4B66-A20A-989934AE4383}"/>
              </a:ext>
            </a:extLst>
          </p:cNvPr>
          <p:cNvSpPr txBox="1">
            <a:spLocks/>
          </p:cNvSpPr>
          <p:nvPr/>
        </p:nvSpPr>
        <p:spPr>
          <a:xfrm>
            <a:off x="303174" y="403879"/>
            <a:ext cx="3618535" cy="5530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spc="0" baseline="0">
                <a:solidFill>
                  <a:schemeClr val="tx2"/>
                </a:solidFill>
                <a:latin typeface="+mj-lt"/>
                <a:ea typeface="+mj-ea"/>
                <a:cs typeface="+mj-cs"/>
              </a:defRPr>
            </a:lvl1pPr>
          </a:lstStyle>
          <a:p>
            <a:pPr marL="457200" indent="-457200" algn="l">
              <a:buFont typeface="Wingdings" panose="05000000000000000000" pitchFamily="2" charset="2"/>
              <a:buChar char="q"/>
            </a:pPr>
            <a:r>
              <a:rPr lang="en-US" sz="2500" spc="50" dirty="0">
                <a:solidFill>
                  <a:srgbClr val="A39161"/>
                </a:solidFill>
                <a:cs typeface="Traditional Arabic"/>
              </a:rPr>
              <a:t>Proposed Companies</a:t>
            </a:r>
          </a:p>
        </p:txBody>
      </p:sp>
    </p:spTree>
    <p:extLst>
      <p:ext uri="{BB962C8B-B14F-4D97-AF65-F5344CB8AC3E}">
        <p14:creationId xmlns:p14="http://schemas.microsoft.com/office/powerpoint/2010/main" val="3617840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9B8C39A-ABA1-4531-8344-C1AF2AB8C09F}"/>
              </a:ext>
            </a:extLst>
          </p:cNvPr>
          <p:cNvSpPr>
            <a:spLocks noGrp="1"/>
          </p:cNvSpPr>
          <p:nvPr>
            <p:ph type="sldNum" sz="quarter" idx="12"/>
          </p:nvPr>
        </p:nvSpPr>
        <p:spPr/>
        <p:txBody>
          <a:bodyPr/>
          <a:lstStyle/>
          <a:p>
            <a:fld id="{1AF0B153-E3E2-4097-9E51-5A688B93C85A}" type="slidenum">
              <a:rPr lang="en-US" smtClean="0"/>
              <a:t>19</a:t>
            </a:fld>
            <a:endParaRPr lang="en-US"/>
          </a:p>
        </p:txBody>
      </p:sp>
      <p:pic>
        <p:nvPicPr>
          <p:cNvPr id="7" name="Picture 6">
            <a:extLst>
              <a:ext uri="{FF2B5EF4-FFF2-40B4-BE49-F238E27FC236}">
                <a16:creationId xmlns:a16="http://schemas.microsoft.com/office/drawing/2014/main" id="{B95A2716-F1CE-463D-A319-860955008472}"/>
              </a:ext>
            </a:extLst>
          </p:cNvPr>
          <p:cNvPicPr>
            <a:picLocks noChangeAspect="1"/>
          </p:cNvPicPr>
          <p:nvPr/>
        </p:nvPicPr>
        <p:blipFill>
          <a:blip r:embed="rId2"/>
          <a:stretch>
            <a:fillRect/>
          </a:stretch>
        </p:blipFill>
        <p:spPr>
          <a:xfrm>
            <a:off x="1480089" y="2164190"/>
            <a:ext cx="1789731" cy="3424883"/>
          </a:xfrm>
          <a:prstGeom prst="rect">
            <a:avLst/>
          </a:prstGeom>
        </p:spPr>
      </p:pic>
      <p:sp>
        <p:nvSpPr>
          <p:cNvPr id="8" name="Hexagon 7">
            <a:extLst>
              <a:ext uri="{FF2B5EF4-FFF2-40B4-BE49-F238E27FC236}">
                <a16:creationId xmlns:a16="http://schemas.microsoft.com/office/drawing/2014/main" id="{E73A77C0-4C6E-4B97-ABF8-B7FAFDB2582C}"/>
              </a:ext>
            </a:extLst>
          </p:cNvPr>
          <p:cNvSpPr/>
          <p:nvPr/>
        </p:nvSpPr>
        <p:spPr>
          <a:xfrm>
            <a:off x="3090018" y="4804124"/>
            <a:ext cx="1036410" cy="828724"/>
          </a:xfrm>
          <a:prstGeom prst="hexagon">
            <a:avLst/>
          </a:prstGeom>
          <a:solidFill>
            <a:schemeClr val="bg1"/>
          </a:solidFill>
          <a:ln w="38100">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8192A52-96F6-4BC2-97FF-9DE556523FE1}"/>
              </a:ext>
            </a:extLst>
          </p:cNvPr>
          <p:cNvPicPr>
            <a:picLocks noChangeAspect="1"/>
          </p:cNvPicPr>
          <p:nvPr/>
        </p:nvPicPr>
        <p:blipFill>
          <a:blip r:embed="rId3"/>
          <a:stretch>
            <a:fillRect/>
          </a:stretch>
        </p:blipFill>
        <p:spPr>
          <a:xfrm>
            <a:off x="3468957" y="3042562"/>
            <a:ext cx="1036410" cy="816935"/>
          </a:xfrm>
          <a:prstGeom prst="rect">
            <a:avLst/>
          </a:prstGeom>
        </p:spPr>
      </p:pic>
      <p:pic>
        <p:nvPicPr>
          <p:cNvPr id="10" name="Picture 9">
            <a:extLst>
              <a:ext uri="{FF2B5EF4-FFF2-40B4-BE49-F238E27FC236}">
                <a16:creationId xmlns:a16="http://schemas.microsoft.com/office/drawing/2014/main" id="{9DFEB240-B7F7-452A-B64D-CBA969F1829B}"/>
              </a:ext>
            </a:extLst>
          </p:cNvPr>
          <p:cNvPicPr>
            <a:picLocks noChangeAspect="1"/>
          </p:cNvPicPr>
          <p:nvPr/>
        </p:nvPicPr>
        <p:blipFill>
          <a:blip r:embed="rId3"/>
          <a:stretch>
            <a:fillRect/>
          </a:stretch>
        </p:blipFill>
        <p:spPr>
          <a:xfrm>
            <a:off x="2929370" y="1581627"/>
            <a:ext cx="1036410" cy="816935"/>
          </a:xfrm>
          <a:prstGeom prst="rect">
            <a:avLst/>
          </a:prstGeom>
        </p:spPr>
      </p:pic>
      <p:sp>
        <p:nvSpPr>
          <p:cNvPr id="11" name="Hexagon 10">
            <a:extLst>
              <a:ext uri="{FF2B5EF4-FFF2-40B4-BE49-F238E27FC236}">
                <a16:creationId xmlns:a16="http://schemas.microsoft.com/office/drawing/2014/main" id="{11FA416D-F44B-41E6-95B7-E95CD030F244}"/>
              </a:ext>
            </a:extLst>
          </p:cNvPr>
          <p:cNvSpPr/>
          <p:nvPr/>
        </p:nvSpPr>
        <p:spPr>
          <a:xfrm>
            <a:off x="369530" y="3022168"/>
            <a:ext cx="2079203" cy="1875295"/>
          </a:xfrm>
          <a:prstGeom prst="hexagon">
            <a:avLst/>
          </a:prstGeom>
          <a:gradFill flip="none" rotWithShape="1">
            <a:gsLst>
              <a:gs pos="0">
                <a:schemeClr val="bg1">
                  <a:lumMod val="75000"/>
                  <a:shade val="30000"/>
                  <a:satMod val="115000"/>
                </a:schemeClr>
              </a:gs>
              <a:gs pos="50000">
                <a:schemeClr val="bg1">
                  <a:lumMod val="75000"/>
                  <a:shade val="67500"/>
                  <a:satMod val="115000"/>
                </a:schemeClr>
              </a:gs>
              <a:gs pos="100000">
                <a:schemeClr val="bg1">
                  <a:lumMod val="75000"/>
                  <a:shade val="100000"/>
                  <a:satMod val="115000"/>
                </a:schemeClr>
              </a:gs>
            </a:gsLst>
            <a:lin ang="16200000" scaled="1"/>
            <a:tileRect/>
          </a:gradFill>
          <a:ln>
            <a:solidFill>
              <a:schemeClr val="bg1">
                <a:lumMod val="65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a:p>
            <a:pPr algn="ctr"/>
            <a:r>
              <a:rPr lang="en-US" sz="1500" b="1" dirty="0">
                <a:solidFill>
                  <a:schemeClr val="tx1"/>
                </a:solidFill>
              </a:rPr>
              <a:t>KU Enterprises </a:t>
            </a:r>
            <a:r>
              <a:rPr lang="en-US" sz="1500" b="1" dirty="0" err="1">
                <a:solidFill>
                  <a:schemeClr val="tx1"/>
                </a:solidFill>
              </a:rPr>
              <a:t>CompanyL.L.C</a:t>
            </a:r>
            <a:endParaRPr lang="en-US" sz="1500" b="1" dirty="0">
              <a:solidFill>
                <a:schemeClr val="tx1"/>
              </a:solidFill>
            </a:endParaRPr>
          </a:p>
        </p:txBody>
      </p:sp>
      <p:sp>
        <p:nvSpPr>
          <p:cNvPr id="12" name="TextBox 11">
            <a:extLst>
              <a:ext uri="{FF2B5EF4-FFF2-40B4-BE49-F238E27FC236}">
                <a16:creationId xmlns:a16="http://schemas.microsoft.com/office/drawing/2014/main" id="{CDE814DD-8B8D-4AFB-A4F3-277574320417}"/>
              </a:ext>
            </a:extLst>
          </p:cNvPr>
          <p:cNvSpPr txBox="1"/>
          <p:nvPr/>
        </p:nvSpPr>
        <p:spPr>
          <a:xfrm>
            <a:off x="4887693" y="2481304"/>
            <a:ext cx="1921069" cy="369332"/>
          </a:xfrm>
          <a:prstGeom prst="rect">
            <a:avLst/>
          </a:prstGeom>
          <a:noFill/>
        </p:spPr>
        <p:txBody>
          <a:bodyPr wrap="square" rtlCol="0">
            <a:spAutoFit/>
          </a:bodyPr>
          <a:lstStyle/>
          <a:p>
            <a:r>
              <a:rPr lang="en-US" b="1" dirty="0">
                <a:solidFill>
                  <a:srgbClr val="FF0000"/>
                </a:solidFill>
              </a:rPr>
              <a:t>Advisory Services </a:t>
            </a:r>
          </a:p>
        </p:txBody>
      </p:sp>
      <p:sp>
        <p:nvSpPr>
          <p:cNvPr id="13" name="Rectangle: Rounded Corners 12">
            <a:extLst>
              <a:ext uri="{FF2B5EF4-FFF2-40B4-BE49-F238E27FC236}">
                <a16:creationId xmlns:a16="http://schemas.microsoft.com/office/drawing/2014/main" id="{EC55F7E1-9622-4B66-8DE0-22D1A39A2FE2}"/>
              </a:ext>
            </a:extLst>
          </p:cNvPr>
          <p:cNvSpPr/>
          <p:nvPr/>
        </p:nvSpPr>
        <p:spPr>
          <a:xfrm>
            <a:off x="4887694" y="971260"/>
            <a:ext cx="6349672" cy="1156727"/>
          </a:xfrm>
          <a:prstGeom prst="roundRect">
            <a:avLst/>
          </a:prstGeom>
          <a:solidFill>
            <a:schemeClr val="accent1">
              <a:lumMod val="20000"/>
              <a:lumOff val="80000"/>
            </a:schemeClr>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This is a scientific project led by university in support of the fight against COVID 19. It focuses in manufacturing reagents needed for the extraction of RNA from coronaviruses, currently in high demand due to the current global pandemic</a:t>
            </a:r>
          </a:p>
        </p:txBody>
      </p:sp>
      <p:sp>
        <p:nvSpPr>
          <p:cNvPr id="14" name="Rectangle: Rounded Corners 13">
            <a:extLst>
              <a:ext uri="{FF2B5EF4-FFF2-40B4-BE49-F238E27FC236}">
                <a16:creationId xmlns:a16="http://schemas.microsoft.com/office/drawing/2014/main" id="{28FAFD0A-3923-4C1A-8020-FFFA40DE61C5}"/>
              </a:ext>
            </a:extLst>
          </p:cNvPr>
          <p:cNvSpPr/>
          <p:nvPr/>
        </p:nvSpPr>
        <p:spPr>
          <a:xfrm>
            <a:off x="4887694" y="2825549"/>
            <a:ext cx="6349672" cy="1156727"/>
          </a:xfrm>
          <a:prstGeom prst="roundRect">
            <a:avLst/>
          </a:prstGeom>
          <a:solidFill>
            <a:srgbClr val="C7CDE5"/>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Provide advisory and consultancy services to the community, using high profile university faculties and staff experience in different scientific and technical areas of need and impact to UAE services .</a:t>
            </a:r>
          </a:p>
        </p:txBody>
      </p:sp>
      <p:sp>
        <p:nvSpPr>
          <p:cNvPr id="15" name="Rectangle: Rounded Corners 14">
            <a:extLst>
              <a:ext uri="{FF2B5EF4-FFF2-40B4-BE49-F238E27FC236}">
                <a16:creationId xmlns:a16="http://schemas.microsoft.com/office/drawing/2014/main" id="{888A59AA-1166-414B-9CFD-745FA9A90463}"/>
              </a:ext>
            </a:extLst>
          </p:cNvPr>
          <p:cNvSpPr/>
          <p:nvPr/>
        </p:nvSpPr>
        <p:spPr>
          <a:xfrm>
            <a:off x="4887694" y="4804124"/>
            <a:ext cx="6349672" cy="1156727"/>
          </a:xfrm>
          <a:prstGeom prst="roundRect">
            <a:avLst/>
          </a:prstGeom>
          <a:solidFill>
            <a:schemeClr val="accent3">
              <a:lumMod val="40000"/>
              <a:lumOff val="60000"/>
            </a:schemeClr>
          </a:solidFill>
          <a:ln w="28575">
            <a:solidFill>
              <a:srgbClr val="004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Manufacturing facility to cater to the domestic needs of light-weight sporting equipment stemming from cutting edge R&amp;D. It is first of its kind in the GCC region, and the current focus is on manufacturing bicycle frameset using composite materials </a:t>
            </a:r>
          </a:p>
        </p:txBody>
      </p:sp>
      <p:pic>
        <p:nvPicPr>
          <p:cNvPr id="16" name="Graphic 32" descr="Crops">
            <a:extLst>
              <a:ext uri="{FF2B5EF4-FFF2-40B4-BE49-F238E27FC236}">
                <a16:creationId xmlns:a16="http://schemas.microsoft.com/office/drawing/2014/main" id="{A6FFD3B5-F1AE-4C8A-8603-894F2A0C35B0}"/>
              </a:ext>
            </a:extLst>
          </p:cNvPr>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97762" y="3111139"/>
            <a:ext cx="539538" cy="434669"/>
          </a:xfrm>
          <a:prstGeom prst="rect">
            <a:avLst/>
          </a:prstGeom>
        </p:spPr>
      </p:pic>
      <p:pic>
        <p:nvPicPr>
          <p:cNvPr id="17" name="Picture 16">
            <a:extLst>
              <a:ext uri="{FF2B5EF4-FFF2-40B4-BE49-F238E27FC236}">
                <a16:creationId xmlns:a16="http://schemas.microsoft.com/office/drawing/2014/main" id="{EB186F5A-F763-47B5-ABA1-AE42651F8C29}"/>
              </a:ext>
            </a:extLst>
          </p:cNvPr>
          <p:cNvPicPr/>
          <p:nvPr/>
        </p:nvPicPr>
        <p:blipFill>
          <a:blip r:embed="rId6"/>
          <a:stretch>
            <a:fillRect/>
          </a:stretch>
        </p:blipFill>
        <p:spPr>
          <a:xfrm>
            <a:off x="3652147" y="3195353"/>
            <a:ext cx="648935" cy="441647"/>
          </a:xfrm>
          <a:prstGeom prst="rect">
            <a:avLst/>
          </a:prstGeom>
        </p:spPr>
      </p:pic>
      <p:sp>
        <p:nvSpPr>
          <p:cNvPr id="18" name="TextBox 17">
            <a:extLst>
              <a:ext uri="{FF2B5EF4-FFF2-40B4-BE49-F238E27FC236}">
                <a16:creationId xmlns:a16="http://schemas.microsoft.com/office/drawing/2014/main" id="{A5E0F445-3711-45FA-8047-F809D36F7CBF}"/>
              </a:ext>
            </a:extLst>
          </p:cNvPr>
          <p:cNvSpPr txBox="1"/>
          <p:nvPr/>
        </p:nvSpPr>
        <p:spPr>
          <a:xfrm>
            <a:off x="4887694" y="4434792"/>
            <a:ext cx="5456680" cy="369332"/>
          </a:xfrm>
          <a:prstGeom prst="rect">
            <a:avLst/>
          </a:prstGeom>
          <a:noFill/>
        </p:spPr>
        <p:txBody>
          <a:bodyPr wrap="square" rtlCol="0">
            <a:spAutoFit/>
          </a:bodyPr>
          <a:lstStyle/>
          <a:p>
            <a:r>
              <a:rPr lang="en-US" b="1" dirty="0">
                <a:solidFill>
                  <a:srgbClr val="FF0000"/>
                </a:solidFill>
              </a:rPr>
              <a:t>Sports Equipment Manufacturing Company</a:t>
            </a:r>
          </a:p>
        </p:txBody>
      </p:sp>
      <p:sp>
        <p:nvSpPr>
          <p:cNvPr id="19" name="Rectangle 18">
            <a:extLst>
              <a:ext uri="{FF2B5EF4-FFF2-40B4-BE49-F238E27FC236}">
                <a16:creationId xmlns:a16="http://schemas.microsoft.com/office/drawing/2014/main" id="{F77801EF-6256-4441-A2B7-D122F2499E26}"/>
              </a:ext>
            </a:extLst>
          </p:cNvPr>
          <p:cNvSpPr/>
          <p:nvPr/>
        </p:nvSpPr>
        <p:spPr>
          <a:xfrm>
            <a:off x="4839449" y="601928"/>
            <a:ext cx="4334327" cy="369332"/>
          </a:xfrm>
          <a:prstGeom prst="rect">
            <a:avLst/>
          </a:prstGeom>
        </p:spPr>
        <p:txBody>
          <a:bodyPr wrap="none">
            <a:spAutoFit/>
          </a:bodyPr>
          <a:lstStyle/>
          <a:p>
            <a:pPr algn="ctr"/>
            <a:r>
              <a:rPr lang="en-US" b="1" dirty="0">
                <a:solidFill>
                  <a:srgbClr val="FF0000"/>
                </a:solidFill>
              </a:rPr>
              <a:t>Local Manufacturing of Extraction Reagents</a:t>
            </a:r>
          </a:p>
        </p:txBody>
      </p:sp>
      <p:pic>
        <p:nvPicPr>
          <p:cNvPr id="20" name="Picture 19">
            <a:extLst>
              <a:ext uri="{FF2B5EF4-FFF2-40B4-BE49-F238E27FC236}">
                <a16:creationId xmlns:a16="http://schemas.microsoft.com/office/drawing/2014/main" id="{2370609C-C701-44C5-BF2D-4CB5EEF77B63}"/>
              </a:ext>
            </a:extLst>
          </p:cNvPr>
          <p:cNvPicPr/>
          <p:nvPr/>
        </p:nvPicPr>
        <p:blipFill>
          <a:blip r:embed="rId7"/>
          <a:stretch>
            <a:fillRect/>
          </a:stretch>
        </p:blipFill>
        <p:spPr>
          <a:xfrm>
            <a:off x="3222767" y="1627758"/>
            <a:ext cx="492380" cy="724674"/>
          </a:xfrm>
          <a:prstGeom prst="rect">
            <a:avLst/>
          </a:prstGeom>
        </p:spPr>
      </p:pic>
      <p:pic>
        <p:nvPicPr>
          <p:cNvPr id="21" name="Picture 20">
            <a:extLst>
              <a:ext uri="{FF2B5EF4-FFF2-40B4-BE49-F238E27FC236}">
                <a16:creationId xmlns:a16="http://schemas.microsoft.com/office/drawing/2014/main" id="{0CB36F8A-1EB1-4FF6-8B97-780C7FA02627}"/>
              </a:ext>
            </a:extLst>
          </p:cNvPr>
          <p:cNvPicPr/>
          <p:nvPr/>
        </p:nvPicPr>
        <p:blipFill>
          <a:blip r:embed="rId8"/>
          <a:stretch>
            <a:fillRect/>
          </a:stretch>
        </p:blipFill>
        <p:spPr>
          <a:xfrm>
            <a:off x="3299993" y="5010665"/>
            <a:ext cx="616460" cy="531416"/>
          </a:xfrm>
          <a:prstGeom prst="rect">
            <a:avLst/>
          </a:prstGeom>
        </p:spPr>
      </p:pic>
      <p:cxnSp>
        <p:nvCxnSpPr>
          <p:cNvPr id="22" name="Straight Connector 21">
            <a:extLst>
              <a:ext uri="{FF2B5EF4-FFF2-40B4-BE49-F238E27FC236}">
                <a16:creationId xmlns:a16="http://schemas.microsoft.com/office/drawing/2014/main" id="{93D20F95-896A-42CA-96BE-AB6DFE41D4A1}"/>
              </a:ext>
            </a:extLst>
          </p:cNvPr>
          <p:cNvCxnSpPr>
            <a:cxnSpLocks/>
            <a:stCxn id="10" idx="1"/>
          </p:cNvCxnSpPr>
          <p:nvPr/>
        </p:nvCxnSpPr>
        <p:spPr>
          <a:xfrm flipH="1">
            <a:off x="2178638" y="1990095"/>
            <a:ext cx="750732" cy="3623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0F7FE1-D78D-471B-A09B-D780F43F0AF4}"/>
              </a:ext>
            </a:extLst>
          </p:cNvPr>
          <p:cNvCxnSpPr>
            <a:cxnSpLocks/>
            <a:endCxn id="9" idx="1"/>
          </p:cNvCxnSpPr>
          <p:nvPr/>
        </p:nvCxnSpPr>
        <p:spPr>
          <a:xfrm>
            <a:off x="3116530" y="3451030"/>
            <a:ext cx="3524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7C3C5CE-2E7B-483D-9A5A-4D11A60EA011}"/>
              </a:ext>
            </a:extLst>
          </p:cNvPr>
          <p:cNvCxnSpPr>
            <a:cxnSpLocks/>
          </p:cNvCxnSpPr>
          <p:nvPr/>
        </p:nvCxnSpPr>
        <p:spPr>
          <a:xfrm>
            <a:off x="2648197" y="5094514"/>
            <a:ext cx="441821" cy="12397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itle 1">
            <a:extLst>
              <a:ext uri="{FF2B5EF4-FFF2-40B4-BE49-F238E27FC236}">
                <a16:creationId xmlns:a16="http://schemas.microsoft.com/office/drawing/2014/main" id="{7382B155-DF63-41A8-BCDC-55070C69F9D1}"/>
              </a:ext>
            </a:extLst>
          </p:cNvPr>
          <p:cNvSpPr txBox="1">
            <a:spLocks/>
          </p:cNvSpPr>
          <p:nvPr/>
        </p:nvSpPr>
        <p:spPr>
          <a:xfrm>
            <a:off x="303174" y="403879"/>
            <a:ext cx="3618535" cy="5530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spc="0" baseline="0">
                <a:solidFill>
                  <a:schemeClr val="tx2"/>
                </a:solidFill>
                <a:latin typeface="+mj-lt"/>
                <a:ea typeface="+mj-ea"/>
                <a:cs typeface="+mj-cs"/>
              </a:defRPr>
            </a:lvl1pPr>
          </a:lstStyle>
          <a:p>
            <a:pPr marL="457200" indent="-457200" algn="l">
              <a:lnSpc>
                <a:spcPct val="100000"/>
              </a:lnSpc>
              <a:buFont typeface="Wingdings" panose="05000000000000000000" pitchFamily="2" charset="2"/>
              <a:buChar char="q"/>
            </a:pPr>
            <a:r>
              <a:rPr lang="en-US" sz="2500" spc="50" dirty="0">
                <a:solidFill>
                  <a:srgbClr val="A39161"/>
                </a:solidFill>
                <a:cs typeface="Traditional Arabic"/>
              </a:rPr>
              <a:t>Proposed Companies</a:t>
            </a:r>
          </a:p>
        </p:txBody>
      </p:sp>
    </p:spTree>
    <p:extLst>
      <p:ext uri="{BB962C8B-B14F-4D97-AF65-F5344CB8AC3E}">
        <p14:creationId xmlns:p14="http://schemas.microsoft.com/office/powerpoint/2010/main" val="4146483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8538</TotalTime>
  <Words>1418</Words>
  <Application>Microsoft Office PowerPoint</Application>
  <PresentationFormat>Widescreen</PresentationFormat>
  <Paragraphs>203</Paragraphs>
  <Slides>19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ff-meta-web-pro-1</vt:lpstr>
      <vt:lpstr>Times New Roman</vt:lpstr>
      <vt:lpstr>Traditional Arabic</vt:lpstr>
      <vt:lpstr>Wingdings</vt:lpstr>
      <vt:lpstr>Office Theme</vt:lpstr>
      <vt:lpstr>2_Office Theme</vt:lpstr>
      <vt:lpstr>KU Enterprise Management Company</vt:lpstr>
      <vt:lpstr>Part 1 Proposed Operating Model</vt:lpstr>
      <vt:lpstr>Proposed Operating Model for Khalifa University Enterprises Management Company</vt:lpstr>
      <vt:lpstr>PowerPoint Presentation</vt:lpstr>
      <vt:lpstr>PowerPoint Presentation</vt:lpstr>
      <vt:lpstr>PowerPoint Presentation</vt:lpstr>
      <vt:lpstr>Part 2 Proposed Governance Model</vt:lpstr>
      <vt:lpstr>Proposed Governance Model Options for the proposed governance structure</vt:lpstr>
      <vt:lpstr>Part 3 Khalifa University Financial Sustainability</vt:lpstr>
      <vt:lpstr>Perspectives on Management of Endowments in Top-Ranked Universities:  </vt:lpstr>
      <vt:lpstr>KU Financial Sustainability </vt:lpstr>
      <vt:lpstr>Part 4 Economic Model for Leveraging KU Facilities </vt:lpstr>
      <vt:lpstr>Leveraging KU facilities:  </vt:lpstr>
      <vt:lpstr>Leveraging KU facilities (continue..)  Recommendations :-</vt:lpstr>
      <vt:lpstr>Appendix </vt:lpstr>
      <vt:lpstr>Thank You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Hesham Salem</cp:lastModifiedBy>
  <cp:revision>226</cp:revision>
  <dcterms:created xsi:type="dcterms:W3CDTF">2020-07-12T20:29:25Z</dcterms:created>
  <dcterms:modified xsi:type="dcterms:W3CDTF">2023-05-10T06:32:30Z</dcterms:modified>
</cp:coreProperties>
</file>