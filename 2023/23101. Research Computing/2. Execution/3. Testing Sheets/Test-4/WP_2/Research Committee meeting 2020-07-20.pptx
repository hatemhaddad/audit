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27"/>
  </p:notesMasterIdLst>
  <p:sldIdLst>
    <p:sldId id="256" r:id="rId3"/>
    <p:sldId id="257" r:id="rId4"/>
    <p:sldId id="296" r:id="rId5"/>
    <p:sldId id="297" r:id="rId6"/>
    <p:sldId id="300" r:id="rId7"/>
    <p:sldId id="308" r:id="rId8"/>
    <p:sldId id="301" r:id="rId9"/>
    <p:sldId id="299" r:id="rId10"/>
    <p:sldId id="303" r:id="rId11"/>
    <p:sldId id="304" r:id="rId12"/>
    <p:sldId id="305" r:id="rId13"/>
    <p:sldId id="306" r:id="rId14"/>
    <p:sldId id="307" r:id="rId15"/>
    <p:sldId id="302" r:id="rId16"/>
    <p:sldId id="309" r:id="rId17"/>
    <p:sldId id="298" r:id="rId18"/>
    <p:sldId id="290" r:id="rId19"/>
    <p:sldId id="291" r:id="rId20"/>
    <p:sldId id="292" r:id="rId21"/>
    <p:sldId id="293" r:id="rId22"/>
    <p:sldId id="294" r:id="rId23"/>
    <p:sldId id="295" r:id="rId24"/>
    <p:sldId id="310" r:id="rId25"/>
    <p:sldId id="31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003"/>
    <p:restoredTop sz="94558"/>
  </p:normalViewPr>
  <p:slideViewPr>
    <p:cSldViewPr snapToGrid="0" snapToObjects="1">
      <p:cViewPr varScale="1">
        <p:scale>
          <a:sx n="153" d="100"/>
          <a:sy n="153" d="100"/>
        </p:scale>
        <p:origin x="70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delmoghraby/midriveapp/research%20documents/Clusters_Statistics/Queues_distribution.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2016</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MI!$D$2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6023-5942-9D79-7A475182E920}"/>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6023-5942-9D79-7A475182E920}"/>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6023-5942-9D79-7A475182E920}"/>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6023-5942-9D79-7A475182E920}"/>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9-6023-5942-9D79-7A475182E920}"/>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6023-5942-9D79-7A475182E920}"/>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6023-5942-9D79-7A475182E920}"/>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6023-5942-9D79-7A475182E920}"/>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6023-5942-9D79-7A475182E920}"/>
                </c:ext>
              </c:extLst>
            </c:dLbl>
            <c:dLbl>
              <c:idx val="4"/>
              <c:layout>
                <c:manualLayout>
                  <c:x val="1.1738810541143761E-2"/>
                  <c:y val="-1.6443985892700186E-2"/>
                </c:manualLayout>
              </c:layout>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5"/>
                      </a:solidFill>
                      <a:latin typeface="+mn-lt"/>
                      <a:ea typeface="+mn-ea"/>
                      <a:cs typeface="+mn-cs"/>
                    </a:defRPr>
                  </a:pPr>
                  <a:endParaRPr lang="en-AE"/>
                </a:p>
              </c:txPr>
              <c:dLblPos val="bestFit"/>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9-6023-5942-9D79-7A475182E920}"/>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MI!$A$3:$A$7</c:f>
              <c:strCache>
                <c:ptCount val="5"/>
                <c:pt idx="0">
                  <c:v>general</c:v>
                </c:pt>
                <c:pt idx="1">
                  <c:v>long</c:v>
                </c:pt>
                <c:pt idx="2">
                  <c:v>gpu</c:v>
                </c:pt>
                <c:pt idx="3">
                  <c:v>high</c:v>
                </c:pt>
                <c:pt idx="4">
                  <c:v>training</c:v>
                </c:pt>
              </c:strCache>
            </c:strRef>
          </c:cat>
          <c:val>
            <c:numRef>
              <c:f>MI!$D$3:$D$7</c:f>
              <c:numCache>
                <c:formatCode>General</c:formatCode>
                <c:ptCount val="5"/>
                <c:pt idx="0">
                  <c:v>1560</c:v>
                </c:pt>
                <c:pt idx="1">
                  <c:v>168</c:v>
                </c:pt>
                <c:pt idx="2">
                  <c:v>96</c:v>
                </c:pt>
                <c:pt idx="3">
                  <c:v>96</c:v>
                </c:pt>
                <c:pt idx="4">
                  <c:v>96</c:v>
                </c:pt>
              </c:numCache>
            </c:numRef>
          </c:val>
          <c:extLst>
            <c:ext xmlns:c16="http://schemas.microsoft.com/office/drawing/2014/chart" uri="{C3380CC4-5D6E-409C-BE32-E72D297353CC}">
              <c16:uniqueId val="{0000000A-6023-5942-9D79-7A475182E920}"/>
            </c:ext>
          </c:extLst>
        </c:ser>
        <c:ser>
          <c:idx val="1"/>
          <c:order val="1"/>
          <c:tx>
            <c:strRef>
              <c:f>MI!$I$2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6023-5942-9D79-7A475182E920}"/>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6023-5942-9D79-7A475182E920}"/>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6023-5942-9D79-7A475182E920}"/>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2-6023-5942-9D79-7A475182E920}"/>
              </c:ext>
            </c:extLst>
          </c:dPt>
          <c:dPt>
            <c:idx val="4"/>
            <c:bubble3D val="0"/>
            <c:spPr>
              <a:solidFill>
                <a:schemeClr val="accent5"/>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4-6023-5942-9D79-7A475182E920}"/>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6023-5942-9D79-7A475182E920}"/>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6023-5942-9D79-7A475182E920}"/>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6023-5942-9D79-7A475182E920}"/>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2-6023-5942-9D79-7A475182E920}"/>
                </c:ext>
              </c:extLst>
            </c:dLbl>
            <c:dLbl>
              <c:idx val="4"/>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5"/>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4-6023-5942-9D79-7A475182E920}"/>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MI!$A$3:$A$7</c:f>
              <c:strCache>
                <c:ptCount val="5"/>
                <c:pt idx="0">
                  <c:v>general</c:v>
                </c:pt>
                <c:pt idx="1">
                  <c:v>long</c:v>
                </c:pt>
                <c:pt idx="2">
                  <c:v>gpu</c:v>
                </c:pt>
                <c:pt idx="3">
                  <c:v>high</c:v>
                </c:pt>
                <c:pt idx="4">
                  <c:v>training</c:v>
                </c:pt>
              </c:strCache>
            </c:strRef>
          </c:cat>
          <c:val>
            <c:numRef>
              <c:f>MI!$I$3:$I$7</c:f>
              <c:numCache>
                <c:formatCode>General</c:formatCode>
                <c:ptCount val="5"/>
                <c:pt idx="0">
                  <c:v>0.77380952380952384</c:v>
                </c:pt>
                <c:pt idx="1">
                  <c:v>8.3333333333333329E-2</c:v>
                </c:pt>
                <c:pt idx="2">
                  <c:v>4.7619047619047616E-2</c:v>
                </c:pt>
                <c:pt idx="3">
                  <c:v>4.7619047619047616E-2</c:v>
                </c:pt>
                <c:pt idx="4">
                  <c:v>4.7619047619047616E-2</c:v>
                </c:pt>
              </c:numCache>
            </c:numRef>
          </c:val>
          <c:extLst>
            <c:ext xmlns:c16="http://schemas.microsoft.com/office/drawing/2014/chart" uri="{C3380CC4-5D6E-409C-BE32-E72D297353CC}">
              <c16:uniqueId val="{00000015-6023-5942-9D79-7A475182E920}"/>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r>
              <a:rPr lang="en-US"/>
              <a:t>Percentage of Cores per queue</a:t>
            </a:r>
          </a:p>
          <a:p>
            <a:pPr>
              <a:defRPr/>
            </a:pPr>
            <a:r>
              <a:rPr lang="en-US"/>
              <a:t>total number of cores = 1100</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mn-lt"/>
              <a:ea typeface="+mn-ea"/>
              <a:cs typeface="+mn-cs"/>
            </a:defRPr>
          </a:pPr>
          <a:endParaRPr lang="en-AE"/>
        </a:p>
      </c:txPr>
    </c:title>
    <c:autoTitleDeleted val="0"/>
    <c:plotArea>
      <c:layout/>
      <c:pieChart>
        <c:varyColors val="1"/>
        <c:ser>
          <c:idx val="0"/>
          <c:order val="0"/>
          <c:tx>
            <c:strRef>
              <c:f>SAN!$D$2</c:f>
              <c:strCache>
                <c:ptCount val="1"/>
                <c:pt idx="0">
                  <c:v>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0528-9D46-9141-258157EFE410}"/>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0528-9D46-9141-258157EFE410}"/>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0528-9D46-9141-258157EFE410}"/>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7-0528-9D46-9141-258157EFE410}"/>
              </c:ext>
            </c:extLst>
          </c:dPt>
          <c:dLbls>
            <c:dLbl>
              <c:idx val="0"/>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1"/>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0528-9D46-9141-258157EFE410}"/>
                </c:ext>
              </c:extLst>
            </c:dLbl>
            <c:dLbl>
              <c:idx val="1"/>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2"/>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0528-9D46-9141-258157EFE410}"/>
                </c:ext>
              </c:extLst>
            </c:dLbl>
            <c:dLbl>
              <c:idx val="2"/>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3"/>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0528-9D46-9141-258157EFE410}"/>
                </c:ext>
              </c:extLst>
            </c:dLbl>
            <c:dLbl>
              <c:idx val="3"/>
              <c:spPr>
                <a:solidFill>
                  <a:sysClr val="window" lastClr="FFFFFF"/>
                </a:solidFill>
                <a:ln>
                  <a:solidFill>
                    <a:srgbClr val="5B9BD5"/>
                  </a:solidFill>
                </a:ln>
                <a:effectLst/>
              </c:spPr>
              <c:txPr>
                <a:bodyPr rot="0" spcFirstLastPara="1" vertOverflow="clip" horzOverflow="clip" vert="horz" wrap="square" lIns="38100" tIns="19050" rIns="38100" bIns="19050" anchor="ctr" anchorCtr="1">
                  <a:spAutoFit/>
                </a:bodyPr>
                <a:lstStyle/>
                <a:p>
                  <a:pPr>
                    <a:defRPr sz="1000" b="1" i="0" u="none" strike="noStrike" kern="1200" baseline="0">
                      <a:solidFill>
                        <a:schemeClr val="accent4"/>
                      </a:solidFill>
                      <a:latin typeface="+mn-lt"/>
                      <a:ea typeface="+mn-ea"/>
                      <a:cs typeface="+mn-cs"/>
                    </a:defRPr>
                  </a:pPr>
                  <a:endParaRPr lang="en-AE"/>
                </a:p>
              </c:txPr>
              <c:dLblPos val="outEnd"/>
              <c:showLegendKey val="0"/>
              <c:showVal val="1"/>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7-0528-9D46-9141-258157EFE410}"/>
                </c:ext>
              </c:extLst>
            </c:dLbl>
            <c:spPr>
              <a:solidFill>
                <a:sysClr val="window" lastClr="FFFFFF"/>
              </a:solidFill>
              <a:ln>
                <a:solidFill>
                  <a:srgbClr val="5B9BD5"/>
                </a:solidFill>
              </a:ln>
              <a:effectLst/>
            </c:spPr>
            <c:dLblPos val="outEnd"/>
            <c:showLegendKey val="0"/>
            <c:showVal val="1"/>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SAN!$A$3:$A$6</c:f>
              <c:strCache>
                <c:ptCount val="4"/>
                <c:pt idx="0">
                  <c:v>Q1</c:v>
                </c:pt>
                <c:pt idx="1">
                  <c:v>Q2</c:v>
                </c:pt>
                <c:pt idx="2">
                  <c:v>Q3</c:v>
                </c:pt>
                <c:pt idx="3">
                  <c:v>QGPU</c:v>
                </c:pt>
              </c:strCache>
            </c:strRef>
          </c:cat>
          <c:val>
            <c:numRef>
              <c:f>SAN!$D$3:$D$6</c:f>
              <c:numCache>
                <c:formatCode>General</c:formatCode>
                <c:ptCount val="4"/>
                <c:pt idx="0">
                  <c:v>72</c:v>
                </c:pt>
                <c:pt idx="1">
                  <c:v>276</c:v>
                </c:pt>
                <c:pt idx="2">
                  <c:v>656</c:v>
                </c:pt>
                <c:pt idx="3">
                  <c:v>96</c:v>
                </c:pt>
              </c:numCache>
            </c:numRef>
          </c:val>
          <c:extLst>
            <c:ext xmlns:c16="http://schemas.microsoft.com/office/drawing/2014/chart" uri="{C3380CC4-5D6E-409C-BE32-E72D297353CC}">
              <c16:uniqueId val="{00000008-0528-9D46-9141-258157EFE410}"/>
            </c:ext>
          </c:extLst>
        </c:ser>
        <c:ser>
          <c:idx val="1"/>
          <c:order val="1"/>
          <c:tx>
            <c:strRef>
              <c:f>SAN!$I$2</c:f>
              <c:strCache>
                <c:ptCount val="1"/>
                <c:pt idx="0">
                  <c:v>Perc Cores</c:v>
                </c:pt>
              </c:strCache>
            </c:strRef>
          </c:tx>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A-0528-9D46-9141-258157EFE410}"/>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C-0528-9D46-9141-258157EFE410}"/>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E-0528-9D46-9141-258157EFE410}"/>
              </c:ext>
            </c:extLst>
          </c:dPt>
          <c:dPt>
            <c:idx val="3"/>
            <c:bubble3D val="0"/>
            <c:spPr>
              <a:solidFill>
                <a:schemeClr val="accent4"/>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10-0528-9D46-9141-258157EFE410}"/>
              </c:ext>
            </c:extLst>
          </c:dPt>
          <c:dLbls>
            <c:dLbl>
              <c:idx val="0"/>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1"/>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A-0528-9D46-9141-258157EFE410}"/>
                </c:ext>
              </c:extLst>
            </c:dLbl>
            <c:dLbl>
              <c:idx val="1"/>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2"/>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C-0528-9D46-9141-258157EFE410}"/>
                </c:ext>
              </c:extLst>
            </c:dLbl>
            <c:dLbl>
              <c:idx val="2"/>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3"/>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0E-0528-9D46-9141-258157EFE410}"/>
                </c:ext>
              </c:extLst>
            </c:dLbl>
            <c:dLbl>
              <c:idx val="3"/>
              <c:spPr>
                <a:noFill/>
                <a:ln>
                  <a:noFill/>
                </a:ln>
                <a:effectLst/>
              </c:spPr>
              <c:txPr>
                <a:bodyPr rot="0" spcFirstLastPara="1" vertOverflow="ellipsis" vert="horz" wrap="square" lIns="38100" tIns="19050" rIns="38100" bIns="19050" anchor="ctr" anchorCtr="1">
                  <a:spAutoFit/>
                </a:bodyPr>
                <a:lstStyle/>
                <a:p>
                  <a:pPr>
                    <a:defRPr sz="1000" b="1" i="0" u="none" strike="noStrike" kern="1200" spc="0" baseline="0">
                      <a:solidFill>
                        <a:schemeClr val="accent4"/>
                      </a:solidFill>
                      <a:latin typeface="+mn-lt"/>
                      <a:ea typeface="+mn-ea"/>
                      <a:cs typeface="+mn-cs"/>
                    </a:defRPr>
                  </a:pPr>
                  <a:endParaRPr lang="en-AE"/>
                </a:p>
              </c:txPr>
              <c:dLblPos val="outEnd"/>
              <c:showLegendKey val="0"/>
              <c:showVal val="0"/>
              <c:showCatName val="1"/>
              <c:showSerName val="0"/>
              <c:showPercent val="0"/>
              <c:showBubbleSize val="0"/>
              <c:extLst>
                <c:ext xmlns:c16="http://schemas.microsoft.com/office/drawing/2014/chart" uri="{C3380CC4-5D6E-409C-BE32-E72D297353CC}">
                  <c16:uniqueId val="{00000010-0528-9D46-9141-258157EFE410}"/>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SAN!$A$3:$A$6</c:f>
              <c:strCache>
                <c:ptCount val="4"/>
                <c:pt idx="0">
                  <c:v>Q1</c:v>
                </c:pt>
                <c:pt idx="1">
                  <c:v>Q2</c:v>
                </c:pt>
                <c:pt idx="2">
                  <c:v>Q3</c:v>
                </c:pt>
                <c:pt idx="3">
                  <c:v>QGPU</c:v>
                </c:pt>
              </c:strCache>
            </c:strRef>
          </c:cat>
          <c:val>
            <c:numRef>
              <c:f>SAN!$I$3:$I$6</c:f>
              <c:numCache>
                <c:formatCode>General</c:formatCode>
                <c:ptCount val="4"/>
                <c:pt idx="0">
                  <c:v>6.545454545454546E-2</c:v>
                </c:pt>
                <c:pt idx="1">
                  <c:v>0.25090909090909091</c:v>
                </c:pt>
                <c:pt idx="2">
                  <c:v>0.59636363636363632</c:v>
                </c:pt>
                <c:pt idx="3">
                  <c:v>8.727272727272728E-2</c:v>
                </c:pt>
              </c:numCache>
            </c:numRef>
          </c:val>
          <c:extLst>
            <c:ext xmlns:c16="http://schemas.microsoft.com/office/drawing/2014/chart" uri="{C3380CC4-5D6E-409C-BE32-E72D297353CC}">
              <c16:uniqueId val="{00000011-0528-9D46-9141-258157EFE410}"/>
            </c:ext>
          </c:extLst>
        </c:ser>
        <c:dLbls>
          <c:dLblPos val="outEnd"/>
          <c:showLegendKey val="0"/>
          <c:showVal val="0"/>
          <c:showCatName val="1"/>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AE"/>
        </a:p>
      </c:txPr>
    </c:legend>
    <c:plotVisOnly val="1"/>
    <c:dispBlanksAs val="gap"/>
    <c:showDLblsOverMax val="0"/>
  </c:chart>
  <c:spPr>
    <a:noFill/>
    <a:ln>
      <a:noFill/>
    </a:ln>
    <a:effectLst/>
  </c:spPr>
  <c:txPr>
    <a:bodyPr/>
    <a:lstStyle/>
    <a:p>
      <a:pPr>
        <a:defRPr/>
      </a:pPr>
      <a:endParaRPr lang="en-A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533520" y="764280"/>
            <a:ext cx="6704640" cy="3771360"/>
          </a:xfrm>
          <a:prstGeom prst="rect">
            <a:avLst/>
          </a:prstGeom>
        </p:spPr>
        <p:txBody>
          <a:bodyPr lIns="0" tIns="0" rIns="0" bIns="0" anchor="ctr">
            <a:noAutofit/>
          </a:bodyPr>
          <a:lstStyle/>
          <a:p>
            <a:pPr algn="ctr"/>
            <a:r>
              <a:rPr lang="en-US" sz="4400" b="0" strike="noStrike" spc="-1">
                <a:latin typeface="Arial"/>
              </a:rPr>
              <a:t>Click to move the slide</a:t>
            </a:r>
          </a:p>
        </p:txBody>
      </p:sp>
      <p:sp>
        <p:nvSpPr>
          <p:cNvPr id="461" name="PlaceHolder 2"/>
          <p:cNvSpPr>
            <a:spLocks noGrp="1"/>
          </p:cNvSpPr>
          <p:nvPr>
            <p:ph type="body"/>
          </p:nvPr>
        </p:nvSpPr>
        <p:spPr>
          <a:xfrm>
            <a:off x="777240" y="4777560"/>
            <a:ext cx="6217560" cy="4525920"/>
          </a:xfrm>
          <a:prstGeom prst="rect">
            <a:avLst/>
          </a:prstGeom>
        </p:spPr>
        <p:txBody>
          <a:bodyPr lIns="0" tIns="0" rIns="0" bIns="0">
            <a:noAutofit/>
          </a:bodyPr>
          <a:lstStyle/>
          <a:p>
            <a:r>
              <a:rPr lang="en-US" sz="2000" b="0" strike="noStrike" spc="-1">
                <a:latin typeface="Arial"/>
              </a:rPr>
              <a:t>Click to edit the notes format</a:t>
            </a:r>
          </a:p>
        </p:txBody>
      </p:sp>
      <p:sp>
        <p:nvSpPr>
          <p:cNvPr id="462" name="PlaceHolder 3"/>
          <p:cNvSpPr>
            <a:spLocks noGrp="1"/>
          </p:cNvSpPr>
          <p:nvPr>
            <p:ph type="hdr"/>
          </p:nvPr>
        </p:nvSpPr>
        <p:spPr>
          <a:xfrm>
            <a:off x="0" y="0"/>
            <a:ext cx="3372840" cy="502560"/>
          </a:xfrm>
          <a:prstGeom prst="rect">
            <a:avLst/>
          </a:prstGeom>
        </p:spPr>
        <p:txBody>
          <a:bodyPr lIns="0" tIns="0" rIns="0" bIns="0">
            <a:noAutofit/>
          </a:bodyPr>
          <a:lstStyle/>
          <a:p>
            <a:r>
              <a:rPr lang="en-US" sz="1400" b="0" strike="noStrike" spc="-1">
                <a:latin typeface="Times New Roman"/>
              </a:rPr>
              <a:t> </a:t>
            </a:r>
          </a:p>
        </p:txBody>
      </p:sp>
      <p:sp>
        <p:nvSpPr>
          <p:cNvPr id="463" name="PlaceHolder 4"/>
          <p:cNvSpPr>
            <a:spLocks noGrp="1"/>
          </p:cNvSpPr>
          <p:nvPr>
            <p:ph type="dt"/>
          </p:nvPr>
        </p:nvSpPr>
        <p:spPr>
          <a:xfrm>
            <a:off x="4399200" y="0"/>
            <a:ext cx="3372840" cy="502560"/>
          </a:xfrm>
          <a:prstGeom prst="rect">
            <a:avLst/>
          </a:prstGeom>
        </p:spPr>
        <p:txBody>
          <a:bodyPr lIns="0" tIns="0" rIns="0" bIns="0">
            <a:noAutofit/>
          </a:bodyPr>
          <a:lstStyle/>
          <a:p>
            <a:pPr algn="r"/>
            <a:r>
              <a:rPr lang="en-US" sz="1400" b="0" strike="noStrike" spc="-1">
                <a:latin typeface="Times New Roman"/>
              </a:rPr>
              <a:t> </a:t>
            </a:r>
          </a:p>
        </p:txBody>
      </p:sp>
      <p:sp>
        <p:nvSpPr>
          <p:cNvPr id="464" name="PlaceHolder 5"/>
          <p:cNvSpPr>
            <a:spLocks noGrp="1"/>
          </p:cNvSpPr>
          <p:nvPr>
            <p:ph type="ftr"/>
          </p:nvPr>
        </p:nvSpPr>
        <p:spPr>
          <a:xfrm>
            <a:off x="0" y="9555480"/>
            <a:ext cx="3372840" cy="502560"/>
          </a:xfrm>
          <a:prstGeom prst="rect">
            <a:avLst/>
          </a:prstGeom>
        </p:spPr>
        <p:txBody>
          <a:bodyPr lIns="0" tIns="0" rIns="0" bIns="0" anchor="b">
            <a:noAutofit/>
          </a:bodyPr>
          <a:lstStyle/>
          <a:p>
            <a:r>
              <a:rPr lang="en-US" sz="1400" b="0" strike="noStrike" spc="-1">
                <a:latin typeface="Times New Roman"/>
              </a:rPr>
              <a:t> </a:t>
            </a:r>
          </a:p>
        </p:txBody>
      </p:sp>
      <p:sp>
        <p:nvSpPr>
          <p:cNvPr id="465" name="PlaceHolder 6"/>
          <p:cNvSpPr>
            <a:spLocks noGrp="1"/>
          </p:cNvSpPr>
          <p:nvPr>
            <p:ph type="sldNum"/>
          </p:nvPr>
        </p:nvSpPr>
        <p:spPr>
          <a:xfrm>
            <a:off x="4399200" y="9555480"/>
            <a:ext cx="3372840" cy="502560"/>
          </a:xfrm>
          <a:prstGeom prst="rect">
            <a:avLst/>
          </a:prstGeom>
        </p:spPr>
        <p:txBody>
          <a:bodyPr lIns="0" tIns="0" rIns="0" bIns="0" anchor="b">
            <a:noAutofit/>
          </a:bodyPr>
          <a:lstStyle/>
          <a:p>
            <a:pPr algn="r"/>
            <a:fld id="{F7351207-CA38-459F-8CF8-67664B620D33}" type="slidenum">
              <a:rPr lang="en-US" sz="1400" b="0" strike="noStrike" spc="-1">
                <a:latin typeface="Times New Roman"/>
              </a:rPr>
              <a:t>‹#›</a:t>
            </a:fld>
            <a:endParaRPr lang="en-US"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3</a:t>
            </a:fld>
            <a:endParaRPr lang="en-US" sz="1400" b="0" strike="noStrike" spc="-1">
              <a:latin typeface="Times New Roman"/>
            </a:endParaRPr>
          </a:p>
        </p:txBody>
      </p:sp>
    </p:spTree>
    <p:extLst>
      <p:ext uri="{BB962C8B-B14F-4D97-AF65-F5344CB8AC3E}">
        <p14:creationId xmlns:p14="http://schemas.microsoft.com/office/powerpoint/2010/main" val="646560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4</a:t>
            </a:fld>
            <a:endParaRPr lang="en-US" sz="1400" b="0" strike="noStrike" spc="-1">
              <a:latin typeface="Times New Roman"/>
            </a:endParaRPr>
          </a:p>
        </p:txBody>
      </p:sp>
    </p:spTree>
    <p:extLst>
      <p:ext uri="{BB962C8B-B14F-4D97-AF65-F5344CB8AC3E}">
        <p14:creationId xmlns:p14="http://schemas.microsoft.com/office/powerpoint/2010/main" val="9306858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2735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6135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773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78824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6859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r>
              <a:rPr lang="en-US" b="1" dirty="0"/>
              <a:t>Sustainability:</a:t>
            </a:r>
            <a:r>
              <a:rPr lang="en-US" dirty="0"/>
              <a:t> Provision of research computing hardware resources needs to be consistent and sustainable. This would entail periodic investment by KU. Alongside this, appropriate life cycle management needs to be </a:t>
            </a:r>
            <a:r>
              <a:rPr lang="en-US" dirty="0" err="1"/>
              <a:t>implemented;useful</a:t>
            </a:r>
            <a:r>
              <a:rPr lang="en-US" dirty="0"/>
              <a:t> lifetime of equipment needs to be defined, the equipment then repurposed and retired as appropriate.</a:t>
            </a:r>
          </a:p>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17</a:t>
            </a:fld>
            <a:endParaRPr lang="en-US" sz="1400" b="0" strike="noStrike" spc="-1">
              <a:latin typeface="Times New Roman"/>
            </a:endParaRPr>
          </a:p>
        </p:txBody>
      </p:sp>
    </p:spTree>
    <p:extLst>
      <p:ext uri="{BB962C8B-B14F-4D97-AF65-F5344CB8AC3E}">
        <p14:creationId xmlns:p14="http://schemas.microsoft.com/office/powerpoint/2010/main" val="19174153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r>
              <a:rPr lang="en-US" b="1" dirty="0"/>
              <a:t>Multiple levels of computation:</a:t>
            </a:r>
            <a:r>
              <a:rPr lang="en-US" b="0" dirty="0"/>
              <a:t> It is important to acknowledge that one size does not fit all, and that there multiple levels of computational requirements across research. These would range from workstations, to cloud services, university level HPC as well as national level supercomputer access. Processes and mechanisms for capturing and satisfying all of these requirements need to be developed. It is crucial that these mechanisms and processes be as simple and efficient as possible and easily accessible to KU researchers.</a:t>
            </a:r>
          </a:p>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18</a:t>
            </a:fld>
            <a:endParaRPr lang="en-US" sz="1400" b="0" strike="noStrike" spc="-1">
              <a:latin typeface="Times New Roman"/>
            </a:endParaRPr>
          </a:p>
        </p:txBody>
      </p:sp>
    </p:spTree>
    <p:extLst>
      <p:ext uri="{BB962C8B-B14F-4D97-AF65-F5344CB8AC3E}">
        <p14:creationId xmlns:p14="http://schemas.microsoft.com/office/powerpoint/2010/main" val="12176849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19</a:t>
            </a:fld>
            <a:endParaRPr lang="en-US" sz="1400" b="0" strike="noStrike" spc="-1">
              <a:latin typeface="Times New Roman"/>
            </a:endParaRPr>
          </a:p>
        </p:txBody>
      </p:sp>
    </p:spTree>
    <p:extLst>
      <p:ext uri="{BB962C8B-B14F-4D97-AF65-F5344CB8AC3E}">
        <p14:creationId xmlns:p14="http://schemas.microsoft.com/office/powerpoint/2010/main" val="4065374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20</a:t>
            </a:fld>
            <a:endParaRPr lang="en-US" sz="1400" b="0" strike="noStrike" spc="-1">
              <a:latin typeface="Times New Roman"/>
            </a:endParaRPr>
          </a:p>
        </p:txBody>
      </p:sp>
    </p:spTree>
    <p:extLst>
      <p:ext uri="{BB962C8B-B14F-4D97-AF65-F5344CB8AC3E}">
        <p14:creationId xmlns:p14="http://schemas.microsoft.com/office/powerpoint/2010/main" val="27839182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21</a:t>
            </a:fld>
            <a:endParaRPr lang="en-US" sz="1400" b="0" strike="noStrike" spc="-1">
              <a:latin typeface="Times New Roman"/>
            </a:endParaRPr>
          </a:p>
        </p:txBody>
      </p:sp>
    </p:spTree>
    <p:extLst>
      <p:ext uri="{BB962C8B-B14F-4D97-AF65-F5344CB8AC3E}">
        <p14:creationId xmlns:p14="http://schemas.microsoft.com/office/powerpoint/2010/main" val="411254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533400" y="763588"/>
            <a:ext cx="6704013" cy="37719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p:nvPr>
        </p:nvSpPr>
        <p:spPr/>
        <p:txBody>
          <a:bodyPr/>
          <a:lstStyle/>
          <a:p>
            <a:pPr algn="r"/>
            <a:fld id="{F7351207-CA38-459F-8CF8-67664B620D33}" type="slidenum">
              <a:rPr lang="en-US" sz="1400" b="0" strike="noStrike" spc="-1" smtClean="0">
                <a:latin typeface="Times New Roman"/>
              </a:rPr>
              <a:t>22</a:t>
            </a:fld>
            <a:endParaRPr lang="en-US" sz="1400" b="0" strike="noStrike" spc="-1">
              <a:latin typeface="Times New Roman"/>
            </a:endParaRPr>
          </a:p>
        </p:txBody>
      </p:sp>
    </p:spTree>
    <p:extLst>
      <p:ext uri="{BB962C8B-B14F-4D97-AF65-F5344CB8AC3E}">
        <p14:creationId xmlns:p14="http://schemas.microsoft.com/office/powerpoint/2010/main" val="33521695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8"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0"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1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1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1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19"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20"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1"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2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25"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27"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28"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3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3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33"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35"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36"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37"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38"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39"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40"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48" name="PlaceHolder 2"/>
          <p:cNvSpPr>
            <a:spLocks noGrp="1"/>
          </p:cNvSpPr>
          <p:nvPr>
            <p:ph type="subTitle"/>
          </p:nvPr>
        </p:nvSpPr>
        <p:spPr>
          <a:xfrm>
            <a:off x="609480" y="1604520"/>
            <a:ext cx="10972440" cy="397728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0"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5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5" name="PlaceHolder 1"/>
          <p:cNvSpPr>
            <a:spLocks noGrp="1"/>
          </p:cNvSpPr>
          <p:nvPr>
            <p:ph type="subTitle"/>
          </p:nvPr>
        </p:nvSpPr>
        <p:spPr>
          <a:xfrm>
            <a:off x="609480" y="273600"/>
            <a:ext cx="10972440" cy="5307840"/>
          </a:xfrm>
          <a:prstGeom prst="rect">
            <a:avLst/>
          </a:prstGeom>
        </p:spPr>
        <p:txBody>
          <a:bodyPr lIns="0" tIns="0" rIns="0" bIns="0" anchor="ctr">
            <a:spAutoFit/>
          </a:bodyPr>
          <a:lstStyle/>
          <a:p>
            <a:pPr algn="ctr"/>
            <a:endParaRPr lang="en-U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5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5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3200" b="0" strike="noStrike" spc="-1">
              <a:latin typeface="Arial"/>
            </a:endParaRPr>
          </a:p>
        </p:txBody>
      </p:sp>
      <p:sp>
        <p:nvSpPr>
          <p:cNvPr id="5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1"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3200" b="0" strike="noStrike" spc="-1">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3"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67"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69"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3200" b="0" strike="noStrike" spc="-1">
              <a:latin typeface="Arial"/>
            </a:endParaRPr>
          </a:p>
        </p:txBody>
      </p:sp>
      <p:sp>
        <p:nvSpPr>
          <p:cNvPr id="70"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3200" b="0" strike="noStrike" spc="-1">
              <a:latin typeface="Arial"/>
            </a:endParaRPr>
          </a:p>
        </p:txBody>
      </p:sp>
      <p:sp>
        <p:nvSpPr>
          <p:cNvPr id="7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3200" b="0" strike="noStrike" spc="-1">
              <a:latin typeface="Arial"/>
            </a:endParaRPr>
          </a:p>
        </p:txBody>
      </p:sp>
      <p:sp>
        <p:nvSpPr>
          <p:cNvPr id="7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3200" b="0" strike="noStrike" spc="-1">
              <a:latin typeface="Arial"/>
            </a:endParaRPr>
          </a:p>
        </p:txBody>
      </p:sp>
      <p:sp>
        <p:nvSpPr>
          <p:cNvPr id="75"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spAutoFit/>
          </a:bodyPr>
          <a:lstStyle/>
          <a:p>
            <a:pPr algn="ctr"/>
            <a:endParaRPr lang="en-US" sz="4400" b="0" strike="noStrike" spc="-1">
              <a:latin typeface="Arial"/>
            </a:endParaRPr>
          </a:p>
        </p:txBody>
      </p:sp>
      <p:sp>
        <p:nvSpPr>
          <p:cNvPr id="77"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3200" b="0" strike="noStrike" spc="-1">
              <a:latin typeface="Arial"/>
            </a:endParaRPr>
          </a:p>
        </p:txBody>
      </p:sp>
      <p:sp>
        <p:nvSpPr>
          <p:cNvPr id="78"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3200" b="0" strike="noStrike" spc="-1">
              <a:latin typeface="Arial"/>
            </a:endParaRPr>
          </a:p>
        </p:txBody>
      </p:sp>
      <p:sp>
        <p:nvSpPr>
          <p:cNvPr id="79"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3200" b="0" strike="noStrike" spc="-1">
              <a:latin typeface="Arial"/>
            </a:endParaRPr>
          </a:p>
        </p:txBody>
      </p:sp>
      <p:sp>
        <p:nvSpPr>
          <p:cNvPr id="80"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3200" b="0" strike="noStrike" spc="-1">
              <a:latin typeface="Arial"/>
            </a:endParaRPr>
          </a:p>
        </p:txBody>
      </p:sp>
      <p:sp>
        <p:nvSpPr>
          <p:cNvPr id="81"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3200" b="0" strike="noStrike" spc="-1">
              <a:latin typeface="Arial"/>
            </a:endParaRPr>
          </a:p>
        </p:txBody>
      </p:sp>
      <p:sp>
        <p:nvSpPr>
          <p:cNvPr id="82"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3200" b="0" strike="noStrike" spc="-1">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CustomShape 1" hidden="1"/>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6" name="Line 2"/>
          <p:cNvSpPr/>
          <p:nvPr/>
        </p:nvSpPr>
        <p:spPr>
          <a:xfrm>
            <a:off x="5181480" y="2752560"/>
            <a:ext cx="1809720" cy="0"/>
          </a:xfrm>
          <a:prstGeom prst="line">
            <a:avLst/>
          </a:prstGeom>
          <a:ln w="12600">
            <a:solidFill>
              <a:srgbClr val="FFFFFF"/>
            </a:solidFill>
            <a:round/>
          </a:ln>
        </p:spPr>
        <p:style>
          <a:lnRef idx="1">
            <a:schemeClr val="accent1"/>
          </a:lnRef>
          <a:fillRef idx="0">
            <a:schemeClr val="accent1"/>
          </a:fillRef>
          <a:effectRef idx="0">
            <a:schemeClr val="accent1"/>
          </a:effectRef>
          <a:fontRef idx="minor"/>
        </p:style>
      </p:sp>
      <p:pic>
        <p:nvPicPr>
          <p:cNvPr id="2" name="Picture 6"/>
          <p:cNvPicPr/>
          <p:nvPr/>
        </p:nvPicPr>
        <p:blipFill>
          <a:blip r:embed="rId14"/>
          <a:stretch/>
        </p:blipFill>
        <p:spPr>
          <a:xfrm>
            <a:off x="804960" y="654480"/>
            <a:ext cx="3539160" cy="773280"/>
          </a:xfrm>
          <a:prstGeom prst="rect">
            <a:avLst/>
          </a:prstGeom>
          <a:ln>
            <a:noFill/>
          </a:ln>
        </p:spPr>
      </p:pic>
      <p:sp>
        <p:nvSpPr>
          <p:cNvPr id="3" name="PlaceHolder 3"/>
          <p:cNvSpPr>
            <a:spLocks noGrp="1"/>
          </p:cNvSpPr>
          <p:nvPr>
            <p:ph type="title"/>
          </p:nvPr>
        </p:nvSpPr>
        <p:spPr>
          <a:xfrm>
            <a:off x="609480" y="273600"/>
            <a:ext cx="10972440" cy="1144800"/>
          </a:xfrm>
          <a:prstGeom prst="rect">
            <a:avLst/>
          </a:prstGeom>
        </p:spPr>
        <p:txBody>
          <a:bodyPr lIns="0" tIns="0" rIns="0" bIns="0" anchor="ctr">
            <a:noAutofit/>
          </a:bodyPr>
          <a:lstStyle/>
          <a:p>
            <a:pPr algn="ctr"/>
            <a:r>
              <a:rPr lang="en-US" sz="4400" b="0" strike="noStrike" spc="-1">
                <a:latin typeface="Arial"/>
              </a:rPr>
              <a:t>Click to edit the title text format</a:t>
            </a:r>
          </a:p>
        </p:txBody>
      </p:sp>
      <p:sp>
        <p:nvSpPr>
          <p:cNvPr id="4" name="PlaceHolder 4"/>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CustomShape 1"/>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96969A"/>
                </a:solidFill>
                <a:latin typeface="Arial"/>
                <a:ea typeface="DejaVu Sans"/>
              </a:rPr>
              <a:t>ku.ac.ae</a:t>
            </a:r>
            <a:endParaRPr lang="en-US" sz="850" b="0" strike="noStrike" spc="-1">
              <a:latin typeface="Arial"/>
            </a:endParaRPr>
          </a:p>
        </p:txBody>
      </p:sp>
      <p:sp>
        <p:nvSpPr>
          <p:cNvPr id="42" name="CustomShape 2"/>
          <p:cNvSpPr/>
          <p:nvPr/>
        </p:nvSpPr>
        <p:spPr>
          <a:xfrm>
            <a:off x="10410840" y="203040"/>
            <a:ext cx="96084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r">
              <a:lnSpc>
                <a:spcPct val="100000"/>
              </a:lnSpc>
            </a:pPr>
            <a:r>
              <a:rPr lang="en-US" sz="850" b="0" strike="noStrike" spc="-1">
                <a:solidFill>
                  <a:srgbClr val="0047BA"/>
                </a:solidFill>
                <a:latin typeface="Arial"/>
                <a:ea typeface="DejaVu Sans"/>
              </a:rPr>
              <a:t>ku.ac.ae</a:t>
            </a:r>
            <a:endParaRPr lang="en-US" sz="850" b="0" strike="noStrike" spc="-1">
              <a:latin typeface="Arial"/>
            </a:endParaRPr>
          </a:p>
        </p:txBody>
      </p:sp>
      <p:pic>
        <p:nvPicPr>
          <p:cNvPr id="43" name="Picture 6"/>
          <p:cNvPicPr/>
          <p:nvPr/>
        </p:nvPicPr>
        <p:blipFill>
          <a:blip r:embed="rId14"/>
          <a:stretch/>
        </p:blipFill>
        <p:spPr>
          <a:xfrm>
            <a:off x="383760" y="236160"/>
            <a:ext cx="1810800" cy="184320"/>
          </a:xfrm>
          <a:prstGeom prst="rect">
            <a:avLst/>
          </a:prstGeom>
          <a:ln>
            <a:noFill/>
          </a:ln>
        </p:spPr>
      </p:pic>
      <p:sp>
        <p:nvSpPr>
          <p:cNvPr id="44" name="Line 3"/>
          <p:cNvSpPr/>
          <p:nvPr/>
        </p:nvSpPr>
        <p:spPr>
          <a:xfrm>
            <a:off x="383400" y="533160"/>
            <a:ext cx="11465640" cy="0"/>
          </a:xfrm>
          <a:prstGeom prst="line">
            <a:avLst/>
          </a:prstGeom>
          <a:ln>
            <a:solidFill>
              <a:schemeClr val="bg2"/>
            </a:solidFill>
            <a:round/>
          </a:ln>
        </p:spPr>
        <p:style>
          <a:lnRef idx="1">
            <a:schemeClr val="accent1"/>
          </a:lnRef>
          <a:fillRef idx="0">
            <a:schemeClr val="accent1"/>
          </a:fillRef>
          <a:effectRef idx="0">
            <a:schemeClr val="accent1"/>
          </a:effectRef>
          <a:fontRef idx="minor"/>
        </p:style>
      </p:sp>
      <p:sp>
        <p:nvSpPr>
          <p:cNvPr id="45" name="PlaceHolder 4"/>
          <p:cNvSpPr>
            <a:spLocks noGrp="1"/>
          </p:cNvSpPr>
          <p:nvPr>
            <p:ph type="title"/>
          </p:nvPr>
        </p:nvSpPr>
        <p:spPr>
          <a:xfrm>
            <a:off x="609480" y="273240"/>
            <a:ext cx="10972080" cy="1145160"/>
          </a:xfrm>
          <a:prstGeom prst="rect">
            <a:avLst/>
          </a:prstGeom>
        </p:spPr>
        <p:txBody>
          <a:bodyPr lIns="0" tIns="0" rIns="0" bIns="0" anchor="ctr">
            <a:spAutoFit/>
          </a:bodyPr>
          <a:lstStyle/>
          <a:p>
            <a:r>
              <a:rPr lang="en-US" sz="1800" b="0" strike="noStrike" spc="-1">
                <a:latin typeface="Arial"/>
              </a:rPr>
              <a:t>Click to edit the title text format</a:t>
            </a:r>
          </a:p>
        </p:txBody>
      </p:sp>
      <p:sp>
        <p:nvSpPr>
          <p:cNvPr id="46" name="PlaceHolder 5"/>
          <p:cNvSpPr>
            <a:spLocks noGrp="1"/>
          </p:cNvSpPr>
          <p:nvPr>
            <p:ph type="body"/>
          </p:nvPr>
        </p:nvSpPr>
        <p:spPr>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latin typeface="Arial"/>
              </a:rPr>
              <a:t>Second Outline Level</a:t>
            </a:r>
          </a:p>
          <a:p>
            <a:pPr marL="1296000" lvl="2" indent="-288000">
              <a:spcBef>
                <a:spcPts val="850"/>
              </a:spcBef>
              <a:buClr>
                <a:srgbClr val="000000"/>
              </a:buClr>
              <a:buSzPct val="45000"/>
              <a:buFont typeface="Wingdings" charset="2"/>
              <a:buChar char=""/>
            </a:pPr>
            <a:r>
              <a:rPr lang="en-US" sz="2400" b="0" strike="noStrike" spc="-1">
                <a:latin typeface="Arial"/>
              </a:rPr>
              <a:t>Third Outline Level</a:t>
            </a:r>
          </a:p>
          <a:p>
            <a:pPr marL="1728000" lvl="3" indent="-216000">
              <a:spcBef>
                <a:spcPts val="567"/>
              </a:spcBef>
              <a:buClr>
                <a:srgbClr val="000000"/>
              </a:buClr>
              <a:buSzPct val="75000"/>
              <a:buFont typeface="Symbol" charset="2"/>
              <a:buChar char=""/>
            </a:pPr>
            <a:r>
              <a:rPr lang="en-US" sz="2000" b="0" strike="noStrike" spc="-1">
                <a:latin typeface="Arial"/>
              </a:rPr>
              <a:t>Fourth Outline Level</a:t>
            </a:r>
          </a:p>
          <a:p>
            <a:pPr marL="2160000" lvl="4" indent="-216000">
              <a:spcBef>
                <a:spcPts val="283"/>
              </a:spcBef>
              <a:buClr>
                <a:srgbClr val="000000"/>
              </a:buClr>
              <a:buSzPct val="45000"/>
              <a:buFont typeface="Wingdings" charset="2"/>
              <a:buChar char=""/>
            </a:pPr>
            <a:r>
              <a:rPr lang="en-US" sz="2000" b="0" strike="noStrike" spc="-1">
                <a:latin typeface="Arial"/>
              </a:rPr>
              <a:t>Fifth Outline Level</a:t>
            </a:r>
          </a:p>
          <a:p>
            <a:pPr marL="2592000" lvl="5" indent="-216000">
              <a:spcBef>
                <a:spcPts val="283"/>
              </a:spcBef>
              <a:buClr>
                <a:srgbClr val="000000"/>
              </a:buClr>
              <a:buSzPct val="45000"/>
              <a:buFont typeface="Wingdings" charset="2"/>
              <a:buChar char=""/>
            </a:pPr>
            <a:r>
              <a:rPr lang="en-US" sz="2000" b="0" strike="noStrike" spc="-1">
                <a:latin typeface="Arial"/>
              </a:rPr>
              <a:t>Sixth Outline Level</a:t>
            </a:r>
          </a:p>
          <a:p>
            <a:pPr marL="3024000" lvl="6" indent="-216000">
              <a:spcBef>
                <a:spcPts val="283"/>
              </a:spcBef>
              <a:buClr>
                <a:srgbClr val="000000"/>
              </a:buClr>
              <a:buSzPct val="45000"/>
              <a:buFont typeface="Wingdings" charset="2"/>
              <a:buChar char=""/>
            </a:pPr>
            <a:r>
              <a:rPr lang="en-US" sz="2000" b="0" strike="noStrike" spc="-1">
                <a:latin typeface="Arial"/>
              </a:rPr>
              <a:t>Seventh Outline Level</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CustomShape 1"/>
          <p:cNvSpPr/>
          <p:nvPr/>
        </p:nvSpPr>
        <p:spPr>
          <a:xfrm>
            <a:off x="824040" y="2004480"/>
            <a:ext cx="10990008" cy="1713600"/>
          </a:xfrm>
          <a:prstGeom prst="rect">
            <a:avLst/>
          </a:prstGeom>
          <a:noFill/>
          <a:ln>
            <a:noFill/>
          </a:ln>
        </p:spPr>
        <p:style>
          <a:lnRef idx="0">
            <a:scrgbClr r="0" g="0" b="0"/>
          </a:lnRef>
          <a:fillRef idx="0">
            <a:scrgbClr r="0" g="0" b="0"/>
          </a:fillRef>
          <a:effectRef idx="0">
            <a:scrgbClr r="0" g="0" b="0"/>
          </a:effectRef>
          <a:fontRef idx="minor"/>
        </p:style>
        <p:txBody>
          <a:bodyPr lIns="0" tIns="0" rIns="0" bIns="0" anchor="b">
            <a:noAutofit/>
          </a:bodyPr>
          <a:lstStyle/>
          <a:p>
            <a:pPr>
              <a:lnSpc>
                <a:spcPct val="100000"/>
              </a:lnSpc>
            </a:pPr>
            <a:r>
              <a:rPr lang="en-US" sz="6000" b="1" strike="noStrike" spc="-1" dirty="0">
                <a:solidFill>
                  <a:srgbClr val="0047BA"/>
                </a:solidFill>
                <a:latin typeface="Arial"/>
                <a:ea typeface="DejaVu Sans"/>
              </a:rPr>
              <a:t>Research Computing Committee </a:t>
            </a:r>
            <a:endParaRPr lang="en-US" sz="6000" b="0" strike="noStrike" spc="-1" dirty="0">
              <a:latin typeface="Arial"/>
            </a:endParaRPr>
          </a:p>
        </p:txBody>
      </p:sp>
      <p:sp>
        <p:nvSpPr>
          <p:cNvPr id="467" name="CustomShape 2"/>
          <p:cNvSpPr/>
          <p:nvPr/>
        </p:nvSpPr>
        <p:spPr>
          <a:xfrm>
            <a:off x="824040" y="3756960"/>
            <a:ext cx="8910360" cy="124668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80000"/>
              </a:lnSpc>
            </a:pPr>
            <a:endParaRPr lang="en-US" sz="3800" b="0" strike="noStrike" spc="-1" dirty="0">
              <a:latin typeface="Arial"/>
            </a:endParaRPr>
          </a:p>
        </p:txBody>
      </p:sp>
      <p:sp>
        <p:nvSpPr>
          <p:cNvPr id="468" name="CustomShape 3"/>
          <p:cNvSpPr/>
          <p:nvPr/>
        </p:nvSpPr>
        <p:spPr>
          <a:xfrm>
            <a:off x="824040" y="5490360"/>
            <a:ext cx="6729120" cy="31320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a:lnSpc>
                <a:spcPct val="100000"/>
              </a:lnSpc>
              <a:spcBef>
                <a:spcPts val="400"/>
              </a:spcBef>
            </a:pPr>
            <a:r>
              <a:rPr lang="en-US" sz="1350" b="1" cap="all" spc="-1" dirty="0">
                <a:solidFill>
                  <a:srgbClr val="96969A"/>
                </a:solidFill>
                <a:latin typeface="Arial"/>
                <a:ea typeface="DejaVu Sans"/>
              </a:rPr>
              <a:t>20</a:t>
            </a:r>
            <a:r>
              <a:rPr lang="en-US" sz="1350" b="1" strike="noStrike" cap="all" spc="-1" dirty="0">
                <a:solidFill>
                  <a:srgbClr val="96969A"/>
                </a:solidFill>
                <a:latin typeface="Arial"/>
                <a:ea typeface="DejaVu Sans"/>
              </a:rPr>
              <a:t> July 2020</a:t>
            </a:r>
            <a:endParaRPr lang="en-US" sz="1350" b="0" strike="noStrike" spc="-1" dirty="0">
              <a:latin typeface="Arial"/>
            </a:endParaRPr>
          </a:p>
          <a:p>
            <a:pPr>
              <a:lnSpc>
                <a:spcPct val="100000"/>
              </a:lnSpc>
              <a:spcBef>
                <a:spcPts val="400"/>
              </a:spcBef>
            </a:pPr>
            <a:endParaRPr lang="en-US" sz="1350"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Introductions and purpose of committee</a:t>
            </a:r>
          </a:p>
          <a:p>
            <a:pPr marL="914760" lvl="1" indent="-457200">
              <a:spcBef>
                <a:spcPts val="1200"/>
              </a:spcBef>
              <a:buClr>
                <a:srgbClr val="0047BA"/>
              </a:buClr>
              <a:buSzPct val="100000"/>
              <a:buFont typeface="+mj-lt"/>
              <a:buAutoNum type="arabicPeriod"/>
            </a:pPr>
            <a:r>
              <a:rPr lang="en-US" sz="2000" spc="-1" dirty="0"/>
              <a:t>Agree Secretary of Committee</a:t>
            </a:r>
          </a:p>
          <a:p>
            <a:pPr marL="914760" lvl="1" indent="-457200">
              <a:spcBef>
                <a:spcPts val="1200"/>
              </a:spcBef>
              <a:buClr>
                <a:srgbClr val="0047BA"/>
              </a:buClr>
              <a:buSzPct val="100000"/>
              <a:buFont typeface="+mj-lt"/>
              <a:buAutoNum type="arabicPeriod"/>
            </a:pPr>
            <a:r>
              <a:rPr lang="en-US" sz="2000" spc="-1" dirty="0"/>
              <a:t>Current status of RC resources</a:t>
            </a:r>
          </a:p>
          <a:p>
            <a:pPr marL="914760" lvl="1" indent="-457200">
              <a:spcBef>
                <a:spcPts val="1200"/>
              </a:spcBef>
              <a:buClr>
                <a:srgbClr val="0047BA"/>
              </a:buClr>
              <a:buSzPct val="100000"/>
              <a:buFont typeface="+mj-lt"/>
              <a:buAutoNum type="arabicPeriod"/>
            </a:pPr>
            <a:r>
              <a:rPr lang="en-US" sz="2000" spc="-1" dirty="0"/>
              <a:t>Draft of Research Computing strategy</a:t>
            </a:r>
          </a:p>
          <a:p>
            <a:pPr marL="914760" lvl="1" indent="-457200">
              <a:spcBef>
                <a:spcPts val="1200"/>
              </a:spcBef>
              <a:buClr>
                <a:srgbClr val="0047BA"/>
              </a:buClr>
              <a:buSzPct val="100000"/>
              <a:buFont typeface="+mj-lt"/>
              <a:buAutoNum type="arabicPeriod"/>
            </a:pPr>
            <a:r>
              <a:rPr lang="en-US" sz="2000" spc="-1" dirty="0"/>
              <a:t>Plans for CMHS Data and Research Coordinating center</a:t>
            </a:r>
          </a:p>
          <a:p>
            <a:pPr marL="914760" lvl="1" indent="-457200">
              <a:spcBef>
                <a:spcPts val="1200"/>
              </a:spcBef>
              <a:buClr>
                <a:srgbClr val="0047BA"/>
              </a:buClr>
              <a:buSzPct val="100000"/>
              <a:buFont typeface="+mj-lt"/>
              <a:buAutoNum type="arabicPeriod"/>
            </a:pPr>
            <a:r>
              <a:rPr lang="en-US" sz="2000" spc="-1" dirty="0"/>
              <a:t>Recommendations for Research Computing survey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Committee Charter</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3</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Purpose</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t>A forum to discuss and make recommendations regarding KU’s research computing requirements, strategies, allocation of resources, policies and standards.</a:t>
            </a:r>
          </a:p>
          <a:p>
            <a:pPr marL="640080" lvl="1" indent="-182520">
              <a:spcBef>
                <a:spcPts val="1200"/>
              </a:spcBef>
              <a:buClr>
                <a:srgbClr val="0047BA"/>
              </a:buClr>
              <a:buSzPct val="65000"/>
              <a:buFont typeface="Wingdings" charset="2"/>
              <a:buChar char=""/>
            </a:pPr>
            <a:r>
              <a:rPr lang="en-US" sz="2000" spc="-1" dirty="0"/>
              <a:t>Ensure that research computing strategies and plans are aligned with KU’s research needs and objectives</a:t>
            </a:r>
          </a:p>
          <a:p>
            <a:pPr marL="640080" lvl="1" indent="-182520">
              <a:spcBef>
                <a:spcPts val="1200"/>
              </a:spcBef>
              <a:buClr>
                <a:srgbClr val="0047BA"/>
              </a:buClr>
              <a:buSzPct val="65000"/>
              <a:buFont typeface="Wingdings" charset="2"/>
              <a:buChar char=""/>
            </a:pPr>
            <a:r>
              <a:rPr lang="en-US" sz="2000" spc="-1" dirty="0"/>
              <a:t>Evaluate KU research computing needs, challenges and options</a:t>
            </a:r>
          </a:p>
          <a:p>
            <a:pPr marL="640080" lvl="1" indent="-182520">
              <a:spcBef>
                <a:spcPts val="1200"/>
              </a:spcBef>
              <a:buClr>
                <a:srgbClr val="0047BA"/>
              </a:buClr>
              <a:buSzPct val="65000"/>
              <a:buFont typeface="Wingdings" charset="2"/>
              <a:buChar char=""/>
            </a:pPr>
            <a:r>
              <a:rPr lang="en-US" sz="2000" spc="-1" dirty="0"/>
              <a:t>Advise and recommend direction and priorities for research computing investments, including research software, infrastructure and staff.</a:t>
            </a:r>
          </a:p>
          <a:p>
            <a:pPr marL="640080" lvl="1" indent="-182520">
              <a:spcBef>
                <a:spcPts val="1200"/>
              </a:spcBef>
              <a:buClr>
                <a:srgbClr val="0047BA"/>
              </a:buClr>
              <a:buSzPct val="65000"/>
              <a:buFont typeface="Wingdings" charset="2"/>
              <a:buChar char=""/>
            </a:pPr>
            <a:r>
              <a:rPr lang="en-US" sz="2000" spc="-1" dirty="0"/>
              <a:t>Review, recommend and advise on relevant processes and procedures for research computing services</a:t>
            </a:r>
          </a:p>
          <a:p>
            <a:pPr marL="640080" lvl="1" indent="-182520">
              <a:spcBef>
                <a:spcPts val="1200"/>
              </a:spcBef>
              <a:buClr>
                <a:srgbClr val="0047BA"/>
              </a:buClr>
              <a:buSzPct val="65000"/>
              <a:buFont typeface="Wingdings" charset="2"/>
              <a:buChar char=""/>
            </a:pPr>
            <a:r>
              <a:rPr lang="en-US" sz="2000" spc="-1" dirty="0"/>
              <a:t>Reviews relevant existing policies and recommends revisions as appropriate </a:t>
            </a:r>
          </a:p>
          <a:p>
            <a:pPr marL="640080" lvl="1" indent="-182520">
              <a:spcBef>
                <a:spcPts val="1200"/>
              </a:spcBef>
              <a:buClr>
                <a:srgbClr val="0047BA"/>
              </a:buClr>
              <a:buSzPct val="65000"/>
              <a:buFont typeface="Wingdings" charset="2"/>
              <a:buChar char=""/>
            </a:pPr>
            <a:r>
              <a:rPr lang="en-US" sz="2000" spc="-1" dirty="0"/>
              <a:t>Makes recommendations regarding possible new policies, e.g. related to data management </a:t>
            </a:r>
          </a:p>
          <a:p>
            <a:pPr marL="640080" lvl="1" indent="-182520">
              <a:spcBef>
                <a:spcPts val="1200"/>
              </a:spcBef>
              <a:buClr>
                <a:srgbClr val="0047BA"/>
              </a:buClr>
              <a:buSzPct val="65000"/>
              <a:buFont typeface="Wingdings" charset="2"/>
              <a:buChar char=""/>
            </a:pPr>
            <a:endParaRPr lang="en-US" sz="2000" spc="-1" dirty="0"/>
          </a:p>
          <a:p>
            <a:pPr marL="640080" lvl="1" indent="-182520">
              <a:spcBef>
                <a:spcPts val="1200"/>
              </a:spcBef>
              <a:buClr>
                <a:srgbClr val="0047BA"/>
              </a:buClr>
              <a:buSzPct val="65000"/>
              <a:buFont typeface="Wingdings" charset="2"/>
              <a:buChar char=""/>
            </a:pPr>
            <a:r>
              <a:rPr lang="en-US" sz="2000" spc="-1" dirty="0"/>
              <a:t>. </a:t>
            </a:r>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2550876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Committee Charter</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Committee Charter</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4</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Membership and meetings</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t> Membership to include:</a:t>
            </a:r>
          </a:p>
          <a:p>
            <a:pPr marL="1097280" lvl="2" indent="-182520">
              <a:spcBef>
                <a:spcPts val="1200"/>
              </a:spcBef>
              <a:buClr>
                <a:srgbClr val="0047BA"/>
              </a:buClr>
              <a:buSzPct val="65000"/>
              <a:buFont typeface="Wingdings" charset="2"/>
              <a:buChar char=""/>
            </a:pPr>
            <a:r>
              <a:rPr lang="en-US" sz="2000" spc="-1" dirty="0"/>
              <a:t> Research Computing</a:t>
            </a:r>
          </a:p>
          <a:p>
            <a:pPr marL="1097280" lvl="2" indent="-182520">
              <a:spcBef>
                <a:spcPts val="1200"/>
              </a:spcBef>
              <a:buClr>
                <a:srgbClr val="0047BA"/>
              </a:buClr>
              <a:buSzPct val="65000"/>
              <a:buFont typeface="Wingdings" charset="2"/>
              <a:buChar char=""/>
            </a:pPr>
            <a:r>
              <a:rPr lang="en-US" sz="2000" spc="-1" dirty="0"/>
              <a:t>Two faculty representatives from each of the Colleges of Arts and Sciences, Engineering and CMHS</a:t>
            </a:r>
          </a:p>
          <a:p>
            <a:pPr marL="1097280" lvl="2" indent="-182520">
              <a:spcBef>
                <a:spcPts val="1200"/>
              </a:spcBef>
              <a:buClr>
                <a:srgbClr val="0047BA"/>
              </a:buClr>
              <a:buSzPct val="65000"/>
              <a:buFont typeface="Wingdings" charset="2"/>
              <a:buChar char=""/>
            </a:pPr>
            <a:r>
              <a:rPr lang="en-US" sz="2000" spc="-1" dirty="0"/>
              <a:t>An ANKABUT representative</a:t>
            </a:r>
          </a:p>
          <a:p>
            <a:pPr marL="640080" lvl="1" indent="-182520">
              <a:spcBef>
                <a:spcPts val="1200"/>
              </a:spcBef>
              <a:buClr>
                <a:srgbClr val="0047BA"/>
              </a:buClr>
              <a:buSzPct val="65000"/>
              <a:buFont typeface="Wingdings" charset="2"/>
              <a:buChar char=""/>
            </a:pPr>
            <a:r>
              <a:rPr lang="en-US" sz="2000" spc="-1" dirty="0">
                <a:latin typeface="Arial"/>
              </a:rPr>
              <a:t>Meetings to be help once a quarter, and more if required</a:t>
            </a:r>
          </a:p>
          <a:p>
            <a:pPr marL="457560" lvl="1">
              <a:spcBef>
                <a:spcPts val="1200"/>
              </a:spcBef>
              <a:buClr>
                <a:srgbClr val="0047BA"/>
              </a:buClr>
              <a:buSzPct val="65000"/>
            </a:pPr>
            <a:endParaRPr lang="en-US" sz="2000" spc="-1" dirty="0">
              <a:latin typeface="Arial"/>
            </a:endParaRPr>
          </a:p>
        </p:txBody>
      </p:sp>
    </p:spTree>
    <p:extLst>
      <p:ext uri="{BB962C8B-B14F-4D97-AF65-F5344CB8AC3E}">
        <p14:creationId xmlns:p14="http://schemas.microsoft.com/office/powerpoint/2010/main" val="3225301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5</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Introductions and purpose of committee</a:t>
            </a:r>
          </a:p>
          <a:p>
            <a:pPr marL="914760" lvl="1" indent="-457200">
              <a:spcBef>
                <a:spcPts val="1200"/>
              </a:spcBef>
              <a:buClr>
                <a:srgbClr val="0047BA"/>
              </a:buClr>
              <a:buSzPct val="100000"/>
              <a:buFont typeface="+mj-lt"/>
              <a:buAutoNum type="arabicPeriod"/>
            </a:pPr>
            <a:r>
              <a:rPr lang="en-US" sz="2400" b="1" spc="-1" dirty="0"/>
              <a:t>Agree Secretary of Committee</a:t>
            </a:r>
          </a:p>
          <a:p>
            <a:pPr marL="914760" lvl="1" indent="-457200">
              <a:spcBef>
                <a:spcPts val="1200"/>
              </a:spcBef>
              <a:buClr>
                <a:srgbClr val="0047BA"/>
              </a:buClr>
              <a:buSzPct val="100000"/>
              <a:buFont typeface="+mj-lt"/>
              <a:buAutoNum type="arabicPeriod"/>
            </a:pPr>
            <a:r>
              <a:rPr lang="en-US" sz="2000" spc="-1" dirty="0"/>
              <a:t>Current status of RC resources</a:t>
            </a:r>
          </a:p>
          <a:p>
            <a:pPr marL="914760" lvl="1" indent="-457200">
              <a:spcBef>
                <a:spcPts val="1200"/>
              </a:spcBef>
              <a:buClr>
                <a:srgbClr val="0047BA"/>
              </a:buClr>
              <a:buSzPct val="100000"/>
              <a:buFont typeface="+mj-lt"/>
              <a:buAutoNum type="arabicPeriod"/>
            </a:pPr>
            <a:r>
              <a:rPr lang="en-US" sz="2000" spc="-1" dirty="0"/>
              <a:t>Draft of Research Computing strategy</a:t>
            </a:r>
          </a:p>
          <a:p>
            <a:pPr marL="914760" lvl="1" indent="-457200">
              <a:spcBef>
                <a:spcPts val="1200"/>
              </a:spcBef>
              <a:buClr>
                <a:srgbClr val="0047BA"/>
              </a:buClr>
              <a:buSzPct val="100000"/>
              <a:buFont typeface="+mj-lt"/>
              <a:buAutoNum type="arabicPeriod"/>
            </a:pPr>
            <a:r>
              <a:rPr lang="en-US" sz="2000" spc="-1" dirty="0"/>
              <a:t>Plans for CMHS Data and Research Coordinating center</a:t>
            </a:r>
          </a:p>
          <a:p>
            <a:pPr marL="914760" lvl="1" indent="-457200">
              <a:spcBef>
                <a:spcPts val="1200"/>
              </a:spcBef>
              <a:buClr>
                <a:srgbClr val="0047BA"/>
              </a:buClr>
              <a:buSzPct val="100000"/>
              <a:buFont typeface="+mj-lt"/>
              <a:buAutoNum type="arabicPeriod"/>
            </a:pPr>
            <a:r>
              <a:rPr lang="en-US" sz="2000" spc="-1" dirty="0"/>
              <a:t>Recommendations for Research Computing survey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3752704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6</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Introductions and purpose of committee</a:t>
            </a:r>
          </a:p>
          <a:p>
            <a:pPr marL="914760" lvl="1" indent="-457200">
              <a:spcBef>
                <a:spcPts val="1200"/>
              </a:spcBef>
              <a:buClr>
                <a:srgbClr val="0047BA"/>
              </a:buClr>
              <a:buSzPct val="100000"/>
              <a:buFont typeface="+mj-lt"/>
              <a:buAutoNum type="arabicPeriod"/>
            </a:pPr>
            <a:r>
              <a:rPr lang="en-US" sz="2000" spc="-1" dirty="0"/>
              <a:t>Agree Secretary of Committee</a:t>
            </a:r>
          </a:p>
          <a:p>
            <a:pPr marL="914760" lvl="1" indent="-457200">
              <a:spcBef>
                <a:spcPts val="1200"/>
              </a:spcBef>
              <a:buClr>
                <a:srgbClr val="0047BA"/>
              </a:buClr>
              <a:buSzPct val="100000"/>
              <a:buFont typeface="+mj-lt"/>
              <a:buAutoNum type="arabicPeriod"/>
            </a:pPr>
            <a:r>
              <a:rPr lang="en-US" sz="2400" b="1" spc="-1" dirty="0"/>
              <a:t>Current status of RC resources</a:t>
            </a:r>
          </a:p>
          <a:p>
            <a:pPr marL="914760" lvl="1" indent="-457200">
              <a:spcBef>
                <a:spcPts val="1200"/>
              </a:spcBef>
              <a:buClr>
                <a:srgbClr val="0047BA"/>
              </a:buClr>
              <a:buSzPct val="100000"/>
              <a:buFont typeface="+mj-lt"/>
              <a:buAutoNum type="arabicPeriod"/>
            </a:pPr>
            <a:r>
              <a:rPr lang="en-US" sz="2000" spc="-1" dirty="0"/>
              <a:t>Draft of Research Computing strategy</a:t>
            </a:r>
          </a:p>
          <a:p>
            <a:pPr marL="914760" lvl="1" indent="-457200">
              <a:spcBef>
                <a:spcPts val="1200"/>
              </a:spcBef>
              <a:buClr>
                <a:srgbClr val="0047BA"/>
              </a:buClr>
              <a:buSzPct val="100000"/>
              <a:buFont typeface="+mj-lt"/>
              <a:buAutoNum type="arabicPeriod"/>
            </a:pPr>
            <a:r>
              <a:rPr lang="en-US" sz="2000" spc="-1" dirty="0"/>
              <a:t>Plans for CMHS Data and Research Coordinating center</a:t>
            </a:r>
          </a:p>
          <a:p>
            <a:pPr marL="914760" lvl="1" indent="-457200">
              <a:spcBef>
                <a:spcPts val="1200"/>
              </a:spcBef>
              <a:buClr>
                <a:srgbClr val="0047BA"/>
              </a:buClr>
              <a:buSzPct val="100000"/>
              <a:buFont typeface="+mj-lt"/>
              <a:buAutoNum type="arabicPeriod"/>
            </a:pPr>
            <a:r>
              <a:rPr lang="en-US" sz="2000" spc="-1" dirty="0"/>
              <a:t>Recommendations for Research Computing survey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21019723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Current resources</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7</a:t>
            </a:fld>
            <a:endParaRPr lang="en-US" sz="850" b="0" strike="noStrike" spc="-1">
              <a:latin typeface="Arial"/>
            </a:endParaRPr>
          </a:p>
        </p:txBody>
      </p:sp>
      <p:sp>
        <p:nvSpPr>
          <p:cNvPr id="3" name="Rectangle 2">
            <a:extLst>
              <a:ext uri="{FF2B5EF4-FFF2-40B4-BE49-F238E27FC236}">
                <a16:creationId xmlns:a16="http://schemas.microsoft.com/office/drawing/2014/main" id="{9E98DBD6-A92B-224E-BBF6-53E7DCAA6A8E}"/>
              </a:ext>
            </a:extLst>
          </p:cNvPr>
          <p:cNvSpPr/>
          <p:nvPr/>
        </p:nvSpPr>
        <p:spPr>
          <a:xfrm>
            <a:off x="609480" y="707782"/>
            <a:ext cx="10953720" cy="6771084"/>
          </a:xfrm>
          <a:prstGeom prst="rect">
            <a:avLst/>
          </a:prstGeom>
        </p:spPr>
        <p:txBody>
          <a:bodyPr wrap="square">
            <a:spAutoFit/>
          </a:bodyPr>
          <a:lstStyle/>
          <a:p>
            <a:pPr marL="182880" indent="-182520">
              <a:lnSpc>
                <a:spcPct val="100000"/>
              </a:lnSpc>
              <a:spcBef>
                <a:spcPts val="3169"/>
              </a:spcBef>
              <a:buClr>
                <a:srgbClr val="0047BA"/>
              </a:buClr>
              <a:buSzPct val="65000"/>
              <a:buFont typeface="Wingdings" charset="2"/>
              <a:buChar char=""/>
            </a:pPr>
            <a:r>
              <a:rPr lang="en-US" sz="2400" b="1" spc="-1" dirty="0">
                <a:solidFill>
                  <a:srgbClr val="0047BA"/>
                </a:solidFill>
              </a:rPr>
              <a:t>KU HPC Cluster</a:t>
            </a:r>
          </a:p>
          <a:p>
            <a:pPr marL="640080" lvl="1" indent="-182520">
              <a:spcBef>
                <a:spcPts val="1200"/>
              </a:spcBef>
              <a:buClr>
                <a:srgbClr val="0047BA"/>
              </a:buClr>
              <a:buSzPct val="65000"/>
              <a:buFont typeface="Wingdings" charset="2"/>
              <a:buChar char=""/>
            </a:pPr>
            <a:r>
              <a:rPr lang="en-US" sz="2000" spc="-1" dirty="0"/>
              <a:t>HPC located at Masdar City</a:t>
            </a:r>
          </a:p>
          <a:p>
            <a:pPr marL="640080" lvl="1" indent="-182520">
              <a:spcBef>
                <a:spcPts val="1200"/>
              </a:spcBef>
              <a:buClr>
                <a:srgbClr val="0047BA"/>
              </a:buClr>
              <a:buSzPct val="65000"/>
              <a:buFont typeface="Wingdings" charset="2"/>
              <a:buChar char=""/>
            </a:pPr>
            <a:r>
              <a:rPr lang="en-US" sz="2000" spc="-1" dirty="0"/>
              <a:t>Heavily used and ageing.</a:t>
            </a:r>
          </a:p>
          <a:p>
            <a:pPr marL="640080" lvl="1" indent="-182520">
              <a:spcBef>
                <a:spcPts val="1200"/>
              </a:spcBef>
              <a:buClr>
                <a:srgbClr val="0047BA"/>
              </a:buClr>
              <a:buSzPct val="65000"/>
              <a:buFont typeface="Wingdings" charset="2"/>
              <a:buChar char=""/>
            </a:pPr>
            <a:r>
              <a:rPr lang="en-US" sz="2000" spc="-1" dirty="0"/>
              <a:t>Will be losing data </a:t>
            </a:r>
            <a:r>
              <a:rPr lang="en-US" sz="2000" spc="-1" dirty="0" err="1"/>
              <a:t>centre</a:t>
            </a:r>
            <a:r>
              <a:rPr lang="en-US" sz="2000" spc="-1" dirty="0"/>
              <a:t> at Masdar. No timeline yet.</a:t>
            </a:r>
          </a:p>
          <a:p>
            <a:pPr marL="640080" lvl="1" indent="-182520">
              <a:spcBef>
                <a:spcPts val="1200"/>
              </a:spcBef>
              <a:buClr>
                <a:srgbClr val="0047BA"/>
              </a:buClr>
              <a:buSzPct val="65000"/>
              <a:buFont typeface="Wingdings" charset="2"/>
              <a:buChar char=""/>
            </a:pPr>
            <a:r>
              <a:rPr lang="en-US" sz="2000" spc="-1" dirty="0"/>
              <a:t>Need to make plans to migrate data and decommission h/w.</a:t>
            </a:r>
          </a:p>
          <a:p>
            <a:pPr marL="182880" indent="-182520">
              <a:spcBef>
                <a:spcPts val="1200"/>
              </a:spcBef>
              <a:buClr>
                <a:srgbClr val="0047BA"/>
              </a:buClr>
              <a:buSzPct val="65000"/>
              <a:buFont typeface="Wingdings" charset="2"/>
              <a:buChar char=""/>
            </a:pPr>
            <a:r>
              <a:rPr lang="en-US" sz="2400" b="1" spc="-1" dirty="0">
                <a:solidFill>
                  <a:srgbClr val="0047BA"/>
                </a:solidFill>
              </a:rPr>
              <a:t>SAN HPC Cluster</a:t>
            </a:r>
          </a:p>
          <a:p>
            <a:pPr marL="640080" lvl="1" indent="-182520">
              <a:spcBef>
                <a:spcPts val="1200"/>
              </a:spcBef>
              <a:buClr>
                <a:srgbClr val="0047BA"/>
              </a:buClr>
              <a:buSzPct val="65000"/>
              <a:buFont typeface="Wingdings" charset="2"/>
              <a:buChar char=""/>
            </a:pPr>
            <a:r>
              <a:rPr lang="en-US" sz="2000" spc="-1" dirty="0"/>
              <a:t>Located at ADRIC, on SAN campus. Belongs to ADNOC</a:t>
            </a:r>
          </a:p>
          <a:p>
            <a:pPr marL="640080" lvl="1" indent="-182520">
              <a:spcBef>
                <a:spcPts val="1200"/>
              </a:spcBef>
              <a:buClr>
                <a:srgbClr val="0047BA"/>
              </a:buClr>
              <a:buSzPct val="65000"/>
              <a:buFont typeface="Wingdings" charset="2"/>
              <a:buChar char=""/>
            </a:pPr>
            <a:r>
              <a:rPr lang="en-US" sz="2000" spc="-1" dirty="0"/>
              <a:t>Moderately used, and ageing.</a:t>
            </a:r>
          </a:p>
          <a:p>
            <a:pPr marL="640080" lvl="1" indent="-182520">
              <a:spcBef>
                <a:spcPts val="1200"/>
              </a:spcBef>
              <a:buClr>
                <a:srgbClr val="0047BA"/>
              </a:buClr>
              <a:buSzPct val="65000"/>
              <a:buFont typeface="Wingdings" charset="2"/>
              <a:buChar char=""/>
            </a:pPr>
            <a:r>
              <a:rPr lang="en-US" sz="2000" spc="-1" dirty="0"/>
              <a:t>Will be decommissioned at end of 2020.</a:t>
            </a:r>
          </a:p>
          <a:p>
            <a:pPr marL="182880" indent="-182520">
              <a:spcBef>
                <a:spcPts val="1200"/>
              </a:spcBef>
              <a:buClr>
                <a:srgbClr val="0047BA"/>
              </a:buClr>
              <a:buSzPct val="65000"/>
              <a:buFont typeface="Wingdings" charset="2"/>
              <a:buChar char=""/>
            </a:pPr>
            <a:r>
              <a:rPr lang="en-US" sz="2400" b="1" spc="-1" dirty="0">
                <a:solidFill>
                  <a:srgbClr val="0047BA"/>
                </a:solidFill>
              </a:rPr>
              <a:t>New HPC Procurement via ANKABUT</a:t>
            </a:r>
          </a:p>
          <a:p>
            <a:pPr marL="640080" lvl="1" indent="-182520">
              <a:spcBef>
                <a:spcPts val="1200"/>
              </a:spcBef>
              <a:buClr>
                <a:srgbClr val="0047BA"/>
              </a:buClr>
              <a:buSzPct val="65000"/>
              <a:buFont typeface="Wingdings" charset="2"/>
              <a:buChar char=""/>
            </a:pPr>
            <a:r>
              <a:rPr lang="en-US" sz="2000" spc="-1" dirty="0"/>
              <a:t>Final stages of technical evaluation</a:t>
            </a:r>
          </a:p>
          <a:p>
            <a:pPr marL="640080" lvl="1" indent="-182520">
              <a:spcBef>
                <a:spcPts val="1200"/>
              </a:spcBef>
              <a:buClr>
                <a:srgbClr val="0047BA"/>
              </a:buClr>
              <a:buSzPct val="65000"/>
              <a:buFont typeface="Wingdings" charset="2"/>
              <a:buChar char=""/>
            </a:pPr>
            <a:r>
              <a:rPr lang="en-US" sz="2000" spc="-1" dirty="0"/>
              <a:t>To be located on main campus</a:t>
            </a:r>
          </a:p>
          <a:p>
            <a:pPr marL="640080" lvl="1" indent="-182520">
              <a:spcBef>
                <a:spcPts val="1200"/>
              </a:spcBef>
              <a:buClr>
                <a:srgbClr val="0047BA"/>
              </a:buClr>
              <a:buSzPct val="65000"/>
              <a:buFont typeface="Wingdings" charset="2"/>
              <a:buChar char=""/>
            </a:pPr>
            <a:r>
              <a:rPr lang="en-US" sz="2000" spc="-1" dirty="0"/>
              <a:t>Aiming for end of year, or early 2021 to begin service</a:t>
            </a:r>
          </a:p>
          <a:p>
            <a:pPr marL="640080" lvl="1" indent="-182520">
              <a:spcBef>
                <a:spcPts val="1200"/>
              </a:spcBef>
              <a:buClr>
                <a:srgbClr val="0047BA"/>
              </a:buClr>
              <a:buSzPct val="65000"/>
              <a:buFont typeface="Wingdings" charset="2"/>
              <a:buChar char=""/>
            </a:pPr>
            <a:endParaRPr lang="en-US" sz="2000" spc="-1" dirty="0"/>
          </a:p>
        </p:txBody>
      </p:sp>
    </p:spTree>
    <p:extLst>
      <p:ext uri="{BB962C8B-B14F-4D97-AF65-F5344CB8AC3E}">
        <p14:creationId xmlns:p14="http://schemas.microsoft.com/office/powerpoint/2010/main" val="2224548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pc="43" dirty="0">
                <a:solidFill>
                  <a:srgbClr val="0047BA"/>
                </a:solidFill>
                <a:latin typeface="Arial"/>
              </a:rPr>
              <a:t>Comparison of performance</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Current resources</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8</a:t>
            </a:fld>
            <a:endParaRPr lang="en-US" sz="850" b="0" strike="noStrike" spc="-1">
              <a:latin typeface="Arial"/>
            </a:endParaRPr>
          </a:p>
        </p:txBody>
      </p:sp>
      <p:graphicFrame>
        <p:nvGraphicFramePr>
          <p:cNvPr id="7" name="Table 1">
            <a:extLst>
              <a:ext uri="{FF2B5EF4-FFF2-40B4-BE49-F238E27FC236}">
                <a16:creationId xmlns:a16="http://schemas.microsoft.com/office/drawing/2014/main" id="{420EBFB7-95A8-1544-881E-DC5483B93BA4}"/>
              </a:ext>
            </a:extLst>
          </p:cNvPr>
          <p:cNvGraphicFramePr/>
          <p:nvPr>
            <p:extLst>
              <p:ext uri="{D42A27DB-BD31-4B8C-83A1-F6EECF244321}">
                <p14:modId xmlns:p14="http://schemas.microsoft.com/office/powerpoint/2010/main" val="326553361"/>
              </p:ext>
            </p:extLst>
          </p:nvPr>
        </p:nvGraphicFramePr>
        <p:xfrm>
          <a:off x="370366" y="1214280"/>
          <a:ext cx="10906560" cy="5255400"/>
        </p:xfrm>
        <a:graphic>
          <a:graphicData uri="http://schemas.openxmlformats.org/drawingml/2006/table">
            <a:tbl>
              <a:tblPr/>
              <a:tblGrid>
                <a:gridCol w="717840">
                  <a:extLst>
                    <a:ext uri="{9D8B030D-6E8A-4147-A177-3AD203B41FA5}">
                      <a16:colId xmlns:a16="http://schemas.microsoft.com/office/drawing/2014/main" val="20000"/>
                    </a:ext>
                  </a:extLst>
                </a:gridCol>
                <a:gridCol w="3422520">
                  <a:extLst>
                    <a:ext uri="{9D8B030D-6E8A-4147-A177-3AD203B41FA5}">
                      <a16:colId xmlns:a16="http://schemas.microsoft.com/office/drawing/2014/main" val="20001"/>
                    </a:ext>
                  </a:extLst>
                </a:gridCol>
                <a:gridCol w="3500640">
                  <a:extLst>
                    <a:ext uri="{9D8B030D-6E8A-4147-A177-3AD203B41FA5}">
                      <a16:colId xmlns:a16="http://schemas.microsoft.com/office/drawing/2014/main" val="20002"/>
                    </a:ext>
                  </a:extLst>
                </a:gridCol>
                <a:gridCol w="903240">
                  <a:extLst>
                    <a:ext uri="{9D8B030D-6E8A-4147-A177-3AD203B41FA5}">
                      <a16:colId xmlns:a16="http://schemas.microsoft.com/office/drawing/2014/main" val="20003"/>
                    </a:ext>
                  </a:extLst>
                </a:gridCol>
                <a:gridCol w="1338840">
                  <a:extLst>
                    <a:ext uri="{9D8B030D-6E8A-4147-A177-3AD203B41FA5}">
                      <a16:colId xmlns:a16="http://schemas.microsoft.com/office/drawing/2014/main" val="20004"/>
                    </a:ext>
                  </a:extLst>
                </a:gridCol>
                <a:gridCol w="1023480">
                  <a:extLst>
                    <a:ext uri="{9D8B030D-6E8A-4147-A177-3AD203B41FA5}">
                      <a16:colId xmlns:a16="http://schemas.microsoft.com/office/drawing/2014/main" val="20005"/>
                    </a:ext>
                  </a:extLst>
                </a:gridCol>
              </a:tblGrid>
              <a:tr h="758160">
                <a:tc rowSpan="4">
                  <a:txBody>
                    <a:bodyPr/>
                    <a:lstStyle/>
                    <a:p>
                      <a:pPr algn="ctr">
                        <a:lnSpc>
                          <a:spcPct val="100000"/>
                        </a:lnSpc>
                      </a:pPr>
                      <a:r>
                        <a:rPr lang="en-US" sz="1200" b="1" strike="noStrike" spc="-1" dirty="0">
                          <a:solidFill>
                            <a:srgbClr val="000000"/>
                          </a:solidFill>
                          <a:latin typeface="Arial"/>
                        </a:rPr>
                        <a:t>Masdar Campus Cluster</a:t>
                      </a:r>
                      <a:endParaRPr lang="en-US" sz="12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000" b="0" strike="noStrike" spc="-1" dirty="0">
                          <a:solidFill>
                            <a:srgbClr val="000000"/>
                          </a:solidFill>
                          <a:latin typeface="Arial"/>
                        </a:rPr>
                        <a:t> </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200" b="1" strike="noStrike" spc="-1" dirty="0">
                          <a:solidFill>
                            <a:srgbClr val="000000"/>
                          </a:solidFill>
                          <a:latin typeface="Arial"/>
                        </a:rPr>
                        <a:t>Components</a:t>
                      </a:r>
                      <a:endParaRPr lang="en-US" sz="12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200" b="1" strike="noStrike" spc="-1">
                          <a:solidFill>
                            <a:srgbClr val="000000"/>
                          </a:solidFill>
                          <a:latin typeface="Arial"/>
                        </a:rPr>
                        <a:t>Number of Nodes</a:t>
                      </a:r>
                      <a:endParaRPr lang="en-US" sz="12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200" b="1" strike="noStrike" spc="-1">
                          <a:solidFill>
                            <a:srgbClr val="000000"/>
                          </a:solidFill>
                          <a:latin typeface="Arial"/>
                        </a:rPr>
                        <a:t>Theoretical Peak Performance (Rpeak) Teraflops</a:t>
                      </a:r>
                      <a:endParaRPr lang="en-US" sz="12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ctr">
                        <a:lnSpc>
                          <a:spcPct val="100000"/>
                        </a:lnSpc>
                      </a:pPr>
                      <a:r>
                        <a:rPr lang="en-US" sz="1200" b="1" strike="noStrike" spc="-1">
                          <a:solidFill>
                            <a:srgbClr val="000000"/>
                          </a:solidFill>
                          <a:latin typeface="Arial"/>
                        </a:rPr>
                        <a:t>Achieved Performance (Rmax) Teraflops</a:t>
                      </a:r>
                      <a:endParaRPr lang="en-US" sz="12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0"/>
                  </a:ext>
                </a:extLst>
              </a:tr>
              <a:tr h="524520">
                <a:tc vMerge="1">
                  <a:txBody>
                    <a:bodyPr/>
                    <a:lstStyle/>
                    <a:p>
                      <a:endParaRPr lang="en-AE"/>
                    </a:p>
                  </a:txBody>
                  <a:tcPr marL="90000" marR="90000">
                    <a:solidFill>
                      <a:srgbClr val="729FCF"/>
                    </a:solidFill>
                  </a:tcPr>
                </a:tc>
                <a:tc rowSpan="2">
                  <a:txBody>
                    <a:bodyPr/>
                    <a:lstStyle/>
                    <a:p>
                      <a:pPr algn="ctr">
                        <a:lnSpc>
                          <a:spcPct val="100000"/>
                        </a:lnSpc>
                      </a:pPr>
                      <a:r>
                        <a:rPr lang="en-US" sz="1000" b="0" strike="noStrike" spc="-1" dirty="0">
                          <a:solidFill>
                            <a:srgbClr val="000000"/>
                          </a:solidFill>
                          <a:latin typeface="Arial"/>
                        </a:rPr>
                        <a:t>CPU Compute Nodes</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E5-2690 v3 12-Core 2.6GHz (Haswell - 2014)</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64</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62.4</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48.8</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1"/>
                  </a:ext>
                </a:extLst>
              </a:tr>
              <a:tr h="524520">
                <a:tc vMerge="1">
                  <a:txBody>
                    <a:bodyPr/>
                    <a:lstStyle/>
                    <a:p>
                      <a:endParaRPr lang="en-AE"/>
                    </a:p>
                  </a:txBody>
                  <a:tcPr marL="90000" marR="90000">
                    <a:solidFill>
                      <a:srgbClr val="729FCF"/>
                    </a:solidFill>
                  </a:tcPr>
                </a:tc>
                <a:tc vMerge="1">
                  <a:txBody>
                    <a:bodyPr/>
                    <a:lstStyle/>
                    <a:p>
                      <a:endParaRPr lang="en-AE"/>
                    </a:p>
                  </a:txBody>
                  <a:tcPr marL="90000" marR="90000">
                    <a:solidFill>
                      <a:srgbClr val="729FCF"/>
                    </a:solidFill>
                  </a:tcPr>
                </a:tc>
                <a:tc>
                  <a:txBody>
                    <a:bodyPr/>
                    <a:lstStyle/>
                    <a:p>
                      <a:pPr>
                        <a:lnSpc>
                          <a:spcPct val="100000"/>
                        </a:lnSpc>
                      </a:pPr>
                      <a:r>
                        <a:rPr lang="en-US" sz="1000" b="0" strike="noStrike" spc="-1" dirty="0">
                          <a:solidFill>
                            <a:srgbClr val="000000"/>
                          </a:solidFill>
                          <a:latin typeface="Arial"/>
                        </a:rPr>
                        <a:t>2x Intel Xeon E5-2697 v2 12-Core 2.7GHz (Ivy Bridge - 2013)</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16</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8.1</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7.7</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2"/>
                  </a:ext>
                </a:extLst>
              </a:tr>
              <a:tr h="524520">
                <a:tc vMerge="1">
                  <a:txBody>
                    <a:bodyPr/>
                    <a:lstStyle/>
                    <a:p>
                      <a:endParaRPr lang="en-AE"/>
                    </a:p>
                  </a:txBody>
                  <a:tcPr marL="90000" marR="90000">
                    <a:solidFill>
                      <a:srgbClr val="729FCF"/>
                    </a:solidFill>
                  </a:tcPr>
                </a:tc>
                <a:tc>
                  <a:txBody>
                    <a:bodyPr/>
                    <a:lstStyle/>
                    <a:p>
                      <a:pPr algn="ctr">
                        <a:lnSpc>
                          <a:spcPct val="100000"/>
                        </a:lnSpc>
                      </a:pPr>
                      <a:r>
                        <a:rPr lang="en-US" sz="1000" b="0" strike="noStrike" spc="-1" dirty="0">
                          <a:solidFill>
                            <a:srgbClr val="000000"/>
                          </a:solidFill>
                          <a:latin typeface="Arial"/>
                        </a:rPr>
                        <a:t>GPU Accelerated Nodes</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E5-2695 v2 12Core 2.4GHz (Ivy Bridge) and dual GPU Nvidia K20M</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4</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11.2</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8.9</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3"/>
                  </a:ext>
                </a:extLst>
              </a:tr>
              <a:tr h="259920">
                <a:tc rowSpan="5">
                  <a:txBody>
                    <a:bodyPr/>
                    <a:lstStyle/>
                    <a:p>
                      <a:pPr algn="ctr">
                        <a:lnSpc>
                          <a:spcPct val="100000"/>
                        </a:lnSpc>
                      </a:pPr>
                      <a:r>
                        <a:rPr lang="en-US" sz="1200" b="1" strike="noStrike" spc="-1">
                          <a:solidFill>
                            <a:srgbClr val="000000"/>
                          </a:solidFill>
                          <a:latin typeface="Arial"/>
                        </a:rPr>
                        <a:t>SAN Campus Cluster</a:t>
                      </a:r>
                      <a:endParaRPr lang="en-US" sz="12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rowSpan="3">
                  <a:txBody>
                    <a:bodyPr/>
                    <a:lstStyle/>
                    <a:p>
                      <a:pPr algn="ctr">
                        <a:lnSpc>
                          <a:spcPct val="100000"/>
                        </a:lnSpc>
                      </a:pPr>
                      <a:r>
                        <a:rPr lang="en-US" sz="1000" b="0" strike="noStrike" spc="-1">
                          <a:solidFill>
                            <a:srgbClr val="000000"/>
                          </a:solidFill>
                          <a:latin typeface="Arial"/>
                        </a:rPr>
                        <a:t>CPU Compute Nodes</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E5-2690 v3 12-Core 2.6GHz (Haswell - 2014)</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41</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24.6</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19</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4"/>
                  </a:ext>
                </a:extLst>
              </a:tr>
              <a:tr h="244800">
                <a:tc vMerge="1">
                  <a:txBody>
                    <a:bodyPr/>
                    <a:lstStyle/>
                    <a:p>
                      <a:endParaRPr lang="en-AE"/>
                    </a:p>
                  </a:txBody>
                  <a:tcPr marL="90000" marR="90000">
                    <a:solidFill>
                      <a:srgbClr val="729FCF"/>
                    </a:solidFill>
                  </a:tcPr>
                </a:tc>
                <a:tc vMerge="1">
                  <a:txBody>
                    <a:bodyPr/>
                    <a:lstStyle/>
                    <a:p>
                      <a:endParaRPr lang="en-AE"/>
                    </a:p>
                  </a:txBody>
                  <a:tcPr marL="90000" marR="90000">
                    <a:solidFill>
                      <a:srgbClr val="729FCF"/>
                    </a:solidFill>
                  </a:tcPr>
                </a:tc>
                <a:tc>
                  <a:txBody>
                    <a:bodyPr/>
                    <a:lstStyle/>
                    <a:p>
                      <a:pPr>
                        <a:lnSpc>
                          <a:spcPct val="100000"/>
                        </a:lnSpc>
                      </a:pPr>
                      <a:r>
                        <a:rPr lang="en-US" sz="1000" b="0" strike="noStrike" spc="-1" dirty="0">
                          <a:solidFill>
                            <a:srgbClr val="000000"/>
                          </a:solidFill>
                          <a:latin typeface="Arial"/>
                        </a:rPr>
                        <a:t>2x Intel Xeon E5-2697 v2 12-Core 2.7GHz (Ivy Bridge - 2013)</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23</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4.9</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3.97</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5"/>
                  </a:ext>
                </a:extLst>
              </a:tr>
              <a:tr h="149040">
                <a:tc vMerge="1">
                  <a:txBody>
                    <a:bodyPr/>
                    <a:lstStyle/>
                    <a:p>
                      <a:endParaRPr lang="en-AE"/>
                    </a:p>
                  </a:txBody>
                  <a:tcPr marL="90000" marR="90000">
                    <a:solidFill>
                      <a:srgbClr val="729FCF"/>
                    </a:solidFill>
                  </a:tcPr>
                </a:tc>
                <a:tc vMerge="1">
                  <a:txBody>
                    <a:bodyPr/>
                    <a:lstStyle/>
                    <a:p>
                      <a:endParaRPr lang="en-AE"/>
                    </a:p>
                  </a:txBody>
                  <a:tcPr marL="90000" marR="90000">
                    <a:solidFill>
                      <a:srgbClr val="729FCF"/>
                    </a:solidFill>
                  </a:tcPr>
                </a:tc>
                <a:tc>
                  <a:txBody>
                    <a:bodyPr/>
                    <a:lstStyle/>
                    <a:p>
                      <a:pPr>
                        <a:lnSpc>
                          <a:spcPct val="100000"/>
                        </a:lnSpc>
                      </a:pPr>
                      <a:r>
                        <a:rPr lang="en-US" sz="1000" b="0" strike="noStrike" spc="-1">
                          <a:solidFill>
                            <a:srgbClr val="000000"/>
                          </a:solidFill>
                          <a:latin typeface="Arial"/>
                        </a:rPr>
                        <a:t>2x Intel Xeon E5530 4-Core 2.4GHz (Nehalem - 2009)</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9</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0.7</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0.59</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6"/>
                  </a:ext>
                </a:extLst>
              </a:tr>
              <a:tr h="290880">
                <a:tc vMerge="1">
                  <a:txBody>
                    <a:bodyPr/>
                    <a:lstStyle/>
                    <a:p>
                      <a:endParaRPr lang="en-AE"/>
                    </a:p>
                  </a:txBody>
                  <a:tcPr marL="90000" marR="90000">
                    <a:solidFill>
                      <a:srgbClr val="729FCF"/>
                    </a:solidFill>
                  </a:tcPr>
                </a:tc>
                <a:tc>
                  <a:txBody>
                    <a:bodyPr/>
                    <a:lstStyle/>
                    <a:p>
                      <a:pPr algn="ctr">
                        <a:lnSpc>
                          <a:spcPct val="100000"/>
                        </a:lnSpc>
                      </a:pPr>
                      <a:r>
                        <a:rPr lang="en-US" sz="1000" b="0" strike="noStrike" spc="-1">
                          <a:solidFill>
                            <a:srgbClr val="000000"/>
                          </a:solidFill>
                          <a:latin typeface="Arial"/>
                        </a:rPr>
                        <a:t>GPU Accelerated Nodes</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E5-2630 v3 8-Core 2.4GHz (Haswell) and 4x GPU Nvidia K80</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6</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48.5</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38.8</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7"/>
                  </a:ext>
                </a:extLst>
              </a:tr>
              <a:tr h="267840">
                <a:tc vMerge="1">
                  <a:txBody>
                    <a:bodyPr/>
                    <a:lstStyle/>
                    <a:p>
                      <a:endParaRPr lang="en-AE"/>
                    </a:p>
                  </a:txBody>
                  <a:tcPr marL="90000" marR="90000">
                    <a:solidFill>
                      <a:srgbClr val="729FCF"/>
                    </a:solidFill>
                  </a:tcPr>
                </a:tc>
                <a:tc>
                  <a:txBody>
                    <a:bodyPr/>
                    <a:lstStyle/>
                    <a:p>
                      <a:pPr algn="ctr">
                        <a:lnSpc>
                          <a:spcPct val="100000"/>
                        </a:lnSpc>
                      </a:pPr>
                      <a:r>
                        <a:rPr lang="en-US" sz="1400" b="1" strike="noStrike" spc="-1">
                          <a:solidFill>
                            <a:srgbClr val="000000"/>
                          </a:solidFill>
                          <a:latin typeface="Arial"/>
                        </a:rPr>
                        <a:t>Total for existing clusters</a:t>
                      </a:r>
                      <a:endParaRPr lang="en-US" sz="14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400" b="1" strike="noStrike" spc="-1">
                          <a:solidFill>
                            <a:srgbClr val="000000"/>
                          </a:solidFill>
                          <a:latin typeface="Arial"/>
                        </a:rPr>
                        <a:t> </a:t>
                      </a:r>
                      <a:endParaRPr lang="en-US" sz="14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a:solidFill>
                            <a:srgbClr val="000000"/>
                          </a:solidFill>
                          <a:latin typeface="Arial"/>
                        </a:rPr>
                        <a:t>163</a:t>
                      </a:r>
                      <a:endParaRPr lang="en-US" sz="14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dirty="0">
                          <a:solidFill>
                            <a:srgbClr val="000000"/>
                          </a:solidFill>
                          <a:latin typeface="Arial"/>
                        </a:rPr>
                        <a:t>160.3</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dirty="0">
                          <a:solidFill>
                            <a:srgbClr val="000000"/>
                          </a:solidFill>
                          <a:latin typeface="Arial"/>
                        </a:rPr>
                        <a:t>127.8</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8"/>
                  </a:ext>
                </a:extLst>
              </a:tr>
              <a:tr h="524520">
                <a:tc rowSpan="3">
                  <a:txBody>
                    <a:bodyPr/>
                    <a:lstStyle/>
                    <a:p>
                      <a:pPr algn="ctr">
                        <a:lnSpc>
                          <a:spcPct val="100000"/>
                        </a:lnSpc>
                      </a:pPr>
                      <a:r>
                        <a:rPr lang="en-US" sz="1200" b="1" strike="noStrike" spc="-1">
                          <a:solidFill>
                            <a:srgbClr val="000000"/>
                          </a:solidFill>
                          <a:latin typeface="Arial"/>
                        </a:rPr>
                        <a:t>Proposed New Cluster</a:t>
                      </a:r>
                      <a:endParaRPr lang="en-US" sz="12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a:solidFill>
                            <a:srgbClr val="000000"/>
                          </a:solidFill>
                          <a:latin typeface="Arial"/>
                        </a:rPr>
                        <a:t>CPU Compute Nodes</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a:solidFill>
                            <a:srgbClr val="000000"/>
                          </a:solidFill>
                          <a:latin typeface="Arial"/>
                        </a:rPr>
                        <a:t>2X Intel Xeon Gold 6238 22-core 2.1Ghz (Cascade Lake - 2019)</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80</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231</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184.8</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09"/>
                  </a:ext>
                </a:extLst>
              </a:tr>
              <a:tr h="579960">
                <a:tc vMerge="1">
                  <a:txBody>
                    <a:bodyPr/>
                    <a:lstStyle/>
                    <a:p>
                      <a:endParaRPr lang="en-AE"/>
                    </a:p>
                  </a:txBody>
                  <a:tcPr marL="90000" marR="90000">
                    <a:solidFill>
                      <a:srgbClr val="729FCF"/>
                    </a:solidFill>
                  </a:tcPr>
                </a:tc>
                <a:tc>
                  <a:txBody>
                    <a:bodyPr/>
                    <a:lstStyle/>
                    <a:p>
                      <a:pPr>
                        <a:lnSpc>
                          <a:spcPct val="100000"/>
                        </a:lnSpc>
                      </a:pPr>
                      <a:r>
                        <a:rPr lang="en-US" sz="1000" b="0" strike="noStrike" spc="-1">
                          <a:solidFill>
                            <a:srgbClr val="000000"/>
                          </a:solidFill>
                          <a:latin typeface="Arial"/>
                        </a:rPr>
                        <a:t>GPU Accelerated Nodes</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000" b="0" strike="noStrike" spc="-1" dirty="0">
                          <a:solidFill>
                            <a:srgbClr val="000000"/>
                          </a:solidFill>
                          <a:latin typeface="Arial"/>
                        </a:rPr>
                        <a:t>2X Intel Xeon Gold 6238 22-core 2.1Ghz (Cascade Lake - 2019) and four GPU Nvidia Tesla V100 cards</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3</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a:solidFill>
                            <a:srgbClr val="000000"/>
                          </a:solidFill>
                          <a:latin typeface="Arial"/>
                        </a:rPr>
                        <a:t>92.66</a:t>
                      </a:r>
                      <a:endParaRPr lang="en-US" sz="10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000" b="0" strike="noStrike" spc="-1" dirty="0">
                          <a:solidFill>
                            <a:srgbClr val="000000"/>
                          </a:solidFill>
                          <a:latin typeface="Arial"/>
                        </a:rPr>
                        <a:t>74.13</a:t>
                      </a:r>
                      <a:endParaRPr lang="en-US" sz="10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10"/>
                  </a:ext>
                </a:extLst>
              </a:tr>
              <a:tr h="287640">
                <a:tc vMerge="1">
                  <a:txBody>
                    <a:bodyPr/>
                    <a:lstStyle/>
                    <a:p>
                      <a:endParaRPr lang="en-AE"/>
                    </a:p>
                  </a:txBody>
                  <a:tcPr marL="90000" marR="90000">
                    <a:solidFill>
                      <a:srgbClr val="729FCF"/>
                    </a:solidFill>
                  </a:tcPr>
                </a:tc>
                <a:tc>
                  <a:txBody>
                    <a:bodyPr/>
                    <a:lstStyle/>
                    <a:p>
                      <a:pPr>
                        <a:lnSpc>
                          <a:spcPct val="100000"/>
                        </a:lnSpc>
                      </a:pPr>
                      <a:r>
                        <a:rPr lang="en-US" sz="1400" b="1" strike="noStrike" spc="-1" dirty="0">
                          <a:solidFill>
                            <a:srgbClr val="000000"/>
                          </a:solidFill>
                          <a:latin typeface="Arial"/>
                        </a:rPr>
                        <a:t>Total for new cluster</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nSpc>
                          <a:spcPct val="100000"/>
                        </a:lnSpc>
                      </a:pPr>
                      <a:r>
                        <a:rPr lang="en-US" sz="1400" b="1" strike="noStrike" spc="-1" dirty="0">
                          <a:solidFill>
                            <a:srgbClr val="000000"/>
                          </a:solidFill>
                          <a:latin typeface="Arial"/>
                        </a:rPr>
                        <a:t> </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a:solidFill>
                            <a:srgbClr val="000000"/>
                          </a:solidFill>
                          <a:latin typeface="Arial"/>
                        </a:rPr>
                        <a:t>83</a:t>
                      </a:r>
                      <a:endParaRPr lang="en-US" sz="14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a:solidFill>
                            <a:srgbClr val="000000"/>
                          </a:solidFill>
                          <a:latin typeface="Arial"/>
                        </a:rPr>
                        <a:t>323.66</a:t>
                      </a:r>
                      <a:endParaRPr lang="en-US" sz="1400" b="0" strike="noStrike" spc="-1">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tc>
                  <a:txBody>
                    <a:bodyPr/>
                    <a:lstStyle/>
                    <a:p>
                      <a:pPr algn="r">
                        <a:lnSpc>
                          <a:spcPct val="100000"/>
                        </a:lnSpc>
                      </a:pPr>
                      <a:r>
                        <a:rPr lang="en-US" sz="1400" b="1" strike="noStrike" spc="-1" dirty="0">
                          <a:solidFill>
                            <a:srgbClr val="000000"/>
                          </a:solidFill>
                          <a:latin typeface="Arial"/>
                        </a:rPr>
                        <a:t>258.93</a:t>
                      </a:r>
                      <a:endParaRPr lang="en-US" sz="1400" b="0" strike="noStrike" spc="-1" dirty="0">
                        <a:latin typeface="Arial"/>
                      </a:endParaRPr>
                    </a:p>
                  </a:txBody>
                  <a:tcPr marL="6840" marR="6840">
                    <a:lnL w="12240">
                      <a:solidFill>
                        <a:srgbClr val="D0CFCD"/>
                      </a:solidFill>
                    </a:lnL>
                    <a:lnR w="12240">
                      <a:solidFill>
                        <a:srgbClr val="D0CFCD"/>
                      </a:solidFill>
                    </a:lnR>
                    <a:lnT w="12240">
                      <a:solidFill>
                        <a:srgbClr val="D0CFCD"/>
                      </a:solidFill>
                    </a:lnT>
                    <a:lnB w="12240">
                      <a:solidFill>
                        <a:srgbClr val="D0CFCD"/>
                      </a:solidFill>
                    </a:lnB>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4416668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r>
              <a:rPr lang="en-US" sz="3200" b="1" spc="43" dirty="0">
                <a:solidFill>
                  <a:srgbClr val="0047BA"/>
                </a:solidFill>
                <a:latin typeface="Arial"/>
              </a:rPr>
              <a:t>KU Cluster core distribution</a:t>
            </a: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Current resource utilization</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9</a:t>
            </a:fld>
            <a:endParaRPr lang="en-US" sz="850" b="0" strike="noStrike" spc="-1">
              <a:latin typeface="Arial"/>
            </a:endParaRPr>
          </a:p>
        </p:txBody>
      </p:sp>
      <p:graphicFrame>
        <p:nvGraphicFramePr>
          <p:cNvPr id="8" name="Content Placeholder 9">
            <a:extLst>
              <a:ext uri="{FF2B5EF4-FFF2-40B4-BE49-F238E27FC236}">
                <a16:creationId xmlns:a16="http://schemas.microsoft.com/office/drawing/2014/main" id="{AB6F4B0D-D377-8046-907B-058356FDCBDD}"/>
              </a:ext>
            </a:extLst>
          </p:cNvPr>
          <p:cNvGraphicFramePr>
            <a:graphicFrameLocks/>
          </p:cNvGraphicFramePr>
          <p:nvPr>
            <p:extLst>
              <p:ext uri="{D42A27DB-BD31-4B8C-83A1-F6EECF244321}">
                <p14:modId xmlns:p14="http://schemas.microsoft.com/office/powerpoint/2010/main" val="3460925854"/>
              </p:ext>
            </p:extLst>
          </p:nvPr>
        </p:nvGraphicFramePr>
        <p:xfrm>
          <a:off x="1366588" y="1377323"/>
          <a:ext cx="8521700" cy="48117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7631442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Current resource utilization</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10</a:t>
            </a:fld>
            <a:endParaRPr lang="en-US" sz="850" b="0" strike="noStrike" spc="-1">
              <a:latin typeface="Arial"/>
            </a:endParaRPr>
          </a:p>
        </p:txBody>
      </p:sp>
      <p:pic>
        <p:nvPicPr>
          <p:cNvPr id="7" name="Picture 6" descr="A screenshot of a cell phone&#10;&#10;Description automatically generated">
            <a:extLst>
              <a:ext uri="{FF2B5EF4-FFF2-40B4-BE49-F238E27FC236}">
                <a16:creationId xmlns:a16="http://schemas.microsoft.com/office/drawing/2014/main" id="{EF5EA39A-2688-C54E-AFF4-0F56225396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720" y="852756"/>
            <a:ext cx="11152316" cy="5293522"/>
          </a:xfrm>
          <a:prstGeom prst="rect">
            <a:avLst/>
          </a:prstGeom>
        </p:spPr>
      </p:pic>
    </p:spTree>
    <p:extLst>
      <p:ext uri="{BB962C8B-B14F-4D97-AF65-F5344CB8AC3E}">
        <p14:creationId xmlns:p14="http://schemas.microsoft.com/office/powerpoint/2010/main" val="21321812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Current resource utilization</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11</a:t>
            </a:fld>
            <a:endParaRPr lang="en-US" sz="850" b="0" strike="noStrike" spc="-1">
              <a:latin typeface="Arial"/>
            </a:endParaRPr>
          </a:p>
        </p:txBody>
      </p:sp>
      <p:pic>
        <p:nvPicPr>
          <p:cNvPr id="6" name="Picture 5" descr="A close up of a sign&#10;&#10;Description automatically generated">
            <a:extLst>
              <a:ext uri="{FF2B5EF4-FFF2-40B4-BE49-F238E27FC236}">
                <a16:creationId xmlns:a16="http://schemas.microsoft.com/office/drawing/2014/main" id="{5E48F4A6-8881-E447-8ABF-32593CE8C1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017" y="859485"/>
            <a:ext cx="11307790" cy="5496675"/>
          </a:xfrm>
          <a:prstGeom prst="rect">
            <a:avLst/>
          </a:prstGeom>
        </p:spPr>
      </p:pic>
    </p:spTree>
    <p:extLst>
      <p:ext uri="{BB962C8B-B14F-4D97-AF65-F5344CB8AC3E}">
        <p14:creationId xmlns:p14="http://schemas.microsoft.com/office/powerpoint/2010/main" val="1699740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r>
              <a:rPr lang="en-US" sz="3200" b="1" spc="43" dirty="0">
                <a:solidFill>
                  <a:srgbClr val="0047BA"/>
                </a:solidFill>
                <a:latin typeface="Arial"/>
              </a:rPr>
              <a:t>SAN Cluster core distribution</a:t>
            </a: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Current resource utilization</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12</a:t>
            </a:fld>
            <a:endParaRPr lang="en-US" sz="850" b="0" strike="noStrike" spc="-1">
              <a:latin typeface="Arial"/>
            </a:endParaRPr>
          </a:p>
        </p:txBody>
      </p:sp>
      <p:graphicFrame>
        <p:nvGraphicFramePr>
          <p:cNvPr id="7" name="Content Placeholder 6">
            <a:extLst>
              <a:ext uri="{FF2B5EF4-FFF2-40B4-BE49-F238E27FC236}">
                <a16:creationId xmlns:a16="http://schemas.microsoft.com/office/drawing/2014/main" id="{2EE6E23E-94EF-284A-8B63-836722A39ECD}"/>
              </a:ext>
            </a:extLst>
          </p:cNvPr>
          <p:cNvGraphicFramePr>
            <a:graphicFrameLocks/>
          </p:cNvGraphicFramePr>
          <p:nvPr>
            <p:extLst>
              <p:ext uri="{D42A27DB-BD31-4B8C-83A1-F6EECF244321}">
                <p14:modId xmlns:p14="http://schemas.microsoft.com/office/powerpoint/2010/main" val="2207155096"/>
              </p:ext>
            </p:extLst>
          </p:nvPr>
        </p:nvGraphicFramePr>
        <p:xfrm>
          <a:off x="1407685" y="1377323"/>
          <a:ext cx="8521700" cy="481171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70446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Current resource utilization</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13</a:t>
            </a:fld>
            <a:endParaRPr lang="en-US" sz="850" b="0" strike="noStrike" spc="-1">
              <a:latin typeface="Arial"/>
            </a:endParaRPr>
          </a:p>
        </p:txBody>
      </p:sp>
      <p:pic>
        <p:nvPicPr>
          <p:cNvPr id="7" name="Picture 6" descr="A picture containing stationary&#10;&#10;Description automatically generated">
            <a:extLst>
              <a:ext uri="{FF2B5EF4-FFF2-40B4-BE49-F238E27FC236}">
                <a16:creationId xmlns:a16="http://schemas.microsoft.com/office/drawing/2014/main" id="{ACA53B26-84B5-AD4D-91EF-0EA7AEE81C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395" y="828540"/>
            <a:ext cx="10964165" cy="5255598"/>
          </a:xfrm>
          <a:prstGeom prst="rect">
            <a:avLst/>
          </a:prstGeom>
        </p:spPr>
      </p:pic>
    </p:spTree>
    <p:extLst>
      <p:ext uri="{BB962C8B-B14F-4D97-AF65-F5344CB8AC3E}">
        <p14:creationId xmlns:p14="http://schemas.microsoft.com/office/powerpoint/2010/main" val="3440697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Training</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current status</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14</a:t>
            </a:fld>
            <a:endParaRPr lang="en-US" sz="850" b="0" strike="noStrike" spc="-1">
              <a:latin typeface="Arial"/>
            </a:endParaRPr>
          </a:p>
        </p:txBody>
      </p:sp>
      <p:sp>
        <p:nvSpPr>
          <p:cNvPr id="2" name="Rectangle 1">
            <a:extLst>
              <a:ext uri="{FF2B5EF4-FFF2-40B4-BE49-F238E27FC236}">
                <a16:creationId xmlns:a16="http://schemas.microsoft.com/office/drawing/2014/main" id="{644B74E6-7911-7A43-84CA-DE6DDDC8A484}"/>
              </a:ext>
            </a:extLst>
          </p:cNvPr>
          <p:cNvSpPr/>
          <p:nvPr/>
        </p:nvSpPr>
        <p:spPr>
          <a:xfrm>
            <a:off x="609480" y="1438878"/>
            <a:ext cx="10762200" cy="2554545"/>
          </a:xfrm>
          <a:prstGeom prst="rect">
            <a:avLst/>
          </a:prstGeom>
        </p:spPr>
        <p:txBody>
          <a:bodyPr wrap="square">
            <a:spAutoFit/>
          </a:bodyPr>
          <a:lstStyle/>
          <a:p>
            <a:pPr marL="640080" lvl="1" indent="-182520">
              <a:spcBef>
                <a:spcPts val="1200"/>
              </a:spcBef>
              <a:buClr>
                <a:srgbClr val="0047BA"/>
              </a:buClr>
              <a:buSzPct val="65000"/>
              <a:buFont typeface="Wingdings" charset="2"/>
              <a:buChar char=""/>
            </a:pPr>
            <a:r>
              <a:rPr lang="en-US" sz="2000" spc="-1" dirty="0"/>
              <a:t>“Research Computing intro session”, “Introduction to Linux”, and “Introduction to HPC” courses are all well attended and well received. </a:t>
            </a:r>
          </a:p>
          <a:p>
            <a:pPr marL="640080" lvl="1" indent="-182520">
              <a:spcBef>
                <a:spcPts val="1200"/>
              </a:spcBef>
              <a:buClr>
                <a:srgbClr val="0047BA"/>
              </a:buClr>
              <a:buSzPct val="65000"/>
              <a:buFont typeface="Wingdings" charset="2"/>
              <a:buChar char=""/>
            </a:pPr>
            <a:r>
              <a:rPr lang="en-US" sz="2000" spc="-1" dirty="0"/>
              <a:t>Due to course being online, places are limited to 5 per session.</a:t>
            </a:r>
          </a:p>
          <a:p>
            <a:pPr marL="640080" lvl="1" indent="-182520">
              <a:spcBef>
                <a:spcPts val="1200"/>
              </a:spcBef>
              <a:buClr>
                <a:srgbClr val="0047BA"/>
              </a:buClr>
              <a:buSzPct val="65000"/>
              <a:buFont typeface="Wingdings" charset="2"/>
              <a:buChar char=""/>
            </a:pPr>
            <a:r>
              <a:rPr lang="en-US" sz="2000" spc="-1" dirty="0"/>
              <a:t>All three courses are delivered on a weekly basis.</a:t>
            </a:r>
          </a:p>
          <a:p>
            <a:pPr marL="640080" lvl="1" indent="-182520">
              <a:spcBef>
                <a:spcPts val="1200"/>
              </a:spcBef>
              <a:buClr>
                <a:srgbClr val="0047BA"/>
              </a:buClr>
              <a:buSzPct val="65000"/>
              <a:buFont typeface="Wingdings" charset="2"/>
              <a:buChar char=""/>
            </a:pPr>
            <a:r>
              <a:rPr lang="en-US" sz="2000" spc="-1" dirty="0"/>
              <a:t>Schedule is three courses per week, and sending out invites at beginning of the month.</a:t>
            </a:r>
          </a:p>
          <a:p>
            <a:pPr marL="640080" lvl="1" indent="-182520">
              <a:spcBef>
                <a:spcPts val="1200"/>
              </a:spcBef>
              <a:buClr>
                <a:srgbClr val="0047BA"/>
              </a:buClr>
              <a:buSzPct val="65000"/>
              <a:buFont typeface="Wingdings" charset="2"/>
              <a:buChar char=""/>
            </a:pPr>
            <a:endParaRPr lang="en-US" sz="2000" spc="-1" dirty="0"/>
          </a:p>
        </p:txBody>
      </p:sp>
    </p:spTree>
    <p:extLst>
      <p:ext uri="{BB962C8B-B14F-4D97-AF65-F5344CB8AC3E}">
        <p14:creationId xmlns:p14="http://schemas.microsoft.com/office/powerpoint/2010/main" val="1133518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15</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Introductions and purpose of committee</a:t>
            </a:r>
          </a:p>
          <a:p>
            <a:pPr marL="914760" lvl="1" indent="-457200">
              <a:spcBef>
                <a:spcPts val="1200"/>
              </a:spcBef>
              <a:buClr>
                <a:srgbClr val="0047BA"/>
              </a:buClr>
              <a:buSzPct val="100000"/>
              <a:buFont typeface="+mj-lt"/>
              <a:buAutoNum type="arabicPeriod"/>
            </a:pPr>
            <a:r>
              <a:rPr lang="en-US" sz="2000" spc="-1" dirty="0"/>
              <a:t>Agree Secretary of Committee</a:t>
            </a:r>
          </a:p>
          <a:p>
            <a:pPr marL="914760" lvl="1" indent="-457200">
              <a:spcBef>
                <a:spcPts val="1200"/>
              </a:spcBef>
              <a:buClr>
                <a:srgbClr val="0047BA"/>
              </a:buClr>
              <a:buSzPct val="100000"/>
              <a:buFont typeface="+mj-lt"/>
              <a:buAutoNum type="arabicPeriod"/>
            </a:pPr>
            <a:r>
              <a:rPr lang="en-US" sz="2000" spc="-1" dirty="0"/>
              <a:t>Current status of RC resources</a:t>
            </a:r>
          </a:p>
          <a:p>
            <a:pPr marL="914760" lvl="1" indent="-457200">
              <a:spcBef>
                <a:spcPts val="1200"/>
              </a:spcBef>
              <a:buClr>
                <a:srgbClr val="0047BA"/>
              </a:buClr>
              <a:buSzPct val="100000"/>
              <a:buFont typeface="+mj-lt"/>
              <a:buAutoNum type="arabicPeriod"/>
            </a:pPr>
            <a:r>
              <a:rPr lang="en-US" sz="2400" b="1" spc="-1" dirty="0"/>
              <a:t>Draft of Research Computing strategy</a:t>
            </a:r>
          </a:p>
          <a:p>
            <a:pPr marL="914760" lvl="1" indent="-457200">
              <a:spcBef>
                <a:spcPts val="1200"/>
              </a:spcBef>
              <a:buClr>
                <a:srgbClr val="0047BA"/>
              </a:buClr>
              <a:buSzPct val="100000"/>
              <a:buFont typeface="+mj-lt"/>
              <a:buAutoNum type="arabicPeriod"/>
            </a:pPr>
            <a:r>
              <a:rPr lang="en-US" sz="2000" spc="-1" dirty="0"/>
              <a:t>Plans for CMHS Data and Research Coordinating center</a:t>
            </a:r>
          </a:p>
          <a:p>
            <a:pPr marL="914760" lvl="1" indent="-457200">
              <a:spcBef>
                <a:spcPts val="1200"/>
              </a:spcBef>
              <a:buClr>
                <a:srgbClr val="0047BA"/>
              </a:buClr>
              <a:buSzPct val="100000"/>
              <a:buFont typeface="+mj-lt"/>
              <a:buAutoNum type="arabicPeriod"/>
            </a:pPr>
            <a:r>
              <a:rPr lang="en-US" sz="2000" spc="-1" dirty="0"/>
              <a:t>Recommendations for Research Computing survey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15715455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H</a:t>
            </a:r>
            <a:r>
              <a:rPr lang="en-US" sz="1200" b="1" spc="43" dirty="0">
                <a:solidFill>
                  <a:srgbClr val="0047BA"/>
                </a:solidFill>
                <a:latin typeface="Arial"/>
              </a:rPr>
              <a:t>igh Level Strategy</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16</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Re</a:t>
            </a:r>
            <a:r>
              <a:rPr lang="en-US" sz="2400" b="1" spc="-1" dirty="0">
                <a:solidFill>
                  <a:srgbClr val="0047BA"/>
                </a:solidFill>
                <a:latin typeface="Arial"/>
                <a:ea typeface="DejaVu Sans"/>
              </a:rPr>
              <a:t>search Computing high-level strategy</a:t>
            </a:r>
          </a:p>
          <a:p>
            <a:pPr marL="640080" lvl="1" indent="-182520">
              <a:spcBef>
                <a:spcPts val="1200"/>
              </a:spcBef>
              <a:buClr>
                <a:srgbClr val="0047BA"/>
              </a:buClr>
              <a:buSzPct val="65000"/>
              <a:buFont typeface="Wingdings" charset="2"/>
              <a:buChar char=""/>
            </a:pPr>
            <a:r>
              <a:rPr lang="en-US" sz="2000" spc="-1" dirty="0">
                <a:latin typeface="Arial"/>
              </a:rPr>
              <a:t>Goals</a:t>
            </a:r>
          </a:p>
          <a:p>
            <a:pPr marL="1097280" lvl="2" indent="-182520">
              <a:spcBef>
                <a:spcPts val="1200"/>
              </a:spcBef>
              <a:buClr>
                <a:srgbClr val="0047BA"/>
              </a:buClr>
              <a:buSzPct val="65000"/>
              <a:buFont typeface="Wingdings" charset="2"/>
              <a:buChar char=""/>
            </a:pPr>
            <a:r>
              <a:rPr lang="en-US" sz="2000" spc="-1" dirty="0">
                <a:latin typeface="Arial"/>
              </a:rPr>
              <a:t>Different levels of computational requirements</a:t>
            </a:r>
          </a:p>
          <a:p>
            <a:pPr marL="1097280" lvl="2" indent="-182520">
              <a:spcBef>
                <a:spcPts val="1200"/>
              </a:spcBef>
              <a:buClr>
                <a:srgbClr val="0047BA"/>
              </a:buClr>
              <a:buSzPct val="65000"/>
              <a:buFont typeface="Wingdings" charset="2"/>
              <a:buChar char=""/>
            </a:pPr>
            <a:r>
              <a:rPr lang="en-US" sz="2000" spc="-1" dirty="0">
                <a:latin typeface="Arial"/>
              </a:rPr>
              <a:t>Software</a:t>
            </a:r>
          </a:p>
          <a:p>
            <a:pPr marL="1097280" lvl="2" indent="-182520">
              <a:spcBef>
                <a:spcPts val="1200"/>
              </a:spcBef>
              <a:buClr>
                <a:srgbClr val="0047BA"/>
              </a:buClr>
              <a:buSzPct val="65000"/>
              <a:buFont typeface="Wingdings" charset="2"/>
              <a:buChar char=""/>
            </a:pPr>
            <a:r>
              <a:rPr lang="en-US" sz="2000" spc="-1" dirty="0">
                <a:latin typeface="Arial"/>
              </a:rPr>
              <a:t>Data Storage</a:t>
            </a:r>
          </a:p>
          <a:p>
            <a:pPr marL="1097280" lvl="2" indent="-182520">
              <a:spcBef>
                <a:spcPts val="1200"/>
              </a:spcBef>
              <a:buClr>
                <a:srgbClr val="0047BA"/>
              </a:buClr>
              <a:buSzPct val="65000"/>
              <a:buFont typeface="Wingdings" charset="2"/>
              <a:buChar char=""/>
            </a:pPr>
            <a:r>
              <a:rPr lang="en-US" sz="2000" spc="-1" dirty="0">
                <a:latin typeface="Arial"/>
              </a:rPr>
              <a:t>Support </a:t>
            </a: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2168302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Goals</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High Level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17</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Sustainability</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Computer based modelling and simulation firmly established as integral parts of scientific research</a:t>
            </a:r>
          </a:p>
          <a:p>
            <a:pPr marL="640080" lvl="1" indent="-182520">
              <a:spcBef>
                <a:spcPts val="1200"/>
              </a:spcBef>
              <a:buClr>
                <a:srgbClr val="0047BA"/>
              </a:buClr>
              <a:buSzPct val="65000"/>
              <a:buFont typeface="Wingdings" charset="2"/>
              <a:buChar char=""/>
            </a:pPr>
            <a:r>
              <a:rPr lang="en-US" sz="2000" spc="-1" dirty="0">
                <a:latin typeface="Arial"/>
              </a:rPr>
              <a:t>Provision of resources needs to be consistent and sustainable.</a:t>
            </a:r>
          </a:p>
          <a:p>
            <a:pPr marL="640080" lvl="1" indent="-182520">
              <a:spcBef>
                <a:spcPts val="1200"/>
              </a:spcBef>
              <a:buClr>
                <a:srgbClr val="0047BA"/>
              </a:buClr>
              <a:buSzPct val="65000"/>
              <a:buFont typeface="Wingdings" charset="2"/>
              <a:buChar char=""/>
            </a:pPr>
            <a:r>
              <a:rPr lang="en-US" sz="2000" spc="-1" dirty="0">
                <a:latin typeface="Arial"/>
              </a:rPr>
              <a:t>This would entail periodic investment by KU. Appropriate life-cycle management needs to be implemented.</a:t>
            </a:r>
          </a:p>
        </p:txBody>
      </p:sp>
    </p:spTree>
    <p:extLst>
      <p:ext uri="{BB962C8B-B14F-4D97-AF65-F5344CB8AC3E}">
        <p14:creationId xmlns:p14="http://schemas.microsoft.com/office/powerpoint/2010/main" val="29809864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High Level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18</a:t>
            </a:fld>
            <a:endParaRPr lang="en-US" sz="850" b="0" strike="noStrike" spc="-1">
              <a:latin typeface="Arial"/>
            </a:endParaRPr>
          </a:p>
        </p:txBody>
      </p:sp>
      <p:sp>
        <p:nvSpPr>
          <p:cNvPr id="473" name="CustomShape 5"/>
          <p:cNvSpPr/>
          <p:nvPr/>
        </p:nvSpPr>
        <p:spPr>
          <a:xfrm>
            <a:off x="609480" y="1214280"/>
            <a:ext cx="10838808" cy="5744304"/>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Multiple Levels of Computation</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One size does not fit all</a:t>
            </a:r>
          </a:p>
          <a:p>
            <a:pPr marL="640080" lvl="1" indent="-182520">
              <a:spcBef>
                <a:spcPts val="1200"/>
              </a:spcBef>
              <a:buClr>
                <a:srgbClr val="0047BA"/>
              </a:buClr>
              <a:buSzPct val="65000"/>
              <a:buFont typeface="Wingdings" charset="2"/>
              <a:buChar char=""/>
            </a:pPr>
            <a:r>
              <a:rPr lang="en-US" sz="2000" spc="-1" dirty="0">
                <a:latin typeface="Arial"/>
              </a:rPr>
              <a:t>Requirements range from powerful workstations, to cloud services, university level HPC as well as large scale/national level HPC</a:t>
            </a:r>
          </a:p>
          <a:p>
            <a:pPr marL="640080" lvl="1" indent="-182520">
              <a:spcBef>
                <a:spcPts val="1200"/>
              </a:spcBef>
              <a:buClr>
                <a:srgbClr val="0047BA"/>
              </a:buClr>
              <a:buSzPct val="65000"/>
              <a:buFont typeface="Wingdings" charset="2"/>
              <a:buChar char=""/>
            </a:pPr>
            <a:r>
              <a:rPr lang="en-US" sz="2000" spc="-1" dirty="0">
                <a:latin typeface="Arial"/>
              </a:rPr>
              <a:t>Need to develop efficient and simple mechanisms for capturing and satisfying these requirements</a:t>
            </a:r>
          </a:p>
          <a:p>
            <a:pPr marL="182880" indent="-182520">
              <a:spcBef>
                <a:spcPts val="1369"/>
              </a:spcBef>
              <a:buClr>
                <a:srgbClr val="0047BA"/>
              </a:buClr>
              <a:buSzPct val="65000"/>
              <a:buFont typeface="Wingdings" charset="2"/>
              <a:buChar char=""/>
            </a:pPr>
            <a:r>
              <a:rPr lang="en-US" sz="2400" b="1" spc="-1" dirty="0">
                <a:solidFill>
                  <a:srgbClr val="0047BA"/>
                </a:solidFill>
                <a:latin typeface="Arial"/>
              </a:rPr>
              <a:t>Medium level Computation</a:t>
            </a:r>
          </a:p>
          <a:p>
            <a:pPr marL="640080" lvl="1" indent="-182520">
              <a:spcBef>
                <a:spcPts val="1200"/>
              </a:spcBef>
              <a:buClr>
                <a:srgbClr val="0047BA"/>
              </a:buClr>
              <a:buSzPct val="65000"/>
              <a:buFont typeface="Wingdings" charset="2"/>
              <a:buChar char=""/>
            </a:pPr>
            <a:r>
              <a:rPr lang="en-US" sz="2000" spc="-1" dirty="0">
                <a:latin typeface="Arial"/>
              </a:rPr>
              <a:t>Some computational tasks cannot be carried out on standard laptops/desktops but are not suited to High Performance Computing (HPC) clusters.</a:t>
            </a:r>
          </a:p>
          <a:p>
            <a:pPr marL="640080" lvl="1" indent="-182520">
              <a:spcBef>
                <a:spcPts val="1200"/>
              </a:spcBef>
              <a:buClr>
                <a:srgbClr val="0047BA"/>
              </a:buClr>
              <a:buSzPct val="65000"/>
              <a:buFont typeface="Wingdings" charset="2"/>
              <a:buChar char=""/>
            </a:pPr>
            <a:r>
              <a:rPr lang="en-US" sz="2000" spc="-1" dirty="0">
                <a:latin typeface="Arial"/>
              </a:rPr>
              <a:t>Centralize where possible, through providing access to private cloud and virtual machines/labs</a:t>
            </a:r>
          </a:p>
          <a:p>
            <a:pPr marL="640080" lvl="1" indent="-182520">
              <a:spcBef>
                <a:spcPts val="1200"/>
              </a:spcBef>
              <a:buClr>
                <a:srgbClr val="0047BA"/>
              </a:buClr>
              <a:buSzPct val="65000"/>
              <a:buFont typeface="Wingdings" charset="2"/>
              <a:buChar char=""/>
            </a:pPr>
            <a:r>
              <a:rPr lang="en-US" sz="2000" spc="-1" dirty="0">
                <a:latin typeface="Arial"/>
              </a:rPr>
              <a:t>Use public cloud for test beds and services not available locally</a:t>
            </a:r>
          </a:p>
          <a:p>
            <a:pPr marL="640080" lvl="1" indent="-182520">
              <a:spcBef>
                <a:spcPts val="1200"/>
              </a:spcBef>
              <a:buClr>
                <a:srgbClr val="0047BA"/>
              </a:buClr>
              <a:buSzPct val="65000"/>
              <a:buFont typeface="Wingdings" charset="2"/>
              <a:buChar char=""/>
            </a:pPr>
            <a:r>
              <a:rPr lang="en-US" sz="2000" spc="-1" dirty="0">
                <a:latin typeface="Arial"/>
              </a:rPr>
              <a:t>This will simplify management, security and data protection, provisioning, access to software and remove system administration burden from researchers</a:t>
            </a:r>
          </a:p>
        </p:txBody>
      </p:sp>
    </p:spTree>
    <p:extLst>
      <p:ext uri="{BB962C8B-B14F-4D97-AF65-F5344CB8AC3E}">
        <p14:creationId xmlns:p14="http://schemas.microsoft.com/office/powerpoint/2010/main" val="3168221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High Level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19</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High Performance Computing</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Replace current ageing cluster with an HPC cluster of adequate size to enable researchers to produce results in a timely manner as well as explore new research topics.</a:t>
            </a:r>
          </a:p>
          <a:p>
            <a:pPr marL="640080" lvl="1" indent="-182520">
              <a:spcBef>
                <a:spcPts val="1200"/>
              </a:spcBef>
              <a:buClr>
                <a:srgbClr val="0047BA"/>
              </a:buClr>
              <a:buSzPct val="65000"/>
              <a:buFont typeface="Wingdings" charset="2"/>
              <a:buChar char=""/>
            </a:pPr>
            <a:r>
              <a:rPr lang="en-US" sz="2000" spc="-1" dirty="0">
                <a:latin typeface="Arial"/>
              </a:rPr>
              <a:t>Allow researchers to develop skills and tools required to make use of larger scale HPC.</a:t>
            </a:r>
          </a:p>
          <a:p>
            <a:pPr marL="640080" lvl="1" indent="-182520">
              <a:spcBef>
                <a:spcPts val="1200"/>
              </a:spcBef>
              <a:buClr>
                <a:srgbClr val="0047BA"/>
              </a:buClr>
              <a:buSzPct val="65000"/>
              <a:buFont typeface="Wingdings" charset="2"/>
              <a:buChar char=""/>
            </a:pPr>
            <a:r>
              <a:rPr lang="en-US" sz="2000" spc="-1" dirty="0">
                <a:latin typeface="Arial"/>
              </a:rPr>
              <a:t>HPC should be accessible to all who require it, permit access to funded and unfunded research and researchers should be actively encouraged to use the service.</a:t>
            </a:r>
          </a:p>
          <a:p>
            <a:pPr marL="640080" lvl="1" indent="-182520">
              <a:spcBef>
                <a:spcPts val="1200"/>
              </a:spcBef>
              <a:buClr>
                <a:srgbClr val="0047BA"/>
              </a:buClr>
              <a:buSzPct val="65000"/>
              <a:buFont typeface="Wingdings" charset="2"/>
              <a:buChar char=""/>
            </a:pPr>
            <a:r>
              <a:rPr lang="en-US" sz="2000" spc="-1" dirty="0"/>
              <a:t>Establish mechanism to expand resources using external grant funding for projects that require a higher level of provision. These can be dedicated to the project or shared with a common pool.</a:t>
            </a:r>
            <a:endParaRPr lang="en-US" sz="2000" spc="-1" dirty="0">
              <a:latin typeface="Arial"/>
            </a:endParaRPr>
          </a:p>
          <a:p>
            <a:pPr marL="640080" lvl="1" indent="-182520">
              <a:spcBef>
                <a:spcPts val="1200"/>
              </a:spcBef>
              <a:buClr>
                <a:srgbClr val="0047BA"/>
              </a:buClr>
              <a:buSzPct val="65000"/>
              <a:buFont typeface="Wingdings" charset="2"/>
              <a:buChar char=""/>
            </a:pPr>
            <a:r>
              <a:rPr lang="en-US" sz="2000" spc="-1" dirty="0">
                <a:latin typeface="Arial"/>
              </a:rPr>
              <a:t>Assist researchers with accessing larger HPC resources, where appropriate. These could include large scale/national level HPC, such as at KAUST, or from commercial cloud providers.</a:t>
            </a:r>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11822374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High Level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20</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Data Storage</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Underlying all computational resources, should be robust and reliable storage services, which conform to some basic principles:</a:t>
            </a:r>
          </a:p>
          <a:p>
            <a:pPr marL="1097280" lvl="2" indent="-182520">
              <a:spcBef>
                <a:spcPts val="1200"/>
              </a:spcBef>
              <a:buClr>
                <a:srgbClr val="0047BA"/>
              </a:buClr>
              <a:buSzPct val="65000"/>
              <a:buFont typeface="Wingdings" charset="2"/>
              <a:buChar char=""/>
            </a:pPr>
            <a:r>
              <a:rPr lang="en-US" sz="2000" b="1" spc="-1" dirty="0">
                <a:latin typeface="Arial"/>
              </a:rPr>
              <a:t>Data Management:</a:t>
            </a:r>
            <a:r>
              <a:rPr lang="en-US" sz="2000" spc="-1" dirty="0">
                <a:latin typeface="Arial"/>
              </a:rPr>
              <a:t> Provide tools, processes to allow researchers to comply to KU data management policies</a:t>
            </a:r>
          </a:p>
          <a:p>
            <a:pPr marL="1097280" lvl="2" indent="-182520">
              <a:spcBef>
                <a:spcPts val="1200"/>
              </a:spcBef>
              <a:buClr>
                <a:srgbClr val="0047BA"/>
              </a:buClr>
              <a:buSzPct val="65000"/>
              <a:buFont typeface="Wingdings" charset="2"/>
              <a:buChar char=""/>
            </a:pPr>
            <a:r>
              <a:rPr lang="en-US" sz="2000" b="1" spc="-1" dirty="0">
                <a:latin typeface="Arial"/>
              </a:rPr>
              <a:t>Tiered Storage:</a:t>
            </a:r>
            <a:r>
              <a:rPr lang="en-US" sz="2000" spc="-1" dirty="0">
                <a:latin typeface="Arial"/>
              </a:rPr>
              <a:t> </a:t>
            </a:r>
            <a:r>
              <a:rPr lang="en-US" sz="2000" spc="-1" dirty="0"/>
              <a:t>Services should span multiple performance and functional requirements, ranging from HPC storage to long term backup</a:t>
            </a:r>
            <a:endParaRPr lang="en-US" sz="2000" spc="-1" dirty="0">
              <a:latin typeface="Arial"/>
            </a:endParaRPr>
          </a:p>
          <a:p>
            <a:pPr marL="1097280" lvl="2" indent="-182520">
              <a:spcBef>
                <a:spcPts val="1200"/>
              </a:spcBef>
              <a:buClr>
                <a:srgbClr val="0047BA"/>
              </a:buClr>
              <a:buSzPct val="65000"/>
              <a:buFont typeface="Wingdings" charset="2"/>
              <a:buChar char=""/>
            </a:pPr>
            <a:r>
              <a:rPr lang="en-US" sz="2000" b="1" spc="-1" dirty="0">
                <a:latin typeface="Arial"/>
              </a:rPr>
              <a:t>Accessibility: </a:t>
            </a:r>
            <a:r>
              <a:rPr lang="en-US" sz="2000" spc="-1" dirty="0">
                <a:latin typeface="Arial"/>
              </a:rPr>
              <a:t>Accessible from a variety of computing platforms, without jeopardizing security</a:t>
            </a:r>
          </a:p>
          <a:p>
            <a:pPr marL="1097280" lvl="2" indent="-182520">
              <a:spcBef>
                <a:spcPts val="1200"/>
              </a:spcBef>
              <a:buClr>
                <a:srgbClr val="0047BA"/>
              </a:buClr>
              <a:buSzPct val="65000"/>
              <a:buFont typeface="Wingdings" charset="2"/>
              <a:buChar char=""/>
            </a:pPr>
            <a:r>
              <a:rPr lang="en-US" sz="2000" b="1" spc="-1" dirty="0">
                <a:latin typeface="Arial"/>
              </a:rPr>
              <a:t>Funding &amp; allocation: </a:t>
            </a:r>
            <a:r>
              <a:rPr lang="en-US" sz="2000" spc="-1" dirty="0">
                <a:latin typeface="Arial"/>
              </a:rPr>
              <a:t>Should be funded and run centrally. Processes for resource allocation will need to be established</a:t>
            </a:r>
          </a:p>
          <a:p>
            <a:pPr marL="1097280" lvl="2" indent="-182520">
              <a:spcBef>
                <a:spcPts val="1200"/>
              </a:spcBef>
              <a:buClr>
                <a:srgbClr val="0047BA"/>
              </a:buClr>
              <a:buSzPct val="65000"/>
              <a:buFont typeface="Wingdings" charset="2"/>
              <a:buChar char=""/>
            </a:pPr>
            <a:r>
              <a:rPr lang="en-US" sz="2000" b="1" spc="-1" dirty="0">
                <a:latin typeface="Arial"/>
              </a:rPr>
              <a:t>Expandability</a:t>
            </a:r>
            <a:r>
              <a:rPr lang="en-US" sz="2000" spc="-1" dirty="0">
                <a:latin typeface="Arial"/>
              </a:rPr>
              <a:t>: Establish mechanism to expand storage using external grant funding for projects that require a higher level of provision</a:t>
            </a:r>
          </a:p>
        </p:txBody>
      </p:sp>
    </p:spTree>
    <p:extLst>
      <p:ext uri="{BB962C8B-B14F-4D97-AF65-F5344CB8AC3E}">
        <p14:creationId xmlns:p14="http://schemas.microsoft.com/office/powerpoint/2010/main" val="29183871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High Level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21</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Software</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latin typeface="Arial"/>
              </a:rPr>
              <a:t>Though progress has been made to streamline the funding, purchasing and consolidation of software licenses, this can be improved.</a:t>
            </a:r>
          </a:p>
          <a:p>
            <a:pPr marL="640080" lvl="1" indent="-182520">
              <a:spcBef>
                <a:spcPts val="1200"/>
              </a:spcBef>
              <a:buClr>
                <a:srgbClr val="0047BA"/>
              </a:buClr>
              <a:buSzPct val="65000"/>
              <a:buFont typeface="Wingdings" charset="2"/>
              <a:buChar char=""/>
            </a:pPr>
            <a:r>
              <a:rPr lang="en-US" sz="2000" spc="-1" dirty="0">
                <a:latin typeface="Arial"/>
              </a:rPr>
              <a:t>Only a small number of software applications widely used by researchers currently funded via Research Computing. Typically site licensed software, and/or used across multiple departments</a:t>
            </a:r>
          </a:p>
          <a:p>
            <a:pPr marL="640080" lvl="1" indent="-182520">
              <a:spcBef>
                <a:spcPts val="1200"/>
              </a:spcBef>
              <a:buClr>
                <a:srgbClr val="0047BA"/>
              </a:buClr>
              <a:buSzPct val="65000"/>
              <a:buFont typeface="Wingdings" charset="2"/>
              <a:buChar char=""/>
            </a:pPr>
            <a:r>
              <a:rPr lang="en-US" sz="2000" spc="-1" dirty="0">
                <a:latin typeface="Arial"/>
              </a:rPr>
              <a:t>Need to establish a process to determine which software should be funded centrally.</a:t>
            </a:r>
          </a:p>
          <a:p>
            <a:pPr marL="640080" lvl="1" indent="-182520">
              <a:spcBef>
                <a:spcPts val="1200"/>
              </a:spcBef>
              <a:buClr>
                <a:srgbClr val="0047BA"/>
              </a:buClr>
              <a:buSzPct val="65000"/>
              <a:buFont typeface="Wingdings" charset="2"/>
              <a:buChar char=""/>
            </a:pPr>
            <a:r>
              <a:rPr lang="en-US" sz="2000" spc="-1" dirty="0">
                <a:latin typeface="Arial"/>
              </a:rPr>
              <a:t>The aim is to simplify management, and streamline purchasing. This may also enable monitoring the utilization of licenses, to help with making decisions about the level of license provision.   </a:t>
            </a:r>
          </a:p>
        </p:txBody>
      </p:sp>
    </p:spTree>
    <p:extLst>
      <p:ext uri="{BB962C8B-B14F-4D97-AF65-F5344CB8AC3E}">
        <p14:creationId xmlns:p14="http://schemas.microsoft.com/office/powerpoint/2010/main" val="4871787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492443"/>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200" b="1" strike="noStrike" spc="43" dirty="0">
                <a:solidFill>
                  <a:srgbClr val="0047BA"/>
                </a:solidFill>
                <a:latin typeface="Arial"/>
              </a:rPr>
              <a:t>Goals</a:t>
            </a:r>
            <a:endParaRPr lang="en-US" sz="32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High Level Strategy </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22</a:t>
            </a:fld>
            <a:endParaRPr lang="en-US" sz="850" b="0" strike="noStrike" spc="-1">
              <a:latin typeface="Arial"/>
            </a:endParaRPr>
          </a:p>
        </p:txBody>
      </p:sp>
      <p:sp>
        <p:nvSpPr>
          <p:cNvPr id="473" name="CustomShape 5"/>
          <p:cNvSpPr/>
          <p:nvPr/>
        </p:nvSpPr>
        <p:spPr>
          <a:xfrm>
            <a:off x="609480" y="1346760"/>
            <a:ext cx="10838808" cy="5511240"/>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182880" indent="-182520">
              <a:lnSpc>
                <a:spcPct val="100000"/>
              </a:lnSpc>
              <a:spcBef>
                <a:spcPts val="3169"/>
              </a:spcBef>
              <a:buClr>
                <a:srgbClr val="0047BA"/>
              </a:buClr>
              <a:buSzPct val="65000"/>
              <a:buFont typeface="Wingdings" charset="2"/>
              <a:buChar char=""/>
            </a:pPr>
            <a:r>
              <a:rPr lang="en-US" sz="2400" b="1" strike="noStrike" spc="-1" dirty="0">
                <a:solidFill>
                  <a:srgbClr val="0047BA"/>
                </a:solidFill>
                <a:latin typeface="Arial"/>
                <a:ea typeface="DejaVu Sans"/>
              </a:rPr>
              <a:t>Support</a:t>
            </a:r>
            <a:endParaRPr lang="en-US" sz="2400" b="1" spc="-1" dirty="0">
              <a:solidFill>
                <a:srgbClr val="0047BA"/>
              </a:solidFill>
              <a:latin typeface="Arial"/>
              <a:ea typeface="DejaVu Sans"/>
            </a:endParaRPr>
          </a:p>
          <a:p>
            <a:pPr marL="640080" lvl="1" indent="-182520">
              <a:spcBef>
                <a:spcPts val="1200"/>
              </a:spcBef>
              <a:buClr>
                <a:srgbClr val="0047BA"/>
              </a:buClr>
              <a:buSzPct val="65000"/>
              <a:buFont typeface="Wingdings" charset="2"/>
              <a:buChar char=""/>
            </a:pPr>
            <a:r>
              <a:rPr lang="en-US" sz="2000" spc="-1" dirty="0"/>
              <a:t>Work in conjunction with researchers to design and implement bespoke computing resources to support research projects.</a:t>
            </a:r>
          </a:p>
          <a:p>
            <a:pPr marL="640080" lvl="1" indent="-182520">
              <a:spcBef>
                <a:spcPts val="1200"/>
              </a:spcBef>
              <a:buClr>
                <a:srgbClr val="0047BA"/>
              </a:buClr>
              <a:buSzPct val="65000"/>
              <a:buFont typeface="Wingdings" charset="2"/>
              <a:buChar char=""/>
            </a:pPr>
            <a:r>
              <a:rPr lang="en-US" sz="2000" spc="-1" dirty="0"/>
              <a:t>Support researchers by understanding their research computational needs and recommend suitable applications and other research computing resources available at the University.</a:t>
            </a:r>
          </a:p>
          <a:p>
            <a:pPr marL="640080" lvl="1" indent="-182520">
              <a:spcBef>
                <a:spcPts val="1200"/>
              </a:spcBef>
              <a:buClr>
                <a:srgbClr val="0047BA"/>
              </a:buClr>
              <a:buSzPct val="65000"/>
              <a:buFont typeface="Wingdings" charset="2"/>
              <a:buChar char=""/>
            </a:pPr>
            <a:r>
              <a:rPr lang="en-US" sz="2000" spc="-1" dirty="0"/>
              <a:t>Develop and maintain documentation and guidelines to assist users to make use of computational resources</a:t>
            </a:r>
          </a:p>
          <a:p>
            <a:pPr marL="640080" lvl="1" indent="-182520">
              <a:spcBef>
                <a:spcPts val="1200"/>
              </a:spcBef>
              <a:buClr>
                <a:srgbClr val="0047BA"/>
              </a:buClr>
              <a:buSzPct val="65000"/>
              <a:buFont typeface="Wingdings" charset="2"/>
              <a:buChar char=""/>
            </a:pPr>
            <a:r>
              <a:rPr lang="en-US" sz="2000" spc="-1" dirty="0"/>
              <a:t> Provide scientific computing support.</a:t>
            </a:r>
          </a:p>
          <a:p>
            <a:pPr marL="1097280" lvl="2" indent="-182520">
              <a:spcBef>
                <a:spcPts val="1200"/>
              </a:spcBef>
              <a:buClr>
                <a:srgbClr val="0047BA"/>
              </a:buClr>
              <a:buSzPct val="65000"/>
              <a:buFont typeface="Wingdings" charset="2"/>
              <a:buChar char=""/>
            </a:pPr>
            <a:r>
              <a:rPr lang="en-US" sz="2000" spc="-1" dirty="0"/>
              <a:t>Evaluating, optimizing and deploying new software on the HPC clusters</a:t>
            </a:r>
          </a:p>
          <a:p>
            <a:pPr marL="1097280" lvl="2" indent="-182520">
              <a:spcBef>
                <a:spcPts val="1200"/>
              </a:spcBef>
              <a:buClr>
                <a:srgbClr val="0047BA"/>
              </a:buClr>
              <a:buSzPct val="65000"/>
              <a:buFont typeface="Wingdings" charset="2"/>
              <a:buChar char=""/>
            </a:pPr>
            <a:r>
              <a:rPr lang="en-US" sz="2000" spc="-1" dirty="0"/>
              <a:t> Application profiling  and performance evaluation </a:t>
            </a:r>
          </a:p>
          <a:p>
            <a:pPr marL="640080" lvl="1" indent="-182520">
              <a:spcBef>
                <a:spcPts val="1200"/>
              </a:spcBef>
              <a:buClr>
                <a:srgbClr val="0047BA"/>
              </a:buClr>
              <a:buSzPct val="65000"/>
              <a:buFont typeface="Wingdings" charset="2"/>
              <a:buChar char=""/>
            </a:pPr>
            <a:r>
              <a:rPr lang="en-US" sz="2000" spc="-1" dirty="0"/>
              <a:t>Continue to develop and deliver specialized training courses. </a:t>
            </a:r>
          </a:p>
          <a:p>
            <a:pPr marL="640080" lvl="1" indent="-182520">
              <a:spcBef>
                <a:spcPts val="1200"/>
              </a:spcBef>
              <a:buClr>
                <a:srgbClr val="0047BA"/>
              </a:buClr>
              <a:buSzPct val="65000"/>
              <a:buFont typeface="Wingdings" charset="2"/>
              <a:buChar char=""/>
            </a:pPr>
            <a:endParaRPr lang="en-US" sz="2000" spc="-1" dirty="0">
              <a:latin typeface="Arial"/>
            </a:endParaRPr>
          </a:p>
        </p:txBody>
      </p:sp>
    </p:spTree>
    <p:extLst>
      <p:ext uri="{BB962C8B-B14F-4D97-AF65-F5344CB8AC3E}">
        <p14:creationId xmlns:p14="http://schemas.microsoft.com/office/powerpoint/2010/main" val="16982581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23</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Introductions and purpose of committee</a:t>
            </a:r>
          </a:p>
          <a:p>
            <a:pPr marL="914760" lvl="1" indent="-457200">
              <a:spcBef>
                <a:spcPts val="1200"/>
              </a:spcBef>
              <a:buClr>
                <a:srgbClr val="0047BA"/>
              </a:buClr>
              <a:buSzPct val="100000"/>
              <a:buFont typeface="+mj-lt"/>
              <a:buAutoNum type="arabicPeriod"/>
            </a:pPr>
            <a:r>
              <a:rPr lang="en-US" sz="2000" spc="-1" dirty="0"/>
              <a:t>Agree Secretary of Committee</a:t>
            </a:r>
          </a:p>
          <a:p>
            <a:pPr marL="914760" lvl="1" indent="-457200">
              <a:spcBef>
                <a:spcPts val="1200"/>
              </a:spcBef>
              <a:buClr>
                <a:srgbClr val="0047BA"/>
              </a:buClr>
              <a:buSzPct val="100000"/>
              <a:buFont typeface="+mj-lt"/>
              <a:buAutoNum type="arabicPeriod"/>
            </a:pPr>
            <a:r>
              <a:rPr lang="en-US" sz="2000" spc="-1" dirty="0"/>
              <a:t>Current status of RC resources</a:t>
            </a:r>
          </a:p>
          <a:p>
            <a:pPr marL="914760" lvl="1" indent="-457200">
              <a:spcBef>
                <a:spcPts val="1200"/>
              </a:spcBef>
              <a:buClr>
                <a:srgbClr val="0047BA"/>
              </a:buClr>
              <a:buSzPct val="100000"/>
              <a:buFont typeface="+mj-lt"/>
              <a:buAutoNum type="arabicPeriod"/>
            </a:pPr>
            <a:r>
              <a:rPr lang="en-US" sz="2000" spc="-1" dirty="0"/>
              <a:t>Draft of Research Computing strategy</a:t>
            </a:r>
          </a:p>
          <a:p>
            <a:pPr marL="914760" lvl="1" indent="-457200">
              <a:spcBef>
                <a:spcPts val="1200"/>
              </a:spcBef>
              <a:buClr>
                <a:srgbClr val="0047BA"/>
              </a:buClr>
              <a:buSzPct val="100000"/>
              <a:buFont typeface="+mj-lt"/>
              <a:buAutoNum type="arabicPeriod"/>
            </a:pPr>
            <a:r>
              <a:rPr lang="en-US" sz="2400" b="1" spc="-1" dirty="0"/>
              <a:t>Plans for CMHS Data and Research Coordinating center</a:t>
            </a:r>
          </a:p>
          <a:p>
            <a:pPr marL="914760" lvl="1" indent="-457200">
              <a:spcBef>
                <a:spcPts val="1200"/>
              </a:spcBef>
              <a:buClr>
                <a:srgbClr val="0047BA"/>
              </a:buClr>
              <a:buSzPct val="100000"/>
              <a:buFont typeface="+mj-lt"/>
              <a:buAutoNum type="arabicPeriod"/>
            </a:pPr>
            <a:r>
              <a:rPr lang="en-US" sz="2000" spc="-1" dirty="0"/>
              <a:t>Recommendations for Research Computing survey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10184448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CustomShape 1"/>
          <p:cNvSpPr/>
          <p:nvPr/>
        </p:nvSpPr>
        <p:spPr>
          <a:xfrm>
            <a:off x="828720" y="501840"/>
            <a:ext cx="10542960" cy="653400"/>
          </a:xfrm>
          <a:prstGeom prst="rect">
            <a:avLst/>
          </a:prstGeom>
          <a:noFill/>
          <a:ln>
            <a:noFill/>
          </a:ln>
        </p:spPr>
        <p:style>
          <a:lnRef idx="0">
            <a:scrgbClr r="0" g="0" b="0"/>
          </a:lnRef>
          <a:fillRef idx="0">
            <a:scrgbClr r="0" g="0" b="0"/>
          </a:fillRef>
          <a:effectRef idx="0">
            <a:scrgbClr r="0" g="0" b="0"/>
          </a:effectRef>
          <a:fontRef idx="minor"/>
        </p:style>
      </p:sp>
      <p:sp>
        <p:nvSpPr>
          <p:cNvPr id="470" name="CustomShape 2"/>
          <p:cNvSpPr/>
          <p:nvPr/>
        </p:nvSpPr>
        <p:spPr>
          <a:xfrm>
            <a:off x="609480" y="693360"/>
            <a:ext cx="10971720" cy="553998"/>
          </a:xfrm>
          <a:prstGeom prst="rect">
            <a:avLst/>
          </a:prstGeom>
          <a:noFill/>
          <a:ln>
            <a:noFill/>
          </a:ln>
        </p:spPr>
        <p:style>
          <a:lnRef idx="0">
            <a:scrgbClr r="0" g="0" b="0"/>
          </a:lnRef>
          <a:fillRef idx="0">
            <a:scrgbClr r="0" g="0" b="0"/>
          </a:fillRef>
          <a:effectRef idx="0">
            <a:scrgbClr r="0" g="0" b="0"/>
          </a:effectRef>
          <a:fontRef idx="minor"/>
        </p:style>
        <p:txBody>
          <a:bodyPr lIns="0" tIns="0" rIns="0" bIns="0">
            <a:spAutoFit/>
          </a:bodyPr>
          <a:lstStyle/>
          <a:p>
            <a:pPr>
              <a:lnSpc>
                <a:spcPct val="100000"/>
              </a:lnSpc>
            </a:pPr>
            <a:r>
              <a:rPr lang="en-US" sz="3600" b="1" spc="43" dirty="0">
                <a:solidFill>
                  <a:srgbClr val="0047BA"/>
                </a:solidFill>
                <a:latin typeface="Arial"/>
              </a:rPr>
              <a:t>Agenda</a:t>
            </a:r>
            <a:endParaRPr lang="en-US" sz="3600" b="0" strike="noStrike" spc="-1" dirty="0">
              <a:latin typeface="Arial"/>
            </a:endParaRPr>
          </a:p>
        </p:txBody>
      </p:sp>
      <p:sp>
        <p:nvSpPr>
          <p:cNvPr id="471" name="CustomShape 3"/>
          <p:cNvSpPr/>
          <p:nvPr/>
        </p:nvSpPr>
        <p:spPr>
          <a:xfrm>
            <a:off x="4182840" y="258134"/>
            <a:ext cx="4293648" cy="184666"/>
          </a:xfrm>
          <a:prstGeom prst="rect">
            <a:avLst/>
          </a:prstGeom>
          <a:noFill/>
          <a:ln>
            <a:noFill/>
          </a:ln>
        </p:spPr>
        <p:style>
          <a:lnRef idx="0">
            <a:scrgbClr r="0" g="0" b="0"/>
          </a:lnRef>
          <a:fillRef idx="0">
            <a:scrgbClr r="0" g="0" b="0"/>
          </a:fillRef>
          <a:effectRef idx="0">
            <a:scrgbClr r="0" g="0" b="0"/>
          </a:effectRef>
          <a:fontRef idx="minor"/>
        </p:style>
        <p:txBody>
          <a:bodyPr wrap="square" lIns="0" tIns="0" rIns="0" bIns="0">
            <a:spAutoFit/>
          </a:bodyPr>
          <a:lstStyle/>
          <a:p>
            <a:pPr algn="ctr">
              <a:lnSpc>
                <a:spcPct val="100000"/>
              </a:lnSpc>
            </a:pPr>
            <a:r>
              <a:rPr lang="en-US" sz="1200" b="1" strike="noStrike" spc="43" dirty="0">
                <a:solidFill>
                  <a:srgbClr val="0047BA"/>
                </a:solidFill>
                <a:latin typeface="Arial"/>
              </a:rPr>
              <a:t>Research Computing </a:t>
            </a:r>
            <a:r>
              <a:rPr lang="en-US" sz="1200" b="1" spc="43" dirty="0">
                <a:solidFill>
                  <a:srgbClr val="0047BA"/>
                </a:solidFill>
                <a:latin typeface="Arial"/>
              </a:rPr>
              <a:t>Committee</a:t>
            </a:r>
            <a:endParaRPr lang="en-US" sz="1200" b="0" strike="noStrike" spc="-1" dirty="0">
              <a:latin typeface="Arial"/>
            </a:endParaRPr>
          </a:p>
        </p:txBody>
      </p:sp>
      <p:sp>
        <p:nvSpPr>
          <p:cNvPr id="472" name="CustomShape 4"/>
          <p:cNvSpPr/>
          <p:nvPr/>
        </p:nvSpPr>
        <p:spPr>
          <a:xfrm>
            <a:off x="11563200" y="203040"/>
            <a:ext cx="522720" cy="24336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100000"/>
              </a:lnSpc>
            </a:pPr>
            <a:fld id="{5C5E316A-2CDC-412F-9F4A-F8985A2638AB}" type="slidenum">
              <a:rPr lang="en-US" sz="850" b="0" strike="noStrike" spc="-1">
                <a:solidFill>
                  <a:srgbClr val="96969A"/>
                </a:solidFill>
                <a:latin typeface="Arial"/>
                <a:ea typeface="DejaVu Sans"/>
              </a:rPr>
              <a:t>24</a:t>
            </a:fld>
            <a:endParaRPr lang="en-US" sz="850" b="0" strike="noStrike" spc="-1">
              <a:latin typeface="Arial"/>
            </a:endParaRPr>
          </a:p>
        </p:txBody>
      </p:sp>
      <p:sp>
        <p:nvSpPr>
          <p:cNvPr id="473" name="CustomShape 5"/>
          <p:cNvSpPr/>
          <p:nvPr/>
        </p:nvSpPr>
        <p:spPr>
          <a:xfrm>
            <a:off x="609480" y="1438878"/>
            <a:ext cx="10887048" cy="5032656"/>
          </a:xfrm>
          <a:prstGeom prst="rect">
            <a:avLst/>
          </a:prstGeom>
          <a:noFill/>
          <a:ln>
            <a:noFill/>
          </a:ln>
        </p:spPr>
        <p:style>
          <a:lnRef idx="0">
            <a:scrgbClr r="0" g="0" b="0"/>
          </a:lnRef>
          <a:fillRef idx="0">
            <a:scrgbClr r="0" g="0" b="0"/>
          </a:fillRef>
          <a:effectRef idx="0">
            <a:scrgbClr r="0" g="0" b="0"/>
          </a:effectRef>
          <a:fontRef idx="minor"/>
        </p:style>
        <p:txBody>
          <a:bodyPr lIns="0" tIns="0" rIns="0" bIns="0">
            <a:noAutofit/>
          </a:bodyPr>
          <a:lstStyle/>
          <a:p>
            <a:pPr marL="914760" lvl="1" indent="-457200">
              <a:spcBef>
                <a:spcPts val="1200"/>
              </a:spcBef>
              <a:buClr>
                <a:srgbClr val="0047BA"/>
              </a:buClr>
              <a:buSzPct val="100000"/>
              <a:buFont typeface="+mj-lt"/>
              <a:buAutoNum type="arabicPeriod"/>
            </a:pPr>
            <a:r>
              <a:rPr lang="en-US" sz="2000" spc="-1" dirty="0"/>
              <a:t>Introductions and purpose of committee</a:t>
            </a:r>
          </a:p>
          <a:p>
            <a:pPr marL="914760" lvl="1" indent="-457200">
              <a:spcBef>
                <a:spcPts val="1200"/>
              </a:spcBef>
              <a:buClr>
                <a:srgbClr val="0047BA"/>
              </a:buClr>
              <a:buSzPct val="100000"/>
              <a:buFont typeface="+mj-lt"/>
              <a:buAutoNum type="arabicPeriod"/>
            </a:pPr>
            <a:r>
              <a:rPr lang="en-US" sz="2000" spc="-1" dirty="0"/>
              <a:t>Agree Secretary of Committee</a:t>
            </a:r>
          </a:p>
          <a:p>
            <a:pPr marL="914760" lvl="1" indent="-457200">
              <a:spcBef>
                <a:spcPts val="1200"/>
              </a:spcBef>
              <a:buClr>
                <a:srgbClr val="0047BA"/>
              </a:buClr>
              <a:buSzPct val="100000"/>
              <a:buFont typeface="+mj-lt"/>
              <a:buAutoNum type="arabicPeriod"/>
            </a:pPr>
            <a:r>
              <a:rPr lang="en-US" sz="2000" spc="-1" dirty="0"/>
              <a:t>Current status of RC resources</a:t>
            </a:r>
          </a:p>
          <a:p>
            <a:pPr marL="914760" lvl="1" indent="-457200">
              <a:spcBef>
                <a:spcPts val="1200"/>
              </a:spcBef>
              <a:buClr>
                <a:srgbClr val="0047BA"/>
              </a:buClr>
              <a:buSzPct val="100000"/>
              <a:buFont typeface="+mj-lt"/>
              <a:buAutoNum type="arabicPeriod"/>
            </a:pPr>
            <a:r>
              <a:rPr lang="en-US" sz="2000" spc="-1" dirty="0"/>
              <a:t>Draft of Research Computing strategy</a:t>
            </a:r>
          </a:p>
          <a:p>
            <a:pPr marL="914760" lvl="1" indent="-457200">
              <a:spcBef>
                <a:spcPts val="1200"/>
              </a:spcBef>
              <a:buClr>
                <a:srgbClr val="0047BA"/>
              </a:buClr>
              <a:buSzPct val="100000"/>
              <a:buFont typeface="+mj-lt"/>
              <a:buAutoNum type="arabicPeriod"/>
            </a:pPr>
            <a:r>
              <a:rPr lang="en-US" sz="2000" spc="-1" dirty="0"/>
              <a:t>Plans for CMHS Data and Research Coordinating center</a:t>
            </a:r>
          </a:p>
          <a:p>
            <a:pPr marL="914760" lvl="1" indent="-457200">
              <a:spcBef>
                <a:spcPts val="1200"/>
              </a:spcBef>
              <a:buClr>
                <a:srgbClr val="0047BA"/>
              </a:buClr>
              <a:buSzPct val="100000"/>
              <a:buFont typeface="+mj-lt"/>
              <a:buAutoNum type="arabicPeriod"/>
            </a:pPr>
            <a:r>
              <a:rPr lang="en-US" sz="2400" b="1" spc="-1" dirty="0"/>
              <a:t>Recommendations for Research Computing survey</a:t>
            </a:r>
          </a:p>
          <a:p>
            <a:pPr marL="914760" lvl="1" indent="-457200">
              <a:spcBef>
                <a:spcPts val="1200"/>
              </a:spcBef>
              <a:buClr>
                <a:srgbClr val="0047BA"/>
              </a:buClr>
              <a:buSzPct val="100000"/>
              <a:buFont typeface="+mj-lt"/>
              <a:buAutoNum type="arabicPeriod"/>
            </a:pPr>
            <a:r>
              <a:rPr lang="en-US" sz="2000" spc="-1" dirty="0"/>
              <a:t>AOB</a:t>
            </a:r>
          </a:p>
          <a:p>
            <a:pPr marL="914760" lvl="1" indent="-457200">
              <a:spcBef>
                <a:spcPts val="1200"/>
              </a:spcBef>
              <a:buClr>
                <a:srgbClr val="0047BA"/>
              </a:buClr>
              <a:buSzPct val="100000"/>
              <a:buFont typeface="+mj-lt"/>
              <a:buAutoNum type="arabicPeriod"/>
            </a:pPr>
            <a:r>
              <a:rPr lang="en-US" sz="2000" spc="-1" dirty="0"/>
              <a:t>Date of next meeting</a:t>
            </a:r>
            <a:endParaRPr lang="en-US" sz="2000" spc="-1" dirty="0">
              <a:latin typeface="Arial"/>
            </a:endParaRPr>
          </a:p>
          <a:p>
            <a:pPr marL="360">
              <a:lnSpc>
                <a:spcPct val="100000"/>
              </a:lnSpc>
              <a:spcBef>
                <a:spcPts val="1800"/>
              </a:spcBef>
              <a:buClr>
                <a:srgbClr val="0047BA"/>
              </a:buClr>
              <a:buSzPct val="65000"/>
            </a:pPr>
            <a:endParaRPr lang="en-US" sz="1800" b="0" strike="noStrike" spc="-1" dirty="0">
              <a:latin typeface="Arial"/>
            </a:endParaRPr>
          </a:p>
        </p:txBody>
      </p:sp>
    </p:spTree>
    <p:extLst>
      <p:ext uri="{BB962C8B-B14F-4D97-AF65-F5344CB8AC3E}">
        <p14:creationId xmlns:p14="http://schemas.microsoft.com/office/powerpoint/2010/main" val="1492672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47BA"/>
      </a:dk2>
      <a:lt2>
        <a:srgbClr val="96969A"/>
      </a:lt2>
      <a:accent1>
        <a:srgbClr val="00CE7C"/>
      </a:accent1>
      <a:accent2>
        <a:srgbClr val="E53E51"/>
      </a:accent2>
      <a:accent3>
        <a:srgbClr val="84DADE"/>
      </a:accent3>
      <a:accent4>
        <a:srgbClr val="4C3041"/>
      </a:accent4>
      <a:accent5>
        <a:srgbClr val="F5CE3E"/>
      </a:accent5>
      <a:accent6>
        <a:srgbClr val="D0CFCD"/>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KU Theme</Template>
  <TotalTime>3162</TotalTime>
  <Words>1729</Words>
  <Application>Microsoft Macintosh PowerPoint</Application>
  <PresentationFormat>Widescreen</PresentationFormat>
  <Paragraphs>275</Paragraphs>
  <Slides>24</Slides>
  <Notes>15</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24</vt:i4>
      </vt:variant>
    </vt:vector>
  </HeadingPairs>
  <TitlesOfParts>
    <vt:vector size="30" baseType="lpstr">
      <vt:lpstr>Arial</vt:lpstr>
      <vt:lpstr>Symbol</vt:lpstr>
      <vt:lpstr>Times New Roman</vt:lpstr>
      <vt:lpstr>Wingdings</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Main Title Goes Here</dc:title>
  <dc:subject/>
  <dc:creator>Majed Almansoori</dc:creator>
  <dc:description/>
  <cp:lastModifiedBy>Dureid El Moghraby</cp:lastModifiedBy>
  <cp:revision>69</cp:revision>
  <dcterms:created xsi:type="dcterms:W3CDTF">2018-04-29T10:48:36Z</dcterms:created>
  <dcterms:modified xsi:type="dcterms:W3CDTF">2020-07-21T07:28:01Z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16.0012</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2</vt:i4>
  </property>
  <property fmtid="{D5CDD505-2E9C-101B-9397-08002B2CF9AE}" pid="8" name="PresentationFormat">
    <vt:lpwstr>Widescreen</vt:lpwstr>
  </property>
  <property fmtid="{D5CDD505-2E9C-101B-9397-08002B2CF9AE}" pid="9" name="ScaleCrop">
    <vt:bool>false</vt:bool>
  </property>
  <property fmtid="{D5CDD505-2E9C-101B-9397-08002B2CF9AE}" pid="10" name="ShareDoc">
    <vt:bool>false</vt:bool>
  </property>
  <property fmtid="{D5CDD505-2E9C-101B-9397-08002B2CF9AE}" pid="11" name="Slides">
    <vt:i4>12</vt:i4>
  </property>
</Properties>
</file>