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1" r:id="rId2"/>
    <p:sldId id="261" r:id="rId3"/>
    <p:sldId id="291" r:id="rId4"/>
    <p:sldId id="292" r:id="rId5"/>
    <p:sldId id="294" r:id="rId6"/>
    <p:sldId id="284" r:id="rId7"/>
    <p:sldId id="296" r:id="rId8"/>
    <p:sldId id="297" r:id="rId9"/>
    <p:sldId id="298" r:id="rId10"/>
    <p:sldId id="299" r:id="rId11"/>
    <p:sldId id="289" r:id="rId12"/>
    <p:sldId id="300" r:id="rId13"/>
    <p:sldId id="286" r:id="rId14"/>
    <p:sldId id="287" r:id="rId15"/>
    <p:sldId id="293" r:id="rId16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51" autoAdjust="0"/>
    <p:restoredTop sz="86384" autoAdjust="0"/>
  </p:normalViewPr>
  <p:slideViewPr>
    <p:cSldViewPr snapToGrid="0" showGuides="1">
      <p:cViewPr varScale="1">
        <p:scale>
          <a:sx n="127" d="100"/>
          <a:sy n="127" d="100"/>
        </p:scale>
        <p:origin x="656" y="19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4/9/20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97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7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53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71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98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Excel_Worksheet.xls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Excel_Worksheet1.xlsx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noProof="0" dirty="0"/>
              <a:t>March 2020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noProof="0" dirty="0"/>
              <a:t>MI HPC Cluster</a:t>
            </a:r>
          </a:p>
          <a:p>
            <a:pPr lvl="1"/>
            <a:r>
              <a:rPr lang="en-US" sz="2200" noProof="0" dirty="0"/>
              <a:t> </a:t>
            </a:r>
            <a:r>
              <a:rPr lang="en-US" sz="2200" dirty="0"/>
              <a:t>Have successfully moved critical HPC services to supported hardware.</a:t>
            </a:r>
          </a:p>
          <a:p>
            <a:pPr lvl="2"/>
            <a:r>
              <a:rPr lang="en-US" sz="1997" dirty="0"/>
              <a:t> Have carried out re-registration process for all HPC users. This was to remove inactive accounts, as well as to collect project and PI information from users.</a:t>
            </a:r>
          </a:p>
          <a:p>
            <a:pPr lvl="2"/>
            <a:r>
              <a:rPr lang="en-US" sz="1997" dirty="0"/>
              <a:t>Initiated purchase process to renew support for h/w which was cancelled at end of 2019.</a:t>
            </a:r>
            <a:endParaRPr lang="en-US" noProof="0" dirty="0"/>
          </a:p>
          <a:p>
            <a:r>
              <a:rPr lang="en-US" sz="2400" dirty="0"/>
              <a:t> SAN HPC</a:t>
            </a:r>
          </a:p>
          <a:p>
            <a:pPr lvl="1"/>
            <a:r>
              <a:rPr lang="en-US" sz="2400" dirty="0"/>
              <a:t> Have started procurement process to renew onsite engineer contract, using RC computing funds.</a:t>
            </a:r>
          </a:p>
          <a:p>
            <a:pPr lvl="1"/>
            <a:endParaRPr lang="en-US" sz="2400" dirty="0"/>
          </a:p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Still in process.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“Introduction to Linux” course developed and delivered</a:t>
            </a:r>
          </a:p>
          <a:p>
            <a:pPr lvl="1"/>
            <a:r>
              <a:rPr lang="en-US" sz="2400" dirty="0"/>
              <a:t>Successfully delivered course, which includes students, faculty and researchers.</a:t>
            </a:r>
          </a:p>
          <a:p>
            <a:pPr lvl="1"/>
            <a:r>
              <a:rPr lang="en-US" sz="2400" dirty="0"/>
              <a:t>Course was well received and well attended.</a:t>
            </a:r>
          </a:p>
          <a:p>
            <a:pPr lvl="1"/>
            <a:r>
              <a:rPr lang="en-US" sz="2400" dirty="0"/>
              <a:t>Course is a prerequisite to existing “Intro to HPC”</a:t>
            </a:r>
          </a:p>
          <a:p>
            <a:r>
              <a:rPr lang="en-US" sz="2400" dirty="0"/>
              <a:t>“Introduction to HPC” course delivered</a:t>
            </a:r>
          </a:p>
          <a:p>
            <a:r>
              <a:rPr lang="en-US" sz="2400" dirty="0"/>
              <a:t>Developed an short, approximately 1 hour course to HPC with intention of making it a prerequisite to getting an account on HPC. This has been delivered multiple times and is proving very useful. Attendance to this session is now required, before new accounts are issued.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6738450" cy="609876"/>
          </a:xfrm>
        </p:spPr>
        <p:txBody>
          <a:bodyPr>
            <a:normAutofit/>
          </a:bodyPr>
          <a:lstStyle/>
          <a:p>
            <a:r>
              <a:rPr lang="en-US" dirty="0"/>
              <a:t>MI Cluster core distribution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noProof="0" dirty="0"/>
              <a:t>MI HPC Cluster migration</a:t>
            </a:r>
          </a:p>
          <a:p>
            <a:pPr lvl="1"/>
            <a:r>
              <a:rPr lang="en-US" sz="2200" noProof="0" dirty="0"/>
              <a:t> </a:t>
            </a:r>
            <a:r>
              <a:rPr lang="en-US" sz="2200" dirty="0"/>
              <a:t>As part of migrating critical HPC management services from old unsupported hardware, to supported hardware the number of nodes available to users varied from day to day.</a:t>
            </a:r>
          </a:p>
          <a:p>
            <a:pPr lvl="1"/>
            <a:r>
              <a:rPr lang="en-US" sz="2200" noProof="0" dirty="0"/>
              <a:t>From 2</a:t>
            </a:r>
            <a:r>
              <a:rPr lang="en-US" sz="2200" baseline="30000" noProof="0" dirty="0"/>
              <a:t>nd</a:t>
            </a:r>
            <a:r>
              <a:rPr lang="en-US" sz="2200" noProof="0" dirty="0"/>
              <a:t> to 14</a:t>
            </a:r>
            <a:r>
              <a:rPr lang="en-US" sz="2200" baseline="30000" noProof="0" dirty="0"/>
              <a:t>th</a:t>
            </a:r>
            <a:r>
              <a:rPr lang="en-US" sz="2200" noProof="0" dirty="0"/>
              <a:t> of March, the number of nodes on the “old” cluster was gradually decreased, as they were added to the ”migrated” cluster. The following utilization stats take this into account.</a:t>
            </a:r>
            <a:endParaRPr lang="en-US" noProof="0" dirty="0"/>
          </a:p>
          <a:p>
            <a:r>
              <a:rPr lang="en-US" sz="2400" dirty="0"/>
              <a:t> Special allocation</a:t>
            </a:r>
          </a:p>
          <a:p>
            <a:pPr lvl="1"/>
            <a:r>
              <a:rPr lang="en-US" sz="2400" dirty="0"/>
              <a:t>A user in Nuclear Department had an important deadline, so we allocation 12 nodes for his exclusive use for 2 weeks. This allowed him to meet his deadline.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228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D2446C-F2E2-9C41-8004-9A2898200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1100"/>
            <a:ext cx="9906000" cy="46757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039DBD-3AB9-794D-A5A5-C1515F65086D}"/>
              </a:ext>
            </a:extLst>
          </p:cNvPr>
          <p:cNvSpPr/>
          <p:nvPr/>
        </p:nvSpPr>
        <p:spPr>
          <a:xfrm>
            <a:off x="2849230" y="783323"/>
            <a:ext cx="51122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MI HPC – “Old” Cluster utilization report from Mar 19 to Mar 20</a:t>
            </a:r>
          </a:p>
        </p:txBody>
      </p:sp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39DBD-3AB9-794D-A5A5-C1515F65086D}"/>
              </a:ext>
            </a:extLst>
          </p:cNvPr>
          <p:cNvSpPr/>
          <p:nvPr/>
        </p:nvSpPr>
        <p:spPr>
          <a:xfrm>
            <a:off x="2849230" y="783323"/>
            <a:ext cx="45704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MI HPC – “migrated” Cluster utilization report for Mar20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C78EA-EBE8-BE47-A68C-0CCE5C052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1332"/>
            <a:ext cx="9906000" cy="461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22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39DBD-3AB9-794D-A5A5-C1515F65086D}"/>
              </a:ext>
            </a:extLst>
          </p:cNvPr>
          <p:cNvSpPr/>
          <p:nvPr/>
        </p:nvSpPr>
        <p:spPr>
          <a:xfrm>
            <a:off x="2849230" y="783323"/>
            <a:ext cx="51764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MI HPC – “Old” queues utilization report from Mar 19 to Mar 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D16E0-265F-5C40-852C-7F26948625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9946"/>
            <a:ext cx="9906000" cy="473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62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39DBD-3AB9-794D-A5A5-C1515F65086D}"/>
              </a:ext>
            </a:extLst>
          </p:cNvPr>
          <p:cNvSpPr/>
          <p:nvPr/>
        </p:nvSpPr>
        <p:spPr>
          <a:xfrm>
            <a:off x="2849230" y="783323"/>
            <a:ext cx="50866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MI HPC – “Old” Group utilization report from Mar 19 to Mar 20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C81954-9D88-7844-82CC-CCE16931B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1100"/>
            <a:ext cx="9906000" cy="474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39DBD-3AB9-794D-A5A5-C1515F65086D}"/>
              </a:ext>
            </a:extLst>
          </p:cNvPr>
          <p:cNvSpPr/>
          <p:nvPr/>
        </p:nvSpPr>
        <p:spPr>
          <a:xfrm>
            <a:off x="2849230" y="783323"/>
            <a:ext cx="45496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MI HPC – “Migrated” Group utilization report for Mar 20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D5CBD8-5E3D-E748-8910-B2DBF5E0C9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1100"/>
            <a:ext cx="9906000" cy="473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34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284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MI HPC “old” - Group Utilization for March 2020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4C354B18-09C2-A545-B3FD-4743E2D075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449145"/>
              </p:ext>
            </p:extLst>
          </p:nvPr>
        </p:nvGraphicFramePr>
        <p:xfrm>
          <a:off x="1314590" y="1178996"/>
          <a:ext cx="6884866" cy="527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Worksheet" r:id="rId4" imgW="6794500" imgH="5346700" progId="Excel.Sheet.12">
                  <p:embed/>
                </p:oleObj>
              </mc:Choice>
              <mc:Fallback>
                <p:oleObj name="Worksheet" r:id="rId4" imgW="6794500" imgH="5346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14590" y="1178996"/>
                        <a:ext cx="6884866" cy="5277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284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MI HPC “migrated” - Group Utilization for March 2020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6816BED-87DC-474B-A7FF-9B28258511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2916773"/>
              </p:ext>
            </p:extLst>
          </p:nvPr>
        </p:nvGraphicFramePr>
        <p:xfrm>
          <a:off x="1708219" y="1178996"/>
          <a:ext cx="6149661" cy="5528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Worksheet" r:id="rId4" imgW="6794500" imgH="6108700" progId="Excel.Sheet.12">
                  <p:embed/>
                </p:oleObj>
              </mc:Choice>
              <mc:Fallback>
                <p:oleObj name="Worksheet" r:id="rId4" imgW="6794500" imgH="6108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08219" y="1178996"/>
                        <a:ext cx="6149661" cy="5528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1975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68D5B-CF96-644D-9295-B2103CCE6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4562"/>
            <a:ext cx="9906000" cy="464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EA82-C916-2648-85B5-7D2A6E2A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5092236-7E55-1440-8EF3-ED8891701D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839132"/>
              </p:ext>
            </p:extLst>
          </p:nvPr>
        </p:nvGraphicFramePr>
        <p:xfrm>
          <a:off x="301625" y="1349375"/>
          <a:ext cx="9304338" cy="497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Worksheet" r:id="rId3" imgW="11531600" imgH="7594600" progId="Excel.Sheet.12">
                  <p:embed/>
                </p:oleObj>
              </mc:Choice>
              <mc:Fallback>
                <p:oleObj name="Worksheet" r:id="rId3" imgW="11531600" imgH="7594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1625" y="1349375"/>
                        <a:ext cx="9304338" cy="4970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7">
            <a:extLst>
              <a:ext uri="{FF2B5EF4-FFF2-40B4-BE49-F238E27FC236}">
                <a16:creationId xmlns:a16="http://schemas.microsoft.com/office/drawing/2014/main" id="{B360D301-D239-C94C-AB00-01065A9D51DF}"/>
              </a:ext>
            </a:extLst>
          </p:cNvPr>
          <p:cNvSpPr txBox="1">
            <a:spLocks/>
          </p:cNvSpPr>
          <p:nvPr/>
        </p:nvSpPr>
        <p:spPr>
          <a:xfrm>
            <a:off x="469571" y="447676"/>
            <a:ext cx="8463393" cy="815095"/>
          </a:xfrm>
          <a:prstGeom prst="rect">
            <a:avLst/>
          </a:prstGeom>
        </p:spPr>
        <p:txBody>
          <a:bodyPr/>
          <a:lstStyle>
            <a:lvl1pPr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925" b="1" kern="1200" spc="4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Status of KPI’s</a:t>
            </a:r>
          </a:p>
        </p:txBody>
      </p:sp>
    </p:spTree>
    <p:extLst>
      <p:ext uri="{BB962C8B-B14F-4D97-AF65-F5344CB8AC3E}">
        <p14:creationId xmlns:p14="http://schemas.microsoft.com/office/powerpoint/2010/main" val="3215051738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KU_presentation_template_v03_dureid</Template>
  <TotalTime>2350</TotalTime>
  <Words>468</Words>
  <Application>Microsoft Macintosh PowerPoint</Application>
  <PresentationFormat>A4 Paper (210x297 mm)</PresentationFormat>
  <Paragraphs>66</Paragraphs>
  <Slides>15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KU Theme</vt:lpstr>
      <vt:lpstr>Microsoft Excel Worksheet</vt:lpstr>
      <vt:lpstr>Research Computing Update</vt:lpstr>
      <vt:lpstr>HPC Resources</vt:lpstr>
      <vt:lpstr>Training</vt:lpstr>
      <vt:lpstr>Resource Utilization</vt:lpstr>
      <vt:lpstr>MI Cluster core distribution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El-Moghraby</dc:creator>
  <cp:lastModifiedBy>Dureid El-Moghraby</cp:lastModifiedBy>
  <cp:revision>60</cp:revision>
  <dcterms:created xsi:type="dcterms:W3CDTF">2018-11-13T08:10:11Z</dcterms:created>
  <dcterms:modified xsi:type="dcterms:W3CDTF">2020-04-09T08:11:35Z</dcterms:modified>
</cp:coreProperties>
</file>