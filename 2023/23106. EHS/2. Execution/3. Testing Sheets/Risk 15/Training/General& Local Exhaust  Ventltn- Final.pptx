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48" r:id="rId2"/>
  </p:sldMasterIdLst>
  <p:notesMasterIdLst>
    <p:notesMasterId r:id="rId19"/>
  </p:notesMasterIdLst>
  <p:sldIdLst>
    <p:sldId id="274" r:id="rId3"/>
    <p:sldId id="590" r:id="rId4"/>
    <p:sldId id="591" r:id="rId5"/>
    <p:sldId id="592" r:id="rId6"/>
    <p:sldId id="623" r:id="rId7"/>
    <p:sldId id="597" r:id="rId8"/>
    <p:sldId id="599" r:id="rId9"/>
    <p:sldId id="600" r:id="rId10"/>
    <p:sldId id="601" r:id="rId11"/>
    <p:sldId id="602" r:id="rId12"/>
    <p:sldId id="624" r:id="rId13"/>
    <p:sldId id="610" r:id="rId14"/>
    <p:sldId id="612" r:id="rId15"/>
    <p:sldId id="614" r:id="rId16"/>
    <p:sldId id="625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BA"/>
    <a:srgbClr val="FFFFFF"/>
    <a:srgbClr val="F8485E"/>
    <a:srgbClr val="0057B8"/>
    <a:srgbClr val="1B5FAA"/>
    <a:srgbClr val="000000"/>
    <a:srgbClr val="FF014A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96" autoAdjust="0"/>
    <p:restoredTop sz="93849" autoAdjust="0"/>
  </p:normalViewPr>
  <p:slideViewPr>
    <p:cSldViewPr snapToGrid="0" showGuides="1">
      <p:cViewPr varScale="1">
        <p:scale>
          <a:sx n="64" d="100"/>
          <a:sy n="64" d="100"/>
        </p:scale>
        <p:origin x="154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>
            <a:extLst>
              <a:ext uri="{FF2B5EF4-FFF2-40B4-BE49-F238E27FC236}">
                <a16:creationId xmlns:a16="http://schemas.microsoft.com/office/drawing/2014/main" id="{4448A5F8-25DA-431E-AE75-5AD20CAC1D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6" y="5901733"/>
            <a:ext cx="9069224" cy="943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2676525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4429126"/>
            <a:ext cx="6988323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5497790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326777" y="2752725"/>
            <a:ext cx="135731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006267" y="2760293"/>
            <a:ext cx="1679249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975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2676525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4429126"/>
            <a:ext cx="6988323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5497790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326777" y="2752725"/>
            <a:ext cx="135731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006267" y="2760293"/>
            <a:ext cx="1679249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9969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orakulmio 12">
            <a:extLst>
              <a:ext uri="{FF2B5EF4-FFF2-40B4-BE49-F238E27FC236}">
                <a16:creationId xmlns:a16="http://schemas.microsoft.com/office/drawing/2014/main" id="{D72F8343-7514-4A99-9282-4436A1CAC5E0}"/>
              </a:ext>
            </a:extLst>
          </p:cNvPr>
          <p:cNvSpPr/>
          <p:nvPr userDrawn="1"/>
        </p:nvSpPr>
        <p:spPr>
          <a:xfrm>
            <a:off x="0" y="1"/>
            <a:ext cx="3570005" cy="4597637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350"/>
          </a:p>
        </p:txBody>
      </p:sp>
      <p:pic>
        <p:nvPicPr>
          <p:cNvPr id="11" name="Kuva 10">
            <a:extLst>
              <a:ext uri="{FF2B5EF4-FFF2-40B4-BE49-F238E27FC236}">
                <a16:creationId xmlns:a16="http://schemas.microsoft.com/office/drawing/2014/main" id="{6DDCE989-3FE2-4741-B42B-7F0B9C318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750" y="0"/>
            <a:ext cx="560773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1539934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3292535"/>
            <a:ext cx="6988323" cy="561619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4062096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F1951A4F-3406-4A97-B9A7-EDD84DADAD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09" y="5607709"/>
            <a:ext cx="2412257" cy="70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84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ictur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3D880977-7262-4385-A8E0-0086619778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2676525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4429126"/>
            <a:ext cx="6988323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5497790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326777" y="2752725"/>
            <a:ext cx="135731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006267" y="2760293"/>
            <a:ext cx="1679249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069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fi-FI" dirty="0" smtClean="0"/>
              <a:t>Online EHS Training- Lab Ventillation Fume Hood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354306-F9AA-E247-A52B-5F0B03FA3E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92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fi-FI" dirty="0" smtClean="0"/>
              <a:t>Online EHS Training- Lab Ventillation Fume Hood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354306-F9AA-E247-A52B-5F0B03FA3E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58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006" y="1152525"/>
            <a:ext cx="3893343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 smtClean="0"/>
          </a:p>
          <a:p>
            <a:r>
              <a:rPr lang="fi-FI" dirty="0" smtClean="0"/>
              <a:t>Online EHS Training- Lab Ventillation Fume Hood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1123951"/>
            <a:ext cx="3314700" cy="5190695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45E9B6C-7602-4B4A-80F7-1DC5B15DED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052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600" y="1868400"/>
            <a:ext cx="3510000" cy="44496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25" y="1868400"/>
            <a:ext cx="3510000" cy="44496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DF1A1AF-6EBC-7A40-BA81-201620175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68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600" y="2352675"/>
            <a:ext cx="351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25" y="2352675"/>
            <a:ext cx="351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 smtClean="0"/>
          </a:p>
          <a:p>
            <a:r>
              <a:rPr lang="fi-FI" dirty="0" smtClean="0"/>
              <a:t>Online EHS Training- Lab Ventillation Fume Hood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20600" y="1868400"/>
            <a:ext cx="351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00625" y="1868400"/>
            <a:ext cx="3515916" cy="379501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EA18664-86AE-6D47-B291-C8C758ABEE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7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22006" y="771526"/>
            <a:ext cx="42291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542926"/>
            <a:ext cx="3136107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556" y="1866901"/>
            <a:ext cx="3136107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2D815D9A-BE79-664B-B7C3-AF665BFEE6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69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542926"/>
            <a:ext cx="3136107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556" y="1866901"/>
            <a:ext cx="3136107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2006" y="771526"/>
            <a:ext cx="42291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4855580-B516-594A-8AF5-92C14F00D1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7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7" y="542926"/>
            <a:ext cx="7908131" cy="11144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 smtClean="0"/>
          </a:p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8969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037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57900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0234F5-EE42-214B-860C-75BFD036FA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44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1114425"/>
            <a:ext cx="4757738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 smtClean="0"/>
          </a:p>
          <a:p>
            <a:r>
              <a:rPr lang="fi-FI" dirty="0" smtClean="0"/>
              <a:t>Online EHS Training- Lab Ventillation Fume Hood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8969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037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57900" y="762001"/>
            <a:ext cx="2786063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20229C-D7FF-914A-A392-E6F1101AD5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848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 smtClean="0"/>
          </a:p>
          <a:p>
            <a:r>
              <a:rPr lang="fi-FI" dirty="0" smtClean="0"/>
              <a:t>Online EHS Training- Elecrical Safety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AA27D76-A13D-8542-8C18-419AEB478E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154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 dirty="0" err="1">
                <a:solidFill>
                  <a:srgbClr val="1B5FAA"/>
                </a:solidFill>
              </a:rPr>
              <a:t>ku.ac.ae</a:t>
            </a:r>
            <a:endParaRPr lang="en-US" sz="638" dirty="0">
              <a:solidFill>
                <a:srgbClr val="1B5FAA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1DC4D5F-C4A1-B143-88CC-6C5E5FA17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39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10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04914"/>
            <a:ext cx="78867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00500"/>
            <a:ext cx="78867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2850">
                <a:solidFill>
                  <a:srgbClr val="000000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1CE92-ABC5-6847-8C38-3DC85D9DB6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593" y="233481"/>
            <a:ext cx="1495699" cy="2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501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52514"/>
            <a:ext cx="78867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11D02BC0-B13E-4935-937E-B35D1BFBD4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82" y="241261"/>
            <a:ext cx="1575239" cy="1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68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564356" y="2767023"/>
            <a:ext cx="7986713" cy="13272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8625" b="1" spc="-75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8625" b="1" spc="-75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8625" b="1" spc="-75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8625" b="1" spc="-75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3527277" y="5480229"/>
            <a:ext cx="1378743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938" b="1">
                <a:solidFill>
                  <a:srgbClr val="FFFFFF"/>
                </a:solidFill>
              </a:rPr>
              <a:t>ku.ac.ae</a:t>
            </a:r>
            <a:endParaRPr lang="en-US" sz="938" b="1">
              <a:solidFill>
                <a:srgbClr val="FFFFFF"/>
              </a:solidFill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60938B8B-7582-4902-80EB-C98CDE970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78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>
            <a:extLst>
              <a:ext uri="{FF2B5EF4-FFF2-40B4-BE49-F238E27FC236}">
                <a16:creationId xmlns:a16="http://schemas.microsoft.com/office/drawing/2014/main" id="{4448A5F8-25DA-431E-AE75-5AD20CAC1D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6" y="5901733"/>
            <a:ext cx="9069224" cy="943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2676525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4429126"/>
            <a:ext cx="6988323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5497790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326777" y="2752725"/>
            <a:ext cx="135731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006267" y="2760293"/>
            <a:ext cx="1679249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2676525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4429126"/>
            <a:ext cx="6988323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5497790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326777" y="2752725"/>
            <a:ext cx="135731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006267" y="2760293"/>
            <a:ext cx="1679249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919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orakulmio 12">
            <a:extLst>
              <a:ext uri="{FF2B5EF4-FFF2-40B4-BE49-F238E27FC236}">
                <a16:creationId xmlns:a16="http://schemas.microsoft.com/office/drawing/2014/main" id="{D72F8343-7514-4A99-9282-4436A1CAC5E0}"/>
              </a:ext>
            </a:extLst>
          </p:cNvPr>
          <p:cNvSpPr/>
          <p:nvPr userDrawn="1"/>
        </p:nvSpPr>
        <p:spPr>
          <a:xfrm>
            <a:off x="0" y="1"/>
            <a:ext cx="3570005" cy="4597637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350"/>
          </a:p>
        </p:txBody>
      </p:sp>
      <p:pic>
        <p:nvPicPr>
          <p:cNvPr id="11" name="Kuva 10">
            <a:extLst>
              <a:ext uri="{FF2B5EF4-FFF2-40B4-BE49-F238E27FC236}">
                <a16:creationId xmlns:a16="http://schemas.microsoft.com/office/drawing/2014/main" id="{6DDCE989-3FE2-4741-B42B-7F0B9C318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750" y="0"/>
            <a:ext cx="560773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1539934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3292535"/>
            <a:ext cx="6988323" cy="561619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4062096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F1951A4F-3406-4A97-B9A7-EDD84DADAD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09" y="5607709"/>
            <a:ext cx="2412257" cy="70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9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ictur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3D880977-7262-4385-A8E0-0086619778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2676525"/>
            <a:ext cx="6988323" cy="1714500"/>
          </a:xfrm>
        </p:spPr>
        <p:txBody>
          <a:bodyPr anchor="b"/>
          <a:lstStyle>
            <a:lvl1pPr algn="l">
              <a:defRPr sz="45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4429126"/>
            <a:ext cx="6988323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5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678" y="5497790"/>
            <a:ext cx="4076945" cy="314325"/>
          </a:xfrm>
        </p:spPr>
        <p:txBody>
          <a:bodyPr>
            <a:normAutofit/>
          </a:bodyPr>
          <a:lstStyle>
            <a:lvl1pPr marL="0" indent="0" algn="l">
              <a:buNone/>
              <a:defRPr sz="1013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326777" y="2752725"/>
            <a:ext cx="135731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006267" y="2760293"/>
            <a:ext cx="1679249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0213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354306-F9AA-E247-A52B-5F0B03FA3E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57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354306-F9AA-E247-A52B-5F0B03FA3E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006" y="1152525"/>
            <a:ext cx="3893343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1123951"/>
            <a:ext cx="3314700" cy="5190695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45E9B6C-7602-4B4A-80F7-1DC5B15DED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600" y="1868400"/>
            <a:ext cx="351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25" y="1868400"/>
            <a:ext cx="351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Online EHS Training-Lab Ventillation Fume Hood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DF1A1AF-6EBC-7A40-BA81-201620175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600" y="2352675"/>
            <a:ext cx="351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25" y="2352675"/>
            <a:ext cx="351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20600" y="1868400"/>
            <a:ext cx="351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00625" y="1868400"/>
            <a:ext cx="3515916" cy="379501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EA18664-86AE-6D47-B291-C8C758ABEE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22006" y="771526"/>
            <a:ext cx="42291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542926"/>
            <a:ext cx="3136107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556" y="1866901"/>
            <a:ext cx="3136107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2D815D9A-BE79-664B-B7C3-AF665BFEE6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542926"/>
            <a:ext cx="3136107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556" y="1866901"/>
            <a:ext cx="3136107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2006" y="771526"/>
            <a:ext cx="42291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4855580-B516-594A-8AF5-92C14F00D1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7" y="542926"/>
            <a:ext cx="7908131" cy="11144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8969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037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57900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0234F5-EE42-214B-860C-75BFD036FA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1114425"/>
            <a:ext cx="4757738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8969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037" y="2752725"/>
            <a:ext cx="2786063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57900" y="762001"/>
            <a:ext cx="2786063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20229C-D7FF-914A-A392-E6F1101AD5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AA27D76-A13D-8542-8C18-419AEB478E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 dirty="0" err="1">
                <a:solidFill>
                  <a:srgbClr val="1B5FAA"/>
                </a:solidFill>
              </a:rPr>
              <a:t>ku.ac.ae</a:t>
            </a:r>
            <a:endParaRPr lang="en-US" sz="638" dirty="0">
              <a:solidFill>
                <a:srgbClr val="1B5FAA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287749" y="533400"/>
            <a:ext cx="85990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1DC4D5F-C4A1-B143-88CC-6C5E5FA17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969" y="215313"/>
            <a:ext cx="1484653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04914"/>
            <a:ext cx="78867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00500"/>
            <a:ext cx="78867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2850">
                <a:solidFill>
                  <a:srgbClr val="000000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1CE92-ABC5-6847-8C38-3DC85D9DB6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593" y="233481"/>
            <a:ext cx="1495699" cy="2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52514"/>
            <a:ext cx="78867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11D02BC0-B13E-4935-937E-B35D1BFBD4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82" y="241261"/>
            <a:ext cx="1575239" cy="1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564356" y="2767023"/>
            <a:ext cx="7986713" cy="13272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8625" b="1" spc="-75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8625" b="1" spc="-75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8625" b="1" spc="-75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8625" b="1" spc="-75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3527277" y="5480229"/>
            <a:ext cx="1378743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938" b="1">
                <a:solidFill>
                  <a:srgbClr val="FFFFFF"/>
                </a:solidFill>
              </a:rPr>
              <a:t>ku.ac.ae</a:t>
            </a:r>
            <a:endParaRPr lang="en-US" sz="938" b="1">
              <a:solidFill>
                <a:srgbClr val="FFFFFF"/>
              </a:solidFill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60938B8B-7582-4902-80EB-C98CDE970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3" y="526342"/>
            <a:ext cx="2440822" cy="71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542926"/>
            <a:ext cx="7493794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1866901"/>
            <a:ext cx="7493794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65044" y="203201"/>
            <a:ext cx="1300163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38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0269" y="203201"/>
            <a:ext cx="30861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38">
                <a:solidFill>
                  <a:schemeClr val="bg2"/>
                </a:solidFill>
              </a:defRPr>
            </a:lvl1pPr>
          </a:lstStyle>
          <a:p>
            <a:endParaRPr lang="fi-FI" dirty="0" smtClean="0"/>
          </a:p>
          <a:p>
            <a:r>
              <a:rPr lang="fi-FI" dirty="0" smtClean="0"/>
              <a:t>Online EHS Training- Lab  Ventillation Fume Hood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72512" y="203201"/>
            <a:ext cx="392906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38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66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94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timing>
    <p:tnLst>
      <p:par>
        <p:cTn id="1" dur="indefinite" restart="never" nodeType="tmRoot"/>
      </p:par>
    </p:tnLst>
  </p:timing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 spc="38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35731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07194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388" kern="1200">
          <a:solidFill>
            <a:schemeClr val="tx1"/>
          </a:solidFill>
          <a:latin typeface="+mn-lt"/>
          <a:ea typeface="+mn-ea"/>
          <a:cs typeface="+mn-cs"/>
        </a:defRPr>
      </a:lvl2pPr>
      <a:lvl3pPr marL="535781" indent="-128588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71513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07244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56" y="542926"/>
            <a:ext cx="7493794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1866901"/>
            <a:ext cx="7493794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65044" y="203201"/>
            <a:ext cx="1300163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38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0269" y="203201"/>
            <a:ext cx="30861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38">
                <a:solidFill>
                  <a:schemeClr val="bg2"/>
                </a:solidFill>
              </a:defRPr>
            </a:lvl1pPr>
          </a:lstStyle>
          <a:p>
            <a:r>
              <a:rPr lang="fi-FI" dirty="0" smtClean="0"/>
              <a:t>Online EHS Training- Lab Ventillation Fume Hood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72512" y="203201"/>
            <a:ext cx="392906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38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7808118" y="203201"/>
            <a:ext cx="721519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38">
                <a:solidFill>
                  <a:schemeClr val="bg2"/>
                </a:solidFill>
              </a:rPr>
              <a:t>ku.ac.ae</a:t>
            </a:r>
            <a:endParaRPr lang="en-US" sz="6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4" r:id="rId3"/>
    <p:sldLayoutId id="2147483673" r:id="rId4"/>
    <p:sldLayoutId id="2147483695" r:id="rId5"/>
    <p:sldLayoutId id="2147483650" r:id="rId6"/>
    <p:sldLayoutId id="2147483662" r:id="rId7"/>
    <p:sldLayoutId id="2147483652" r:id="rId8"/>
    <p:sldLayoutId id="2147483661" r:id="rId9"/>
    <p:sldLayoutId id="2147483663" r:id="rId10"/>
    <p:sldLayoutId id="2147483660" r:id="rId11"/>
    <p:sldLayoutId id="2147483664" r:id="rId12"/>
    <p:sldLayoutId id="2147483665" r:id="rId13"/>
    <p:sldLayoutId id="2147483654" r:id="rId14"/>
    <p:sldLayoutId id="2147483671" r:id="rId15"/>
    <p:sldLayoutId id="2147483655" r:id="rId16"/>
    <p:sldLayoutId id="2147483651" r:id="rId17"/>
    <p:sldLayoutId id="2147483666" r:id="rId18"/>
    <p:sldLayoutId id="2147483667" r:id="rId19"/>
  </p:sldLayoutIdLst>
  <p:timing>
    <p:tnLst>
      <p:par>
        <p:cTn id="1" dur="indefinite" restart="never" nodeType="tmRoot"/>
      </p:par>
    </p:tnLst>
  </p:timing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 spc="38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35731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07194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388" kern="1200">
          <a:solidFill>
            <a:schemeClr val="tx1"/>
          </a:solidFill>
          <a:latin typeface="+mn-lt"/>
          <a:ea typeface="+mn-ea"/>
          <a:cs typeface="+mn-cs"/>
        </a:defRPr>
      </a:lvl2pPr>
      <a:lvl3pPr marL="535781" indent="-128588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71513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07244" indent="-135731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gi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hyperlink" Target="http://www.animationlibrary.com/a-l/?n=image.php3&amp;image_id=6621" TargetMode="Externa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FMHelpdesk@ku.ac.ae" TargetMode="Externa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7" y="2508805"/>
            <a:ext cx="6988323" cy="1285875"/>
          </a:xfrm>
        </p:spPr>
        <p:txBody>
          <a:bodyPr/>
          <a:lstStyle/>
          <a:p>
            <a:r>
              <a:rPr lang="fi-FI" dirty="0"/>
              <a:t>Online </a:t>
            </a:r>
            <a:r>
              <a:rPr lang="fi-FI" dirty="0" smtClean="0"/>
              <a:t>EHS </a:t>
            </a:r>
            <a:r>
              <a:rPr lang="fi-FI" dirty="0"/>
              <a:t>Training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77" y="4429126"/>
            <a:ext cx="7175980" cy="894905"/>
          </a:xfrm>
        </p:spPr>
        <p:txBody>
          <a:bodyPr/>
          <a:lstStyle/>
          <a:p>
            <a:r>
              <a:rPr lang="en-US" dirty="0" smtClean="0"/>
              <a:t>General &amp; Local Exhaust Ventilations in Laboratories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80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Upon completion of this training course, participants will be able to: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Outline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the importance and specifics of laboratory ventilation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Discuss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the different types of Local Exhaust Ventilations.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Discuss usage and functions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of fume hoods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Apply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safe work practice while using fume hoods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50268" y="203201"/>
            <a:ext cx="3914775" cy="244475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General &amp; Local Exhaust Ventilations in Laboratories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8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Laboratory ventilation is the single most important factor used to protect people from airborne hazards. Ventilation systems can be separated into two categories:</a:t>
            </a:r>
          </a:p>
          <a:p>
            <a:endParaRPr lang="en-US" dirty="0"/>
          </a:p>
          <a:p>
            <a:r>
              <a:rPr lang="en-US" dirty="0"/>
              <a:t> Room (general) ventilation </a:t>
            </a:r>
          </a:p>
          <a:p>
            <a:r>
              <a:rPr lang="en-US" dirty="0"/>
              <a:t> Local </a:t>
            </a:r>
            <a:r>
              <a:rPr lang="en-US" dirty="0" smtClean="0"/>
              <a:t>exhaust ventilation 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1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212" y="592132"/>
            <a:ext cx="7493794" cy="620048"/>
          </a:xfrm>
        </p:spPr>
        <p:txBody>
          <a:bodyPr/>
          <a:lstStyle/>
          <a:p>
            <a:r>
              <a:rPr lang="en-US" dirty="0" smtClean="0"/>
              <a:t>ROOM (GENERAL) VENTILATION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121" y="3388567"/>
            <a:ext cx="8193889" cy="444817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Based </a:t>
            </a:r>
            <a:r>
              <a:rPr lang="en-US" dirty="0"/>
              <a:t>on the volume of space in a laboratory and the volume of air exhausted, an exchange rate can be determined.  This exchange rate is expressed as – air exchanges per hour (ACH/</a:t>
            </a:r>
            <a:r>
              <a:rPr lang="en-US" dirty="0" err="1"/>
              <a:t>hr</a:t>
            </a:r>
            <a:r>
              <a:rPr lang="en-US" dirty="0"/>
              <a:t>).</a:t>
            </a:r>
          </a:p>
          <a:p>
            <a:pPr algn="just"/>
            <a:r>
              <a:rPr lang="en-US" dirty="0"/>
              <a:t> The higher the exchange rate, the faster airborne </a:t>
            </a:r>
            <a:r>
              <a:rPr lang="en-US" dirty="0" smtClean="0"/>
              <a:t>contaminants </a:t>
            </a:r>
            <a:r>
              <a:rPr lang="en-US" dirty="0"/>
              <a:t>are exhausted or eliminated.</a:t>
            </a:r>
          </a:p>
          <a:p>
            <a:pPr algn="just"/>
            <a:r>
              <a:rPr lang="en-US" dirty="0" smtClean="0"/>
              <a:t>Air </a:t>
            </a:r>
            <a:r>
              <a:rPr lang="en-US" dirty="0"/>
              <a:t>exchange rates for laboratories range from 6 to 12 per hour based on chemical use.</a:t>
            </a:r>
          </a:p>
          <a:p>
            <a:pPr marL="0" indent="0" algn="just">
              <a:buNone/>
            </a:pPr>
            <a:r>
              <a:rPr lang="en-US" b="1" dirty="0" smtClean="0"/>
              <a:t>Labs </a:t>
            </a:r>
            <a:r>
              <a:rPr lang="en-US" b="1" dirty="0"/>
              <a:t>air exchange rate : 6</a:t>
            </a:r>
          </a:p>
          <a:p>
            <a:pPr algn="just"/>
            <a:r>
              <a:rPr lang="en-US" dirty="0" smtClean="0"/>
              <a:t>98.4</a:t>
            </a:r>
            <a:r>
              <a:rPr lang="en-US" dirty="0"/>
              <a:t>% of the air will be exchanged by fresh air within one hour.</a:t>
            </a:r>
          </a:p>
          <a:p>
            <a:pPr algn="just"/>
            <a:endParaRPr lang="en-US" dirty="0">
              <a:latin typeface="Verdana" pitchFamily="34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859045" y="1356636"/>
            <a:ext cx="4125157" cy="1980460"/>
            <a:chOff x="2133600" y="3332162"/>
            <a:chExt cx="5181600" cy="2687638"/>
          </a:xfrm>
        </p:grpSpPr>
        <p:sp>
          <p:nvSpPr>
            <p:cNvPr id="9" name="Rectangle 33" descr="P:\Photos\Lab Textures\eos_tumult_t3a.gif"/>
            <p:cNvSpPr>
              <a:spLocks noChangeArrowheads="1"/>
            </p:cNvSpPr>
            <p:nvPr/>
          </p:nvSpPr>
          <p:spPr bwMode="auto">
            <a:xfrm>
              <a:off x="2138363" y="3589337"/>
              <a:ext cx="4724400" cy="2430463"/>
            </a:xfrm>
            <a:prstGeom prst="rect">
              <a:avLst/>
            </a:prstGeom>
            <a:blipFill dpi="0" rotWithShape="0">
              <a:blip r:embed="rId3" cstate="print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274253"/>
                </p:ext>
              </p:extLst>
            </p:nvPr>
          </p:nvGraphicFramePr>
          <p:xfrm>
            <a:off x="2133600" y="3332162"/>
            <a:ext cx="5181600" cy="2687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" name="Bitmap Image" r:id="rId4" imgW="4390476" imgH="2257740" progId="PBrush">
                    <p:embed/>
                  </p:oleObj>
                </mc:Choice>
                <mc:Fallback>
                  <p:oleObj name="Bitmap Image" r:id="rId4" imgW="4390476" imgH="2257740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FFFF80"/>
                            </a:clrFrom>
                            <a:clrTo>
                              <a:srgbClr val="FFFF80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3600" y="3332162"/>
                          <a:ext cx="5181600" cy="2687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5375275" y="5661025"/>
              <a:ext cx="96520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i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itchFamily="34" charset="0"/>
                </a:rPr>
                <a:t>Return Air</a:t>
              </a:r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2784475" y="3984625"/>
              <a:ext cx="9731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itchFamily="34" charset="0"/>
                </a:rPr>
                <a:t>Supply Air</a:t>
              </a:r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flipV="1">
              <a:off x="5984875" y="5249862"/>
              <a:ext cx="533400" cy="41116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 flipV="1">
              <a:off x="3470275" y="3649662"/>
              <a:ext cx="914400" cy="33496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23"/>
            <p:cNvSpPr>
              <a:spLocks noChangeArrowheads="1"/>
            </p:cNvSpPr>
            <p:nvPr/>
          </p:nvSpPr>
          <p:spPr bwMode="auto">
            <a:xfrm>
              <a:off x="3757613" y="3382962"/>
              <a:ext cx="742950" cy="136525"/>
            </a:xfrm>
            <a:custGeom>
              <a:avLst/>
              <a:gdLst>
                <a:gd name="G0" fmla="+- 17478 0 0"/>
                <a:gd name="G1" fmla="+- 7200 0 0"/>
                <a:gd name="G2" fmla="+- 21600 0 7200"/>
                <a:gd name="G3" fmla="+- 10800 0 7200"/>
                <a:gd name="G4" fmla="+- 21600 0 17478"/>
                <a:gd name="G5" fmla="*/ G4 G3 10800"/>
                <a:gd name="G6" fmla="+- 21600 0 G5"/>
                <a:gd name="T0" fmla="*/ 17478 w 21600"/>
                <a:gd name="T1" fmla="*/ 0 h 21600"/>
                <a:gd name="T2" fmla="*/ 0 w 21600"/>
                <a:gd name="T3" fmla="*/ 10800 h 21600"/>
                <a:gd name="T4" fmla="*/ 17478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7478" y="0"/>
                  </a:moveTo>
                  <a:lnTo>
                    <a:pt x="17478" y="7200"/>
                  </a:lnTo>
                  <a:lnTo>
                    <a:pt x="3375" y="7200"/>
                  </a:lnTo>
                  <a:lnTo>
                    <a:pt x="3375" y="14400"/>
                  </a:lnTo>
                  <a:lnTo>
                    <a:pt x="17478" y="14400"/>
                  </a:lnTo>
                  <a:lnTo>
                    <a:pt x="17478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7200"/>
                  </a:moveTo>
                  <a:lnTo>
                    <a:pt x="1350" y="14400"/>
                  </a:lnTo>
                  <a:lnTo>
                    <a:pt x="2700" y="14400"/>
                  </a:lnTo>
                  <a:lnTo>
                    <a:pt x="2700" y="7200"/>
                  </a:lnTo>
                  <a:close/>
                </a:path>
                <a:path w="21600" h="21600">
                  <a:moveTo>
                    <a:pt x="0" y="7200"/>
                  </a:moveTo>
                  <a:lnTo>
                    <a:pt x="0" y="14400"/>
                  </a:lnTo>
                  <a:lnTo>
                    <a:pt x="675" y="14400"/>
                  </a:lnTo>
                  <a:lnTo>
                    <a:pt x="675" y="7200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tint val="23922"/>
                    <a:invGamma/>
                  </a:srgbClr>
                </a:gs>
                <a:gs pos="100000">
                  <a:srgbClr val="FF3300"/>
                </a:gs>
              </a:gsLst>
              <a:lin ang="0" scaled="1"/>
            </a:gra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utoShape 24"/>
            <p:cNvSpPr>
              <a:spLocks noChangeArrowheads="1"/>
            </p:cNvSpPr>
            <p:nvPr/>
          </p:nvSpPr>
          <p:spPr bwMode="auto">
            <a:xfrm rot="5415984" flipH="1">
              <a:off x="6754020" y="4750593"/>
              <a:ext cx="862012" cy="136525"/>
            </a:xfrm>
            <a:custGeom>
              <a:avLst/>
              <a:gdLst>
                <a:gd name="G0" fmla="+- 17478 0 0"/>
                <a:gd name="G1" fmla="+- 7200 0 0"/>
                <a:gd name="G2" fmla="+- 21600 0 7200"/>
                <a:gd name="G3" fmla="+- 10800 0 7200"/>
                <a:gd name="G4" fmla="+- 21600 0 17478"/>
                <a:gd name="G5" fmla="*/ G4 G3 10800"/>
                <a:gd name="G6" fmla="+- 21600 0 G5"/>
                <a:gd name="T0" fmla="*/ 17478 w 21600"/>
                <a:gd name="T1" fmla="*/ 0 h 21600"/>
                <a:gd name="T2" fmla="*/ 0 w 21600"/>
                <a:gd name="T3" fmla="*/ 10800 h 21600"/>
                <a:gd name="T4" fmla="*/ 17478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7478" y="0"/>
                  </a:moveTo>
                  <a:lnTo>
                    <a:pt x="17478" y="7200"/>
                  </a:lnTo>
                  <a:lnTo>
                    <a:pt x="3375" y="7200"/>
                  </a:lnTo>
                  <a:lnTo>
                    <a:pt x="3375" y="14400"/>
                  </a:lnTo>
                  <a:lnTo>
                    <a:pt x="17478" y="14400"/>
                  </a:lnTo>
                  <a:lnTo>
                    <a:pt x="17478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7200"/>
                  </a:moveTo>
                  <a:lnTo>
                    <a:pt x="1350" y="14400"/>
                  </a:lnTo>
                  <a:lnTo>
                    <a:pt x="2700" y="14400"/>
                  </a:lnTo>
                  <a:lnTo>
                    <a:pt x="2700" y="7200"/>
                  </a:lnTo>
                  <a:close/>
                </a:path>
                <a:path w="21600" h="21600">
                  <a:moveTo>
                    <a:pt x="0" y="7200"/>
                  </a:moveTo>
                  <a:lnTo>
                    <a:pt x="0" y="14400"/>
                  </a:lnTo>
                  <a:lnTo>
                    <a:pt x="675" y="14400"/>
                  </a:lnTo>
                  <a:lnTo>
                    <a:pt x="675" y="7200"/>
                  </a:lnTo>
                  <a:close/>
                </a:path>
              </a:pathLst>
            </a:custGeom>
            <a:gradFill rotWithShape="0">
              <a:gsLst>
                <a:gs pos="0">
                  <a:srgbClr val="00FFFF">
                    <a:gamma/>
                    <a:tint val="23922"/>
                    <a:invGamma/>
                  </a:srgbClr>
                </a:gs>
                <a:gs pos="100000">
                  <a:srgbClr val="00FFFF"/>
                </a:gs>
              </a:gsLst>
              <a:lin ang="5400000" scaled="1"/>
            </a:gradFill>
            <a:ln w="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5222875" y="3602037"/>
              <a:ext cx="1295400" cy="3759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200" i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itchFamily="34" charset="0"/>
                </a:rPr>
                <a:t>Laboratory</a:t>
              </a:r>
            </a:p>
          </p:txBody>
        </p:sp>
        <p:pic>
          <p:nvPicPr>
            <p:cNvPr id="18" name="Picture 31" descr="Fan - Click image to download.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lum bright="58000" contrast="-7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5175" y="3357562"/>
              <a:ext cx="165100" cy="165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32" descr="Fan - Click image to download.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lum bright="46000" contrast="-8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8350" y="4152900"/>
              <a:ext cx="165100" cy="165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Content Placeholder 2"/>
          <p:cNvSpPr txBox="1">
            <a:spLocks/>
          </p:cNvSpPr>
          <p:nvPr/>
        </p:nvSpPr>
        <p:spPr>
          <a:xfrm>
            <a:off x="418667" y="1507928"/>
            <a:ext cx="4291245" cy="20846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731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19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5781" indent="-1285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1513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724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Laboratory room </a:t>
            </a:r>
            <a:r>
              <a:rPr lang="en-US" dirty="0" smtClean="0"/>
              <a:t>ventilation </a:t>
            </a:r>
            <a:r>
              <a:rPr lang="en-US" dirty="0"/>
              <a:t>is comprised of an air supply and an exhaust system. The supply system introduces clean air into the room and the exhaust removes contaminated air.</a:t>
            </a:r>
          </a:p>
        </p:txBody>
      </p:sp>
    </p:spTree>
    <p:extLst>
      <p:ext uri="{BB962C8B-B14F-4D97-AF65-F5344CB8AC3E}">
        <p14:creationId xmlns:p14="http://schemas.microsoft.com/office/powerpoint/2010/main" val="22967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437" y="592132"/>
            <a:ext cx="8443981" cy="620048"/>
          </a:xfrm>
        </p:spPr>
        <p:txBody>
          <a:bodyPr>
            <a:normAutofit fontScale="90000"/>
          </a:bodyPr>
          <a:lstStyle/>
          <a:p>
            <a:r>
              <a:rPr lang="en-US" dirty="0"/>
              <a:t>ROOM (GENERAL) </a:t>
            </a:r>
            <a:r>
              <a:rPr lang="en-US" dirty="0" smtClean="0"/>
              <a:t>VENTILATION continues…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18667" y="1507927"/>
            <a:ext cx="8253845" cy="44401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731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19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5781" indent="-1285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1513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724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Laboratories should exhaust air at a higher rate than supplied so that the room is under negative pressure to surrounding rooms and corridors.</a:t>
            </a:r>
          </a:p>
          <a:p>
            <a:pPr algn="just"/>
            <a:r>
              <a:rPr lang="en-US" dirty="0"/>
              <a:t>Negative pressure prevents air from migrating from the laboratory into adjacent areas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Most laboratory ventilation systems are designed to function with doors and windows closed.  Therefore, laboratory doors should not be propped open and windows should remain shut.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2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556" y="542926"/>
            <a:ext cx="7493794" cy="779847"/>
          </a:xfrm>
        </p:spPr>
        <p:txBody>
          <a:bodyPr/>
          <a:lstStyle/>
          <a:p>
            <a:r>
              <a:rPr lang="en-US" dirty="0" smtClean="0"/>
              <a:t>LOCAL EXHAUST VENTILATION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456" y="1703838"/>
            <a:ext cx="4039068" cy="212655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Local exhaust ventilation is an engineering control used to capture low risk airborne contaminates at or near the source and remove them away from the work place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97523" y="1659775"/>
            <a:ext cx="4067895" cy="2214678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General &amp; Local Exhaust Ventilations in Laboratories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29628" y="3636535"/>
            <a:ext cx="7672833" cy="2710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731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19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5781" indent="-1285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1513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724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Local exhaust ventilation systems capture or contain contaminants at their source.</a:t>
            </a:r>
          </a:p>
          <a:p>
            <a:r>
              <a:rPr lang="en-US" dirty="0" smtClean="0"/>
              <a:t>These contaminants are typically exhausted through a roof stack.</a:t>
            </a:r>
          </a:p>
          <a:p>
            <a:r>
              <a:rPr lang="en-US" dirty="0" smtClean="0"/>
              <a:t>Examples of local exhaust ventilation;</a:t>
            </a:r>
          </a:p>
          <a:p>
            <a:pPr marL="271463" lvl="1" indent="0">
              <a:buNone/>
            </a:pPr>
            <a:r>
              <a:rPr lang="en-US" sz="1600" dirty="0" smtClean="0"/>
              <a:t>- </a:t>
            </a:r>
            <a:r>
              <a:rPr lang="en-US" sz="1600" dirty="0"/>
              <a:t>Slotted hood</a:t>
            </a:r>
          </a:p>
          <a:p>
            <a:pPr marL="271463" lvl="1" indent="0">
              <a:buNone/>
            </a:pPr>
            <a:r>
              <a:rPr lang="en-US" sz="1600" dirty="0"/>
              <a:t>- </a:t>
            </a:r>
            <a:r>
              <a:rPr lang="en-US" sz="1600" dirty="0" smtClean="0"/>
              <a:t>Canopy </a:t>
            </a:r>
            <a:r>
              <a:rPr lang="en-US" sz="1600" dirty="0"/>
              <a:t>hood</a:t>
            </a:r>
          </a:p>
          <a:p>
            <a:pPr marL="271463" lvl="1" indent="0">
              <a:buNone/>
            </a:pPr>
            <a:r>
              <a:rPr lang="en-US" sz="1600" dirty="0"/>
              <a:t>- </a:t>
            </a:r>
            <a:r>
              <a:rPr lang="en-US" sz="1600" dirty="0" smtClean="0"/>
              <a:t>Snorkel</a:t>
            </a:r>
            <a:endParaRPr lang="en-US" sz="1600" dirty="0"/>
          </a:p>
          <a:p>
            <a:pPr lvl="1">
              <a:buFontTx/>
              <a:buChar char="-"/>
            </a:pPr>
            <a:r>
              <a:rPr lang="en-US" sz="1600" dirty="0" smtClean="0"/>
              <a:t>Glove box</a:t>
            </a:r>
          </a:p>
          <a:p>
            <a:pPr lvl="1">
              <a:buFontTx/>
              <a:buChar char="-"/>
            </a:pPr>
            <a:r>
              <a:rPr lang="en-US" sz="1600" dirty="0" smtClean="0"/>
              <a:t>Chemical </a:t>
            </a:r>
            <a:r>
              <a:rPr lang="en-US" sz="1600" dirty="0"/>
              <a:t>fume hood</a:t>
            </a:r>
          </a:p>
          <a:p>
            <a:pPr lvl="1">
              <a:buFontTx/>
              <a:buChar char="-"/>
            </a:pPr>
            <a:endParaRPr lang="en-US" sz="1600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20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42481" y="1492650"/>
            <a:ext cx="6930031" cy="5036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556" y="542927"/>
            <a:ext cx="7493794" cy="1028422"/>
          </a:xfrm>
        </p:spPr>
        <p:txBody>
          <a:bodyPr/>
          <a:lstStyle/>
          <a:p>
            <a:r>
              <a:rPr lang="en-US" dirty="0" smtClean="0"/>
              <a:t>SLOTTED HOOD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0599" y="1868400"/>
            <a:ext cx="7342815" cy="4449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Used to capture less toxic vapors and gases used on a counter top.  Air is drawn across the work surface and exhausted through the slots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latin typeface="Wide Latin" panose="020A0A07050505020404" pitchFamily="18" charset="0"/>
              </a:rPr>
              <a:t>! </a:t>
            </a:r>
            <a:r>
              <a:rPr lang="en-US" dirty="0" smtClean="0"/>
              <a:t>The </a:t>
            </a:r>
            <a:r>
              <a:rPr lang="en-US" dirty="0"/>
              <a:t>biggest drawback is that the capture area is limited, typically within 24 inches of the slots.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2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CANOPY HOOD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0599" y="1868400"/>
            <a:ext cx="4215769" cy="44496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+mj-lt"/>
              </a:rPr>
              <a:t>Used to capture less toxic vapors and gases that are heated and rise. The canopy is located over the source of emission</a:t>
            </a:r>
            <a:r>
              <a:rPr lang="en-US" dirty="0" smtClean="0">
                <a:latin typeface="+mj-lt"/>
              </a:rPr>
              <a:t>.</a:t>
            </a:r>
          </a:p>
          <a:p>
            <a:pPr algn="just"/>
            <a:endParaRPr lang="en-US" dirty="0">
              <a:latin typeface="+mj-lt"/>
            </a:endParaRPr>
          </a:p>
          <a:p>
            <a:pPr algn="just"/>
            <a:endParaRPr lang="en-US" dirty="0" smtClean="0">
              <a:latin typeface="+mj-lt"/>
            </a:endParaRPr>
          </a:p>
          <a:p>
            <a:pPr marL="0" indent="0" algn="just">
              <a:buNone/>
            </a:pPr>
            <a:r>
              <a:rPr lang="en-US" dirty="0" smtClean="0">
                <a:latin typeface="+mj-lt"/>
              </a:rPr>
              <a:t>! The </a:t>
            </a:r>
            <a:r>
              <a:rPr lang="en-US" dirty="0">
                <a:latin typeface="+mj-lt"/>
              </a:rPr>
              <a:t>biggest drawback is that the canopy does not capture contaminates unless they rise into the hood.</a:t>
            </a:r>
          </a:p>
          <a:p>
            <a:pPr algn="just"/>
            <a:endParaRPr lang="en-US" dirty="0">
              <a:latin typeface="+mj-lt"/>
            </a:endParaRPr>
          </a:p>
          <a:p>
            <a:pPr algn="just"/>
            <a:endParaRPr lang="en-US" dirty="0">
              <a:latin typeface="+mj-lt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23329" y="1868400"/>
            <a:ext cx="2792021" cy="3297958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General &amp; Local Exhaust Ventilations in Laboratories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6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SNORKELS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Captures less toxic substances located next to the intake. The main benefit is that it can be moved or located as needed.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>
                <a:latin typeface="Wide Latin" panose="020A0A07050505020404" pitchFamily="18" charset="0"/>
              </a:rPr>
              <a:t>! </a:t>
            </a:r>
            <a:r>
              <a:rPr lang="en-US" dirty="0" smtClean="0"/>
              <a:t>The </a:t>
            </a:r>
            <a:r>
              <a:rPr lang="en-US" dirty="0"/>
              <a:t>biggest drawback is that the capture area is small, typically within 24 inches of the intake opening. 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59872" y="2442339"/>
            <a:ext cx="4325130" cy="206275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General &amp; Local Exhaust Ventilations in Laboratories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556" y="542927"/>
            <a:ext cx="7493794" cy="957400"/>
          </a:xfrm>
        </p:spPr>
        <p:txBody>
          <a:bodyPr/>
          <a:lstStyle/>
          <a:p>
            <a:r>
              <a:rPr lang="en-US" dirty="0" smtClean="0"/>
              <a:t>GLOVE 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1556" y="1859522"/>
            <a:ext cx="4128449" cy="4449600"/>
          </a:xfrm>
        </p:spPr>
        <p:txBody>
          <a:bodyPr/>
          <a:lstStyle/>
          <a:p>
            <a:pPr algn="just"/>
            <a:r>
              <a:rPr lang="en-US" dirty="0"/>
              <a:t>Glove boxes are sealed containers with gloves built into their walls so that samples can be worked on while being completely separated from the outside environment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r>
              <a:rPr lang="en-US" dirty="0" smtClean="0">
                <a:latin typeface="Wide Latin" panose="020A0A07050505020404" pitchFamily="18" charset="0"/>
              </a:rPr>
              <a:t>! </a:t>
            </a:r>
            <a:r>
              <a:rPr lang="en-US" dirty="0" smtClean="0"/>
              <a:t>The </a:t>
            </a:r>
            <a:r>
              <a:rPr lang="en-US" dirty="0"/>
              <a:t>biggest drawback is that the work area is small and the manipulation of materials can be difficult.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31380" y="2131781"/>
            <a:ext cx="2883970" cy="27420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General &amp; Local Exhaust Ventilations in Laboratories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2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556" y="542927"/>
            <a:ext cx="7493794" cy="633902"/>
          </a:xfrm>
        </p:spPr>
        <p:txBody>
          <a:bodyPr/>
          <a:lstStyle/>
          <a:p>
            <a:r>
              <a:rPr lang="en-US" dirty="0" smtClean="0"/>
              <a:t>CHEMICAL FUME HOODS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6505" y="2871540"/>
            <a:ext cx="4809060" cy="2844224"/>
          </a:xfrm>
        </p:spPr>
        <p:txBody>
          <a:bodyPr>
            <a:normAutofit fontScale="92500" lnSpcReduction="10000"/>
          </a:bodyPr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you suspect your fume hood is not </a:t>
            </a:r>
            <a:r>
              <a:rPr lang="en-US" dirty="0" smtClean="0"/>
              <a:t>working </a:t>
            </a:r>
            <a:r>
              <a:rPr lang="en-US" dirty="0"/>
              <a:t>properly, </a:t>
            </a:r>
            <a:r>
              <a:rPr lang="en-US" dirty="0" smtClean="0"/>
              <a:t>contact </a:t>
            </a:r>
            <a:r>
              <a:rPr lang="en-US" dirty="0"/>
              <a:t>FM helpdesk </a:t>
            </a:r>
            <a:r>
              <a:rPr lang="en-US" dirty="0" smtClean="0"/>
              <a:t>at </a:t>
            </a:r>
            <a:r>
              <a:rPr lang="en-US" dirty="0" smtClean="0">
                <a:hlinkClick r:id="rId3"/>
              </a:rPr>
              <a:t>FMHelpdesk@ku.ac.ae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Types of fume hoods;</a:t>
            </a:r>
          </a:p>
          <a:p>
            <a:pPr marL="271463" lvl="1" indent="0">
              <a:buNone/>
            </a:pPr>
            <a:r>
              <a:rPr lang="en-US" sz="1900" dirty="0" smtClean="0"/>
              <a:t>- Conventional </a:t>
            </a:r>
            <a:r>
              <a:rPr lang="en-US" sz="1900" dirty="0"/>
              <a:t>Fume Hood</a:t>
            </a:r>
          </a:p>
          <a:p>
            <a:pPr marL="271463" lvl="1" indent="0">
              <a:buNone/>
            </a:pPr>
            <a:r>
              <a:rPr lang="en-US" sz="1900" dirty="0"/>
              <a:t>- </a:t>
            </a:r>
            <a:r>
              <a:rPr lang="en-US" sz="1900" dirty="0" smtClean="0"/>
              <a:t>Bypass </a:t>
            </a:r>
            <a:r>
              <a:rPr lang="en-US" sz="1900" dirty="0"/>
              <a:t>Fume Hood</a:t>
            </a:r>
          </a:p>
          <a:p>
            <a:pPr marL="271463" lvl="1" indent="0">
              <a:buNone/>
            </a:pPr>
            <a:r>
              <a:rPr lang="en-US" sz="1900" dirty="0"/>
              <a:t>- </a:t>
            </a:r>
            <a:r>
              <a:rPr lang="en-US" sz="1900" dirty="0" smtClean="0"/>
              <a:t>Auxiliary </a:t>
            </a:r>
            <a:r>
              <a:rPr lang="en-US" sz="1900" dirty="0"/>
              <a:t>Air Fume Hood</a:t>
            </a:r>
          </a:p>
          <a:p>
            <a:pPr marL="271463" lvl="1" indent="0">
              <a:buNone/>
            </a:pPr>
            <a:r>
              <a:rPr lang="en-US" sz="1900" dirty="0"/>
              <a:t>- </a:t>
            </a:r>
            <a:r>
              <a:rPr lang="en-US" sz="1900" dirty="0" smtClean="0"/>
              <a:t>Walk–in </a:t>
            </a:r>
            <a:r>
              <a:rPr lang="en-US" sz="1900" dirty="0"/>
              <a:t>Hood</a:t>
            </a:r>
          </a:p>
          <a:p>
            <a:pPr marL="0" indent="0" algn="just">
              <a:buNone/>
            </a:pPr>
            <a:endParaRPr lang="en-US" sz="1800" dirty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50268" y="203201"/>
            <a:ext cx="3914775" cy="244475"/>
          </a:xfrm>
        </p:spPr>
        <p:txBody>
          <a:bodyPr/>
          <a:lstStyle/>
          <a:p>
            <a:r>
              <a:rPr lang="en-US" dirty="0" smtClean="0"/>
              <a:t>General &amp; Local Exhaust Ventilations in Laboratories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4555389" y="2905572"/>
            <a:ext cx="4704316" cy="3550004"/>
            <a:chOff x="4768453" y="1272080"/>
            <a:chExt cx="4704316" cy="3550004"/>
          </a:xfrm>
        </p:grpSpPr>
        <p:graphicFrame>
          <p:nvGraphicFramePr>
            <p:cNvPr id="1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8756425"/>
                </p:ext>
              </p:extLst>
            </p:nvPr>
          </p:nvGraphicFramePr>
          <p:xfrm>
            <a:off x="5850216" y="1272080"/>
            <a:ext cx="2331233" cy="3550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8" name="Bitmap Image" r:id="rId4" imgW="3048426" imgH="4885714" progId="PBrush">
                    <p:embed/>
                  </p:oleObj>
                </mc:Choice>
                <mc:Fallback>
                  <p:oleObj name="Bitmap Image" r:id="rId4" imgW="3048426" imgH="4885714" progId="PBrush">
                    <p:embed/>
                    <p:pic>
                      <p:nvPicPr>
                        <p:cNvPr id="2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FFFF"/>
                            </a:clrFrom>
                            <a:clrTo>
                              <a:srgbClr val="00FFFF">
                                <a:alpha val="0"/>
                              </a:srgbClr>
                            </a:clrTo>
                          </a:clrChange>
                          <a:lum bright="12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0216" y="1272080"/>
                          <a:ext cx="2331233" cy="35500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16"/>
            <p:cNvSpPr>
              <a:spLocks noChangeShapeType="1"/>
            </p:cNvSpPr>
            <p:nvPr/>
          </p:nvSpPr>
          <p:spPr bwMode="auto">
            <a:xfrm flipV="1">
              <a:off x="8121454" y="2754281"/>
              <a:ext cx="674229" cy="260267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 flipH="1" flipV="1">
              <a:off x="5685775" y="3657895"/>
              <a:ext cx="1432905" cy="275135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6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7952897" y="3336575"/>
              <a:ext cx="685657" cy="635229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V="1">
              <a:off x="7952897" y="2224924"/>
              <a:ext cx="822788" cy="529358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V="1">
              <a:off x="8121454" y="1574255"/>
              <a:ext cx="379968" cy="529358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 flipH="1" flipV="1">
              <a:off x="5612758" y="2468353"/>
              <a:ext cx="994342" cy="588102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6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84630" y="1407020"/>
              <a:ext cx="1053864" cy="192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Airflow monitor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345888" y="2041163"/>
              <a:ext cx="1053864" cy="192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Sash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64480" y="2700070"/>
              <a:ext cx="1053864" cy="192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Gas &amp; Water connections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18905" y="3933032"/>
              <a:ext cx="1053864" cy="192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Airfoil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768453" y="2275957"/>
              <a:ext cx="1053864" cy="192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Baffles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90491" y="3558880"/>
              <a:ext cx="1212658" cy="192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Chemical storage cabinets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Content Placeholder 2"/>
          <p:cNvSpPr>
            <a:spLocks noGrp="1"/>
          </p:cNvSpPr>
          <p:nvPr>
            <p:ph sz="half" idx="1"/>
          </p:nvPr>
        </p:nvSpPr>
        <p:spPr>
          <a:xfrm>
            <a:off x="602959" y="1334757"/>
            <a:ext cx="7822531" cy="162806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primary safety system is used to protect the laboratory worker from exposure to chemical vapors, fumes, and toxic gases.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also provides some protection to laboratory </a:t>
            </a:r>
            <a:r>
              <a:rPr lang="en-US" dirty="0" smtClean="0"/>
              <a:t>workers </a:t>
            </a:r>
            <a:r>
              <a:rPr lang="en-US" dirty="0"/>
              <a:t>from fires and explosions.</a:t>
            </a:r>
          </a:p>
          <a:p>
            <a:pPr algn="just"/>
            <a:r>
              <a:rPr lang="en-US" dirty="0"/>
              <a:t>The facilities department </a:t>
            </a:r>
            <a:r>
              <a:rPr lang="en-US" dirty="0" smtClean="0"/>
              <a:t>evaluates </a:t>
            </a:r>
            <a:r>
              <a:rPr lang="en-US" dirty="0"/>
              <a:t>fume hoods on an annual basis. </a:t>
            </a:r>
          </a:p>
        </p:txBody>
      </p:sp>
    </p:spTree>
    <p:extLst>
      <p:ext uri="{BB962C8B-B14F-4D97-AF65-F5344CB8AC3E}">
        <p14:creationId xmlns:p14="http://schemas.microsoft.com/office/powerpoint/2010/main" val="349847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366" y="203201"/>
            <a:ext cx="8229599" cy="1114425"/>
          </a:xfrm>
        </p:spPr>
        <p:txBody>
          <a:bodyPr/>
          <a:lstStyle/>
          <a:p>
            <a:r>
              <a:rPr lang="en-US" dirty="0" smtClean="0"/>
              <a:t>CHEMICAL FUME HOOD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9245" y="1673091"/>
            <a:ext cx="4297124" cy="4449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fume hood that functions properly will meet the following criteria: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face velocity will average 0.4-0.8 meter per second with the sash open 18 </a:t>
            </a:r>
            <a:r>
              <a:rPr lang="en-US" dirty="0" smtClean="0"/>
              <a:t>inches</a:t>
            </a:r>
            <a:endParaRPr lang="en-US" dirty="0"/>
          </a:p>
          <a:p>
            <a:pPr algn="just"/>
            <a:r>
              <a:rPr lang="en-US" dirty="0" smtClean="0"/>
              <a:t>Air </a:t>
            </a:r>
            <a:r>
              <a:rPr lang="en-US" dirty="0"/>
              <a:t>flow will flow evenly across the work </a:t>
            </a:r>
            <a:r>
              <a:rPr lang="en-US" dirty="0" smtClean="0"/>
              <a:t>surface</a:t>
            </a:r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hood will be structurally sound with no cracks in the safety </a:t>
            </a:r>
            <a:r>
              <a:rPr lang="en-US" dirty="0" smtClean="0"/>
              <a:t>glass</a:t>
            </a:r>
            <a:endParaRPr lang="en-US" dirty="0"/>
          </a:p>
          <a:p>
            <a:pPr algn="just"/>
            <a:r>
              <a:rPr lang="en-US" dirty="0" smtClean="0"/>
              <a:t>Sashes </a:t>
            </a:r>
            <a:r>
              <a:rPr lang="en-US" dirty="0"/>
              <a:t>will slide properly, no parts will be missing and baffles will be open</a:t>
            </a:r>
          </a:p>
          <a:p>
            <a:pPr algn="just"/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74298" y="1742790"/>
            <a:ext cx="2535227" cy="353054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6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352" y="1329247"/>
            <a:ext cx="8335160" cy="521359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200" dirty="0" smtClean="0"/>
              <a:t>Mark a line with tape 6 inches behind the sash and keep all chemicals and equipment behind that line during experiments.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457200" indent="-457200" algn="just">
              <a:buFont typeface="+mj-lt"/>
              <a:buAutoNum type="arabicPeriod" startAt="2"/>
            </a:pPr>
            <a:endParaRPr lang="en-US" dirty="0" smtClean="0"/>
          </a:p>
          <a:p>
            <a:pPr marL="457200" indent="-457200" algn="just">
              <a:buFont typeface="+mj-lt"/>
              <a:buAutoNum type="arabicPeriod" startAt="2"/>
            </a:pPr>
            <a:r>
              <a:rPr lang="en-US" dirty="0" smtClean="0"/>
              <a:t>Provide </a:t>
            </a:r>
            <a:r>
              <a:rPr lang="en-US" dirty="0"/>
              <a:t>catch basins for containers that could break or spill, to minimize the spread of spilled liquids. 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en-US" dirty="0"/>
              <a:t>Keep the sash completely lowered any time an experiment is in progress and the hood is unattended. </a:t>
            </a:r>
          </a:p>
          <a:p>
            <a:pPr marL="0" indent="0">
              <a:buNone/>
            </a:pPr>
            <a:r>
              <a:rPr lang="en-US" sz="1800" i="1" dirty="0" smtClean="0"/>
              <a:t>          Lowering </a:t>
            </a:r>
            <a:r>
              <a:rPr lang="en-US" sz="1800" i="1" dirty="0"/>
              <a:t>the sash not only provides additional personal protection but also </a:t>
            </a:r>
            <a:endParaRPr lang="en-US" sz="1800" i="1" dirty="0" smtClean="0"/>
          </a:p>
          <a:p>
            <a:pPr marL="0" indent="0" algn="ctr">
              <a:buNone/>
            </a:pPr>
            <a:r>
              <a:rPr lang="en-US" sz="1800" i="1" dirty="0" smtClean="0"/>
              <a:t>      results </a:t>
            </a:r>
            <a:r>
              <a:rPr lang="en-US" sz="1800" i="1" dirty="0"/>
              <a:t>in significant energy conservation. </a:t>
            </a:r>
          </a:p>
          <a:p>
            <a:pPr marL="457200" indent="-457200" algn="just">
              <a:buFont typeface="+mj-lt"/>
              <a:buAutoNum type="arabicPeriod" startAt="4"/>
            </a:pPr>
            <a:r>
              <a:rPr lang="en-US" dirty="0"/>
              <a:t>Never use a hood to control exposure to hazardous substances without first verifying that it is operating properly.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913" y="2051163"/>
            <a:ext cx="4318294" cy="19912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51" y="542927"/>
            <a:ext cx="8177999" cy="691069"/>
          </a:xfrm>
        </p:spPr>
        <p:txBody>
          <a:bodyPr/>
          <a:lstStyle/>
          <a:p>
            <a:r>
              <a:rPr lang="en-US" dirty="0" smtClean="0"/>
              <a:t>FUME HOOD- SAFE WORK PRACTICES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4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708" y="1416681"/>
            <a:ext cx="8157607" cy="4985829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 startAt="5"/>
            </a:pPr>
            <a:r>
              <a:rPr lang="en-US" dirty="0" smtClean="0"/>
              <a:t>Every day, </a:t>
            </a:r>
            <a:r>
              <a:rPr lang="en-US" dirty="0"/>
              <a:t>check flow indicators to make sure the fume hood is functioning properly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/>
              <a:t>If you have an older hood that has not been upgraded with a flow indicator, hang tissue paper from the sash and observe the direction and strength of flow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/>
              <a:t>Contact or raise a Help </a:t>
            </a:r>
            <a:r>
              <a:rPr lang="en-US" dirty="0" smtClean="0"/>
              <a:t>Desk request, </a:t>
            </a:r>
            <a:r>
              <a:rPr lang="en-US" dirty="0"/>
              <a:t>if the hood is not functioning properly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smtClean="0"/>
              <a:t>Know the physical, chemical and toxicological properties of all chemicals you use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smtClean="0"/>
              <a:t>Conduct all operations that generate contaminates at or above OSHA exposure limits inside the fume hood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smtClean="0"/>
              <a:t>Visually </a:t>
            </a:r>
            <a:r>
              <a:rPr lang="en-US" dirty="0"/>
              <a:t>inspect the baffles (openings at the top and rear of the hood) to be sure that the slots are open and unobstructed. </a:t>
            </a:r>
            <a:endParaRPr lang="en-US" dirty="0" smtClean="0"/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/>
              <a:t>Do not block </a:t>
            </a:r>
            <a:r>
              <a:rPr lang="en-US" dirty="0" smtClean="0"/>
              <a:t>baffle slots</a:t>
            </a:r>
            <a:r>
              <a:rPr lang="en-US" dirty="0"/>
              <a:t>. If large equipment must be placed in the hood, put it on blocks to raise it approximately 2 inches above the surface so that air may pass beneath it</a:t>
            </a:r>
            <a:r>
              <a:rPr lang="en-US" dirty="0" smtClean="0"/>
              <a:t>.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/>
              <a:t>Keep laboratory doors closed, except when lab design requires the doors to be open</a:t>
            </a:r>
          </a:p>
          <a:p>
            <a:pPr marL="457200" indent="-457200" algn="just">
              <a:buFont typeface="+mj-lt"/>
              <a:buAutoNum type="arabicPeriod" startAt="5"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5787B"/>
                </a:solidFill>
              </a:rPr>
              <a:t>2023</a:t>
            </a:r>
            <a:endParaRPr lang="en-US" dirty="0">
              <a:solidFill>
                <a:srgbClr val="75787B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>
              <a:solidFill>
                <a:srgbClr val="75787B"/>
              </a:solidFill>
            </a:endParaRPr>
          </a:p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>
              <a:solidFill>
                <a:srgbClr val="75787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>
                <a:solidFill>
                  <a:srgbClr val="75787B"/>
                </a:solidFill>
              </a:rPr>
              <a:pPr/>
              <a:t>14</a:t>
            </a:fld>
            <a:endParaRPr lang="en-US">
              <a:solidFill>
                <a:srgbClr val="75787B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04708" y="725612"/>
            <a:ext cx="8177999" cy="69106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FUME HOOD- SAFE WORK </a:t>
            </a:r>
            <a:r>
              <a:rPr lang="en-US" dirty="0"/>
              <a:t>PRACTICES </a:t>
            </a:r>
            <a:r>
              <a:rPr lang="en-US" sz="2700" dirty="0"/>
              <a:t>continues…</a:t>
            </a:r>
          </a:p>
        </p:txBody>
      </p:sp>
    </p:spTree>
    <p:extLst>
      <p:ext uri="{BB962C8B-B14F-4D97-AF65-F5344CB8AC3E}">
        <p14:creationId xmlns:p14="http://schemas.microsoft.com/office/powerpoint/2010/main" val="121965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60" y="1517890"/>
            <a:ext cx="8526136" cy="313362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13. Do </a:t>
            </a:r>
            <a:r>
              <a:rPr lang="en-US" dirty="0"/>
              <a:t>not </a:t>
            </a:r>
            <a:r>
              <a:rPr lang="en-US" dirty="0" smtClean="0"/>
              <a:t>store </a:t>
            </a:r>
            <a:r>
              <a:rPr lang="en-US" dirty="0"/>
              <a:t>apparatus or chemicals in the hood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14</a:t>
            </a:r>
            <a:r>
              <a:rPr lang="en-US" dirty="0"/>
              <a:t>. Do not place your head or any unprotected part of your body inside the hood when contaminates are present / </a:t>
            </a:r>
            <a:r>
              <a:rPr lang="en-US" dirty="0" smtClean="0"/>
              <a:t>generated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15. Minimize foot traffic and rapid movement past the face of the fume hood (to prevent air turbulence).</a:t>
            </a:r>
          </a:p>
          <a:p>
            <a:pPr marL="0" indent="0">
              <a:buNone/>
            </a:pPr>
            <a:r>
              <a:rPr lang="en-US" dirty="0"/>
              <a:t>16. Do not remove the sash or safety glass except when necessary for apparatus set-up. </a:t>
            </a:r>
          </a:p>
          <a:p>
            <a:pPr marL="0" indent="0">
              <a:buNone/>
            </a:pPr>
            <a:r>
              <a:rPr lang="en-US" dirty="0"/>
              <a:t>17. Do not use a fume hood with a damaged sash </a:t>
            </a:r>
          </a:p>
          <a:p>
            <a:pPr marL="0" indent="0">
              <a:buNone/>
            </a:pPr>
            <a:r>
              <a:rPr lang="en-US" dirty="0"/>
              <a:t>18. Keep the fume hood clean and free of debris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5787B"/>
                </a:solidFill>
              </a:rPr>
              <a:t>2023</a:t>
            </a:r>
            <a:endParaRPr lang="en-US" dirty="0">
              <a:solidFill>
                <a:srgbClr val="75787B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>
              <a:solidFill>
                <a:srgbClr val="75787B"/>
              </a:solidFill>
            </a:endParaRPr>
          </a:p>
          <a:p>
            <a:r>
              <a:rPr lang="en-US" dirty="0" smtClean="0"/>
              <a:t>General &amp; Local Exhaust Ventilations in Laboratories</a:t>
            </a:r>
            <a:endParaRPr lang="en-US" dirty="0"/>
          </a:p>
          <a:p>
            <a:endParaRPr lang="en-US" dirty="0">
              <a:solidFill>
                <a:srgbClr val="75787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>
                <a:solidFill>
                  <a:srgbClr val="75787B"/>
                </a:solidFill>
              </a:rPr>
              <a:pPr/>
              <a:t>15</a:t>
            </a:fld>
            <a:endParaRPr lang="en-US">
              <a:solidFill>
                <a:srgbClr val="75787B"/>
              </a:solidFill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151" y="3549539"/>
            <a:ext cx="2250814" cy="299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14512" y="2899624"/>
            <a:ext cx="8454453" cy="31029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731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19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5781" indent="-1285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1513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7244" indent="-135731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pPr marL="0" indent="0">
              <a:buNone/>
            </a:pPr>
            <a:endParaRPr lang="en-US" sz="22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800" dirty="0" smtClean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71" y="4543462"/>
            <a:ext cx="1055994" cy="1055994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28764" y="733428"/>
            <a:ext cx="8177999" cy="69106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FUME HOOD- SAFE WORK </a:t>
            </a:r>
            <a:r>
              <a:rPr lang="en-US" dirty="0"/>
              <a:t>PRACTICES </a:t>
            </a:r>
            <a:r>
              <a:rPr lang="en-US" sz="2700" dirty="0"/>
              <a:t>continues…</a:t>
            </a:r>
          </a:p>
        </p:txBody>
      </p:sp>
    </p:spTree>
    <p:extLst>
      <p:ext uri="{BB962C8B-B14F-4D97-AF65-F5344CB8AC3E}">
        <p14:creationId xmlns:p14="http://schemas.microsoft.com/office/powerpoint/2010/main" val="192665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28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KU Theme">
  <a:themeElements>
    <a:clrScheme name="Khalifa">
      <a:dk1>
        <a:srgbClr val="000000"/>
      </a:dk1>
      <a:lt1>
        <a:srgbClr val="FFFFFF"/>
      </a:lt1>
      <a:dk2>
        <a:srgbClr val="0057B8"/>
      </a:dk2>
      <a:lt2>
        <a:srgbClr val="75787B"/>
      </a:lt2>
      <a:accent1>
        <a:srgbClr val="78D64B"/>
      </a:accent1>
      <a:accent2>
        <a:srgbClr val="F8485E"/>
      </a:accent2>
      <a:accent3>
        <a:srgbClr val="00A9CE"/>
      </a:accent3>
      <a:accent4>
        <a:srgbClr val="6F5091"/>
      </a:accent4>
      <a:accent5>
        <a:srgbClr val="FF8F1C"/>
      </a:accent5>
      <a:accent6>
        <a:srgbClr val="D0CECE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KU Theme">
  <a:themeElements>
    <a:clrScheme name="Khalifa">
      <a:dk1>
        <a:srgbClr val="000000"/>
      </a:dk1>
      <a:lt1>
        <a:srgbClr val="FFFFFF"/>
      </a:lt1>
      <a:dk2>
        <a:srgbClr val="0057B8"/>
      </a:dk2>
      <a:lt2>
        <a:srgbClr val="75787B"/>
      </a:lt2>
      <a:accent1>
        <a:srgbClr val="78D64B"/>
      </a:accent1>
      <a:accent2>
        <a:srgbClr val="F8485E"/>
      </a:accent2>
      <a:accent3>
        <a:srgbClr val="00A9CE"/>
      </a:accent3>
      <a:accent4>
        <a:srgbClr val="6F5091"/>
      </a:accent4>
      <a:accent5>
        <a:srgbClr val="FF8F1C"/>
      </a:accent5>
      <a:accent6>
        <a:srgbClr val="D0CECE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14780</TotalTime>
  <Words>1235</Words>
  <Application>Microsoft Office PowerPoint</Application>
  <PresentationFormat>On-screen Show (4:3)</PresentationFormat>
  <Paragraphs>170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Tahoma</vt:lpstr>
      <vt:lpstr>Verdana</vt:lpstr>
      <vt:lpstr>Wide Latin</vt:lpstr>
      <vt:lpstr>1_KU Theme</vt:lpstr>
      <vt:lpstr>KU Theme</vt:lpstr>
      <vt:lpstr>Bitmap Image</vt:lpstr>
      <vt:lpstr>Online EHS Training </vt:lpstr>
      <vt:lpstr>LEARNING OBJECTIVE</vt:lpstr>
      <vt:lpstr>INTRODUCTION</vt:lpstr>
      <vt:lpstr>ROOM (GENERAL) VENTILATION</vt:lpstr>
      <vt:lpstr>ROOM (GENERAL) VENTILATION continues…</vt:lpstr>
      <vt:lpstr>LOCAL EXHAUST VENTILATION</vt:lpstr>
      <vt:lpstr>SLOTTED HOOD</vt:lpstr>
      <vt:lpstr>CANOPY HOOD</vt:lpstr>
      <vt:lpstr>SNORKELS</vt:lpstr>
      <vt:lpstr>GLOVE BOX</vt:lpstr>
      <vt:lpstr>CHEMICAL FUME HOODS</vt:lpstr>
      <vt:lpstr>CHEMICAL FUME HOOD PERFORMANCE</vt:lpstr>
      <vt:lpstr>FUME HOOD- SAFE WORK PRACTICES</vt:lpstr>
      <vt:lpstr>FUME HOOD- SAFE WORK PRACTICES continues…</vt:lpstr>
      <vt:lpstr>FUME HOOD- SAFE WORK PRACTICES continues…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Ahammed Padinjare</cp:lastModifiedBy>
  <cp:revision>204</cp:revision>
  <dcterms:created xsi:type="dcterms:W3CDTF">2018-04-29T10:48:36Z</dcterms:created>
  <dcterms:modified xsi:type="dcterms:W3CDTF">2023-01-23T14:46:49Z</dcterms:modified>
</cp:coreProperties>
</file>