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4" r:id="rId2"/>
    <p:sldId id="275" r:id="rId3"/>
    <p:sldId id="276" r:id="rId4"/>
    <p:sldId id="277" r:id="rId5"/>
    <p:sldId id="278" r:id="rId6"/>
    <p:sldId id="279" r:id="rId7"/>
    <p:sldId id="280" r:id="rId8"/>
    <p:sldId id="284" r:id="rId9"/>
    <p:sldId id="285" r:id="rId10"/>
    <p:sldId id="289" r:id="rId11"/>
    <p:sldId id="296" r:id="rId12"/>
    <p:sldId id="297" r:id="rId13"/>
    <p:sldId id="294" r:id="rId14"/>
    <p:sldId id="291" r:id="rId15"/>
    <p:sldId id="302" r:id="rId16"/>
    <p:sldId id="315" r:id="rId17"/>
    <p:sldId id="26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8485E"/>
    <a:srgbClr val="0057B8"/>
    <a:srgbClr val="1B5FAA"/>
    <a:srgbClr val="000000"/>
    <a:srgbClr val="FF014A"/>
    <a:srgbClr val="D0CFCD"/>
    <a:srgbClr val="0047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E8B1032C-EA38-4F05-BA0D-38AFFFC7BED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402" autoAdjust="0"/>
    <p:restoredTop sz="94613" autoAdjust="0"/>
  </p:normalViewPr>
  <p:slideViewPr>
    <p:cSldViewPr snapToGrid="0" showGuides="1">
      <p:cViewPr varScale="1">
        <p:scale>
          <a:sx n="69" d="100"/>
          <a:sy n="69" d="100"/>
        </p:scale>
        <p:origin x="852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B66FD6-D2A9-4F00-B491-A99A8AA44ED0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F57D8-2956-440C-8FE5-2823967F9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29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0057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uva 4">
            <a:extLst>
              <a:ext uri="{FF2B5EF4-FFF2-40B4-BE49-F238E27FC236}">
                <a16:creationId xmlns:a16="http://schemas.microsoft.com/office/drawing/2014/main" id="{4448A5F8-25DA-431E-AE75-5AD20CAC1DB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1" y="5901732"/>
            <a:ext cx="12092299" cy="9433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0236" y="2676525"/>
            <a:ext cx="9317764" cy="1714500"/>
          </a:xfrm>
        </p:spPr>
        <p:txBody>
          <a:bodyPr anchor="b"/>
          <a:lstStyle>
            <a:lvl1pPr algn="l">
              <a:defRPr sz="6000" spc="0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236" y="4429125"/>
            <a:ext cx="9317764" cy="894905"/>
          </a:xfrm>
        </p:spPr>
        <p:txBody>
          <a:bodyPr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537" y="526341"/>
            <a:ext cx="3254429" cy="712003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50237" y="5497789"/>
            <a:ext cx="5435926" cy="314325"/>
          </a:xfrm>
        </p:spPr>
        <p:txBody>
          <a:bodyPr>
            <a:normAutofit/>
          </a:bodyPr>
          <a:lstStyle>
            <a:lvl1pPr marL="0" indent="0" algn="l">
              <a:buNone/>
              <a:defRPr sz="1350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DD MONTH YEAR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1769036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uora yhdysviiva 7">
            <a:extLst>
              <a:ext uri="{FF2B5EF4-FFF2-40B4-BE49-F238E27FC236}">
                <a16:creationId xmlns:a16="http://schemas.microsoft.com/office/drawing/2014/main" id="{7719C45D-29AC-47C4-96CB-A06616449D77}"/>
              </a:ext>
            </a:extLst>
          </p:cNvPr>
          <p:cNvCxnSpPr/>
          <p:nvPr userDrawn="1"/>
        </p:nvCxnSpPr>
        <p:spPr>
          <a:xfrm>
            <a:off x="1341689" y="2760293"/>
            <a:ext cx="2238998" cy="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663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rgbClr val="0057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0236" y="2676525"/>
            <a:ext cx="9317764" cy="1714500"/>
          </a:xfrm>
        </p:spPr>
        <p:txBody>
          <a:bodyPr anchor="b"/>
          <a:lstStyle>
            <a:lvl1pPr algn="l">
              <a:defRPr sz="6000" spc="0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236" y="4429125"/>
            <a:ext cx="9317764" cy="894905"/>
          </a:xfrm>
        </p:spPr>
        <p:txBody>
          <a:bodyPr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537" y="526341"/>
            <a:ext cx="3254429" cy="712003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50237" y="5497789"/>
            <a:ext cx="5435926" cy="314325"/>
          </a:xfrm>
        </p:spPr>
        <p:txBody>
          <a:bodyPr>
            <a:normAutofit/>
          </a:bodyPr>
          <a:lstStyle>
            <a:lvl1pPr marL="0" indent="0" algn="l">
              <a:buNone/>
              <a:defRPr sz="1350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DD MONTH YEAR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1769036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uora yhdysviiva 7">
            <a:extLst>
              <a:ext uri="{FF2B5EF4-FFF2-40B4-BE49-F238E27FC236}">
                <a16:creationId xmlns:a16="http://schemas.microsoft.com/office/drawing/2014/main" id="{7719C45D-29AC-47C4-96CB-A06616449D77}"/>
              </a:ext>
            </a:extLst>
          </p:cNvPr>
          <p:cNvCxnSpPr/>
          <p:nvPr userDrawn="1"/>
        </p:nvCxnSpPr>
        <p:spPr>
          <a:xfrm>
            <a:off x="1341689" y="2760293"/>
            <a:ext cx="2238998" cy="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291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orakulmio 12">
            <a:extLst>
              <a:ext uri="{FF2B5EF4-FFF2-40B4-BE49-F238E27FC236}">
                <a16:creationId xmlns:a16="http://schemas.microsoft.com/office/drawing/2014/main" id="{D72F8343-7514-4A99-9282-4436A1CAC5E0}"/>
              </a:ext>
            </a:extLst>
          </p:cNvPr>
          <p:cNvSpPr/>
          <p:nvPr userDrawn="1"/>
        </p:nvSpPr>
        <p:spPr>
          <a:xfrm>
            <a:off x="-1" y="0"/>
            <a:ext cx="4760007" cy="4597637"/>
          </a:xfrm>
          <a:prstGeom prst="rect">
            <a:avLst/>
          </a:prstGeom>
          <a:solidFill>
            <a:srgbClr val="F848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pic>
        <p:nvPicPr>
          <p:cNvPr id="11" name="Kuva 10">
            <a:extLst>
              <a:ext uri="{FF2B5EF4-FFF2-40B4-BE49-F238E27FC236}">
                <a16:creationId xmlns:a16="http://schemas.microsoft.com/office/drawing/2014/main" id="{6DDCE989-3FE2-4741-B42B-7F0B9C318A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0334" y="0"/>
            <a:ext cx="747697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0236" y="1539934"/>
            <a:ext cx="9317764" cy="1714500"/>
          </a:xfrm>
        </p:spPr>
        <p:txBody>
          <a:bodyPr anchor="b"/>
          <a:lstStyle>
            <a:lvl1pPr algn="l">
              <a:defRPr sz="6000" spc="0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236" y="3292534"/>
            <a:ext cx="9317764" cy="561619"/>
          </a:xfrm>
        </p:spPr>
        <p:txBody>
          <a:bodyPr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50237" y="4062095"/>
            <a:ext cx="5435926" cy="314325"/>
          </a:xfrm>
        </p:spPr>
        <p:txBody>
          <a:bodyPr>
            <a:normAutofit/>
          </a:bodyPr>
          <a:lstStyle>
            <a:lvl1pPr marL="0" indent="0" algn="l">
              <a:buNone/>
              <a:defRPr sz="1350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DD MONTH YEAR</a:t>
            </a:r>
          </a:p>
        </p:txBody>
      </p:sp>
      <p:pic>
        <p:nvPicPr>
          <p:cNvPr id="7" name="Kuva 6">
            <a:extLst>
              <a:ext uri="{FF2B5EF4-FFF2-40B4-BE49-F238E27FC236}">
                <a16:creationId xmlns:a16="http://schemas.microsoft.com/office/drawing/2014/main" id="{F1951A4F-3406-4A97-B9A7-EDD84DADADA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078" y="5607709"/>
            <a:ext cx="3216343" cy="703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79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Picture">
    <p:bg>
      <p:bgPr>
        <a:solidFill>
          <a:srgbClr val="0057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>
            <a:extLst>
              <a:ext uri="{FF2B5EF4-FFF2-40B4-BE49-F238E27FC236}">
                <a16:creationId xmlns:a16="http://schemas.microsoft.com/office/drawing/2014/main" id="{3D880977-7262-4385-A8E0-0086619778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0236" y="2676525"/>
            <a:ext cx="9317764" cy="1714500"/>
          </a:xfrm>
        </p:spPr>
        <p:txBody>
          <a:bodyPr anchor="b"/>
          <a:lstStyle>
            <a:lvl1pPr algn="l">
              <a:defRPr sz="6000" spc="0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236" y="4429125"/>
            <a:ext cx="9317764" cy="894905"/>
          </a:xfrm>
        </p:spPr>
        <p:txBody>
          <a:bodyPr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537" y="526341"/>
            <a:ext cx="3254429" cy="712003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50237" y="5497789"/>
            <a:ext cx="5435926" cy="314325"/>
          </a:xfrm>
        </p:spPr>
        <p:txBody>
          <a:bodyPr>
            <a:normAutofit/>
          </a:bodyPr>
          <a:lstStyle>
            <a:lvl1pPr marL="0" indent="0" algn="l">
              <a:buNone/>
              <a:defRPr sz="1350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DD MONTH YEAR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1769036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uora yhdysviiva 7">
            <a:extLst>
              <a:ext uri="{FF2B5EF4-FFF2-40B4-BE49-F238E27FC236}">
                <a16:creationId xmlns:a16="http://schemas.microsoft.com/office/drawing/2014/main" id="{7719C45D-29AC-47C4-96CB-A06616449D77}"/>
              </a:ext>
            </a:extLst>
          </p:cNvPr>
          <p:cNvCxnSpPr/>
          <p:nvPr userDrawn="1"/>
        </p:nvCxnSpPr>
        <p:spPr>
          <a:xfrm>
            <a:off x="1341689" y="2760293"/>
            <a:ext cx="2238998" cy="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3021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C9354306-F9AA-E247-A52B-5F0B03FA3E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291" y="215312"/>
            <a:ext cx="1979537" cy="21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791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ortra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62675" y="1152524"/>
            <a:ext cx="5191124" cy="5162121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Heading 1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C1F0F3F-166A-422E-B49B-E35296BCC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1123950"/>
            <a:ext cx="4419600" cy="5190695"/>
          </a:xfrm>
        </p:spPr>
        <p:txBody>
          <a:bodyPr anchor="t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85506D-9F69-4855-B473-3BFDAF44ED69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45E9B6C-7602-4B4A-80F7-1DC5B15DED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291" y="215312"/>
            <a:ext cx="1979537" cy="21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095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60800" y="1868400"/>
            <a:ext cx="4680000" cy="4449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67500" y="1868400"/>
            <a:ext cx="4680000" cy="4449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8462DF-95A9-4839-9F28-1A83BCE28186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B93EDA0-B8B5-41ED-80CE-BFDA6DF8FC4B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3DF1A1AF-6EBC-7A40-BA81-2016201751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291" y="215312"/>
            <a:ext cx="1979537" cy="21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45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60800" y="2352674"/>
            <a:ext cx="4680000" cy="39653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67500" y="2352674"/>
            <a:ext cx="4680000" cy="39653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4673FD0-9E13-4C1A-B859-688309735A0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360800" y="1868399"/>
            <a:ext cx="4680000" cy="379501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81F1501-AF73-4AAC-9FF0-0767311D3E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67500" y="1868399"/>
            <a:ext cx="4687888" cy="379501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DE178B-FD49-4EE2-9A05-5F6BE0A0483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32C51C-6D36-4A71-A1DB-6C92A35CA313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1EA18664-86AE-6D47-B291-C8C758ABEE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291" y="215312"/>
            <a:ext cx="1979537" cy="21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714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F29153F9-78D4-4D70-B44A-4B9B91D91CB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162675" y="771525"/>
            <a:ext cx="5638800" cy="55340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542925"/>
            <a:ext cx="4181476" cy="11144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075" y="1866900"/>
            <a:ext cx="4181476" cy="444817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2D815D9A-BE79-664B-B7C3-AF665BFEE6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291" y="215312"/>
            <a:ext cx="1979537" cy="21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436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542925"/>
            <a:ext cx="4181476" cy="11144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075" y="1866900"/>
            <a:ext cx="4181476" cy="44481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46E416A-BFDB-410E-9AC9-671259E5DA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62675" y="771525"/>
            <a:ext cx="5638800" cy="553402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D4855580-B516-594A-8AF5-92C14F00D1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291" y="215312"/>
            <a:ext cx="1979537" cy="21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598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6" y="542925"/>
            <a:ext cx="10544174" cy="1114425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8625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005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7720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C0234F5-EE42-214B-860C-75BFD036FA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291" y="215312"/>
            <a:ext cx="1979537" cy="21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4930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4" y="1114424"/>
            <a:ext cx="6343651" cy="1438275"/>
          </a:xfrm>
        </p:spPr>
        <p:txBody>
          <a:bodyPr anchor="t" anchorCtr="0"/>
          <a:lstStyle>
            <a:lvl1pPr algn="l"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8625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005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77200" y="762000"/>
            <a:ext cx="3714750" cy="555307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820229C-D7FF-914A-A392-E6F1101AD5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291" y="215312"/>
            <a:ext cx="1979537" cy="21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6545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9AA27D76-A13D-8542-8C18-419AEB478E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291" y="215312"/>
            <a:ext cx="1979537" cy="21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8844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B5FAA"/>
                </a:solidFill>
              </a:defRPr>
            </a:lvl1pPr>
          </a:lstStyle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B5FAA"/>
                </a:solidFill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B5FAA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 dirty="0" err="1">
                <a:solidFill>
                  <a:srgbClr val="1B5FAA"/>
                </a:solidFill>
              </a:rPr>
              <a:t>ku.ac.ae</a:t>
            </a:r>
            <a:endParaRPr lang="en-US" sz="850" dirty="0">
              <a:solidFill>
                <a:srgbClr val="1B5FAA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B1DC4D5F-C4A1-B143-88CC-6C5E5FA173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291" y="215312"/>
            <a:ext cx="1979537" cy="21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852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4EFBB-C8CA-4201-A903-805856BE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51DCEB-2462-4151-B7CC-F3EC0D3A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57B99-432B-45A8-9216-9BC01B297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1543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D0CF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204913"/>
            <a:ext cx="10515600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4C747-8640-4D13-A1FA-90CDB4EBB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000500"/>
            <a:ext cx="10515600" cy="1584326"/>
          </a:xfrm>
        </p:spPr>
        <p:txBody>
          <a:bodyPr>
            <a:normAutofit/>
          </a:bodyPr>
          <a:lstStyle>
            <a:lvl1pPr marL="0" indent="0" algn="ctr">
              <a:buNone/>
              <a:defRPr sz="3800">
                <a:solidFill>
                  <a:srgbClr val="00000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61CE92-ABC5-6847-8C38-3DC85D9DB6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9457" y="233481"/>
            <a:ext cx="1994265" cy="214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3610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Picture Background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52513"/>
            <a:ext cx="10515600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6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8" name="Kuva 7">
            <a:extLst>
              <a:ext uri="{FF2B5EF4-FFF2-40B4-BE49-F238E27FC236}">
                <a16:creationId xmlns:a16="http://schemas.microsoft.com/office/drawing/2014/main" id="{11D02BC0-B13E-4935-937E-B35D1BFBD4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509" y="241261"/>
            <a:ext cx="2100318" cy="16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2986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rgbClr val="0057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AD5768-C7B0-4ABF-BE83-522BCD1F6FE5}"/>
              </a:ext>
            </a:extLst>
          </p:cNvPr>
          <p:cNvSpPr txBox="1"/>
          <p:nvPr userDrawn="1"/>
        </p:nvSpPr>
        <p:spPr>
          <a:xfrm>
            <a:off x="752475" y="2545809"/>
            <a:ext cx="10648950" cy="176971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fi-FI" sz="11500" b="1" spc="-100" baseline="0" dirty="0" err="1">
                <a:solidFill>
                  <a:srgbClr val="FFFFFF"/>
                </a:solidFill>
                <a:latin typeface="+mj-lt"/>
              </a:rPr>
              <a:t>Thank</a:t>
            </a:r>
            <a:r>
              <a:rPr lang="fi-FI" sz="11500" b="1" spc="-100" baseline="0" dirty="0">
                <a:solidFill>
                  <a:srgbClr val="FFFFFF"/>
                </a:solidFill>
                <a:latin typeface="+mj-lt"/>
              </a:rPr>
              <a:t> </a:t>
            </a:r>
            <a:r>
              <a:rPr lang="fi-FI" sz="11500" b="1" spc="-100" baseline="0" dirty="0" err="1">
                <a:solidFill>
                  <a:srgbClr val="FFFFFF"/>
                </a:solidFill>
                <a:latin typeface="+mj-lt"/>
              </a:rPr>
              <a:t>You</a:t>
            </a:r>
            <a:endParaRPr lang="en-US" sz="11500" b="1" spc="-100" baseline="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4333D0-73BA-48D2-AA6E-3F2C63C9CA8F}"/>
              </a:ext>
            </a:extLst>
          </p:cNvPr>
          <p:cNvSpPr txBox="1"/>
          <p:nvPr userDrawn="1"/>
        </p:nvSpPr>
        <p:spPr>
          <a:xfrm>
            <a:off x="4703036" y="5480228"/>
            <a:ext cx="1838324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fi-FI" sz="1250" b="1">
                <a:solidFill>
                  <a:srgbClr val="FFFFFF"/>
                </a:solidFill>
              </a:rPr>
              <a:t>ku.ac.ae</a:t>
            </a:r>
            <a:endParaRPr lang="en-US" sz="1250" b="1">
              <a:solidFill>
                <a:srgbClr val="FFFFFF"/>
              </a:solidFill>
            </a:endParaRPr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60938B8B-7582-4902-80EB-C98CDE9703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537" y="526341"/>
            <a:ext cx="3254429" cy="71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569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7564FE-F745-443F-8321-B0EFD169F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4" y="542925"/>
            <a:ext cx="9991725" cy="1114425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11581-2B37-40B3-825A-043921DFB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4" y="1866900"/>
            <a:ext cx="9991725" cy="44481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172D0-FD25-45C4-A82E-F4094DCDE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86725" y="203200"/>
            <a:ext cx="1733550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50">
                <a:solidFill>
                  <a:schemeClr val="bg2"/>
                </a:solidFill>
              </a:defRPr>
            </a:lvl1pPr>
          </a:lstStyle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18871-7BC3-4A13-9CC9-B9A1DB22F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67025" y="203200"/>
            <a:ext cx="4114800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50">
                <a:solidFill>
                  <a:schemeClr val="bg2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A17DA-0D3F-410F-A9AA-3171ED151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3349" y="203200"/>
            <a:ext cx="5238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50">
                <a:solidFill>
                  <a:schemeClr val="bg2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18493A-1FC9-483C-BC41-405831F9D965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7456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2" r:id="rId2"/>
    <p:sldLayoutId id="2147483674" r:id="rId3"/>
    <p:sldLayoutId id="2147483673" r:id="rId4"/>
    <p:sldLayoutId id="2147483650" r:id="rId5"/>
    <p:sldLayoutId id="2147483662" r:id="rId6"/>
    <p:sldLayoutId id="2147483652" r:id="rId7"/>
    <p:sldLayoutId id="2147483661" r:id="rId8"/>
    <p:sldLayoutId id="2147483663" r:id="rId9"/>
    <p:sldLayoutId id="2147483660" r:id="rId10"/>
    <p:sldLayoutId id="2147483664" r:id="rId11"/>
    <p:sldLayoutId id="2147483665" r:id="rId12"/>
    <p:sldLayoutId id="2147483654" r:id="rId13"/>
    <p:sldLayoutId id="2147483671" r:id="rId14"/>
    <p:sldLayoutId id="2147483655" r:id="rId15"/>
    <p:sldLayoutId id="2147483651" r:id="rId16"/>
    <p:sldLayoutId id="2147483666" r:id="rId17"/>
    <p:sldLayoutId id="2147483667" r:id="rId18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 spc="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97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85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54292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850" kern="1200">
          <a:solidFill>
            <a:schemeClr val="tx1"/>
          </a:solidFill>
          <a:latin typeface="+mn-lt"/>
          <a:ea typeface="+mn-ea"/>
          <a:cs typeface="+mn-cs"/>
        </a:defRPr>
      </a:lvl2pPr>
      <a:lvl3pPr marL="714375" indent="-171450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95350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7632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hyperlink" Target="http://upload.wikimedia.org/wikipedia/commons/d/d3/Liquid_Nitrogen_Tank.JPG" TargetMode="Externa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3ABC-9A46-4327-BF74-FE0C643DC4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0237" y="3040592"/>
            <a:ext cx="9317764" cy="1714500"/>
          </a:xfrm>
        </p:spPr>
        <p:txBody>
          <a:bodyPr>
            <a:normAutofit fontScale="90000"/>
          </a:bodyPr>
          <a:lstStyle/>
          <a:p>
            <a:r>
              <a:rPr lang="fi-FI" dirty="0"/>
              <a:t>Handling of Cryogenics Substances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6F05C-E8E5-40A0-96E2-70DA59031E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806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393" y="752561"/>
            <a:ext cx="6683432" cy="809452"/>
          </a:xfrm>
        </p:spPr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8619" y="1717271"/>
            <a:ext cx="9991725" cy="3769129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0" dirty="0"/>
              <a:t>Attendees will be able to:</a:t>
            </a:r>
          </a:p>
          <a:p>
            <a:pPr marL="966788" indent="-342900"/>
            <a:r>
              <a:rPr lang="en-US" b="0" dirty="0" smtClean="0"/>
              <a:t>Define  </a:t>
            </a:r>
            <a:r>
              <a:rPr lang="en-US" b="0" dirty="0"/>
              <a:t>cryogenics</a:t>
            </a:r>
          </a:p>
          <a:p>
            <a:pPr marL="966788" indent="-342900"/>
            <a:r>
              <a:rPr lang="en-US" b="0" dirty="0" smtClean="0"/>
              <a:t>Know </a:t>
            </a:r>
            <a:r>
              <a:rPr lang="en-US" b="0" dirty="0"/>
              <a:t>the characteristics &amp; types of cryogenic liquids</a:t>
            </a:r>
          </a:p>
          <a:p>
            <a:pPr marL="966788" indent="-342900"/>
            <a:r>
              <a:rPr lang="en-US" b="0" dirty="0" smtClean="0"/>
              <a:t>Have </a:t>
            </a:r>
            <a:r>
              <a:rPr lang="en-US" b="0" dirty="0"/>
              <a:t>an understanding of  different uses of cryogenics</a:t>
            </a:r>
          </a:p>
          <a:p>
            <a:pPr marL="966788" indent="-342900"/>
            <a:r>
              <a:rPr lang="en-US" b="0" dirty="0" smtClean="0"/>
              <a:t>Understand </a:t>
            </a:r>
            <a:r>
              <a:rPr lang="en-US" b="0" dirty="0"/>
              <a:t>the hazards involved in handling cryogenics</a:t>
            </a:r>
          </a:p>
          <a:p>
            <a:pPr marL="966788" indent="-342900"/>
            <a:r>
              <a:rPr lang="en-US" b="0" dirty="0" smtClean="0"/>
              <a:t>Have </a:t>
            </a:r>
            <a:r>
              <a:rPr lang="en-US" b="0" dirty="0"/>
              <a:t>an understanding </a:t>
            </a:r>
            <a:r>
              <a:rPr lang="en-US" b="0" dirty="0" smtClean="0"/>
              <a:t>of </a:t>
            </a:r>
            <a:r>
              <a:rPr lang="en-US" b="0" dirty="0"/>
              <a:t>First </a:t>
            </a:r>
            <a:r>
              <a:rPr lang="en-US" b="0" dirty="0" smtClean="0"/>
              <a:t>Aid/emergency </a:t>
            </a:r>
            <a:r>
              <a:rPr lang="en-US" b="0" dirty="0"/>
              <a:t>procedures &amp; requirements of PPE</a:t>
            </a:r>
          </a:p>
          <a:p>
            <a:pPr marL="966788" indent="-342900"/>
            <a:r>
              <a:rPr lang="en-US" b="0" dirty="0" smtClean="0"/>
              <a:t>Know </a:t>
            </a:r>
            <a:r>
              <a:rPr lang="en-US" b="0" dirty="0"/>
              <a:t>the safety precautions / consideration concerning </a:t>
            </a:r>
            <a:r>
              <a:rPr lang="en-US" b="0" dirty="0" smtClean="0"/>
              <a:t>dewar</a:t>
            </a:r>
            <a:endParaRPr lang="en-US" b="0" dirty="0"/>
          </a:p>
          <a:p>
            <a:pPr marL="966788" indent="-342900"/>
            <a:r>
              <a:rPr lang="en-US" b="0" dirty="0" smtClean="0"/>
              <a:t>Get </a:t>
            </a:r>
            <a:r>
              <a:rPr lang="en-US" b="0" dirty="0"/>
              <a:t>an idea </a:t>
            </a:r>
            <a:r>
              <a:rPr lang="en-US" b="0" dirty="0" smtClean="0"/>
              <a:t>of </a:t>
            </a:r>
            <a:r>
              <a:rPr lang="en-US" b="0" dirty="0"/>
              <a:t>the cause of incidents involving cryogens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 dirty="0"/>
              <a:t>Handling of Cryogenics Substances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48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AE0E4-85DE-4F16-91DA-63A23F739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011" y="725805"/>
            <a:ext cx="5144540" cy="853613"/>
          </a:xfrm>
        </p:spPr>
        <p:txBody>
          <a:bodyPr/>
          <a:lstStyle/>
          <a:p>
            <a:r>
              <a:rPr lang="fi-FI" dirty="0"/>
              <a:t>Definition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4C429-305C-4CC4-9AAC-45E533DB8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8002" y="1667396"/>
            <a:ext cx="4181476" cy="3802380"/>
          </a:xfrm>
        </p:spPr>
        <p:txBody>
          <a:bodyPr/>
          <a:lstStyle/>
          <a:p>
            <a:endParaRPr lang="en-US" dirty="0"/>
          </a:p>
          <a:p>
            <a:r>
              <a:rPr lang="en-US" b="0" dirty="0"/>
              <a:t>Cryogenic liquids are liquefied gases that are kept in their liquid state at very low temperatures.</a:t>
            </a:r>
          </a:p>
          <a:p>
            <a:endParaRPr lang="en-US" b="0" dirty="0"/>
          </a:p>
          <a:p>
            <a:r>
              <a:rPr lang="en-US" b="0" dirty="0"/>
              <a:t>The word "cryogenic"  means                    "producing, or related to, low temperatures,“</a:t>
            </a:r>
          </a:p>
          <a:p>
            <a:endParaRPr lang="en-US" b="0" dirty="0"/>
          </a:p>
          <a:p>
            <a:r>
              <a:rPr lang="en-US" b="0" dirty="0"/>
              <a:t>Cryogenic liquids have boiling points    below  -150°C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B48B6-5880-4AD0-87AA-3CD2E0648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8C420-638A-4D4C-9B72-8A32B09AC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 dirty="0"/>
              <a:t>Handling of Cryogenics Substances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18707-6809-45DB-87A9-B541AB55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1" name="Picture Placeholder 10" descr="300px-Cryopreservation.jpg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/>
          <a:srcRect t="17359" b="17359"/>
          <a:stretch>
            <a:fillRect/>
          </a:stretch>
        </p:blipFill>
        <p:spPr>
          <a:xfrm>
            <a:off x="7351394" y="1667396"/>
            <a:ext cx="4211955" cy="413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206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012" y="839585"/>
            <a:ext cx="5079075" cy="817765"/>
          </a:xfrm>
        </p:spPr>
        <p:txBody>
          <a:bodyPr/>
          <a:lstStyle/>
          <a:p>
            <a:r>
              <a:rPr lang="en-US" dirty="0"/>
              <a:t>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063" y="1817025"/>
            <a:ext cx="9991725" cy="3627812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b="0" dirty="0"/>
              <a:t> All cryogenic liquids are gases at normal temperatures and pressures.</a:t>
            </a:r>
          </a:p>
          <a:p>
            <a:endParaRPr lang="en-US" b="0" dirty="0"/>
          </a:p>
          <a:p>
            <a:r>
              <a:rPr lang="en-US" b="0" dirty="0"/>
              <a:t> Different cryogens become liquids under different conditions of temperature and pressure,</a:t>
            </a:r>
          </a:p>
          <a:p>
            <a:endParaRPr lang="en-US" b="0" dirty="0"/>
          </a:p>
          <a:p>
            <a:r>
              <a:rPr lang="en-US" b="0" dirty="0"/>
              <a:t> But all have two properties in common: </a:t>
            </a:r>
          </a:p>
          <a:p>
            <a:pPr marL="1257300" indent="-342900">
              <a:buFont typeface="Wingdings" panose="05000000000000000000" pitchFamily="2" charset="2"/>
              <a:buChar char="§"/>
            </a:pPr>
            <a:r>
              <a:rPr lang="en-US" b="0" dirty="0"/>
              <a:t>they are </a:t>
            </a:r>
            <a:r>
              <a:rPr lang="en-US" dirty="0"/>
              <a:t>extremely cold</a:t>
            </a:r>
            <a:r>
              <a:rPr lang="en-US" b="0" dirty="0"/>
              <a:t>, and </a:t>
            </a:r>
          </a:p>
          <a:p>
            <a:pPr marL="1257300" indent="-342900">
              <a:buFont typeface="Wingdings" panose="05000000000000000000" pitchFamily="2" charset="2"/>
              <a:buChar char="§"/>
            </a:pPr>
            <a:r>
              <a:rPr lang="en-US" b="0" dirty="0"/>
              <a:t>small amounts of </a:t>
            </a:r>
            <a:r>
              <a:rPr lang="en-US" dirty="0"/>
              <a:t>liquid</a:t>
            </a:r>
            <a:r>
              <a:rPr lang="en-US" b="0" dirty="0"/>
              <a:t> can </a:t>
            </a:r>
            <a:r>
              <a:rPr lang="en-US" dirty="0"/>
              <a:t>expand</a:t>
            </a:r>
            <a:r>
              <a:rPr lang="en-US" b="0" dirty="0"/>
              <a:t> into </a:t>
            </a:r>
            <a:r>
              <a:rPr lang="en-US" dirty="0"/>
              <a:t>very large volumes of gas</a:t>
            </a:r>
            <a:r>
              <a:rPr lang="en-US" b="0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 dirty="0"/>
              <a:t>Handling of Cryogenics Substances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499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797" y="635000"/>
            <a:ext cx="7466043" cy="837142"/>
          </a:xfrm>
        </p:spPr>
        <p:txBody>
          <a:bodyPr/>
          <a:lstStyle/>
          <a:p>
            <a:r>
              <a:rPr lang="en-US" dirty="0"/>
              <a:t>Some of the Cryogenic Liquids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 dirty="0"/>
              <a:t>Handling of Cryogenics Substances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19" y="2100262"/>
            <a:ext cx="5888355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985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324" y="881148"/>
            <a:ext cx="6574501" cy="834390"/>
          </a:xfrm>
        </p:spPr>
        <p:txBody>
          <a:bodyPr/>
          <a:lstStyle/>
          <a:p>
            <a:r>
              <a:rPr lang="en-US" dirty="0"/>
              <a:t>Types of Cryogenic Liquids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2074" y="1866901"/>
            <a:ext cx="9991725" cy="3960322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461962" indent="-342900"/>
            <a:r>
              <a:rPr lang="en-US" dirty="0"/>
              <a:t>Inert Gases</a:t>
            </a:r>
            <a:r>
              <a:rPr lang="en-US" b="0" dirty="0"/>
              <a:t>: Inert gases do not react chemically to any great extent. They do not burn or support combustion. Nitrogen, helium, neon, argon and krypton.</a:t>
            </a:r>
          </a:p>
          <a:p>
            <a:pPr marL="461962" indent="-342900"/>
            <a:endParaRPr lang="en-US" b="0" dirty="0"/>
          </a:p>
          <a:p>
            <a:pPr marL="461962" indent="-342900"/>
            <a:r>
              <a:rPr lang="en-US" dirty="0"/>
              <a:t>Flammable Gases</a:t>
            </a:r>
            <a:r>
              <a:rPr lang="en-US" b="0" dirty="0"/>
              <a:t>: Some cryogenic liquids produce a gas that can burn in air. Hydrogen, methane and liquefied natural gas.</a:t>
            </a:r>
          </a:p>
          <a:p>
            <a:pPr marL="461962" indent="-342900"/>
            <a:endParaRPr lang="en-US" b="0" dirty="0"/>
          </a:p>
          <a:p>
            <a:pPr marL="461962" indent="-342900"/>
            <a:r>
              <a:rPr lang="en-US" dirty="0"/>
              <a:t>Oxygen</a:t>
            </a:r>
            <a:r>
              <a:rPr lang="en-US" b="0" dirty="0"/>
              <a:t>: Many materials considered as non-combustible can burn in the presence of liquid oxygen.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 dirty="0"/>
              <a:t>Handling of Cryogenics Substances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508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AE0E4-85DE-4F16-91DA-63A23F739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073" y="548640"/>
            <a:ext cx="6093229" cy="889462"/>
          </a:xfrm>
        </p:spPr>
        <p:txBody>
          <a:bodyPr/>
          <a:lstStyle/>
          <a:p>
            <a:r>
              <a:rPr lang="fi-FI" dirty="0"/>
              <a:t>Uses of Liquid Nitrogen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4C429-305C-4CC4-9AAC-45E533DB8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561" y="1539067"/>
            <a:ext cx="6618143" cy="4798481"/>
          </a:xfrm>
        </p:spPr>
        <p:txBody>
          <a:bodyPr>
            <a:normAutofit lnSpcReduction="10000"/>
          </a:bodyPr>
          <a:lstStyle/>
          <a:p>
            <a:endParaRPr lang="en-US" b="0" dirty="0"/>
          </a:p>
          <a:p>
            <a:r>
              <a:rPr lang="en-US" b="0" dirty="0"/>
              <a:t>As a source of very dry nitrogen gas- (Purging) </a:t>
            </a:r>
          </a:p>
          <a:p>
            <a:endParaRPr lang="en-US" b="0" dirty="0"/>
          </a:p>
          <a:p>
            <a:r>
              <a:rPr lang="en-US" b="0" dirty="0"/>
              <a:t>To store cells for laboratory work</a:t>
            </a:r>
          </a:p>
          <a:p>
            <a:endParaRPr lang="en-US" b="0" dirty="0"/>
          </a:p>
          <a:p>
            <a:r>
              <a:rPr lang="en-US" b="0" dirty="0"/>
              <a:t>The immersion freezing / transportation of  food products  and making ultra-smooth ice cream</a:t>
            </a:r>
          </a:p>
          <a:p>
            <a:endParaRPr lang="en-US" b="0" dirty="0"/>
          </a:p>
          <a:p>
            <a:r>
              <a:rPr lang="en-US" b="0" dirty="0"/>
              <a:t>As a coolant  for super computers and CCD cameras in astronomy. </a:t>
            </a:r>
          </a:p>
          <a:p>
            <a:endParaRPr lang="en-US" b="0" dirty="0"/>
          </a:p>
          <a:p>
            <a:r>
              <a:rPr lang="en-US" b="0" dirty="0"/>
              <a:t>As a coolant to temporarily “shrink” mechanical components during machine assembly</a:t>
            </a:r>
          </a:p>
          <a:p>
            <a:endParaRPr lang="en-US" b="0" dirty="0"/>
          </a:p>
          <a:p>
            <a:r>
              <a:rPr lang="en-US" b="0" dirty="0"/>
              <a:t>Freezing water pipes in order to work on them to block water flow to the work area.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B48B6-5880-4AD0-87AA-3CD2E0648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8C420-638A-4D4C-9B72-8A32B09AC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 dirty="0"/>
              <a:t>Handling of Cryogenics Substances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18707-6809-45DB-87A9-B541AB55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026" name="Picture 2" descr="Image result for uses of liquid nitrogen"/>
          <p:cNvPicPr>
            <a:picLocks noGrp="1" noChangeAspect="1" noChangeArrowheads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88" r="23388"/>
          <a:stretch>
            <a:fillRect/>
          </a:stretch>
        </p:blipFill>
        <p:spPr bwMode="auto">
          <a:xfrm>
            <a:off x="7958830" y="1770611"/>
            <a:ext cx="3803679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5389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AE0E4-85DE-4F16-91DA-63A23F739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340" y="815253"/>
            <a:ext cx="4490085" cy="684069"/>
          </a:xfrm>
        </p:spPr>
        <p:txBody>
          <a:bodyPr/>
          <a:lstStyle/>
          <a:p>
            <a:r>
              <a:rPr lang="fi-FI" dirty="0"/>
              <a:t>Health Hazards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4C429-305C-4CC4-9AAC-45E533DB8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257" y="1820141"/>
            <a:ext cx="4181476" cy="3061547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Asphyxiation Hazard </a:t>
            </a:r>
          </a:p>
          <a:p>
            <a:endParaRPr lang="en-US" dirty="0"/>
          </a:p>
          <a:p>
            <a:r>
              <a:rPr lang="en-US" dirty="0"/>
              <a:t>Extreme Cold Hazard </a:t>
            </a:r>
          </a:p>
          <a:p>
            <a:endParaRPr lang="en-US" dirty="0"/>
          </a:p>
          <a:p>
            <a:r>
              <a:rPr lang="en-US" dirty="0"/>
              <a:t>Toxic Hazards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B48B6-5880-4AD0-87AA-3CD2E0648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8C420-638A-4D4C-9B72-8A32B09AC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 dirty="0"/>
              <a:t>Handling of Cryogenics Substances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18707-6809-45DB-87A9-B541AB55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10" name="Picture 2" descr="File:Liquid Nitrogen Tank.JPG">
            <a:hlinkClick r:id="rId2"/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>
          <a:blip r:embed="rId3" cstate="print"/>
          <a:srcRect t="16305" b="16305"/>
          <a:stretch>
            <a:fillRect/>
          </a:stretch>
        </p:blipFill>
        <p:spPr bwMode="auto">
          <a:xfrm>
            <a:off x="6445308" y="1657350"/>
            <a:ext cx="4569056" cy="448415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74955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324" y="889462"/>
            <a:ext cx="7356763" cy="767888"/>
          </a:xfrm>
        </p:spPr>
        <p:txBody>
          <a:bodyPr>
            <a:normAutofit fontScale="90000"/>
          </a:bodyPr>
          <a:lstStyle/>
          <a:p>
            <a:r>
              <a:rPr lang="fi-FI" dirty="0"/>
              <a:t>Health </a:t>
            </a:r>
            <a:r>
              <a:rPr lang="fi-FI" dirty="0" smtClean="0"/>
              <a:t>Hazard- </a:t>
            </a:r>
            <a:r>
              <a:rPr lang="en-US" dirty="0" smtClean="0"/>
              <a:t>Asphyxiation </a:t>
            </a:r>
            <a:r>
              <a:rPr lang="en-US" dirty="0"/>
              <a:t>Hazard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2321" y="1837111"/>
            <a:ext cx="9991725" cy="3912697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461963" indent="-342900"/>
            <a:r>
              <a:rPr lang="en-US" b="0" dirty="0"/>
              <a:t>Small amounts cryogenic liquid can evaporate into very large volumes of gas.</a:t>
            </a:r>
          </a:p>
          <a:p>
            <a:pPr marL="461963" indent="-342900"/>
            <a:r>
              <a:rPr lang="en-US" dirty="0"/>
              <a:t>One liter of liquid nitrogen vaporizes to 696.5 liters of gas </a:t>
            </a:r>
          </a:p>
          <a:p>
            <a:pPr marL="461962" indent="-342900"/>
            <a:endParaRPr lang="en-US" b="0" dirty="0"/>
          </a:p>
          <a:p>
            <a:pPr marL="461963" indent="-342900"/>
            <a:r>
              <a:rPr lang="en-US" b="0" dirty="0"/>
              <a:t>As liquid nitrogen evaporates it will reduce the oxygen concentration in the air and act as an asphyxiate especially in confined spaces. </a:t>
            </a:r>
          </a:p>
          <a:p>
            <a:pPr marL="461963" indent="-342900"/>
            <a:endParaRPr lang="en-US" b="0" dirty="0"/>
          </a:p>
          <a:p>
            <a:pPr marL="461963" indent="-342900"/>
            <a:r>
              <a:rPr lang="en-US" b="0" dirty="0"/>
              <a:t>Cold nitrogen is </a:t>
            </a:r>
            <a:r>
              <a:rPr lang="en-US" dirty="0"/>
              <a:t>heavier than air </a:t>
            </a:r>
            <a:r>
              <a:rPr lang="en-US" b="0" dirty="0"/>
              <a:t>and can therefore collect near the floor or in pits</a:t>
            </a:r>
          </a:p>
          <a:p>
            <a:pPr marL="461963" indent="-342900"/>
            <a:endParaRPr lang="en-US" b="0" dirty="0"/>
          </a:p>
          <a:p>
            <a:pPr marL="461963" indent="-342900"/>
            <a:r>
              <a:rPr lang="en-US" b="0" dirty="0"/>
              <a:t>Nitrogen is </a:t>
            </a:r>
            <a:r>
              <a:rPr lang="en-US" dirty="0" err="1"/>
              <a:t>odourless</a:t>
            </a:r>
            <a:r>
              <a:rPr lang="en-US" b="0" dirty="0"/>
              <a:t>, </a:t>
            </a:r>
            <a:r>
              <a:rPr lang="en-US" dirty="0"/>
              <a:t>colourless</a:t>
            </a:r>
            <a:r>
              <a:rPr lang="en-US" b="0" dirty="0"/>
              <a:t> and </a:t>
            </a:r>
            <a:r>
              <a:rPr lang="en-US" dirty="0"/>
              <a:t>tasteless</a:t>
            </a:r>
            <a:r>
              <a:rPr lang="en-US" b="0" dirty="0"/>
              <a:t>, and may produce asphyxia without any sensation or prior warning.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 dirty="0"/>
              <a:t>Handling of Cryogenics Substances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966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AE0E4-85DE-4F16-91DA-63A23F739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112" y="721216"/>
            <a:ext cx="10890884" cy="759690"/>
          </a:xfrm>
        </p:spPr>
        <p:txBody>
          <a:bodyPr>
            <a:normAutofit/>
          </a:bodyPr>
          <a:lstStyle/>
          <a:p>
            <a:r>
              <a:rPr lang="fi-FI" dirty="0"/>
              <a:t>Health Hazard- Extreme Cold Hazard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4C429-305C-4CC4-9AAC-45E533DB8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8687" y="1754447"/>
            <a:ext cx="6053137" cy="4247342"/>
          </a:xfrm>
        </p:spPr>
        <p:txBody>
          <a:bodyPr/>
          <a:lstStyle/>
          <a:p>
            <a:endParaRPr lang="en-US" b="0" dirty="0"/>
          </a:p>
          <a:p>
            <a:r>
              <a:rPr lang="en-US" b="0" dirty="0"/>
              <a:t> Prolonged breathing may damage the lungs.</a:t>
            </a:r>
          </a:p>
          <a:p>
            <a:endParaRPr lang="en-US" b="0" dirty="0"/>
          </a:p>
          <a:p>
            <a:r>
              <a:rPr lang="en-US" b="0" dirty="0"/>
              <a:t> Brief exposures can damage the eyes.  </a:t>
            </a:r>
          </a:p>
          <a:p>
            <a:endParaRPr lang="en-US" b="0" dirty="0"/>
          </a:p>
          <a:p>
            <a:r>
              <a:rPr lang="en-US" b="0" dirty="0"/>
              <a:t>Prolonged exposure of the skin can cause frostbite. </a:t>
            </a:r>
          </a:p>
          <a:p>
            <a:endParaRPr lang="en-US" b="0" dirty="0"/>
          </a:p>
          <a:p>
            <a:r>
              <a:rPr lang="en-US" b="0" dirty="0"/>
              <a:t>There is no initial pain but there is intense pain when frozen tissue thaws. </a:t>
            </a:r>
          </a:p>
          <a:p>
            <a:endParaRPr lang="en-US" b="0" dirty="0"/>
          </a:p>
          <a:p>
            <a:r>
              <a:rPr lang="en-US" b="0" dirty="0"/>
              <a:t>Unprotected skin can stick to metal. The skin can then tear when pulled away. 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B48B6-5880-4AD0-87AA-3CD2E0648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8C420-638A-4D4C-9B72-8A32B09AC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 dirty="0"/>
              <a:t>Handling of Cryogenics Substances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18707-6809-45DB-87A9-B541AB55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9" name="Picture Placeholder 8" descr="nitrogen_liquid_unloading.jpg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/>
          <a:stretch>
            <a:fillRect/>
          </a:stretch>
        </p:blipFill>
        <p:spPr>
          <a:xfrm>
            <a:off x="7397114" y="1754447"/>
            <a:ext cx="4074449" cy="40320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8694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AE0E4-85DE-4F16-91DA-63A23F739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859" y="706581"/>
            <a:ext cx="11506027" cy="783475"/>
          </a:xfrm>
        </p:spPr>
        <p:txBody>
          <a:bodyPr>
            <a:normAutofit/>
          </a:bodyPr>
          <a:lstStyle/>
          <a:p>
            <a:r>
              <a:rPr lang="fi-FI" dirty="0"/>
              <a:t>Health Hazard- </a:t>
            </a:r>
            <a:r>
              <a:rPr lang="fi-FI" dirty="0" smtClean="0"/>
              <a:t>Toxic </a:t>
            </a:r>
            <a:r>
              <a:rPr lang="fi-FI" dirty="0"/>
              <a:t>Hazards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4C429-305C-4CC4-9AAC-45E533DB8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685" y="1748963"/>
            <a:ext cx="5238231" cy="3779002"/>
          </a:xfrm>
        </p:spPr>
        <p:txBody>
          <a:bodyPr/>
          <a:lstStyle/>
          <a:p>
            <a:endParaRPr lang="en-US" b="0" dirty="0"/>
          </a:p>
          <a:p>
            <a:endParaRPr lang="en-US" b="0" dirty="0"/>
          </a:p>
          <a:p>
            <a:r>
              <a:rPr lang="en-US" b="0" dirty="0"/>
              <a:t>Some gases like carbon monoxide, fluorine, and nitrous oxide are toxic </a:t>
            </a:r>
          </a:p>
          <a:p>
            <a:endParaRPr lang="en-US" b="0" dirty="0"/>
          </a:p>
          <a:p>
            <a:r>
              <a:rPr lang="en-US" b="0" dirty="0"/>
              <a:t>Liquid carbon monoxide can generate large quantities of carbon monoxide gas, which can cause death almost immediately. </a:t>
            </a:r>
          </a:p>
          <a:p>
            <a:pPr marL="0" indent="0">
              <a:buNone/>
            </a:pPr>
            <a:endParaRPr lang="en-US" b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B48B6-5880-4AD0-87AA-3CD2E0648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8C420-638A-4D4C-9B72-8A32B09AC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 dirty="0"/>
              <a:t>Handling of Cryogenics Substances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18707-6809-45DB-87A9-B541AB55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2056" name="Picture 8" descr="Image result for fluorine gas, carbon monoxide, toxic"/>
          <p:cNvPicPr preferRelativeResize="0">
            <a:picLocks noGrp="1" noChangeArrowheads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24223" y="1748964"/>
            <a:ext cx="4472773" cy="3779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8158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AE0E4-85DE-4F16-91DA-63A23F739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299" y="647604"/>
            <a:ext cx="6360449" cy="705312"/>
          </a:xfrm>
        </p:spPr>
        <p:txBody>
          <a:bodyPr>
            <a:noAutofit/>
          </a:bodyPr>
          <a:lstStyle/>
          <a:p>
            <a:r>
              <a:rPr lang="fi-FI" dirty="0"/>
              <a:t>Explosion </a:t>
            </a:r>
            <a:r>
              <a:rPr lang="fi-FI" dirty="0" smtClean="0"/>
              <a:t>hazard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4C429-305C-4CC4-9AAC-45E533DB8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623" y="1552845"/>
            <a:ext cx="6253250" cy="4399068"/>
          </a:xfrm>
        </p:spPr>
        <p:txBody>
          <a:bodyPr/>
          <a:lstStyle/>
          <a:p>
            <a:endParaRPr lang="en-US" b="0" dirty="0"/>
          </a:p>
          <a:p>
            <a:r>
              <a:rPr lang="en-US" b="0" dirty="0"/>
              <a:t>The liquid to gas expansion ratio N2 substance is 1:696.5, a tremendous amount of force can be generated if liquid nitrogen is rapidly vaporized.</a:t>
            </a:r>
          </a:p>
          <a:p>
            <a:endParaRPr lang="en-US" b="0" dirty="0"/>
          </a:p>
          <a:p>
            <a:r>
              <a:rPr lang="en-US" b="0" dirty="0"/>
              <a:t>The pressure inside causes an explosion popularly called as BLEVE or Boiling Liquid Expanding Vapor Explosion.</a:t>
            </a:r>
          </a:p>
          <a:p>
            <a:endParaRPr lang="en-US" b="0" dirty="0"/>
          </a:p>
          <a:p>
            <a:r>
              <a:rPr lang="en-US" b="0" dirty="0"/>
              <a:t>Containers should have adequate venting or pressure-relief devices and a backup bursting disc. 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B48B6-5880-4AD0-87AA-3CD2E0648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8C420-638A-4D4C-9B72-8A32B09AC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 dirty="0"/>
              <a:t>Handling of Cryogenics Substances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18707-6809-45DB-87A9-B541AB55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3090" name="Picture 18" descr="Image result for explosion by rapid gas expans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9062" y="1685848"/>
            <a:ext cx="4176469" cy="4091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8905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AE0E4-85DE-4F16-91DA-63A23F739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86" y="600075"/>
            <a:ext cx="8596572" cy="1114425"/>
          </a:xfrm>
        </p:spPr>
        <p:txBody>
          <a:bodyPr>
            <a:normAutofit/>
          </a:bodyPr>
          <a:lstStyle/>
          <a:p>
            <a:r>
              <a:rPr lang="fi-FI" dirty="0"/>
              <a:t>Personal Protective Equipment (PPE)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4C429-305C-4CC4-9AAC-45E533DB8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306" y="2258029"/>
            <a:ext cx="6101889" cy="3419995"/>
          </a:xfrm>
        </p:spPr>
        <p:txBody>
          <a:bodyPr/>
          <a:lstStyle/>
          <a:p>
            <a:endParaRPr lang="en-US" b="0" dirty="0"/>
          </a:p>
          <a:p>
            <a:pPr marL="0" indent="0">
              <a:buNone/>
            </a:pPr>
            <a:r>
              <a:rPr lang="en-US" b="0" dirty="0"/>
              <a:t>If you work with cryogenic liquids coming in contact with the skin is reduced with the use of PPE:</a:t>
            </a:r>
          </a:p>
          <a:p>
            <a:pPr marL="0" indent="0">
              <a:buNone/>
            </a:pPr>
            <a:endParaRPr lang="en-US" b="0" dirty="0"/>
          </a:p>
          <a:p>
            <a:pPr algn="just"/>
            <a:r>
              <a:rPr lang="en-US" b="0" dirty="0"/>
              <a:t>Full Face Shield with safety glasses</a:t>
            </a:r>
          </a:p>
          <a:p>
            <a:r>
              <a:rPr lang="en-US" b="0" dirty="0"/>
              <a:t>Heavy, Loose Fitting leather or Cryogenic Gloves</a:t>
            </a:r>
          </a:p>
          <a:p>
            <a:r>
              <a:rPr lang="en-US" b="0" dirty="0"/>
              <a:t>Long Sleeve Shirt/apron, or Arm Protection</a:t>
            </a:r>
          </a:p>
          <a:p>
            <a:r>
              <a:rPr lang="en-US" b="0" dirty="0"/>
              <a:t>High tight fitting safety shoe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B48B6-5880-4AD0-87AA-3CD2E0648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8C420-638A-4D4C-9B72-8A32B09AC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 dirty="0"/>
              <a:t>Handling of Cryogenics Substances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18707-6809-45DB-87A9-B541AB55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8" name="Picture Placeholder 7"/>
          <p:cNvPicPr preferRelativeResize="0">
            <a:picLocks noGrp="1"/>
          </p:cNvPicPr>
          <p:nvPr>
            <p:ph type="pic" sz="quarter" idx="13"/>
          </p:nvPr>
        </p:nvPicPr>
        <p:blipFill>
          <a:blip r:embed="rId2"/>
          <a:stretch>
            <a:fillRect/>
          </a:stretch>
        </p:blipFill>
        <p:spPr>
          <a:xfrm>
            <a:off x="7795780" y="2136370"/>
            <a:ext cx="3476624" cy="36633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685982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386" y="698269"/>
            <a:ext cx="5902036" cy="842703"/>
          </a:xfrm>
        </p:spPr>
        <p:txBody>
          <a:bodyPr/>
          <a:lstStyle/>
          <a:p>
            <a:r>
              <a:rPr lang="en-US" dirty="0"/>
              <a:t>First Aid Procedures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1252" y="1754332"/>
            <a:ext cx="9991725" cy="4448175"/>
          </a:xfrm>
        </p:spPr>
        <p:txBody>
          <a:bodyPr>
            <a:normAutofit lnSpcReduction="10000"/>
          </a:bodyPr>
          <a:lstStyle/>
          <a:p>
            <a:pPr marL="461963" indent="-342900"/>
            <a:r>
              <a:rPr lang="en-US" b="0" dirty="0"/>
              <a:t>Skin contact may cause frostbite and burns. Seek medical assistance </a:t>
            </a:r>
            <a:r>
              <a:rPr lang="en-US" b="0" dirty="0" smtClean="0"/>
              <a:t>immediately when </a:t>
            </a:r>
            <a:r>
              <a:rPr lang="en-US" b="0" dirty="0"/>
              <a:t>cryogens contact your </a:t>
            </a:r>
            <a:r>
              <a:rPr lang="en-US" b="0" dirty="0" smtClean="0"/>
              <a:t>skin. </a:t>
            </a:r>
            <a:r>
              <a:rPr lang="en-US" b="0" dirty="0"/>
              <a:t>Lack of prompt medical attention may result in amputation!</a:t>
            </a:r>
          </a:p>
          <a:p>
            <a:pPr marL="461963" indent="-342900"/>
            <a:r>
              <a:rPr lang="en-US" b="0" dirty="0" smtClean="0"/>
              <a:t>Immediately </a:t>
            </a:r>
            <a:r>
              <a:rPr lang="en-US" b="0" dirty="0"/>
              <a:t>upon exposure, the frozen skin appears waxy and yellow and the burn usually is not </a:t>
            </a:r>
            <a:r>
              <a:rPr lang="en-US" b="0" dirty="0" smtClean="0"/>
              <a:t>painful</a:t>
            </a:r>
          </a:p>
          <a:p>
            <a:pPr marL="461963" indent="-342900"/>
            <a:r>
              <a:rPr lang="en-US" b="0" dirty="0"/>
              <a:t>Do not rub or massage the affected parts of the </a:t>
            </a:r>
            <a:r>
              <a:rPr lang="en-US" b="0" dirty="0" smtClean="0"/>
              <a:t>body.</a:t>
            </a:r>
            <a:endParaRPr lang="en-US" b="0" dirty="0"/>
          </a:p>
          <a:p>
            <a:pPr marL="461963" indent="-342900"/>
            <a:r>
              <a:rPr lang="en-US" b="0" dirty="0" smtClean="0"/>
              <a:t>It </a:t>
            </a:r>
            <a:r>
              <a:rPr lang="en-US" b="0" dirty="0"/>
              <a:t>painfully swells and blisters while the skin </a:t>
            </a:r>
            <a:r>
              <a:rPr lang="en-US" b="0" dirty="0" smtClean="0"/>
              <a:t>defrosts</a:t>
            </a:r>
          </a:p>
          <a:p>
            <a:pPr marL="461963" indent="-342900"/>
            <a:r>
              <a:rPr lang="en-US" b="0" dirty="0"/>
              <a:t>Immerse the affected area in a warm water bath not to exceed 40 °C or exposure to warm air.</a:t>
            </a:r>
          </a:p>
          <a:p>
            <a:pPr marL="461963" indent="-342900"/>
            <a:r>
              <a:rPr lang="en-US" b="0" dirty="0" smtClean="0"/>
              <a:t>Immediately </a:t>
            </a:r>
            <a:r>
              <a:rPr lang="en-US" b="0" dirty="0"/>
              <a:t>follow these </a:t>
            </a:r>
            <a:r>
              <a:rPr lang="en-US" b="0" dirty="0" smtClean="0"/>
              <a:t>first-aid </a:t>
            </a:r>
            <a:r>
              <a:rPr lang="en-US" b="0" dirty="0"/>
              <a:t>procedures until you get medical assistance </a:t>
            </a:r>
          </a:p>
          <a:p>
            <a:pPr marL="1257300" indent="-342900">
              <a:buFont typeface="Wingdings" panose="05000000000000000000" pitchFamily="2" charset="2"/>
              <a:buChar char="§"/>
            </a:pPr>
            <a:r>
              <a:rPr lang="en-US" b="0" dirty="0"/>
              <a:t>Take the victim away from the cryogen hazard.</a:t>
            </a:r>
          </a:p>
          <a:p>
            <a:pPr marL="1257300" indent="-342900">
              <a:buFont typeface="Wingdings" panose="05000000000000000000" pitchFamily="2" charset="2"/>
              <a:buChar char="§"/>
            </a:pPr>
            <a:r>
              <a:rPr lang="en-US" b="0" dirty="0"/>
              <a:t>Any clothing that may interfere with the circulation of blood to the frozen tissues should be removed in a slow, careful manner to prevent salvageable skin from being pulled off. </a:t>
            </a:r>
            <a:endParaRPr lang="en-US" b="0" dirty="0" smtClean="0"/>
          </a:p>
          <a:p>
            <a:pPr marL="461963" indent="-342900"/>
            <a:r>
              <a:rPr lang="en-US" b="0" dirty="0" smtClean="0"/>
              <a:t>If the liquid </a:t>
            </a:r>
            <a:r>
              <a:rPr lang="en-US" b="0" dirty="0"/>
              <a:t>is splashed in the eyes, flush with water for at least </a:t>
            </a:r>
            <a:r>
              <a:rPr lang="en-US" b="0" dirty="0">
                <a:solidFill>
                  <a:srgbClr val="FF0000"/>
                </a:solidFill>
              </a:rPr>
              <a:t>15 minutes</a:t>
            </a:r>
            <a:r>
              <a:rPr lang="en-US" b="0" dirty="0"/>
              <a:t>.  Seek immediate medical attention. </a:t>
            </a:r>
          </a:p>
          <a:p>
            <a:pPr marL="576263" indent="-457200">
              <a:buFont typeface="Wingdings" panose="05000000000000000000" pitchFamily="2" charset="2"/>
              <a:buChar char="q"/>
            </a:pPr>
            <a:endParaRPr lang="en-US" b="0" dirty="0"/>
          </a:p>
          <a:p>
            <a:pPr marL="1257300" indent="-342900">
              <a:buFont typeface="Wingdings" panose="05000000000000000000" pitchFamily="2" charset="2"/>
              <a:buChar char="§"/>
            </a:pPr>
            <a:endParaRPr lang="en-US" b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 dirty="0"/>
              <a:t>Handling of Cryogenics Substances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577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626" y="1453054"/>
            <a:ext cx="11285999" cy="5162121"/>
          </a:xfrm>
        </p:spPr>
        <p:txBody>
          <a:bodyPr>
            <a:normAutofit lnSpcReduction="10000"/>
          </a:bodyPr>
          <a:lstStyle/>
          <a:p>
            <a:pPr marL="461963" indent="-342900"/>
            <a:r>
              <a:rPr lang="en-US" b="0" dirty="0"/>
              <a:t>Use only containers designed for low-temperature liquids</a:t>
            </a:r>
          </a:p>
          <a:p>
            <a:pPr marL="461963" indent="-342900"/>
            <a:r>
              <a:rPr lang="en-US" b="0" dirty="0" smtClean="0"/>
              <a:t>Use </a:t>
            </a:r>
            <a:r>
              <a:rPr lang="en-US" b="0" dirty="0"/>
              <a:t>care when filling portable </a:t>
            </a:r>
            <a:r>
              <a:rPr lang="en-US" b="0" dirty="0" smtClean="0"/>
              <a:t>dewar </a:t>
            </a:r>
            <a:r>
              <a:rPr lang="en-US" b="0" dirty="0"/>
              <a:t>and do not overfill them.</a:t>
            </a:r>
          </a:p>
          <a:p>
            <a:pPr marL="461963" indent="-342900"/>
            <a:r>
              <a:rPr lang="en-US" b="0" dirty="0" smtClean="0"/>
              <a:t>Use </a:t>
            </a:r>
            <a:r>
              <a:rPr lang="en-US" b="0" dirty="0"/>
              <a:t>only the loose-fitting </a:t>
            </a:r>
            <a:r>
              <a:rPr lang="en-US" b="0" dirty="0" smtClean="0"/>
              <a:t>neck tube </a:t>
            </a:r>
            <a:r>
              <a:rPr lang="en-US" b="0" dirty="0"/>
              <a:t>core supplied or one of the approved accessories for closing the </a:t>
            </a:r>
            <a:r>
              <a:rPr lang="en-US" b="0" dirty="0" smtClean="0"/>
              <a:t>neck tube. </a:t>
            </a:r>
            <a:endParaRPr lang="en-US" b="0" dirty="0"/>
          </a:p>
          <a:p>
            <a:pPr marL="461963" indent="-342900"/>
            <a:r>
              <a:rPr lang="en-US" dirty="0"/>
              <a:t>Do not ever cover or plug the entrance opening of any liquid nitrogen dewar. </a:t>
            </a:r>
          </a:p>
          <a:p>
            <a:pPr marL="461963" indent="-342900"/>
            <a:r>
              <a:rPr lang="en-US" dirty="0" smtClean="0"/>
              <a:t>Do </a:t>
            </a:r>
            <a:r>
              <a:rPr lang="en-US" dirty="0"/>
              <a:t>not use any stopper or other device that would interfere with </a:t>
            </a:r>
            <a:r>
              <a:rPr lang="en-US" dirty="0" smtClean="0"/>
              <a:t>the venting </a:t>
            </a:r>
            <a:r>
              <a:rPr lang="en-US" dirty="0"/>
              <a:t>of gas.</a:t>
            </a:r>
          </a:p>
          <a:p>
            <a:pPr marL="461963" indent="-342900"/>
            <a:r>
              <a:rPr lang="en-US" dirty="0" smtClean="0"/>
              <a:t>Inspect </a:t>
            </a:r>
            <a:r>
              <a:rPr lang="en-US" dirty="0"/>
              <a:t>the containers for loss of insulating vacuum. If the outside of the jacket on a container is cold or has frost spots, some vacuum has been lost. Remove the damaged unit from service. </a:t>
            </a:r>
          </a:p>
          <a:p>
            <a:pPr marL="461963" indent="-342900"/>
            <a:r>
              <a:rPr lang="en-US" dirty="0" smtClean="0"/>
              <a:t>Excessive </a:t>
            </a:r>
            <a:r>
              <a:rPr lang="en-US" dirty="0"/>
              <a:t>ice build-up (especially beneath the </a:t>
            </a:r>
            <a:r>
              <a:rPr lang="en-US" dirty="0" smtClean="0"/>
              <a:t>vaporizer </a:t>
            </a:r>
            <a:r>
              <a:rPr lang="en-US" dirty="0"/>
              <a:t>or tank) could result in the discharge of excessively cold gas, or structural damage to the cryogenic container and surroundings. </a:t>
            </a:r>
          </a:p>
          <a:p>
            <a:pPr marL="461963" indent="-342900"/>
            <a:r>
              <a:rPr lang="en-US" dirty="0" smtClean="0"/>
              <a:t>Do </a:t>
            </a:r>
            <a:r>
              <a:rPr lang="en-US" dirty="0"/>
              <a:t>not tamper with pressure relief valves or the settings for the valves.</a:t>
            </a:r>
          </a:p>
          <a:p>
            <a:pPr marL="461963" indent="-342900"/>
            <a:r>
              <a:rPr lang="en-US" dirty="0" smtClean="0"/>
              <a:t>Never </a:t>
            </a:r>
            <a:r>
              <a:rPr lang="en-US" dirty="0"/>
              <a:t>use hollow rods or tubes as </a:t>
            </a:r>
            <a:r>
              <a:rPr lang="en-US" dirty="0" smtClean="0"/>
              <a:t>dipsticks; Wooden </a:t>
            </a:r>
            <a:r>
              <a:rPr lang="en-US" dirty="0"/>
              <a:t>or solid metal dipsticks are recommended </a:t>
            </a:r>
          </a:p>
          <a:p>
            <a:pPr marL="461963" indent="-342900"/>
            <a:r>
              <a:rPr lang="en-US" dirty="0" smtClean="0"/>
              <a:t>Avoid </a:t>
            </a:r>
            <a:r>
              <a:rPr lang="en-US" dirty="0"/>
              <a:t>using plastics that may become very brittle at cryogenic temperatures </a:t>
            </a:r>
            <a:endParaRPr lang="en-US" dirty="0" smtClean="0"/>
          </a:p>
          <a:p>
            <a:pPr marL="461963" indent="-342900"/>
            <a:r>
              <a:rPr lang="en-US" dirty="0" smtClean="0"/>
              <a:t>Ensure </a:t>
            </a:r>
            <a:r>
              <a:rPr lang="en-US" dirty="0" err="1"/>
              <a:t>dewars</a:t>
            </a:r>
            <a:r>
              <a:rPr lang="en-US" dirty="0"/>
              <a:t> are properly labeled with the identity of the </a:t>
            </a:r>
            <a:r>
              <a:rPr lang="en-US" dirty="0" smtClean="0"/>
              <a:t>cryogen</a:t>
            </a:r>
          </a:p>
          <a:p>
            <a:pPr marL="461963" indent="-342900"/>
            <a:r>
              <a:rPr lang="en-US" dirty="0"/>
              <a:t>Remove metal jewelry/watches on your hands and wrists before working with cryogens. If exposed to cryogenic liquids or boil-off gases, the jewelry can freeze to the skin</a:t>
            </a:r>
          </a:p>
          <a:p>
            <a:pPr marL="461963" indent="-342900"/>
            <a:r>
              <a:rPr lang="en-US" dirty="0" smtClean="0"/>
              <a:t>Wear </a:t>
            </a:r>
            <a:r>
              <a:rPr lang="en-US" dirty="0"/>
              <a:t>a cryogen </a:t>
            </a:r>
            <a:r>
              <a:rPr lang="en-US" dirty="0" smtClean="0"/>
              <a:t>apron &amp; gloves </a:t>
            </a:r>
            <a:r>
              <a:rPr lang="en-US" dirty="0"/>
              <a:t>when working with cryogen liquids</a:t>
            </a:r>
          </a:p>
          <a:p>
            <a:pPr marL="461963" indent="-342900"/>
            <a:endParaRPr lang="en-US" dirty="0"/>
          </a:p>
          <a:p>
            <a:pPr marL="461963" indent="-342900"/>
            <a:endParaRPr lang="en-US" dirty="0" smtClean="0"/>
          </a:p>
          <a:p>
            <a:pPr marL="461963" indent="-342900"/>
            <a:endParaRPr lang="en-US" dirty="0"/>
          </a:p>
          <a:p>
            <a:pPr marL="576263" indent="-457200">
              <a:buFont typeface="Wingdings" panose="05000000000000000000" pitchFamily="2" charset="2"/>
              <a:buChar char="q"/>
            </a:pPr>
            <a:endParaRPr lang="en-US" b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 dirty="0"/>
              <a:t>Handling of Cryogenics Substances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15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4" y="745259"/>
            <a:ext cx="9894397" cy="759345"/>
          </a:xfrm>
        </p:spPr>
        <p:txBody>
          <a:bodyPr/>
          <a:lstStyle/>
          <a:p>
            <a:r>
              <a:rPr lang="en-US" dirty="0"/>
              <a:t>Safety concerning use of </a:t>
            </a:r>
            <a:r>
              <a:rPr lang="en-US" dirty="0" smtClean="0"/>
              <a:t>Dewar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594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214" y="626053"/>
            <a:ext cx="10225754" cy="662032"/>
          </a:xfrm>
        </p:spPr>
        <p:txBody>
          <a:bodyPr/>
          <a:lstStyle/>
          <a:p>
            <a:r>
              <a:rPr lang="en-US" dirty="0"/>
              <a:t>Case </a:t>
            </a:r>
            <a:r>
              <a:rPr lang="en-US" dirty="0" smtClean="0"/>
              <a:t>Study (</a:t>
            </a:r>
            <a:r>
              <a:rPr lang="en-US" dirty="0"/>
              <a:t>University of Rhode Island)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 dirty="0"/>
              <a:t>Handling of Cryogenics Substances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16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38" y="1625831"/>
            <a:ext cx="9991725" cy="44481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0" u="sng" dirty="0"/>
              <a:t>URI Researcher Loses Forearm in Laboratory Gas Explosion</a:t>
            </a:r>
          </a:p>
          <a:p>
            <a:endParaRPr lang="en-US" b="0" dirty="0"/>
          </a:p>
          <a:p>
            <a:pPr marL="0" indent="0">
              <a:buNone/>
            </a:pPr>
            <a:r>
              <a:rPr lang="en-US" b="0" dirty="0"/>
              <a:t>A University of Rhode Island research assistant lost his right arm below the elbow when expanding gas exploded. John King 36, a URI professor who was in the same laboratory at the time, was blown through a lab door by the blast but was not seriously hurt. </a:t>
            </a:r>
          </a:p>
          <a:p>
            <a:endParaRPr lang="en-US" b="0" dirty="0"/>
          </a:p>
          <a:p>
            <a:pPr marL="0" indent="0">
              <a:buNone/>
            </a:pPr>
            <a:r>
              <a:rPr lang="en-US" b="0" dirty="0"/>
              <a:t>Police said Burdett's arm was severed by a piece of flying metal. The blast occurred as Burdett was pouring nitrogen, a colorless gas that becomes a liquid when cooled to minus 196 degrees Celsius, from a large vessel into a smaller one. The pressure apparently climbed too high.</a:t>
            </a:r>
          </a:p>
          <a:p>
            <a:endParaRPr lang="en-US" b="0" dirty="0"/>
          </a:p>
          <a:p>
            <a:pPr marL="0" indent="0">
              <a:buNone/>
            </a:pPr>
            <a:r>
              <a:rPr lang="en-US" b="0" dirty="0"/>
              <a:t>The laboratory contains a mass spectrometer that uses liquid nitrogen cool objects before they are examined.</a:t>
            </a:r>
          </a:p>
        </p:txBody>
      </p:sp>
    </p:spTree>
    <p:extLst>
      <p:ext uri="{BB962C8B-B14F-4D97-AF65-F5344CB8AC3E}">
        <p14:creationId xmlns:p14="http://schemas.microsoft.com/office/powerpoint/2010/main" val="27414072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2285847"/>
      </p:ext>
    </p:extLst>
  </p:cSld>
  <p:clrMapOvr>
    <a:masterClrMapping/>
  </p:clrMapOvr>
</p:sld>
</file>

<file path=ppt/theme/theme1.xml><?xml version="1.0" encoding="utf-8"?>
<a:theme xmlns:a="http://schemas.openxmlformats.org/drawingml/2006/main" name="KU Theme">
  <a:themeElements>
    <a:clrScheme name="Khalifa">
      <a:dk1>
        <a:srgbClr val="000000"/>
      </a:dk1>
      <a:lt1>
        <a:srgbClr val="FFFFFF"/>
      </a:lt1>
      <a:dk2>
        <a:srgbClr val="0057B8"/>
      </a:dk2>
      <a:lt2>
        <a:srgbClr val="75787B"/>
      </a:lt2>
      <a:accent1>
        <a:srgbClr val="78D64B"/>
      </a:accent1>
      <a:accent2>
        <a:srgbClr val="F8485E"/>
      </a:accent2>
      <a:accent3>
        <a:srgbClr val="00A9CE"/>
      </a:accent3>
      <a:accent4>
        <a:srgbClr val="6F5091"/>
      </a:accent4>
      <a:accent5>
        <a:srgbClr val="FF8F1C"/>
      </a:accent5>
      <a:accent6>
        <a:srgbClr val="D0CECE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5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KU_presentation_template_v2018-04-09 E.potx" id="{AF960482-6B50-417C-AC38-1AFEBFC77BA4}" vid="{1F04D338-456F-4FFC-9561-BAAA645232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KU Theme</Template>
  <TotalTime>1665</TotalTime>
  <Words>1258</Words>
  <Application>Microsoft Office PowerPoint</Application>
  <PresentationFormat>Widescreen</PresentationFormat>
  <Paragraphs>179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Wingdings</vt:lpstr>
      <vt:lpstr>KU Theme</vt:lpstr>
      <vt:lpstr>Handling of Cryogenics Substances</vt:lpstr>
      <vt:lpstr>Learning Objectives</vt:lpstr>
      <vt:lpstr>Definition</vt:lpstr>
      <vt:lpstr>Characteristics</vt:lpstr>
      <vt:lpstr>Some of the Cryogenic Liquids</vt:lpstr>
      <vt:lpstr>Types of Cryogenic Liquids</vt:lpstr>
      <vt:lpstr>Uses of Liquid Nitrogen</vt:lpstr>
      <vt:lpstr>Health Hazards</vt:lpstr>
      <vt:lpstr>Health Hazard- Asphyxiation Hazard</vt:lpstr>
      <vt:lpstr>Health Hazard- Extreme Cold Hazard</vt:lpstr>
      <vt:lpstr>Health Hazard- Toxic Hazards</vt:lpstr>
      <vt:lpstr>Explosion hazard</vt:lpstr>
      <vt:lpstr>Personal Protective Equipment (PPE)</vt:lpstr>
      <vt:lpstr>First Aid Procedures</vt:lpstr>
      <vt:lpstr>Safety concerning use of Dewar</vt:lpstr>
      <vt:lpstr>Case Study (University of Rhode Island)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 Title Goes Here</dc:title>
  <dc:creator>Majed Almansoori</dc:creator>
  <cp:lastModifiedBy>Fatima Mohsen Abdulla AlFaqeeh</cp:lastModifiedBy>
  <cp:revision>49</cp:revision>
  <dcterms:created xsi:type="dcterms:W3CDTF">2018-04-29T10:48:36Z</dcterms:created>
  <dcterms:modified xsi:type="dcterms:W3CDTF">2023-01-09T05:48:51Z</dcterms:modified>
</cp:coreProperties>
</file>