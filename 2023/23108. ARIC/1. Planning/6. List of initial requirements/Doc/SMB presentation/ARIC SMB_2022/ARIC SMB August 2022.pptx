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20A5DF90" ContentType="image/p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2"/>
  </p:notesMasterIdLst>
  <p:sldIdLst>
    <p:sldId id="724" r:id="rId5"/>
    <p:sldId id="725" r:id="rId6"/>
    <p:sldId id="726" r:id="rId7"/>
    <p:sldId id="727" r:id="rId8"/>
    <p:sldId id="728" r:id="rId9"/>
    <p:sldId id="263" r:id="rId10"/>
    <p:sldId id="719" r:id="rId11"/>
    <p:sldId id="723" r:id="rId12"/>
    <p:sldId id="720" r:id="rId13"/>
    <p:sldId id="721" r:id="rId14"/>
    <p:sldId id="731" r:id="rId15"/>
    <p:sldId id="732" r:id="rId16"/>
    <p:sldId id="733" r:id="rId17"/>
    <p:sldId id="734" r:id="rId18"/>
    <p:sldId id="735" r:id="rId19"/>
    <p:sldId id="736" r:id="rId20"/>
    <p:sldId id="737" r:id="rId21"/>
    <p:sldId id="738" r:id="rId22"/>
    <p:sldId id="739" r:id="rId23"/>
    <p:sldId id="743" r:id="rId24"/>
    <p:sldId id="744" r:id="rId25"/>
    <p:sldId id="745" r:id="rId26"/>
    <p:sldId id="729" r:id="rId27"/>
    <p:sldId id="730" r:id="rId28"/>
    <p:sldId id="740" r:id="rId29"/>
    <p:sldId id="741" r:id="rId30"/>
    <p:sldId id="742" r:id="rId31"/>
  </p:sldIdLst>
  <p:sldSz cx="12192000" cy="6858000"/>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F82E18-ADBF-4723-94F1-4BAAD6105C5E}" v="10" dt="2022-05-23T15:55:53.22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116" autoAdjust="0"/>
    <p:restoredTop sz="94660"/>
  </p:normalViewPr>
  <p:slideViewPr>
    <p:cSldViewPr snapToGrid="0">
      <p:cViewPr varScale="1">
        <p:scale>
          <a:sx n="48" d="100"/>
          <a:sy n="48" d="100"/>
        </p:scale>
        <p:origin x="736" y="4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dulla Hasan Ayyad" userId="be4f4f95-00fb-45e7-a241-0e113bcacd1b" providerId="ADAL" clId="{FCF82E18-ADBF-4723-94F1-4BAAD6105C5E}"/>
    <pc:docChg chg="undo custSel addSld delSld modSld">
      <pc:chgData name="Abdulla Hasan Ayyad" userId="be4f4f95-00fb-45e7-a241-0e113bcacd1b" providerId="ADAL" clId="{FCF82E18-ADBF-4723-94F1-4BAAD6105C5E}" dt="2022-05-23T15:56:22.056" v="2973" actId="47"/>
      <pc:docMkLst>
        <pc:docMk/>
      </pc:docMkLst>
      <pc:sldChg chg="del">
        <pc:chgData name="Abdulla Hasan Ayyad" userId="be4f4f95-00fb-45e7-a241-0e113bcacd1b" providerId="ADAL" clId="{FCF82E18-ADBF-4723-94F1-4BAAD6105C5E}" dt="2022-05-23T15:47:11.959" v="2421" actId="47"/>
        <pc:sldMkLst>
          <pc:docMk/>
          <pc:sldMk cId="2616761374" sldId="291"/>
        </pc:sldMkLst>
      </pc:sldChg>
      <pc:sldChg chg="del">
        <pc:chgData name="Abdulla Hasan Ayyad" userId="be4f4f95-00fb-45e7-a241-0e113bcacd1b" providerId="ADAL" clId="{FCF82E18-ADBF-4723-94F1-4BAAD6105C5E}" dt="2022-05-23T15:47:11.959" v="2421" actId="47"/>
        <pc:sldMkLst>
          <pc:docMk/>
          <pc:sldMk cId="965673268" sldId="293"/>
        </pc:sldMkLst>
      </pc:sldChg>
      <pc:sldChg chg="del">
        <pc:chgData name="Abdulla Hasan Ayyad" userId="be4f4f95-00fb-45e7-a241-0e113bcacd1b" providerId="ADAL" clId="{FCF82E18-ADBF-4723-94F1-4BAAD6105C5E}" dt="2022-05-23T15:47:11.959" v="2421" actId="47"/>
        <pc:sldMkLst>
          <pc:docMk/>
          <pc:sldMk cId="1337665793" sldId="294"/>
        </pc:sldMkLst>
      </pc:sldChg>
      <pc:sldChg chg="del">
        <pc:chgData name="Abdulla Hasan Ayyad" userId="be4f4f95-00fb-45e7-a241-0e113bcacd1b" providerId="ADAL" clId="{FCF82E18-ADBF-4723-94F1-4BAAD6105C5E}" dt="2022-05-23T15:47:11.959" v="2421" actId="47"/>
        <pc:sldMkLst>
          <pc:docMk/>
          <pc:sldMk cId="583768391" sldId="301"/>
        </pc:sldMkLst>
      </pc:sldChg>
      <pc:sldChg chg="modSp mod">
        <pc:chgData name="Abdulla Hasan Ayyad" userId="be4f4f95-00fb-45e7-a241-0e113bcacd1b" providerId="ADAL" clId="{FCF82E18-ADBF-4723-94F1-4BAAD6105C5E}" dt="2022-05-23T15:54:27.330" v="2928" actId="20577"/>
        <pc:sldMkLst>
          <pc:docMk/>
          <pc:sldMk cId="2050355514" sldId="719"/>
        </pc:sldMkLst>
        <pc:spChg chg="mod">
          <ac:chgData name="Abdulla Hasan Ayyad" userId="be4f4f95-00fb-45e7-a241-0e113bcacd1b" providerId="ADAL" clId="{FCF82E18-ADBF-4723-94F1-4BAAD6105C5E}" dt="2022-05-23T15:16:23.760" v="46" actId="20577"/>
          <ac:spMkLst>
            <pc:docMk/>
            <pc:sldMk cId="2050355514" sldId="719"/>
            <ac:spMk id="2" creationId="{00000000-0000-0000-0000-000000000000}"/>
          </ac:spMkLst>
        </pc:spChg>
        <pc:spChg chg="mod">
          <ac:chgData name="Abdulla Hasan Ayyad" userId="be4f4f95-00fb-45e7-a241-0e113bcacd1b" providerId="ADAL" clId="{FCF82E18-ADBF-4723-94F1-4BAAD6105C5E}" dt="2022-05-23T15:54:27.330" v="2928" actId="20577"/>
          <ac:spMkLst>
            <pc:docMk/>
            <pc:sldMk cId="2050355514" sldId="719"/>
            <ac:spMk id="4" creationId="{73EAD260-0DB8-FF0F-9110-8FC2D6DA524A}"/>
          </ac:spMkLst>
        </pc:spChg>
      </pc:sldChg>
      <pc:sldChg chg="addSp modSp mod">
        <pc:chgData name="Abdulla Hasan Ayyad" userId="be4f4f95-00fb-45e7-a241-0e113bcacd1b" providerId="ADAL" clId="{FCF82E18-ADBF-4723-94F1-4BAAD6105C5E}" dt="2022-05-23T15:46:53.673" v="2420" actId="2164"/>
        <pc:sldMkLst>
          <pc:docMk/>
          <pc:sldMk cId="2570998469" sldId="720"/>
        </pc:sldMkLst>
        <pc:spChg chg="mod">
          <ac:chgData name="Abdulla Hasan Ayyad" userId="be4f4f95-00fb-45e7-a241-0e113bcacd1b" providerId="ADAL" clId="{FCF82E18-ADBF-4723-94F1-4BAAD6105C5E}" dt="2022-05-23T15:29:58.011" v="909"/>
          <ac:spMkLst>
            <pc:docMk/>
            <pc:sldMk cId="2570998469" sldId="720"/>
            <ac:spMk id="2" creationId="{00000000-0000-0000-0000-000000000000}"/>
          </ac:spMkLst>
        </pc:spChg>
        <pc:spChg chg="mod">
          <ac:chgData name="Abdulla Hasan Ayyad" userId="be4f4f95-00fb-45e7-a241-0e113bcacd1b" providerId="ADAL" clId="{FCF82E18-ADBF-4723-94F1-4BAAD6105C5E}" dt="2022-05-23T15:45:41.010" v="2377" actId="1076"/>
          <ac:spMkLst>
            <pc:docMk/>
            <pc:sldMk cId="2570998469" sldId="720"/>
            <ac:spMk id="37" creationId="{71C7A1F5-99BB-415F-B866-A652DF4D2FA5}"/>
          </ac:spMkLst>
        </pc:spChg>
        <pc:graphicFrameChg chg="add mod modGraphic">
          <ac:chgData name="Abdulla Hasan Ayyad" userId="be4f4f95-00fb-45e7-a241-0e113bcacd1b" providerId="ADAL" clId="{FCF82E18-ADBF-4723-94F1-4BAAD6105C5E}" dt="2022-05-23T15:46:53.673" v="2420" actId="2164"/>
          <ac:graphicFrameMkLst>
            <pc:docMk/>
            <pc:sldMk cId="2570998469" sldId="720"/>
            <ac:graphicFrameMk id="4" creationId="{F3D518B2-CEC0-B47B-E2AB-51B5BB54F861}"/>
          </ac:graphicFrameMkLst>
        </pc:graphicFrameChg>
      </pc:sldChg>
      <pc:sldChg chg="modSp mod">
        <pc:chgData name="Abdulla Hasan Ayyad" userId="be4f4f95-00fb-45e7-a241-0e113bcacd1b" providerId="ADAL" clId="{FCF82E18-ADBF-4723-94F1-4BAAD6105C5E}" dt="2022-05-23T15:54:04.113" v="2923" actId="14100"/>
        <pc:sldMkLst>
          <pc:docMk/>
          <pc:sldMk cId="2413348455" sldId="721"/>
        </pc:sldMkLst>
        <pc:spChg chg="mod">
          <ac:chgData name="Abdulla Hasan Ayyad" userId="be4f4f95-00fb-45e7-a241-0e113bcacd1b" providerId="ADAL" clId="{FCF82E18-ADBF-4723-94F1-4BAAD6105C5E}" dt="2022-05-23T15:47:21.236" v="2422"/>
          <ac:spMkLst>
            <pc:docMk/>
            <pc:sldMk cId="2413348455" sldId="721"/>
            <ac:spMk id="2" creationId="{00000000-0000-0000-0000-000000000000}"/>
          </ac:spMkLst>
        </pc:spChg>
        <pc:spChg chg="mod">
          <ac:chgData name="Abdulla Hasan Ayyad" userId="be4f4f95-00fb-45e7-a241-0e113bcacd1b" providerId="ADAL" clId="{FCF82E18-ADBF-4723-94F1-4BAAD6105C5E}" dt="2022-05-23T15:54:04.113" v="2923" actId="14100"/>
          <ac:spMkLst>
            <pc:docMk/>
            <pc:sldMk cId="2413348455" sldId="721"/>
            <ac:spMk id="37" creationId="{71C7A1F5-99BB-415F-B866-A652DF4D2FA5}"/>
          </ac:spMkLst>
        </pc:spChg>
      </pc:sldChg>
      <pc:sldChg chg="del">
        <pc:chgData name="Abdulla Hasan Ayyad" userId="be4f4f95-00fb-45e7-a241-0e113bcacd1b" providerId="ADAL" clId="{FCF82E18-ADBF-4723-94F1-4BAAD6105C5E}" dt="2022-05-23T15:47:11.959" v="2421" actId="47"/>
        <pc:sldMkLst>
          <pc:docMk/>
          <pc:sldMk cId="3542401612" sldId="722"/>
        </pc:sldMkLst>
      </pc:sldChg>
      <pc:sldChg chg="addSp delSp modSp add mod">
        <pc:chgData name="Abdulla Hasan Ayyad" userId="be4f4f95-00fb-45e7-a241-0e113bcacd1b" providerId="ADAL" clId="{FCF82E18-ADBF-4723-94F1-4BAAD6105C5E}" dt="2022-05-23T15:55:02.841" v="2929" actId="20577"/>
        <pc:sldMkLst>
          <pc:docMk/>
          <pc:sldMk cId="2609189799" sldId="723"/>
        </pc:sldMkLst>
        <pc:spChg chg="mod">
          <ac:chgData name="Abdulla Hasan Ayyad" userId="be4f4f95-00fb-45e7-a241-0e113bcacd1b" providerId="ADAL" clId="{FCF82E18-ADBF-4723-94F1-4BAAD6105C5E}" dt="2022-05-23T15:19:52.755" v="93" actId="1076"/>
          <ac:spMkLst>
            <pc:docMk/>
            <pc:sldMk cId="2609189799" sldId="723"/>
            <ac:spMk id="4" creationId="{73EAD260-0DB8-FF0F-9110-8FC2D6DA524A}"/>
          </ac:spMkLst>
        </pc:spChg>
        <pc:spChg chg="add mod">
          <ac:chgData name="Abdulla Hasan Ayyad" userId="be4f4f95-00fb-45e7-a241-0e113bcacd1b" providerId="ADAL" clId="{FCF82E18-ADBF-4723-94F1-4BAAD6105C5E}" dt="2022-05-23T15:23:54.804" v="307" actId="113"/>
          <ac:spMkLst>
            <pc:docMk/>
            <pc:sldMk cId="2609189799" sldId="723"/>
            <ac:spMk id="16" creationId="{ED69564C-1DCD-9ABC-CACF-D978173D9C2E}"/>
          </ac:spMkLst>
        </pc:spChg>
        <pc:spChg chg="add mod">
          <ac:chgData name="Abdulla Hasan Ayyad" userId="be4f4f95-00fb-45e7-a241-0e113bcacd1b" providerId="ADAL" clId="{FCF82E18-ADBF-4723-94F1-4BAAD6105C5E}" dt="2022-05-23T15:55:02.841" v="2929" actId="20577"/>
          <ac:spMkLst>
            <pc:docMk/>
            <pc:sldMk cId="2609189799" sldId="723"/>
            <ac:spMk id="25" creationId="{8792E77E-865B-C1BA-AD8F-B22F52F2D062}"/>
          </ac:spMkLst>
        </pc:spChg>
        <pc:spChg chg="add mod">
          <ac:chgData name="Abdulla Hasan Ayyad" userId="be4f4f95-00fb-45e7-a241-0e113bcacd1b" providerId="ADAL" clId="{FCF82E18-ADBF-4723-94F1-4BAAD6105C5E}" dt="2022-05-23T15:29:42.783" v="908" actId="5793"/>
          <ac:spMkLst>
            <pc:docMk/>
            <pc:sldMk cId="2609189799" sldId="723"/>
            <ac:spMk id="28" creationId="{793126A8-FCE6-953F-BA9C-2F554115E9DB}"/>
          </ac:spMkLst>
        </pc:spChg>
        <pc:cxnChg chg="add mod">
          <ac:chgData name="Abdulla Hasan Ayyad" userId="be4f4f95-00fb-45e7-a241-0e113bcacd1b" providerId="ADAL" clId="{FCF82E18-ADBF-4723-94F1-4BAAD6105C5E}" dt="2022-05-23T15:22:15.625" v="193" actId="14100"/>
          <ac:cxnSpMkLst>
            <pc:docMk/>
            <pc:sldMk cId="2609189799" sldId="723"/>
            <ac:cxnSpMk id="6" creationId="{AD0FAC81-E46B-9D4F-1E0B-773069A3C1CD}"/>
          </ac:cxnSpMkLst>
        </pc:cxnChg>
        <pc:cxnChg chg="add mod">
          <ac:chgData name="Abdulla Hasan Ayyad" userId="be4f4f95-00fb-45e7-a241-0e113bcacd1b" providerId="ADAL" clId="{FCF82E18-ADBF-4723-94F1-4BAAD6105C5E}" dt="2022-05-23T15:24:28.570" v="340" actId="1037"/>
          <ac:cxnSpMkLst>
            <pc:docMk/>
            <pc:sldMk cId="2609189799" sldId="723"/>
            <ac:cxnSpMk id="12" creationId="{9E1DFAF6-8CD6-0260-7FCD-F5AB11D0B532}"/>
          </ac:cxnSpMkLst>
        </pc:cxnChg>
        <pc:cxnChg chg="add del mod">
          <ac:chgData name="Abdulla Hasan Ayyad" userId="be4f4f95-00fb-45e7-a241-0e113bcacd1b" providerId="ADAL" clId="{FCF82E18-ADBF-4723-94F1-4BAAD6105C5E}" dt="2022-05-23T15:19:30.261" v="88" actId="478"/>
          <ac:cxnSpMkLst>
            <pc:docMk/>
            <pc:sldMk cId="2609189799" sldId="723"/>
            <ac:cxnSpMk id="15" creationId="{DA1AD46E-8433-D798-3571-2E27F55E805E}"/>
          </ac:cxnSpMkLst>
        </pc:cxnChg>
        <pc:cxnChg chg="add mod">
          <ac:chgData name="Abdulla Hasan Ayyad" userId="be4f4f95-00fb-45e7-a241-0e113bcacd1b" providerId="ADAL" clId="{FCF82E18-ADBF-4723-94F1-4BAAD6105C5E}" dt="2022-05-23T15:26:10.927" v="647" actId="1076"/>
          <ac:cxnSpMkLst>
            <pc:docMk/>
            <pc:sldMk cId="2609189799" sldId="723"/>
            <ac:cxnSpMk id="20" creationId="{D074EE46-9EFA-F664-35A2-90CDF05F2645}"/>
          </ac:cxnSpMkLst>
        </pc:cxnChg>
      </pc:sldChg>
      <pc:sldChg chg="modSp add del mod">
        <pc:chgData name="Abdulla Hasan Ayyad" userId="be4f4f95-00fb-45e7-a241-0e113bcacd1b" providerId="ADAL" clId="{FCF82E18-ADBF-4723-94F1-4BAAD6105C5E}" dt="2022-05-23T15:56:22.056" v="2973" actId="47"/>
        <pc:sldMkLst>
          <pc:docMk/>
          <pc:sldMk cId="371342689" sldId="724"/>
        </pc:sldMkLst>
        <pc:spChg chg="mod">
          <ac:chgData name="Abdulla Hasan Ayyad" userId="be4f4f95-00fb-45e7-a241-0e113bcacd1b" providerId="ADAL" clId="{FCF82E18-ADBF-4723-94F1-4BAAD6105C5E}" dt="2022-05-23T15:56:07.319" v="2962" actId="20577"/>
          <ac:spMkLst>
            <pc:docMk/>
            <pc:sldMk cId="371342689" sldId="724"/>
            <ac:spMk id="37" creationId="{71C7A1F5-99BB-415F-B866-A652DF4D2FA5}"/>
          </ac:spMkLst>
        </pc:spChg>
        <pc:graphicFrameChg chg="modGraphic">
          <ac:chgData name="Abdulla Hasan Ayyad" userId="be4f4f95-00fb-45e7-a241-0e113bcacd1b" providerId="ADAL" clId="{FCF82E18-ADBF-4723-94F1-4BAAD6105C5E}" dt="2022-05-23T15:56:19.064" v="2972" actId="20577"/>
          <ac:graphicFrameMkLst>
            <pc:docMk/>
            <pc:sldMk cId="371342689" sldId="724"/>
            <ac:graphicFrameMk id="4" creationId="{F3D518B2-CEC0-B47B-E2AB-51B5BB54F861}"/>
          </ac:graphicFrameMkLst>
        </pc:graphicFrameChg>
      </pc:sldChg>
      <pc:sldMasterChg chg="delSldLayout">
        <pc:chgData name="Abdulla Hasan Ayyad" userId="be4f4f95-00fb-45e7-a241-0e113bcacd1b" providerId="ADAL" clId="{FCF82E18-ADBF-4723-94F1-4BAAD6105C5E}" dt="2022-05-23T15:47:11.959" v="2421" actId="47"/>
        <pc:sldMasterMkLst>
          <pc:docMk/>
          <pc:sldMasterMk cId="2583707590" sldId="2147483648"/>
        </pc:sldMasterMkLst>
        <pc:sldLayoutChg chg="del">
          <pc:chgData name="Abdulla Hasan Ayyad" userId="be4f4f95-00fb-45e7-a241-0e113bcacd1b" providerId="ADAL" clId="{FCF82E18-ADBF-4723-94F1-4BAAD6105C5E}" dt="2022-05-23T15:47:11.959" v="2421" actId="47"/>
          <pc:sldLayoutMkLst>
            <pc:docMk/>
            <pc:sldMasterMk cId="2583707590" sldId="2147483648"/>
            <pc:sldLayoutMk cId="4045963227" sldId="214748366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D155374F-018B-480B-A25B-0821E5C0F765}" type="datetimeFigureOut">
              <a:rPr lang="en-US" smtClean="0"/>
              <a:t>11/23/2022</a:t>
            </a:fld>
            <a:endParaRPr lang="en-US"/>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FC86D618-D884-403E-B873-1F6B8EC7BA17}" type="slidenum">
              <a:rPr lang="en-US" smtClean="0"/>
              <a:t>‹#›</a:t>
            </a:fld>
            <a:endParaRPr lang="en-US"/>
          </a:p>
        </p:txBody>
      </p:sp>
    </p:spTree>
    <p:extLst>
      <p:ext uri="{BB962C8B-B14F-4D97-AF65-F5344CB8AC3E}">
        <p14:creationId xmlns:p14="http://schemas.microsoft.com/office/powerpoint/2010/main" val="11674279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42488AF-BDF9-FB4C-B99F-5A8F8776AE53}" type="slidenum">
              <a:rPr lang="en-US" smtClean="0"/>
              <a:t>7</a:t>
            </a:fld>
            <a:endParaRPr lang="en-US" dirty="0"/>
          </a:p>
        </p:txBody>
      </p:sp>
    </p:spTree>
    <p:extLst>
      <p:ext uri="{BB962C8B-B14F-4D97-AF65-F5344CB8AC3E}">
        <p14:creationId xmlns:p14="http://schemas.microsoft.com/office/powerpoint/2010/main" val="39085376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42488AF-BDF9-FB4C-B99F-5A8F8776AE53}" type="slidenum">
              <a:rPr lang="en-US" smtClean="0"/>
              <a:t>8</a:t>
            </a:fld>
            <a:endParaRPr lang="en-US" dirty="0"/>
          </a:p>
        </p:txBody>
      </p:sp>
    </p:spTree>
    <p:extLst>
      <p:ext uri="{BB962C8B-B14F-4D97-AF65-F5344CB8AC3E}">
        <p14:creationId xmlns:p14="http://schemas.microsoft.com/office/powerpoint/2010/main" val="25045784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42488AF-BDF9-FB4C-B99F-5A8F8776AE53}" type="slidenum">
              <a:rPr lang="en-US" smtClean="0"/>
              <a:t>9</a:t>
            </a:fld>
            <a:endParaRPr lang="en-US" dirty="0"/>
          </a:p>
        </p:txBody>
      </p:sp>
    </p:spTree>
    <p:extLst>
      <p:ext uri="{BB962C8B-B14F-4D97-AF65-F5344CB8AC3E}">
        <p14:creationId xmlns:p14="http://schemas.microsoft.com/office/powerpoint/2010/main" val="7284680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42488AF-BDF9-FB4C-B99F-5A8F8776AE53}" type="slidenum">
              <a:rPr lang="en-US" smtClean="0"/>
              <a:t>10</a:t>
            </a:fld>
            <a:endParaRPr lang="en-US" dirty="0"/>
          </a:p>
        </p:txBody>
      </p:sp>
    </p:spTree>
    <p:extLst>
      <p:ext uri="{BB962C8B-B14F-4D97-AF65-F5344CB8AC3E}">
        <p14:creationId xmlns:p14="http://schemas.microsoft.com/office/powerpoint/2010/main" val="39139155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435F3DA-8CC8-46FC-A7E0-878C49A1B363}" type="datetimeFigureOut">
              <a:rPr lang="en-US" smtClean="0"/>
              <a:t>11/23/2022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8B4205-DB96-4AA5-A72A-9CE8F4196F42}" type="slidenum">
              <a:rPr lang="en-US" smtClean="0"/>
              <a:t>‹#›</a:t>
            </a:fld>
            <a:endParaRPr lang="en-US"/>
          </a:p>
        </p:txBody>
      </p:sp>
    </p:spTree>
    <p:extLst>
      <p:ext uri="{BB962C8B-B14F-4D97-AF65-F5344CB8AC3E}">
        <p14:creationId xmlns:p14="http://schemas.microsoft.com/office/powerpoint/2010/main" val="15411038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435F3DA-8CC8-46FC-A7E0-878C49A1B363}" type="datetimeFigureOut">
              <a:rPr lang="en-US" smtClean="0"/>
              <a:t>11/23/2022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8B4205-DB96-4AA5-A72A-9CE8F4196F42}" type="slidenum">
              <a:rPr lang="en-US" smtClean="0"/>
              <a:t>‹#›</a:t>
            </a:fld>
            <a:endParaRPr lang="en-US"/>
          </a:p>
        </p:txBody>
      </p:sp>
    </p:spTree>
    <p:extLst>
      <p:ext uri="{BB962C8B-B14F-4D97-AF65-F5344CB8AC3E}">
        <p14:creationId xmlns:p14="http://schemas.microsoft.com/office/powerpoint/2010/main" val="26850456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435F3DA-8CC8-46FC-A7E0-878C49A1B363}" type="datetimeFigureOut">
              <a:rPr lang="en-US" smtClean="0"/>
              <a:t>11/23/2022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8B4205-DB96-4AA5-A72A-9CE8F4196F42}" type="slidenum">
              <a:rPr lang="en-US" smtClean="0"/>
              <a:t>‹#›</a:t>
            </a:fld>
            <a:endParaRPr lang="en-US"/>
          </a:p>
        </p:txBody>
      </p:sp>
    </p:spTree>
    <p:extLst>
      <p:ext uri="{BB962C8B-B14F-4D97-AF65-F5344CB8AC3E}">
        <p14:creationId xmlns:p14="http://schemas.microsoft.com/office/powerpoint/2010/main" val="24838743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435F3DA-8CC8-46FC-A7E0-878C49A1B363}" type="datetimeFigureOut">
              <a:rPr lang="en-US" smtClean="0"/>
              <a:t>11/23/2022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8B4205-DB96-4AA5-A72A-9CE8F4196F42}" type="slidenum">
              <a:rPr lang="en-US" smtClean="0"/>
              <a:t>‹#›</a:t>
            </a:fld>
            <a:endParaRPr lang="en-US"/>
          </a:p>
        </p:txBody>
      </p:sp>
    </p:spTree>
    <p:extLst>
      <p:ext uri="{BB962C8B-B14F-4D97-AF65-F5344CB8AC3E}">
        <p14:creationId xmlns:p14="http://schemas.microsoft.com/office/powerpoint/2010/main" val="40008184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435F3DA-8CC8-46FC-A7E0-878C49A1B363}" type="datetimeFigureOut">
              <a:rPr lang="en-US" smtClean="0"/>
              <a:t>11/23/2022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08B4205-DB96-4AA5-A72A-9CE8F4196F42}" type="slidenum">
              <a:rPr lang="en-US" smtClean="0"/>
              <a:t>‹#›</a:t>
            </a:fld>
            <a:endParaRPr lang="en-US"/>
          </a:p>
        </p:txBody>
      </p:sp>
    </p:spTree>
    <p:extLst>
      <p:ext uri="{BB962C8B-B14F-4D97-AF65-F5344CB8AC3E}">
        <p14:creationId xmlns:p14="http://schemas.microsoft.com/office/powerpoint/2010/main" val="12630233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435F3DA-8CC8-46FC-A7E0-878C49A1B363}" type="datetimeFigureOut">
              <a:rPr lang="en-US" smtClean="0"/>
              <a:t>11/23/2022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08B4205-DB96-4AA5-A72A-9CE8F4196F42}" type="slidenum">
              <a:rPr lang="en-US" smtClean="0"/>
              <a:t>‹#›</a:t>
            </a:fld>
            <a:endParaRPr lang="en-US"/>
          </a:p>
        </p:txBody>
      </p:sp>
    </p:spTree>
    <p:extLst>
      <p:ext uri="{BB962C8B-B14F-4D97-AF65-F5344CB8AC3E}">
        <p14:creationId xmlns:p14="http://schemas.microsoft.com/office/powerpoint/2010/main" val="36871979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435F3DA-8CC8-46FC-A7E0-878C49A1B363}" type="datetimeFigureOut">
              <a:rPr lang="en-US" smtClean="0"/>
              <a:t>11/23/2022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08B4205-DB96-4AA5-A72A-9CE8F4196F42}" type="slidenum">
              <a:rPr lang="en-US" smtClean="0"/>
              <a:t>‹#›</a:t>
            </a:fld>
            <a:endParaRPr lang="en-US"/>
          </a:p>
        </p:txBody>
      </p:sp>
    </p:spTree>
    <p:extLst>
      <p:ext uri="{BB962C8B-B14F-4D97-AF65-F5344CB8AC3E}">
        <p14:creationId xmlns:p14="http://schemas.microsoft.com/office/powerpoint/2010/main" val="37392134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435F3DA-8CC8-46FC-A7E0-878C49A1B363}" type="datetimeFigureOut">
              <a:rPr lang="en-US" smtClean="0"/>
              <a:t>11/23/2022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8B4205-DB96-4AA5-A72A-9CE8F4196F42}" type="slidenum">
              <a:rPr lang="en-US" smtClean="0"/>
              <a:t>‹#›</a:t>
            </a:fld>
            <a:endParaRPr lang="en-US"/>
          </a:p>
        </p:txBody>
      </p:sp>
    </p:spTree>
    <p:extLst>
      <p:ext uri="{BB962C8B-B14F-4D97-AF65-F5344CB8AC3E}">
        <p14:creationId xmlns:p14="http://schemas.microsoft.com/office/powerpoint/2010/main" val="2926983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435F3DA-8CC8-46FC-A7E0-878C49A1B363}" type="datetimeFigureOut">
              <a:rPr lang="en-US" smtClean="0"/>
              <a:t>11/23/2022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8B4205-DB96-4AA5-A72A-9CE8F4196F42}" type="slidenum">
              <a:rPr lang="en-US" smtClean="0"/>
              <a:t>‹#›</a:t>
            </a:fld>
            <a:endParaRPr lang="en-US"/>
          </a:p>
        </p:txBody>
      </p:sp>
    </p:spTree>
    <p:extLst>
      <p:ext uri="{BB962C8B-B14F-4D97-AF65-F5344CB8AC3E}">
        <p14:creationId xmlns:p14="http://schemas.microsoft.com/office/powerpoint/2010/main" val="40723335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435F3DA-8CC8-46FC-A7E0-878C49A1B363}" type="datetimeFigureOut">
              <a:rPr lang="en-US" smtClean="0"/>
              <a:t>11/23/2022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8B4205-DB96-4AA5-A72A-9CE8F4196F42}" type="slidenum">
              <a:rPr lang="en-US" smtClean="0"/>
              <a:t>‹#›</a:t>
            </a:fld>
            <a:endParaRPr lang="en-US"/>
          </a:p>
        </p:txBody>
      </p:sp>
    </p:spTree>
    <p:extLst>
      <p:ext uri="{BB962C8B-B14F-4D97-AF65-F5344CB8AC3E}">
        <p14:creationId xmlns:p14="http://schemas.microsoft.com/office/powerpoint/2010/main" val="31479100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435F3DA-8CC8-46FC-A7E0-878C49A1B363}" type="datetimeFigureOut">
              <a:rPr lang="en-US" smtClean="0"/>
              <a:t>11/23/2022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8B4205-DB96-4AA5-A72A-9CE8F4196F42}" type="slidenum">
              <a:rPr lang="en-US" smtClean="0"/>
              <a:t>‹#›</a:t>
            </a:fld>
            <a:endParaRPr lang="en-US"/>
          </a:p>
        </p:txBody>
      </p:sp>
    </p:spTree>
    <p:extLst>
      <p:ext uri="{BB962C8B-B14F-4D97-AF65-F5344CB8AC3E}">
        <p14:creationId xmlns:p14="http://schemas.microsoft.com/office/powerpoint/2010/main" val="22364313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5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0499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Title Slide Nega">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ED11D-86B6-41D9-804F-B21E465E6E73}"/>
              </a:ext>
            </a:extLst>
          </p:cNvPr>
          <p:cNvSpPr>
            <a:spLocks noGrp="1"/>
          </p:cNvSpPr>
          <p:nvPr>
            <p:ph type="ctrTitle"/>
          </p:nvPr>
        </p:nvSpPr>
        <p:spPr>
          <a:xfrm>
            <a:off x="1524000" y="2676525"/>
            <a:ext cx="9144000" cy="1714500"/>
          </a:xfrm>
        </p:spPr>
        <p:txBody>
          <a:bodyPr anchor="b"/>
          <a:lstStyle>
            <a:lvl1pPr algn="ctr">
              <a:defRPr sz="6000" spc="0" baseline="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FB4DCADE-2A34-4B9D-9987-0330895D737E}"/>
              </a:ext>
            </a:extLst>
          </p:cNvPr>
          <p:cNvSpPr>
            <a:spLocks noGrp="1"/>
          </p:cNvSpPr>
          <p:nvPr>
            <p:ph type="subTitle" idx="1"/>
          </p:nvPr>
        </p:nvSpPr>
        <p:spPr>
          <a:xfrm>
            <a:off x="1524000" y="4429125"/>
            <a:ext cx="9144000" cy="1247775"/>
          </a:xfrm>
        </p:spPr>
        <p:txBody>
          <a:bodyPr>
            <a:normAutofit/>
          </a:bodyPr>
          <a:lstStyle>
            <a:lvl1pPr marL="0" indent="0" algn="ctr">
              <a:lnSpc>
                <a:spcPct val="80000"/>
              </a:lnSpc>
              <a:spcBef>
                <a:spcPts val="0"/>
              </a:spcBef>
              <a:buNone/>
              <a:defRPr sz="38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ext Placeholder 11">
            <a:extLst>
              <a:ext uri="{FF2B5EF4-FFF2-40B4-BE49-F238E27FC236}">
                <a16:creationId xmlns:a16="http://schemas.microsoft.com/office/drawing/2014/main" id="{45D87C84-1993-43C1-A570-C771C220FB5D}"/>
              </a:ext>
            </a:extLst>
          </p:cNvPr>
          <p:cNvSpPr>
            <a:spLocks noGrp="1"/>
          </p:cNvSpPr>
          <p:nvPr>
            <p:ph type="body" sz="quarter" idx="10"/>
          </p:nvPr>
        </p:nvSpPr>
        <p:spPr>
          <a:xfrm>
            <a:off x="3714750" y="6162674"/>
            <a:ext cx="4772025" cy="314325"/>
          </a:xfrm>
        </p:spPr>
        <p:txBody>
          <a:bodyPr>
            <a:normAutofit/>
          </a:bodyPr>
          <a:lstStyle>
            <a:lvl1pPr marL="0" indent="0" algn="ctr">
              <a:buNone/>
              <a:defRPr sz="1350" cap="all" baseline="0">
                <a:solidFill>
                  <a:schemeClr val="bg2"/>
                </a:solidFill>
              </a:defRPr>
            </a:lvl1pPr>
            <a:lvl2pPr algn="ctr">
              <a:defRPr/>
            </a:lvl2pPr>
            <a:lvl3pPr algn="ctr">
              <a:defRPr/>
            </a:lvl3pPr>
            <a:lvl4pPr algn="ctr">
              <a:defRPr/>
            </a:lvl4pPr>
            <a:lvl5pPr algn="ctr">
              <a:defRPr/>
            </a:lvl5pPr>
          </a:lstStyle>
          <a:p>
            <a:pPr lvl="0"/>
            <a:r>
              <a:rPr lang="en-US"/>
              <a:t>Edit Master text styles</a:t>
            </a:r>
          </a:p>
        </p:txBody>
      </p:sp>
      <p:cxnSp>
        <p:nvCxnSpPr>
          <p:cNvPr id="14" name="Straight Connector 13">
            <a:extLst>
              <a:ext uri="{FF2B5EF4-FFF2-40B4-BE49-F238E27FC236}">
                <a16:creationId xmlns:a16="http://schemas.microsoft.com/office/drawing/2014/main" id="{BB5B0621-5201-4B3C-B3F3-03D9DDA06A71}"/>
              </a:ext>
            </a:extLst>
          </p:cNvPr>
          <p:cNvCxnSpPr/>
          <p:nvPr userDrawn="1"/>
        </p:nvCxnSpPr>
        <p:spPr>
          <a:xfrm>
            <a:off x="5181600" y="2752725"/>
            <a:ext cx="180975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27211BEC-8A05-5048-8010-DA55CE46723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4824" y="654528"/>
            <a:ext cx="3540072" cy="774496"/>
          </a:xfrm>
          <a:prstGeom prst="rect">
            <a:avLst/>
          </a:prstGeom>
        </p:spPr>
      </p:pic>
    </p:spTree>
    <p:extLst>
      <p:ext uri="{BB962C8B-B14F-4D97-AF65-F5344CB8AC3E}">
        <p14:creationId xmlns:p14="http://schemas.microsoft.com/office/powerpoint/2010/main" val="11261066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C5EF6-6786-4ED3-B643-2BCA247B6B43}"/>
              </a:ext>
            </a:extLst>
          </p:cNvPr>
          <p:cNvSpPr>
            <a:spLocks noGrp="1"/>
          </p:cNvSpPr>
          <p:nvPr>
            <p:ph type="title"/>
          </p:nvPr>
        </p:nvSpPr>
        <p:spPr>
          <a:xfrm>
            <a:off x="1362075" y="542925"/>
            <a:ext cx="4181476" cy="1114425"/>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42CB3A0E-D963-4BA4-863C-413B32E51AE7}"/>
              </a:ext>
            </a:extLst>
          </p:cNvPr>
          <p:cNvSpPr>
            <a:spLocks noGrp="1"/>
          </p:cNvSpPr>
          <p:nvPr>
            <p:ph idx="1"/>
          </p:nvPr>
        </p:nvSpPr>
        <p:spPr>
          <a:xfrm>
            <a:off x="1362075" y="1866900"/>
            <a:ext cx="4181476" cy="44481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p:txBody>
          <a:bodyPr/>
          <a:lstStyle/>
          <a:p>
            <a:r>
              <a:rPr lang="en-US" smtClean="0"/>
              <a:t>DD Month 20XX</a:t>
            </a:r>
            <a:endParaRPr lang="en-US"/>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p:txBody>
          <a:bodyPr/>
          <a:lstStyle/>
          <a:p>
            <a:r>
              <a:rPr lang="en-US"/>
              <a:t>Presentation Title Goes Here</a:t>
            </a:r>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p:txBody>
          <a:bodyPr/>
          <a:lstStyle/>
          <a:p>
            <a:fld id="{1E68DD1B-5CD8-424B-8173-19E182143E0A}" type="slidenum">
              <a:rPr lang="en-US" smtClean="0"/>
              <a:t>‹#›</a:t>
            </a:fld>
            <a:endParaRPr lang="en-US"/>
          </a:p>
        </p:txBody>
      </p:sp>
      <p:sp>
        <p:nvSpPr>
          <p:cNvPr id="9" name="Picture Placeholder 8">
            <a:extLst>
              <a:ext uri="{FF2B5EF4-FFF2-40B4-BE49-F238E27FC236}">
                <a16:creationId xmlns:a16="http://schemas.microsoft.com/office/drawing/2014/main" id="{A46E416A-BFDB-410E-9AC9-671259E5DAFB}"/>
              </a:ext>
            </a:extLst>
          </p:cNvPr>
          <p:cNvSpPr>
            <a:spLocks noGrp="1"/>
          </p:cNvSpPr>
          <p:nvPr>
            <p:ph type="pic" sz="quarter" idx="13"/>
          </p:nvPr>
        </p:nvSpPr>
        <p:spPr>
          <a:xfrm>
            <a:off x="6162675" y="771525"/>
            <a:ext cx="5638800" cy="5534025"/>
          </a:xfrm>
          <a:solidFill>
            <a:schemeClr val="bg1">
              <a:lumMod val="85000"/>
            </a:schemeClr>
          </a:solidFill>
        </p:spPr>
        <p:txBody>
          <a:bodyPr/>
          <a:lstStyle>
            <a:lvl1pPr marL="0" indent="0">
              <a:buNone/>
              <a:defRPr/>
            </a:lvl1pPr>
          </a:lstStyle>
          <a:p>
            <a:r>
              <a:rPr lang="en-US"/>
              <a:t>Click icon to add picture</a:t>
            </a:r>
          </a:p>
        </p:txBody>
      </p:sp>
      <p:sp>
        <p:nvSpPr>
          <p:cNvPr id="11" name="TextBox 10">
            <a:extLst>
              <a:ext uri="{FF2B5EF4-FFF2-40B4-BE49-F238E27FC236}">
                <a16:creationId xmlns:a16="http://schemas.microsoft.com/office/drawing/2014/main" id="{27C296D0-EF25-4659-9A29-DE874EE0BD57}"/>
              </a:ext>
            </a:extLst>
          </p:cNvPr>
          <p:cNvSpPr txBox="1"/>
          <p:nvPr userDrawn="1"/>
        </p:nvSpPr>
        <p:spPr>
          <a:xfrm>
            <a:off x="10410824" y="203200"/>
            <a:ext cx="962025" cy="244475"/>
          </a:xfrm>
          <a:prstGeom prst="rect">
            <a:avLst/>
          </a:prstGeom>
          <a:noFill/>
        </p:spPr>
        <p:txBody>
          <a:bodyPr wrap="square" lIns="0" tIns="0" rIns="0" bIns="0" rtlCol="0" anchor="ctr" anchorCtr="0">
            <a:noAutofit/>
          </a:bodyPr>
          <a:lstStyle/>
          <a:p>
            <a:pPr algn="r"/>
            <a:r>
              <a:rPr lang="fi-FI" sz="850">
                <a:solidFill>
                  <a:schemeClr val="bg2"/>
                </a:solidFill>
              </a:rPr>
              <a:t>ku.ac.ae</a:t>
            </a:r>
            <a:endParaRPr lang="en-US" sz="850">
              <a:solidFill>
                <a:schemeClr val="bg2"/>
              </a:solidFill>
            </a:endParaRPr>
          </a:p>
        </p:txBody>
      </p:sp>
      <p:pic>
        <p:nvPicPr>
          <p:cNvPr id="12" name="Picture 11">
            <a:extLst>
              <a:ext uri="{FF2B5EF4-FFF2-40B4-BE49-F238E27FC236}">
                <a16:creationId xmlns:a16="http://schemas.microsoft.com/office/drawing/2014/main" id="{872D0369-8EEE-446D-A24C-9E71B18567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3665" y="236124"/>
            <a:ext cx="1811848" cy="185303"/>
          </a:xfrm>
          <a:prstGeom prst="rect">
            <a:avLst/>
          </a:prstGeom>
        </p:spPr>
      </p:pic>
      <p:cxnSp>
        <p:nvCxnSpPr>
          <p:cNvPr id="13" name="Straight Connector 12">
            <a:extLst>
              <a:ext uri="{FF2B5EF4-FFF2-40B4-BE49-F238E27FC236}">
                <a16:creationId xmlns:a16="http://schemas.microsoft.com/office/drawing/2014/main" id="{BDF66C09-963E-47DD-8166-11F0934BF635}"/>
              </a:ext>
            </a:extLst>
          </p:cNvPr>
          <p:cNvCxnSpPr/>
          <p:nvPr userDrawn="1"/>
        </p:nvCxnSpPr>
        <p:spPr>
          <a:xfrm>
            <a:off x="383665" y="533400"/>
            <a:ext cx="11465435"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4684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35F3DA-8CC8-46FC-A7E0-878C49A1B363}" type="datetimeFigureOut">
              <a:rPr lang="en-US" smtClean="0"/>
              <a:t>11/23/2022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8B4205-DB96-4AA5-A72A-9CE8F4196F42}" type="slidenum">
              <a:rPr lang="en-US" smtClean="0"/>
              <a:t>‹#›</a:t>
            </a:fld>
            <a:endParaRPr lang="en-US"/>
          </a:p>
        </p:txBody>
      </p:sp>
    </p:spTree>
    <p:extLst>
      <p:ext uri="{BB962C8B-B14F-4D97-AF65-F5344CB8AC3E}">
        <p14:creationId xmlns:p14="http://schemas.microsoft.com/office/powerpoint/2010/main" val="25837075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2" r:id="rId12"/>
    <p:sldLayoutId id="2147483663" r:id="rId13"/>
    <p:sldLayoutId id="2147483664"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20A5DF90"/><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1880496-93E6-5D29-F4C5-E198D2C09FEF}"/>
              </a:ext>
            </a:extLst>
          </p:cNvPr>
          <p:cNvPicPr>
            <a:picLocks noChangeAspect="1"/>
          </p:cNvPicPr>
          <p:nvPr/>
        </p:nvPicPr>
        <p:blipFill>
          <a:blip r:embed="rId2"/>
          <a:stretch/>
        </p:blipFill>
        <p:spPr>
          <a:xfrm>
            <a:off x="697892" y="300008"/>
            <a:ext cx="2713512" cy="2204116"/>
          </a:xfrm>
          <a:prstGeom prst="rect">
            <a:avLst/>
          </a:prstGeom>
        </p:spPr>
      </p:pic>
      <p:sp>
        <p:nvSpPr>
          <p:cNvPr id="3" name="Rectangle 2"/>
          <p:cNvSpPr/>
          <p:nvPr/>
        </p:nvSpPr>
        <p:spPr>
          <a:xfrm>
            <a:off x="3910391" y="3456770"/>
            <a:ext cx="4325030" cy="584775"/>
          </a:xfrm>
          <a:prstGeom prst="rect">
            <a:avLst/>
          </a:prstGeom>
        </p:spPr>
        <p:txBody>
          <a:bodyPr wrap="none">
            <a:spAutoFit/>
          </a:bodyPr>
          <a:lstStyle/>
          <a:p>
            <a:r>
              <a:rPr lang="en-US" sz="3200" dirty="0" smtClean="0">
                <a:latin typeface="Times New Roman" panose="02020603050405020304" pitchFamily="18" charset="0"/>
                <a:cs typeface="Times New Roman" panose="02020603050405020304" pitchFamily="18" charset="0"/>
              </a:rPr>
              <a:t>ARIC SMB August 2022</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75284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82254" y="1785541"/>
            <a:ext cx="8635999" cy="3785652"/>
          </a:xfrm>
          <a:prstGeom prst="rect">
            <a:avLst/>
          </a:prstGeom>
        </p:spPr>
        <p:txBody>
          <a:bodyPr wrap="square">
            <a:spAutoFit/>
          </a:bodyPr>
          <a:lstStyle/>
          <a:p>
            <a:pPr>
              <a:buFont typeface="+mj-lt"/>
              <a:buAutoNum type="arabicPeriod"/>
            </a:pPr>
            <a:r>
              <a:rPr lang="en-US" sz="2000" dirty="0" smtClean="0">
                <a:solidFill>
                  <a:srgbClr val="212121"/>
                </a:solidFill>
                <a:latin typeface="Times New Roman" panose="02020603050405020304" pitchFamily="18" charset="0"/>
                <a:cs typeface="Times New Roman" panose="02020603050405020304" pitchFamily="18" charset="0"/>
              </a:rPr>
              <a:t> Minutes and actions of </a:t>
            </a:r>
            <a:r>
              <a:rPr lang="en-US" sz="2000" dirty="0">
                <a:solidFill>
                  <a:srgbClr val="212121"/>
                </a:solidFill>
                <a:latin typeface="Times New Roman" panose="02020603050405020304" pitchFamily="18" charset="0"/>
                <a:cs typeface="Times New Roman" panose="02020603050405020304" pitchFamily="18" charset="0"/>
              </a:rPr>
              <a:t>the SMB held on 15th of April 2022</a:t>
            </a:r>
          </a:p>
          <a:p>
            <a:pPr>
              <a:buFont typeface="+mj-lt"/>
              <a:buAutoNum type="arabicPeriod"/>
            </a:pPr>
            <a:r>
              <a:rPr lang="en-US" sz="2000" dirty="0" smtClean="0">
                <a:solidFill>
                  <a:srgbClr val="212121"/>
                </a:solidFill>
                <a:latin typeface="Times New Roman" panose="02020603050405020304" pitchFamily="18" charset="0"/>
                <a:cs typeface="Times New Roman" panose="02020603050405020304" pitchFamily="18" charset="0"/>
              </a:rPr>
              <a:t> Draft </a:t>
            </a:r>
            <a:r>
              <a:rPr lang="en-US" sz="2000" dirty="0">
                <a:solidFill>
                  <a:srgbClr val="212121"/>
                </a:solidFill>
                <a:latin typeface="Times New Roman" panose="02020603050405020304" pitchFamily="18" charset="0"/>
                <a:cs typeface="Times New Roman" panose="02020603050405020304" pitchFamily="18" charset="0"/>
              </a:rPr>
              <a:t>document for marketing ARIC</a:t>
            </a:r>
          </a:p>
          <a:p>
            <a:pPr>
              <a:buFont typeface="+mj-lt"/>
              <a:buAutoNum type="arabicPeriod"/>
            </a:pPr>
            <a:r>
              <a:rPr lang="en-US" sz="2000" dirty="0" smtClean="0">
                <a:solidFill>
                  <a:srgbClr val="212121"/>
                </a:solidFill>
                <a:latin typeface="Times New Roman" panose="02020603050405020304" pitchFamily="18" charset="0"/>
                <a:cs typeface="Times New Roman" panose="02020603050405020304" pitchFamily="18" charset="0"/>
              </a:rPr>
              <a:t> ARIC </a:t>
            </a:r>
            <a:r>
              <a:rPr lang="en-US" sz="2000" dirty="0">
                <a:solidFill>
                  <a:srgbClr val="212121"/>
                </a:solidFill>
                <a:latin typeface="Times New Roman" panose="02020603050405020304" pitchFamily="18" charset="0"/>
                <a:cs typeface="Times New Roman" panose="02020603050405020304" pitchFamily="18" charset="0"/>
              </a:rPr>
              <a:t>Commercialization Assessment meeting with Dr. Sami Bashir </a:t>
            </a:r>
            <a:endParaRPr lang="en-US" sz="2000" dirty="0" smtClean="0">
              <a:solidFill>
                <a:srgbClr val="212121"/>
              </a:solidFill>
              <a:latin typeface="Times New Roman" panose="02020603050405020304" pitchFamily="18" charset="0"/>
              <a:cs typeface="Times New Roman" panose="02020603050405020304" pitchFamily="18" charset="0"/>
            </a:endParaRPr>
          </a:p>
          <a:p>
            <a:r>
              <a:rPr lang="en-US" sz="2000" dirty="0" smtClean="0">
                <a:solidFill>
                  <a:srgbClr val="212121"/>
                </a:solidFill>
                <a:latin typeface="Times New Roman" panose="02020603050405020304" pitchFamily="18" charset="0"/>
                <a:cs typeface="Times New Roman" panose="02020603050405020304" pitchFamily="18" charset="0"/>
              </a:rPr>
              <a:t>(</a:t>
            </a:r>
            <a:r>
              <a:rPr lang="en-US" sz="2000" dirty="0">
                <a:solidFill>
                  <a:srgbClr val="212121"/>
                </a:solidFill>
                <a:latin typeface="Times New Roman" panose="02020603050405020304" pitchFamily="18" charset="0"/>
                <a:cs typeface="Times New Roman" panose="02020603050405020304" pitchFamily="18" charset="0"/>
              </a:rPr>
              <a:t>Dr. Sami Bashir guest, to </a:t>
            </a:r>
            <a:r>
              <a:rPr lang="en-US" sz="2000" dirty="0" smtClean="0">
                <a:solidFill>
                  <a:srgbClr val="212121"/>
                </a:solidFill>
                <a:latin typeface="Times New Roman" panose="02020603050405020304" pitchFamily="18" charset="0"/>
                <a:cs typeface="Times New Roman" panose="02020603050405020304" pitchFamily="18" charset="0"/>
              </a:rPr>
              <a:t>join)</a:t>
            </a:r>
            <a:endParaRPr lang="en-US" sz="2000" dirty="0">
              <a:solidFill>
                <a:srgbClr val="212121"/>
              </a:solidFill>
              <a:latin typeface="Times New Roman" panose="02020603050405020304" pitchFamily="18" charset="0"/>
              <a:cs typeface="Times New Roman" panose="02020603050405020304" pitchFamily="18" charset="0"/>
            </a:endParaRPr>
          </a:p>
          <a:p>
            <a:r>
              <a:rPr lang="en-US" sz="2000" dirty="0" smtClean="0">
                <a:solidFill>
                  <a:srgbClr val="212121"/>
                </a:solidFill>
                <a:latin typeface="Times New Roman" panose="02020603050405020304" pitchFamily="18" charset="0"/>
                <a:cs typeface="Times New Roman" panose="02020603050405020304" pitchFamily="18" charset="0"/>
              </a:rPr>
              <a:t>4. Status </a:t>
            </a:r>
            <a:r>
              <a:rPr lang="en-US" sz="2000" dirty="0">
                <a:solidFill>
                  <a:srgbClr val="212121"/>
                </a:solidFill>
                <a:latin typeface="Times New Roman" panose="02020603050405020304" pitchFamily="18" charset="0"/>
                <a:cs typeface="Times New Roman" panose="02020603050405020304" pitchFamily="18" charset="0"/>
              </a:rPr>
              <a:t>of additive manufacturing lab</a:t>
            </a:r>
          </a:p>
          <a:p>
            <a:r>
              <a:rPr lang="en-US" sz="2000" dirty="0" smtClean="0">
                <a:solidFill>
                  <a:srgbClr val="212121"/>
                </a:solidFill>
                <a:latin typeface="Times New Roman" panose="02020603050405020304" pitchFamily="18" charset="0"/>
                <a:cs typeface="Times New Roman" panose="02020603050405020304" pitchFamily="18" charset="0"/>
              </a:rPr>
              <a:t>5. Update </a:t>
            </a:r>
            <a:r>
              <a:rPr lang="en-US" sz="2000" dirty="0">
                <a:solidFill>
                  <a:srgbClr val="212121"/>
                </a:solidFill>
                <a:latin typeface="Times New Roman" panose="02020603050405020304" pitchFamily="18" charset="0"/>
                <a:cs typeface="Times New Roman" panose="02020603050405020304" pitchFamily="18" charset="0"/>
              </a:rPr>
              <a:t>on staffing issues in ARIC and retention of ARIC </a:t>
            </a:r>
            <a:r>
              <a:rPr lang="en-US" sz="2000" dirty="0" smtClean="0">
                <a:solidFill>
                  <a:srgbClr val="212121"/>
                </a:solidFill>
                <a:latin typeface="Times New Roman" panose="02020603050405020304" pitchFamily="18" charset="0"/>
                <a:cs typeface="Times New Roman" panose="02020603050405020304" pitchFamily="18" charset="0"/>
              </a:rPr>
              <a:t>resources</a:t>
            </a:r>
          </a:p>
          <a:p>
            <a:r>
              <a:rPr lang="en-US" sz="2000" dirty="0" smtClean="0">
                <a:solidFill>
                  <a:srgbClr val="212121"/>
                </a:solidFill>
                <a:latin typeface="Times New Roman" panose="02020603050405020304" pitchFamily="18" charset="0"/>
                <a:cs typeface="Times New Roman" panose="02020603050405020304" pitchFamily="18" charset="0"/>
              </a:rPr>
              <a:t>6. Update </a:t>
            </a:r>
            <a:r>
              <a:rPr lang="en-US" sz="2000" dirty="0">
                <a:solidFill>
                  <a:srgbClr val="212121"/>
                </a:solidFill>
                <a:latin typeface="Times New Roman" panose="02020603050405020304" pitchFamily="18" charset="0"/>
                <a:cs typeface="Times New Roman" panose="02020603050405020304" pitchFamily="18" charset="0"/>
              </a:rPr>
              <a:t>regarding the KUKA robot in ARIC (DG </a:t>
            </a:r>
            <a:r>
              <a:rPr lang="en-US" sz="2000" dirty="0" smtClean="0">
                <a:solidFill>
                  <a:srgbClr val="212121"/>
                </a:solidFill>
                <a:latin typeface="Times New Roman" panose="02020603050405020304" pitchFamily="18" charset="0"/>
                <a:cs typeface="Times New Roman" panose="02020603050405020304" pitchFamily="18" charset="0"/>
              </a:rPr>
              <a:t>World)</a:t>
            </a:r>
          </a:p>
          <a:p>
            <a:r>
              <a:rPr lang="en-US" sz="2000" dirty="0" smtClean="0">
                <a:solidFill>
                  <a:srgbClr val="212121"/>
                </a:solidFill>
                <a:latin typeface="Times New Roman" panose="02020603050405020304" pitchFamily="18" charset="0"/>
                <a:cs typeface="Times New Roman" panose="02020603050405020304" pitchFamily="18" charset="0"/>
              </a:rPr>
              <a:t>7. Brief updates on the projects in ARIC</a:t>
            </a:r>
          </a:p>
          <a:p>
            <a:r>
              <a:rPr lang="en-US" sz="2000" dirty="0" smtClean="0">
                <a:solidFill>
                  <a:srgbClr val="212121"/>
                </a:solidFill>
                <a:latin typeface="Times New Roman" panose="02020603050405020304" pitchFamily="18" charset="0"/>
                <a:cs typeface="Times New Roman" panose="02020603050405020304" pitchFamily="18" charset="0"/>
              </a:rPr>
              <a:t>8. KPIs </a:t>
            </a:r>
            <a:r>
              <a:rPr lang="en-US" sz="2000" dirty="0">
                <a:solidFill>
                  <a:srgbClr val="212121"/>
                </a:solidFill>
                <a:latin typeface="Times New Roman" panose="02020603050405020304" pitchFamily="18" charset="0"/>
                <a:cs typeface="Times New Roman" panose="02020603050405020304" pitchFamily="18" charset="0"/>
              </a:rPr>
              <a:t>for 2022</a:t>
            </a:r>
          </a:p>
          <a:p>
            <a:r>
              <a:rPr lang="en-US" sz="2000" dirty="0" smtClean="0">
                <a:solidFill>
                  <a:srgbClr val="212121"/>
                </a:solidFill>
                <a:latin typeface="Times New Roman" panose="02020603050405020304" pitchFamily="18" charset="0"/>
                <a:cs typeface="Times New Roman" panose="02020603050405020304" pitchFamily="18" charset="0"/>
              </a:rPr>
              <a:t>9. ARIC </a:t>
            </a:r>
            <a:r>
              <a:rPr lang="en-US" sz="2000" dirty="0">
                <a:solidFill>
                  <a:srgbClr val="212121"/>
                </a:solidFill>
                <a:latin typeface="Times New Roman" panose="02020603050405020304" pitchFamily="18" charset="0"/>
                <a:cs typeface="Times New Roman" panose="02020603050405020304" pitchFamily="18" charset="0"/>
              </a:rPr>
              <a:t>post-November 2022 (funding, leadership etc.)</a:t>
            </a:r>
          </a:p>
          <a:p>
            <a:r>
              <a:rPr lang="en-US" sz="2000" dirty="0" smtClean="0">
                <a:solidFill>
                  <a:srgbClr val="212121"/>
                </a:solidFill>
                <a:latin typeface="Times New Roman" panose="02020603050405020304" pitchFamily="18" charset="0"/>
                <a:cs typeface="Times New Roman" panose="02020603050405020304" pitchFamily="18" charset="0"/>
              </a:rPr>
              <a:t>10. AOB</a:t>
            </a:r>
            <a:endParaRPr lang="en-US" sz="2000" dirty="0">
              <a:solidFill>
                <a:srgbClr val="212121"/>
              </a:solidFill>
              <a:latin typeface="Times New Roman" panose="02020603050405020304" pitchFamily="18" charset="0"/>
              <a:cs typeface="Times New Roman" panose="02020603050405020304" pitchFamily="18" charset="0"/>
            </a:endParaRPr>
          </a:p>
          <a:p>
            <a:r>
              <a:rPr lang="en-US" sz="2000" dirty="0">
                <a:solidFill>
                  <a:srgbClr val="212121"/>
                </a:solidFill>
                <a:latin typeface="Times New Roman" panose="02020603050405020304" pitchFamily="18" charset="0"/>
                <a:cs typeface="Times New Roman" panose="02020603050405020304" pitchFamily="18" charset="0"/>
              </a:rPr>
              <a:t> </a:t>
            </a:r>
            <a:endParaRPr lang="en-US" sz="2000" b="0" i="0" dirty="0">
              <a:solidFill>
                <a:srgbClr val="212121"/>
              </a:solidFill>
              <a:effectLst/>
              <a:latin typeface="Times New Roman" panose="02020603050405020304" pitchFamily="18" charset="0"/>
              <a:cs typeface="Times New Roman" panose="02020603050405020304" pitchFamily="18" charset="0"/>
            </a:endParaRPr>
          </a:p>
        </p:txBody>
      </p:sp>
      <p:sp>
        <p:nvSpPr>
          <p:cNvPr id="3" name="Rectangle 2"/>
          <p:cNvSpPr/>
          <p:nvPr/>
        </p:nvSpPr>
        <p:spPr>
          <a:xfrm>
            <a:off x="1288084" y="713571"/>
            <a:ext cx="1194558" cy="461665"/>
          </a:xfrm>
          <a:prstGeom prst="rect">
            <a:avLst/>
          </a:prstGeom>
        </p:spPr>
        <p:txBody>
          <a:bodyPr wrap="none">
            <a:spAutoFit/>
          </a:bodyPr>
          <a:lstStyle/>
          <a:p>
            <a:r>
              <a:rPr lang="en-US" sz="2400" b="1" dirty="0" smtClean="0">
                <a:solidFill>
                  <a:srgbClr val="212121"/>
                </a:solidFill>
                <a:latin typeface="Times New Roman" panose="02020603050405020304" pitchFamily="18" charset="0"/>
              </a:rPr>
              <a:t>Agenda</a:t>
            </a:r>
            <a:endParaRPr lang="en-US" sz="2400" b="1" dirty="0"/>
          </a:p>
        </p:txBody>
      </p:sp>
      <p:pic>
        <p:nvPicPr>
          <p:cNvPr id="4" name="Picture 3">
            <a:extLst>
              <a:ext uri="{FF2B5EF4-FFF2-40B4-BE49-F238E27FC236}">
                <a16:creationId xmlns:a16="http://schemas.microsoft.com/office/drawing/2014/main" id="{F1880496-93E6-5D29-F4C5-E198D2C09FEF}"/>
              </a:ext>
            </a:extLst>
          </p:cNvPr>
          <p:cNvPicPr>
            <a:picLocks noChangeAspect="1"/>
          </p:cNvPicPr>
          <p:nvPr/>
        </p:nvPicPr>
        <p:blipFill>
          <a:blip r:embed="rId2"/>
          <a:stretch/>
        </p:blipFill>
        <p:spPr>
          <a:xfrm>
            <a:off x="9818252" y="567863"/>
            <a:ext cx="1887405" cy="1533091"/>
          </a:xfrm>
          <a:prstGeom prst="rect">
            <a:avLst/>
          </a:prstGeom>
        </p:spPr>
      </p:pic>
    </p:spTree>
    <p:extLst>
      <p:ext uri="{BB962C8B-B14F-4D97-AF65-F5344CB8AC3E}">
        <p14:creationId xmlns:p14="http://schemas.microsoft.com/office/powerpoint/2010/main" val="14642646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073426" y="1720840"/>
            <a:ext cx="9886122" cy="3785652"/>
          </a:xfrm>
          <a:prstGeom prst="rect">
            <a:avLst/>
          </a:prstGeom>
        </p:spPr>
        <p:txBody>
          <a:bodyPr wrap="square">
            <a:spAutoFit/>
          </a:bodyPr>
          <a:lstStyle/>
          <a:p>
            <a:pPr marL="342900" lvl="0" indent="-342900">
              <a:buFont typeface="Wingdings" panose="05000000000000000000" pitchFamily="2" charset="2"/>
              <a:buChar char=""/>
            </a:pPr>
            <a:r>
              <a:rPr lang="en-US" sz="2400" dirty="0" smtClean="0">
                <a:latin typeface="Times New Roman" panose="02020603050405020304" pitchFamily="18" charset="0"/>
                <a:cs typeface="Times New Roman" panose="02020603050405020304" pitchFamily="18" charset="0"/>
              </a:rPr>
              <a:t>Dr. Wesley </a:t>
            </a:r>
            <a:r>
              <a:rPr lang="en-US" sz="2400" dirty="0">
                <a:latin typeface="Times New Roman" panose="02020603050405020304" pitchFamily="18" charset="0"/>
                <a:cs typeface="Times New Roman" panose="02020603050405020304" pitchFamily="18" charset="0"/>
              </a:rPr>
              <a:t>to ask </a:t>
            </a:r>
            <a:r>
              <a:rPr lang="en-US" sz="2400" dirty="0" smtClean="0">
                <a:latin typeface="Times New Roman" panose="02020603050405020304" pitchFamily="18" charset="0"/>
                <a:cs typeface="Times New Roman" panose="02020603050405020304" pitchFamily="18" charset="0"/>
              </a:rPr>
              <a:t>Gordon </a:t>
            </a:r>
            <a:r>
              <a:rPr lang="en-US" sz="2400" dirty="0">
                <a:latin typeface="Times New Roman" panose="02020603050405020304" pitchFamily="18" charset="0"/>
                <a:cs typeface="Times New Roman" panose="02020603050405020304" pitchFamily="18" charset="0"/>
              </a:rPr>
              <a:t>on the rates of metallic printing per hour</a:t>
            </a:r>
          </a:p>
          <a:p>
            <a:pPr marL="342900" lvl="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Dr. Steve to communicate with Dr. Peter regarding the 3D printing hiring issue</a:t>
            </a:r>
          </a:p>
          <a:p>
            <a:pPr marL="342900" lvl="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Dr. Wesley to  invite Mr. Sayed to join the next monthly meeting to present the draft strategy</a:t>
            </a:r>
          </a:p>
          <a:p>
            <a:pPr marL="342900" lvl="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Dr. Wesley to follow up with Blake on Abdulla’s increment  </a:t>
            </a:r>
          </a:p>
          <a:p>
            <a:pPr marL="342900" lvl="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Dr. </a:t>
            </a:r>
            <a:r>
              <a:rPr lang="en-US" sz="2400" dirty="0" err="1" smtClean="0">
                <a:latin typeface="Times New Roman" panose="02020603050405020304" pitchFamily="18" charset="0"/>
                <a:cs typeface="Times New Roman" panose="02020603050405020304" pitchFamily="18" charset="0"/>
              </a:rPr>
              <a:t>Abdelqader</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to coordinate with the </a:t>
            </a:r>
            <a:r>
              <a:rPr lang="en-US" sz="2400" dirty="0" smtClean="0">
                <a:latin typeface="Times New Roman" panose="02020603050405020304" pitchFamily="18" charset="0"/>
                <a:cs typeface="Times New Roman" panose="02020603050405020304" pitchFamily="18" charset="0"/>
              </a:rPr>
              <a:t>Provost (re. Dr. </a:t>
            </a:r>
            <a:r>
              <a:rPr lang="en-US" sz="2400" dirty="0" err="1" smtClean="0">
                <a:latin typeface="Times New Roman" panose="02020603050405020304" pitchFamily="18" charset="0"/>
                <a:cs typeface="Times New Roman" panose="02020603050405020304" pitchFamily="18" charset="0"/>
              </a:rPr>
              <a:t>Yusra</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Dr. </a:t>
            </a:r>
            <a:r>
              <a:rPr lang="en-US" sz="2400" dirty="0" err="1">
                <a:latin typeface="Times New Roman" panose="02020603050405020304" pitchFamily="18" charset="0"/>
                <a:cs typeface="Times New Roman" panose="02020603050405020304" pitchFamily="18" charset="0"/>
              </a:rPr>
              <a:t>Yahya</a:t>
            </a:r>
            <a:r>
              <a:rPr lang="en-US" sz="2400" dirty="0">
                <a:latin typeface="Times New Roman" panose="02020603050405020304" pitchFamily="18" charset="0"/>
                <a:cs typeface="Times New Roman" panose="02020603050405020304" pitchFamily="18" charset="0"/>
              </a:rPr>
              <a:t> to send an email to Dr. </a:t>
            </a:r>
            <a:r>
              <a:rPr lang="en-US" sz="2400" dirty="0" err="1" smtClean="0">
                <a:latin typeface="Times New Roman" panose="02020603050405020304" pitchFamily="18" charset="0"/>
                <a:cs typeface="Times New Roman" panose="02020603050405020304" pitchFamily="18" charset="0"/>
              </a:rPr>
              <a:t>Abdelqader</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regarding SANAD Proposal </a:t>
            </a:r>
          </a:p>
          <a:p>
            <a:pPr marL="342900" lvl="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Dr. </a:t>
            </a:r>
            <a:r>
              <a:rPr lang="en-US" sz="2400" dirty="0" err="1" smtClean="0">
                <a:latin typeface="Times New Roman" panose="02020603050405020304" pitchFamily="18" charset="0"/>
                <a:cs typeface="Times New Roman" panose="02020603050405020304" pitchFamily="18" charset="0"/>
              </a:rPr>
              <a:t>Abdelqader</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to work with Dr. Wesley to organized R&amp;D review days and have Strata, SANAD and ARIC to present the projects they are doing</a:t>
            </a: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Rectangle 4"/>
          <p:cNvSpPr/>
          <p:nvPr/>
        </p:nvSpPr>
        <p:spPr>
          <a:xfrm>
            <a:off x="1073426" y="819186"/>
            <a:ext cx="8281306" cy="461665"/>
          </a:xfrm>
          <a:prstGeom prst="rect">
            <a:avLst/>
          </a:prstGeom>
        </p:spPr>
        <p:txBody>
          <a:bodyPr wrap="none">
            <a:spAutoFit/>
          </a:bodyPr>
          <a:lstStyle/>
          <a:p>
            <a:r>
              <a:rPr lang="en-US" sz="2400" b="1" dirty="0">
                <a:latin typeface="Times New Roman" panose="02020603050405020304" pitchFamily="18" charset="0"/>
                <a:ea typeface="Calibri" panose="020F0502020204030204" pitchFamily="34" charset="0"/>
                <a:cs typeface="Times New Roman" panose="02020603050405020304" pitchFamily="18" charset="0"/>
              </a:rPr>
              <a:t>Outcome &amp; Action Items (to be completed prior to next </a:t>
            </a:r>
            <a:r>
              <a:rPr lang="en-US" sz="2400" b="1" dirty="0" smtClean="0">
                <a:latin typeface="Times New Roman" panose="02020603050405020304" pitchFamily="18" charset="0"/>
                <a:ea typeface="Calibri" panose="020F0502020204030204" pitchFamily="34" charset="0"/>
                <a:cs typeface="Times New Roman" panose="02020603050405020304" pitchFamily="18" charset="0"/>
              </a:rPr>
              <a:t>SMB)</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154818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67408" y="567999"/>
            <a:ext cx="10455965" cy="5262979"/>
          </a:xfrm>
          <a:prstGeom prst="rect">
            <a:avLst/>
          </a:prstGeom>
        </p:spPr>
        <p:txBody>
          <a:bodyPr wrap="square">
            <a:spAutoFit/>
          </a:bodyPr>
          <a:lstStyle/>
          <a:p>
            <a:r>
              <a:rPr lang="en-US" sz="2400" dirty="0">
                <a:solidFill>
                  <a:srgbClr val="212121"/>
                </a:solidFill>
                <a:latin typeface="Times New Roman" panose="02020603050405020304" pitchFamily="18" charset="0"/>
                <a:cs typeface="Times New Roman" panose="02020603050405020304" pitchFamily="18" charset="0"/>
              </a:rPr>
              <a:t>Wesley,</a:t>
            </a:r>
          </a:p>
          <a:p>
            <a:r>
              <a:rPr lang="en-US" sz="2400" dirty="0" smtClean="0">
                <a:solidFill>
                  <a:srgbClr val="212121"/>
                </a:solidFill>
                <a:latin typeface="Times New Roman" panose="02020603050405020304" pitchFamily="18" charset="0"/>
                <a:cs typeface="Times New Roman" panose="02020603050405020304" pitchFamily="18" charset="0"/>
              </a:rPr>
              <a:t>This </a:t>
            </a:r>
            <a:r>
              <a:rPr lang="en-US" sz="2400" dirty="0">
                <a:solidFill>
                  <a:srgbClr val="212121"/>
                </a:solidFill>
                <a:latin typeface="Times New Roman" panose="02020603050405020304" pitchFamily="18" charset="0"/>
                <a:cs typeface="Times New Roman" panose="02020603050405020304" pitchFamily="18" charset="0"/>
              </a:rPr>
              <a:t>sounds very high, we have found that if you try to repay the capital you are only going to drive people away. Since the machine was not bought as a commercial venture I would look only at recovering actual operating costs, (material, maintenance and </a:t>
            </a:r>
            <a:r>
              <a:rPr lang="en-US" sz="2400" dirty="0" err="1">
                <a:solidFill>
                  <a:srgbClr val="212121"/>
                </a:solidFill>
                <a:latin typeface="Times New Roman" panose="02020603050405020304" pitchFamily="18" charset="0"/>
                <a:cs typeface="Times New Roman" panose="02020603050405020304" pitchFamily="18" charset="0"/>
              </a:rPr>
              <a:t>labour</a:t>
            </a:r>
            <a:r>
              <a:rPr lang="en-US" sz="2400" dirty="0">
                <a:solidFill>
                  <a:srgbClr val="212121"/>
                </a:solidFill>
                <a:latin typeface="Times New Roman" panose="02020603050405020304" pitchFamily="18" charset="0"/>
                <a:cs typeface="Times New Roman" panose="02020603050405020304" pitchFamily="18" charset="0"/>
              </a:rPr>
              <a:t>) for internal work. Depending on the customer for external work, see how you can load that to achieve some payback</a:t>
            </a:r>
            <a:r>
              <a:rPr lang="en-US" sz="2400" dirty="0" smtClean="0">
                <a:solidFill>
                  <a:srgbClr val="212121"/>
                </a:solidFill>
                <a:latin typeface="Times New Roman" panose="02020603050405020304" pitchFamily="18" charset="0"/>
                <a:cs typeface="Times New Roman" panose="02020603050405020304" pitchFamily="18" charset="0"/>
              </a:rPr>
              <a:t>.</a:t>
            </a:r>
            <a:endParaRPr lang="en-US" sz="2400" dirty="0">
              <a:solidFill>
                <a:srgbClr val="212121"/>
              </a:solidFill>
              <a:latin typeface="Times New Roman" panose="02020603050405020304" pitchFamily="18" charset="0"/>
              <a:cs typeface="Times New Roman" panose="02020603050405020304" pitchFamily="18" charset="0"/>
            </a:endParaRPr>
          </a:p>
          <a:p>
            <a:r>
              <a:rPr lang="en-US" sz="2400" dirty="0">
                <a:solidFill>
                  <a:srgbClr val="212121"/>
                </a:solidFill>
                <a:latin typeface="Times New Roman" panose="02020603050405020304" pitchFamily="18" charset="0"/>
                <a:cs typeface="Times New Roman" panose="02020603050405020304" pitchFamily="18" charset="0"/>
              </a:rPr>
              <a:t>You need to get the ship moving before you can steer it.</a:t>
            </a:r>
          </a:p>
          <a:p>
            <a:r>
              <a:rPr lang="en-US" sz="2400" dirty="0">
                <a:solidFill>
                  <a:srgbClr val="212121"/>
                </a:solidFill>
                <a:latin typeface="Times New Roman" panose="02020603050405020304" pitchFamily="18" charset="0"/>
                <a:cs typeface="Times New Roman" panose="02020603050405020304" pitchFamily="18" charset="0"/>
              </a:rPr>
              <a:t> </a:t>
            </a:r>
          </a:p>
          <a:p>
            <a:r>
              <a:rPr lang="en-US" sz="2400" dirty="0">
                <a:solidFill>
                  <a:srgbClr val="212121"/>
                </a:solidFill>
                <a:latin typeface="Times New Roman" panose="02020603050405020304" pitchFamily="18" charset="0"/>
                <a:cs typeface="Times New Roman" panose="02020603050405020304" pitchFamily="18" charset="0"/>
              </a:rPr>
              <a:t>Do you have an idea as to the deposition rate for the printer, the specs say 100cmᶾ per hour, do you achieve that.</a:t>
            </a:r>
          </a:p>
          <a:p>
            <a:r>
              <a:rPr lang="en-US" sz="2400" dirty="0">
                <a:solidFill>
                  <a:srgbClr val="212121"/>
                </a:solidFill>
                <a:latin typeface="Times New Roman" panose="02020603050405020304" pitchFamily="18" charset="0"/>
                <a:cs typeface="Times New Roman" panose="02020603050405020304" pitchFamily="18" charset="0"/>
              </a:rPr>
              <a:t> </a:t>
            </a:r>
          </a:p>
          <a:p>
            <a:r>
              <a:rPr lang="en-US" sz="2400" dirty="0">
                <a:solidFill>
                  <a:srgbClr val="212121"/>
                </a:solidFill>
                <a:latin typeface="Times New Roman" panose="02020603050405020304" pitchFamily="18" charset="0"/>
                <a:cs typeface="Times New Roman" panose="02020603050405020304" pitchFamily="18" charset="0"/>
              </a:rPr>
              <a:t>You should probably have a rate that is dependent on the material being printed.</a:t>
            </a:r>
          </a:p>
          <a:p>
            <a:r>
              <a:rPr lang="en-US" sz="2400" dirty="0">
                <a:solidFill>
                  <a:srgbClr val="212121"/>
                </a:solidFill>
                <a:latin typeface="Times New Roman" panose="02020603050405020304" pitchFamily="18" charset="0"/>
                <a:cs typeface="Times New Roman" panose="02020603050405020304" pitchFamily="18" charset="0"/>
              </a:rPr>
              <a:t> </a:t>
            </a:r>
          </a:p>
          <a:p>
            <a:r>
              <a:rPr lang="en-US" sz="2400" dirty="0">
                <a:solidFill>
                  <a:srgbClr val="212121"/>
                </a:solidFill>
                <a:latin typeface="Times New Roman" panose="02020603050405020304" pitchFamily="18" charset="0"/>
                <a:cs typeface="Times New Roman" panose="02020603050405020304" pitchFamily="18" charset="0"/>
              </a:rPr>
              <a:t>Best Regards</a:t>
            </a:r>
            <a:r>
              <a:rPr lang="en-US" sz="2400" dirty="0" smtClean="0">
                <a:solidFill>
                  <a:srgbClr val="212121"/>
                </a:solidFill>
                <a:latin typeface="Times New Roman" panose="02020603050405020304" pitchFamily="18" charset="0"/>
                <a:cs typeface="Times New Roman" panose="02020603050405020304" pitchFamily="18" charset="0"/>
              </a:rPr>
              <a:t>,</a:t>
            </a:r>
            <a:endParaRPr lang="en-US" dirty="0">
              <a:solidFill>
                <a:srgbClr val="21212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68313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10747" y="1859340"/>
            <a:ext cx="9541565" cy="3785652"/>
          </a:xfrm>
          <a:prstGeom prst="rect">
            <a:avLst/>
          </a:prstGeom>
        </p:spPr>
        <p:txBody>
          <a:bodyPr wrap="square">
            <a:spAutoFit/>
          </a:bodyPr>
          <a:lstStyle/>
          <a:p>
            <a:r>
              <a:rPr lang="en-US" sz="2400" dirty="0">
                <a:solidFill>
                  <a:srgbClr val="212121"/>
                </a:solidFill>
                <a:latin typeface="Times New Roman" panose="02020603050405020304" pitchFamily="18" charset="0"/>
                <a:cs typeface="Times New Roman" panose="02020603050405020304" pitchFamily="18" charset="0"/>
              </a:rPr>
              <a:t>Dear Team,</a:t>
            </a:r>
          </a:p>
          <a:p>
            <a:r>
              <a:rPr lang="en-US" sz="2400" dirty="0">
                <a:solidFill>
                  <a:srgbClr val="212121"/>
                </a:solidFill>
                <a:latin typeface="Times New Roman" panose="02020603050405020304" pitchFamily="18" charset="0"/>
                <a:cs typeface="Times New Roman" panose="02020603050405020304" pitchFamily="18" charset="0"/>
              </a:rPr>
              <a:t> </a:t>
            </a:r>
          </a:p>
          <a:p>
            <a:r>
              <a:rPr lang="en-US" sz="2400" dirty="0">
                <a:solidFill>
                  <a:srgbClr val="212121"/>
                </a:solidFill>
                <a:latin typeface="Times New Roman" panose="02020603050405020304" pitchFamily="18" charset="0"/>
                <a:cs typeface="Times New Roman" panose="02020603050405020304" pitchFamily="18" charset="0"/>
              </a:rPr>
              <a:t>It was communicated to research team that research increment will follow the staff increment cycle which is normally before end of the year properly November and subject to management approval. We can get the nominations from research and development </a:t>
            </a:r>
            <a:r>
              <a:rPr lang="en-US" sz="2400" dirty="0" smtClean="0">
                <a:solidFill>
                  <a:srgbClr val="212121"/>
                </a:solidFill>
                <a:latin typeface="Times New Roman" panose="02020603050405020304" pitchFamily="18" charset="0"/>
                <a:cs typeface="Times New Roman" panose="02020603050405020304" pitchFamily="18" charset="0"/>
              </a:rPr>
              <a:t>office, </a:t>
            </a:r>
            <a:r>
              <a:rPr lang="en-US" sz="2400" dirty="0">
                <a:solidFill>
                  <a:srgbClr val="212121"/>
                </a:solidFill>
                <a:latin typeface="Times New Roman" panose="02020603050405020304" pitchFamily="18" charset="0"/>
                <a:cs typeface="Times New Roman" panose="02020603050405020304" pitchFamily="18" charset="0"/>
              </a:rPr>
              <a:t>do the required evaluation and get the required approvals to proceed.</a:t>
            </a:r>
          </a:p>
          <a:p>
            <a:r>
              <a:rPr lang="en-US" sz="2400" dirty="0">
                <a:solidFill>
                  <a:srgbClr val="212121"/>
                </a:solidFill>
                <a:latin typeface="Times New Roman" panose="02020603050405020304" pitchFamily="18" charset="0"/>
                <a:cs typeface="Times New Roman" panose="02020603050405020304" pitchFamily="18" charset="0"/>
              </a:rPr>
              <a:t> </a:t>
            </a:r>
          </a:p>
          <a:p>
            <a:r>
              <a:rPr lang="en-US" sz="2400" dirty="0">
                <a:solidFill>
                  <a:srgbClr val="212121"/>
                </a:solidFill>
                <a:latin typeface="Times New Roman" panose="02020603050405020304" pitchFamily="18" charset="0"/>
                <a:cs typeface="Times New Roman" panose="02020603050405020304" pitchFamily="18" charset="0"/>
              </a:rPr>
              <a:t>Thank you.</a:t>
            </a:r>
          </a:p>
          <a:p>
            <a:r>
              <a:rPr lang="en-US" sz="2400" dirty="0">
                <a:solidFill>
                  <a:srgbClr val="212121"/>
                </a:solidFill>
                <a:latin typeface="Times New Roman" panose="02020603050405020304" pitchFamily="18" charset="0"/>
                <a:cs typeface="Times New Roman" panose="02020603050405020304" pitchFamily="18" charset="0"/>
              </a:rPr>
              <a:t> </a:t>
            </a:r>
            <a:endParaRPr lang="en-US" sz="2400" b="0" i="0" dirty="0">
              <a:solidFill>
                <a:srgbClr val="212121"/>
              </a:solidFill>
              <a:effectLst/>
              <a:latin typeface="Times New Roman" panose="02020603050405020304" pitchFamily="18" charset="0"/>
              <a:cs typeface="Times New Roman" panose="02020603050405020304" pitchFamily="18" charset="0"/>
            </a:endParaRPr>
          </a:p>
        </p:txBody>
      </p:sp>
      <p:sp>
        <p:nvSpPr>
          <p:cNvPr id="3" name="Rectangle 2"/>
          <p:cNvSpPr/>
          <p:nvPr/>
        </p:nvSpPr>
        <p:spPr>
          <a:xfrm>
            <a:off x="1604866" y="726421"/>
            <a:ext cx="2461187" cy="461665"/>
          </a:xfrm>
          <a:prstGeom prst="rect">
            <a:avLst/>
          </a:prstGeom>
        </p:spPr>
        <p:txBody>
          <a:bodyPr wrap="none">
            <a:spAutoFit/>
          </a:bodyPr>
          <a:lstStyle/>
          <a:p>
            <a:r>
              <a:rPr lang="en-US" sz="2400" dirty="0" smtClean="0">
                <a:solidFill>
                  <a:srgbClr val="212121"/>
                </a:solidFill>
                <a:latin typeface="Times New Roman" panose="02020603050405020304" pitchFamily="18" charset="0"/>
                <a:cs typeface="Times New Roman" panose="02020603050405020304" pitchFamily="18" charset="0"/>
              </a:rPr>
              <a:t>From </a:t>
            </a:r>
            <a:r>
              <a:rPr lang="en-US" sz="2400" dirty="0" err="1" smtClean="0">
                <a:solidFill>
                  <a:srgbClr val="212121"/>
                </a:solidFill>
                <a:latin typeface="Times New Roman" panose="02020603050405020304" pitchFamily="18" charset="0"/>
                <a:cs typeface="Times New Roman" panose="02020603050405020304" pitchFamily="18" charset="0"/>
              </a:rPr>
              <a:t>Wafa</a:t>
            </a:r>
            <a:r>
              <a:rPr lang="en-US" sz="2400" dirty="0" smtClean="0">
                <a:solidFill>
                  <a:srgbClr val="212121"/>
                </a:solidFill>
                <a:latin typeface="Times New Roman" panose="02020603050405020304" pitchFamily="18" charset="0"/>
                <a:cs typeface="Times New Roman" panose="02020603050405020304" pitchFamily="18" charset="0"/>
              </a:rPr>
              <a:t> in HR </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26882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C4E4288A-DFC8-40A2-90E5-70E851A933A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B63C2D82-D4FA-4A37-BB01-1E7B21E4FF20}"/>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5199" y="634058"/>
            <a:ext cx="1128382" cy="847206"/>
            <a:chOff x="5307830" y="325570"/>
            <a:chExt cx="1128382" cy="847206"/>
          </a:xfrm>
        </p:grpSpPr>
        <p:sp>
          <p:nvSpPr>
            <p:cNvPr id="24" name="Freeform 5">
              <a:extLst>
                <a:ext uri="{FF2B5EF4-FFF2-40B4-BE49-F238E27FC236}">
                  <a16:creationId xmlns:a16="http://schemas.microsoft.com/office/drawing/2014/main" id="{C94E7FEF-0CE9-4AC2-94BB-02230C6DC0DF}"/>
                </a:ext>
                <a:ext uri="{C183D7F6-B498-43B3-948B-1728B52AA6E4}">
                  <adec:decorative xmlns=""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307830" y="577396"/>
              <a:ext cx="675351" cy="595380"/>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sp>
          <p:nvSpPr>
            <p:cNvPr id="25" name="Freeform 5">
              <a:extLst>
                <a:ext uri="{FF2B5EF4-FFF2-40B4-BE49-F238E27FC236}">
                  <a16:creationId xmlns:a16="http://schemas.microsoft.com/office/drawing/2014/main" id="{EB546CC0-C1BC-48D2-8DA9-4B60283165C9}"/>
                </a:ext>
                <a:ext uri="{C183D7F6-B498-43B3-948B-1728B52AA6E4}">
                  <adec:decorative xmlns=""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85720" y="325570"/>
              <a:ext cx="550492" cy="485306"/>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grpSp>
      <p:sp>
        <p:nvSpPr>
          <p:cNvPr id="4" name="Text Placeholder 5"/>
          <p:cNvSpPr txBox="1">
            <a:spLocks/>
          </p:cNvSpPr>
          <p:nvPr/>
        </p:nvSpPr>
        <p:spPr>
          <a:xfrm>
            <a:off x="965200" y="1371190"/>
            <a:ext cx="3363170" cy="2183042"/>
          </a:xfrm>
          <a:prstGeom prst="rect">
            <a:avLst/>
          </a:prstGeom>
        </p:spPr>
        <p:txBody>
          <a:bodyPr vert="horz" lIns="91440" tIns="45720" rIns="91440" bIns="45720" numCol="1" rtlCol="0" anchor="b" anchorCtr="0" compatLnSpc="1">
            <a:prstTxWarp prst="textNoShape">
              <a:avLst/>
            </a:prstTxWarp>
            <a:normAutofit/>
          </a:bodyPr>
          <a:lstStyle>
            <a:lvl1pPr indent="0" fontAlgn="base">
              <a:spcBef>
                <a:spcPct val="100000"/>
              </a:spcBef>
              <a:spcAft>
                <a:spcPct val="0"/>
              </a:spcAft>
              <a:buClr>
                <a:schemeClr val="tx1"/>
              </a:buClr>
              <a:buFont typeface="Wingdings" pitchFamily="2" charset="2"/>
              <a:buNone/>
              <a:defRPr sz="2954" b="1">
                <a:latin typeface="Candara" pitchFamily="34" charset="0"/>
              </a:defRPr>
            </a:lvl1pPr>
            <a:lvl2pPr marL="422041" indent="0" fontAlgn="base">
              <a:lnSpc>
                <a:spcPct val="90000"/>
              </a:lnSpc>
              <a:spcBef>
                <a:spcPct val="40000"/>
              </a:spcBef>
              <a:spcAft>
                <a:spcPct val="0"/>
              </a:spcAft>
              <a:buClr>
                <a:schemeClr val="tx1"/>
              </a:buClr>
              <a:buFont typeface="Arial" charset="0"/>
              <a:buNone/>
              <a:defRPr sz="1662"/>
            </a:lvl2pPr>
            <a:lvl3pPr marL="844083" indent="0" fontAlgn="base">
              <a:lnSpc>
                <a:spcPct val="90000"/>
              </a:lnSpc>
              <a:spcBef>
                <a:spcPct val="40000"/>
              </a:spcBef>
              <a:spcAft>
                <a:spcPct val="0"/>
              </a:spcAft>
              <a:buClr>
                <a:srgbClr val="0B1F65"/>
              </a:buClr>
              <a:buFont typeface="Webdings" pitchFamily="18" charset="2"/>
              <a:buNone/>
              <a:defRPr sz="1477">
                <a:latin typeface="+mj-lt"/>
              </a:defRPr>
            </a:lvl3pPr>
            <a:lvl4pPr marL="1266124" indent="0" fontAlgn="base">
              <a:lnSpc>
                <a:spcPct val="90000"/>
              </a:lnSpc>
              <a:spcBef>
                <a:spcPct val="40000"/>
              </a:spcBef>
              <a:spcAft>
                <a:spcPct val="0"/>
              </a:spcAft>
              <a:buClr>
                <a:srgbClr val="0B1F65"/>
              </a:buClr>
              <a:buNone/>
              <a:defRPr sz="1292">
                <a:latin typeface="+mj-lt"/>
              </a:defRPr>
            </a:lvl4pPr>
            <a:lvl5pPr marL="1688165" indent="0" fontAlgn="base">
              <a:lnSpc>
                <a:spcPct val="90000"/>
              </a:lnSpc>
              <a:spcBef>
                <a:spcPct val="0"/>
              </a:spcBef>
              <a:spcAft>
                <a:spcPct val="40000"/>
              </a:spcAft>
              <a:buClr>
                <a:schemeClr val="tx1"/>
              </a:buClr>
              <a:buSzPct val="40000"/>
              <a:buFont typeface="Arial" charset="0"/>
              <a:buNone/>
              <a:defRPr sz="1292">
                <a:latin typeface="+mj-lt"/>
              </a:defRPr>
            </a:lvl5pPr>
            <a:lvl6pPr marL="2110207" indent="0" fontAlgn="base">
              <a:lnSpc>
                <a:spcPct val="90000"/>
              </a:lnSpc>
              <a:spcBef>
                <a:spcPct val="0"/>
              </a:spcBef>
              <a:spcAft>
                <a:spcPct val="40000"/>
              </a:spcAft>
              <a:buClr>
                <a:schemeClr val="tx1"/>
              </a:buClr>
              <a:buSzPct val="40000"/>
              <a:buFont typeface="Arial" charset="0"/>
              <a:buNone/>
              <a:defRPr sz="1292">
                <a:latin typeface="+mj-lt"/>
              </a:defRPr>
            </a:lvl6pPr>
            <a:lvl7pPr marL="2532248" indent="0" fontAlgn="base">
              <a:lnSpc>
                <a:spcPct val="90000"/>
              </a:lnSpc>
              <a:spcBef>
                <a:spcPct val="0"/>
              </a:spcBef>
              <a:spcAft>
                <a:spcPct val="40000"/>
              </a:spcAft>
              <a:buClr>
                <a:schemeClr val="tx1"/>
              </a:buClr>
              <a:buSzPct val="40000"/>
              <a:buFont typeface="Arial" charset="0"/>
              <a:buNone/>
              <a:defRPr sz="1292">
                <a:latin typeface="+mj-lt"/>
              </a:defRPr>
            </a:lvl7pPr>
            <a:lvl8pPr marL="2954289" indent="0" fontAlgn="base">
              <a:lnSpc>
                <a:spcPct val="90000"/>
              </a:lnSpc>
              <a:spcBef>
                <a:spcPct val="0"/>
              </a:spcBef>
              <a:spcAft>
                <a:spcPct val="40000"/>
              </a:spcAft>
              <a:buClr>
                <a:schemeClr val="tx1"/>
              </a:buClr>
              <a:buSzPct val="40000"/>
              <a:buFont typeface="Arial" charset="0"/>
              <a:buNone/>
              <a:defRPr sz="1292">
                <a:latin typeface="+mj-lt"/>
              </a:defRPr>
            </a:lvl8pPr>
            <a:lvl9pPr marL="3376331" indent="0" fontAlgn="base">
              <a:lnSpc>
                <a:spcPct val="90000"/>
              </a:lnSpc>
              <a:spcBef>
                <a:spcPct val="0"/>
              </a:spcBef>
              <a:spcAft>
                <a:spcPct val="40000"/>
              </a:spcAft>
              <a:buClr>
                <a:schemeClr val="tx1"/>
              </a:buClr>
              <a:buSzPct val="40000"/>
              <a:buFont typeface="Arial" charset="0"/>
              <a:buNone/>
              <a:defRPr sz="1292">
                <a:latin typeface="+mj-lt"/>
              </a:defRPr>
            </a:lvl9pPr>
          </a:lstStyle>
          <a:p>
            <a:pPr>
              <a:lnSpc>
                <a:spcPct val="90000"/>
              </a:lnSpc>
              <a:spcBef>
                <a:spcPct val="0"/>
              </a:spcBef>
              <a:spcAft>
                <a:spcPts val="600"/>
              </a:spcAft>
            </a:pPr>
            <a:r>
              <a:rPr lang="en-US" sz="3400" dirty="0">
                <a:latin typeface="+mj-lt"/>
                <a:ea typeface="+mj-ea"/>
                <a:cs typeface="+mj-cs"/>
              </a:rPr>
              <a:t>Advanced Research &amp; Innovation Center – ARIC Digital</a:t>
            </a:r>
          </a:p>
        </p:txBody>
      </p:sp>
      <p:sp>
        <p:nvSpPr>
          <p:cNvPr id="27" name="Freeform 5">
            <a:extLst>
              <a:ext uri="{FF2B5EF4-FFF2-40B4-BE49-F238E27FC236}">
                <a16:creationId xmlns:a16="http://schemas.microsoft.com/office/drawing/2014/main" id="{BD2BFF02-DF78-4F07-B176-52514E13127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062174" y="1653645"/>
            <a:ext cx="4689240" cy="411502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noFill/>
          <a:ln w="50800" cap="flat">
            <a:solidFill>
              <a:schemeClr val="tx1"/>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sp>
        <p:nvSpPr>
          <p:cNvPr id="29" name="Freeform: Shape 28">
            <a:extLst>
              <a:ext uri="{FF2B5EF4-FFF2-40B4-BE49-F238E27FC236}">
                <a16:creationId xmlns:a16="http://schemas.microsoft.com/office/drawing/2014/main" id="{0DB06EAB-7D8C-403A-86C5-B5FD79A13650}"/>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42865" y="634058"/>
            <a:ext cx="3154669" cy="2796247"/>
          </a:xfrm>
          <a:custGeom>
            <a:avLst/>
            <a:gdLst>
              <a:gd name="connsiteX0" fmla="*/ 853538 w 2991693"/>
              <a:gd name="connsiteY0" fmla="*/ 0 h 2651787"/>
              <a:gd name="connsiteX1" fmla="*/ 2141030 w 2991693"/>
              <a:gd name="connsiteY1" fmla="*/ 0 h 2651787"/>
              <a:gd name="connsiteX2" fmla="*/ 2324957 w 2991693"/>
              <a:gd name="connsiteY2" fmla="*/ 103466 h 2651787"/>
              <a:gd name="connsiteX3" fmla="*/ 2968702 w 2991693"/>
              <a:gd name="connsiteY3" fmla="*/ 1218596 h 2651787"/>
              <a:gd name="connsiteX4" fmla="*/ 2968702 w 2991693"/>
              <a:gd name="connsiteY4" fmla="*/ 1433192 h 2651787"/>
              <a:gd name="connsiteX5" fmla="*/ 2324957 w 2991693"/>
              <a:gd name="connsiteY5" fmla="*/ 2548321 h 2651787"/>
              <a:gd name="connsiteX6" fmla="*/ 2141030 w 2991693"/>
              <a:gd name="connsiteY6" fmla="*/ 2651787 h 2651787"/>
              <a:gd name="connsiteX7" fmla="*/ 853538 w 2991693"/>
              <a:gd name="connsiteY7" fmla="*/ 2651787 h 2651787"/>
              <a:gd name="connsiteX8" fmla="*/ 669612 w 2991693"/>
              <a:gd name="connsiteY8" fmla="*/ 2548321 h 2651787"/>
              <a:gd name="connsiteX9" fmla="*/ 25866 w 2991693"/>
              <a:gd name="connsiteY9" fmla="*/ 1433192 h 2651787"/>
              <a:gd name="connsiteX10" fmla="*/ 25866 w 2991693"/>
              <a:gd name="connsiteY10" fmla="*/ 1218596 h 2651787"/>
              <a:gd name="connsiteX11" fmla="*/ 669612 w 2991693"/>
              <a:gd name="connsiteY11" fmla="*/ 103466 h 2651787"/>
              <a:gd name="connsiteX12" fmla="*/ 853538 w 2991693"/>
              <a:gd name="connsiteY12" fmla="*/ 0 h 2651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91693" h="2651787">
                <a:moveTo>
                  <a:pt x="853538" y="0"/>
                </a:moveTo>
                <a:cubicBezTo>
                  <a:pt x="2141030" y="0"/>
                  <a:pt x="2141030" y="0"/>
                  <a:pt x="2141030" y="0"/>
                </a:cubicBezTo>
                <a:cubicBezTo>
                  <a:pt x="2206170" y="0"/>
                  <a:pt x="2290471" y="45985"/>
                  <a:pt x="2324957" y="103466"/>
                </a:cubicBezTo>
                <a:cubicBezTo>
                  <a:pt x="2968702" y="1218596"/>
                  <a:pt x="2968702" y="1218596"/>
                  <a:pt x="2968702" y="1218596"/>
                </a:cubicBezTo>
                <a:cubicBezTo>
                  <a:pt x="2999357" y="1279909"/>
                  <a:pt x="2999357" y="1371878"/>
                  <a:pt x="2968702" y="1433192"/>
                </a:cubicBezTo>
                <a:cubicBezTo>
                  <a:pt x="2324957" y="2548321"/>
                  <a:pt x="2324957" y="2548321"/>
                  <a:pt x="2324957" y="2548321"/>
                </a:cubicBezTo>
                <a:cubicBezTo>
                  <a:pt x="2290471" y="2605803"/>
                  <a:pt x="2206170" y="2651787"/>
                  <a:pt x="2141030" y="2651787"/>
                </a:cubicBezTo>
                <a:lnTo>
                  <a:pt x="853538" y="2651787"/>
                </a:lnTo>
                <a:cubicBezTo>
                  <a:pt x="784566" y="2651787"/>
                  <a:pt x="700266" y="2605803"/>
                  <a:pt x="669612" y="2548321"/>
                </a:cubicBezTo>
                <a:cubicBezTo>
                  <a:pt x="25866" y="1433192"/>
                  <a:pt x="25866" y="1433192"/>
                  <a:pt x="25866" y="1433192"/>
                </a:cubicBezTo>
                <a:cubicBezTo>
                  <a:pt x="-8621" y="1371878"/>
                  <a:pt x="-8621" y="1279909"/>
                  <a:pt x="25866" y="1218596"/>
                </a:cubicBezTo>
                <a:cubicBezTo>
                  <a:pt x="669612" y="103466"/>
                  <a:pt x="669612" y="103466"/>
                  <a:pt x="669612" y="103466"/>
                </a:cubicBezTo>
                <a:cubicBezTo>
                  <a:pt x="700266" y="45985"/>
                  <a:pt x="784566" y="0"/>
                  <a:pt x="853538" y="0"/>
                </a:cubicBezTo>
                <a:close/>
              </a:path>
            </a:pathLst>
          </a:custGeom>
          <a:noFill/>
          <a:ln w="50800" cap="flat">
            <a:solidFill>
              <a:schemeClr val="tx1"/>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pic>
        <p:nvPicPr>
          <p:cNvPr id="8" name="Picture 7" descr="cid:image001.png@01D3DFD3.27E5A010"/>
          <p:cNvPicPr/>
          <p:nvPr/>
        </p:nvPicPr>
        <p:blipFill>
          <a:blip r:embed="rId2">
            <a:extLst>
              <a:ext uri="{28A0092B-C50C-407E-A947-70E740481C1C}">
                <a14:useLocalDpi xmlns:a14="http://schemas.microsoft.com/office/drawing/2010/main" val="0"/>
              </a:ext>
            </a:extLst>
          </a:blip>
          <a:stretch>
            <a:fillRect/>
          </a:stretch>
        </p:blipFill>
        <p:spPr bwMode="auto">
          <a:xfrm>
            <a:off x="5196964" y="1739327"/>
            <a:ext cx="1846470" cy="585708"/>
          </a:xfrm>
          <a:prstGeom prst="rect">
            <a:avLst/>
          </a:prstGeom>
          <a:noFill/>
        </p:spPr>
      </p:pic>
      <p:sp>
        <p:nvSpPr>
          <p:cNvPr id="5" name="Title 4"/>
          <p:cNvSpPr txBox="1">
            <a:spLocks/>
          </p:cNvSpPr>
          <p:nvPr/>
        </p:nvSpPr>
        <p:spPr>
          <a:xfrm>
            <a:off x="965199" y="3729161"/>
            <a:ext cx="5690043" cy="2277321"/>
          </a:xfrm>
          <a:prstGeom prst="rect">
            <a:avLst/>
          </a:prstGeom>
        </p:spPr>
        <p:txBody>
          <a:bodyPr vert="horz" lIns="91440" tIns="45720" rIns="91440" bIns="45720" numCol="1" rtlCol="0" anchorCtr="0" compatLnSpc="1">
            <a:prstTxWarp prst="textNoShape">
              <a:avLst/>
            </a:prstTxWarp>
            <a:normAutofit/>
          </a:bodyPr>
          <a:lstStyle>
            <a:lvl1pPr fontAlgn="base">
              <a:spcBef>
                <a:spcPct val="0"/>
              </a:spcBef>
              <a:spcAft>
                <a:spcPct val="0"/>
              </a:spcAft>
              <a:defRPr sz="2215" b="0" cap="none" baseline="0">
                <a:latin typeface="Candara" pitchFamily="34" charset="0"/>
                <a:ea typeface="+mj-ea"/>
                <a:cs typeface="+mj-cs"/>
              </a:defRPr>
            </a:lvl1pPr>
            <a:lvl2pPr fontAlgn="base">
              <a:spcBef>
                <a:spcPct val="0"/>
              </a:spcBef>
              <a:spcAft>
                <a:spcPct val="0"/>
              </a:spcAft>
              <a:defRPr sz="2215" b="1">
                <a:latin typeface="Book Antiqua" pitchFamily="18" charset="0"/>
              </a:defRPr>
            </a:lvl2pPr>
            <a:lvl3pPr fontAlgn="base">
              <a:spcBef>
                <a:spcPct val="0"/>
              </a:spcBef>
              <a:spcAft>
                <a:spcPct val="0"/>
              </a:spcAft>
              <a:defRPr sz="2215" b="1">
                <a:latin typeface="Book Antiqua" pitchFamily="18" charset="0"/>
              </a:defRPr>
            </a:lvl3pPr>
            <a:lvl4pPr fontAlgn="base">
              <a:spcBef>
                <a:spcPct val="0"/>
              </a:spcBef>
              <a:spcAft>
                <a:spcPct val="0"/>
              </a:spcAft>
              <a:defRPr sz="2215" b="1">
                <a:latin typeface="Book Antiqua" pitchFamily="18" charset="0"/>
              </a:defRPr>
            </a:lvl4pPr>
            <a:lvl5pPr fontAlgn="base">
              <a:spcBef>
                <a:spcPct val="0"/>
              </a:spcBef>
              <a:spcAft>
                <a:spcPct val="0"/>
              </a:spcAft>
              <a:defRPr sz="2215" b="1">
                <a:latin typeface="Book Antiqua" pitchFamily="18" charset="0"/>
              </a:defRPr>
            </a:lvl5pPr>
            <a:lvl6pPr marL="422041" fontAlgn="base">
              <a:spcBef>
                <a:spcPct val="0"/>
              </a:spcBef>
              <a:spcAft>
                <a:spcPct val="0"/>
              </a:spcAft>
              <a:defRPr sz="2215" b="1">
                <a:latin typeface="Book Antiqua" pitchFamily="18" charset="0"/>
              </a:defRPr>
            </a:lvl6pPr>
            <a:lvl7pPr marL="844083" fontAlgn="base">
              <a:spcBef>
                <a:spcPct val="0"/>
              </a:spcBef>
              <a:spcAft>
                <a:spcPct val="0"/>
              </a:spcAft>
              <a:defRPr sz="2215" b="1">
                <a:latin typeface="Book Antiqua" pitchFamily="18" charset="0"/>
              </a:defRPr>
            </a:lvl7pPr>
            <a:lvl8pPr marL="1266124" fontAlgn="base">
              <a:spcBef>
                <a:spcPct val="0"/>
              </a:spcBef>
              <a:spcAft>
                <a:spcPct val="0"/>
              </a:spcAft>
              <a:defRPr sz="2215" b="1">
                <a:latin typeface="Book Antiqua" pitchFamily="18" charset="0"/>
              </a:defRPr>
            </a:lvl8pPr>
            <a:lvl9pPr marL="1688165" fontAlgn="base">
              <a:spcBef>
                <a:spcPct val="0"/>
              </a:spcBef>
              <a:spcAft>
                <a:spcPct val="0"/>
              </a:spcAft>
              <a:defRPr sz="2215" b="1">
                <a:latin typeface="Book Antiqua" pitchFamily="18" charset="0"/>
              </a:defRPr>
            </a:lvl9pPr>
          </a:lstStyle>
          <a:p>
            <a:pPr indent="-228600">
              <a:lnSpc>
                <a:spcPct val="90000"/>
              </a:lnSpc>
              <a:spcAft>
                <a:spcPts val="600"/>
              </a:spcAft>
              <a:buFont typeface="Arial" panose="020B0604020202020204" pitchFamily="34" charset="0"/>
              <a:buChar char="•"/>
            </a:pPr>
            <a:r>
              <a:rPr lang="en-US" sz="2400" b="1">
                <a:latin typeface="+mn-lt"/>
                <a:ea typeface="+mn-ea"/>
                <a:cs typeface="+mn-cs"/>
              </a:rPr>
              <a:t>Marketing and publicity plan</a:t>
            </a:r>
          </a:p>
          <a:p>
            <a:pPr indent="-228600">
              <a:lnSpc>
                <a:spcPct val="90000"/>
              </a:lnSpc>
              <a:spcAft>
                <a:spcPts val="600"/>
              </a:spcAft>
              <a:buFont typeface="Arial" panose="020B0604020202020204" pitchFamily="34" charset="0"/>
              <a:buChar char="•"/>
            </a:pPr>
            <a:endParaRPr lang="en-US" sz="2400" b="1">
              <a:latin typeface="+mn-lt"/>
              <a:ea typeface="+mn-ea"/>
              <a:cs typeface="+mn-cs"/>
            </a:endParaRPr>
          </a:p>
        </p:txBody>
      </p:sp>
      <p:pic>
        <p:nvPicPr>
          <p:cNvPr id="16" name="Picture 15">
            <a:extLst>
              <a:ext uri="{FF2B5EF4-FFF2-40B4-BE49-F238E27FC236}">
                <a16:creationId xmlns:a16="http://schemas.microsoft.com/office/drawing/2014/main" id="{F1880496-93E6-5D29-F4C5-E198D2C09FEF}"/>
              </a:ext>
            </a:extLst>
          </p:cNvPr>
          <p:cNvPicPr>
            <a:picLocks noChangeAspect="1"/>
          </p:cNvPicPr>
          <p:nvPr/>
        </p:nvPicPr>
        <p:blipFill>
          <a:blip r:embed="rId3"/>
          <a:stretch/>
        </p:blipFill>
        <p:spPr>
          <a:xfrm>
            <a:off x="8050038" y="2609099"/>
            <a:ext cx="2713512" cy="2204116"/>
          </a:xfrm>
          <a:prstGeom prst="rect">
            <a:avLst/>
          </a:prstGeom>
        </p:spPr>
      </p:pic>
      <p:sp>
        <p:nvSpPr>
          <p:cNvPr id="2" name="Rectangle 1"/>
          <p:cNvSpPr/>
          <p:nvPr/>
        </p:nvSpPr>
        <p:spPr>
          <a:xfrm>
            <a:off x="331823" y="62576"/>
            <a:ext cx="3788281" cy="369332"/>
          </a:xfrm>
          <a:prstGeom prst="rect">
            <a:avLst/>
          </a:prstGeom>
        </p:spPr>
        <p:txBody>
          <a:bodyPr wrap="none">
            <a:spAutoFit/>
          </a:bodyPr>
          <a:lstStyle/>
          <a:p>
            <a:r>
              <a:rPr lang="en-US" dirty="0" smtClean="0">
                <a:solidFill>
                  <a:srgbClr val="212121"/>
                </a:solidFill>
                <a:latin typeface="Times New Roman" panose="02020603050405020304" pitchFamily="18" charset="0"/>
                <a:cs typeface="Times New Roman" panose="02020603050405020304" pitchFamily="18" charset="0"/>
              </a:rPr>
              <a:t>2. Draft </a:t>
            </a:r>
            <a:r>
              <a:rPr lang="en-US" dirty="0">
                <a:solidFill>
                  <a:srgbClr val="212121"/>
                </a:solidFill>
                <a:latin typeface="Times New Roman" panose="02020603050405020304" pitchFamily="18" charset="0"/>
                <a:cs typeface="Times New Roman" panose="02020603050405020304" pitchFamily="18" charset="0"/>
              </a:rPr>
              <a:t>document for marketing ARIC</a:t>
            </a:r>
          </a:p>
        </p:txBody>
      </p:sp>
    </p:spTree>
    <p:extLst>
      <p:ext uri="{BB962C8B-B14F-4D97-AF65-F5344CB8AC3E}">
        <p14:creationId xmlns:p14="http://schemas.microsoft.com/office/powerpoint/2010/main" val="11200073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4294967295"/>
          </p:nvPr>
        </p:nvSpPr>
        <p:spPr>
          <a:xfrm>
            <a:off x="621981" y="963735"/>
            <a:ext cx="11398250" cy="467739"/>
          </a:xfrm>
          <a:prstGeom prst="rect">
            <a:avLst/>
          </a:prstGeom>
        </p:spPr>
        <p:txBody>
          <a:bodyPr/>
          <a:lstStyle/>
          <a:p>
            <a:r>
              <a:rPr lang="en-US" sz="2667" dirty="0">
                <a:solidFill>
                  <a:schemeClr val="accent5">
                    <a:lumMod val="75000"/>
                  </a:schemeClr>
                </a:solidFill>
              </a:rPr>
              <a:t>Publicizing and marketing at ARIC Digital</a:t>
            </a:r>
          </a:p>
        </p:txBody>
      </p:sp>
      <p:grpSp>
        <p:nvGrpSpPr>
          <p:cNvPr id="3" name="Group 2">
            <a:extLst>
              <a:ext uri="{FF2B5EF4-FFF2-40B4-BE49-F238E27FC236}">
                <a16:creationId xmlns:a16="http://schemas.microsoft.com/office/drawing/2014/main" id="{90FCA495-BB4E-41C0-8F1D-D97499419908}"/>
              </a:ext>
            </a:extLst>
          </p:cNvPr>
          <p:cNvGrpSpPr/>
          <p:nvPr/>
        </p:nvGrpSpPr>
        <p:grpSpPr>
          <a:xfrm>
            <a:off x="646248" y="93649"/>
            <a:ext cx="11197990" cy="926257"/>
            <a:chOff x="775498" y="112379"/>
            <a:chExt cx="13437588" cy="1111508"/>
          </a:xfrm>
        </p:grpSpPr>
        <p:sp>
          <p:nvSpPr>
            <p:cNvPr id="32" name="Rectangle 31">
              <a:extLst>
                <a:ext uri="{FF2B5EF4-FFF2-40B4-BE49-F238E27FC236}">
                  <a16:creationId xmlns:a16="http://schemas.microsoft.com/office/drawing/2014/main" id="{DB1AA17B-CCA0-40B5-9DF3-3B72F027DDDA}"/>
                </a:ext>
              </a:extLst>
            </p:cNvPr>
            <p:cNvSpPr/>
            <p:nvPr/>
          </p:nvSpPr>
          <p:spPr>
            <a:xfrm>
              <a:off x="775498" y="506605"/>
              <a:ext cx="9390520" cy="272382"/>
            </a:xfrm>
            <a:prstGeom prst="rect">
              <a:avLst/>
            </a:prstGeom>
          </p:spPr>
          <p:txBody>
            <a:bodyPr wrap="square">
              <a:spAutoFit/>
            </a:bodyPr>
            <a:lstStyle/>
            <a:p>
              <a:pPr algn="l"/>
              <a:r>
                <a:rPr lang="en-US" sz="875" b="1" dirty="0">
                  <a:solidFill>
                    <a:schemeClr val="tx1">
                      <a:lumMod val="50000"/>
                    </a:schemeClr>
                  </a:solidFill>
                  <a:latin typeface="+mj-lt"/>
                  <a:cs typeface="Arial" panose="020B0604020202020204" pitchFamily="34" charset="0"/>
                </a:rPr>
                <a:t>ARIC Digital: Intelligent Robotic Manufacturing</a:t>
              </a:r>
            </a:p>
          </p:txBody>
        </p:sp>
        <p:cxnSp>
          <p:nvCxnSpPr>
            <p:cNvPr id="33" name="Straight Connector 32">
              <a:extLst>
                <a:ext uri="{FF2B5EF4-FFF2-40B4-BE49-F238E27FC236}">
                  <a16:creationId xmlns:a16="http://schemas.microsoft.com/office/drawing/2014/main" id="{5C8C487F-F776-4772-A9A0-F408AAB17FF1}"/>
                </a:ext>
              </a:extLst>
            </p:cNvPr>
            <p:cNvCxnSpPr>
              <a:cxnSpLocks/>
            </p:cNvCxnSpPr>
            <p:nvPr/>
          </p:nvCxnSpPr>
          <p:spPr>
            <a:xfrm flipV="1">
              <a:off x="843735" y="768215"/>
              <a:ext cx="9911016"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4" name="Picture 33" descr="Khalifa | KET4F-Gas">
              <a:extLst>
                <a:ext uri="{FF2B5EF4-FFF2-40B4-BE49-F238E27FC236}">
                  <a16:creationId xmlns:a16="http://schemas.microsoft.com/office/drawing/2014/main" id="{7384F139-CD85-42E2-9BD4-C3271A89ACB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289754" y="436385"/>
              <a:ext cx="1923332" cy="652601"/>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5">
              <a:extLst>
                <a:ext uri="{FF2B5EF4-FFF2-40B4-BE49-F238E27FC236}">
                  <a16:creationId xmlns:a16="http://schemas.microsoft.com/office/drawing/2014/main" id="{C3364C1F-1857-45C8-97B0-5DCB2F0B4209}"/>
                </a:ext>
              </a:extLst>
            </p:cNvPr>
            <p:cNvPicPr>
              <a:picLocks noChangeAspect="1"/>
            </p:cNvPicPr>
            <p:nvPr/>
          </p:nvPicPr>
          <p:blipFill rotWithShape="1">
            <a:blip r:embed="rId4"/>
            <a:srcRect l="4442" r="4393"/>
            <a:stretch/>
          </p:blipFill>
          <p:spPr>
            <a:xfrm>
              <a:off x="10926565" y="112379"/>
              <a:ext cx="1172623" cy="1111508"/>
            </a:xfrm>
            <a:prstGeom prst="rect">
              <a:avLst/>
            </a:prstGeom>
          </p:spPr>
        </p:pic>
      </p:grpSp>
      <p:sp>
        <p:nvSpPr>
          <p:cNvPr id="4" name="TextBox 3">
            <a:extLst>
              <a:ext uri="{FF2B5EF4-FFF2-40B4-BE49-F238E27FC236}">
                <a16:creationId xmlns:a16="http://schemas.microsoft.com/office/drawing/2014/main" id="{73EAD260-0DB8-FF0F-9110-8FC2D6DA524A}"/>
              </a:ext>
            </a:extLst>
          </p:cNvPr>
          <p:cNvSpPr txBox="1"/>
          <p:nvPr/>
        </p:nvSpPr>
        <p:spPr>
          <a:xfrm>
            <a:off x="1276666" y="1615014"/>
            <a:ext cx="10088880" cy="5016758"/>
          </a:xfrm>
          <a:prstGeom prst="rect">
            <a:avLst/>
          </a:prstGeom>
          <a:noFill/>
        </p:spPr>
        <p:txBody>
          <a:bodyPr wrap="square" rtlCol="0">
            <a:spAutoFit/>
          </a:bodyPr>
          <a:lstStyle/>
          <a:p>
            <a:pPr marL="281078" indent="-281078" algn="just">
              <a:lnSpc>
                <a:spcPct val="200000"/>
              </a:lnSpc>
              <a:buFont typeface="Calibri" panose="020F0502020204030204" pitchFamily="34" charset="0"/>
              <a:buChar char="&lt;"/>
            </a:pPr>
            <a:r>
              <a:rPr lang="en-US" sz="2000" b="1" dirty="0">
                <a:solidFill>
                  <a:srgbClr val="00ADEF"/>
                </a:solidFill>
              </a:rPr>
              <a:t>Motivation and Objectives:</a:t>
            </a:r>
            <a:endParaRPr lang="en-US" sz="1800" dirty="0">
              <a:latin typeface="Times New Roman" panose="02020603050405020304" pitchFamily="18" charset="0"/>
              <a:cs typeface="Arial" panose="020B0604020202020204" pitchFamily="34" charset="0"/>
            </a:endParaRPr>
          </a:p>
          <a:p>
            <a:pPr marL="466706" indent="-380985" algn="just">
              <a:lnSpc>
                <a:spcPct val="200000"/>
              </a:lnSpc>
              <a:spcAft>
                <a:spcPts val="167"/>
              </a:spcAft>
              <a:buFont typeface="+mj-lt"/>
              <a:buAutoNum type="arabicPeriod"/>
            </a:pPr>
            <a:r>
              <a:rPr lang="en-US" sz="1800" b="1" dirty="0">
                <a:latin typeface="Times New Roman" panose="02020603050405020304" pitchFamily="18" charset="0"/>
                <a:ea typeface="Calibri" panose="020F0502020204030204" pitchFamily="34" charset="0"/>
                <a:cs typeface="Arial" panose="020B0604020202020204" pitchFamily="34" charset="0"/>
              </a:rPr>
              <a:t>Create awareness </a:t>
            </a:r>
            <a:r>
              <a:rPr lang="en-US" sz="1800" dirty="0">
                <a:latin typeface="Times New Roman" panose="02020603050405020304" pitchFamily="18" charset="0"/>
                <a:ea typeface="Calibri" panose="020F0502020204030204" pitchFamily="34" charset="0"/>
                <a:cs typeface="Arial" panose="020B0604020202020204" pitchFamily="34" charset="0"/>
              </a:rPr>
              <a:t>about ARIC digital projects and achievements.</a:t>
            </a:r>
          </a:p>
          <a:p>
            <a:pPr marL="466706" indent="-380985" algn="just">
              <a:lnSpc>
                <a:spcPct val="200000"/>
              </a:lnSpc>
              <a:spcAft>
                <a:spcPts val="167"/>
              </a:spcAft>
              <a:buFont typeface="+mj-lt"/>
              <a:buAutoNum type="arabicPeriod"/>
            </a:pPr>
            <a:r>
              <a:rPr lang="en-US" b="1" dirty="0">
                <a:latin typeface="Times New Roman" panose="02020603050405020304" pitchFamily="18" charset="0"/>
                <a:ea typeface="Calibri" panose="020F0502020204030204" pitchFamily="34" charset="0"/>
                <a:cs typeface="Arial" panose="020B0604020202020204" pitchFamily="34" charset="0"/>
              </a:rPr>
              <a:t>Publicize the contributions of ARIC stakeholders </a:t>
            </a:r>
            <a:r>
              <a:rPr lang="en-US" dirty="0">
                <a:latin typeface="Times New Roman" panose="02020603050405020304" pitchFamily="18" charset="0"/>
                <a:ea typeface="Calibri" panose="020F0502020204030204" pitchFamily="34" charset="0"/>
                <a:cs typeface="Arial" panose="020B0604020202020204" pitchFamily="34" charset="0"/>
              </a:rPr>
              <a:t>in supporting national technology development.</a:t>
            </a:r>
          </a:p>
          <a:p>
            <a:pPr marL="466706" indent="-380985" algn="just">
              <a:lnSpc>
                <a:spcPct val="200000"/>
              </a:lnSpc>
              <a:spcAft>
                <a:spcPts val="167"/>
              </a:spcAft>
              <a:buFont typeface="+mj-lt"/>
              <a:buAutoNum type="arabicPeriod"/>
            </a:pPr>
            <a:r>
              <a:rPr lang="en-US" b="1" dirty="0">
                <a:latin typeface="Times New Roman" panose="02020603050405020304" pitchFamily="18" charset="0"/>
                <a:ea typeface="Calibri" panose="020F0502020204030204" pitchFamily="34" charset="0"/>
                <a:cs typeface="Arial" panose="020B0604020202020204" pitchFamily="34" charset="0"/>
              </a:rPr>
              <a:t>Boost impact of ARIC publications </a:t>
            </a:r>
            <a:r>
              <a:rPr lang="en-US" dirty="0">
                <a:latin typeface="Times New Roman" panose="02020603050405020304" pitchFamily="18" charset="0"/>
                <a:ea typeface="Calibri" panose="020F0502020204030204" pitchFamily="34" charset="0"/>
                <a:cs typeface="Arial" panose="020B0604020202020204" pitchFamily="34" charset="0"/>
              </a:rPr>
              <a:t>by creating wider audience base.</a:t>
            </a:r>
          </a:p>
          <a:p>
            <a:pPr marL="466706" indent="-380985" algn="just">
              <a:lnSpc>
                <a:spcPct val="200000"/>
              </a:lnSpc>
              <a:spcAft>
                <a:spcPts val="167"/>
              </a:spcAft>
              <a:buFont typeface="+mj-lt"/>
              <a:buAutoNum type="arabicPeriod"/>
            </a:pPr>
            <a:r>
              <a:rPr lang="en-US" b="1" dirty="0">
                <a:latin typeface="Times New Roman" panose="02020603050405020304" pitchFamily="18" charset="0"/>
                <a:ea typeface="Calibri" panose="020F0502020204030204" pitchFamily="34" charset="0"/>
                <a:cs typeface="Arial" panose="020B0604020202020204" pitchFamily="34" charset="0"/>
              </a:rPr>
              <a:t>Attract technology partners </a:t>
            </a:r>
            <a:r>
              <a:rPr lang="en-US" dirty="0">
                <a:latin typeface="Times New Roman" panose="02020603050405020304" pitchFamily="18" charset="0"/>
                <a:ea typeface="Calibri" panose="020F0502020204030204" pitchFamily="34" charset="0"/>
                <a:cs typeface="Arial" panose="020B0604020202020204" pitchFamily="34" charset="0"/>
              </a:rPr>
              <a:t>from UAE and abroad.</a:t>
            </a:r>
          </a:p>
          <a:p>
            <a:pPr marL="466706" indent="-380985" algn="just">
              <a:lnSpc>
                <a:spcPct val="200000"/>
              </a:lnSpc>
              <a:spcAft>
                <a:spcPts val="167"/>
              </a:spcAft>
              <a:buFont typeface="+mj-lt"/>
              <a:buAutoNum type="arabicPeriod"/>
            </a:pPr>
            <a:r>
              <a:rPr lang="en-US" sz="1800" b="1" dirty="0">
                <a:latin typeface="Times New Roman" panose="02020603050405020304" pitchFamily="18" charset="0"/>
                <a:ea typeface="Calibri" panose="020F0502020204030204" pitchFamily="34" charset="0"/>
                <a:cs typeface="Arial" panose="020B0604020202020204" pitchFamily="34" charset="0"/>
              </a:rPr>
              <a:t>Create local network </a:t>
            </a:r>
            <a:r>
              <a:rPr lang="en-US" sz="1800" dirty="0">
                <a:latin typeface="Times New Roman" panose="02020603050405020304" pitchFamily="18" charset="0"/>
                <a:ea typeface="Calibri" panose="020F0502020204030204" pitchFamily="34" charset="0"/>
                <a:cs typeface="Arial" panose="020B0604020202020204" pitchFamily="34" charset="0"/>
              </a:rPr>
              <a:t>for intelligent manufacturing technologies, inline with the UAE’s industrialization strategy.</a:t>
            </a:r>
          </a:p>
          <a:p>
            <a:pPr marL="466706" indent="-380985" algn="just">
              <a:lnSpc>
                <a:spcPct val="200000"/>
              </a:lnSpc>
              <a:spcAft>
                <a:spcPts val="167"/>
              </a:spcAft>
              <a:buFont typeface="+mj-lt"/>
              <a:buAutoNum type="arabicPeriod"/>
            </a:pPr>
            <a:r>
              <a:rPr lang="en-US" sz="1800" b="1" dirty="0">
                <a:latin typeface="Times New Roman" panose="02020603050405020304" pitchFamily="18" charset="0"/>
                <a:ea typeface="Calibri" panose="020F0502020204030204" pitchFamily="34" charset="0"/>
                <a:cs typeface="Arial" panose="020B0604020202020204" pitchFamily="34" charset="0"/>
              </a:rPr>
              <a:t>Facilitate </a:t>
            </a:r>
            <a:r>
              <a:rPr lang="en-US" b="1" dirty="0">
                <a:latin typeface="Times New Roman" panose="02020603050405020304" pitchFamily="18" charset="0"/>
                <a:ea typeface="Calibri" panose="020F0502020204030204" pitchFamily="34" charset="0"/>
                <a:cs typeface="Arial" panose="020B0604020202020204" pitchFamily="34" charset="0"/>
              </a:rPr>
              <a:t>commercialization </a:t>
            </a:r>
            <a:r>
              <a:rPr lang="en-US" dirty="0">
                <a:latin typeface="Times New Roman" panose="02020603050405020304" pitchFamily="18" charset="0"/>
                <a:ea typeface="Calibri" panose="020F0502020204030204" pitchFamily="34" charset="0"/>
                <a:cs typeface="Arial" panose="020B0604020202020204" pitchFamily="34" charset="0"/>
              </a:rPr>
              <a:t>of ARIC technologies.</a:t>
            </a:r>
            <a:endParaRPr lang="en-US" sz="1800" dirty="0">
              <a:latin typeface="Times New Roman" panose="02020603050405020304" pitchFamily="18" charset="0"/>
              <a:ea typeface="Calibri" panose="020F0502020204030204" pitchFamily="34" charset="0"/>
              <a:cs typeface="Arial" panose="020B0604020202020204" pitchFamily="34" charset="0"/>
            </a:endParaRPr>
          </a:p>
          <a:p>
            <a:endParaRPr lang="en-GB" dirty="0"/>
          </a:p>
        </p:txBody>
      </p:sp>
    </p:spTree>
    <p:extLst>
      <p:ext uri="{BB962C8B-B14F-4D97-AF65-F5344CB8AC3E}">
        <p14:creationId xmlns:p14="http://schemas.microsoft.com/office/powerpoint/2010/main" val="20503555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4294967295"/>
          </p:nvPr>
        </p:nvSpPr>
        <p:spPr>
          <a:xfrm>
            <a:off x="621981" y="963735"/>
            <a:ext cx="11398250" cy="467739"/>
          </a:xfrm>
          <a:prstGeom prst="rect">
            <a:avLst/>
          </a:prstGeom>
        </p:spPr>
        <p:txBody>
          <a:bodyPr/>
          <a:lstStyle/>
          <a:p>
            <a:r>
              <a:rPr lang="en-US" sz="2667" dirty="0">
                <a:solidFill>
                  <a:schemeClr val="accent5">
                    <a:lumMod val="75000"/>
                  </a:schemeClr>
                </a:solidFill>
              </a:rPr>
              <a:t>Publicizing and marketing at ARIC Digital</a:t>
            </a:r>
          </a:p>
        </p:txBody>
      </p:sp>
      <p:grpSp>
        <p:nvGrpSpPr>
          <p:cNvPr id="3" name="Group 2">
            <a:extLst>
              <a:ext uri="{FF2B5EF4-FFF2-40B4-BE49-F238E27FC236}">
                <a16:creationId xmlns:a16="http://schemas.microsoft.com/office/drawing/2014/main" id="{90FCA495-BB4E-41C0-8F1D-D97499419908}"/>
              </a:ext>
            </a:extLst>
          </p:cNvPr>
          <p:cNvGrpSpPr/>
          <p:nvPr/>
        </p:nvGrpSpPr>
        <p:grpSpPr>
          <a:xfrm>
            <a:off x="646248" y="93649"/>
            <a:ext cx="11197990" cy="926257"/>
            <a:chOff x="775498" y="112379"/>
            <a:chExt cx="13437588" cy="1111508"/>
          </a:xfrm>
        </p:grpSpPr>
        <p:sp>
          <p:nvSpPr>
            <p:cNvPr id="32" name="Rectangle 31">
              <a:extLst>
                <a:ext uri="{FF2B5EF4-FFF2-40B4-BE49-F238E27FC236}">
                  <a16:creationId xmlns:a16="http://schemas.microsoft.com/office/drawing/2014/main" id="{DB1AA17B-CCA0-40B5-9DF3-3B72F027DDDA}"/>
                </a:ext>
              </a:extLst>
            </p:cNvPr>
            <p:cNvSpPr/>
            <p:nvPr/>
          </p:nvSpPr>
          <p:spPr>
            <a:xfrm>
              <a:off x="775498" y="506605"/>
              <a:ext cx="9390520" cy="272382"/>
            </a:xfrm>
            <a:prstGeom prst="rect">
              <a:avLst/>
            </a:prstGeom>
          </p:spPr>
          <p:txBody>
            <a:bodyPr wrap="square">
              <a:spAutoFit/>
            </a:bodyPr>
            <a:lstStyle/>
            <a:p>
              <a:pPr algn="l"/>
              <a:r>
                <a:rPr lang="en-US" sz="875" b="1" dirty="0">
                  <a:solidFill>
                    <a:schemeClr val="tx1">
                      <a:lumMod val="50000"/>
                    </a:schemeClr>
                  </a:solidFill>
                  <a:latin typeface="+mj-lt"/>
                  <a:cs typeface="Arial" panose="020B0604020202020204" pitchFamily="34" charset="0"/>
                </a:rPr>
                <a:t>ARIC Digital: Intelligent Robotic Manufacturing</a:t>
              </a:r>
            </a:p>
          </p:txBody>
        </p:sp>
        <p:cxnSp>
          <p:nvCxnSpPr>
            <p:cNvPr id="33" name="Straight Connector 32">
              <a:extLst>
                <a:ext uri="{FF2B5EF4-FFF2-40B4-BE49-F238E27FC236}">
                  <a16:creationId xmlns:a16="http://schemas.microsoft.com/office/drawing/2014/main" id="{5C8C487F-F776-4772-A9A0-F408AAB17FF1}"/>
                </a:ext>
              </a:extLst>
            </p:cNvPr>
            <p:cNvCxnSpPr>
              <a:cxnSpLocks/>
            </p:cNvCxnSpPr>
            <p:nvPr/>
          </p:nvCxnSpPr>
          <p:spPr>
            <a:xfrm flipV="1">
              <a:off x="843735" y="768215"/>
              <a:ext cx="9911016"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4" name="Picture 33" descr="Khalifa | KET4F-Gas">
              <a:extLst>
                <a:ext uri="{FF2B5EF4-FFF2-40B4-BE49-F238E27FC236}">
                  <a16:creationId xmlns:a16="http://schemas.microsoft.com/office/drawing/2014/main" id="{7384F139-CD85-42E2-9BD4-C3271A89ACB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289754" y="436385"/>
              <a:ext cx="1923332" cy="652601"/>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5">
              <a:extLst>
                <a:ext uri="{FF2B5EF4-FFF2-40B4-BE49-F238E27FC236}">
                  <a16:creationId xmlns:a16="http://schemas.microsoft.com/office/drawing/2014/main" id="{C3364C1F-1857-45C8-97B0-5DCB2F0B4209}"/>
                </a:ext>
              </a:extLst>
            </p:cNvPr>
            <p:cNvPicPr>
              <a:picLocks noChangeAspect="1"/>
            </p:cNvPicPr>
            <p:nvPr/>
          </p:nvPicPr>
          <p:blipFill rotWithShape="1">
            <a:blip r:embed="rId4"/>
            <a:srcRect l="4442" r="4393"/>
            <a:stretch/>
          </p:blipFill>
          <p:spPr>
            <a:xfrm>
              <a:off x="10926565" y="112379"/>
              <a:ext cx="1172623" cy="1111508"/>
            </a:xfrm>
            <a:prstGeom prst="rect">
              <a:avLst/>
            </a:prstGeom>
          </p:spPr>
        </p:pic>
      </p:grpSp>
      <p:sp>
        <p:nvSpPr>
          <p:cNvPr id="4" name="TextBox 3">
            <a:extLst>
              <a:ext uri="{FF2B5EF4-FFF2-40B4-BE49-F238E27FC236}">
                <a16:creationId xmlns:a16="http://schemas.microsoft.com/office/drawing/2014/main" id="{73EAD260-0DB8-FF0F-9110-8FC2D6DA524A}"/>
              </a:ext>
            </a:extLst>
          </p:cNvPr>
          <p:cNvSpPr txBox="1"/>
          <p:nvPr/>
        </p:nvSpPr>
        <p:spPr>
          <a:xfrm>
            <a:off x="924560" y="1678102"/>
            <a:ext cx="10088880" cy="620042"/>
          </a:xfrm>
          <a:prstGeom prst="rect">
            <a:avLst/>
          </a:prstGeom>
          <a:noFill/>
        </p:spPr>
        <p:txBody>
          <a:bodyPr wrap="square" rtlCol="0">
            <a:spAutoFit/>
          </a:bodyPr>
          <a:lstStyle/>
          <a:p>
            <a:pPr algn="ctr">
              <a:lnSpc>
                <a:spcPct val="200000"/>
              </a:lnSpc>
            </a:pPr>
            <a:r>
              <a:rPr lang="en-US" sz="2000" b="1" dirty="0">
                <a:solidFill>
                  <a:srgbClr val="00ADEF"/>
                </a:solidFill>
              </a:rPr>
              <a:t>Means and Channels</a:t>
            </a:r>
            <a:endParaRPr lang="en-US" sz="1800" dirty="0">
              <a:latin typeface="Times New Roman" panose="02020603050405020304" pitchFamily="18" charset="0"/>
              <a:cs typeface="Arial" panose="020B0604020202020204" pitchFamily="34" charset="0"/>
            </a:endParaRPr>
          </a:p>
        </p:txBody>
      </p:sp>
      <p:cxnSp>
        <p:nvCxnSpPr>
          <p:cNvPr id="6" name="Straight Arrow Connector 5">
            <a:extLst>
              <a:ext uri="{FF2B5EF4-FFF2-40B4-BE49-F238E27FC236}">
                <a16:creationId xmlns:a16="http://schemas.microsoft.com/office/drawing/2014/main" id="{AD0FAC81-E46B-9D4F-1E0B-773069A3C1CD}"/>
              </a:ext>
            </a:extLst>
          </p:cNvPr>
          <p:cNvCxnSpPr>
            <a:cxnSpLocks/>
          </p:cNvCxnSpPr>
          <p:nvPr/>
        </p:nvCxnSpPr>
        <p:spPr>
          <a:xfrm flipH="1">
            <a:off x="3408680" y="2298144"/>
            <a:ext cx="1424022" cy="971570"/>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E1DFAF6-8CD6-0260-7FCD-F5AB11D0B532}"/>
              </a:ext>
            </a:extLst>
          </p:cNvPr>
          <p:cNvCxnSpPr>
            <a:cxnSpLocks/>
          </p:cNvCxnSpPr>
          <p:nvPr/>
        </p:nvCxnSpPr>
        <p:spPr>
          <a:xfrm>
            <a:off x="5826760" y="2298144"/>
            <a:ext cx="0" cy="1191816"/>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D074EE46-9EFA-F664-35A2-90CDF05F2645}"/>
              </a:ext>
            </a:extLst>
          </p:cNvPr>
          <p:cNvCxnSpPr>
            <a:cxnSpLocks/>
          </p:cNvCxnSpPr>
          <p:nvPr/>
        </p:nvCxnSpPr>
        <p:spPr>
          <a:xfrm>
            <a:off x="6770727" y="2298144"/>
            <a:ext cx="1579880" cy="1056124"/>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ED69564C-1DCD-9ABC-CACF-D978173D9C2E}"/>
              </a:ext>
            </a:extLst>
          </p:cNvPr>
          <p:cNvSpPr/>
          <p:nvPr/>
        </p:nvSpPr>
        <p:spPr>
          <a:xfrm>
            <a:off x="147326" y="3197125"/>
            <a:ext cx="3261354" cy="2697139"/>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5">
                    <a:lumMod val="75000"/>
                  </a:schemeClr>
                </a:solidFill>
              </a:rPr>
              <a:t>Stand-alone ARIC LinkedIn page:</a:t>
            </a:r>
          </a:p>
          <a:p>
            <a:pPr algn="ctr"/>
            <a:endParaRPr lang="en-US" dirty="0">
              <a:solidFill>
                <a:schemeClr val="accent5">
                  <a:lumMod val="75000"/>
                </a:schemeClr>
              </a:solidFill>
            </a:endParaRPr>
          </a:p>
          <a:p>
            <a:pPr marL="285750" indent="-285750">
              <a:buFont typeface="Courier New" panose="02070309020205020404" pitchFamily="49" charset="0"/>
              <a:buChar char="o"/>
            </a:pPr>
            <a:r>
              <a:rPr lang="en-US" dirty="0">
                <a:solidFill>
                  <a:schemeClr val="accent5">
                    <a:lumMod val="75000"/>
                  </a:schemeClr>
                </a:solidFill>
              </a:rPr>
              <a:t>For regular bi-weekly updates on: technology development, papers, patents, important lab visits, </a:t>
            </a:r>
            <a:r>
              <a:rPr lang="en-US" dirty="0" err="1">
                <a:solidFill>
                  <a:schemeClr val="accent5">
                    <a:lumMod val="75000"/>
                  </a:schemeClr>
                </a:solidFill>
              </a:rPr>
              <a:t>etc</a:t>
            </a:r>
            <a:r>
              <a:rPr lang="en-US" dirty="0">
                <a:solidFill>
                  <a:schemeClr val="accent5">
                    <a:lumMod val="75000"/>
                  </a:schemeClr>
                </a:solidFill>
              </a:rPr>
              <a:t> …</a:t>
            </a:r>
            <a:endParaRPr lang="en-GB" dirty="0">
              <a:solidFill>
                <a:schemeClr val="accent5">
                  <a:lumMod val="75000"/>
                </a:schemeClr>
              </a:solidFill>
            </a:endParaRPr>
          </a:p>
        </p:txBody>
      </p:sp>
      <p:sp>
        <p:nvSpPr>
          <p:cNvPr id="25" name="Rectangle: Rounded Corners 24">
            <a:extLst>
              <a:ext uri="{FF2B5EF4-FFF2-40B4-BE49-F238E27FC236}">
                <a16:creationId xmlns:a16="http://schemas.microsoft.com/office/drawing/2014/main" id="{8792E77E-865B-C1BA-AD8F-B22F52F2D062}"/>
              </a:ext>
            </a:extLst>
          </p:cNvPr>
          <p:cNvSpPr/>
          <p:nvPr/>
        </p:nvSpPr>
        <p:spPr>
          <a:xfrm>
            <a:off x="4196083" y="3588287"/>
            <a:ext cx="3261354" cy="2697139"/>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5">
                    <a:lumMod val="75000"/>
                  </a:schemeClr>
                </a:solidFill>
              </a:rPr>
              <a:t>Press releases in local media:</a:t>
            </a:r>
          </a:p>
          <a:p>
            <a:pPr algn="ctr"/>
            <a:endParaRPr lang="en-US" b="1" dirty="0">
              <a:solidFill>
                <a:schemeClr val="accent5">
                  <a:lumMod val="75000"/>
                </a:schemeClr>
              </a:solidFill>
            </a:endParaRPr>
          </a:p>
          <a:p>
            <a:pPr marL="285750" indent="-285750">
              <a:buFont typeface="Courier New" panose="02070309020205020404" pitchFamily="49" charset="0"/>
              <a:buChar char="o"/>
            </a:pPr>
            <a:r>
              <a:rPr lang="en-US" dirty="0">
                <a:solidFill>
                  <a:schemeClr val="accent5">
                    <a:lumMod val="75000"/>
                  </a:schemeClr>
                </a:solidFill>
              </a:rPr>
              <a:t>Target two press releases a year including news articles and promotional videos to report major milestones</a:t>
            </a:r>
          </a:p>
          <a:p>
            <a:pPr algn="ctr"/>
            <a:endParaRPr lang="en-GB" dirty="0">
              <a:solidFill>
                <a:schemeClr val="accent5">
                  <a:lumMod val="75000"/>
                </a:schemeClr>
              </a:solidFill>
            </a:endParaRPr>
          </a:p>
        </p:txBody>
      </p:sp>
      <p:sp>
        <p:nvSpPr>
          <p:cNvPr id="28" name="Rectangle: Rounded Corners 27">
            <a:extLst>
              <a:ext uri="{FF2B5EF4-FFF2-40B4-BE49-F238E27FC236}">
                <a16:creationId xmlns:a16="http://schemas.microsoft.com/office/drawing/2014/main" id="{793126A8-FCE6-953F-BA9C-2F554115E9DB}"/>
              </a:ext>
            </a:extLst>
          </p:cNvPr>
          <p:cNvSpPr/>
          <p:nvPr/>
        </p:nvSpPr>
        <p:spPr>
          <a:xfrm>
            <a:off x="8554725" y="3197124"/>
            <a:ext cx="3388349" cy="3567227"/>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5">
                    <a:lumMod val="75000"/>
                  </a:schemeClr>
                </a:solidFill>
              </a:rPr>
              <a:t>Local and International Conference/Exhibitions:</a:t>
            </a:r>
          </a:p>
          <a:p>
            <a:pPr algn="ctr"/>
            <a:endParaRPr lang="en-US" b="1" dirty="0">
              <a:solidFill>
                <a:schemeClr val="accent5">
                  <a:lumMod val="75000"/>
                </a:schemeClr>
              </a:solidFill>
            </a:endParaRPr>
          </a:p>
          <a:p>
            <a:pPr marL="285750" indent="-285750">
              <a:buFont typeface="Courier New" panose="02070309020205020404" pitchFamily="49" charset="0"/>
              <a:buChar char="o"/>
            </a:pPr>
            <a:r>
              <a:rPr lang="en-US" dirty="0">
                <a:solidFill>
                  <a:schemeClr val="accent5">
                    <a:lumMod val="75000"/>
                  </a:schemeClr>
                </a:solidFill>
              </a:rPr>
              <a:t>Target a single conference and a single exhibition:</a:t>
            </a:r>
          </a:p>
          <a:p>
            <a:pPr marL="742950" lvl="1" indent="-285750">
              <a:buFont typeface="Courier New" panose="02070309020205020404" pitchFamily="49" charset="0"/>
              <a:buChar char="o"/>
            </a:pPr>
            <a:r>
              <a:rPr lang="en-US" dirty="0">
                <a:solidFill>
                  <a:schemeClr val="accent5">
                    <a:lumMod val="75000"/>
                  </a:schemeClr>
                </a:solidFill>
              </a:rPr>
              <a:t>Dubai Airshow</a:t>
            </a:r>
          </a:p>
          <a:p>
            <a:pPr marL="742950" lvl="1" indent="-285750">
              <a:buFont typeface="Courier New" panose="02070309020205020404" pitchFamily="49" charset="0"/>
              <a:buChar char="o"/>
            </a:pPr>
            <a:r>
              <a:rPr lang="en-US" dirty="0">
                <a:solidFill>
                  <a:schemeClr val="accent5">
                    <a:lumMod val="75000"/>
                  </a:schemeClr>
                </a:solidFill>
              </a:rPr>
              <a:t>Global Aerospace Summit</a:t>
            </a:r>
          </a:p>
          <a:p>
            <a:pPr marL="742950" lvl="1" indent="-285750">
              <a:buFont typeface="Courier New" panose="02070309020205020404" pitchFamily="49" charset="0"/>
              <a:buChar char="o"/>
            </a:pPr>
            <a:r>
              <a:rPr lang="en-US" dirty="0">
                <a:solidFill>
                  <a:schemeClr val="accent5">
                    <a:lumMod val="75000"/>
                  </a:schemeClr>
                </a:solidFill>
              </a:rPr>
              <a:t>Global Manufacturing &amp; Industrialization Summit</a:t>
            </a:r>
          </a:p>
          <a:p>
            <a:pPr marL="742950" lvl="1" indent="-285750">
              <a:buFont typeface="Courier New" panose="02070309020205020404" pitchFamily="49" charset="0"/>
              <a:buChar char="o"/>
            </a:pPr>
            <a:r>
              <a:rPr lang="en-US" dirty="0">
                <a:solidFill>
                  <a:schemeClr val="accent5">
                    <a:lumMod val="75000"/>
                  </a:schemeClr>
                </a:solidFill>
              </a:rPr>
              <a:t>…</a:t>
            </a:r>
          </a:p>
          <a:p>
            <a:pPr algn="ctr"/>
            <a:endParaRPr lang="en-GB" dirty="0">
              <a:solidFill>
                <a:schemeClr val="accent5">
                  <a:lumMod val="75000"/>
                </a:schemeClr>
              </a:solidFill>
            </a:endParaRPr>
          </a:p>
        </p:txBody>
      </p:sp>
    </p:spTree>
    <p:extLst>
      <p:ext uri="{BB962C8B-B14F-4D97-AF65-F5344CB8AC3E}">
        <p14:creationId xmlns:p14="http://schemas.microsoft.com/office/powerpoint/2010/main" val="26091897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4294967295"/>
          </p:nvPr>
        </p:nvSpPr>
        <p:spPr>
          <a:xfrm>
            <a:off x="621981" y="963735"/>
            <a:ext cx="11398250" cy="467739"/>
          </a:xfrm>
          <a:prstGeom prst="rect">
            <a:avLst/>
          </a:prstGeom>
        </p:spPr>
        <p:txBody>
          <a:bodyPr/>
          <a:lstStyle/>
          <a:p>
            <a:r>
              <a:rPr lang="en-US" sz="2667" dirty="0">
                <a:solidFill>
                  <a:schemeClr val="accent5">
                    <a:lumMod val="75000"/>
                  </a:schemeClr>
                </a:solidFill>
              </a:rPr>
              <a:t>Publicizing and marketing at ARIC Digital</a:t>
            </a:r>
          </a:p>
        </p:txBody>
      </p:sp>
      <p:grpSp>
        <p:nvGrpSpPr>
          <p:cNvPr id="3" name="Group 2">
            <a:extLst>
              <a:ext uri="{FF2B5EF4-FFF2-40B4-BE49-F238E27FC236}">
                <a16:creationId xmlns:a16="http://schemas.microsoft.com/office/drawing/2014/main" id="{90FCA495-BB4E-41C0-8F1D-D97499419908}"/>
              </a:ext>
            </a:extLst>
          </p:cNvPr>
          <p:cNvGrpSpPr/>
          <p:nvPr/>
        </p:nvGrpSpPr>
        <p:grpSpPr>
          <a:xfrm>
            <a:off x="646248" y="93649"/>
            <a:ext cx="11197990" cy="926257"/>
            <a:chOff x="775498" y="112379"/>
            <a:chExt cx="13437588" cy="1111508"/>
          </a:xfrm>
        </p:grpSpPr>
        <p:sp>
          <p:nvSpPr>
            <p:cNvPr id="32" name="Rectangle 31">
              <a:extLst>
                <a:ext uri="{FF2B5EF4-FFF2-40B4-BE49-F238E27FC236}">
                  <a16:creationId xmlns:a16="http://schemas.microsoft.com/office/drawing/2014/main" id="{DB1AA17B-CCA0-40B5-9DF3-3B72F027DDDA}"/>
                </a:ext>
              </a:extLst>
            </p:cNvPr>
            <p:cNvSpPr/>
            <p:nvPr/>
          </p:nvSpPr>
          <p:spPr>
            <a:xfrm>
              <a:off x="775498" y="506605"/>
              <a:ext cx="9390520" cy="272382"/>
            </a:xfrm>
            <a:prstGeom prst="rect">
              <a:avLst/>
            </a:prstGeom>
          </p:spPr>
          <p:txBody>
            <a:bodyPr wrap="square">
              <a:spAutoFit/>
            </a:bodyPr>
            <a:lstStyle/>
            <a:p>
              <a:pPr algn="l"/>
              <a:r>
                <a:rPr lang="en-US" sz="875" b="1" dirty="0">
                  <a:solidFill>
                    <a:schemeClr val="tx1">
                      <a:lumMod val="50000"/>
                    </a:schemeClr>
                  </a:solidFill>
                  <a:latin typeface="+mj-lt"/>
                  <a:cs typeface="Arial" panose="020B0604020202020204" pitchFamily="34" charset="0"/>
                </a:rPr>
                <a:t>ARIC Digital: Intelligent Robotic Manufacturing</a:t>
              </a:r>
            </a:p>
          </p:txBody>
        </p:sp>
        <p:cxnSp>
          <p:nvCxnSpPr>
            <p:cNvPr id="33" name="Straight Connector 32">
              <a:extLst>
                <a:ext uri="{FF2B5EF4-FFF2-40B4-BE49-F238E27FC236}">
                  <a16:creationId xmlns:a16="http://schemas.microsoft.com/office/drawing/2014/main" id="{5C8C487F-F776-4772-A9A0-F408AAB17FF1}"/>
                </a:ext>
              </a:extLst>
            </p:cNvPr>
            <p:cNvCxnSpPr>
              <a:cxnSpLocks/>
            </p:cNvCxnSpPr>
            <p:nvPr/>
          </p:nvCxnSpPr>
          <p:spPr>
            <a:xfrm flipV="1">
              <a:off x="843735" y="768215"/>
              <a:ext cx="9911016"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4" name="Picture 33" descr="Khalifa | KET4F-Gas">
              <a:extLst>
                <a:ext uri="{FF2B5EF4-FFF2-40B4-BE49-F238E27FC236}">
                  <a16:creationId xmlns:a16="http://schemas.microsoft.com/office/drawing/2014/main" id="{7384F139-CD85-42E2-9BD4-C3271A89ACB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289754" y="436385"/>
              <a:ext cx="1923332" cy="652601"/>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5">
              <a:extLst>
                <a:ext uri="{FF2B5EF4-FFF2-40B4-BE49-F238E27FC236}">
                  <a16:creationId xmlns:a16="http://schemas.microsoft.com/office/drawing/2014/main" id="{C3364C1F-1857-45C8-97B0-5DCB2F0B4209}"/>
                </a:ext>
              </a:extLst>
            </p:cNvPr>
            <p:cNvPicPr>
              <a:picLocks noChangeAspect="1"/>
            </p:cNvPicPr>
            <p:nvPr/>
          </p:nvPicPr>
          <p:blipFill rotWithShape="1">
            <a:blip r:embed="rId4"/>
            <a:srcRect l="4442" r="4393"/>
            <a:stretch/>
          </p:blipFill>
          <p:spPr>
            <a:xfrm>
              <a:off x="10926565" y="112379"/>
              <a:ext cx="1172623" cy="1111508"/>
            </a:xfrm>
            <a:prstGeom prst="rect">
              <a:avLst/>
            </a:prstGeom>
          </p:spPr>
        </p:pic>
      </p:grpSp>
      <p:sp>
        <p:nvSpPr>
          <p:cNvPr id="37" name="TextBox 36">
            <a:extLst>
              <a:ext uri="{FF2B5EF4-FFF2-40B4-BE49-F238E27FC236}">
                <a16:creationId xmlns:a16="http://schemas.microsoft.com/office/drawing/2014/main" id="{71C7A1F5-99BB-415F-B866-A652DF4D2FA5}"/>
              </a:ext>
            </a:extLst>
          </p:cNvPr>
          <p:cNvSpPr txBox="1"/>
          <p:nvPr/>
        </p:nvSpPr>
        <p:spPr>
          <a:xfrm>
            <a:off x="1214001" y="1431474"/>
            <a:ext cx="8590789" cy="451342"/>
          </a:xfrm>
          <a:prstGeom prst="rect">
            <a:avLst/>
          </a:prstGeom>
          <a:noFill/>
        </p:spPr>
        <p:txBody>
          <a:bodyPr wrap="square" rtlCol="0">
            <a:spAutoFit/>
          </a:bodyPr>
          <a:lstStyle/>
          <a:p>
            <a:pPr marL="281078" indent="-281078" algn="just">
              <a:buFont typeface="Calibri" panose="020F0502020204030204" pitchFamily="34" charset="0"/>
              <a:buChar char="&lt;"/>
            </a:pPr>
            <a:r>
              <a:rPr lang="en-US" sz="2333" b="1" dirty="0">
                <a:solidFill>
                  <a:srgbClr val="00ADEF"/>
                </a:solidFill>
              </a:rPr>
              <a:t>Suggested Content for LinkedIn page:</a:t>
            </a:r>
            <a:endParaRPr lang="en-US" sz="2000" dirty="0">
              <a:latin typeface="Times New Roman" panose="02020603050405020304" pitchFamily="18" charset="0"/>
              <a:cs typeface="Arial" panose="020B0604020202020204" pitchFamily="34" charset="0"/>
            </a:endParaRPr>
          </a:p>
        </p:txBody>
      </p:sp>
      <p:graphicFrame>
        <p:nvGraphicFramePr>
          <p:cNvPr id="4" name="Table 3">
            <a:extLst>
              <a:ext uri="{FF2B5EF4-FFF2-40B4-BE49-F238E27FC236}">
                <a16:creationId xmlns:a16="http://schemas.microsoft.com/office/drawing/2014/main" id="{F3D518B2-CEC0-B47B-E2AB-51B5BB54F861}"/>
              </a:ext>
            </a:extLst>
          </p:cNvPr>
          <p:cNvGraphicFramePr>
            <a:graphicFrameLocks noGrp="1"/>
          </p:cNvGraphicFramePr>
          <p:nvPr>
            <p:extLst>
              <p:ext uri="{D42A27DB-BD31-4B8C-83A1-F6EECF244321}">
                <p14:modId xmlns:p14="http://schemas.microsoft.com/office/powerpoint/2010/main" val="2883467545"/>
              </p:ext>
            </p:extLst>
          </p:nvPr>
        </p:nvGraphicFramePr>
        <p:xfrm>
          <a:off x="646248" y="1967865"/>
          <a:ext cx="10966633" cy="4676699"/>
        </p:xfrm>
        <a:graphic>
          <a:graphicData uri="http://schemas.openxmlformats.org/drawingml/2006/table">
            <a:tbl>
              <a:tblPr firstRow="1" bandRow="1">
                <a:tableStyleId>{5C22544A-7EE6-4342-B048-85BDC9FD1C3A}</a:tableStyleId>
              </a:tblPr>
              <a:tblGrid>
                <a:gridCol w="547552">
                  <a:extLst>
                    <a:ext uri="{9D8B030D-6E8A-4147-A177-3AD203B41FA5}">
                      <a16:colId xmlns:a16="http://schemas.microsoft.com/office/drawing/2014/main" val="68995579"/>
                    </a:ext>
                  </a:extLst>
                </a:gridCol>
                <a:gridCol w="6715760">
                  <a:extLst>
                    <a:ext uri="{9D8B030D-6E8A-4147-A177-3AD203B41FA5}">
                      <a16:colId xmlns:a16="http://schemas.microsoft.com/office/drawing/2014/main" val="3539850047"/>
                    </a:ext>
                  </a:extLst>
                </a:gridCol>
                <a:gridCol w="1127760">
                  <a:extLst>
                    <a:ext uri="{9D8B030D-6E8A-4147-A177-3AD203B41FA5}">
                      <a16:colId xmlns:a16="http://schemas.microsoft.com/office/drawing/2014/main" val="1693724846"/>
                    </a:ext>
                  </a:extLst>
                </a:gridCol>
                <a:gridCol w="2575561">
                  <a:extLst>
                    <a:ext uri="{9D8B030D-6E8A-4147-A177-3AD203B41FA5}">
                      <a16:colId xmlns:a16="http://schemas.microsoft.com/office/drawing/2014/main" val="2723470690"/>
                    </a:ext>
                  </a:extLst>
                </a:gridCol>
              </a:tblGrid>
              <a:tr h="510101">
                <a:tc>
                  <a:txBody>
                    <a:bodyPr/>
                    <a:lstStyle/>
                    <a:p>
                      <a:pPr marL="0" algn="ctr" defTabSz="914400" rtl="0" eaLnBrk="1" latinLnBrk="0" hangingPunct="1"/>
                      <a:r>
                        <a:rPr lang="en-US" sz="1200" b="1" kern="1200" baseline="0" dirty="0">
                          <a:solidFill>
                            <a:schemeClr val="lt1"/>
                          </a:solidFill>
                        </a:rPr>
                        <a:t>#</a:t>
                      </a:r>
                      <a:endParaRPr lang="en-US" sz="1200" b="1" kern="1200" baseline="0" dirty="0">
                        <a:solidFill>
                          <a:schemeClr val="lt1"/>
                        </a:solidFill>
                        <a:latin typeface="+mn-lt"/>
                        <a:ea typeface="+mn-ea"/>
                        <a:cs typeface="+mn-cs"/>
                      </a:endParaRPr>
                    </a:p>
                  </a:txBody>
                  <a:tcPr/>
                </a:tc>
                <a:tc>
                  <a:txBody>
                    <a:bodyPr/>
                    <a:lstStyle/>
                    <a:p>
                      <a:pPr marL="0" algn="ctr" defTabSz="914400" rtl="0" eaLnBrk="1" latinLnBrk="0" hangingPunct="1"/>
                      <a:r>
                        <a:rPr lang="en-US" sz="1200" b="1" kern="1200" baseline="0" dirty="0">
                          <a:solidFill>
                            <a:schemeClr val="lt1"/>
                          </a:solidFill>
                        </a:rPr>
                        <a:t>Content Description</a:t>
                      </a:r>
                      <a:endParaRPr lang="en-US" sz="1200" b="1" kern="1200" baseline="0" dirty="0">
                        <a:solidFill>
                          <a:schemeClr val="lt1"/>
                        </a:solidFill>
                        <a:latin typeface="+mn-lt"/>
                        <a:ea typeface="+mn-ea"/>
                        <a:cs typeface="+mn-cs"/>
                      </a:endParaRPr>
                    </a:p>
                  </a:txBody>
                  <a:tcPr anchor="ctr"/>
                </a:tc>
                <a:tc>
                  <a:txBody>
                    <a:bodyPr/>
                    <a:lstStyle/>
                    <a:p>
                      <a:pPr algn="ctr"/>
                      <a:r>
                        <a:rPr lang="en-US" sz="1200" dirty="0">
                          <a:solidFill>
                            <a:schemeClr val="bg1"/>
                          </a:solidFill>
                        </a:rPr>
                        <a:t>Frequency</a:t>
                      </a:r>
                      <a:endParaRPr lang="en-US" sz="1200" dirty="0">
                        <a:solidFill>
                          <a:schemeClr val="bg1"/>
                        </a:solidFill>
                        <a:latin typeface="Candara" panose="020E0502030303020204" pitchFamily="34" charset="0"/>
                      </a:endParaRPr>
                    </a:p>
                  </a:txBody>
                  <a:tcPr anchor="ctr"/>
                </a:tc>
                <a:tc>
                  <a:txBody>
                    <a:bodyPr/>
                    <a:lstStyle/>
                    <a:p>
                      <a:pPr algn="ctr"/>
                      <a:r>
                        <a:rPr lang="en-US" sz="1200" dirty="0">
                          <a:solidFill>
                            <a:schemeClr val="bg1"/>
                          </a:solidFill>
                        </a:rPr>
                        <a:t>Notes</a:t>
                      </a:r>
                      <a:endParaRPr lang="en-US" sz="1200" dirty="0">
                        <a:solidFill>
                          <a:schemeClr val="bg1"/>
                        </a:solidFill>
                        <a:latin typeface="Candara" panose="020E0502030303020204" pitchFamily="34" charset="0"/>
                      </a:endParaRPr>
                    </a:p>
                  </a:txBody>
                  <a:tcPr anchor="ctr"/>
                </a:tc>
                <a:extLst>
                  <a:ext uri="{0D108BD9-81ED-4DB2-BD59-A6C34878D82A}">
                    <a16:rowId xmlns:a16="http://schemas.microsoft.com/office/drawing/2014/main" val="3122440988"/>
                  </a:ext>
                </a:extLst>
              </a:tr>
              <a:tr h="117971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rPr>
                        <a:t>1</a:t>
                      </a:r>
                      <a:endParaRPr lang="en-US" sz="1200" b="0" kern="1200" dirty="0">
                        <a:solidFill>
                          <a:schemeClr val="tx1"/>
                        </a:solidFill>
                        <a:latin typeface="+mn-lt"/>
                        <a:ea typeface="+mn-ea"/>
                        <a:cs typeface="+mn-cs"/>
                      </a:endParaRPr>
                    </a:p>
                  </a:txBody>
                  <a:tcPr anchor="ctr"/>
                </a:tc>
                <a:tc>
                  <a:txBody>
                    <a:bodyPr/>
                    <a:lstStyle/>
                    <a:p>
                      <a:pPr algn="l"/>
                      <a:r>
                        <a:rPr lang="en-US" sz="1200" b="0" dirty="0"/>
                        <a:t>Videos of technology demonstrations at ARIC with description of technology and impact. This includes high-TRL and low-TRL projects like:</a:t>
                      </a:r>
                    </a:p>
                    <a:p>
                      <a:pPr marL="171450" indent="-171450" algn="l">
                        <a:buFontTx/>
                        <a:buChar char="-"/>
                      </a:pPr>
                      <a:r>
                        <a:rPr lang="en-US" sz="1200" b="0" dirty="0"/>
                        <a:t>Multi-purpose robotic machining end-effector</a:t>
                      </a:r>
                    </a:p>
                    <a:p>
                      <a:pPr marL="171450" indent="-171450" algn="l">
                        <a:buFontTx/>
                        <a:buChar char="-"/>
                      </a:pPr>
                      <a:r>
                        <a:rPr lang="en-US" sz="1200" b="0" dirty="0"/>
                        <a:t>Visual tactile sensing for machining</a:t>
                      </a:r>
                    </a:p>
                    <a:p>
                      <a:pPr marL="171450" indent="-171450" algn="l">
                        <a:buFontTx/>
                        <a:buChar char="-"/>
                      </a:pPr>
                      <a:r>
                        <a:rPr lang="en-US" sz="1200" b="0" dirty="0"/>
                        <a:t>Automated inspection of </a:t>
                      </a:r>
                      <a:r>
                        <a:rPr lang="en-US" sz="1200" b="0" dirty="0" err="1"/>
                        <a:t>aeroplane</a:t>
                      </a:r>
                      <a:r>
                        <a:rPr lang="en-US" sz="1200" b="0" dirty="0"/>
                        <a:t> components</a:t>
                      </a:r>
                    </a:p>
                    <a:p>
                      <a:pPr marL="171450" indent="-171450" algn="l">
                        <a:buFontTx/>
                        <a:buChar char="-"/>
                      </a:pPr>
                      <a:r>
                        <a:rPr lang="en-US" sz="1200" b="0" dirty="0"/>
                        <a:t>Automated sorting for engine blades</a:t>
                      </a:r>
                    </a:p>
                    <a:p>
                      <a:pPr marL="171450" indent="-171450" algn="l">
                        <a:buFontTx/>
                        <a:buChar char="-"/>
                      </a:pPr>
                      <a:r>
                        <a:rPr lang="en-US" sz="1200" b="0" dirty="0"/>
                        <a:t>AI for robotic manipulation</a:t>
                      </a:r>
                    </a:p>
                    <a:p>
                      <a:pPr marL="171450" indent="-171450" algn="l">
                        <a:buFontTx/>
                        <a:buChar char="-"/>
                      </a:pPr>
                      <a:endParaRPr lang="en-US" sz="1200" b="0" dirty="0">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t>Monthly</a:t>
                      </a:r>
                      <a:endParaRPr lang="en-US" sz="1200" b="0" dirty="0">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t>Each sub-team within ARIC will be responsible for creating these technology demonstrations (3-4 months period for each sub-team)</a:t>
                      </a:r>
                      <a:endParaRPr lang="en-US" sz="1200" b="0" dirty="0">
                        <a:latin typeface="+mn-lt"/>
                      </a:endParaRPr>
                    </a:p>
                  </a:txBody>
                  <a:tcPr anchor="ctr"/>
                </a:tc>
                <a:extLst>
                  <a:ext uri="{0D108BD9-81ED-4DB2-BD59-A6C34878D82A}">
                    <a16:rowId xmlns:a16="http://schemas.microsoft.com/office/drawing/2014/main" val="1346069298"/>
                  </a:ext>
                </a:extLst>
              </a:tr>
              <a:tr h="87440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tx1"/>
                          </a:solidFill>
                        </a:rPr>
                        <a:t>2</a:t>
                      </a:r>
                      <a:endParaRPr lang="en-US" sz="1200" b="0" dirty="0">
                        <a:solidFill>
                          <a:schemeClr val="tx1"/>
                        </a:solidFill>
                        <a:latin typeface="+mn-lt"/>
                      </a:endParaRPr>
                    </a:p>
                  </a:txBody>
                  <a:tcPr anchor="ctr"/>
                </a:tc>
                <a:tc>
                  <a:txBody>
                    <a:bodyPr/>
                    <a:lstStyle/>
                    <a:p>
                      <a:pPr algn="l"/>
                      <a:r>
                        <a:rPr lang="en-US" sz="1200" b="0" dirty="0"/>
                        <a:t>Interviews / testimonials from industrial partners </a:t>
                      </a:r>
                      <a:endParaRPr lang="en-US" sz="1200" b="0" dirty="0">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t>Quarterly</a:t>
                      </a:r>
                      <a:endParaRPr lang="en-US" sz="1200" b="0" dirty="0">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t>Testimonials STRATA, SANAD, Lufthansa, </a:t>
                      </a:r>
                      <a:r>
                        <a:rPr lang="en-US" sz="1200" b="0" dirty="0" err="1"/>
                        <a:t>etc</a:t>
                      </a:r>
                      <a:r>
                        <a:rPr lang="en-US" sz="1200" b="0" dirty="0"/>
                        <a:t> … on the impact and relevance of ARIC project to industrial sector</a:t>
                      </a:r>
                      <a:endParaRPr lang="en-US" sz="1200" b="0" dirty="0">
                        <a:latin typeface="+mn-lt"/>
                      </a:endParaRPr>
                    </a:p>
                  </a:txBody>
                  <a:tcPr anchor="ctr"/>
                </a:tc>
                <a:extLst>
                  <a:ext uri="{0D108BD9-81ED-4DB2-BD59-A6C34878D82A}">
                    <a16:rowId xmlns:a16="http://schemas.microsoft.com/office/drawing/2014/main" val="2491816143"/>
                  </a:ext>
                </a:extLst>
              </a:tr>
              <a:tr h="86885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rPr>
                        <a:t>3</a:t>
                      </a:r>
                      <a:endParaRPr lang="en-US" sz="1200" b="0" kern="1200" dirty="0">
                        <a:solidFill>
                          <a:schemeClr val="tx1"/>
                        </a:solidFill>
                        <a:latin typeface="+mn-lt"/>
                        <a:ea typeface="+mn-ea"/>
                        <a:cs typeface="+mn-cs"/>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latin typeface="+mn-lt"/>
                          <a:ea typeface="+mn-ea"/>
                          <a:cs typeface="+mn-cs"/>
                        </a:rPr>
                        <a:t>Updates on papers/patents/publications from ARIC</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t>Quarterly</a:t>
                      </a:r>
                      <a:endParaRPr lang="en-US" sz="1200" b="0" kern="1200" dirty="0">
                        <a:solidFill>
                          <a:schemeClr val="tx1"/>
                        </a:solidFill>
                        <a:latin typeface="+mn-lt"/>
                        <a:ea typeface="+mn-ea"/>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latin typeface="+mn-lt"/>
                          <a:ea typeface="+mn-ea"/>
                          <a:cs typeface="+mn-cs"/>
                        </a:rPr>
                        <a:t>Highlighting novelty and impact</a:t>
                      </a:r>
                    </a:p>
                  </a:txBody>
                  <a:tcPr anchor="ctr"/>
                </a:tc>
                <a:extLst>
                  <a:ext uri="{0D108BD9-81ED-4DB2-BD59-A6C34878D82A}">
                    <a16:rowId xmlns:a16="http://schemas.microsoft.com/office/drawing/2014/main" val="1442066167"/>
                  </a:ext>
                </a:extLst>
              </a:tr>
              <a:tr h="86885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latin typeface="+mn-lt"/>
                          <a:ea typeface="+mn-ea"/>
                          <a:cs typeface="+mn-cs"/>
                        </a:rPr>
                        <a:t>4</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latin typeface="+mn-lt"/>
                          <a:ea typeface="+mn-ea"/>
                          <a:cs typeface="+mn-cs"/>
                        </a:rPr>
                        <a:t>Summary video for student projects </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latin typeface="+mn-lt"/>
                          <a:ea typeface="+mn-ea"/>
                          <a:cs typeface="+mn-cs"/>
                        </a:rPr>
                        <a:t>Twice a year</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latin typeface="+mn-lt"/>
                          <a:ea typeface="+mn-ea"/>
                          <a:cs typeface="+mn-cs"/>
                        </a:rPr>
                        <a:t>Upon completion of projects.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latin typeface="+mn-lt"/>
                          <a:ea typeface="+mn-ea"/>
                          <a:cs typeface="+mn-cs"/>
                        </a:rPr>
                        <a:t>Including undergraduate and graduate students</a:t>
                      </a:r>
                    </a:p>
                  </a:txBody>
                  <a:tcPr anchor="ctr"/>
                </a:tc>
                <a:extLst>
                  <a:ext uri="{0D108BD9-81ED-4DB2-BD59-A6C34878D82A}">
                    <a16:rowId xmlns:a16="http://schemas.microsoft.com/office/drawing/2014/main" val="401627677"/>
                  </a:ext>
                </a:extLst>
              </a:tr>
            </a:tbl>
          </a:graphicData>
        </a:graphic>
      </p:graphicFrame>
    </p:spTree>
    <p:extLst>
      <p:ext uri="{BB962C8B-B14F-4D97-AF65-F5344CB8AC3E}">
        <p14:creationId xmlns:p14="http://schemas.microsoft.com/office/powerpoint/2010/main" val="25709984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4294967295"/>
          </p:nvPr>
        </p:nvSpPr>
        <p:spPr>
          <a:xfrm>
            <a:off x="621981" y="963735"/>
            <a:ext cx="11398250" cy="467739"/>
          </a:xfrm>
          <a:prstGeom prst="rect">
            <a:avLst/>
          </a:prstGeom>
        </p:spPr>
        <p:txBody>
          <a:bodyPr/>
          <a:lstStyle/>
          <a:p>
            <a:r>
              <a:rPr lang="en-US" sz="2667" dirty="0">
                <a:solidFill>
                  <a:schemeClr val="accent5">
                    <a:lumMod val="75000"/>
                  </a:schemeClr>
                </a:solidFill>
              </a:rPr>
              <a:t>Publicizing and marketing at ARIC Digital</a:t>
            </a:r>
          </a:p>
        </p:txBody>
      </p:sp>
      <p:grpSp>
        <p:nvGrpSpPr>
          <p:cNvPr id="3" name="Group 2">
            <a:extLst>
              <a:ext uri="{FF2B5EF4-FFF2-40B4-BE49-F238E27FC236}">
                <a16:creationId xmlns:a16="http://schemas.microsoft.com/office/drawing/2014/main" id="{90FCA495-BB4E-41C0-8F1D-D97499419908}"/>
              </a:ext>
            </a:extLst>
          </p:cNvPr>
          <p:cNvGrpSpPr/>
          <p:nvPr/>
        </p:nvGrpSpPr>
        <p:grpSpPr>
          <a:xfrm>
            <a:off x="646248" y="93649"/>
            <a:ext cx="11197990" cy="926257"/>
            <a:chOff x="775498" y="112379"/>
            <a:chExt cx="13437588" cy="1111508"/>
          </a:xfrm>
        </p:grpSpPr>
        <p:sp>
          <p:nvSpPr>
            <p:cNvPr id="32" name="Rectangle 31">
              <a:extLst>
                <a:ext uri="{FF2B5EF4-FFF2-40B4-BE49-F238E27FC236}">
                  <a16:creationId xmlns:a16="http://schemas.microsoft.com/office/drawing/2014/main" id="{DB1AA17B-CCA0-40B5-9DF3-3B72F027DDDA}"/>
                </a:ext>
              </a:extLst>
            </p:cNvPr>
            <p:cNvSpPr/>
            <p:nvPr/>
          </p:nvSpPr>
          <p:spPr>
            <a:xfrm>
              <a:off x="775498" y="506605"/>
              <a:ext cx="9390520" cy="272382"/>
            </a:xfrm>
            <a:prstGeom prst="rect">
              <a:avLst/>
            </a:prstGeom>
          </p:spPr>
          <p:txBody>
            <a:bodyPr wrap="square">
              <a:spAutoFit/>
            </a:bodyPr>
            <a:lstStyle/>
            <a:p>
              <a:pPr algn="l"/>
              <a:r>
                <a:rPr lang="en-US" sz="875" b="1" dirty="0">
                  <a:solidFill>
                    <a:schemeClr val="tx1">
                      <a:lumMod val="50000"/>
                    </a:schemeClr>
                  </a:solidFill>
                  <a:latin typeface="+mj-lt"/>
                  <a:cs typeface="Arial" panose="020B0604020202020204" pitchFamily="34" charset="0"/>
                </a:rPr>
                <a:t>ARIC Digital: Intelligent Robotic Manufacturing</a:t>
              </a:r>
            </a:p>
          </p:txBody>
        </p:sp>
        <p:cxnSp>
          <p:nvCxnSpPr>
            <p:cNvPr id="33" name="Straight Connector 32">
              <a:extLst>
                <a:ext uri="{FF2B5EF4-FFF2-40B4-BE49-F238E27FC236}">
                  <a16:creationId xmlns:a16="http://schemas.microsoft.com/office/drawing/2014/main" id="{5C8C487F-F776-4772-A9A0-F408AAB17FF1}"/>
                </a:ext>
              </a:extLst>
            </p:cNvPr>
            <p:cNvCxnSpPr>
              <a:cxnSpLocks/>
            </p:cNvCxnSpPr>
            <p:nvPr/>
          </p:nvCxnSpPr>
          <p:spPr>
            <a:xfrm flipV="1">
              <a:off x="843735" y="768215"/>
              <a:ext cx="9911016"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4" name="Picture 33" descr="Khalifa | KET4F-Gas">
              <a:extLst>
                <a:ext uri="{FF2B5EF4-FFF2-40B4-BE49-F238E27FC236}">
                  <a16:creationId xmlns:a16="http://schemas.microsoft.com/office/drawing/2014/main" id="{7384F139-CD85-42E2-9BD4-C3271A89ACB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289754" y="436385"/>
              <a:ext cx="1923332" cy="652601"/>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5">
              <a:extLst>
                <a:ext uri="{FF2B5EF4-FFF2-40B4-BE49-F238E27FC236}">
                  <a16:creationId xmlns:a16="http://schemas.microsoft.com/office/drawing/2014/main" id="{C3364C1F-1857-45C8-97B0-5DCB2F0B4209}"/>
                </a:ext>
              </a:extLst>
            </p:cNvPr>
            <p:cNvPicPr>
              <a:picLocks noChangeAspect="1"/>
            </p:cNvPicPr>
            <p:nvPr/>
          </p:nvPicPr>
          <p:blipFill rotWithShape="1">
            <a:blip r:embed="rId4"/>
            <a:srcRect l="4442" r="4393"/>
            <a:stretch/>
          </p:blipFill>
          <p:spPr>
            <a:xfrm>
              <a:off x="10926565" y="112379"/>
              <a:ext cx="1172623" cy="1111508"/>
            </a:xfrm>
            <a:prstGeom prst="rect">
              <a:avLst/>
            </a:prstGeom>
          </p:spPr>
        </p:pic>
      </p:grpSp>
      <p:sp>
        <p:nvSpPr>
          <p:cNvPr id="37" name="TextBox 36">
            <a:extLst>
              <a:ext uri="{FF2B5EF4-FFF2-40B4-BE49-F238E27FC236}">
                <a16:creationId xmlns:a16="http://schemas.microsoft.com/office/drawing/2014/main" id="{71C7A1F5-99BB-415F-B866-A652DF4D2FA5}"/>
              </a:ext>
            </a:extLst>
          </p:cNvPr>
          <p:cNvSpPr txBox="1"/>
          <p:nvPr/>
        </p:nvSpPr>
        <p:spPr>
          <a:xfrm>
            <a:off x="1203841" y="1795964"/>
            <a:ext cx="9245719" cy="4756174"/>
          </a:xfrm>
          <a:prstGeom prst="rect">
            <a:avLst/>
          </a:prstGeom>
          <a:noFill/>
        </p:spPr>
        <p:txBody>
          <a:bodyPr wrap="square" rtlCol="0">
            <a:spAutoFit/>
          </a:bodyPr>
          <a:lstStyle/>
          <a:p>
            <a:pPr marL="281078" indent="-281078" algn="just">
              <a:buFont typeface="Calibri" panose="020F0502020204030204" pitchFamily="34" charset="0"/>
              <a:buChar char="&lt;"/>
            </a:pPr>
            <a:r>
              <a:rPr lang="en-US" sz="2333" b="1" dirty="0">
                <a:solidFill>
                  <a:srgbClr val="00ADEF"/>
                </a:solidFill>
              </a:rPr>
              <a:t>Required Resources:</a:t>
            </a:r>
          </a:p>
          <a:p>
            <a:pPr marL="466706" indent="-380985" algn="just">
              <a:lnSpc>
                <a:spcPct val="150000"/>
              </a:lnSpc>
              <a:spcAft>
                <a:spcPts val="167"/>
              </a:spcAft>
              <a:buFont typeface="+mj-lt"/>
              <a:buAutoNum type="arabicPeriod"/>
            </a:pPr>
            <a:r>
              <a:rPr lang="en-US" sz="2000" dirty="0">
                <a:latin typeface="Times New Roman" panose="02020603050405020304" pitchFamily="18" charset="0"/>
                <a:ea typeface="Calibri" panose="020F0502020204030204" pitchFamily="34" charset="0"/>
                <a:cs typeface="Arial" panose="020B0604020202020204" pitchFamily="34" charset="0"/>
              </a:rPr>
              <a:t>Manager for social media (</a:t>
            </a:r>
            <a:r>
              <a:rPr lang="en-US" sz="2000" dirty="0" err="1">
                <a:latin typeface="Times New Roman" panose="02020603050405020304" pitchFamily="18" charset="0"/>
                <a:ea typeface="Calibri" panose="020F0502020204030204" pitchFamily="34" charset="0"/>
                <a:cs typeface="Arial" panose="020B0604020202020204" pitchFamily="34" charset="0"/>
              </a:rPr>
              <a:t>Linkedin</a:t>
            </a:r>
            <a:r>
              <a:rPr lang="en-US" sz="2000" dirty="0">
                <a:latin typeface="Times New Roman" panose="02020603050405020304" pitchFamily="18" charset="0"/>
                <a:ea typeface="Calibri" panose="020F0502020204030204" pitchFamily="34" charset="0"/>
                <a:cs typeface="Arial" panose="020B0604020202020204" pitchFamily="34" charset="0"/>
              </a:rPr>
              <a:t>) page to (15% allocation or through 3’rd party):</a:t>
            </a:r>
          </a:p>
          <a:p>
            <a:pPr marL="885821" lvl="1" indent="-342900" algn="just">
              <a:lnSpc>
                <a:spcPct val="150000"/>
              </a:lnSpc>
              <a:spcAft>
                <a:spcPts val="167"/>
              </a:spcAft>
              <a:buFont typeface="Courier New" panose="02070309020205020404" pitchFamily="49" charset="0"/>
              <a:buChar char="o"/>
            </a:pPr>
            <a:r>
              <a:rPr lang="en-US" sz="2000" dirty="0">
                <a:latin typeface="Times New Roman" panose="02020603050405020304" pitchFamily="18" charset="0"/>
                <a:ea typeface="Calibri" panose="020F0502020204030204" pitchFamily="34" charset="0"/>
                <a:cs typeface="Arial" panose="020B0604020202020204" pitchFamily="34" charset="0"/>
              </a:rPr>
              <a:t>Edit videos and ensure quality </a:t>
            </a:r>
          </a:p>
          <a:p>
            <a:pPr marL="885821" lvl="1" indent="-342900" algn="just">
              <a:lnSpc>
                <a:spcPct val="150000"/>
              </a:lnSpc>
              <a:spcAft>
                <a:spcPts val="167"/>
              </a:spcAft>
              <a:buFont typeface="Courier New" panose="02070309020205020404" pitchFamily="49" charset="0"/>
              <a:buChar char="o"/>
            </a:pPr>
            <a:r>
              <a:rPr lang="en-US" sz="2000" dirty="0">
                <a:latin typeface="Times New Roman" panose="02020603050405020304" pitchFamily="18" charset="0"/>
                <a:ea typeface="Calibri" panose="020F0502020204030204" pitchFamily="34" charset="0"/>
                <a:cs typeface="Arial" panose="020B0604020202020204" pitchFamily="34" charset="0"/>
              </a:rPr>
              <a:t>Write and edit scripts for posts</a:t>
            </a:r>
          </a:p>
          <a:p>
            <a:pPr marL="885821" lvl="1" indent="-342900" algn="just">
              <a:lnSpc>
                <a:spcPct val="150000"/>
              </a:lnSpc>
              <a:spcAft>
                <a:spcPts val="167"/>
              </a:spcAft>
              <a:buFont typeface="Courier New" panose="02070309020205020404" pitchFamily="49" charset="0"/>
              <a:buChar char="o"/>
            </a:pPr>
            <a:r>
              <a:rPr lang="en-US" sz="2000" dirty="0">
                <a:latin typeface="Times New Roman" panose="02020603050405020304" pitchFamily="18" charset="0"/>
                <a:ea typeface="Calibri" panose="020F0502020204030204" pitchFamily="34" charset="0"/>
                <a:cs typeface="Arial" panose="020B0604020202020204" pitchFamily="34" charset="0"/>
              </a:rPr>
              <a:t>Ensure timely updates of the page</a:t>
            </a:r>
          </a:p>
          <a:p>
            <a:pPr marL="885821" lvl="1" indent="-342900" algn="just">
              <a:lnSpc>
                <a:spcPct val="150000"/>
              </a:lnSpc>
              <a:spcAft>
                <a:spcPts val="167"/>
              </a:spcAft>
              <a:buFont typeface="Courier New" panose="02070309020205020404" pitchFamily="49" charset="0"/>
              <a:buChar char="o"/>
            </a:pPr>
            <a:r>
              <a:rPr lang="en-US" sz="2000" dirty="0">
                <a:latin typeface="Times New Roman" panose="02020603050405020304" pitchFamily="18" charset="0"/>
                <a:ea typeface="Calibri" panose="020F0502020204030204" pitchFamily="34" charset="0"/>
                <a:cs typeface="Arial" panose="020B0604020202020204" pitchFamily="34" charset="0"/>
              </a:rPr>
              <a:t>Contact local media outlets</a:t>
            </a:r>
          </a:p>
          <a:p>
            <a:pPr marL="885821" lvl="1" indent="-342900" algn="just">
              <a:lnSpc>
                <a:spcPct val="150000"/>
              </a:lnSpc>
              <a:spcAft>
                <a:spcPts val="167"/>
              </a:spcAft>
              <a:buFont typeface="Courier New" panose="02070309020205020404" pitchFamily="49" charset="0"/>
              <a:buChar char="o"/>
            </a:pPr>
            <a:r>
              <a:rPr lang="en-US" sz="2000" dirty="0">
                <a:latin typeface="Times New Roman" panose="02020603050405020304" pitchFamily="18" charset="0"/>
                <a:ea typeface="Calibri" panose="020F0502020204030204" pitchFamily="34" charset="0"/>
                <a:cs typeface="Arial" panose="020B0604020202020204" pitchFamily="34" charset="0"/>
              </a:rPr>
              <a:t>Respond to inquiries and messages on LinkedIn page</a:t>
            </a:r>
          </a:p>
          <a:p>
            <a:pPr marL="542921" indent="-457200">
              <a:lnSpc>
                <a:spcPct val="150000"/>
              </a:lnSpc>
              <a:spcAft>
                <a:spcPts val="167"/>
              </a:spcAft>
              <a:buFont typeface="+mj-lt"/>
              <a:buAutoNum type="arabicPeriod"/>
            </a:pPr>
            <a:r>
              <a:rPr lang="en-US" sz="2000" dirty="0">
                <a:latin typeface="Times New Roman" panose="02020603050405020304" pitchFamily="18" charset="0"/>
                <a:ea typeface="Calibri" panose="020F0502020204030204" pitchFamily="34" charset="0"/>
                <a:cs typeface="Arial" panose="020B0604020202020204" pitchFamily="34" charset="0"/>
              </a:rPr>
              <a:t>Budget to attend exhibitions and conferences (~15,000 AED per-year)</a:t>
            </a:r>
          </a:p>
          <a:p>
            <a:pPr marL="542921" indent="-457200">
              <a:lnSpc>
                <a:spcPct val="150000"/>
              </a:lnSpc>
              <a:spcAft>
                <a:spcPts val="167"/>
              </a:spcAft>
              <a:buFont typeface="+mj-lt"/>
              <a:buAutoNum type="arabicPeriod"/>
            </a:pPr>
            <a:endParaRPr lang="en-US" sz="2000" dirty="0">
              <a:latin typeface="Times New Roman" panose="02020603050405020304" pitchFamily="18" charset="0"/>
              <a:ea typeface="Calibri" panose="020F0502020204030204" pitchFamily="34" charset="0"/>
              <a:cs typeface="Arial" panose="020B0604020202020204" pitchFamily="34" charset="0"/>
            </a:endParaRPr>
          </a:p>
          <a:p>
            <a:pPr marL="885821" lvl="1" indent="-342900" algn="just">
              <a:lnSpc>
                <a:spcPct val="150000"/>
              </a:lnSpc>
              <a:spcAft>
                <a:spcPts val="167"/>
              </a:spcAft>
              <a:buFont typeface="Courier New" panose="02070309020205020404" pitchFamily="49" charset="0"/>
              <a:buChar char="o"/>
            </a:pPr>
            <a:endParaRPr lang="en-US" sz="2000" dirty="0">
              <a:latin typeface="Times New Roman" panose="02020603050405020304" pitchFamily="18"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4133484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28799" y="1926391"/>
            <a:ext cx="8918714" cy="461665"/>
          </a:xfrm>
          <a:prstGeom prst="rect">
            <a:avLst/>
          </a:prstGeom>
        </p:spPr>
        <p:txBody>
          <a:bodyPr wrap="square">
            <a:spAutoFit/>
          </a:bodyPr>
          <a:lstStyle/>
          <a:p>
            <a:r>
              <a:rPr lang="en-US" sz="2400" dirty="0" smtClean="0">
                <a:solidFill>
                  <a:srgbClr val="212121"/>
                </a:solidFill>
                <a:latin typeface="Times New Roman" panose="02020603050405020304" pitchFamily="18" charset="0"/>
                <a:cs typeface="Times New Roman" panose="02020603050405020304" pitchFamily="18" charset="0"/>
              </a:rPr>
              <a:t>3. ARIC </a:t>
            </a:r>
            <a:r>
              <a:rPr lang="en-US" sz="2400" dirty="0">
                <a:solidFill>
                  <a:srgbClr val="212121"/>
                </a:solidFill>
                <a:latin typeface="Times New Roman" panose="02020603050405020304" pitchFamily="18" charset="0"/>
                <a:cs typeface="Times New Roman" panose="02020603050405020304" pitchFamily="18" charset="0"/>
              </a:rPr>
              <a:t>Commercialization Assessment meeting with Dr. Sami Bashir </a:t>
            </a:r>
            <a:endParaRPr lang="en-US" sz="2400" dirty="0"/>
          </a:p>
        </p:txBody>
      </p:sp>
    </p:spTree>
    <p:extLst>
      <p:ext uri="{BB962C8B-B14F-4D97-AF65-F5344CB8AC3E}">
        <p14:creationId xmlns:p14="http://schemas.microsoft.com/office/powerpoint/2010/main" val="25497596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43ABC-9A46-4327-BF74-FE0C643DC4CF}"/>
              </a:ext>
            </a:extLst>
          </p:cNvPr>
          <p:cNvSpPr>
            <a:spLocks noGrp="1"/>
          </p:cNvSpPr>
          <p:nvPr>
            <p:ph type="ctrTitle"/>
          </p:nvPr>
        </p:nvSpPr>
        <p:spPr>
          <a:xfrm>
            <a:off x="988627" y="1966643"/>
            <a:ext cx="10214745" cy="1714500"/>
          </a:xfrm>
        </p:spPr>
        <p:txBody>
          <a:bodyPr>
            <a:normAutofit/>
          </a:bodyPr>
          <a:lstStyle/>
          <a:p>
            <a:pPr algn="l"/>
            <a:r>
              <a:rPr lang="en-US" dirty="0" smtClean="0"/>
              <a:t>4. Additive </a:t>
            </a:r>
            <a:r>
              <a:rPr lang="en-US" dirty="0"/>
              <a:t>Manufacturing Lab</a:t>
            </a:r>
          </a:p>
        </p:txBody>
      </p:sp>
      <p:sp>
        <p:nvSpPr>
          <p:cNvPr id="3" name="TextBox 2"/>
          <p:cNvSpPr txBox="1"/>
          <p:nvPr/>
        </p:nvSpPr>
        <p:spPr>
          <a:xfrm>
            <a:off x="581891" y="6143105"/>
            <a:ext cx="1870364" cy="284693"/>
          </a:xfrm>
          <a:prstGeom prst="rect">
            <a:avLst/>
          </a:prstGeom>
          <a:noFill/>
        </p:spPr>
        <p:txBody>
          <a:bodyPr wrap="square" lIns="0" tIns="0" rIns="0" bIns="0" rtlCol="0">
            <a:spAutoFit/>
          </a:bodyPr>
          <a:lstStyle/>
          <a:p>
            <a:pPr algn="l"/>
            <a:r>
              <a:rPr lang="en-US" sz="1850" dirty="0" smtClean="0"/>
              <a:t>By: Tareq Farrah</a:t>
            </a:r>
          </a:p>
        </p:txBody>
      </p:sp>
    </p:spTree>
    <p:extLst>
      <p:ext uri="{BB962C8B-B14F-4D97-AF65-F5344CB8AC3E}">
        <p14:creationId xmlns:p14="http://schemas.microsoft.com/office/powerpoint/2010/main" val="23222847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E918707-6809-45DB-87A9-B541AB553D1C}"/>
              </a:ext>
            </a:extLst>
          </p:cNvPr>
          <p:cNvSpPr>
            <a:spLocks noGrp="1"/>
          </p:cNvSpPr>
          <p:nvPr>
            <p:ph type="sldNum" sz="quarter" idx="12"/>
          </p:nvPr>
        </p:nvSpPr>
        <p:spPr/>
        <p:txBody>
          <a:bodyPr/>
          <a:lstStyle/>
          <a:p>
            <a:fld id="{1E68DD1B-5CD8-424B-8173-19E182143E0A}" type="slidenum">
              <a:rPr lang="en-US" smtClean="0"/>
              <a:pPr/>
              <a:t>13</a:t>
            </a:fld>
            <a:endParaRPr lang="en-US"/>
          </a:p>
        </p:txBody>
      </p:sp>
      <p:sp>
        <p:nvSpPr>
          <p:cNvPr id="24" name="Rectangle 23">
            <a:extLst>
              <a:ext uri="{FF2B5EF4-FFF2-40B4-BE49-F238E27FC236}">
                <a16:creationId xmlns:a16="http://schemas.microsoft.com/office/drawing/2014/main" id="{1B1029DD-3E1E-4F3A-91F5-E461B6619FF9}"/>
              </a:ext>
            </a:extLst>
          </p:cNvPr>
          <p:cNvSpPr/>
          <p:nvPr/>
        </p:nvSpPr>
        <p:spPr>
          <a:xfrm>
            <a:off x="166937" y="1655653"/>
            <a:ext cx="6096000" cy="523220"/>
          </a:xfrm>
          <a:prstGeom prst="rect">
            <a:avLst/>
          </a:prstGeom>
        </p:spPr>
        <p:txBody>
          <a:bodyPr>
            <a:spAutoFit/>
          </a:bodyPr>
          <a:lstStyle/>
          <a:p>
            <a:pPr marL="342900" indent="-342900">
              <a:buFont typeface="Wingdings" panose="05000000000000000000" pitchFamily="2" charset="2"/>
              <a:buChar char="Ø"/>
            </a:pPr>
            <a:endParaRPr lang="en-US" sz="1400" dirty="0"/>
          </a:p>
          <a:p>
            <a:pPr marL="342900" indent="-342900">
              <a:buFont typeface="Wingdings" panose="05000000000000000000" pitchFamily="2" charset="2"/>
              <a:buChar char="Ø"/>
            </a:pPr>
            <a:endParaRPr lang="en-GB" sz="1400" dirty="0"/>
          </a:p>
        </p:txBody>
      </p:sp>
      <p:sp>
        <p:nvSpPr>
          <p:cNvPr id="8" name="Rectangle 7">
            <a:extLst>
              <a:ext uri="{FF2B5EF4-FFF2-40B4-BE49-F238E27FC236}">
                <a16:creationId xmlns:a16="http://schemas.microsoft.com/office/drawing/2014/main" id="{3DC6B291-0E7A-48DA-845F-D425A06927F8}"/>
              </a:ext>
            </a:extLst>
          </p:cNvPr>
          <p:cNvSpPr/>
          <p:nvPr/>
        </p:nvSpPr>
        <p:spPr>
          <a:xfrm>
            <a:off x="166937" y="1180573"/>
            <a:ext cx="6096000" cy="738664"/>
          </a:xfrm>
          <a:prstGeom prst="rect">
            <a:avLst/>
          </a:prstGeom>
        </p:spPr>
        <p:txBody>
          <a:bodyPr>
            <a:spAutoFit/>
          </a:bodyPr>
          <a:lstStyle/>
          <a:p>
            <a:pPr lvl="2"/>
            <a:endParaRPr lang="en-GB" sz="1400" dirty="0"/>
          </a:p>
          <a:p>
            <a:pPr marL="342900" indent="-342900">
              <a:buFont typeface="Wingdings" panose="05000000000000000000" pitchFamily="2" charset="2"/>
              <a:buChar char="Ø"/>
            </a:pPr>
            <a:endParaRPr lang="en-US" sz="1400" dirty="0"/>
          </a:p>
          <a:p>
            <a:pPr marL="342900" indent="-342900">
              <a:buFont typeface="Wingdings" panose="05000000000000000000" pitchFamily="2" charset="2"/>
              <a:buChar char="Ø"/>
            </a:pPr>
            <a:endParaRPr lang="en-GB" sz="1400" dirty="0"/>
          </a:p>
        </p:txBody>
      </p:sp>
      <p:graphicFrame>
        <p:nvGraphicFramePr>
          <p:cNvPr id="10" name="Table 9"/>
          <p:cNvGraphicFramePr>
            <a:graphicFrameLocks noGrp="1"/>
          </p:cNvGraphicFramePr>
          <p:nvPr>
            <p:extLst>
              <p:ext uri="{D42A27DB-BD31-4B8C-83A1-F6EECF244321}">
                <p14:modId xmlns:p14="http://schemas.microsoft.com/office/powerpoint/2010/main" val="142724012"/>
              </p:ext>
            </p:extLst>
          </p:nvPr>
        </p:nvGraphicFramePr>
        <p:xfrm>
          <a:off x="299259" y="970741"/>
          <a:ext cx="11787965" cy="5715067"/>
        </p:xfrm>
        <a:graphic>
          <a:graphicData uri="http://schemas.openxmlformats.org/drawingml/2006/table">
            <a:tbl>
              <a:tblPr firstRow="1" bandRow="1"/>
              <a:tblGrid>
                <a:gridCol w="3082505">
                  <a:extLst>
                    <a:ext uri="{9D8B030D-6E8A-4147-A177-3AD203B41FA5}">
                      <a16:colId xmlns:a16="http://schemas.microsoft.com/office/drawing/2014/main" val="1922268696"/>
                    </a:ext>
                  </a:extLst>
                </a:gridCol>
                <a:gridCol w="8705460">
                  <a:extLst>
                    <a:ext uri="{9D8B030D-6E8A-4147-A177-3AD203B41FA5}">
                      <a16:colId xmlns:a16="http://schemas.microsoft.com/office/drawing/2014/main" val="2943256584"/>
                    </a:ext>
                  </a:extLst>
                </a:gridCol>
              </a:tblGrid>
              <a:tr h="1043521">
                <a:tc>
                  <a:txBody>
                    <a:bodyPr/>
                    <a:lstStyle>
                      <a:lvl1pPr marL="0" algn="l" defTabSz="914400" rtl="0" eaLnBrk="1" latinLnBrk="0" hangingPunct="1">
                        <a:defRPr sz="1800" b="1" kern="1200">
                          <a:solidFill>
                            <a:schemeClr val="tx1"/>
                          </a:solidFill>
                          <a:latin typeface="Tw Cen MT" panose="020B0602020104020603"/>
                        </a:defRPr>
                      </a:lvl1pPr>
                      <a:lvl2pPr marL="457200" algn="l" defTabSz="914400" rtl="0" eaLnBrk="1" latinLnBrk="0" hangingPunct="1">
                        <a:defRPr sz="1800" b="1" kern="1200">
                          <a:solidFill>
                            <a:schemeClr val="tx1"/>
                          </a:solidFill>
                          <a:latin typeface="Tw Cen MT" panose="020B0602020104020603"/>
                        </a:defRPr>
                      </a:lvl2pPr>
                      <a:lvl3pPr marL="914400" algn="l" defTabSz="914400" rtl="0" eaLnBrk="1" latinLnBrk="0" hangingPunct="1">
                        <a:defRPr sz="1800" b="1" kern="1200">
                          <a:solidFill>
                            <a:schemeClr val="tx1"/>
                          </a:solidFill>
                          <a:latin typeface="Tw Cen MT" panose="020B0602020104020603"/>
                        </a:defRPr>
                      </a:lvl3pPr>
                      <a:lvl4pPr marL="1371600" algn="l" defTabSz="914400" rtl="0" eaLnBrk="1" latinLnBrk="0" hangingPunct="1">
                        <a:defRPr sz="1800" b="1" kern="1200">
                          <a:solidFill>
                            <a:schemeClr val="tx1"/>
                          </a:solidFill>
                          <a:latin typeface="Tw Cen MT" panose="020B0602020104020603"/>
                        </a:defRPr>
                      </a:lvl4pPr>
                      <a:lvl5pPr marL="1828800" algn="l" defTabSz="914400" rtl="0" eaLnBrk="1" latinLnBrk="0" hangingPunct="1">
                        <a:defRPr sz="1800" b="1" kern="1200">
                          <a:solidFill>
                            <a:schemeClr val="tx1"/>
                          </a:solidFill>
                          <a:latin typeface="Tw Cen MT" panose="020B0602020104020603"/>
                        </a:defRPr>
                      </a:lvl5pPr>
                      <a:lvl6pPr marL="2286000" algn="l" defTabSz="914400" rtl="0" eaLnBrk="1" latinLnBrk="0" hangingPunct="1">
                        <a:defRPr sz="1800" b="1" kern="1200">
                          <a:solidFill>
                            <a:schemeClr val="tx1"/>
                          </a:solidFill>
                          <a:latin typeface="Tw Cen MT" panose="020B0602020104020603"/>
                        </a:defRPr>
                      </a:lvl6pPr>
                      <a:lvl7pPr marL="2743200" algn="l" defTabSz="914400" rtl="0" eaLnBrk="1" latinLnBrk="0" hangingPunct="1">
                        <a:defRPr sz="1800" b="1" kern="1200">
                          <a:solidFill>
                            <a:schemeClr val="tx1"/>
                          </a:solidFill>
                          <a:latin typeface="Tw Cen MT" panose="020B0602020104020603"/>
                        </a:defRPr>
                      </a:lvl7pPr>
                      <a:lvl8pPr marL="3200400" algn="l" defTabSz="914400" rtl="0" eaLnBrk="1" latinLnBrk="0" hangingPunct="1">
                        <a:defRPr sz="1800" b="1" kern="1200">
                          <a:solidFill>
                            <a:schemeClr val="tx1"/>
                          </a:solidFill>
                          <a:latin typeface="Tw Cen MT" panose="020B0602020104020603"/>
                        </a:defRPr>
                      </a:lvl8pPr>
                      <a:lvl9pPr marL="3657600" algn="l" defTabSz="914400" rtl="0" eaLnBrk="1" latinLnBrk="0" hangingPunct="1">
                        <a:defRPr sz="1800" b="1" kern="1200">
                          <a:solidFill>
                            <a:schemeClr val="tx1"/>
                          </a:solidFill>
                          <a:latin typeface="Tw Cen MT" panose="020B0602020104020603"/>
                        </a:defRPr>
                      </a:lvl9pPr>
                    </a:lstStyle>
                    <a:p>
                      <a:pPr marL="342900" indent="-342900" algn="l" defTabSz="914400" rtl="0" eaLnBrk="1" fontAlgn="base" latinLnBrk="0" hangingPunct="1">
                        <a:buFont typeface="Courier New" panose="02070309020205020404" pitchFamily="49" charset="0"/>
                        <a:buChar char="o"/>
                      </a:pPr>
                      <a:r>
                        <a:rPr lang="en-US" sz="1800" kern="1200" dirty="0">
                          <a:effectLst/>
                          <a:latin typeface="Arial" panose="020B0604020202020204" pitchFamily="34" charset="0"/>
                          <a:cs typeface="Arial" panose="020B0604020202020204" pitchFamily="34" charset="0"/>
                        </a:rPr>
                        <a:t>Lab status</a:t>
                      </a:r>
                      <a:r>
                        <a:rPr lang="en-US" sz="1800" kern="1200" baseline="0" dirty="0">
                          <a:effectLst/>
                          <a:latin typeface="Arial" panose="020B0604020202020204" pitchFamily="34" charset="0"/>
                          <a:cs typeface="Arial" panose="020B0604020202020204" pitchFamily="34" charset="0"/>
                        </a:rPr>
                        <a:t> </a:t>
                      </a:r>
                      <a:r>
                        <a:rPr lang="en-US" sz="1800" kern="1200" dirty="0">
                          <a:effectLst/>
                          <a:latin typeface="Arial" panose="020B0604020202020204" pitchFamily="34" charset="0"/>
                          <a:cs typeface="Arial" panose="020B0604020202020204" pitchFamily="34" charset="0"/>
                        </a:rPr>
                        <a:t>​</a:t>
                      </a:r>
                      <a:endParaRPr lang="en-US" sz="1800" b="1" kern="1200" dirty="0">
                        <a:solidFill>
                          <a:schemeClr val="accent1">
                            <a:lumMod val="50000"/>
                          </a:schemeClr>
                        </a:solidFill>
                        <a:effectLst/>
                        <a:latin typeface="Arial" panose="020B0604020202020204" pitchFamily="34" charset="0"/>
                        <a:ea typeface="+mn-ea"/>
                        <a:cs typeface="Arial" panose="020B0604020202020204" pitchFamily="34" charset="0"/>
                      </a:endParaRPr>
                    </a:p>
                  </a:txBody>
                  <a:tcPr anchor="ctr">
                    <a:lnL w="12700" cmpd="sng">
                      <a:solidFill>
                        <a:srgbClr val="2FA3EE"/>
                      </a:solidFill>
                    </a:lnL>
                    <a:lnR w="12700" cmpd="sng">
                      <a:solidFill>
                        <a:srgbClr val="2FA3EE"/>
                      </a:solidFill>
                    </a:lnR>
                    <a:lnT w="12700" cmpd="sng">
                      <a:solidFill>
                        <a:srgbClr val="2FA3EE"/>
                      </a:solidFill>
                    </a:lnT>
                    <a:lnB w="25400" cmpd="sng">
                      <a:solidFill>
                        <a:srgbClr val="2FA3EE"/>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tx1"/>
                          </a:solidFill>
                          <a:latin typeface="Tw Cen MT" panose="020B0602020104020603"/>
                        </a:defRPr>
                      </a:lvl1pPr>
                      <a:lvl2pPr marL="457200" algn="l" defTabSz="914400" rtl="0" eaLnBrk="1" latinLnBrk="0" hangingPunct="1">
                        <a:defRPr sz="1800" b="1" kern="1200">
                          <a:solidFill>
                            <a:schemeClr val="tx1"/>
                          </a:solidFill>
                          <a:latin typeface="Tw Cen MT" panose="020B0602020104020603"/>
                        </a:defRPr>
                      </a:lvl2pPr>
                      <a:lvl3pPr marL="914400" algn="l" defTabSz="914400" rtl="0" eaLnBrk="1" latinLnBrk="0" hangingPunct="1">
                        <a:defRPr sz="1800" b="1" kern="1200">
                          <a:solidFill>
                            <a:schemeClr val="tx1"/>
                          </a:solidFill>
                          <a:latin typeface="Tw Cen MT" panose="020B0602020104020603"/>
                        </a:defRPr>
                      </a:lvl3pPr>
                      <a:lvl4pPr marL="1371600" algn="l" defTabSz="914400" rtl="0" eaLnBrk="1" latinLnBrk="0" hangingPunct="1">
                        <a:defRPr sz="1800" b="1" kern="1200">
                          <a:solidFill>
                            <a:schemeClr val="tx1"/>
                          </a:solidFill>
                          <a:latin typeface="Tw Cen MT" panose="020B0602020104020603"/>
                        </a:defRPr>
                      </a:lvl4pPr>
                      <a:lvl5pPr marL="1828800" algn="l" defTabSz="914400" rtl="0" eaLnBrk="1" latinLnBrk="0" hangingPunct="1">
                        <a:defRPr sz="1800" b="1" kern="1200">
                          <a:solidFill>
                            <a:schemeClr val="tx1"/>
                          </a:solidFill>
                          <a:latin typeface="Tw Cen MT" panose="020B0602020104020603"/>
                        </a:defRPr>
                      </a:lvl5pPr>
                      <a:lvl6pPr marL="2286000" algn="l" defTabSz="914400" rtl="0" eaLnBrk="1" latinLnBrk="0" hangingPunct="1">
                        <a:defRPr sz="1800" b="1" kern="1200">
                          <a:solidFill>
                            <a:schemeClr val="tx1"/>
                          </a:solidFill>
                          <a:latin typeface="Tw Cen MT" panose="020B0602020104020603"/>
                        </a:defRPr>
                      </a:lvl6pPr>
                      <a:lvl7pPr marL="2743200" algn="l" defTabSz="914400" rtl="0" eaLnBrk="1" latinLnBrk="0" hangingPunct="1">
                        <a:defRPr sz="1800" b="1" kern="1200">
                          <a:solidFill>
                            <a:schemeClr val="tx1"/>
                          </a:solidFill>
                          <a:latin typeface="Tw Cen MT" panose="020B0602020104020603"/>
                        </a:defRPr>
                      </a:lvl7pPr>
                      <a:lvl8pPr marL="3200400" algn="l" defTabSz="914400" rtl="0" eaLnBrk="1" latinLnBrk="0" hangingPunct="1">
                        <a:defRPr sz="1800" b="1" kern="1200">
                          <a:solidFill>
                            <a:schemeClr val="tx1"/>
                          </a:solidFill>
                          <a:latin typeface="Tw Cen MT" panose="020B0602020104020603"/>
                        </a:defRPr>
                      </a:lvl8pPr>
                      <a:lvl9pPr marL="3657600" algn="l" defTabSz="914400" rtl="0" eaLnBrk="1" latinLnBrk="0" hangingPunct="1">
                        <a:defRPr sz="1800" b="1" kern="1200">
                          <a:solidFill>
                            <a:schemeClr val="tx1"/>
                          </a:solidFill>
                          <a:latin typeface="Tw Cen MT" panose="020B0602020104020603"/>
                        </a:defRPr>
                      </a:lvl9pPr>
                    </a:lstStyle>
                    <a:p>
                      <a:pPr marL="285750" lvl="0" indent="-285750">
                        <a:buFont typeface="Arial"/>
                        <a:buChar char="•"/>
                      </a:pPr>
                      <a:r>
                        <a:rPr lang="en-US" sz="1800" b="0" i="0" kern="1200" dirty="0" smtClean="0">
                          <a:solidFill>
                            <a:schemeClr val="tx1"/>
                          </a:solidFill>
                          <a:effectLst/>
                          <a:latin typeface="Tw Cen MT" panose="020B0602020104020603"/>
                          <a:ea typeface="+mn-ea"/>
                          <a:cs typeface="+mn-cs"/>
                        </a:rPr>
                        <a:t>Sample build for ARIC department has been build successfully by EOS M400-4.</a:t>
                      </a:r>
                      <a:r>
                        <a:rPr lang="en-US" sz="1800" b="0" i="0" u="none" strike="noStrike" noProof="0" dirty="0">
                          <a:latin typeface="Tw Cen MT"/>
                        </a:rPr>
                        <a:t> </a:t>
                      </a:r>
                    </a:p>
                    <a:p>
                      <a:pPr marL="285750" lvl="0" indent="-285750">
                        <a:buFont typeface="Arial"/>
                        <a:buChar char="•"/>
                      </a:pPr>
                      <a:r>
                        <a:rPr lang="en-US" sz="1800" b="0" i="0" u="none" strike="noStrike" kern="1200" dirty="0" smtClean="0">
                          <a:solidFill>
                            <a:schemeClr val="tx1"/>
                          </a:solidFill>
                          <a:effectLst/>
                          <a:latin typeface="Tw Cen MT" panose="020B0602020104020603"/>
                          <a:ea typeface="+mn-ea"/>
                          <a:cs typeface="+mn-cs"/>
                        </a:rPr>
                        <a:t>Data Pre-Processing for ADAM center, Design for new builds feedback.</a:t>
                      </a:r>
                      <a:endParaRPr lang="en-US" sz="1800" b="0" i="0" u="none" strike="noStrike" noProof="0" dirty="0">
                        <a:latin typeface="Tw Cen MT"/>
                      </a:endParaRPr>
                    </a:p>
                    <a:p>
                      <a:pPr marL="285750" lvl="0" indent="-285750">
                        <a:buFont typeface="Arial"/>
                        <a:buChar char="•"/>
                      </a:pPr>
                      <a:r>
                        <a:rPr lang="en-US" sz="1800" b="0" i="0" kern="1200" dirty="0" smtClean="0">
                          <a:solidFill>
                            <a:schemeClr val="tx1"/>
                          </a:solidFill>
                          <a:effectLst/>
                          <a:latin typeface="Tw Cen MT" panose="020B0602020104020603"/>
                          <a:ea typeface="+mn-ea"/>
                          <a:cs typeface="+mn-cs"/>
                        </a:rPr>
                        <a:t>Setting up a new communication (local network domain) and cable ducting for EOSM400-4.</a:t>
                      </a:r>
                    </a:p>
                    <a:p>
                      <a:pPr marL="285750" lvl="0" indent="-285750">
                        <a:buFont typeface="Arial"/>
                        <a:buChar char="•"/>
                      </a:pPr>
                      <a:r>
                        <a:rPr lang="en-US" sz="1800" b="0" i="0" u="none" strike="noStrike" kern="1200" dirty="0" smtClean="0">
                          <a:solidFill>
                            <a:schemeClr val="tx1"/>
                          </a:solidFill>
                          <a:effectLst/>
                          <a:latin typeface="Tw Cen MT" panose="020B0602020104020603"/>
                          <a:ea typeface="+mn-ea"/>
                          <a:cs typeface="+mn-cs"/>
                        </a:rPr>
                        <a:t>Post-process for ARIC samples is completed.</a:t>
                      </a:r>
                      <a:endParaRPr lang="en-US" sz="1800" b="0" i="0" u="none" strike="noStrike" noProof="0" dirty="0">
                        <a:latin typeface="Tw Cen MT"/>
                      </a:endParaRPr>
                    </a:p>
                  </a:txBody>
                  <a:tcPr marL="0" marR="0" marT="0" marB="0" anchor="ctr">
                    <a:lnL w="12700" cmpd="sng">
                      <a:solidFill>
                        <a:srgbClr val="2FA3EE"/>
                      </a:solidFill>
                    </a:lnL>
                    <a:lnR w="12700" cmpd="sng">
                      <a:solidFill>
                        <a:srgbClr val="2FA3EE"/>
                      </a:solidFill>
                    </a:lnR>
                    <a:lnT w="12700" cmpd="sng">
                      <a:solidFill>
                        <a:srgbClr val="2FA3EE"/>
                      </a:solidFill>
                    </a:lnT>
                    <a:lnB w="25400" cmpd="sng">
                      <a:solidFill>
                        <a:srgbClr val="2FA3EE"/>
                      </a:solidFill>
                    </a:lnB>
                    <a:lnTlToBr w="12700" cmpd="sng">
                      <a:noFill/>
                      <a:prstDash val="solid"/>
                    </a:lnTlToBr>
                    <a:lnBlToTr w="12700" cmpd="sng">
                      <a:noFill/>
                      <a:prstDash val="solid"/>
                    </a:lnBlToTr>
                    <a:noFill/>
                  </a:tcPr>
                </a:tc>
                <a:extLst>
                  <a:ext uri="{0D108BD9-81ED-4DB2-BD59-A6C34878D82A}">
                    <a16:rowId xmlns:a16="http://schemas.microsoft.com/office/drawing/2014/main" val="2661434750"/>
                  </a:ext>
                </a:extLst>
              </a:tr>
              <a:tr h="1826162">
                <a:tc>
                  <a:txBody>
                    <a:bodyPr/>
                    <a:lstStyle>
                      <a:lvl1pPr marL="0" algn="l" defTabSz="914400" rtl="0" eaLnBrk="1" latinLnBrk="0" hangingPunct="1">
                        <a:defRPr sz="1800" kern="1200">
                          <a:solidFill>
                            <a:schemeClr val="tx1"/>
                          </a:solidFill>
                          <a:latin typeface="Tw Cen MT" panose="020B0602020104020603"/>
                        </a:defRPr>
                      </a:lvl1pPr>
                      <a:lvl2pPr marL="457200" algn="l" defTabSz="914400" rtl="0" eaLnBrk="1" latinLnBrk="0" hangingPunct="1">
                        <a:defRPr sz="1800" kern="1200">
                          <a:solidFill>
                            <a:schemeClr val="tx1"/>
                          </a:solidFill>
                          <a:latin typeface="Tw Cen MT" panose="020B0602020104020603"/>
                        </a:defRPr>
                      </a:lvl2pPr>
                      <a:lvl3pPr marL="914400" algn="l" defTabSz="914400" rtl="0" eaLnBrk="1" latinLnBrk="0" hangingPunct="1">
                        <a:defRPr sz="1800" kern="1200">
                          <a:solidFill>
                            <a:schemeClr val="tx1"/>
                          </a:solidFill>
                          <a:latin typeface="Tw Cen MT" panose="020B0602020104020603"/>
                        </a:defRPr>
                      </a:lvl3pPr>
                      <a:lvl4pPr marL="1371600" algn="l" defTabSz="914400" rtl="0" eaLnBrk="1" latinLnBrk="0" hangingPunct="1">
                        <a:defRPr sz="1800" kern="1200">
                          <a:solidFill>
                            <a:schemeClr val="tx1"/>
                          </a:solidFill>
                          <a:latin typeface="Tw Cen MT" panose="020B0602020104020603"/>
                        </a:defRPr>
                      </a:lvl4pPr>
                      <a:lvl5pPr marL="1828800" algn="l" defTabSz="914400" rtl="0" eaLnBrk="1" latinLnBrk="0" hangingPunct="1">
                        <a:defRPr sz="1800" kern="1200">
                          <a:solidFill>
                            <a:schemeClr val="tx1"/>
                          </a:solidFill>
                          <a:latin typeface="Tw Cen MT" panose="020B0602020104020603"/>
                        </a:defRPr>
                      </a:lvl5pPr>
                      <a:lvl6pPr marL="2286000" algn="l" defTabSz="914400" rtl="0" eaLnBrk="1" latinLnBrk="0" hangingPunct="1">
                        <a:defRPr sz="1800" kern="1200">
                          <a:solidFill>
                            <a:schemeClr val="tx1"/>
                          </a:solidFill>
                          <a:latin typeface="Tw Cen MT" panose="020B0602020104020603"/>
                        </a:defRPr>
                      </a:lvl6pPr>
                      <a:lvl7pPr marL="2743200" algn="l" defTabSz="914400" rtl="0" eaLnBrk="1" latinLnBrk="0" hangingPunct="1">
                        <a:defRPr sz="1800" kern="1200">
                          <a:solidFill>
                            <a:schemeClr val="tx1"/>
                          </a:solidFill>
                          <a:latin typeface="Tw Cen MT" panose="020B0602020104020603"/>
                        </a:defRPr>
                      </a:lvl7pPr>
                      <a:lvl8pPr marL="3200400" algn="l" defTabSz="914400" rtl="0" eaLnBrk="1" latinLnBrk="0" hangingPunct="1">
                        <a:defRPr sz="1800" kern="1200">
                          <a:solidFill>
                            <a:schemeClr val="tx1"/>
                          </a:solidFill>
                          <a:latin typeface="Tw Cen MT" panose="020B0602020104020603"/>
                        </a:defRPr>
                      </a:lvl8pPr>
                      <a:lvl9pPr marL="3657600" algn="l" defTabSz="914400" rtl="0" eaLnBrk="1" latinLnBrk="0" hangingPunct="1">
                        <a:defRPr sz="1800" kern="1200">
                          <a:solidFill>
                            <a:schemeClr val="tx1"/>
                          </a:solidFill>
                          <a:latin typeface="Tw Cen MT" panose="020B0602020104020603"/>
                        </a:defRPr>
                      </a:lvl9pPr>
                    </a:lstStyle>
                    <a:p>
                      <a:pPr marL="342900" indent="-342900" algn="l" rtl="0" eaLnBrk="1" fontAlgn="base" latinLnBrk="0" hangingPunct="1">
                        <a:buFont typeface="Courier New" panose="02070309020205020404" pitchFamily="49" charset="0"/>
                        <a:buChar char="o"/>
                      </a:pPr>
                      <a:r>
                        <a:rPr lang="en-US" sz="1800" kern="1200" dirty="0">
                          <a:effectLst/>
                          <a:latin typeface="Arial"/>
                          <a:cs typeface="Arial"/>
                        </a:rPr>
                        <a:t>Procurement ​</a:t>
                      </a:r>
                      <a:endParaRPr lang="en-US" sz="1800" b="1" kern="1200" dirty="0">
                        <a:solidFill>
                          <a:schemeClr val="accent1">
                            <a:lumMod val="50000"/>
                          </a:schemeClr>
                        </a:solidFill>
                        <a:effectLst/>
                        <a:latin typeface="Arial"/>
                        <a:ea typeface="+mn-ea"/>
                        <a:cs typeface="Arial"/>
                      </a:endParaRPr>
                    </a:p>
                  </a:txBody>
                  <a:tcPr anchor="ctr">
                    <a:lnL w="12700" cmpd="sng">
                      <a:solidFill>
                        <a:srgbClr val="2FA3EE"/>
                      </a:solidFill>
                    </a:lnL>
                    <a:lnR w="12700" cmpd="sng">
                      <a:solidFill>
                        <a:srgbClr val="2FA3EE"/>
                      </a:solidFill>
                    </a:lnR>
                    <a:lnT w="25400" cmpd="sng">
                      <a:solidFill>
                        <a:srgbClr val="2FA3EE"/>
                      </a:solidFill>
                    </a:lnT>
                    <a:lnB w="12700" cmpd="sng">
                      <a:solidFill>
                        <a:srgbClr val="2FA3EE"/>
                      </a:solidFill>
                    </a:lnB>
                    <a:lnTlToBr w="12700" cmpd="sng">
                      <a:noFill/>
                      <a:prstDash val="solid"/>
                    </a:lnTlToBr>
                    <a:lnBlToTr w="12700" cmpd="sng">
                      <a:noFill/>
                      <a:prstDash val="solid"/>
                    </a:lnBlToTr>
                    <a:solidFill>
                      <a:srgbClr val="2FA3EE">
                        <a:alpha val="20000"/>
                      </a:srgbClr>
                    </a:solidFill>
                  </a:tcPr>
                </a:tc>
                <a:tc>
                  <a:txBody>
                    <a:bodyPr/>
                    <a:lstStyle>
                      <a:lvl1pPr marL="0" algn="l" defTabSz="914400" rtl="0" eaLnBrk="1" latinLnBrk="0" hangingPunct="1">
                        <a:defRPr sz="1800" kern="1200">
                          <a:solidFill>
                            <a:schemeClr val="tx1"/>
                          </a:solidFill>
                          <a:latin typeface="Tw Cen MT" panose="020B0602020104020603"/>
                        </a:defRPr>
                      </a:lvl1pPr>
                      <a:lvl2pPr marL="457200" algn="l" defTabSz="914400" rtl="0" eaLnBrk="1" latinLnBrk="0" hangingPunct="1">
                        <a:defRPr sz="1800" kern="1200">
                          <a:solidFill>
                            <a:schemeClr val="tx1"/>
                          </a:solidFill>
                          <a:latin typeface="Tw Cen MT" panose="020B0602020104020603"/>
                        </a:defRPr>
                      </a:lvl2pPr>
                      <a:lvl3pPr marL="914400" algn="l" defTabSz="914400" rtl="0" eaLnBrk="1" latinLnBrk="0" hangingPunct="1">
                        <a:defRPr sz="1800" kern="1200">
                          <a:solidFill>
                            <a:schemeClr val="tx1"/>
                          </a:solidFill>
                          <a:latin typeface="Tw Cen MT" panose="020B0602020104020603"/>
                        </a:defRPr>
                      </a:lvl3pPr>
                      <a:lvl4pPr marL="1371600" algn="l" defTabSz="914400" rtl="0" eaLnBrk="1" latinLnBrk="0" hangingPunct="1">
                        <a:defRPr sz="1800" kern="1200">
                          <a:solidFill>
                            <a:schemeClr val="tx1"/>
                          </a:solidFill>
                          <a:latin typeface="Tw Cen MT" panose="020B0602020104020603"/>
                        </a:defRPr>
                      </a:lvl4pPr>
                      <a:lvl5pPr marL="1828800" algn="l" defTabSz="914400" rtl="0" eaLnBrk="1" latinLnBrk="0" hangingPunct="1">
                        <a:defRPr sz="1800" kern="1200">
                          <a:solidFill>
                            <a:schemeClr val="tx1"/>
                          </a:solidFill>
                          <a:latin typeface="Tw Cen MT" panose="020B0602020104020603"/>
                        </a:defRPr>
                      </a:lvl5pPr>
                      <a:lvl6pPr marL="2286000" algn="l" defTabSz="914400" rtl="0" eaLnBrk="1" latinLnBrk="0" hangingPunct="1">
                        <a:defRPr sz="1800" kern="1200">
                          <a:solidFill>
                            <a:schemeClr val="tx1"/>
                          </a:solidFill>
                          <a:latin typeface="Tw Cen MT" panose="020B0602020104020603"/>
                        </a:defRPr>
                      </a:lvl6pPr>
                      <a:lvl7pPr marL="2743200" algn="l" defTabSz="914400" rtl="0" eaLnBrk="1" latinLnBrk="0" hangingPunct="1">
                        <a:defRPr sz="1800" kern="1200">
                          <a:solidFill>
                            <a:schemeClr val="tx1"/>
                          </a:solidFill>
                          <a:latin typeface="Tw Cen MT" panose="020B0602020104020603"/>
                        </a:defRPr>
                      </a:lvl7pPr>
                      <a:lvl8pPr marL="3200400" algn="l" defTabSz="914400" rtl="0" eaLnBrk="1" latinLnBrk="0" hangingPunct="1">
                        <a:defRPr sz="1800" kern="1200">
                          <a:solidFill>
                            <a:schemeClr val="tx1"/>
                          </a:solidFill>
                          <a:latin typeface="Tw Cen MT" panose="020B0602020104020603"/>
                        </a:defRPr>
                      </a:lvl8pPr>
                      <a:lvl9pPr marL="3657600" algn="l" defTabSz="914400" rtl="0" eaLnBrk="1" latinLnBrk="0" hangingPunct="1">
                        <a:defRPr sz="1800" kern="1200">
                          <a:solidFill>
                            <a:schemeClr val="tx1"/>
                          </a:solidFill>
                          <a:latin typeface="Tw Cen MT" panose="020B0602020104020603"/>
                        </a:defRPr>
                      </a:lvl9pPr>
                    </a:lstStyle>
                    <a:p>
                      <a:pPr marL="285750" lvl="0" indent="-285750">
                        <a:buFont typeface="Arial"/>
                        <a:buChar char="•"/>
                      </a:pPr>
                      <a:r>
                        <a:rPr lang="en-GB" sz="1800" b="0" i="0" kern="1200" dirty="0" smtClean="0">
                          <a:solidFill>
                            <a:schemeClr val="tx1"/>
                          </a:solidFill>
                          <a:effectLst/>
                          <a:latin typeface="Tw Cen MT" panose="020B0602020104020603"/>
                          <a:ea typeface="+mn-ea"/>
                          <a:cs typeface="+mn-cs"/>
                        </a:rPr>
                        <a:t>EOS M400-4 data preparation and advanced user training in </a:t>
                      </a:r>
                      <a:r>
                        <a:rPr lang="en-GB" sz="1800" b="0" i="0" kern="1200" dirty="0" err="1" smtClean="0">
                          <a:solidFill>
                            <a:schemeClr val="tx1"/>
                          </a:solidFill>
                          <a:effectLst/>
                          <a:latin typeface="Tw Cen MT" panose="020B0602020104020603"/>
                          <a:ea typeface="+mn-ea"/>
                          <a:cs typeface="+mn-cs"/>
                        </a:rPr>
                        <a:t>Muncih,Germany</a:t>
                      </a:r>
                      <a:r>
                        <a:rPr lang="en-GB" sz="1800" b="0" i="0" kern="1200" dirty="0" smtClean="0">
                          <a:solidFill>
                            <a:schemeClr val="tx1"/>
                          </a:solidFill>
                          <a:effectLst/>
                          <a:latin typeface="Tw Cen MT" panose="020B0602020104020603"/>
                          <a:ea typeface="+mn-ea"/>
                          <a:cs typeface="+mn-cs"/>
                        </a:rPr>
                        <a:t> have been submitted to HR</a:t>
                      </a:r>
                      <a:r>
                        <a:rPr lang="en-GB" sz="1800" b="0" i="0" u="none" strike="noStrike" kern="1200" noProof="0" dirty="0" smtClean="0">
                          <a:solidFill>
                            <a:schemeClr val="tx1"/>
                          </a:solidFill>
                          <a:effectLst/>
                          <a:latin typeface="Tw Cen MT"/>
                          <a:ea typeface="+mn-ea"/>
                          <a:cs typeface="+mn-cs"/>
                        </a:rPr>
                        <a:t>.</a:t>
                      </a:r>
                    </a:p>
                    <a:p>
                      <a:pPr marL="285750" lvl="0" indent="-285750">
                        <a:buFont typeface="Arial"/>
                        <a:buChar char="•"/>
                      </a:pPr>
                      <a:r>
                        <a:rPr lang="en-GB" sz="1800" b="0" i="0" kern="1200" dirty="0" smtClean="0">
                          <a:solidFill>
                            <a:schemeClr val="tx1"/>
                          </a:solidFill>
                          <a:effectLst/>
                          <a:latin typeface="Tw Cen MT" panose="020B0602020104020603"/>
                          <a:ea typeface="+mn-ea"/>
                          <a:cs typeface="+mn-cs"/>
                        </a:rPr>
                        <a:t>Quill Vogue Powder Wash (Water Jet) quotation has been submitted.</a:t>
                      </a:r>
                    </a:p>
                    <a:p>
                      <a:pPr marL="285750" lvl="0" indent="-285750">
                        <a:buFont typeface="Arial"/>
                        <a:buChar char="•"/>
                      </a:pPr>
                      <a:r>
                        <a:rPr lang="en-GB" sz="1800" b="0" i="0" u="none" strike="noStrike" kern="1200" dirty="0" smtClean="0">
                          <a:solidFill>
                            <a:schemeClr val="tx1"/>
                          </a:solidFill>
                          <a:effectLst/>
                          <a:latin typeface="Tw Cen MT" panose="020B0602020104020603"/>
                          <a:ea typeface="+mn-ea"/>
                          <a:cs typeface="+mn-cs"/>
                        </a:rPr>
                        <a:t>Preventive Maintenance for Ceramic Printer Maintenance Contract PO number 8472108769 issued.</a:t>
                      </a:r>
                    </a:p>
                  </a:txBody>
                  <a:tcPr marL="0" marR="0" marT="0" marB="0" anchor="ctr">
                    <a:lnL w="12700" cmpd="sng">
                      <a:solidFill>
                        <a:srgbClr val="2FA3EE"/>
                      </a:solidFill>
                    </a:lnL>
                    <a:lnR w="12700" cmpd="sng">
                      <a:solidFill>
                        <a:srgbClr val="2FA3EE"/>
                      </a:solidFill>
                    </a:lnR>
                    <a:lnT w="25400" cmpd="sng">
                      <a:solidFill>
                        <a:srgbClr val="2FA3EE"/>
                      </a:solidFill>
                    </a:lnT>
                    <a:lnB w="12700" cmpd="sng">
                      <a:solidFill>
                        <a:srgbClr val="2FA3EE"/>
                      </a:solidFill>
                    </a:lnB>
                    <a:lnTlToBr w="12700" cmpd="sng">
                      <a:noFill/>
                      <a:prstDash val="solid"/>
                    </a:lnTlToBr>
                    <a:lnBlToTr w="12700" cmpd="sng">
                      <a:noFill/>
                      <a:prstDash val="solid"/>
                    </a:lnBlToTr>
                    <a:solidFill>
                      <a:srgbClr val="2FA3EE">
                        <a:alpha val="20000"/>
                      </a:srgbClr>
                    </a:solidFill>
                  </a:tcPr>
                </a:tc>
                <a:extLst>
                  <a:ext uri="{0D108BD9-81ED-4DB2-BD59-A6C34878D82A}">
                    <a16:rowId xmlns:a16="http://schemas.microsoft.com/office/drawing/2014/main" val="3098222588"/>
                  </a:ext>
                </a:extLst>
              </a:tr>
              <a:tr h="1089231">
                <a:tc>
                  <a:txBody>
                    <a:bodyPr/>
                    <a:lstStyle>
                      <a:lvl1pPr marL="0" algn="l" defTabSz="914400" rtl="0" eaLnBrk="1" latinLnBrk="0" hangingPunct="1">
                        <a:defRPr sz="1800" kern="1200">
                          <a:solidFill>
                            <a:schemeClr val="tx1"/>
                          </a:solidFill>
                          <a:latin typeface="Tw Cen MT" panose="020B0602020104020603"/>
                        </a:defRPr>
                      </a:lvl1pPr>
                      <a:lvl2pPr marL="457200" algn="l" defTabSz="914400" rtl="0" eaLnBrk="1" latinLnBrk="0" hangingPunct="1">
                        <a:defRPr sz="1800" kern="1200">
                          <a:solidFill>
                            <a:schemeClr val="tx1"/>
                          </a:solidFill>
                          <a:latin typeface="Tw Cen MT" panose="020B0602020104020603"/>
                        </a:defRPr>
                      </a:lvl2pPr>
                      <a:lvl3pPr marL="914400" algn="l" defTabSz="914400" rtl="0" eaLnBrk="1" latinLnBrk="0" hangingPunct="1">
                        <a:defRPr sz="1800" kern="1200">
                          <a:solidFill>
                            <a:schemeClr val="tx1"/>
                          </a:solidFill>
                          <a:latin typeface="Tw Cen MT" panose="020B0602020104020603"/>
                        </a:defRPr>
                      </a:lvl3pPr>
                      <a:lvl4pPr marL="1371600" algn="l" defTabSz="914400" rtl="0" eaLnBrk="1" latinLnBrk="0" hangingPunct="1">
                        <a:defRPr sz="1800" kern="1200">
                          <a:solidFill>
                            <a:schemeClr val="tx1"/>
                          </a:solidFill>
                          <a:latin typeface="Tw Cen MT" panose="020B0602020104020603"/>
                        </a:defRPr>
                      </a:lvl4pPr>
                      <a:lvl5pPr marL="1828800" algn="l" defTabSz="914400" rtl="0" eaLnBrk="1" latinLnBrk="0" hangingPunct="1">
                        <a:defRPr sz="1800" kern="1200">
                          <a:solidFill>
                            <a:schemeClr val="tx1"/>
                          </a:solidFill>
                          <a:latin typeface="Tw Cen MT" panose="020B0602020104020603"/>
                        </a:defRPr>
                      </a:lvl5pPr>
                      <a:lvl6pPr marL="2286000" algn="l" defTabSz="914400" rtl="0" eaLnBrk="1" latinLnBrk="0" hangingPunct="1">
                        <a:defRPr sz="1800" kern="1200">
                          <a:solidFill>
                            <a:schemeClr val="tx1"/>
                          </a:solidFill>
                          <a:latin typeface="Tw Cen MT" panose="020B0602020104020603"/>
                        </a:defRPr>
                      </a:lvl6pPr>
                      <a:lvl7pPr marL="2743200" algn="l" defTabSz="914400" rtl="0" eaLnBrk="1" latinLnBrk="0" hangingPunct="1">
                        <a:defRPr sz="1800" kern="1200">
                          <a:solidFill>
                            <a:schemeClr val="tx1"/>
                          </a:solidFill>
                          <a:latin typeface="Tw Cen MT" panose="020B0602020104020603"/>
                        </a:defRPr>
                      </a:lvl7pPr>
                      <a:lvl8pPr marL="3200400" algn="l" defTabSz="914400" rtl="0" eaLnBrk="1" latinLnBrk="0" hangingPunct="1">
                        <a:defRPr sz="1800" kern="1200">
                          <a:solidFill>
                            <a:schemeClr val="tx1"/>
                          </a:solidFill>
                          <a:latin typeface="Tw Cen MT" panose="020B0602020104020603"/>
                        </a:defRPr>
                      </a:lvl8pPr>
                      <a:lvl9pPr marL="3657600" algn="l" defTabSz="914400" rtl="0" eaLnBrk="1" latinLnBrk="0" hangingPunct="1">
                        <a:defRPr sz="1800" kern="1200">
                          <a:solidFill>
                            <a:schemeClr val="tx1"/>
                          </a:solidFill>
                          <a:latin typeface="Tw Cen MT" panose="020B0602020104020603"/>
                        </a:defRPr>
                      </a:lvl9pPr>
                    </a:lstStyle>
                    <a:p>
                      <a:pPr marL="342900" indent="-342900" algn="l" rtl="0" eaLnBrk="1" fontAlgn="base" latinLnBrk="0" hangingPunct="1">
                        <a:buFont typeface="Courier New" panose="02070309020205020404" pitchFamily="49" charset="0"/>
                        <a:buChar char="o"/>
                      </a:pPr>
                      <a:r>
                        <a:rPr lang="en-US" sz="1800" kern="1200" dirty="0">
                          <a:effectLst/>
                          <a:latin typeface="Arial"/>
                          <a:cs typeface="Arial"/>
                        </a:rPr>
                        <a:t>Maintenance ​</a:t>
                      </a:r>
                      <a:endParaRPr lang="en-US" sz="1800" b="1" kern="1200">
                        <a:solidFill>
                          <a:schemeClr val="accent1">
                            <a:lumMod val="50000"/>
                          </a:schemeClr>
                        </a:solidFill>
                        <a:effectLst/>
                        <a:latin typeface="Arial"/>
                        <a:ea typeface="+mn-ea"/>
                        <a:cs typeface="Arial"/>
                      </a:endParaRPr>
                    </a:p>
                  </a:txBody>
                  <a:tcPr anchor="ctr">
                    <a:lnL w="12700" cmpd="sng">
                      <a:solidFill>
                        <a:srgbClr val="2FA3EE"/>
                      </a:solidFill>
                    </a:lnL>
                    <a:lnR w="12700" cmpd="sng">
                      <a:solidFill>
                        <a:srgbClr val="2FA3EE"/>
                      </a:solidFill>
                    </a:lnR>
                    <a:lnT w="12700" cmpd="sng">
                      <a:solidFill>
                        <a:srgbClr val="2FA3EE"/>
                      </a:solidFill>
                    </a:lnT>
                    <a:lnB w="12700" cmpd="sng">
                      <a:solidFill>
                        <a:srgbClr val="2FA3EE"/>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w Cen MT" panose="020B0602020104020603"/>
                        </a:defRPr>
                      </a:lvl1pPr>
                      <a:lvl2pPr marL="457200" algn="l" defTabSz="914400" rtl="0" eaLnBrk="1" latinLnBrk="0" hangingPunct="1">
                        <a:defRPr sz="1800" kern="1200">
                          <a:solidFill>
                            <a:schemeClr val="tx1"/>
                          </a:solidFill>
                          <a:latin typeface="Tw Cen MT" panose="020B0602020104020603"/>
                        </a:defRPr>
                      </a:lvl2pPr>
                      <a:lvl3pPr marL="914400" algn="l" defTabSz="914400" rtl="0" eaLnBrk="1" latinLnBrk="0" hangingPunct="1">
                        <a:defRPr sz="1800" kern="1200">
                          <a:solidFill>
                            <a:schemeClr val="tx1"/>
                          </a:solidFill>
                          <a:latin typeface="Tw Cen MT" panose="020B0602020104020603"/>
                        </a:defRPr>
                      </a:lvl3pPr>
                      <a:lvl4pPr marL="1371600" algn="l" defTabSz="914400" rtl="0" eaLnBrk="1" latinLnBrk="0" hangingPunct="1">
                        <a:defRPr sz="1800" kern="1200">
                          <a:solidFill>
                            <a:schemeClr val="tx1"/>
                          </a:solidFill>
                          <a:latin typeface="Tw Cen MT" panose="020B0602020104020603"/>
                        </a:defRPr>
                      </a:lvl4pPr>
                      <a:lvl5pPr marL="1828800" algn="l" defTabSz="914400" rtl="0" eaLnBrk="1" latinLnBrk="0" hangingPunct="1">
                        <a:defRPr sz="1800" kern="1200">
                          <a:solidFill>
                            <a:schemeClr val="tx1"/>
                          </a:solidFill>
                          <a:latin typeface="Tw Cen MT" panose="020B0602020104020603"/>
                        </a:defRPr>
                      </a:lvl5pPr>
                      <a:lvl6pPr marL="2286000" algn="l" defTabSz="914400" rtl="0" eaLnBrk="1" latinLnBrk="0" hangingPunct="1">
                        <a:defRPr sz="1800" kern="1200">
                          <a:solidFill>
                            <a:schemeClr val="tx1"/>
                          </a:solidFill>
                          <a:latin typeface="Tw Cen MT" panose="020B0602020104020603"/>
                        </a:defRPr>
                      </a:lvl6pPr>
                      <a:lvl7pPr marL="2743200" algn="l" defTabSz="914400" rtl="0" eaLnBrk="1" latinLnBrk="0" hangingPunct="1">
                        <a:defRPr sz="1800" kern="1200">
                          <a:solidFill>
                            <a:schemeClr val="tx1"/>
                          </a:solidFill>
                          <a:latin typeface="Tw Cen MT" panose="020B0602020104020603"/>
                        </a:defRPr>
                      </a:lvl7pPr>
                      <a:lvl8pPr marL="3200400" algn="l" defTabSz="914400" rtl="0" eaLnBrk="1" latinLnBrk="0" hangingPunct="1">
                        <a:defRPr sz="1800" kern="1200">
                          <a:solidFill>
                            <a:schemeClr val="tx1"/>
                          </a:solidFill>
                          <a:latin typeface="Tw Cen MT" panose="020B0602020104020603"/>
                        </a:defRPr>
                      </a:lvl8pPr>
                      <a:lvl9pPr marL="3657600" algn="l" defTabSz="914400" rtl="0" eaLnBrk="1" latinLnBrk="0" hangingPunct="1">
                        <a:defRPr sz="1800" kern="1200">
                          <a:solidFill>
                            <a:schemeClr val="tx1"/>
                          </a:solidFill>
                          <a:latin typeface="Tw Cen MT" panose="020B0602020104020603"/>
                        </a:defRPr>
                      </a:lvl9pPr>
                    </a:lstStyle>
                    <a:p>
                      <a:pPr marL="285750" lvl="0" indent="-285750">
                        <a:buFont typeface="Arial"/>
                        <a:buChar char="•"/>
                      </a:pPr>
                      <a:r>
                        <a:rPr lang="en-US" sz="1800" b="0" i="0" kern="1200" dirty="0" smtClean="0">
                          <a:solidFill>
                            <a:schemeClr val="tx1"/>
                          </a:solidFill>
                          <a:effectLst/>
                          <a:latin typeface="Tw Cen MT" panose="020B0602020104020603"/>
                          <a:ea typeface="+mn-ea"/>
                          <a:cs typeface="+mn-cs"/>
                        </a:rPr>
                        <a:t>Fine Filter switch issue is resolved.</a:t>
                      </a:r>
                    </a:p>
                    <a:p>
                      <a:pPr marL="285750" lvl="0" indent="-285750">
                        <a:buFont typeface="Arial"/>
                        <a:buChar char="•"/>
                      </a:pPr>
                      <a:r>
                        <a:rPr lang="en-GB" sz="1800" b="0" i="0" kern="1200" dirty="0" smtClean="0">
                          <a:solidFill>
                            <a:schemeClr val="tx1"/>
                          </a:solidFill>
                          <a:effectLst/>
                          <a:latin typeface="Tw Cen MT" panose="020B0602020104020603"/>
                          <a:ea typeface="+mn-ea"/>
                          <a:cs typeface="+mn-cs"/>
                        </a:rPr>
                        <a:t>The emergency cut-off electricity switch issue is resolved by FM.</a:t>
                      </a:r>
                    </a:p>
                    <a:p>
                      <a:pPr marL="285750" lvl="0" indent="-285750">
                        <a:buFont typeface="Arial"/>
                        <a:buChar char="•"/>
                      </a:pPr>
                      <a:r>
                        <a:rPr lang="en-GB" sz="1800" b="0" i="0" u="none" strike="noStrike" kern="1200" dirty="0" err="1" smtClean="0">
                          <a:solidFill>
                            <a:schemeClr val="tx1"/>
                          </a:solidFill>
                          <a:effectLst/>
                          <a:latin typeface="Tw Cen MT" panose="020B0602020104020603"/>
                          <a:ea typeface="+mn-ea"/>
                          <a:cs typeface="+mn-cs"/>
                        </a:rPr>
                        <a:t>Recoater</a:t>
                      </a:r>
                      <a:r>
                        <a:rPr lang="en-GB" sz="1800" b="0" i="0" u="none" strike="noStrike" kern="1200" dirty="0" smtClean="0">
                          <a:solidFill>
                            <a:schemeClr val="tx1"/>
                          </a:solidFill>
                          <a:effectLst/>
                          <a:latin typeface="Tw Cen MT" panose="020B0602020104020603"/>
                          <a:ea typeface="+mn-ea"/>
                          <a:cs typeface="+mn-cs"/>
                        </a:rPr>
                        <a:t> adjustment for the next build.</a:t>
                      </a:r>
                    </a:p>
                    <a:p>
                      <a:pPr marL="285750" lvl="0" indent="-285750">
                        <a:buFont typeface="Arial"/>
                        <a:buChar char="•"/>
                      </a:pPr>
                      <a:r>
                        <a:rPr lang="en-US" sz="1800" b="0" i="0" u="none" strike="noStrike" noProof="0" dirty="0" smtClean="0">
                          <a:latin typeface="TW Cen MT"/>
                        </a:rPr>
                        <a:t>Wet separator cleaning (</a:t>
                      </a:r>
                      <a:r>
                        <a:rPr lang="en-GB" sz="1800" b="0" i="0" u="none" strike="noStrike" noProof="0" dirty="0" smtClean="0"/>
                        <a:t>liquid container and the moisture separator)</a:t>
                      </a:r>
                      <a:endParaRPr lang="en-US" sz="1800" b="0" i="0" u="none" strike="noStrike" noProof="0" dirty="0">
                        <a:latin typeface="TW Cen MT"/>
                      </a:endParaRPr>
                    </a:p>
                  </a:txBody>
                  <a:tcPr marL="0" marR="0" marT="0" marB="0" anchor="ctr">
                    <a:lnL w="12700" cmpd="sng">
                      <a:solidFill>
                        <a:srgbClr val="2FA3EE"/>
                      </a:solidFill>
                    </a:lnL>
                    <a:lnR w="12700" cmpd="sng">
                      <a:solidFill>
                        <a:srgbClr val="2FA3EE"/>
                      </a:solidFill>
                    </a:lnR>
                    <a:lnT w="12700" cmpd="sng">
                      <a:solidFill>
                        <a:srgbClr val="2FA3EE"/>
                      </a:solidFill>
                    </a:lnT>
                    <a:lnB w="12700" cmpd="sng">
                      <a:solidFill>
                        <a:srgbClr val="2FA3EE"/>
                      </a:solidFill>
                    </a:lnB>
                    <a:lnTlToBr w="12700" cmpd="sng">
                      <a:noFill/>
                      <a:prstDash val="solid"/>
                    </a:lnTlToBr>
                    <a:lnBlToTr w="12700" cmpd="sng">
                      <a:noFill/>
                      <a:prstDash val="solid"/>
                    </a:lnBlToTr>
                    <a:noFill/>
                  </a:tcPr>
                </a:tc>
                <a:extLst>
                  <a:ext uri="{0D108BD9-81ED-4DB2-BD59-A6C34878D82A}">
                    <a16:rowId xmlns:a16="http://schemas.microsoft.com/office/drawing/2014/main" val="2506618690"/>
                  </a:ext>
                </a:extLst>
              </a:tr>
              <a:tr h="782641">
                <a:tc>
                  <a:txBody>
                    <a:bodyPr/>
                    <a:lstStyle>
                      <a:lvl1pPr marL="0" algn="l" defTabSz="914400" rtl="0" eaLnBrk="1" latinLnBrk="0" hangingPunct="1">
                        <a:defRPr sz="1800" kern="1200">
                          <a:solidFill>
                            <a:schemeClr val="tx1"/>
                          </a:solidFill>
                          <a:latin typeface="Tw Cen MT" panose="020B0602020104020603"/>
                        </a:defRPr>
                      </a:lvl1pPr>
                      <a:lvl2pPr marL="457200" algn="l" defTabSz="914400" rtl="0" eaLnBrk="1" latinLnBrk="0" hangingPunct="1">
                        <a:defRPr sz="1800" kern="1200">
                          <a:solidFill>
                            <a:schemeClr val="tx1"/>
                          </a:solidFill>
                          <a:latin typeface="Tw Cen MT" panose="020B0602020104020603"/>
                        </a:defRPr>
                      </a:lvl2pPr>
                      <a:lvl3pPr marL="914400" algn="l" defTabSz="914400" rtl="0" eaLnBrk="1" latinLnBrk="0" hangingPunct="1">
                        <a:defRPr sz="1800" kern="1200">
                          <a:solidFill>
                            <a:schemeClr val="tx1"/>
                          </a:solidFill>
                          <a:latin typeface="Tw Cen MT" panose="020B0602020104020603"/>
                        </a:defRPr>
                      </a:lvl3pPr>
                      <a:lvl4pPr marL="1371600" algn="l" defTabSz="914400" rtl="0" eaLnBrk="1" latinLnBrk="0" hangingPunct="1">
                        <a:defRPr sz="1800" kern="1200">
                          <a:solidFill>
                            <a:schemeClr val="tx1"/>
                          </a:solidFill>
                          <a:latin typeface="Tw Cen MT" panose="020B0602020104020603"/>
                        </a:defRPr>
                      </a:lvl4pPr>
                      <a:lvl5pPr marL="1828800" algn="l" defTabSz="914400" rtl="0" eaLnBrk="1" latinLnBrk="0" hangingPunct="1">
                        <a:defRPr sz="1800" kern="1200">
                          <a:solidFill>
                            <a:schemeClr val="tx1"/>
                          </a:solidFill>
                          <a:latin typeface="Tw Cen MT" panose="020B0602020104020603"/>
                        </a:defRPr>
                      </a:lvl5pPr>
                      <a:lvl6pPr marL="2286000" algn="l" defTabSz="914400" rtl="0" eaLnBrk="1" latinLnBrk="0" hangingPunct="1">
                        <a:defRPr sz="1800" kern="1200">
                          <a:solidFill>
                            <a:schemeClr val="tx1"/>
                          </a:solidFill>
                          <a:latin typeface="Tw Cen MT" panose="020B0602020104020603"/>
                        </a:defRPr>
                      </a:lvl6pPr>
                      <a:lvl7pPr marL="2743200" algn="l" defTabSz="914400" rtl="0" eaLnBrk="1" latinLnBrk="0" hangingPunct="1">
                        <a:defRPr sz="1800" kern="1200">
                          <a:solidFill>
                            <a:schemeClr val="tx1"/>
                          </a:solidFill>
                          <a:latin typeface="Tw Cen MT" panose="020B0602020104020603"/>
                        </a:defRPr>
                      </a:lvl7pPr>
                      <a:lvl8pPr marL="3200400" algn="l" defTabSz="914400" rtl="0" eaLnBrk="1" latinLnBrk="0" hangingPunct="1">
                        <a:defRPr sz="1800" kern="1200">
                          <a:solidFill>
                            <a:schemeClr val="tx1"/>
                          </a:solidFill>
                          <a:latin typeface="Tw Cen MT" panose="020B0602020104020603"/>
                        </a:defRPr>
                      </a:lvl8pPr>
                      <a:lvl9pPr marL="3657600" algn="l" defTabSz="914400" rtl="0" eaLnBrk="1" latinLnBrk="0" hangingPunct="1">
                        <a:defRPr sz="1800" kern="1200">
                          <a:solidFill>
                            <a:schemeClr val="tx1"/>
                          </a:solidFill>
                          <a:latin typeface="Tw Cen MT" panose="020B0602020104020603"/>
                        </a:defRPr>
                      </a:lvl9pPr>
                    </a:lstStyle>
                    <a:p>
                      <a:pPr marL="342900" lvl="0" indent="-342900" algn="l" rtl="0">
                        <a:buFont typeface="Courier New" panose="02070309020205020404" pitchFamily="49" charset="0"/>
                        <a:buChar char="o"/>
                      </a:pPr>
                      <a:r>
                        <a:rPr lang="en-US" sz="1800" kern="1200" dirty="0">
                          <a:effectLst/>
                          <a:latin typeface="Arial" panose="020B0604020202020204" pitchFamily="34" charset="0"/>
                          <a:cs typeface="Arial" panose="020B0604020202020204" pitchFamily="34" charset="0"/>
                        </a:rPr>
                        <a:t>Safety ​</a:t>
                      </a:r>
                      <a:endParaRPr lang="en-US" sz="1800" b="1" kern="1200" dirty="0">
                        <a:solidFill>
                          <a:schemeClr val="accent1">
                            <a:lumMod val="50000"/>
                          </a:schemeClr>
                        </a:solidFill>
                        <a:effectLst/>
                        <a:latin typeface="Arial" panose="020B0604020202020204" pitchFamily="34" charset="0"/>
                        <a:ea typeface="+mn-ea"/>
                        <a:cs typeface="Arial" panose="020B0604020202020204" pitchFamily="34" charset="0"/>
                      </a:endParaRPr>
                    </a:p>
                  </a:txBody>
                  <a:tcPr anchor="ctr">
                    <a:lnL w="12700" cmpd="sng">
                      <a:solidFill>
                        <a:srgbClr val="2FA3EE"/>
                      </a:solidFill>
                    </a:lnL>
                    <a:lnR w="12700" cmpd="sng">
                      <a:solidFill>
                        <a:srgbClr val="2FA3EE"/>
                      </a:solidFill>
                    </a:lnR>
                    <a:lnT w="12700" cmpd="sng">
                      <a:solidFill>
                        <a:srgbClr val="2FA3EE"/>
                      </a:solidFill>
                    </a:lnT>
                    <a:lnB w="12700" cmpd="sng">
                      <a:solidFill>
                        <a:srgbClr val="2FA3EE"/>
                      </a:solidFill>
                    </a:lnB>
                    <a:lnTlToBr w="12700" cmpd="sng">
                      <a:noFill/>
                      <a:prstDash val="solid"/>
                    </a:lnTlToBr>
                    <a:lnBlToTr w="12700" cmpd="sng">
                      <a:noFill/>
                      <a:prstDash val="solid"/>
                    </a:lnBlToTr>
                    <a:solidFill>
                      <a:srgbClr val="2FA3EE">
                        <a:alpha val="20000"/>
                      </a:srgbClr>
                    </a:solidFill>
                  </a:tcPr>
                </a:tc>
                <a:tc>
                  <a:txBody>
                    <a:bodyPr/>
                    <a:lstStyle>
                      <a:lvl1pPr marL="0" algn="l" defTabSz="914400" rtl="0" eaLnBrk="1" latinLnBrk="0" hangingPunct="1">
                        <a:defRPr sz="1800" kern="1200">
                          <a:solidFill>
                            <a:schemeClr val="tx1"/>
                          </a:solidFill>
                          <a:latin typeface="Tw Cen MT" panose="020B0602020104020603"/>
                        </a:defRPr>
                      </a:lvl1pPr>
                      <a:lvl2pPr marL="457200" algn="l" defTabSz="914400" rtl="0" eaLnBrk="1" latinLnBrk="0" hangingPunct="1">
                        <a:defRPr sz="1800" kern="1200">
                          <a:solidFill>
                            <a:schemeClr val="tx1"/>
                          </a:solidFill>
                          <a:latin typeface="Tw Cen MT" panose="020B0602020104020603"/>
                        </a:defRPr>
                      </a:lvl2pPr>
                      <a:lvl3pPr marL="914400" algn="l" defTabSz="914400" rtl="0" eaLnBrk="1" latinLnBrk="0" hangingPunct="1">
                        <a:defRPr sz="1800" kern="1200">
                          <a:solidFill>
                            <a:schemeClr val="tx1"/>
                          </a:solidFill>
                          <a:latin typeface="Tw Cen MT" panose="020B0602020104020603"/>
                        </a:defRPr>
                      </a:lvl3pPr>
                      <a:lvl4pPr marL="1371600" algn="l" defTabSz="914400" rtl="0" eaLnBrk="1" latinLnBrk="0" hangingPunct="1">
                        <a:defRPr sz="1800" kern="1200">
                          <a:solidFill>
                            <a:schemeClr val="tx1"/>
                          </a:solidFill>
                          <a:latin typeface="Tw Cen MT" panose="020B0602020104020603"/>
                        </a:defRPr>
                      </a:lvl4pPr>
                      <a:lvl5pPr marL="1828800" algn="l" defTabSz="914400" rtl="0" eaLnBrk="1" latinLnBrk="0" hangingPunct="1">
                        <a:defRPr sz="1800" kern="1200">
                          <a:solidFill>
                            <a:schemeClr val="tx1"/>
                          </a:solidFill>
                          <a:latin typeface="Tw Cen MT" panose="020B0602020104020603"/>
                        </a:defRPr>
                      </a:lvl5pPr>
                      <a:lvl6pPr marL="2286000" algn="l" defTabSz="914400" rtl="0" eaLnBrk="1" latinLnBrk="0" hangingPunct="1">
                        <a:defRPr sz="1800" kern="1200">
                          <a:solidFill>
                            <a:schemeClr val="tx1"/>
                          </a:solidFill>
                          <a:latin typeface="Tw Cen MT" panose="020B0602020104020603"/>
                        </a:defRPr>
                      </a:lvl6pPr>
                      <a:lvl7pPr marL="2743200" algn="l" defTabSz="914400" rtl="0" eaLnBrk="1" latinLnBrk="0" hangingPunct="1">
                        <a:defRPr sz="1800" kern="1200">
                          <a:solidFill>
                            <a:schemeClr val="tx1"/>
                          </a:solidFill>
                          <a:latin typeface="Tw Cen MT" panose="020B0602020104020603"/>
                        </a:defRPr>
                      </a:lvl7pPr>
                      <a:lvl8pPr marL="3200400" algn="l" defTabSz="914400" rtl="0" eaLnBrk="1" latinLnBrk="0" hangingPunct="1">
                        <a:defRPr sz="1800" kern="1200">
                          <a:solidFill>
                            <a:schemeClr val="tx1"/>
                          </a:solidFill>
                          <a:latin typeface="Tw Cen MT" panose="020B0602020104020603"/>
                        </a:defRPr>
                      </a:lvl8pPr>
                      <a:lvl9pPr marL="3657600" algn="l" defTabSz="914400" rtl="0" eaLnBrk="1" latinLnBrk="0" hangingPunct="1">
                        <a:defRPr sz="1800" kern="1200">
                          <a:solidFill>
                            <a:schemeClr val="tx1"/>
                          </a:solidFill>
                          <a:latin typeface="Tw Cen MT" panose="020B0602020104020603"/>
                        </a:defRPr>
                      </a:lvl9pPr>
                    </a:lstStyle>
                    <a:p>
                      <a:pPr marL="285750" lvl="0" indent="-285750">
                        <a:buFont typeface="Arial"/>
                        <a:buChar char="•"/>
                      </a:pPr>
                      <a:r>
                        <a:rPr lang="en-GB" sz="1800" b="0" i="0" kern="1200" dirty="0" smtClean="0">
                          <a:solidFill>
                            <a:schemeClr val="tx1"/>
                          </a:solidFill>
                          <a:effectLst/>
                          <a:latin typeface="Tw Cen MT" panose="020B0602020104020603"/>
                          <a:ea typeface="+mn-ea"/>
                          <a:cs typeface="+mn-cs"/>
                        </a:rPr>
                        <a:t>Emergency cut-off switch keys will be provided to EHS and KU Security.</a:t>
                      </a:r>
                    </a:p>
                    <a:p>
                      <a:pPr marL="285750" lvl="0" indent="-285750">
                        <a:buFont typeface="Arial"/>
                        <a:buChar char="•"/>
                      </a:pPr>
                      <a:r>
                        <a:rPr lang="en-GB" sz="1800" b="0" i="0" kern="1200" dirty="0" smtClean="0">
                          <a:solidFill>
                            <a:schemeClr val="tx1"/>
                          </a:solidFill>
                          <a:effectLst/>
                          <a:latin typeface="Tw Cen MT" panose="020B0602020104020603"/>
                          <a:ea typeface="+mn-ea"/>
                          <a:cs typeface="+mn-cs"/>
                        </a:rPr>
                        <a:t>Hazardous waste (condensate</a:t>
                      </a:r>
                      <a:r>
                        <a:rPr lang="en-GB" sz="1800" b="0" i="0" kern="1200" baseline="0" dirty="0" smtClean="0">
                          <a:solidFill>
                            <a:schemeClr val="tx1"/>
                          </a:solidFill>
                          <a:effectLst/>
                          <a:latin typeface="Tw Cen MT" panose="020B0602020104020603"/>
                          <a:ea typeface="+mn-ea"/>
                          <a:cs typeface="+mn-cs"/>
                        </a:rPr>
                        <a:t> powder)</a:t>
                      </a:r>
                      <a:r>
                        <a:rPr lang="en-GB" sz="1800" b="0" i="0" kern="1200" dirty="0" smtClean="0">
                          <a:solidFill>
                            <a:schemeClr val="tx1"/>
                          </a:solidFill>
                          <a:effectLst/>
                          <a:latin typeface="Tw Cen MT" panose="020B0602020104020603"/>
                          <a:ea typeface="+mn-ea"/>
                          <a:cs typeface="+mn-cs"/>
                        </a:rPr>
                        <a:t> was collected by the contractor.</a:t>
                      </a:r>
                    </a:p>
                    <a:p>
                      <a:pPr marL="285750" lvl="0" indent="-285750">
                        <a:buFont typeface="Arial"/>
                        <a:buChar char="•"/>
                      </a:pPr>
                      <a:r>
                        <a:rPr lang="en-GB" sz="1800" b="0" i="0" u="none" strike="noStrike" noProof="0" dirty="0" smtClean="0">
                          <a:latin typeface="Tw Cen MT"/>
                        </a:rPr>
                        <a:t>RL </a:t>
                      </a:r>
                      <a:r>
                        <a:rPr lang="en-GB" sz="1800" b="0" i="0" u="none" strike="noStrike" noProof="0" dirty="0">
                          <a:latin typeface="Tw Cen MT"/>
                        </a:rPr>
                        <a:t>EHS operations updates &gt; </a:t>
                      </a:r>
                      <a:r>
                        <a:rPr lang="en-GB" sz="1800" b="0" i="0" u="none" strike="noStrike" noProof="0" dirty="0" smtClean="0">
                          <a:latin typeface="Tw Cen MT"/>
                        </a:rPr>
                        <a:t>ongoing.</a:t>
                      </a:r>
                      <a:endParaRPr lang="en-GB" sz="1800" b="0" i="0" u="none" strike="noStrike" noProof="0" dirty="0">
                        <a:latin typeface="Tw Cen MT"/>
                      </a:endParaRPr>
                    </a:p>
                  </a:txBody>
                  <a:tcPr marL="0" marR="0" marT="0" marB="0" anchor="ctr">
                    <a:lnL w="12700" cmpd="sng">
                      <a:solidFill>
                        <a:srgbClr val="2FA3EE"/>
                      </a:solidFill>
                    </a:lnL>
                    <a:lnR w="12700" cmpd="sng">
                      <a:solidFill>
                        <a:srgbClr val="2FA3EE"/>
                      </a:solidFill>
                    </a:lnR>
                    <a:lnT w="12700" cmpd="sng">
                      <a:solidFill>
                        <a:srgbClr val="2FA3EE"/>
                      </a:solidFill>
                    </a:lnT>
                    <a:lnB w="12700" cmpd="sng">
                      <a:solidFill>
                        <a:srgbClr val="2FA3EE"/>
                      </a:solidFill>
                    </a:lnB>
                    <a:lnTlToBr w="12700" cmpd="sng">
                      <a:noFill/>
                      <a:prstDash val="solid"/>
                    </a:lnTlToBr>
                    <a:lnBlToTr w="12700" cmpd="sng">
                      <a:noFill/>
                      <a:prstDash val="solid"/>
                    </a:lnBlToTr>
                    <a:solidFill>
                      <a:srgbClr val="2FA3EE">
                        <a:alpha val="20000"/>
                      </a:srgbClr>
                    </a:solidFill>
                  </a:tcPr>
                </a:tc>
                <a:extLst>
                  <a:ext uri="{0D108BD9-81ED-4DB2-BD59-A6C34878D82A}">
                    <a16:rowId xmlns:a16="http://schemas.microsoft.com/office/drawing/2014/main" val="3135217848"/>
                  </a:ext>
                </a:extLst>
              </a:tr>
              <a:tr h="871385">
                <a:tc>
                  <a:txBody>
                    <a:bodyPr/>
                    <a:lstStyle>
                      <a:lvl1pPr marL="0" algn="l" defTabSz="914400" rtl="0" eaLnBrk="1" latinLnBrk="0" hangingPunct="1">
                        <a:defRPr sz="1800" kern="1200">
                          <a:solidFill>
                            <a:schemeClr val="tx1"/>
                          </a:solidFill>
                          <a:latin typeface="Tw Cen MT" panose="020B0602020104020603"/>
                        </a:defRPr>
                      </a:lvl1pPr>
                      <a:lvl2pPr marL="457200" algn="l" defTabSz="914400" rtl="0" eaLnBrk="1" latinLnBrk="0" hangingPunct="1">
                        <a:defRPr sz="1800" kern="1200">
                          <a:solidFill>
                            <a:schemeClr val="tx1"/>
                          </a:solidFill>
                          <a:latin typeface="Tw Cen MT" panose="020B0602020104020603"/>
                        </a:defRPr>
                      </a:lvl2pPr>
                      <a:lvl3pPr marL="914400" algn="l" defTabSz="914400" rtl="0" eaLnBrk="1" latinLnBrk="0" hangingPunct="1">
                        <a:defRPr sz="1800" kern="1200">
                          <a:solidFill>
                            <a:schemeClr val="tx1"/>
                          </a:solidFill>
                          <a:latin typeface="Tw Cen MT" panose="020B0602020104020603"/>
                        </a:defRPr>
                      </a:lvl3pPr>
                      <a:lvl4pPr marL="1371600" algn="l" defTabSz="914400" rtl="0" eaLnBrk="1" latinLnBrk="0" hangingPunct="1">
                        <a:defRPr sz="1800" kern="1200">
                          <a:solidFill>
                            <a:schemeClr val="tx1"/>
                          </a:solidFill>
                          <a:latin typeface="Tw Cen MT" panose="020B0602020104020603"/>
                        </a:defRPr>
                      </a:lvl4pPr>
                      <a:lvl5pPr marL="1828800" algn="l" defTabSz="914400" rtl="0" eaLnBrk="1" latinLnBrk="0" hangingPunct="1">
                        <a:defRPr sz="1800" kern="1200">
                          <a:solidFill>
                            <a:schemeClr val="tx1"/>
                          </a:solidFill>
                          <a:latin typeface="Tw Cen MT" panose="020B0602020104020603"/>
                        </a:defRPr>
                      </a:lvl5pPr>
                      <a:lvl6pPr marL="2286000" algn="l" defTabSz="914400" rtl="0" eaLnBrk="1" latinLnBrk="0" hangingPunct="1">
                        <a:defRPr sz="1800" kern="1200">
                          <a:solidFill>
                            <a:schemeClr val="tx1"/>
                          </a:solidFill>
                          <a:latin typeface="Tw Cen MT" panose="020B0602020104020603"/>
                        </a:defRPr>
                      </a:lvl6pPr>
                      <a:lvl7pPr marL="2743200" algn="l" defTabSz="914400" rtl="0" eaLnBrk="1" latinLnBrk="0" hangingPunct="1">
                        <a:defRPr sz="1800" kern="1200">
                          <a:solidFill>
                            <a:schemeClr val="tx1"/>
                          </a:solidFill>
                          <a:latin typeface="Tw Cen MT" panose="020B0602020104020603"/>
                        </a:defRPr>
                      </a:lvl7pPr>
                      <a:lvl8pPr marL="3200400" algn="l" defTabSz="914400" rtl="0" eaLnBrk="1" latinLnBrk="0" hangingPunct="1">
                        <a:defRPr sz="1800" kern="1200">
                          <a:solidFill>
                            <a:schemeClr val="tx1"/>
                          </a:solidFill>
                          <a:latin typeface="Tw Cen MT" panose="020B0602020104020603"/>
                        </a:defRPr>
                      </a:lvl8pPr>
                      <a:lvl9pPr marL="3657600" algn="l" defTabSz="914400" rtl="0" eaLnBrk="1" latinLnBrk="0" hangingPunct="1">
                        <a:defRPr sz="1800" kern="1200">
                          <a:solidFill>
                            <a:schemeClr val="tx1"/>
                          </a:solidFill>
                          <a:latin typeface="Tw Cen MT" panose="020B0602020104020603"/>
                        </a:defRPr>
                      </a:lvl9pPr>
                    </a:lstStyle>
                    <a:p>
                      <a:pPr marL="342900" lvl="0" indent="-342900" algn="l" defTabSz="914400" rtl="0">
                        <a:buFont typeface="Courier New" panose="02070309020205020404" pitchFamily="49" charset="0"/>
                        <a:buChar char="o"/>
                      </a:pPr>
                      <a:r>
                        <a:rPr lang="en-US" sz="1800" kern="1200" dirty="0">
                          <a:effectLst/>
                          <a:latin typeface="Arial"/>
                          <a:cs typeface="Arial"/>
                        </a:rPr>
                        <a:t>Other​</a:t>
                      </a:r>
                      <a:endParaRPr lang="en-US" sz="1800" b="1" kern="1200" dirty="0">
                        <a:solidFill>
                          <a:schemeClr val="accent1">
                            <a:lumMod val="50000"/>
                          </a:schemeClr>
                        </a:solidFill>
                        <a:effectLst/>
                        <a:latin typeface="Arial"/>
                        <a:ea typeface="+mn-ea"/>
                        <a:cs typeface="Arial"/>
                      </a:endParaRPr>
                    </a:p>
                  </a:txBody>
                  <a:tcPr anchor="ctr">
                    <a:lnL w="12700" cmpd="sng">
                      <a:solidFill>
                        <a:srgbClr val="2FA3EE"/>
                      </a:solidFill>
                    </a:lnL>
                    <a:lnR w="12700" cap="flat" cmpd="sng" algn="ctr">
                      <a:solidFill>
                        <a:srgbClr val="2FA3EE"/>
                      </a:solidFill>
                      <a:prstDash val="solid"/>
                      <a:round/>
                      <a:headEnd type="none" w="med" len="med"/>
                      <a:tailEnd type="none" w="med" len="med"/>
                    </a:lnR>
                    <a:lnT w="12700" cap="flat" cmpd="sng" algn="ctr">
                      <a:solidFill>
                        <a:srgbClr val="2FA3EE"/>
                      </a:solidFill>
                      <a:prstDash val="solid"/>
                      <a:round/>
                      <a:headEnd type="none" w="med" len="med"/>
                      <a:tailEnd type="none" w="med" len="med"/>
                    </a:lnT>
                    <a:lnB w="12700" cmpd="sng">
                      <a:solidFill>
                        <a:srgbClr val="2FA3EE"/>
                      </a:solidFill>
                    </a:lnB>
                    <a:lnTlToBr w="12700" cmpd="sng">
                      <a:noFill/>
                      <a:prstDash val="solid"/>
                    </a:lnTlToBr>
                    <a:lnBlToTr w="12700" cmpd="sng">
                      <a:noFill/>
                      <a:prstDash val="solid"/>
                    </a:lnBlToTr>
                    <a:solidFill>
                      <a:srgbClr val="2FA3EE">
                        <a:alpha val="20000"/>
                      </a:srgbClr>
                    </a:solidFill>
                  </a:tcPr>
                </a:tc>
                <a:tc>
                  <a:txBody>
                    <a:bodyPr/>
                    <a:lstStyle>
                      <a:lvl1pPr marL="0" algn="l" defTabSz="914400" rtl="0" eaLnBrk="1" latinLnBrk="0" hangingPunct="1">
                        <a:defRPr sz="1800" kern="1200">
                          <a:solidFill>
                            <a:schemeClr val="tx1"/>
                          </a:solidFill>
                          <a:latin typeface="Tw Cen MT" panose="020B0602020104020603"/>
                        </a:defRPr>
                      </a:lvl1pPr>
                      <a:lvl2pPr marL="457200" algn="l" defTabSz="914400" rtl="0" eaLnBrk="1" latinLnBrk="0" hangingPunct="1">
                        <a:defRPr sz="1800" kern="1200">
                          <a:solidFill>
                            <a:schemeClr val="tx1"/>
                          </a:solidFill>
                          <a:latin typeface="Tw Cen MT" panose="020B0602020104020603"/>
                        </a:defRPr>
                      </a:lvl2pPr>
                      <a:lvl3pPr marL="914400" algn="l" defTabSz="914400" rtl="0" eaLnBrk="1" latinLnBrk="0" hangingPunct="1">
                        <a:defRPr sz="1800" kern="1200">
                          <a:solidFill>
                            <a:schemeClr val="tx1"/>
                          </a:solidFill>
                          <a:latin typeface="Tw Cen MT" panose="020B0602020104020603"/>
                        </a:defRPr>
                      </a:lvl3pPr>
                      <a:lvl4pPr marL="1371600" algn="l" defTabSz="914400" rtl="0" eaLnBrk="1" latinLnBrk="0" hangingPunct="1">
                        <a:defRPr sz="1800" kern="1200">
                          <a:solidFill>
                            <a:schemeClr val="tx1"/>
                          </a:solidFill>
                          <a:latin typeface="Tw Cen MT" panose="020B0602020104020603"/>
                        </a:defRPr>
                      </a:lvl4pPr>
                      <a:lvl5pPr marL="1828800" algn="l" defTabSz="914400" rtl="0" eaLnBrk="1" latinLnBrk="0" hangingPunct="1">
                        <a:defRPr sz="1800" kern="1200">
                          <a:solidFill>
                            <a:schemeClr val="tx1"/>
                          </a:solidFill>
                          <a:latin typeface="Tw Cen MT" panose="020B0602020104020603"/>
                        </a:defRPr>
                      </a:lvl5pPr>
                      <a:lvl6pPr marL="2286000" algn="l" defTabSz="914400" rtl="0" eaLnBrk="1" latinLnBrk="0" hangingPunct="1">
                        <a:defRPr sz="1800" kern="1200">
                          <a:solidFill>
                            <a:schemeClr val="tx1"/>
                          </a:solidFill>
                          <a:latin typeface="Tw Cen MT" panose="020B0602020104020603"/>
                        </a:defRPr>
                      </a:lvl6pPr>
                      <a:lvl7pPr marL="2743200" algn="l" defTabSz="914400" rtl="0" eaLnBrk="1" latinLnBrk="0" hangingPunct="1">
                        <a:defRPr sz="1800" kern="1200">
                          <a:solidFill>
                            <a:schemeClr val="tx1"/>
                          </a:solidFill>
                          <a:latin typeface="Tw Cen MT" panose="020B0602020104020603"/>
                        </a:defRPr>
                      </a:lvl7pPr>
                      <a:lvl8pPr marL="3200400" algn="l" defTabSz="914400" rtl="0" eaLnBrk="1" latinLnBrk="0" hangingPunct="1">
                        <a:defRPr sz="1800" kern="1200">
                          <a:solidFill>
                            <a:schemeClr val="tx1"/>
                          </a:solidFill>
                          <a:latin typeface="Tw Cen MT" panose="020B0602020104020603"/>
                        </a:defRPr>
                      </a:lvl8pPr>
                      <a:lvl9pPr marL="3657600" algn="l" defTabSz="914400" rtl="0" eaLnBrk="1" latinLnBrk="0" hangingPunct="1">
                        <a:defRPr sz="1800" kern="1200">
                          <a:solidFill>
                            <a:schemeClr val="tx1"/>
                          </a:solidFill>
                          <a:latin typeface="Tw Cen MT" panose="020B0602020104020603"/>
                        </a:defRPr>
                      </a:lvl9pPr>
                    </a:lstStyle>
                    <a:p>
                      <a:pPr marL="0" lvl="0" indent="0" algn="l">
                        <a:buFont typeface="Arial"/>
                        <a:buNone/>
                      </a:pPr>
                      <a:r>
                        <a:rPr lang="en-US" sz="1800" b="0" i="0" u="none" strike="noStrike" kern="1200" dirty="0" smtClean="0">
                          <a:solidFill>
                            <a:schemeClr val="tx1"/>
                          </a:solidFill>
                          <a:effectLst/>
                          <a:latin typeface="Tw Cen MT" panose="020B0602020104020603"/>
                          <a:ea typeface="+mn-ea"/>
                          <a:cs typeface="+mn-cs"/>
                        </a:rPr>
                        <a:t> </a:t>
                      </a:r>
                    </a:p>
                    <a:p>
                      <a:pPr marL="285750" lvl="0" indent="-285750" algn="l">
                        <a:buFont typeface="Arial"/>
                        <a:buChar char="•"/>
                      </a:pPr>
                      <a:r>
                        <a:rPr lang="en-US" sz="1800" b="0" i="0" u="none" strike="noStrike" kern="1200" dirty="0" smtClean="0">
                          <a:solidFill>
                            <a:schemeClr val="tx1"/>
                          </a:solidFill>
                          <a:effectLst/>
                          <a:latin typeface="Tw Cen MT" panose="020B0602020104020603"/>
                          <a:ea typeface="+mn-ea"/>
                          <a:cs typeface="+mn-cs"/>
                        </a:rPr>
                        <a:t>Funded Research Projects list is prepared.</a:t>
                      </a:r>
                      <a:endParaRPr lang="en-US" sz="1800" b="0" i="0" u="none" strike="noStrike" noProof="0" dirty="0"/>
                    </a:p>
                  </a:txBody>
                  <a:tcPr marL="0" marR="0" marT="0" marB="0">
                    <a:lnL w="12700" cap="flat" cmpd="sng" algn="ctr">
                      <a:solidFill>
                        <a:srgbClr val="2FA3EE"/>
                      </a:solidFill>
                      <a:prstDash val="solid"/>
                      <a:round/>
                      <a:headEnd type="none" w="med" len="med"/>
                      <a:tailEnd type="none" w="med" len="med"/>
                    </a:lnL>
                    <a:lnR w="12700" cmpd="sng">
                      <a:solidFill>
                        <a:srgbClr val="2FA3EE"/>
                      </a:solidFill>
                    </a:lnR>
                    <a:lnT w="12700" cap="flat" cmpd="sng" algn="ctr">
                      <a:solidFill>
                        <a:srgbClr val="2FA3EE"/>
                      </a:solidFill>
                      <a:prstDash val="solid"/>
                      <a:round/>
                      <a:headEnd type="none" w="med" len="med"/>
                      <a:tailEnd type="none" w="med" len="med"/>
                    </a:lnT>
                    <a:lnB w="12700" cmpd="sng">
                      <a:solidFill>
                        <a:srgbClr val="2FA3EE"/>
                      </a:solidFill>
                    </a:lnB>
                    <a:lnTlToBr w="12700" cmpd="sng">
                      <a:noFill/>
                      <a:prstDash val="solid"/>
                    </a:lnTlToBr>
                    <a:lnBlToTr w="12700" cmpd="sng">
                      <a:noFill/>
                      <a:prstDash val="solid"/>
                    </a:lnBlToTr>
                    <a:solidFill>
                      <a:srgbClr val="2FA3EE">
                        <a:alpha val="20000"/>
                      </a:srgbClr>
                    </a:solidFill>
                  </a:tcPr>
                </a:tc>
                <a:extLst>
                  <a:ext uri="{0D108BD9-81ED-4DB2-BD59-A6C34878D82A}">
                    <a16:rowId xmlns:a16="http://schemas.microsoft.com/office/drawing/2014/main" val="3595675912"/>
                  </a:ext>
                </a:extLst>
              </a:tr>
            </a:tbl>
          </a:graphicData>
        </a:graphic>
      </p:graphicFrame>
      <p:sp>
        <p:nvSpPr>
          <p:cNvPr id="9" name="Title 1">
            <a:extLst>
              <a:ext uri="{FF2B5EF4-FFF2-40B4-BE49-F238E27FC236}">
                <a16:creationId xmlns:a16="http://schemas.microsoft.com/office/drawing/2014/main" id="{44DAE0E4-85DE-4F16-91DA-63A23F739F1F}"/>
              </a:ext>
            </a:extLst>
          </p:cNvPr>
          <p:cNvSpPr>
            <a:spLocks noGrp="1"/>
          </p:cNvSpPr>
          <p:nvPr>
            <p:ph type="title"/>
          </p:nvPr>
        </p:nvSpPr>
        <p:spPr>
          <a:xfrm>
            <a:off x="299259" y="155749"/>
            <a:ext cx="7681161" cy="814992"/>
          </a:xfrm>
        </p:spPr>
        <p:txBody>
          <a:bodyPr>
            <a:normAutofit/>
          </a:bodyPr>
          <a:lstStyle/>
          <a:p>
            <a:r>
              <a:rPr lang="en-US" sz="3200" dirty="0" smtClean="0"/>
              <a:t>Lab Operational </a:t>
            </a:r>
            <a:r>
              <a:rPr lang="en-US" sz="3200" dirty="0"/>
              <a:t>Summary: </a:t>
            </a:r>
            <a:r>
              <a:rPr lang="en-US" sz="3200" dirty="0" smtClean="0"/>
              <a:t>July </a:t>
            </a:r>
            <a:r>
              <a:rPr lang="en-US" sz="3200" dirty="0"/>
              <a:t>2022 </a:t>
            </a:r>
          </a:p>
        </p:txBody>
      </p:sp>
    </p:spTree>
    <p:extLst>
      <p:ext uri="{BB962C8B-B14F-4D97-AF65-F5344CB8AC3E}">
        <p14:creationId xmlns:p14="http://schemas.microsoft.com/office/powerpoint/2010/main" val="260395163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AE0E4-85DE-4F16-91DA-63A23F739F1F}"/>
              </a:ext>
            </a:extLst>
          </p:cNvPr>
          <p:cNvSpPr>
            <a:spLocks noGrp="1"/>
          </p:cNvSpPr>
          <p:nvPr>
            <p:ph type="title"/>
          </p:nvPr>
        </p:nvSpPr>
        <p:spPr>
          <a:xfrm>
            <a:off x="326051" y="342290"/>
            <a:ext cx="7681161" cy="924598"/>
          </a:xfrm>
        </p:spPr>
        <p:txBody>
          <a:bodyPr>
            <a:normAutofit/>
          </a:bodyPr>
          <a:lstStyle/>
          <a:p>
            <a:r>
              <a:rPr lang="en-US" sz="3200" dirty="0" smtClean="0"/>
              <a:t>EOS M400-4 Operation</a:t>
            </a:r>
            <a:endParaRPr lang="en-US" sz="3200" dirty="0"/>
          </a:p>
        </p:txBody>
      </p:sp>
      <p:sp>
        <p:nvSpPr>
          <p:cNvPr id="6" name="Slide Number Placeholder 5">
            <a:extLst>
              <a:ext uri="{FF2B5EF4-FFF2-40B4-BE49-F238E27FC236}">
                <a16:creationId xmlns:a16="http://schemas.microsoft.com/office/drawing/2014/main" id="{5E918707-6809-45DB-87A9-B541AB553D1C}"/>
              </a:ext>
            </a:extLst>
          </p:cNvPr>
          <p:cNvSpPr>
            <a:spLocks noGrp="1"/>
          </p:cNvSpPr>
          <p:nvPr>
            <p:ph type="sldNum" sz="quarter" idx="12"/>
          </p:nvPr>
        </p:nvSpPr>
        <p:spPr/>
        <p:txBody>
          <a:bodyPr/>
          <a:lstStyle/>
          <a:p>
            <a:fld id="{1E68DD1B-5CD8-424B-8173-19E182143E0A}" type="slidenum">
              <a:rPr lang="en-US" smtClean="0"/>
              <a:pPr/>
              <a:t>14</a:t>
            </a:fld>
            <a:endParaRPr lang="en-US"/>
          </a:p>
        </p:txBody>
      </p:sp>
      <p:sp>
        <p:nvSpPr>
          <p:cNvPr id="24" name="Rectangle 23">
            <a:extLst>
              <a:ext uri="{FF2B5EF4-FFF2-40B4-BE49-F238E27FC236}">
                <a16:creationId xmlns:a16="http://schemas.microsoft.com/office/drawing/2014/main" id="{1B1029DD-3E1E-4F3A-91F5-E461B6619FF9}"/>
              </a:ext>
            </a:extLst>
          </p:cNvPr>
          <p:cNvSpPr/>
          <p:nvPr/>
        </p:nvSpPr>
        <p:spPr>
          <a:xfrm>
            <a:off x="166937" y="1655653"/>
            <a:ext cx="6096000" cy="523220"/>
          </a:xfrm>
          <a:prstGeom prst="rect">
            <a:avLst/>
          </a:prstGeom>
        </p:spPr>
        <p:txBody>
          <a:bodyPr>
            <a:spAutoFit/>
          </a:bodyPr>
          <a:lstStyle/>
          <a:p>
            <a:pPr marL="342900" indent="-342900">
              <a:buFont typeface="Wingdings" panose="05000000000000000000" pitchFamily="2" charset="2"/>
              <a:buChar char="Ø"/>
            </a:pPr>
            <a:endParaRPr lang="en-US" sz="1400" dirty="0"/>
          </a:p>
          <a:p>
            <a:pPr marL="342900" indent="-342900">
              <a:buFont typeface="Wingdings" panose="05000000000000000000" pitchFamily="2" charset="2"/>
              <a:buChar char="Ø"/>
            </a:pPr>
            <a:endParaRPr lang="en-GB" sz="1400" dirty="0"/>
          </a:p>
        </p:txBody>
      </p:sp>
      <p:sp>
        <p:nvSpPr>
          <p:cNvPr id="8" name="Rectangle 7">
            <a:extLst>
              <a:ext uri="{FF2B5EF4-FFF2-40B4-BE49-F238E27FC236}">
                <a16:creationId xmlns:a16="http://schemas.microsoft.com/office/drawing/2014/main" id="{3DC6B291-0E7A-48DA-845F-D425A06927F8}"/>
              </a:ext>
            </a:extLst>
          </p:cNvPr>
          <p:cNvSpPr/>
          <p:nvPr/>
        </p:nvSpPr>
        <p:spPr>
          <a:xfrm>
            <a:off x="166937" y="1127798"/>
            <a:ext cx="5165131" cy="5262979"/>
          </a:xfrm>
          <a:prstGeom prst="rect">
            <a:avLst/>
          </a:prstGeom>
        </p:spPr>
        <p:txBody>
          <a:bodyPr wrap="square">
            <a:spAutoFit/>
          </a:bodyPr>
          <a:lstStyle/>
          <a:p>
            <a:pPr marL="800100" lvl="1" indent="-342900">
              <a:buFont typeface="Courier New" panose="02070309020205020404" pitchFamily="49" charset="0"/>
              <a:buChar char="o"/>
            </a:pPr>
            <a:r>
              <a:rPr lang="en-US" sz="1400" dirty="0" smtClean="0"/>
              <a:t>Safety </a:t>
            </a:r>
            <a:r>
              <a:rPr lang="en-US" sz="1400" dirty="0"/>
              <a:t>concept</a:t>
            </a:r>
          </a:p>
          <a:p>
            <a:pPr marL="1257300" lvl="2" indent="-342900">
              <a:buFont typeface="Courier New" panose="02070309020205020404" pitchFamily="49" charset="0"/>
              <a:buChar char="o"/>
            </a:pPr>
            <a:r>
              <a:rPr lang="en-US" sz="1400" dirty="0"/>
              <a:t>Safe operation (Machine, Materials, Inert gas and cleaning)</a:t>
            </a:r>
          </a:p>
          <a:p>
            <a:pPr marL="1257300" lvl="2" indent="-342900">
              <a:buFont typeface="Courier New" panose="02070309020205020404" pitchFamily="49" charset="0"/>
              <a:buChar char="o"/>
            </a:pPr>
            <a:r>
              <a:rPr lang="en-US" sz="1400" dirty="0"/>
              <a:t>Safety warnings on the machine. </a:t>
            </a:r>
          </a:p>
          <a:p>
            <a:pPr marL="1257300" lvl="2" indent="-342900">
              <a:buFont typeface="Courier New" panose="02070309020205020404" pitchFamily="49" charset="0"/>
              <a:buChar char="o"/>
            </a:pPr>
            <a:r>
              <a:rPr lang="en-US" sz="1400" dirty="0"/>
              <a:t>Hazard and safety measures.</a:t>
            </a:r>
          </a:p>
          <a:p>
            <a:pPr marL="1257300" lvl="2" indent="-342900">
              <a:buFont typeface="Courier New" panose="02070309020205020404" pitchFamily="49" charset="0"/>
              <a:buChar char="o"/>
            </a:pPr>
            <a:endParaRPr lang="en-US" sz="1400" dirty="0"/>
          </a:p>
          <a:p>
            <a:pPr marL="800100" lvl="1" indent="-342900">
              <a:buFont typeface="Courier New" panose="02070309020205020404" pitchFamily="49" charset="0"/>
              <a:buChar char="o"/>
            </a:pPr>
            <a:r>
              <a:rPr lang="en-US" sz="1400" dirty="0" smtClean="0"/>
              <a:t>Pre-Operation</a:t>
            </a:r>
            <a:endParaRPr lang="en-US" sz="1400" dirty="0"/>
          </a:p>
          <a:p>
            <a:pPr marL="1257300" lvl="2" indent="-342900">
              <a:buFont typeface="Courier New" panose="02070309020205020404" pitchFamily="49" charset="0"/>
              <a:buChar char="o"/>
            </a:pPr>
            <a:r>
              <a:rPr lang="en-US" sz="1400" dirty="0"/>
              <a:t>Assembly the soft </a:t>
            </a:r>
            <a:r>
              <a:rPr lang="en-US" sz="1400" dirty="0" err="1"/>
              <a:t>recoater</a:t>
            </a:r>
            <a:r>
              <a:rPr lang="en-US" sz="1400" dirty="0"/>
              <a:t>.</a:t>
            </a:r>
          </a:p>
          <a:p>
            <a:pPr marL="1257300" lvl="2" indent="-342900">
              <a:buFont typeface="Courier New" panose="02070309020205020404" pitchFamily="49" charset="0"/>
              <a:buChar char="o"/>
            </a:pPr>
            <a:r>
              <a:rPr lang="en-US" sz="1400" dirty="0"/>
              <a:t>Fitting/replacing elastomer lips.</a:t>
            </a:r>
          </a:p>
          <a:p>
            <a:pPr marL="1257300" lvl="2" indent="-342900">
              <a:buFont typeface="Courier New" panose="02070309020205020404" pitchFamily="49" charset="0"/>
              <a:buChar char="o"/>
            </a:pPr>
            <a:r>
              <a:rPr lang="en-US" sz="1400" dirty="0"/>
              <a:t>Fit soft recoating holder to the </a:t>
            </a:r>
            <a:r>
              <a:rPr lang="en-US" sz="1400" dirty="0" err="1"/>
              <a:t>recoater</a:t>
            </a:r>
            <a:r>
              <a:rPr lang="en-US" sz="1400" dirty="0"/>
              <a:t> module.</a:t>
            </a:r>
          </a:p>
          <a:p>
            <a:pPr marL="1257300" lvl="2" indent="-342900">
              <a:buFont typeface="Courier New" panose="02070309020205020404" pitchFamily="49" charset="0"/>
              <a:buChar char="o"/>
            </a:pPr>
            <a:r>
              <a:rPr lang="en-US" sz="1400" dirty="0"/>
              <a:t>Tighten in the correct sequence.  </a:t>
            </a:r>
          </a:p>
          <a:p>
            <a:pPr marL="1257300" lvl="2" indent="-342900">
              <a:buFont typeface="Courier New" panose="02070309020205020404" pitchFamily="49" charset="0"/>
              <a:buChar char="o"/>
            </a:pPr>
            <a:r>
              <a:rPr lang="en-US" sz="1400" dirty="0"/>
              <a:t>Cleaning the walls of the process chamber.</a:t>
            </a:r>
          </a:p>
          <a:p>
            <a:pPr marL="1257300" lvl="2" indent="-342900">
              <a:buFont typeface="Courier New" panose="02070309020205020404" pitchFamily="49" charset="0"/>
              <a:buChar char="o"/>
            </a:pPr>
            <a:r>
              <a:rPr lang="en-US" sz="1400" dirty="0"/>
              <a:t>Clean the laser lenses with IPA wipes.</a:t>
            </a:r>
          </a:p>
          <a:p>
            <a:pPr marL="800100" lvl="1" indent="-342900">
              <a:buFont typeface="Courier New" panose="02070309020205020404" pitchFamily="49" charset="0"/>
              <a:buChar char="o"/>
            </a:pPr>
            <a:endParaRPr lang="en-GB" sz="1400" dirty="0" smtClean="0"/>
          </a:p>
          <a:p>
            <a:pPr marL="800100" lvl="1" indent="-342900">
              <a:buFont typeface="Courier New" panose="02070309020205020404" pitchFamily="49" charset="0"/>
              <a:buChar char="o"/>
            </a:pPr>
            <a:r>
              <a:rPr lang="en-GB" sz="1400" dirty="0" smtClean="0"/>
              <a:t>Prepare </a:t>
            </a:r>
            <a:r>
              <a:rPr lang="en-GB" sz="1400" dirty="0"/>
              <a:t>the building layout </a:t>
            </a:r>
            <a:r>
              <a:rPr lang="en-GB" sz="1400" dirty="0" smtClean="0"/>
              <a:t>using </a:t>
            </a:r>
            <a:r>
              <a:rPr lang="en-GB" sz="1400" dirty="0" err="1" smtClean="0"/>
              <a:t>Magics</a:t>
            </a:r>
            <a:r>
              <a:rPr lang="en-GB" sz="1400" dirty="0" smtClean="0"/>
              <a:t> software. </a:t>
            </a:r>
            <a:endParaRPr lang="en-GB" sz="1400" dirty="0"/>
          </a:p>
          <a:p>
            <a:pPr marL="1257300" lvl="2" indent="-342900">
              <a:buFont typeface="Courier New" panose="02070309020205020404" pitchFamily="49" charset="0"/>
              <a:buChar char="o"/>
            </a:pPr>
            <a:r>
              <a:rPr lang="en-GB" sz="1400" dirty="0"/>
              <a:t>New </a:t>
            </a:r>
            <a:r>
              <a:rPr lang="en-GB" sz="1400" dirty="0" smtClean="0"/>
              <a:t>Sense </a:t>
            </a:r>
            <a:r>
              <a:rPr lang="en-GB" sz="1400" dirty="0"/>
              <a:t>select the machine and the baseplate.</a:t>
            </a:r>
          </a:p>
          <a:p>
            <a:pPr marL="1257300" lvl="2" indent="-342900">
              <a:buFont typeface="Courier New" panose="02070309020205020404" pitchFamily="49" charset="0"/>
              <a:buChar char="o"/>
            </a:pPr>
            <a:r>
              <a:rPr lang="en-GB" sz="1400" dirty="0"/>
              <a:t>Load STL files to the magics software.</a:t>
            </a:r>
          </a:p>
          <a:p>
            <a:pPr marL="1257300" lvl="2" indent="-342900">
              <a:buFont typeface="Courier New" panose="02070309020205020404" pitchFamily="49" charset="0"/>
              <a:buChar char="o"/>
            </a:pPr>
            <a:r>
              <a:rPr lang="en-GB" sz="1400" dirty="0"/>
              <a:t>Automatic placement of the loaded parts.</a:t>
            </a:r>
          </a:p>
          <a:p>
            <a:pPr marL="1257300" lvl="2" indent="-342900">
              <a:buFont typeface="Courier New" panose="02070309020205020404" pitchFamily="49" charset="0"/>
              <a:buChar char="o"/>
            </a:pPr>
            <a:r>
              <a:rPr lang="en-GB" sz="1400" dirty="0"/>
              <a:t>Relocate each part of the build in the right </a:t>
            </a:r>
            <a:r>
              <a:rPr lang="en-GB" sz="1400" dirty="0" smtClean="0"/>
              <a:t>orientation </a:t>
            </a:r>
            <a:r>
              <a:rPr lang="en-GB" sz="1400" dirty="0"/>
              <a:t>according to the provided layout.</a:t>
            </a:r>
          </a:p>
          <a:p>
            <a:pPr marL="1257300" lvl="2" indent="-342900">
              <a:buFont typeface="Courier New" panose="02070309020205020404" pitchFamily="49" charset="0"/>
              <a:buChar char="o"/>
            </a:pPr>
            <a:r>
              <a:rPr lang="en-GB" sz="1400" dirty="0"/>
              <a:t>Save the project.</a:t>
            </a:r>
          </a:p>
          <a:p>
            <a:pPr marL="1257300" lvl="2" indent="-342900">
              <a:buFont typeface="Courier New" panose="02070309020205020404" pitchFamily="49" charset="0"/>
              <a:buChar char="o"/>
            </a:pPr>
            <a:r>
              <a:rPr lang="en-GB" sz="1400" dirty="0"/>
              <a:t>Import the save project to </a:t>
            </a:r>
            <a:r>
              <a:rPr lang="en-GB" sz="1400" dirty="0" err="1"/>
              <a:t>EOSPrint</a:t>
            </a:r>
            <a:r>
              <a:rPr lang="en-GB" sz="1400" dirty="0"/>
              <a:t> to start the print configuration</a:t>
            </a:r>
            <a:r>
              <a:rPr lang="en-GB" sz="1400" dirty="0" smtClean="0"/>
              <a:t>.</a:t>
            </a:r>
            <a:endParaRPr lang="en-GB" sz="1400" dirty="0"/>
          </a:p>
        </p:txBody>
      </p:sp>
      <p:sp>
        <p:nvSpPr>
          <p:cNvPr id="11" name="TextBox 10">
            <a:extLst>
              <a:ext uri="{FF2B5EF4-FFF2-40B4-BE49-F238E27FC236}">
                <a16:creationId xmlns:a16="http://schemas.microsoft.com/office/drawing/2014/main" id="{D03FD05D-B890-4BB5-9C77-91F00FCB179D}"/>
              </a:ext>
            </a:extLst>
          </p:cNvPr>
          <p:cNvSpPr txBox="1"/>
          <p:nvPr/>
        </p:nvSpPr>
        <p:spPr>
          <a:xfrm>
            <a:off x="7283528" y="3072876"/>
            <a:ext cx="3431716" cy="184666"/>
          </a:xfrm>
          <a:prstGeom prst="rect">
            <a:avLst/>
          </a:prstGeom>
          <a:noFill/>
        </p:spPr>
        <p:txBody>
          <a:bodyPr wrap="square" lIns="0" tIns="0" rIns="0" bIns="0" rtlCol="0">
            <a:spAutoFit/>
          </a:bodyPr>
          <a:lstStyle/>
          <a:p>
            <a:pPr algn="ctr"/>
            <a:r>
              <a:rPr lang="en-US" sz="1200" dirty="0"/>
              <a:t>EOS M400-4 Soft </a:t>
            </a:r>
            <a:r>
              <a:rPr lang="en-US" sz="1200" dirty="0" err="1"/>
              <a:t>recoater</a:t>
            </a:r>
            <a:r>
              <a:rPr lang="en-US" sz="1200" dirty="0"/>
              <a:t> tighten</a:t>
            </a:r>
          </a:p>
        </p:txBody>
      </p:sp>
      <p:sp>
        <p:nvSpPr>
          <p:cNvPr id="15" name="TextBox 14">
            <a:extLst>
              <a:ext uri="{FF2B5EF4-FFF2-40B4-BE49-F238E27FC236}">
                <a16:creationId xmlns:a16="http://schemas.microsoft.com/office/drawing/2014/main" id="{7491F53C-DEA7-44C6-B4C5-58003C182CFD}"/>
              </a:ext>
            </a:extLst>
          </p:cNvPr>
          <p:cNvSpPr txBox="1"/>
          <p:nvPr/>
        </p:nvSpPr>
        <p:spPr>
          <a:xfrm>
            <a:off x="7471301" y="5367296"/>
            <a:ext cx="3431716" cy="184666"/>
          </a:xfrm>
          <a:prstGeom prst="rect">
            <a:avLst/>
          </a:prstGeom>
          <a:noFill/>
        </p:spPr>
        <p:txBody>
          <a:bodyPr wrap="square" lIns="0" tIns="0" rIns="0" bIns="0" rtlCol="0">
            <a:spAutoFit/>
          </a:bodyPr>
          <a:lstStyle/>
          <a:p>
            <a:pPr algn="ctr"/>
            <a:r>
              <a:rPr lang="en-GB" sz="1200" dirty="0"/>
              <a:t>M</a:t>
            </a:r>
            <a:r>
              <a:rPr lang="en-US" sz="1200" dirty="0" err="1"/>
              <a:t>agics</a:t>
            </a:r>
            <a:r>
              <a:rPr lang="en-US" sz="1200" dirty="0"/>
              <a:t> layout</a:t>
            </a:r>
          </a:p>
        </p:txBody>
      </p:sp>
      <p:pic>
        <p:nvPicPr>
          <p:cNvPr id="10" name="Picture 9">
            <a:extLst>
              <a:ext uri="{FF2B5EF4-FFF2-40B4-BE49-F238E27FC236}">
                <a16:creationId xmlns:a16="http://schemas.microsoft.com/office/drawing/2014/main" id="{AB2F7A8B-34DF-12B5-5546-61429A86F65A}"/>
              </a:ext>
            </a:extLst>
          </p:cNvPr>
          <p:cNvPicPr>
            <a:picLocks noChangeAspect="1"/>
          </p:cNvPicPr>
          <p:nvPr/>
        </p:nvPicPr>
        <p:blipFill>
          <a:blip r:embed="rId2"/>
          <a:stretch>
            <a:fillRect/>
          </a:stretch>
        </p:blipFill>
        <p:spPr>
          <a:xfrm>
            <a:off x="7283528" y="1120018"/>
            <a:ext cx="3450671" cy="1889516"/>
          </a:xfrm>
          <a:prstGeom prst="rect">
            <a:avLst/>
          </a:prstGeom>
        </p:spPr>
      </p:pic>
      <p:pic>
        <p:nvPicPr>
          <p:cNvPr id="4" name="Picture 3"/>
          <p:cNvPicPr>
            <a:picLocks noChangeAspect="1"/>
          </p:cNvPicPr>
          <p:nvPr/>
        </p:nvPicPr>
        <p:blipFill>
          <a:blip r:embed="rId3"/>
          <a:stretch>
            <a:fillRect/>
          </a:stretch>
        </p:blipFill>
        <p:spPr>
          <a:xfrm>
            <a:off x="6381049" y="3572971"/>
            <a:ext cx="5444237" cy="1699962"/>
          </a:xfrm>
          <a:prstGeom prst="rect">
            <a:avLst/>
          </a:prstGeom>
        </p:spPr>
      </p:pic>
    </p:spTree>
    <p:extLst>
      <p:ext uri="{BB962C8B-B14F-4D97-AF65-F5344CB8AC3E}">
        <p14:creationId xmlns:p14="http://schemas.microsoft.com/office/powerpoint/2010/main" val="12354301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AE0E4-85DE-4F16-91DA-63A23F739F1F}"/>
              </a:ext>
            </a:extLst>
          </p:cNvPr>
          <p:cNvSpPr>
            <a:spLocks noGrp="1"/>
          </p:cNvSpPr>
          <p:nvPr>
            <p:ph type="title"/>
          </p:nvPr>
        </p:nvSpPr>
        <p:spPr>
          <a:xfrm>
            <a:off x="295654" y="556847"/>
            <a:ext cx="11508420" cy="514553"/>
          </a:xfrm>
        </p:spPr>
        <p:txBody>
          <a:bodyPr>
            <a:normAutofit fontScale="90000"/>
          </a:bodyPr>
          <a:lstStyle/>
          <a:p>
            <a:r>
              <a:rPr lang="en-US" sz="3200" dirty="0" smtClean="0"/>
              <a:t>Exposure </a:t>
            </a:r>
            <a:r>
              <a:rPr lang="en-US" sz="3200" dirty="0"/>
              <a:t>Set </a:t>
            </a:r>
            <a:r>
              <a:rPr lang="en-US" sz="3200" dirty="0" smtClean="0"/>
              <a:t>Parameters and EOS JOB in EOS Print</a:t>
            </a:r>
            <a:endParaRPr lang="en-US" sz="3200" dirty="0"/>
          </a:p>
        </p:txBody>
      </p:sp>
      <p:sp>
        <p:nvSpPr>
          <p:cNvPr id="6" name="Slide Number Placeholder 5">
            <a:extLst>
              <a:ext uri="{FF2B5EF4-FFF2-40B4-BE49-F238E27FC236}">
                <a16:creationId xmlns:a16="http://schemas.microsoft.com/office/drawing/2014/main" id="{5E918707-6809-45DB-87A9-B541AB553D1C}"/>
              </a:ext>
            </a:extLst>
          </p:cNvPr>
          <p:cNvSpPr>
            <a:spLocks noGrp="1"/>
          </p:cNvSpPr>
          <p:nvPr>
            <p:ph type="sldNum" sz="quarter" idx="12"/>
          </p:nvPr>
        </p:nvSpPr>
        <p:spPr/>
        <p:txBody>
          <a:bodyPr/>
          <a:lstStyle/>
          <a:p>
            <a:fld id="{1E68DD1B-5CD8-424B-8173-19E182143E0A}" type="slidenum">
              <a:rPr lang="en-US" smtClean="0"/>
              <a:pPr/>
              <a:t>15</a:t>
            </a:fld>
            <a:endParaRPr lang="en-US"/>
          </a:p>
        </p:txBody>
      </p:sp>
      <p:sp>
        <p:nvSpPr>
          <p:cNvPr id="8" name="Rectangle 7">
            <a:extLst>
              <a:ext uri="{FF2B5EF4-FFF2-40B4-BE49-F238E27FC236}">
                <a16:creationId xmlns:a16="http://schemas.microsoft.com/office/drawing/2014/main" id="{3DC6B291-0E7A-48DA-845F-D425A06927F8}"/>
              </a:ext>
            </a:extLst>
          </p:cNvPr>
          <p:cNvSpPr/>
          <p:nvPr/>
        </p:nvSpPr>
        <p:spPr>
          <a:xfrm>
            <a:off x="166937" y="1180573"/>
            <a:ext cx="6096000" cy="738664"/>
          </a:xfrm>
          <a:prstGeom prst="rect">
            <a:avLst/>
          </a:prstGeom>
        </p:spPr>
        <p:txBody>
          <a:bodyPr>
            <a:spAutoFit/>
          </a:bodyPr>
          <a:lstStyle/>
          <a:p>
            <a:pPr lvl="2"/>
            <a:endParaRPr lang="en-GB" sz="1400" dirty="0"/>
          </a:p>
          <a:p>
            <a:pPr marL="342900" indent="-342900">
              <a:buFont typeface="Wingdings" panose="05000000000000000000" pitchFamily="2" charset="2"/>
              <a:buChar char="Ø"/>
            </a:pPr>
            <a:endParaRPr lang="en-US" sz="1400" dirty="0"/>
          </a:p>
          <a:p>
            <a:pPr marL="342900" indent="-342900">
              <a:buFont typeface="Wingdings" panose="05000000000000000000" pitchFamily="2" charset="2"/>
              <a:buChar char="Ø"/>
            </a:pPr>
            <a:endParaRPr lang="en-GB" sz="1400" dirty="0"/>
          </a:p>
        </p:txBody>
      </p:sp>
      <p:sp>
        <p:nvSpPr>
          <p:cNvPr id="18" name="TextBox 17">
            <a:extLst>
              <a:ext uri="{FF2B5EF4-FFF2-40B4-BE49-F238E27FC236}">
                <a16:creationId xmlns:a16="http://schemas.microsoft.com/office/drawing/2014/main" id="{7491F53C-DEA7-44C6-B4C5-58003C182CFD}"/>
              </a:ext>
            </a:extLst>
          </p:cNvPr>
          <p:cNvSpPr txBox="1"/>
          <p:nvPr/>
        </p:nvSpPr>
        <p:spPr>
          <a:xfrm>
            <a:off x="7068985" y="4871260"/>
            <a:ext cx="2035479" cy="369332"/>
          </a:xfrm>
          <a:prstGeom prst="rect">
            <a:avLst/>
          </a:prstGeom>
          <a:noFill/>
        </p:spPr>
        <p:txBody>
          <a:bodyPr wrap="square" lIns="0" tIns="0" rIns="0" bIns="0" rtlCol="0">
            <a:spAutoFit/>
          </a:bodyPr>
          <a:lstStyle/>
          <a:p>
            <a:pPr algn="ctr"/>
            <a:r>
              <a:rPr lang="en-GB" sz="1200" dirty="0" smtClean="0"/>
              <a:t>TPMS layout in </a:t>
            </a:r>
            <a:r>
              <a:rPr lang="en-GB" sz="1200" dirty="0" err="1" smtClean="0"/>
              <a:t>EOSPrint</a:t>
            </a:r>
            <a:r>
              <a:rPr lang="en-GB" sz="1200" dirty="0" smtClean="0"/>
              <a:t> (Pre-process)</a:t>
            </a:r>
            <a:endParaRPr lang="en-US" sz="1200" dirty="0"/>
          </a:p>
        </p:txBody>
      </p:sp>
      <p:sp>
        <p:nvSpPr>
          <p:cNvPr id="21" name="TextBox 20">
            <a:extLst>
              <a:ext uri="{FF2B5EF4-FFF2-40B4-BE49-F238E27FC236}">
                <a16:creationId xmlns:a16="http://schemas.microsoft.com/office/drawing/2014/main" id="{7491F53C-DEA7-44C6-B4C5-58003C182CFD}"/>
              </a:ext>
            </a:extLst>
          </p:cNvPr>
          <p:cNvSpPr txBox="1"/>
          <p:nvPr/>
        </p:nvSpPr>
        <p:spPr>
          <a:xfrm>
            <a:off x="9485793" y="5657303"/>
            <a:ext cx="2766815" cy="184666"/>
          </a:xfrm>
          <a:prstGeom prst="rect">
            <a:avLst/>
          </a:prstGeom>
          <a:noFill/>
        </p:spPr>
        <p:txBody>
          <a:bodyPr wrap="square" lIns="0" tIns="0" rIns="0" bIns="0" rtlCol="0">
            <a:spAutoFit/>
          </a:bodyPr>
          <a:lstStyle/>
          <a:p>
            <a:pPr algn="ctr"/>
            <a:r>
              <a:rPr lang="en-US" sz="1200" dirty="0"/>
              <a:t>Exposure Set Parameters</a:t>
            </a:r>
          </a:p>
        </p:txBody>
      </p:sp>
      <p:sp>
        <p:nvSpPr>
          <p:cNvPr id="14" name="Rectangle 13">
            <a:extLst>
              <a:ext uri="{FF2B5EF4-FFF2-40B4-BE49-F238E27FC236}">
                <a16:creationId xmlns:a16="http://schemas.microsoft.com/office/drawing/2014/main" id="{3DC6B291-0E7A-48DA-845F-D425A06927F8}"/>
              </a:ext>
            </a:extLst>
          </p:cNvPr>
          <p:cNvSpPr/>
          <p:nvPr/>
        </p:nvSpPr>
        <p:spPr>
          <a:xfrm>
            <a:off x="0" y="1927715"/>
            <a:ext cx="6096000" cy="4616648"/>
          </a:xfrm>
          <a:prstGeom prst="rect">
            <a:avLst/>
          </a:prstGeom>
        </p:spPr>
        <p:txBody>
          <a:bodyPr>
            <a:spAutoFit/>
          </a:bodyPr>
          <a:lstStyle/>
          <a:p>
            <a:pPr marL="342900" indent="-342900">
              <a:buFont typeface="Courier New" panose="02070309020205020404" pitchFamily="49" charset="0"/>
              <a:buChar char="o"/>
            </a:pPr>
            <a:r>
              <a:rPr lang="en-US" sz="1400" dirty="0" smtClean="0"/>
              <a:t>Setting exposure parameters </a:t>
            </a:r>
            <a:endParaRPr lang="en-US" sz="1400" dirty="0"/>
          </a:p>
          <a:p>
            <a:pPr lvl="1"/>
            <a:endParaRPr lang="en-US" sz="1400" dirty="0" smtClean="0"/>
          </a:p>
          <a:p>
            <a:pPr marL="1257300" lvl="2" indent="-342900">
              <a:buFont typeface="Courier New" panose="02070309020205020404" pitchFamily="49" charset="0"/>
              <a:buChar char="o"/>
            </a:pPr>
            <a:r>
              <a:rPr lang="en-US" sz="1400" dirty="0"/>
              <a:t>Choose the imported </a:t>
            </a:r>
            <a:r>
              <a:rPr lang="en-US" sz="1400" dirty="0" smtClean="0"/>
              <a:t>parts.</a:t>
            </a:r>
            <a:endParaRPr lang="en-US" sz="1400" dirty="0"/>
          </a:p>
          <a:p>
            <a:pPr marL="1257300" lvl="2" indent="-342900">
              <a:buFont typeface="Courier New" panose="02070309020205020404" pitchFamily="49" charset="0"/>
              <a:buChar char="o"/>
            </a:pPr>
            <a:r>
              <a:rPr lang="en-US" sz="1400" dirty="0" smtClean="0"/>
              <a:t>Insert the infill exposure parameters.</a:t>
            </a:r>
          </a:p>
          <a:p>
            <a:pPr marL="1257300" lvl="2" indent="-342900">
              <a:buFont typeface="Courier New" panose="02070309020205020404" pitchFamily="49" charset="0"/>
              <a:buChar char="o"/>
            </a:pPr>
            <a:r>
              <a:rPr lang="en-US" sz="1400" dirty="0" smtClean="0"/>
              <a:t>Placement of the parts in a correct orientation.</a:t>
            </a:r>
          </a:p>
          <a:p>
            <a:pPr marL="1257300" lvl="2" indent="-342900">
              <a:buFont typeface="Courier New" panose="02070309020205020404" pitchFamily="49" charset="0"/>
              <a:buChar char="o"/>
            </a:pPr>
            <a:r>
              <a:rPr lang="en-US" sz="1400" dirty="0" smtClean="0"/>
              <a:t>Ensure right distance between each part.</a:t>
            </a:r>
          </a:p>
          <a:p>
            <a:pPr marL="1257300" lvl="2" indent="-342900">
              <a:buFont typeface="Courier New" panose="02070309020205020404" pitchFamily="49" charset="0"/>
              <a:buChar char="o"/>
            </a:pPr>
            <a:r>
              <a:rPr lang="en-US" sz="1400" dirty="0" smtClean="0"/>
              <a:t>Save the working job.</a:t>
            </a:r>
          </a:p>
          <a:p>
            <a:pPr marL="1257300" lvl="2" indent="-342900">
              <a:buFont typeface="Courier New" panose="02070309020205020404" pitchFamily="49" charset="0"/>
              <a:buChar char="o"/>
            </a:pPr>
            <a:r>
              <a:rPr lang="en-US" sz="1400" dirty="0" smtClean="0"/>
              <a:t>Export the EOS job to the EOS machine by Ethernet communication. </a:t>
            </a:r>
          </a:p>
          <a:p>
            <a:pPr marL="1257300" lvl="2" indent="-342900">
              <a:buFont typeface="Courier New" panose="02070309020205020404" pitchFamily="49" charset="0"/>
              <a:buChar char="o"/>
            </a:pPr>
            <a:r>
              <a:rPr lang="en-US" sz="1400" dirty="0" smtClean="0"/>
              <a:t>Ensure the right EOS job in the building task of EOS machine.</a:t>
            </a:r>
          </a:p>
          <a:p>
            <a:pPr marL="1257300" lvl="2" indent="-342900">
              <a:buFont typeface="Courier New" panose="02070309020205020404" pitchFamily="49" charset="0"/>
              <a:buChar char="o"/>
            </a:pPr>
            <a:r>
              <a:rPr lang="en-US" sz="1400" dirty="0" smtClean="0"/>
              <a:t>Start the building process.</a:t>
            </a:r>
          </a:p>
          <a:p>
            <a:pPr marL="1257300" lvl="2" indent="-342900">
              <a:buFont typeface="Courier New" panose="02070309020205020404" pitchFamily="49" charset="0"/>
              <a:buChar char="o"/>
            </a:pPr>
            <a:r>
              <a:rPr lang="en-US" sz="1400" dirty="0" smtClean="0"/>
              <a:t>Monitor remotely the building process using the </a:t>
            </a:r>
            <a:r>
              <a:rPr lang="en-US" sz="1400" dirty="0" err="1" smtClean="0"/>
              <a:t>EOSState</a:t>
            </a:r>
            <a:r>
              <a:rPr lang="en-US" sz="1400" dirty="0" smtClean="0"/>
              <a:t> software .</a:t>
            </a:r>
          </a:p>
          <a:p>
            <a:pPr marL="1257300" lvl="2" indent="-342900">
              <a:buFont typeface="Courier New" panose="02070309020205020404" pitchFamily="49" charset="0"/>
              <a:buChar char="o"/>
            </a:pPr>
            <a:endParaRPr lang="en-US" sz="1400" dirty="0" smtClean="0"/>
          </a:p>
          <a:p>
            <a:pPr marL="1257300" lvl="2" indent="-342900">
              <a:buFont typeface="Courier New" panose="02070309020205020404" pitchFamily="49" charset="0"/>
              <a:buChar char="o"/>
            </a:pPr>
            <a:endParaRPr lang="en-US" sz="1400" dirty="0" smtClean="0"/>
          </a:p>
          <a:p>
            <a:pPr marL="1257300" lvl="2" indent="-342900">
              <a:buFont typeface="Courier New" panose="02070309020205020404" pitchFamily="49" charset="0"/>
              <a:buChar char="o"/>
            </a:pPr>
            <a:endParaRPr lang="en-US" sz="1400" dirty="0"/>
          </a:p>
          <a:p>
            <a:pPr marL="1257300" lvl="2" indent="-342900">
              <a:buFont typeface="Courier New" panose="02070309020205020404" pitchFamily="49" charset="0"/>
              <a:buChar char="o"/>
            </a:pPr>
            <a:endParaRPr lang="en-US" sz="1400" dirty="0"/>
          </a:p>
          <a:p>
            <a:pPr lvl="2"/>
            <a:endParaRPr lang="en-GB" sz="1400" dirty="0"/>
          </a:p>
          <a:p>
            <a:pPr marL="342900" indent="-342900">
              <a:buFont typeface="Wingdings" panose="05000000000000000000" pitchFamily="2" charset="2"/>
              <a:buChar char="Ø"/>
            </a:pPr>
            <a:endParaRPr lang="en-US" sz="1400" dirty="0"/>
          </a:p>
          <a:p>
            <a:pPr marL="342900" indent="-342900">
              <a:buFont typeface="Wingdings" panose="05000000000000000000" pitchFamily="2" charset="2"/>
              <a:buChar char="Ø"/>
            </a:pPr>
            <a:endParaRPr lang="en-GB" sz="1400" dirty="0"/>
          </a:p>
        </p:txBody>
      </p:sp>
      <p:pic>
        <p:nvPicPr>
          <p:cNvPr id="4" name="Picture 3"/>
          <p:cNvPicPr>
            <a:picLocks noChangeAspect="1"/>
          </p:cNvPicPr>
          <p:nvPr/>
        </p:nvPicPr>
        <p:blipFill>
          <a:blip r:embed="rId2"/>
          <a:stretch>
            <a:fillRect/>
          </a:stretch>
        </p:blipFill>
        <p:spPr>
          <a:xfrm>
            <a:off x="9885156" y="1685893"/>
            <a:ext cx="1968088" cy="3971410"/>
          </a:xfrm>
          <a:prstGeom prst="rect">
            <a:avLst/>
          </a:prstGeom>
        </p:spPr>
      </p:pic>
      <p:pic>
        <p:nvPicPr>
          <p:cNvPr id="5" name="Picture 4"/>
          <p:cNvPicPr>
            <a:picLocks noChangeAspect="1"/>
          </p:cNvPicPr>
          <p:nvPr/>
        </p:nvPicPr>
        <p:blipFill>
          <a:blip r:embed="rId3"/>
          <a:stretch>
            <a:fillRect/>
          </a:stretch>
        </p:blipFill>
        <p:spPr>
          <a:xfrm>
            <a:off x="6662300" y="1549905"/>
            <a:ext cx="2807363" cy="3291802"/>
          </a:xfrm>
          <a:prstGeom prst="rect">
            <a:avLst/>
          </a:prstGeom>
        </p:spPr>
      </p:pic>
    </p:spTree>
    <p:extLst>
      <p:ext uri="{BB962C8B-B14F-4D97-AF65-F5344CB8AC3E}">
        <p14:creationId xmlns:p14="http://schemas.microsoft.com/office/powerpoint/2010/main" val="19616315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AE0E4-85DE-4F16-91DA-63A23F739F1F}"/>
              </a:ext>
            </a:extLst>
          </p:cNvPr>
          <p:cNvSpPr>
            <a:spLocks noGrp="1"/>
          </p:cNvSpPr>
          <p:nvPr>
            <p:ph type="title"/>
          </p:nvPr>
        </p:nvSpPr>
        <p:spPr>
          <a:xfrm>
            <a:off x="372609" y="354173"/>
            <a:ext cx="7681161" cy="1074628"/>
          </a:xfrm>
        </p:spPr>
        <p:txBody>
          <a:bodyPr>
            <a:normAutofit/>
          </a:bodyPr>
          <a:lstStyle/>
          <a:p>
            <a:r>
              <a:rPr lang="en-US" sz="3200" dirty="0"/>
              <a:t>EOS M400-4 M</a:t>
            </a:r>
            <a:r>
              <a:rPr lang="en-US" sz="3200" dirty="0" smtClean="0"/>
              <a:t>aintenance </a:t>
            </a:r>
            <a:endParaRPr lang="en-US" sz="3200" dirty="0"/>
          </a:p>
        </p:txBody>
      </p:sp>
      <p:sp>
        <p:nvSpPr>
          <p:cNvPr id="6" name="Slide Number Placeholder 5">
            <a:extLst>
              <a:ext uri="{FF2B5EF4-FFF2-40B4-BE49-F238E27FC236}">
                <a16:creationId xmlns:a16="http://schemas.microsoft.com/office/drawing/2014/main" id="{5E918707-6809-45DB-87A9-B541AB553D1C}"/>
              </a:ext>
            </a:extLst>
          </p:cNvPr>
          <p:cNvSpPr>
            <a:spLocks noGrp="1"/>
          </p:cNvSpPr>
          <p:nvPr>
            <p:ph type="sldNum" sz="quarter" idx="12"/>
          </p:nvPr>
        </p:nvSpPr>
        <p:spPr/>
        <p:txBody>
          <a:bodyPr/>
          <a:lstStyle/>
          <a:p>
            <a:fld id="{1E68DD1B-5CD8-424B-8173-19E182143E0A}" type="slidenum">
              <a:rPr lang="en-US" smtClean="0"/>
              <a:pPr/>
              <a:t>16</a:t>
            </a:fld>
            <a:endParaRPr lang="en-US"/>
          </a:p>
        </p:txBody>
      </p:sp>
      <p:sp>
        <p:nvSpPr>
          <p:cNvPr id="24" name="Rectangle 23">
            <a:extLst>
              <a:ext uri="{FF2B5EF4-FFF2-40B4-BE49-F238E27FC236}">
                <a16:creationId xmlns:a16="http://schemas.microsoft.com/office/drawing/2014/main" id="{1B1029DD-3E1E-4F3A-91F5-E461B6619FF9}"/>
              </a:ext>
            </a:extLst>
          </p:cNvPr>
          <p:cNvSpPr/>
          <p:nvPr/>
        </p:nvSpPr>
        <p:spPr>
          <a:xfrm>
            <a:off x="166937" y="1655653"/>
            <a:ext cx="6096000" cy="523220"/>
          </a:xfrm>
          <a:prstGeom prst="rect">
            <a:avLst/>
          </a:prstGeom>
        </p:spPr>
        <p:txBody>
          <a:bodyPr>
            <a:spAutoFit/>
          </a:bodyPr>
          <a:lstStyle/>
          <a:p>
            <a:pPr marL="342900" indent="-342900">
              <a:buFont typeface="Wingdings" panose="05000000000000000000" pitchFamily="2" charset="2"/>
              <a:buChar char="Ø"/>
            </a:pPr>
            <a:endParaRPr lang="en-US" sz="1400" dirty="0"/>
          </a:p>
          <a:p>
            <a:pPr marL="342900" indent="-342900">
              <a:buFont typeface="Wingdings" panose="05000000000000000000" pitchFamily="2" charset="2"/>
              <a:buChar char="Ø"/>
            </a:pPr>
            <a:endParaRPr lang="en-GB" sz="1400" dirty="0"/>
          </a:p>
        </p:txBody>
      </p:sp>
      <p:sp>
        <p:nvSpPr>
          <p:cNvPr id="8" name="Rectangle 7">
            <a:extLst>
              <a:ext uri="{FF2B5EF4-FFF2-40B4-BE49-F238E27FC236}">
                <a16:creationId xmlns:a16="http://schemas.microsoft.com/office/drawing/2014/main" id="{3DC6B291-0E7A-48DA-845F-D425A06927F8}"/>
              </a:ext>
            </a:extLst>
          </p:cNvPr>
          <p:cNvSpPr/>
          <p:nvPr/>
        </p:nvSpPr>
        <p:spPr>
          <a:xfrm>
            <a:off x="104028" y="1231952"/>
            <a:ext cx="6096000" cy="2677656"/>
          </a:xfrm>
          <a:prstGeom prst="rect">
            <a:avLst/>
          </a:prstGeom>
        </p:spPr>
        <p:txBody>
          <a:bodyPr>
            <a:spAutoFit/>
          </a:bodyPr>
          <a:lstStyle/>
          <a:p>
            <a:pPr marL="342900" indent="-342900">
              <a:buFont typeface="Courier New" panose="02070309020205020404" pitchFamily="49" charset="0"/>
              <a:buChar char="o"/>
            </a:pPr>
            <a:r>
              <a:rPr lang="en-US" sz="1400" dirty="0" smtClean="0"/>
              <a:t>Fine Filter housing issue resolved procedure</a:t>
            </a:r>
            <a:endParaRPr lang="en-US" sz="1400" dirty="0"/>
          </a:p>
          <a:p>
            <a:pPr lvl="1"/>
            <a:endParaRPr lang="en-US" sz="1400" dirty="0" smtClean="0"/>
          </a:p>
          <a:p>
            <a:pPr marL="1257300" lvl="2" indent="-342900">
              <a:buFont typeface="Courier New" panose="02070309020205020404" pitchFamily="49" charset="0"/>
              <a:buChar char="o"/>
            </a:pPr>
            <a:r>
              <a:rPr lang="en-US" sz="1400" dirty="0"/>
              <a:t>Hazard </a:t>
            </a:r>
            <a:r>
              <a:rPr lang="en-US" sz="1400" dirty="0" smtClean="0"/>
              <a:t>and safety measures.</a:t>
            </a:r>
          </a:p>
          <a:p>
            <a:pPr marL="1257300" lvl="2" indent="-342900">
              <a:buFont typeface="Courier New" panose="02070309020205020404" pitchFamily="49" charset="0"/>
              <a:buChar char="o"/>
            </a:pPr>
            <a:r>
              <a:rPr lang="en-US" sz="1400" dirty="0" smtClean="0"/>
              <a:t>Removing fine filter housing cover.</a:t>
            </a:r>
            <a:endParaRPr lang="en-US" sz="1400" dirty="0"/>
          </a:p>
          <a:p>
            <a:pPr marL="1257300" lvl="2" indent="-342900">
              <a:buFont typeface="Courier New" panose="02070309020205020404" pitchFamily="49" charset="0"/>
              <a:buChar char="o"/>
            </a:pPr>
            <a:r>
              <a:rPr lang="en-US" sz="1400" dirty="0" smtClean="0"/>
              <a:t>Add a piece of carton to the fine filter switch.</a:t>
            </a:r>
          </a:p>
          <a:p>
            <a:pPr marL="1257300" lvl="2" indent="-342900">
              <a:buFont typeface="Courier New" panose="02070309020205020404" pitchFamily="49" charset="0"/>
              <a:buChar char="o"/>
            </a:pPr>
            <a:r>
              <a:rPr lang="en-US" sz="1400" dirty="0" smtClean="0"/>
              <a:t>Tighten the housing cover screws.</a:t>
            </a:r>
          </a:p>
          <a:p>
            <a:pPr marL="1257300" lvl="2" indent="-342900">
              <a:buFont typeface="Courier New" panose="02070309020205020404" pitchFamily="49" charset="0"/>
              <a:buChar char="o"/>
            </a:pPr>
            <a:endParaRPr lang="en-US" sz="1400" dirty="0" smtClean="0"/>
          </a:p>
          <a:p>
            <a:pPr marL="1257300" lvl="2" indent="-342900">
              <a:buFont typeface="Courier New" panose="02070309020205020404" pitchFamily="49" charset="0"/>
              <a:buChar char="o"/>
            </a:pPr>
            <a:endParaRPr lang="en-US" sz="1400" dirty="0"/>
          </a:p>
          <a:p>
            <a:pPr marL="1257300" lvl="2" indent="-342900">
              <a:buFont typeface="Courier New" panose="02070309020205020404" pitchFamily="49" charset="0"/>
              <a:buChar char="o"/>
            </a:pPr>
            <a:endParaRPr lang="en-US" sz="1400" dirty="0"/>
          </a:p>
          <a:p>
            <a:pPr lvl="2"/>
            <a:endParaRPr lang="en-GB" sz="1400" dirty="0"/>
          </a:p>
          <a:p>
            <a:pPr marL="342900" indent="-342900">
              <a:buFont typeface="Wingdings" panose="05000000000000000000" pitchFamily="2" charset="2"/>
              <a:buChar char="Ø"/>
            </a:pPr>
            <a:endParaRPr lang="en-US" sz="1400" dirty="0"/>
          </a:p>
          <a:p>
            <a:pPr marL="342900" indent="-342900">
              <a:buFont typeface="Wingdings" panose="05000000000000000000" pitchFamily="2" charset="2"/>
              <a:buChar char="Ø"/>
            </a:pPr>
            <a:endParaRPr lang="en-GB" sz="1400" dirty="0"/>
          </a:p>
        </p:txBody>
      </p:sp>
      <p:sp>
        <p:nvSpPr>
          <p:cNvPr id="11" name="TextBox 10">
            <a:extLst>
              <a:ext uri="{FF2B5EF4-FFF2-40B4-BE49-F238E27FC236}">
                <a16:creationId xmlns:a16="http://schemas.microsoft.com/office/drawing/2014/main" id="{D03FD05D-B890-4BB5-9C77-91F00FCB179D}"/>
              </a:ext>
            </a:extLst>
          </p:cNvPr>
          <p:cNvSpPr txBox="1"/>
          <p:nvPr/>
        </p:nvSpPr>
        <p:spPr>
          <a:xfrm>
            <a:off x="7539497" y="3779543"/>
            <a:ext cx="3431716" cy="184666"/>
          </a:xfrm>
          <a:prstGeom prst="rect">
            <a:avLst/>
          </a:prstGeom>
          <a:noFill/>
        </p:spPr>
        <p:txBody>
          <a:bodyPr wrap="square" lIns="0" tIns="0" rIns="0" bIns="0" rtlCol="0">
            <a:spAutoFit/>
          </a:bodyPr>
          <a:lstStyle/>
          <a:p>
            <a:pPr algn="ctr"/>
            <a:r>
              <a:rPr lang="en-US" sz="1200" dirty="0"/>
              <a:t> </a:t>
            </a:r>
            <a:r>
              <a:rPr lang="en-US" sz="1200" dirty="0" smtClean="0"/>
              <a:t>Fine </a:t>
            </a:r>
            <a:r>
              <a:rPr lang="en-US" sz="1200" dirty="0"/>
              <a:t>F</a:t>
            </a:r>
            <a:r>
              <a:rPr lang="en-US" sz="1200" dirty="0" smtClean="0"/>
              <a:t>ilter</a:t>
            </a:r>
            <a:endParaRPr lang="en-US" sz="1200" dirty="0"/>
          </a:p>
        </p:txBody>
      </p:sp>
      <p:pic>
        <p:nvPicPr>
          <p:cNvPr id="4" name="Picture 3"/>
          <p:cNvPicPr>
            <a:picLocks noChangeAspect="1"/>
          </p:cNvPicPr>
          <p:nvPr/>
        </p:nvPicPr>
        <p:blipFill>
          <a:blip r:embed="rId2"/>
          <a:stretch>
            <a:fillRect/>
          </a:stretch>
        </p:blipFill>
        <p:spPr>
          <a:xfrm>
            <a:off x="7155525" y="840785"/>
            <a:ext cx="4199659" cy="2855631"/>
          </a:xfrm>
          <a:prstGeom prst="rect">
            <a:avLst/>
          </a:prstGeo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5400000">
            <a:off x="3584517" y="3564082"/>
            <a:ext cx="2776451" cy="2082338"/>
          </a:xfrm>
          <a:prstGeom prst="rect">
            <a:avLst/>
          </a:prstGeom>
        </p:spPr>
      </p:pic>
      <p:sp>
        <p:nvSpPr>
          <p:cNvPr id="14" name="TextBox 13">
            <a:extLst>
              <a:ext uri="{FF2B5EF4-FFF2-40B4-BE49-F238E27FC236}">
                <a16:creationId xmlns:a16="http://schemas.microsoft.com/office/drawing/2014/main" id="{D03FD05D-B890-4BB5-9C77-91F00FCB179D}"/>
              </a:ext>
            </a:extLst>
          </p:cNvPr>
          <p:cNvSpPr txBox="1"/>
          <p:nvPr/>
        </p:nvSpPr>
        <p:spPr>
          <a:xfrm>
            <a:off x="3256884" y="6126503"/>
            <a:ext cx="3431716" cy="184666"/>
          </a:xfrm>
          <a:prstGeom prst="rect">
            <a:avLst/>
          </a:prstGeom>
          <a:noFill/>
        </p:spPr>
        <p:txBody>
          <a:bodyPr wrap="square" lIns="0" tIns="0" rIns="0" bIns="0" rtlCol="0">
            <a:spAutoFit/>
          </a:bodyPr>
          <a:lstStyle/>
          <a:p>
            <a:pPr algn="ctr"/>
            <a:r>
              <a:rPr lang="en-US" sz="1200" dirty="0"/>
              <a:t> </a:t>
            </a:r>
            <a:r>
              <a:rPr lang="en-US" sz="1200" dirty="0" smtClean="0"/>
              <a:t>Piece of carton</a:t>
            </a:r>
            <a:endParaRPr lang="en-US" sz="1200" dirty="0"/>
          </a:p>
        </p:txBody>
      </p:sp>
      <p:sp>
        <p:nvSpPr>
          <p:cNvPr id="7" name="Rectangle 6"/>
          <p:cNvSpPr/>
          <p:nvPr/>
        </p:nvSpPr>
        <p:spPr>
          <a:xfrm rot="20944148">
            <a:off x="4246144" y="4187615"/>
            <a:ext cx="1406511" cy="48213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062406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AE0E4-85DE-4F16-91DA-63A23F739F1F}"/>
              </a:ext>
            </a:extLst>
          </p:cNvPr>
          <p:cNvSpPr>
            <a:spLocks noGrp="1"/>
          </p:cNvSpPr>
          <p:nvPr>
            <p:ph type="title"/>
          </p:nvPr>
        </p:nvSpPr>
        <p:spPr>
          <a:xfrm>
            <a:off x="508727" y="914818"/>
            <a:ext cx="11508420" cy="514553"/>
          </a:xfrm>
        </p:spPr>
        <p:txBody>
          <a:bodyPr>
            <a:normAutofit fontScale="90000"/>
          </a:bodyPr>
          <a:lstStyle/>
          <a:p>
            <a:r>
              <a:rPr lang="en-US" sz="3200" dirty="0"/>
              <a:t>Post-Process (</a:t>
            </a:r>
            <a:r>
              <a:rPr lang="en-US" sz="3200" dirty="0" err="1"/>
              <a:t>Kasto</a:t>
            </a:r>
            <a:r>
              <a:rPr lang="en-US" sz="3200" dirty="0"/>
              <a:t> </a:t>
            </a:r>
            <a:r>
              <a:rPr lang="en-US" sz="3200" dirty="0" err="1" smtClean="0"/>
              <a:t>Bandsaw</a:t>
            </a:r>
            <a:r>
              <a:rPr lang="en-US" sz="3200" dirty="0" smtClean="0"/>
              <a:t>)</a:t>
            </a:r>
            <a:endParaRPr lang="en-US" sz="3200" dirty="0"/>
          </a:p>
        </p:txBody>
      </p:sp>
      <p:sp>
        <p:nvSpPr>
          <p:cNvPr id="6" name="Slide Number Placeholder 5">
            <a:extLst>
              <a:ext uri="{FF2B5EF4-FFF2-40B4-BE49-F238E27FC236}">
                <a16:creationId xmlns:a16="http://schemas.microsoft.com/office/drawing/2014/main" id="{5E918707-6809-45DB-87A9-B541AB553D1C}"/>
              </a:ext>
            </a:extLst>
          </p:cNvPr>
          <p:cNvSpPr>
            <a:spLocks noGrp="1"/>
          </p:cNvSpPr>
          <p:nvPr>
            <p:ph type="sldNum" sz="quarter" idx="12"/>
          </p:nvPr>
        </p:nvSpPr>
        <p:spPr/>
        <p:txBody>
          <a:bodyPr/>
          <a:lstStyle/>
          <a:p>
            <a:fld id="{1E68DD1B-5CD8-424B-8173-19E182143E0A}" type="slidenum">
              <a:rPr lang="en-US" smtClean="0"/>
              <a:pPr/>
              <a:t>17</a:t>
            </a:fld>
            <a:endParaRPr lang="en-US"/>
          </a:p>
        </p:txBody>
      </p:sp>
      <p:sp>
        <p:nvSpPr>
          <p:cNvPr id="8" name="Rectangle 7">
            <a:extLst>
              <a:ext uri="{FF2B5EF4-FFF2-40B4-BE49-F238E27FC236}">
                <a16:creationId xmlns:a16="http://schemas.microsoft.com/office/drawing/2014/main" id="{3DC6B291-0E7A-48DA-845F-D425A06927F8}"/>
              </a:ext>
            </a:extLst>
          </p:cNvPr>
          <p:cNvSpPr/>
          <p:nvPr/>
        </p:nvSpPr>
        <p:spPr>
          <a:xfrm>
            <a:off x="166937" y="1180573"/>
            <a:ext cx="6096000" cy="738664"/>
          </a:xfrm>
          <a:prstGeom prst="rect">
            <a:avLst/>
          </a:prstGeom>
        </p:spPr>
        <p:txBody>
          <a:bodyPr>
            <a:spAutoFit/>
          </a:bodyPr>
          <a:lstStyle/>
          <a:p>
            <a:pPr lvl="2"/>
            <a:endParaRPr lang="en-GB" sz="1400" dirty="0"/>
          </a:p>
          <a:p>
            <a:pPr marL="342900" indent="-342900">
              <a:buFont typeface="Wingdings" panose="05000000000000000000" pitchFamily="2" charset="2"/>
              <a:buChar char="Ø"/>
            </a:pPr>
            <a:endParaRPr lang="en-US" sz="1400" dirty="0"/>
          </a:p>
          <a:p>
            <a:pPr marL="342900" indent="-342900">
              <a:buFont typeface="Wingdings" panose="05000000000000000000" pitchFamily="2" charset="2"/>
              <a:buChar char="Ø"/>
            </a:pPr>
            <a:endParaRPr lang="en-GB" sz="1400" dirty="0"/>
          </a:p>
        </p:txBody>
      </p:sp>
      <p:sp>
        <p:nvSpPr>
          <p:cNvPr id="18" name="TextBox 17">
            <a:extLst>
              <a:ext uri="{FF2B5EF4-FFF2-40B4-BE49-F238E27FC236}">
                <a16:creationId xmlns:a16="http://schemas.microsoft.com/office/drawing/2014/main" id="{7491F53C-DEA7-44C6-B4C5-58003C182CFD}"/>
              </a:ext>
            </a:extLst>
          </p:cNvPr>
          <p:cNvSpPr txBox="1"/>
          <p:nvPr/>
        </p:nvSpPr>
        <p:spPr>
          <a:xfrm>
            <a:off x="8304939" y="5020083"/>
            <a:ext cx="2035479" cy="184666"/>
          </a:xfrm>
          <a:prstGeom prst="rect">
            <a:avLst/>
          </a:prstGeom>
          <a:noFill/>
        </p:spPr>
        <p:txBody>
          <a:bodyPr wrap="square" lIns="0" tIns="0" rIns="0" bIns="0" rtlCol="0">
            <a:spAutoFit/>
          </a:bodyPr>
          <a:lstStyle/>
          <a:p>
            <a:pPr algn="ctr"/>
            <a:r>
              <a:rPr lang="en-GB" sz="1200" dirty="0" smtClean="0"/>
              <a:t>Band saw</a:t>
            </a:r>
            <a:endParaRPr lang="en-US" sz="1200" dirty="0"/>
          </a:p>
        </p:txBody>
      </p:sp>
      <p:sp>
        <p:nvSpPr>
          <p:cNvPr id="14" name="Rectangle 13">
            <a:extLst>
              <a:ext uri="{FF2B5EF4-FFF2-40B4-BE49-F238E27FC236}">
                <a16:creationId xmlns:a16="http://schemas.microsoft.com/office/drawing/2014/main" id="{3DC6B291-0E7A-48DA-845F-D425A06927F8}"/>
              </a:ext>
            </a:extLst>
          </p:cNvPr>
          <p:cNvSpPr/>
          <p:nvPr/>
        </p:nvSpPr>
        <p:spPr>
          <a:xfrm>
            <a:off x="0" y="1927715"/>
            <a:ext cx="5960225" cy="3539430"/>
          </a:xfrm>
          <a:prstGeom prst="rect">
            <a:avLst/>
          </a:prstGeom>
        </p:spPr>
        <p:txBody>
          <a:bodyPr wrap="square">
            <a:spAutoFit/>
          </a:bodyPr>
          <a:lstStyle/>
          <a:p>
            <a:pPr marL="342900" indent="-342900">
              <a:buFont typeface="Courier New" panose="02070309020205020404" pitchFamily="49" charset="0"/>
              <a:buChar char="o"/>
            </a:pPr>
            <a:r>
              <a:rPr lang="en-US" sz="1400" dirty="0" smtClean="0"/>
              <a:t>Cutting-off builds from the baseplate </a:t>
            </a:r>
            <a:endParaRPr lang="en-US" sz="1400" dirty="0"/>
          </a:p>
          <a:p>
            <a:pPr lvl="1"/>
            <a:endParaRPr lang="en-US" sz="1400" dirty="0" smtClean="0"/>
          </a:p>
          <a:p>
            <a:pPr marL="1257300" lvl="2" indent="-342900">
              <a:buFont typeface="Courier New" panose="02070309020205020404" pitchFamily="49" charset="0"/>
              <a:buChar char="o"/>
            </a:pPr>
            <a:r>
              <a:rPr lang="en-US" sz="1400" dirty="0"/>
              <a:t>Choose the </a:t>
            </a:r>
            <a:r>
              <a:rPr lang="en-US" sz="1400" dirty="0" smtClean="0"/>
              <a:t>material to be cut.</a:t>
            </a:r>
            <a:endParaRPr lang="en-US" sz="1400" dirty="0"/>
          </a:p>
          <a:p>
            <a:pPr marL="1257300" lvl="2" indent="-342900">
              <a:buFont typeface="Courier New" panose="02070309020205020404" pitchFamily="49" charset="0"/>
              <a:buChar char="o"/>
            </a:pPr>
            <a:r>
              <a:rPr lang="en-US" sz="1400" dirty="0" smtClean="0"/>
              <a:t>Locate the baseplate on the platform.</a:t>
            </a:r>
          </a:p>
          <a:p>
            <a:pPr marL="1257300" lvl="2" indent="-342900">
              <a:buFont typeface="Courier New" panose="02070309020205020404" pitchFamily="49" charset="0"/>
              <a:buChar char="o"/>
            </a:pPr>
            <a:r>
              <a:rPr lang="en-US" sz="1400" dirty="0" smtClean="0"/>
              <a:t>Ensure the tightness of the baseplate screws with the machine platform.</a:t>
            </a:r>
          </a:p>
          <a:p>
            <a:pPr marL="1257300" lvl="2" indent="-342900">
              <a:buFont typeface="Courier New" panose="02070309020205020404" pitchFamily="49" charset="0"/>
              <a:buChar char="o"/>
            </a:pPr>
            <a:r>
              <a:rPr lang="en-US" sz="1400" dirty="0" smtClean="0"/>
              <a:t>Manual ensure the saw location to cut less than 3mm thickness of the build.</a:t>
            </a:r>
          </a:p>
          <a:p>
            <a:pPr marL="1257300" lvl="2" indent="-342900">
              <a:buFont typeface="Courier New" panose="02070309020205020404" pitchFamily="49" charset="0"/>
              <a:buChar char="o"/>
            </a:pPr>
            <a:r>
              <a:rPr lang="en-US" sz="1400" dirty="0" smtClean="0"/>
              <a:t>Keep monitoring the cutting procedure of the machine.</a:t>
            </a:r>
          </a:p>
          <a:p>
            <a:pPr marL="1257300" lvl="2" indent="-342900">
              <a:buFont typeface="Courier New" panose="02070309020205020404" pitchFamily="49" charset="0"/>
              <a:buChar char="o"/>
            </a:pPr>
            <a:endParaRPr lang="en-US" sz="1400" dirty="0" smtClean="0"/>
          </a:p>
          <a:p>
            <a:pPr marL="1257300" lvl="2" indent="-342900">
              <a:buFont typeface="Courier New" panose="02070309020205020404" pitchFamily="49" charset="0"/>
              <a:buChar char="o"/>
            </a:pPr>
            <a:endParaRPr lang="en-US" sz="1400" dirty="0" smtClean="0"/>
          </a:p>
          <a:p>
            <a:pPr marL="1257300" lvl="2" indent="-342900">
              <a:buFont typeface="Courier New" panose="02070309020205020404" pitchFamily="49" charset="0"/>
              <a:buChar char="o"/>
            </a:pPr>
            <a:endParaRPr lang="en-US" sz="1400" dirty="0"/>
          </a:p>
          <a:p>
            <a:pPr marL="1257300" lvl="2" indent="-342900">
              <a:buFont typeface="Courier New" panose="02070309020205020404" pitchFamily="49" charset="0"/>
              <a:buChar char="o"/>
            </a:pPr>
            <a:endParaRPr lang="en-US" sz="1400" dirty="0"/>
          </a:p>
          <a:p>
            <a:pPr lvl="2"/>
            <a:endParaRPr lang="en-GB" sz="1400" dirty="0"/>
          </a:p>
          <a:p>
            <a:pPr marL="342900" indent="-342900">
              <a:buFont typeface="Wingdings" panose="05000000000000000000" pitchFamily="2" charset="2"/>
              <a:buChar char="Ø"/>
            </a:pPr>
            <a:endParaRPr lang="en-US" sz="1400" dirty="0"/>
          </a:p>
          <a:p>
            <a:pPr marL="342900" indent="-342900">
              <a:buFont typeface="Wingdings" panose="05000000000000000000" pitchFamily="2" charset="2"/>
              <a:buChar char="Ø"/>
            </a:pPr>
            <a:endParaRPr lang="en-GB" sz="1400" dirty="0"/>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82009" y="1549905"/>
            <a:ext cx="4481340" cy="3361005"/>
          </a:xfrm>
          <a:prstGeom prst="rect">
            <a:avLst/>
          </a:prstGeom>
        </p:spPr>
      </p:pic>
    </p:spTree>
    <p:extLst>
      <p:ext uri="{BB962C8B-B14F-4D97-AF65-F5344CB8AC3E}">
        <p14:creationId xmlns:p14="http://schemas.microsoft.com/office/powerpoint/2010/main" val="38225875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83025" y="852965"/>
            <a:ext cx="9263271" cy="461665"/>
          </a:xfrm>
          <a:prstGeom prst="rect">
            <a:avLst/>
          </a:prstGeom>
        </p:spPr>
        <p:txBody>
          <a:bodyPr wrap="square">
            <a:spAutoFit/>
          </a:bodyPr>
          <a:lstStyle/>
          <a:p>
            <a:r>
              <a:rPr lang="en-US" sz="2400" b="1" dirty="0" smtClean="0">
                <a:solidFill>
                  <a:srgbClr val="212121"/>
                </a:solidFill>
                <a:latin typeface="Times New Roman" panose="02020603050405020304" pitchFamily="18" charset="0"/>
                <a:cs typeface="Times New Roman" panose="02020603050405020304" pitchFamily="18" charset="0"/>
              </a:rPr>
              <a:t>5. Update </a:t>
            </a:r>
            <a:r>
              <a:rPr lang="en-US" sz="2400" b="1" dirty="0">
                <a:solidFill>
                  <a:srgbClr val="212121"/>
                </a:solidFill>
                <a:latin typeface="Times New Roman" panose="02020603050405020304" pitchFamily="18" charset="0"/>
                <a:cs typeface="Times New Roman" panose="02020603050405020304" pitchFamily="18" charset="0"/>
              </a:rPr>
              <a:t>on staffing issues in ARIC and retention of ARIC resources</a:t>
            </a:r>
            <a:endParaRPr lang="en-US" sz="2400" b="1" dirty="0"/>
          </a:p>
        </p:txBody>
      </p:sp>
      <p:sp>
        <p:nvSpPr>
          <p:cNvPr id="3" name="Rectangle 2"/>
          <p:cNvSpPr/>
          <p:nvPr/>
        </p:nvSpPr>
        <p:spPr>
          <a:xfrm>
            <a:off x="1683024" y="2125174"/>
            <a:ext cx="9607827" cy="3416320"/>
          </a:xfrm>
          <a:prstGeom prst="rect">
            <a:avLst/>
          </a:prstGeom>
        </p:spPr>
        <p:txBody>
          <a:bodyPr wrap="square">
            <a:spAutoFit/>
          </a:bodyPr>
          <a:lstStyle/>
          <a:p>
            <a:r>
              <a:rPr lang="en-US" sz="2400" dirty="0" smtClean="0">
                <a:solidFill>
                  <a:srgbClr val="212121"/>
                </a:solidFill>
                <a:latin typeface="Times New Roman" panose="02020603050405020304" pitchFamily="18" charset="0"/>
                <a:cs typeface="Times New Roman" panose="02020603050405020304" pitchFamily="18" charset="0"/>
              </a:rPr>
              <a:t>Lewis Kindleyside left KU on the 16</a:t>
            </a:r>
            <a:r>
              <a:rPr lang="en-US" sz="2400" baseline="30000" dirty="0" smtClean="0">
                <a:solidFill>
                  <a:srgbClr val="212121"/>
                </a:solidFill>
                <a:latin typeface="Times New Roman" panose="02020603050405020304" pitchFamily="18" charset="0"/>
                <a:cs typeface="Times New Roman" panose="02020603050405020304" pitchFamily="18" charset="0"/>
              </a:rPr>
              <a:t>th</a:t>
            </a:r>
            <a:r>
              <a:rPr lang="en-US" sz="2400" dirty="0" smtClean="0">
                <a:solidFill>
                  <a:srgbClr val="212121"/>
                </a:solidFill>
                <a:latin typeface="Times New Roman" panose="02020603050405020304" pitchFamily="18" charset="0"/>
                <a:cs typeface="Times New Roman" panose="02020603050405020304" pitchFamily="18" charset="0"/>
              </a:rPr>
              <a:t> of June 2022.</a:t>
            </a:r>
          </a:p>
          <a:p>
            <a:r>
              <a:rPr lang="en-US" sz="2400" dirty="0">
                <a:latin typeface="Times New Roman" panose="02020603050405020304" pitchFamily="18" charset="0"/>
                <a:cs typeface="Times New Roman" panose="02020603050405020304" pitchFamily="18" charset="0"/>
              </a:rPr>
              <a:t>Mr.  Mohammed Ramadan </a:t>
            </a:r>
            <a:r>
              <a:rPr lang="en-US" sz="2400" dirty="0" smtClean="0">
                <a:latin typeface="Times New Roman" panose="02020603050405020304" pitchFamily="18" charset="0"/>
                <a:cs typeface="Times New Roman" panose="02020603050405020304" pitchFamily="18" charset="0"/>
              </a:rPr>
              <a:t> (RA) joined on the 15</a:t>
            </a:r>
            <a:r>
              <a:rPr lang="en-US" sz="2400" baseline="30000" dirty="0" smtClean="0">
                <a:latin typeface="Times New Roman" panose="02020603050405020304" pitchFamily="18" charset="0"/>
                <a:cs typeface="Times New Roman" panose="02020603050405020304" pitchFamily="18" charset="0"/>
              </a:rPr>
              <a:t>th</a:t>
            </a:r>
            <a:r>
              <a:rPr lang="en-US" sz="2400" dirty="0" smtClean="0">
                <a:latin typeface="Times New Roman" panose="02020603050405020304" pitchFamily="18" charset="0"/>
                <a:cs typeface="Times New Roman" panose="02020603050405020304" pitchFamily="18" charset="0"/>
              </a:rPr>
              <a:t> of June 2022.</a:t>
            </a:r>
          </a:p>
          <a:p>
            <a:r>
              <a:rPr lang="en-US" sz="2400" dirty="0" smtClean="0">
                <a:solidFill>
                  <a:srgbClr val="212121"/>
                </a:solidFill>
                <a:latin typeface="Times New Roman" panose="02020603050405020304" pitchFamily="18" charset="0"/>
                <a:cs typeface="Times New Roman" panose="02020603050405020304" pitchFamily="18" charset="0"/>
              </a:rPr>
              <a:t>Dr. </a:t>
            </a:r>
            <a:r>
              <a:rPr lang="en-US" sz="2400" dirty="0" err="1" smtClean="0">
                <a:solidFill>
                  <a:srgbClr val="212121"/>
                </a:solidFill>
                <a:latin typeface="Times New Roman" panose="02020603050405020304" pitchFamily="18" charset="0"/>
                <a:cs typeface="Times New Roman" panose="02020603050405020304" pitchFamily="18" charset="0"/>
              </a:rPr>
              <a:t>Yusra</a:t>
            </a:r>
            <a:r>
              <a:rPr lang="en-US" sz="2400" dirty="0" smtClean="0">
                <a:solidFill>
                  <a:srgbClr val="212121"/>
                </a:solidFill>
                <a:latin typeface="Times New Roman" panose="02020603050405020304" pitchFamily="18" charset="0"/>
                <a:cs typeface="Times New Roman" panose="02020603050405020304" pitchFamily="18" charset="0"/>
              </a:rPr>
              <a:t> is about to commence her post-doctoral research position</a:t>
            </a:r>
          </a:p>
          <a:p>
            <a:endParaRPr lang="en-US" sz="2400" dirty="0">
              <a:solidFill>
                <a:srgbClr val="212121"/>
              </a:solidFill>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Also, Mohammed Ahmed Ali (SANAD </a:t>
            </a:r>
            <a:r>
              <a:rPr lang="en-US" sz="2400" dirty="0" smtClean="0">
                <a:latin typeface="Times New Roman" panose="02020603050405020304" pitchFamily="18" charset="0"/>
                <a:cs typeface="Times New Roman" panose="02020603050405020304" pitchFamily="18" charset="0"/>
              </a:rPr>
              <a:t>project), </a:t>
            </a:r>
            <a:r>
              <a:rPr lang="en-US" sz="2400" dirty="0" err="1" smtClean="0">
                <a:latin typeface="Times New Roman" panose="02020603050405020304" pitchFamily="18" charset="0"/>
                <a:cs typeface="Times New Roman" panose="02020603050405020304" pitchFamily="18" charset="0"/>
              </a:rPr>
              <a:t>Oussama</a:t>
            </a:r>
            <a:r>
              <a:rPr lang="en-US" sz="2400" dirty="0" smtClean="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AbdulHay</a:t>
            </a:r>
            <a:r>
              <a:rPr lang="en-US" sz="2400" dirty="0">
                <a:latin typeface="Times New Roman" panose="02020603050405020304" pitchFamily="18" charset="0"/>
                <a:cs typeface="Times New Roman" panose="02020603050405020304" pitchFamily="18" charset="0"/>
              </a:rPr>
              <a:t> (STRATA project</a:t>
            </a:r>
            <a:r>
              <a:rPr lang="en-US" sz="2400" dirty="0" smtClean="0">
                <a:latin typeface="Times New Roman" panose="02020603050405020304" pitchFamily="18" charset="0"/>
                <a:cs typeface="Times New Roman" panose="02020603050405020304" pitchFamily="18" charset="0"/>
              </a:rPr>
              <a:t>) Ibrahim Mohammed (fatigue of 3D printed parts) and Nora </a:t>
            </a:r>
            <a:r>
              <a:rPr lang="en-US" sz="2400" dirty="0" err="1" smtClean="0">
                <a:latin typeface="Times New Roman" panose="02020603050405020304" pitchFamily="18" charset="0"/>
                <a:cs typeface="Times New Roman" panose="02020603050405020304" pitchFamily="18" charset="0"/>
              </a:rPr>
              <a:t>Alahmed</a:t>
            </a:r>
            <a:r>
              <a:rPr lang="en-US" sz="2400" dirty="0" smtClean="0">
                <a:latin typeface="Times New Roman" panose="02020603050405020304" pitchFamily="18" charset="0"/>
                <a:cs typeface="Times New Roman" panose="02020603050405020304" pitchFamily="18" charset="0"/>
              </a:rPr>
              <a:t> (composites manufacturing) </a:t>
            </a:r>
            <a:r>
              <a:rPr lang="en-US" sz="2400" dirty="0">
                <a:latin typeface="Times New Roman" panose="02020603050405020304" pitchFamily="18" charset="0"/>
                <a:cs typeface="Times New Roman" panose="02020603050405020304" pitchFamily="18" charset="0"/>
              </a:rPr>
              <a:t>joined us as PhD students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Islam Mohammed (</a:t>
            </a:r>
            <a:r>
              <a:rPr lang="en-US" sz="2400" dirty="0" err="1">
                <a:latin typeface="Times New Roman" panose="02020603050405020304" pitchFamily="18" charset="0"/>
                <a:cs typeface="Times New Roman" panose="02020603050405020304" pitchFamily="18" charset="0"/>
              </a:rPr>
              <a:t>MSc,STRATA</a:t>
            </a:r>
            <a:r>
              <a:rPr lang="en-US" sz="2400" dirty="0">
                <a:latin typeface="Times New Roman" panose="02020603050405020304" pitchFamily="18" charset="0"/>
                <a:cs typeface="Times New Roman" panose="02020603050405020304" pitchFamily="18" charset="0"/>
              </a:rPr>
              <a:t> project) </a:t>
            </a:r>
            <a:r>
              <a:rPr lang="en-US" sz="2400" dirty="0" smtClean="0">
                <a:latin typeface="Times New Roman" panose="02020603050405020304" pitchFamily="18" charset="0"/>
                <a:cs typeface="Times New Roman" panose="02020603050405020304" pitchFamily="18" charset="0"/>
              </a:rPr>
              <a:t>has also joined.</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89556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0937" y="1813099"/>
            <a:ext cx="7915565" cy="461665"/>
          </a:xfrm>
          <a:prstGeom prst="rect">
            <a:avLst/>
          </a:prstGeom>
        </p:spPr>
        <p:txBody>
          <a:bodyPr wrap="none">
            <a:spAutoFit/>
          </a:bodyPr>
          <a:lstStyle/>
          <a:p>
            <a:r>
              <a:rPr lang="en-US" sz="2400" b="1" dirty="0" smtClean="0">
                <a:solidFill>
                  <a:srgbClr val="212121"/>
                </a:solidFill>
                <a:latin typeface="Times New Roman" panose="02020603050405020304" pitchFamily="18" charset="0"/>
                <a:cs typeface="Times New Roman" panose="02020603050405020304" pitchFamily="18" charset="0"/>
              </a:rPr>
              <a:t>6. </a:t>
            </a:r>
            <a:r>
              <a:rPr lang="en-US" sz="2400" b="1" dirty="0">
                <a:solidFill>
                  <a:srgbClr val="212121"/>
                </a:solidFill>
                <a:latin typeface="Times New Roman" panose="02020603050405020304" pitchFamily="18" charset="0"/>
                <a:cs typeface="Times New Roman" panose="02020603050405020304" pitchFamily="18" charset="0"/>
              </a:rPr>
              <a:t>Update regarding the KUKA robot in ARIC (DG World)</a:t>
            </a:r>
          </a:p>
        </p:txBody>
      </p:sp>
    </p:spTree>
    <p:extLst>
      <p:ext uri="{BB962C8B-B14F-4D97-AF65-F5344CB8AC3E}">
        <p14:creationId xmlns:p14="http://schemas.microsoft.com/office/powerpoint/2010/main" val="12786031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43ABC-9A46-4327-BF74-FE0C643DC4CF}"/>
              </a:ext>
            </a:extLst>
          </p:cNvPr>
          <p:cNvSpPr txBox="1">
            <a:spLocks/>
          </p:cNvSpPr>
          <p:nvPr/>
        </p:nvSpPr>
        <p:spPr>
          <a:xfrm>
            <a:off x="850547" y="1858990"/>
            <a:ext cx="10558802" cy="171450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smtClean="0">
                <a:solidFill>
                  <a:srgbClr val="000000"/>
                </a:solidFill>
                <a:latin typeface="+mn-lt"/>
                <a:ea typeface="Calibri" panose="020F0502020204030204" pitchFamily="34" charset="0"/>
              </a:rPr>
              <a:t>The Analysis of Process-induced Deformation of CF\PEKK </a:t>
            </a:r>
            <a:r>
              <a:rPr lang="en-US" sz="4000" dirty="0" err="1" smtClean="0">
                <a:solidFill>
                  <a:srgbClr val="000000"/>
                </a:solidFill>
                <a:latin typeface="+mn-lt"/>
                <a:ea typeface="Calibri" panose="020F0502020204030204" pitchFamily="34" charset="0"/>
              </a:rPr>
              <a:t>Aerostructures</a:t>
            </a:r>
            <a:endParaRPr lang="en-US" sz="4000" dirty="0"/>
          </a:p>
        </p:txBody>
      </p:sp>
      <p:sp>
        <p:nvSpPr>
          <p:cNvPr id="3" name="Subtitle 5">
            <a:extLst>
              <a:ext uri="{FF2B5EF4-FFF2-40B4-BE49-F238E27FC236}">
                <a16:creationId xmlns:a16="http://schemas.microsoft.com/office/drawing/2014/main" id="{04F3AED8-AC01-4403-875F-09BD671DA398}"/>
              </a:ext>
            </a:extLst>
          </p:cNvPr>
          <p:cNvSpPr txBox="1">
            <a:spLocks/>
          </p:cNvSpPr>
          <p:nvPr/>
        </p:nvSpPr>
        <p:spPr>
          <a:xfrm>
            <a:off x="1410331" y="3135030"/>
            <a:ext cx="8792803" cy="1479054"/>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endParaRPr lang="en-GB" dirty="0" smtClean="0"/>
          </a:p>
          <a:p>
            <a:pPr marL="0" indent="0">
              <a:lnSpc>
                <a:spcPct val="120000"/>
              </a:lnSpc>
              <a:buNone/>
            </a:pPr>
            <a:r>
              <a:rPr lang="en-GB" sz="4000" dirty="0" smtClean="0"/>
              <a:t>Mariam Ahmed Al-</a:t>
            </a:r>
            <a:r>
              <a:rPr lang="en-GB" sz="4000" dirty="0" err="1" smtClean="0"/>
              <a:t>Dhaheri</a:t>
            </a:r>
            <a:endParaRPr lang="en-GB" sz="4000" dirty="0" smtClean="0"/>
          </a:p>
          <a:p>
            <a:endParaRPr lang="en-AE" dirty="0"/>
          </a:p>
        </p:txBody>
      </p:sp>
      <p:sp>
        <p:nvSpPr>
          <p:cNvPr id="4" name="TextBox 3">
            <a:extLst>
              <a:ext uri="{FF2B5EF4-FFF2-40B4-BE49-F238E27FC236}">
                <a16:creationId xmlns:a16="http://schemas.microsoft.com/office/drawing/2014/main" id="{06B8AC72-9C9C-4C46-BA65-069ED1DEDAB3}"/>
              </a:ext>
            </a:extLst>
          </p:cNvPr>
          <p:cNvSpPr txBox="1"/>
          <p:nvPr/>
        </p:nvSpPr>
        <p:spPr>
          <a:xfrm>
            <a:off x="2759075" y="5023763"/>
            <a:ext cx="6095316" cy="1114408"/>
          </a:xfrm>
          <a:prstGeom prst="rect">
            <a:avLst/>
          </a:prstGeom>
          <a:noFill/>
        </p:spPr>
        <p:txBody>
          <a:bodyPr wrap="square">
            <a:spAutoFit/>
          </a:bodyPr>
          <a:lstStyle/>
          <a:p>
            <a:pPr algn="ctr" eaLnBrk="0" fontAlgn="base" hangingPunct="0">
              <a:lnSpc>
                <a:spcPct val="200000"/>
              </a:lnSpc>
              <a:spcBef>
                <a:spcPct val="0"/>
              </a:spcBef>
              <a:spcAft>
                <a:spcPct val="0"/>
              </a:spcAft>
            </a:pPr>
            <a:r>
              <a:rPr kumimoji="0" lang="en-US" altLang="en-US" sz="1800" b="0" i="0" u="none" strike="noStrike" cap="none" normalizeH="0" baseline="0" dirty="0">
                <a:ln>
                  <a:noFill/>
                </a:ln>
                <a:solidFill>
                  <a:srgbClr val="0D0D0D"/>
                </a:solidFill>
                <a:effectLst/>
                <a:ea typeface="Calibri" panose="020F0502020204030204" pitchFamily="34" charset="0"/>
                <a:cs typeface="Times New Roman" panose="02020603050405020304" pitchFamily="18" charset="0"/>
              </a:rPr>
              <a:t>Dr. </a:t>
            </a:r>
            <a:r>
              <a:rPr lang="en-US" sz="1800" dirty="0" err="1">
                <a:solidFill>
                  <a:srgbClr val="0D0D0D"/>
                </a:solidFill>
                <a:effectLst/>
                <a:ea typeface="Calibri" panose="020F0502020204030204" pitchFamily="34" charset="0"/>
                <a:cs typeface="Times New Roman" panose="02020603050405020304" pitchFamily="18" charset="0"/>
              </a:rPr>
              <a:t>Rehan</a:t>
            </a:r>
            <a:r>
              <a:rPr lang="en-US" sz="1800" dirty="0">
                <a:solidFill>
                  <a:srgbClr val="0D0D0D"/>
                </a:solidFill>
                <a:effectLst/>
                <a:ea typeface="Calibri" panose="020F0502020204030204" pitchFamily="34" charset="0"/>
                <a:cs typeface="Times New Roman" panose="02020603050405020304" pitchFamily="18" charset="0"/>
              </a:rPr>
              <a:t> </a:t>
            </a:r>
            <a:r>
              <a:rPr lang="en-US" sz="1800" dirty="0" err="1">
                <a:solidFill>
                  <a:srgbClr val="0D0D0D"/>
                </a:solidFill>
                <a:effectLst/>
                <a:ea typeface="Calibri" panose="020F0502020204030204" pitchFamily="34" charset="0"/>
                <a:cs typeface="Times New Roman" panose="02020603050405020304" pitchFamily="18" charset="0"/>
              </a:rPr>
              <a:t>Umer</a:t>
            </a:r>
            <a:r>
              <a:rPr lang="en-US" sz="1800" dirty="0">
                <a:solidFill>
                  <a:srgbClr val="0D0D0D"/>
                </a:solidFill>
                <a:effectLst/>
                <a:ea typeface="Calibri" panose="020F0502020204030204" pitchFamily="34" charset="0"/>
                <a:cs typeface="Times New Roman" panose="02020603050405020304" pitchFamily="18" charset="0"/>
              </a:rPr>
              <a:t> </a:t>
            </a:r>
            <a:r>
              <a:rPr kumimoji="0" lang="en-US" altLang="en-US" sz="1800" b="0" i="0" u="none" strike="noStrike" cap="none" normalizeH="0" baseline="0" dirty="0">
                <a:ln>
                  <a:noFill/>
                </a:ln>
                <a:solidFill>
                  <a:srgbClr val="0D0D0D"/>
                </a:solidFill>
                <a:effectLst/>
                <a:ea typeface="Calibri" panose="020F0502020204030204" pitchFamily="34" charset="0"/>
                <a:cs typeface="Times New Roman" panose="02020603050405020304" pitchFamily="18" charset="0"/>
              </a:rPr>
              <a:t>(</a:t>
            </a:r>
            <a:r>
              <a:rPr lang="en-US" sz="1800" b="1" dirty="0">
                <a:solidFill>
                  <a:srgbClr val="0D0D0D"/>
                </a:solidFill>
                <a:effectLst/>
                <a:ea typeface="Calibri" panose="020F0502020204030204" pitchFamily="34" charset="0"/>
                <a:cs typeface="Times New Roman" panose="02020603050405020304" pitchFamily="18" charset="0"/>
              </a:rPr>
              <a:t>Main Advisor</a:t>
            </a:r>
            <a:r>
              <a:rPr kumimoji="0" lang="en-US" altLang="en-US" sz="1800" b="0" i="0" u="none" strike="noStrike" cap="none" normalizeH="0" baseline="0" dirty="0">
                <a:ln>
                  <a:noFill/>
                </a:ln>
                <a:solidFill>
                  <a:srgbClr val="0D0D0D"/>
                </a:solidFill>
                <a:effectLst/>
                <a:ea typeface="Calibri" panose="020F0502020204030204" pitchFamily="34" charset="0"/>
                <a:cs typeface="Times New Roman" panose="02020603050405020304" pitchFamily="18" charset="0"/>
              </a:rPr>
              <a:t>)</a:t>
            </a:r>
          </a:p>
          <a:p>
            <a:pPr algn="ctr" eaLnBrk="0" fontAlgn="base" hangingPunct="0">
              <a:lnSpc>
                <a:spcPct val="200000"/>
              </a:lnSpc>
              <a:spcBef>
                <a:spcPct val="0"/>
              </a:spcBef>
              <a:spcAft>
                <a:spcPct val="0"/>
              </a:spcAft>
            </a:pPr>
            <a:r>
              <a:rPr lang="en-US" sz="1800" dirty="0">
                <a:solidFill>
                  <a:srgbClr val="0D0D0D"/>
                </a:solidFill>
                <a:effectLst/>
                <a:ea typeface="Calibri" panose="020F0502020204030204" pitchFamily="34" charset="0"/>
                <a:cs typeface="Times New Roman" panose="02020603050405020304" pitchFamily="18" charset="0"/>
              </a:rPr>
              <a:t>Prof. Wesley Cantwell (</a:t>
            </a:r>
            <a:r>
              <a:rPr lang="en-US" sz="1800" b="1" dirty="0">
                <a:solidFill>
                  <a:srgbClr val="0D0D0D"/>
                </a:solidFill>
                <a:effectLst/>
                <a:ea typeface="Calibri" panose="020F0502020204030204" pitchFamily="34" charset="0"/>
                <a:cs typeface="Times New Roman" panose="02020603050405020304" pitchFamily="18" charset="0"/>
              </a:rPr>
              <a:t>Co-Advisor</a:t>
            </a:r>
            <a:r>
              <a:rPr lang="en-US" sz="1800" dirty="0">
                <a:solidFill>
                  <a:srgbClr val="0D0D0D"/>
                </a:solidFill>
                <a:effectLst/>
                <a:ea typeface="Calibri" panose="020F0502020204030204" pitchFamily="34" charset="0"/>
                <a:cs typeface="Times New Roman" panose="02020603050405020304" pitchFamily="18" charset="0"/>
              </a:rPr>
              <a:t>)</a:t>
            </a:r>
          </a:p>
        </p:txBody>
      </p:sp>
      <p:pic>
        <p:nvPicPr>
          <p:cNvPr id="5" name="Picture 4">
            <a:extLst>
              <a:ext uri="{FF2B5EF4-FFF2-40B4-BE49-F238E27FC236}">
                <a16:creationId xmlns:a16="http://schemas.microsoft.com/office/drawing/2014/main" id="{F1880496-93E6-5D29-F4C5-E198D2C09FEF}"/>
              </a:ext>
            </a:extLst>
          </p:cNvPr>
          <p:cNvPicPr>
            <a:picLocks noChangeAspect="1"/>
          </p:cNvPicPr>
          <p:nvPr/>
        </p:nvPicPr>
        <p:blipFill>
          <a:blip r:embed="rId2"/>
          <a:stretch/>
        </p:blipFill>
        <p:spPr>
          <a:xfrm>
            <a:off x="418196" y="234334"/>
            <a:ext cx="1283678" cy="1042699"/>
          </a:xfrm>
          <a:prstGeom prst="rect">
            <a:avLst/>
          </a:prstGeom>
        </p:spPr>
      </p:pic>
    </p:spTree>
    <p:extLst>
      <p:ext uri="{BB962C8B-B14F-4D97-AF65-F5344CB8AC3E}">
        <p14:creationId xmlns:p14="http://schemas.microsoft.com/office/powerpoint/2010/main" val="9862624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01B3559D-F057-455B-9B1C-C1BA6624B394}"/>
              </a:ext>
            </a:extLst>
          </p:cNvPr>
          <p:cNvSpPr>
            <a:spLocks noGrp="1"/>
          </p:cNvSpPr>
          <p:nvPr>
            <p:ph type="sldNum" sz="quarter" idx="12"/>
          </p:nvPr>
        </p:nvSpPr>
        <p:spPr>
          <a:xfrm>
            <a:off x="11563349" y="57428"/>
            <a:ext cx="523875" cy="244475"/>
          </a:xfrm>
        </p:spPr>
        <p:txBody>
          <a:bodyPr/>
          <a:lstStyle/>
          <a:p>
            <a:fld id="{1E68DD1B-5CD8-424B-8173-19E182143E0A}" type="slidenum">
              <a:rPr lang="en-US" smtClean="0"/>
              <a:t>21</a:t>
            </a:fld>
            <a:endParaRPr lang="en-US"/>
          </a:p>
        </p:txBody>
      </p:sp>
      <p:sp>
        <p:nvSpPr>
          <p:cNvPr id="3" name="TextBox 2">
            <a:extLst>
              <a:ext uri="{FF2B5EF4-FFF2-40B4-BE49-F238E27FC236}">
                <a16:creationId xmlns:a16="http://schemas.microsoft.com/office/drawing/2014/main" id="{BD68F449-B51C-4A61-815E-E16ADDDBEBE8}"/>
              </a:ext>
            </a:extLst>
          </p:cNvPr>
          <p:cNvSpPr txBox="1"/>
          <p:nvPr/>
        </p:nvSpPr>
        <p:spPr>
          <a:xfrm>
            <a:off x="4836160" y="401709"/>
            <a:ext cx="3167570" cy="461665"/>
          </a:xfrm>
          <a:prstGeom prst="rect">
            <a:avLst/>
          </a:prstGeom>
          <a:noFill/>
        </p:spPr>
        <p:txBody>
          <a:bodyPr wrap="square">
            <a:spAutoFit/>
          </a:bodyPr>
          <a:lstStyle/>
          <a:p>
            <a:r>
              <a:rPr lang="en-GB" sz="2400" b="1" dirty="0">
                <a:solidFill>
                  <a:srgbClr val="0047BA"/>
                </a:solidFill>
                <a:latin typeface="Calibri" panose="020F0502020204030204"/>
                <a:ea typeface="Times New Roman" panose="02020603050405020304" pitchFamily="18" charset="0"/>
                <a:cs typeface="Times New Roman" panose="02020603050405020304" pitchFamily="18" charset="0"/>
              </a:rPr>
              <a:t>RESEARCH AIM</a:t>
            </a:r>
            <a:endParaRPr lang="en-AE" sz="2400" dirty="0">
              <a:solidFill>
                <a:srgbClr val="0047BA"/>
              </a:solidFill>
              <a:latin typeface="Calibri" panose="020F0502020204030204"/>
            </a:endParaRPr>
          </a:p>
        </p:txBody>
      </p:sp>
      <p:pic>
        <p:nvPicPr>
          <p:cNvPr id="4" name="Picture 3">
            <a:extLst>
              <a:ext uri="{FF2B5EF4-FFF2-40B4-BE49-F238E27FC236}">
                <a16:creationId xmlns:a16="http://schemas.microsoft.com/office/drawing/2014/main" id="{7EF06FD6-C478-474E-A45E-A27B9C8ECF97}"/>
              </a:ext>
            </a:extLst>
          </p:cNvPr>
          <p:cNvPicPr>
            <a:picLocks noChangeAspect="1"/>
          </p:cNvPicPr>
          <p:nvPr/>
        </p:nvPicPr>
        <p:blipFill rotWithShape="1">
          <a:blip r:embed="rId2"/>
          <a:srcRect l="7709" t="13292" r="4078" b="8983"/>
          <a:stretch/>
        </p:blipFill>
        <p:spPr>
          <a:xfrm>
            <a:off x="2477345" y="1970727"/>
            <a:ext cx="7237310" cy="4683258"/>
          </a:xfrm>
          <a:prstGeom prst="rect">
            <a:avLst/>
          </a:prstGeom>
        </p:spPr>
      </p:pic>
      <p:sp>
        <p:nvSpPr>
          <p:cNvPr id="5" name="TextBox 4">
            <a:extLst>
              <a:ext uri="{FF2B5EF4-FFF2-40B4-BE49-F238E27FC236}">
                <a16:creationId xmlns:a16="http://schemas.microsoft.com/office/drawing/2014/main" id="{1222F844-48C3-4ED4-B763-119726369C88}"/>
              </a:ext>
            </a:extLst>
          </p:cNvPr>
          <p:cNvSpPr txBox="1"/>
          <p:nvPr/>
        </p:nvSpPr>
        <p:spPr>
          <a:xfrm>
            <a:off x="450784" y="914348"/>
            <a:ext cx="10608375" cy="1056379"/>
          </a:xfrm>
          <a:prstGeom prst="rect">
            <a:avLst/>
          </a:prstGeom>
          <a:noFill/>
        </p:spPr>
        <p:txBody>
          <a:bodyPr wrap="square">
            <a:spAutoFit/>
          </a:bodyPr>
          <a:lstStyle/>
          <a:p>
            <a:pPr algn="just">
              <a:lnSpc>
                <a:spcPct val="107000"/>
              </a:lnSpc>
              <a:spcAft>
                <a:spcPts val="800"/>
              </a:spcAft>
            </a:pPr>
            <a:r>
              <a:rPr lang="en-US" sz="2000" dirty="0">
                <a:solidFill>
                  <a:srgbClr val="000000"/>
                </a:solidFill>
              </a:rPr>
              <a:t>To </a:t>
            </a:r>
            <a:r>
              <a:rPr lang="en-US" sz="2000" dirty="0">
                <a:solidFill>
                  <a:srgbClr val="000000"/>
                </a:solidFill>
                <a:effectLst/>
                <a:ea typeface="Calibri" panose="020F0502020204030204" pitchFamily="34" charset="0"/>
                <a:cs typeface="Times New Roman" panose="02020603050405020304" pitchFamily="18" charset="0"/>
              </a:rPr>
              <a:t>predict process-induced deformation of a Thermorheological complex material, using a linear thermo-viscoelastic constitutive model that considers the effect of temperature and degree of crystallinity, for curved structures. </a:t>
            </a:r>
            <a:endParaRPr lang="en-AE" sz="2000" dirty="0">
              <a:effectLst/>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9730570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67AA9EE1-2081-9485-CD02-974BED81FEFA}"/>
              </a:ext>
            </a:extLst>
          </p:cNvPr>
          <p:cNvSpPr>
            <a:spLocks noGrp="1"/>
          </p:cNvSpPr>
          <p:nvPr>
            <p:ph type="sldNum" sz="quarter" idx="12"/>
          </p:nvPr>
        </p:nvSpPr>
        <p:spPr>
          <a:xfrm>
            <a:off x="11563349" y="203200"/>
            <a:ext cx="523875" cy="244475"/>
          </a:xfrm>
        </p:spPr>
        <p:txBody>
          <a:bodyPr/>
          <a:lstStyle/>
          <a:p>
            <a:fld id="{1E68DD1B-5CD8-424B-8173-19E182143E0A}" type="slidenum">
              <a:rPr lang="en-US" smtClean="0"/>
              <a:t>22</a:t>
            </a:fld>
            <a:endParaRPr lang="en-US"/>
          </a:p>
        </p:txBody>
      </p:sp>
      <p:sp>
        <p:nvSpPr>
          <p:cNvPr id="3" name="TextBox 2">
            <a:extLst>
              <a:ext uri="{FF2B5EF4-FFF2-40B4-BE49-F238E27FC236}">
                <a16:creationId xmlns:a16="http://schemas.microsoft.com/office/drawing/2014/main" id="{7ECD79D0-A928-67EB-DE8F-BDA39D479505}"/>
              </a:ext>
            </a:extLst>
          </p:cNvPr>
          <p:cNvSpPr txBox="1"/>
          <p:nvPr/>
        </p:nvSpPr>
        <p:spPr>
          <a:xfrm>
            <a:off x="2421925" y="1445740"/>
            <a:ext cx="7123360" cy="369332"/>
          </a:xfrm>
          <a:prstGeom prst="rect">
            <a:avLst/>
          </a:prstGeom>
          <a:noFill/>
          <a:ln w="38100">
            <a:solidFill>
              <a:schemeClr val="tx1"/>
            </a:solidFill>
          </a:ln>
        </p:spPr>
        <p:txBody>
          <a:bodyPr wrap="none" lIns="0" tIns="0" rIns="0" bIns="0" rtlCol="0">
            <a:spAutoFit/>
          </a:bodyPr>
          <a:lstStyle/>
          <a:p>
            <a:pPr algn="l"/>
            <a:r>
              <a:rPr lang="en-GB" sz="2400" b="1" dirty="0"/>
              <a:t>THERMO-VISCOLEASTIC CHARACTERIZATION  </a:t>
            </a:r>
            <a:endParaRPr lang="en-AE" sz="2400" b="1" dirty="0"/>
          </a:p>
        </p:txBody>
      </p:sp>
      <p:sp>
        <p:nvSpPr>
          <p:cNvPr id="4" name="TextBox 3">
            <a:extLst>
              <a:ext uri="{FF2B5EF4-FFF2-40B4-BE49-F238E27FC236}">
                <a16:creationId xmlns:a16="http://schemas.microsoft.com/office/drawing/2014/main" id="{D7E19258-94B5-0626-FEF0-FC5B8B61DC90}"/>
              </a:ext>
            </a:extLst>
          </p:cNvPr>
          <p:cNvSpPr txBox="1"/>
          <p:nvPr/>
        </p:nvSpPr>
        <p:spPr>
          <a:xfrm>
            <a:off x="4924425" y="2332594"/>
            <a:ext cx="1588576" cy="369332"/>
          </a:xfrm>
          <a:prstGeom prst="rect">
            <a:avLst/>
          </a:prstGeom>
          <a:noFill/>
          <a:ln w="38100">
            <a:solidFill>
              <a:schemeClr val="tx1"/>
            </a:solidFill>
          </a:ln>
        </p:spPr>
        <p:txBody>
          <a:bodyPr wrap="none" lIns="0" tIns="0" rIns="0" bIns="0" rtlCol="0">
            <a:spAutoFit/>
          </a:bodyPr>
          <a:lstStyle/>
          <a:p>
            <a:pPr algn="l"/>
            <a:r>
              <a:rPr lang="en-GB" sz="2400" b="1" dirty="0"/>
              <a:t>TVE model</a:t>
            </a:r>
            <a:endParaRPr lang="en-AE" sz="2400" b="1" dirty="0"/>
          </a:p>
        </p:txBody>
      </p:sp>
      <p:sp>
        <p:nvSpPr>
          <p:cNvPr id="5" name="TextBox 4">
            <a:extLst>
              <a:ext uri="{FF2B5EF4-FFF2-40B4-BE49-F238E27FC236}">
                <a16:creationId xmlns:a16="http://schemas.microsoft.com/office/drawing/2014/main" id="{D2EC9933-CC19-BC0C-17DE-9A9DFFF9F133}"/>
              </a:ext>
            </a:extLst>
          </p:cNvPr>
          <p:cNvSpPr txBox="1"/>
          <p:nvPr/>
        </p:nvSpPr>
        <p:spPr>
          <a:xfrm>
            <a:off x="2983989" y="3184300"/>
            <a:ext cx="5469446" cy="738664"/>
          </a:xfrm>
          <a:prstGeom prst="rect">
            <a:avLst/>
          </a:prstGeom>
          <a:noFill/>
          <a:ln w="38100">
            <a:solidFill>
              <a:schemeClr val="tx1"/>
            </a:solidFill>
          </a:ln>
        </p:spPr>
        <p:txBody>
          <a:bodyPr wrap="none" lIns="0" tIns="0" rIns="0" bIns="0" rtlCol="0">
            <a:spAutoFit/>
          </a:bodyPr>
          <a:lstStyle/>
          <a:p>
            <a:pPr algn="ctr"/>
            <a:r>
              <a:rPr lang="en-GB" sz="2400" b="1" dirty="0"/>
              <a:t>FINITE ELEMENT MODEL</a:t>
            </a:r>
          </a:p>
          <a:p>
            <a:pPr algn="ctr"/>
            <a:r>
              <a:rPr lang="en-GB" sz="2400" b="1" dirty="0"/>
              <a:t>(Thermoforming process simulation)</a:t>
            </a:r>
            <a:endParaRPr lang="en-AE" sz="2400" b="1" dirty="0"/>
          </a:p>
        </p:txBody>
      </p:sp>
      <p:sp>
        <p:nvSpPr>
          <p:cNvPr id="6" name="TextBox 5">
            <a:extLst>
              <a:ext uri="{FF2B5EF4-FFF2-40B4-BE49-F238E27FC236}">
                <a16:creationId xmlns:a16="http://schemas.microsoft.com/office/drawing/2014/main" id="{96F738B1-E2D6-B770-0807-27988F1D461B}"/>
              </a:ext>
            </a:extLst>
          </p:cNvPr>
          <p:cNvSpPr txBox="1"/>
          <p:nvPr/>
        </p:nvSpPr>
        <p:spPr>
          <a:xfrm>
            <a:off x="3931680" y="4375021"/>
            <a:ext cx="3847207" cy="738664"/>
          </a:xfrm>
          <a:prstGeom prst="rect">
            <a:avLst/>
          </a:prstGeom>
          <a:noFill/>
          <a:ln w="38100">
            <a:solidFill>
              <a:schemeClr val="tx1"/>
            </a:solidFill>
          </a:ln>
        </p:spPr>
        <p:txBody>
          <a:bodyPr wrap="none" lIns="0" tIns="0" rIns="0" bIns="0" rtlCol="0">
            <a:spAutoFit/>
          </a:bodyPr>
          <a:lstStyle/>
          <a:p>
            <a:pPr algn="ctr"/>
            <a:r>
              <a:rPr lang="en-GB" sz="2400" b="1" dirty="0"/>
              <a:t>Experimental validation </a:t>
            </a:r>
          </a:p>
          <a:p>
            <a:pPr algn="ctr"/>
            <a:r>
              <a:rPr lang="en-GB" sz="2400" b="1" dirty="0"/>
              <a:t>(Thermoforming process)</a:t>
            </a:r>
            <a:endParaRPr lang="en-AE" sz="2400" b="1" dirty="0"/>
          </a:p>
        </p:txBody>
      </p:sp>
      <p:sp>
        <p:nvSpPr>
          <p:cNvPr id="7" name="TextBox 6">
            <a:extLst>
              <a:ext uri="{FF2B5EF4-FFF2-40B4-BE49-F238E27FC236}">
                <a16:creationId xmlns:a16="http://schemas.microsoft.com/office/drawing/2014/main" id="{3EE20D76-5FAB-947A-8C46-6799893A1757}"/>
              </a:ext>
            </a:extLst>
          </p:cNvPr>
          <p:cNvSpPr txBox="1"/>
          <p:nvPr/>
        </p:nvSpPr>
        <p:spPr>
          <a:xfrm>
            <a:off x="3931680" y="5632756"/>
            <a:ext cx="3847207" cy="738664"/>
          </a:xfrm>
          <a:prstGeom prst="rect">
            <a:avLst/>
          </a:prstGeom>
          <a:noFill/>
          <a:ln w="38100">
            <a:solidFill>
              <a:schemeClr val="tx1"/>
            </a:solidFill>
          </a:ln>
        </p:spPr>
        <p:txBody>
          <a:bodyPr wrap="none" lIns="0" tIns="0" rIns="0" bIns="0" rtlCol="0">
            <a:spAutoFit/>
          </a:bodyPr>
          <a:lstStyle/>
          <a:p>
            <a:pPr algn="ctr"/>
            <a:r>
              <a:rPr lang="en-GB" sz="2400" b="1" dirty="0"/>
              <a:t>Numerical Studies</a:t>
            </a:r>
          </a:p>
          <a:p>
            <a:pPr algn="ctr"/>
            <a:r>
              <a:rPr lang="en-GB" sz="2400" b="1" dirty="0"/>
              <a:t>(Thermoforming process)</a:t>
            </a:r>
            <a:endParaRPr lang="en-AE" sz="2400" b="1" dirty="0"/>
          </a:p>
        </p:txBody>
      </p:sp>
      <p:sp>
        <p:nvSpPr>
          <p:cNvPr id="8" name="TextBox 7">
            <a:extLst>
              <a:ext uri="{FF2B5EF4-FFF2-40B4-BE49-F238E27FC236}">
                <a16:creationId xmlns:a16="http://schemas.microsoft.com/office/drawing/2014/main" id="{9E99BB2C-61E2-5104-0C1D-CB4A925D96F0}"/>
              </a:ext>
            </a:extLst>
          </p:cNvPr>
          <p:cNvSpPr txBox="1"/>
          <p:nvPr/>
        </p:nvSpPr>
        <p:spPr>
          <a:xfrm>
            <a:off x="3865522" y="701295"/>
            <a:ext cx="4460955" cy="584775"/>
          </a:xfrm>
          <a:prstGeom prst="rect">
            <a:avLst/>
          </a:prstGeom>
          <a:noFill/>
        </p:spPr>
        <p:txBody>
          <a:bodyPr wrap="square">
            <a:spAutoFit/>
          </a:bodyPr>
          <a:lstStyle/>
          <a:p>
            <a:r>
              <a:rPr lang="en-GB" sz="3200" b="1" dirty="0">
                <a:solidFill>
                  <a:srgbClr val="0047BA"/>
                </a:solidFill>
                <a:latin typeface="Calibri" panose="020F0502020204030204"/>
                <a:ea typeface="Times New Roman" panose="02020603050405020304" pitchFamily="18" charset="0"/>
                <a:cs typeface="Times New Roman" panose="02020603050405020304" pitchFamily="18" charset="0"/>
              </a:rPr>
              <a:t>RESEARCH OVERVIEW</a:t>
            </a:r>
            <a:endParaRPr lang="en-AE" sz="3200" dirty="0">
              <a:solidFill>
                <a:srgbClr val="0047BA"/>
              </a:solidFill>
              <a:latin typeface="Calibri" panose="020F0502020204030204"/>
            </a:endParaRPr>
          </a:p>
        </p:txBody>
      </p:sp>
      <p:cxnSp>
        <p:nvCxnSpPr>
          <p:cNvPr id="9" name="Straight Arrow Connector 8">
            <a:extLst>
              <a:ext uri="{FF2B5EF4-FFF2-40B4-BE49-F238E27FC236}">
                <a16:creationId xmlns:a16="http://schemas.microsoft.com/office/drawing/2014/main" id="{F9A53D1F-9E2A-DFA7-FF99-66ED3AA66C44}"/>
              </a:ext>
            </a:extLst>
          </p:cNvPr>
          <p:cNvCxnSpPr>
            <a:cxnSpLocks/>
          </p:cNvCxnSpPr>
          <p:nvPr/>
        </p:nvCxnSpPr>
        <p:spPr>
          <a:xfrm>
            <a:off x="5718712" y="1852209"/>
            <a:ext cx="1" cy="42901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DA420CE2-7253-3F7A-84F9-DBDC7E2087E2}"/>
              </a:ext>
            </a:extLst>
          </p:cNvPr>
          <p:cNvCxnSpPr>
            <a:cxnSpLocks/>
          </p:cNvCxnSpPr>
          <p:nvPr/>
        </p:nvCxnSpPr>
        <p:spPr>
          <a:xfrm>
            <a:off x="5697177" y="2708644"/>
            <a:ext cx="1" cy="42901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147702CE-0576-F49D-DF60-4190FE758E6E}"/>
              </a:ext>
            </a:extLst>
          </p:cNvPr>
          <p:cNvCxnSpPr>
            <a:cxnSpLocks/>
          </p:cNvCxnSpPr>
          <p:nvPr/>
        </p:nvCxnSpPr>
        <p:spPr>
          <a:xfrm>
            <a:off x="5665369" y="3946006"/>
            <a:ext cx="1" cy="42901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F5381B88-42BA-8ABF-B6F3-D09AA41046FE}"/>
              </a:ext>
            </a:extLst>
          </p:cNvPr>
          <p:cNvCxnSpPr>
            <a:cxnSpLocks/>
          </p:cNvCxnSpPr>
          <p:nvPr/>
        </p:nvCxnSpPr>
        <p:spPr>
          <a:xfrm>
            <a:off x="5675642" y="5136727"/>
            <a:ext cx="1" cy="42901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930484B7-8D35-44FA-4A7E-1B35770D5FDE}"/>
              </a:ext>
            </a:extLst>
          </p:cNvPr>
          <p:cNvPicPr>
            <a:picLocks noChangeAspect="1"/>
          </p:cNvPicPr>
          <p:nvPr/>
        </p:nvPicPr>
        <p:blipFill>
          <a:blip r:embed="rId2"/>
          <a:stretch>
            <a:fillRect/>
          </a:stretch>
        </p:blipFill>
        <p:spPr>
          <a:xfrm>
            <a:off x="8878957" y="4014772"/>
            <a:ext cx="3208267" cy="2578881"/>
          </a:xfrm>
          <a:prstGeom prst="rect">
            <a:avLst/>
          </a:prstGeom>
        </p:spPr>
      </p:pic>
    </p:spTree>
    <p:extLst>
      <p:ext uri="{BB962C8B-B14F-4D97-AF65-F5344CB8AC3E}">
        <p14:creationId xmlns:p14="http://schemas.microsoft.com/office/powerpoint/2010/main" val="36323992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43ABC-9A46-4327-BF74-FE0C643DC4CF}"/>
              </a:ext>
            </a:extLst>
          </p:cNvPr>
          <p:cNvSpPr txBox="1">
            <a:spLocks/>
          </p:cNvSpPr>
          <p:nvPr/>
        </p:nvSpPr>
        <p:spPr>
          <a:xfrm>
            <a:off x="824042" y="859774"/>
            <a:ext cx="8911389" cy="1714500"/>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i-FI" sz="5400" cap="all" dirty="0" smtClean="0">
                <a:solidFill>
                  <a:srgbClr val="3A5C84"/>
                </a:solidFill>
                <a:latin typeface="Calibri" panose="020F0502020204030204"/>
                <a:ea typeface="+mn-ea"/>
                <a:cs typeface="+mn-cs"/>
              </a:rPr>
              <a:t>The Factory of the Future</a:t>
            </a:r>
            <a:endParaRPr lang="en-US" sz="5400" cap="all" dirty="0">
              <a:solidFill>
                <a:srgbClr val="3A5C84"/>
              </a:solidFill>
              <a:latin typeface="Calibri" panose="020F0502020204030204"/>
              <a:ea typeface="+mn-ea"/>
              <a:cs typeface="+mn-cs"/>
            </a:endParaRPr>
          </a:p>
        </p:txBody>
      </p:sp>
      <p:sp>
        <p:nvSpPr>
          <p:cNvPr id="3" name="Subtitle 2">
            <a:extLst>
              <a:ext uri="{FF2B5EF4-FFF2-40B4-BE49-F238E27FC236}">
                <a16:creationId xmlns:a16="http://schemas.microsoft.com/office/drawing/2014/main" id="{C0FC7021-FB77-4D35-AE1D-A857D1A422CD}"/>
              </a:ext>
            </a:extLst>
          </p:cNvPr>
          <p:cNvSpPr txBox="1">
            <a:spLocks/>
          </p:cNvSpPr>
          <p:nvPr/>
        </p:nvSpPr>
        <p:spPr>
          <a:xfrm>
            <a:off x="824043" y="3578280"/>
            <a:ext cx="8911390" cy="124777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i-FI" sz="2400" cap="all" smtClean="0">
                <a:solidFill>
                  <a:srgbClr val="4CC1EF">
                    <a:lumMod val="75000"/>
                  </a:srgbClr>
                </a:solidFill>
                <a:latin typeface="Calibri" panose="020F0502020204030204"/>
              </a:rPr>
              <a:t>Phase 1 - Aircraft Ribs Hub</a:t>
            </a:r>
            <a:endParaRPr lang="en-US" sz="2400" cap="all" dirty="0">
              <a:solidFill>
                <a:srgbClr val="4CC1EF">
                  <a:lumMod val="75000"/>
                </a:srgbClr>
              </a:solidFill>
              <a:latin typeface="Calibri" panose="020F0502020204030204"/>
            </a:endParaRPr>
          </a:p>
        </p:txBody>
      </p:sp>
      <p:sp>
        <p:nvSpPr>
          <p:cNvPr id="4" name="Text Placeholder 3">
            <a:extLst>
              <a:ext uri="{FF2B5EF4-FFF2-40B4-BE49-F238E27FC236}">
                <a16:creationId xmlns:a16="http://schemas.microsoft.com/office/drawing/2014/main" id="{4D96F05C-E8E5-40A0-96E2-70DA59031E10}"/>
              </a:ext>
            </a:extLst>
          </p:cNvPr>
          <p:cNvSpPr txBox="1">
            <a:spLocks/>
          </p:cNvSpPr>
          <p:nvPr/>
        </p:nvSpPr>
        <p:spPr>
          <a:xfrm>
            <a:off x="824043" y="5490499"/>
            <a:ext cx="6730165" cy="3143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spcBef>
                <a:spcPts val="0"/>
              </a:spcBef>
            </a:pPr>
            <a:r>
              <a:rPr lang="fi-FI" sz="1800" smtClean="0">
                <a:solidFill>
                  <a:srgbClr val="3A5C84"/>
                </a:solidFill>
                <a:latin typeface="Calibri" panose="020F0502020204030204"/>
              </a:rPr>
              <a:t>Q2 2022 - 25 MAY</a:t>
            </a:r>
            <a:endParaRPr lang="en-US" sz="1800" smtClean="0">
              <a:solidFill>
                <a:srgbClr val="3A5C84"/>
              </a:solidFill>
              <a:latin typeface="Calibri" panose="020F0502020204030204"/>
            </a:endParaRPr>
          </a:p>
          <a:p>
            <a:endParaRPr lang="en-US" sz="1800" dirty="0">
              <a:solidFill>
                <a:srgbClr val="3A5C84"/>
              </a:solidFill>
              <a:latin typeface="Calibri" panose="020F0502020204030204"/>
            </a:endParaRP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90285" y="3064033"/>
            <a:ext cx="6090193" cy="2755271"/>
          </a:xfrm>
          <a:prstGeom prst="rect">
            <a:avLst/>
          </a:prstGeom>
          <a:effectLst>
            <a:glow>
              <a:schemeClr val="accent1"/>
            </a:glow>
            <a:softEdge rad="635000"/>
          </a:effectLst>
        </p:spPr>
      </p:pic>
      <p:sp>
        <p:nvSpPr>
          <p:cNvPr id="6" name="Text Placeholder 3">
            <a:extLst>
              <a:ext uri="{FF2B5EF4-FFF2-40B4-BE49-F238E27FC236}">
                <a16:creationId xmlns:a16="http://schemas.microsoft.com/office/drawing/2014/main" id="{4D96F05C-E8E5-40A0-96E2-70DA59031E10}"/>
              </a:ext>
            </a:extLst>
          </p:cNvPr>
          <p:cNvSpPr txBox="1">
            <a:spLocks/>
          </p:cNvSpPr>
          <p:nvPr/>
        </p:nvSpPr>
        <p:spPr>
          <a:xfrm>
            <a:off x="824042" y="6098336"/>
            <a:ext cx="6730165" cy="314325"/>
          </a:xfrm>
          <a:prstGeom prst="rect">
            <a:avLst/>
          </a:prstGeom>
        </p:spPr>
        <p:txBody>
          <a:bodyPr vert="horz" lIns="0" tIns="0" rIns="0" bIns="0" rtlCol="0">
            <a:normAutofit/>
          </a:bodyPr>
          <a:lstStyle>
            <a:lvl1pPr marL="0" indent="0" algn="ctr" defTabSz="914400" rtl="0" eaLnBrk="1" latinLnBrk="0" hangingPunct="1">
              <a:lnSpc>
                <a:spcPct val="100000"/>
              </a:lnSpc>
              <a:spcBef>
                <a:spcPts val="400"/>
              </a:spcBef>
              <a:buFont typeface="Arial" panose="020B0604020202020204" pitchFamily="34" charset="0"/>
              <a:buNone/>
              <a:defRPr sz="1350" b="1" kern="1200" cap="all" baseline="0">
                <a:solidFill>
                  <a:schemeClr val="bg2"/>
                </a:solidFill>
                <a:latin typeface="+mn-lt"/>
                <a:ea typeface="+mn-ea"/>
                <a:cs typeface="+mn-cs"/>
              </a:defRPr>
            </a:lvl1pPr>
            <a:lvl2pPr marL="542925" indent="-180975" algn="ctr" defTabSz="914400" rtl="0" eaLnBrk="1" latinLnBrk="0" hangingPunct="1">
              <a:lnSpc>
                <a:spcPct val="100000"/>
              </a:lnSpc>
              <a:spcBef>
                <a:spcPts val="400"/>
              </a:spcBef>
              <a:buFont typeface="Arial" panose="020B0604020202020204" pitchFamily="34" charset="0"/>
              <a:buChar char="•"/>
              <a:defRPr sz="1850" kern="1200">
                <a:solidFill>
                  <a:schemeClr val="tx1"/>
                </a:solidFill>
                <a:latin typeface="+mn-lt"/>
                <a:ea typeface="+mn-ea"/>
                <a:cs typeface="+mn-cs"/>
              </a:defRPr>
            </a:lvl2pPr>
            <a:lvl3pPr marL="714375" indent="-171450" algn="ctr"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895350" indent="-180975" algn="ctr"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4pPr>
            <a:lvl5pPr marL="1076325" indent="-180975" algn="ctr"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80000"/>
              </a:lnSpc>
              <a:spcBef>
                <a:spcPts val="0"/>
              </a:spcBef>
            </a:pPr>
            <a:r>
              <a:rPr lang="en-US" sz="1800" dirty="0" smtClean="0">
                <a:latin typeface="Calibri" panose="020F0502020204030204"/>
              </a:rPr>
              <a:t>High level</a:t>
            </a:r>
          </a:p>
          <a:p>
            <a:pPr algn="l"/>
            <a:endParaRPr lang="en-US" sz="1800" dirty="0">
              <a:solidFill>
                <a:srgbClr val="3A5C84"/>
              </a:solidFill>
              <a:latin typeface="Calibri" panose="020F0502020204030204"/>
            </a:endParaRPr>
          </a:p>
        </p:txBody>
      </p:sp>
    </p:spTree>
    <p:extLst>
      <p:ext uri="{BB962C8B-B14F-4D97-AF65-F5344CB8AC3E}">
        <p14:creationId xmlns:p14="http://schemas.microsoft.com/office/powerpoint/2010/main" val="27213601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37937E0-53E2-4702-95ED-E2A841D166CA}"/>
              </a:ext>
            </a:extLst>
          </p:cNvPr>
          <p:cNvSpPr/>
          <p:nvPr/>
        </p:nvSpPr>
        <p:spPr>
          <a:xfrm>
            <a:off x="702732" y="1269354"/>
            <a:ext cx="10514161" cy="4924425"/>
          </a:xfrm>
          <a:prstGeom prst="rect">
            <a:avLst/>
          </a:prstGeom>
        </p:spPr>
        <p:txBody>
          <a:bodyPr wrap="square">
            <a:spAutoFit/>
          </a:bodyPr>
          <a:lstStyle/>
          <a:p>
            <a:pPr marL="285750" indent="-285750">
              <a:spcBef>
                <a:spcPts val="600"/>
              </a:spcBef>
              <a:spcAft>
                <a:spcPts val="600"/>
              </a:spcAft>
              <a:buFontTx/>
              <a:buChar char="‒"/>
            </a:pPr>
            <a:r>
              <a:rPr lang="en-US" sz="2200" dirty="0">
                <a:solidFill>
                  <a:srgbClr val="333333"/>
                </a:solidFill>
                <a:latin typeface="Helvetica Neue"/>
              </a:rPr>
              <a:t>Buy in of strategic plan from senior management</a:t>
            </a:r>
          </a:p>
          <a:p>
            <a:pPr marL="285750" indent="-285750">
              <a:spcBef>
                <a:spcPts val="600"/>
              </a:spcBef>
              <a:spcAft>
                <a:spcPts val="600"/>
              </a:spcAft>
              <a:buFontTx/>
              <a:buChar char="‒"/>
            </a:pPr>
            <a:r>
              <a:rPr lang="en-US" sz="2200" dirty="0" smtClean="0">
                <a:solidFill>
                  <a:srgbClr val="333333"/>
                </a:solidFill>
                <a:latin typeface="Helvetica Neue"/>
              </a:rPr>
              <a:t>Generate </a:t>
            </a:r>
            <a:r>
              <a:rPr lang="en-US" sz="2200" dirty="0">
                <a:solidFill>
                  <a:srgbClr val="333333"/>
                </a:solidFill>
                <a:latin typeface="Helvetica Neue"/>
              </a:rPr>
              <a:t>Statement of Work</a:t>
            </a:r>
          </a:p>
          <a:p>
            <a:pPr marL="742950" lvl="1" indent="-285750">
              <a:spcBef>
                <a:spcPts val="600"/>
              </a:spcBef>
              <a:spcAft>
                <a:spcPts val="600"/>
              </a:spcAft>
              <a:buFontTx/>
              <a:buChar char="‒"/>
            </a:pPr>
            <a:r>
              <a:rPr lang="en-US" sz="2000" dirty="0" smtClean="0">
                <a:solidFill>
                  <a:srgbClr val="333333"/>
                </a:solidFill>
                <a:latin typeface="Helvetica Neue"/>
              </a:rPr>
              <a:t>Identify test case (Wing ribs, Control surface ribs, Spars, Spoilers, etc.)</a:t>
            </a:r>
          </a:p>
          <a:p>
            <a:pPr marL="742950" lvl="1" indent="-285750">
              <a:spcBef>
                <a:spcPts val="600"/>
              </a:spcBef>
              <a:spcAft>
                <a:spcPts val="600"/>
              </a:spcAft>
              <a:buFontTx/>
              <a:buChar char="‒"/>
            </a:pPr>
            <a:r>
              <a:rPr lang="en-US" sz="2000" dirty="0" smtClean="0">
                <a:solidFill>
                  <a:srgbClr val="333333"/>
                </a:solidFill>
                <a:latin typeface="Helvetica Neue"/>
              </a:rPr>
              <a:t>Gather requirements (Stakeholder, functional, structural, other associated)</a:t>
            </a:r>
          </a:p>
          <a:p>
            <a:pPr marL="742950" lvl="1" indent="-285750">
              <a:spcBef>
                <a:spcPts val="600"/>
              </a:spcBef>
              <a:spcAft>
                <a:spcPts val="600"/>
              </a:spcAft>
              <a:buFontTx/>
              <a:buChar char="‒"/>
            </a:pPr>
            <a:r>
              <a:rPr lang="en-US" sz="2000" dirty="0" smtClean="0">
                <a:solidFill>
                  <a:srgbClr val="333333"/>
                </a:solidFill>
                <a:latin typeface="Helvetica Neue"/>
              </a:rPr>
              <a:t>Generate requirements matrix with Verification &amp; Validation plans (w.r.t phases)</a:t>
            </a:r>
          </a:p>
          <a:p>
            <a:pPr marL="742950" lvl="1" indent="-285750">
              <a:spcBef>
                <a:spcPts val="600"/>
              </a:spcBef>
              <a:spcAft>
                <a:spcPts val="600"/>
              </a:spcAft>
              <a:buFontTx/>
              <a:buChar char="‒"/>
            </a:pPr>
            <a:r>
              <a:rPr lang="en-US" sz="2000" dirty="0" smtClean="0">
                <a:solidFill>
                  <a:srgbClr val="333333"/>
                </a:solidFill>
                <a:latin typeface="Helvetica Neue"/>
              </a:rPr>
              <a:t>Hone in on SW (commercial, open-source, etc.) for procurement</a:t>
            </a:r>
          </a:p>
          <a:p>
            <a:pPr marL="742950" lvl="1" indent="-285750">
              <a:spcBef>
                <a:spcPts val="600"/>
              </a:spcBef>
              <a:spcAft>
                <a:spcPts val="600"/>
              </a:spcAft>
              <a:buFontTx/>
              <a:buChar char="‒"/>
            </a:pPr>
            <a:r>
              <a:rPr lang="en-US" sz="2000" dirty="0" smtClean="0">
                <a:solidFill>
                  <a:srgbClr val="333333"/>
                </a:solidFill>
                <a:latin typeface="Helvetica Neue"/>
              </a:rPr>
              <a:t>Gather historical data from current manufacturing processes (Quality, Work instructions, etc.)</a:t>
            </a:r>
          </a:p>
          <a:p>
            <a:pPr marL="742950" lvl="1" indent="-285750">
              <a:spcBef>
                <a:spcPts val="600"/>
              </a:spcBef>
              <a:spcAft>
                <a:spcPts val="600"/>
              </a:spcAft>
              <a:buFontTx/>
              <a:buChar char="‒"/>
            </a:pPr>
            <a:r>
              <a:rPr lang="en-US" sz="2000" dirty="0" smtClean="0">
                <a:solidFill>
                  <a:srgbClr val="333333"/>
                </a:solidFill>
                <a:latin typeface="Helvetica Neue"/>
              </a:rPr>
              <a:t>Identify potential MSc, PhD projects and hone in on candidates</a:t>
            </a:r>
          </a:p>
          <a:p>
            <a:pPr marL="742950" lvl="1" indent="-285750">
              <a:spcBef>
                <a:spcPts val="600"/>
              </a:spcBef>
              <a:spcAft>
                <a:spcPts val="600"/>
              </a:spcAft>
              <a:buFontTx/>
              <a:buChar char="‒"/>
            </a:pPr>
            <a:r>
              <a:rPr lang="en-US" sz="2000" dirty="0" smtClean="0">
                <a:solidFill>
                  <a:srgbClr val="333333"/>
                </a:solidFill>
                <a:latin typeface="Helvetica Neue"/>
              </a:rPr>
              <a:t>Appoint Research Engineers and Research Fellows</a:t>
            </a:r>
          </a:p>
          <a:p>
            <a:pPr marL="742950" lvl="1" indent="-285750">
              <a:spcBef>
                <a:spcPts val="600"/>
              </a:spcBef>
              <a:spcAft>
                <a:spcPts val="600"/>
              </a:spcAft>
              <a:buFontTx/>
              <a:buChar char="‒"/>
            </a:pPr>
            <a:r>
              <a:rPr lang="en-US" sz="2000" dirty="0" smtClean="0">
                <a:solidFill>
                  <a:srgbClr val="333333"/>
                </a:solidFill>
                <a:latin typeface="Helvetica Neue"/>
              </a:rPr>
              <a:t>Execute project</a:t>
            </a:r>
          </a:p>
        </p:txBody>
      </p:sp>
      <p:sp>
        <p:nvSpPr>
          <p:cNvPr id="4" name="Title 1">
            <a:extLst>
              <a:ext uri="{FF2B5EF4-FFF2-40B4-BE49-F238E27FC236}">
                <a16:creationId xmlns:a16="http://schemas.microsoft.com/office/drawing/2014/main" id="{44DAE0E4-85DE-4F16-91DA-63A23F739F1F}"/>
              </a:ext>
            </a:extLst>
          </p:cNvPr>
          <p:cNvSpPr txBox="1">
            <a:spLocks/>
          </p:cNvSpPr>
          <p:nvPr/>
        </p:nvSpPr>
        <p:spPr>
          <a:xfrm>
            <a:off x="702733" y="542925"/>
            <a:ext cx="6469248" cy="67627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i-FI" sz="4000" cap="all" smtClean="0">
                <a:solidFill>
                  <a:srgbClr val="3A5C84"/>
                </a:solidFill>
                <a:latin typeface="Calibri" panose="020F0502020204030204"/>
                <a:ea typeface="+mn-ea"/>
                <a:cs typeface="+mn-cs"/>
              </a:rPr>
              <a:t>Next steps</a:t>
            </a:r>
            <a:endParaRPr lang="en-US" sz="4000" cap="all" dirty="0">
              <a:solidFill>
                <a:srgbClr val="3A5C84"/>
              </a:solidFill>
              <a:latin typeface="Calibri" panose="020F0502020204030204"/>
              <a:ea typeface="+mn-ea"/>
              <a:cs typeface="+mn-cs"/>
            </a:endParaRPr>
          </a:p>
        </p:txBody>
      </p:sp>
    </p:spTree>
    <p:extLst>
      <p:ext uri="{BB962C8B-B14F-4D97-AF65-F5344CB8AC3E}">
        <p14:creationId xmlns:p14="http://schemas.microsoft.com/office/powerpoint/2010/main" val="7061021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599" y="96268"/>
            <a:ext cx="11171583" cy="6463308"/>
          </a:xfrm>
          <a:prstGeom prst="rect">
            <a:avLst/>
          </a:prstGeom>
        </p:spPr>
        <p:txBody>
          <a:bodyPr wrap="square">
            <a:spAutoFit/>
          </a:bodyPr>
          <a:lstStyle/>
          <a:p>
            <a:r>
              <a:rPr lang="en-US" b="1" u="sng"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2022 KPI’s </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r>
              <a:rPr lang="en-US"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Progress relative to targets will be presented in next month’s update.</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r>
              <a:rPr lang="en-US"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marL="457200" marR="0" indent="-228600"/>
            <a:r>
              <a:rPr lang="en-US"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a:t>
            </a:r>
            <a:r>
              <a:rPr lang="en-US"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Number of Q1 papers published through ARIC’s team: </a:t>
            </a:r>
            <a:r>
              <a:rPr lang="en-US" dirty="0"/>
              <a:t>(</a:t>
            </a:r>
            <a:r>
              <a:rPr lang="en-US" b="1" dirty="0"/>
              <a:t>Target: 1 per USD $50k invested in research</a:t>
            </a:r>
            <a:r>
              <a:rPr lang="en-US" dirty="0"/>
              <a:t>) </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marL="457200" marR="0" indent="-228600"/>
            <a:r>
              <a:rPr lang="en-US"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5 papers have been published in 2022</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r>
              <a:rPr lang="en-US"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marL="457200" marR="0" indent="-228600"/>
            <a:r>
              <a:rPr lang="en-US"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a:t>
            </a:r>
            <a:r>
              <a:rPr lang="en-US"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Number of problems being solved for industry </a:t>
            </a:r>
            <a:r>
              <a:rPr lang="en-US" dirty="0"/>
              <a:t>(</a:t>
            </a:r>
            <a:r>
              <a:rPr lang="en-US" b="1" dirty="0"/>
              <a:t>Target: 3</a:t>
            </a:r>
            <a:r>
              <a:rPr lang="en-US" dirty="0"/>
              <a:t>) </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indent="457200"/>
            <a:r>
              <a:rPr lang="en-US" dirty="0">
                <a:latin typeface="Times New Roman" panose="02020603050405020304" pitchFamily="18" charset="0"/>
                <a:ea typeface="Calibri" panose="020F0502020204030204" pitchFamily="34" charset="0"/>
                <a:cs typeface="Times New Roman" panose="02020603050405020304" pitchFamily="18" charset="0"/>
              </a:rPr>
              <a:t>New activities on the vision-based manufacturing research activity</a:t>
            </a:r>
          </a:p>
          <a:p>
            <a:pPr marL="342900" marR="0" lvl="0" indent="-342900">
              <a:buFont typeface="Symbol" panose="05050102010706020507" pitchFamily="18" charset="2"/>
              <a:buChar char=""/>
              <a:tabLst>
                <a:tab pos="1371600" algn="l"/>
              </a:tabLst>
            </a:pPr>
            <a:r>
              <a:rPr lang="en-US"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Deburring End-Effector.</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1371600" algn="l"/>
              </a:tabLst>
            </a:pPr>
            <a:r>
              <a:rPr lang="en-US"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Painting End-Effector</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1371600" algn="l"/>
              </a:tabLst>
            </a:pPr>
            <a:r>
              <a:rPr lang="en-US"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Blind Riveting End-Effector</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1371600" algn="l"/>
              </a:tabLst>
            </a:pPr>
            <a:r>
              <a:rPr lang="en-US"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Counter-sink inspection</a:t>
            </a:r>
            <a:r>
              <a:rPr lang="en-US" dirty="0" smtClean="0">
                <a:solidFill>
                  <a:srgbClr val="FF0000"/>
                </a:solidFill>
                <a:latin typeface="Times New Roman" panose="02020603050405020304" pitchFamily="18" charset="0"/>
                <a:ea typeface="Calibri" panose="020F0502020204030204" pitchFamily="34" charset="0"/>
                <a:cs typeface="Times New Roman" panose="02020603050405020304" pitchFamily="18" charset="0"/>
              </a:rPr>
              <a:t>.</a:t>
            </a:r>
          </a:p>
          <a:p>
            <a:pPr marL="342900" marR="0" lvl="0" indent="-342900">
              <a:buFont typeface="Symbol" panose="05050102010706020507" pitchFamily="18" charset="2"/>
              <a:buChar char=""/>
              <a:tabLst>
                <a:tab pos="1371600" algn="l"/>
              </a:tabLst>
            </a:pP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marL="457200" marR="0" indent="-228600"/>
            <a:r>
              <a:rPr lang="en-US"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r>
              <a:rPr lang="en-US"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3      Number of UAE nationals deployed on ARIC’s </a:t>
            </a:r>
            <a:r>
              <a:rPr lang="en-US" dirty="0"/>
              <a:t>(</a:t>
            </a:r>
            <a:r>
              <a:rPr lang="en-US" b="1" dirty="0"/>
              <a:t>Target: 6 including undergraduate activities</a:t>
            </a:r>
            <a:r>
              <a:rPr lang="en-US" dirty="0"/>
              <a:t>)</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marL="457200" marR="0" indent="-228600"/>
            <a:r>
              <a:rPr lang="en-US"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8 students currently on SDP projects in 2022.</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marL="457200" marR="0" indent="-228600"/>
            <a:r>
              <a:rPr lang="en-US"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p>
          <a:p>
            <a:pPr marL="457200" marR="0" indent="-228600"/>
            <a:r>
              <a:rPr lang="en-US" b="1"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#4</a:t>
            </a:r>
            <a:r>
              <a:rPr lang="en-US"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Number of patents filed </a:t>
            </a:r>
            <a:r>
              <a:rPr lang="en-US" dirty="0"/>
              <a:t>(</a:t>
            </a:r>
            <a:r>
              <a:rPr lang="en-US" b="1" dirty="0"/>
              <a:t>Target: 4 disclosures filed</a:t>
            </a:r>
            <a:r>
              <a:rPr lang="en-US" dirty="0"/>
              <a:t>) </a:t>
            </a:r>
            <a:endParaRPr lang="en-US" dirty="0" smtClean="0">
              <a:latin typeface="Times New Roman" panose="02020603050405020304" pitchFamily="18" charset="0"/>
              <a:ea typeface="Calibri" panose="020F0502020204030204" pitchFamily="34" charset="0"/>
              <a:cs typeface="Times New Roman" panose="02020603050405020304" pitchFamily="18" charset="0"/>
            </a:endParaRPr>
          </a:p>
          <a:p>
            <a:pPr marL="457200" marR="0" indent="-228600"/>
            <a:r>
              <a:rPr lang="en-US" dirty="0" smtClean="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1 patent under review</a:t>
            </a:r>
            <a:endParaRPr lang="en-US" dirty="0" smtClean="0">
              <a:latin typeface="Times New Roman" panose="02020603050405020304" pitchFamily="18" charset="0"/>
              <a:ea typeface="Calibri" panose="020F0502020204030204" pitchFamily="34" charset="0"/>
              <a:cs typeface="Times New Roman" panose="02020603050405020304" pitchFamily="18" charset="0"/>
            </a:endParaRPr>
          </a:p>
          <a:p>
            <a:pPr marL="457200" marR="0" indent="-228600"/>
            <a:r>
              <a:rPr lang="en-US"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n-US" dirty="0" smtClean="0">
              <a:latin typeface="Times New Roman" panose="02020603050405020304" pitchFamily="18" charset="0"/>
              <a:ea typeface="Calibri" panose="020F0502020204030204" pitchFamily="34" charset="0"/>
              <a:cs typeface="Times New Roman" panose="02020603050405020304" pitchFamily="18" charset="0"/>
            </a:endParaRPr>
          </a:p>
          <a:p>
            <a:pPr marL="457200" marR="0" indent="-228600"/>
            <a:r>
              <a:rPr lang="en-US" b="1"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#5</a:t>
            </a:r>
            <a:r>
              <a:rPr lang="en-US"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Number of articles in local/international media highlighting ARIC’s role/achievements KU (</a:t>
            </a:r>
            <a:r>
              <a:rPr lang="en-US" b="1" dirty="0"/>
              <a:t>Target: </a:t>
            </a:r>
            <a:r>
              <a:rPr lang="en-US" b="1" dirty="0" smtClean="0"/>
              <a:t>3)</a:t>
            </a:r>
            <a:endParaRPr lang="en-US" dirty="0" smtClean="0">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pPr>
            <a:r>
              <a:rPr lang="en-US" dirty="0" smtClean="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Posted details of the turbine blade repair project on LinkedIn</a:t>
            </a:r>
            <a:r>
              <a:rPr lang="en-US" b="1" dirty="0" smtClean="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dirty="0" smtClean="0">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pPr>
            <a:r>
              <a:rPr lang="en-US" dirty="0" smtClean="0">
                <a:solidFill>
                  <a:srgbClr val="FF0000"/>
                </a:solidFill>
                <a:latin typeface="Times New Roman" panose="02020603050405020304" pitchFamily="18" charset="0"/>
                <a:ea typeface="Calibri" panose="020F0502020204030204" pitchFamily="34" charset="0"/>
                <a:cs typeface="Times New Roman" panose="02020603050405020304" pitchFamily="18" charset="0"/>
              </a:rPr>
              <a:t>Mariam Al-</a:t>
            </a:r>
            <a:r>
              <a:rPr lang="en-US" dirty="0" err="1" smtClean="0">
                <a:solidFill>
                  <a:srgbClr val="FF0000"/>
                </a:solidFill>
                <a:latin typeface="Times New Roman" panose="02020603050405020304" pitchFamily="18" charset="0"/>
                <a:ea typeface="Calibri" panose="020F0502020204030204" pitchFamily="34" charset="0"/>
                <a:cs typeface="Times New Roman" panose="02020603050405020304" pitchFamily="18" charset="0"/>
              </a:rPr>
              <a:t>Dhaheri’s</a:t>
            </a:r>
            <a:r>
              <a:rPr lang="en-US" dirty="0" smtClean="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research project will be covered in the Innovation Forward newsletter </a:t>
            </a:r>
            <a:endParaRPr lang="en-US" dirty="0" smtClean="0">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pPr>
            <a:r>
              <a:rPr lang="en-US" dirty="0" smtClean="0">
                <a:solidFill>
                  <a:srgbClr val="FF0000"/>
                </a:solidFill>
                <a:latin typeface="Times New Roman" panose="02020603050405020304" pitchFamily="18" charset="0"/>
                <a:ea typeface="Calibri" panose="020F0502020204030204" pitchFamily="34" charset="0"/>
                <a:cs typeface="Times New Roman" panose="02020603050405020304" pitchFamily="18" charset="0"/>
              </a:rPr>
              <a:t>The University is publicizing work on resin-infused thermoplastics.</a:t>
            </a:r>
            <a:endParaRPr lang="en-US"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149084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96365" y="2356438"/>
            <a:ext cx="7062190" cy="461665"/>
          </a:xfrm>
          <a:prstGeom prst="rect">
            <a:avLst/>
          </a:prstGeom>
        </p:spPr>
        <p:txBody>
          <a:bodyPr wrap="none">
            <a:spAutoFit/>
          </a:bodyPr>
          <a:lstStyle/>
          <a:p>
            <a:r>
              <a:rPr lang="en-US" sz="2400" dirty="0">
                <a:solidFill>
                  <a:srgbClr val="212121"/>
                </a:solidFill>
                <a:latin typeface="Times New Roman" panose="02020603050405020304" pitchFamily="18" charset="0"/>
                <a:cs typeface="Times New Roman" panose="02020603050405020304" pitchFamily="18" charset="0"/>
              </a:rPr>
              <a:t>9. ARIC post-November 2022 (funding, leadership etc.)</a:t>
            </a:r>
          </a:p>
        </p:txBody>
      </p:sp>
    </p:spTree>
    <p:extLst>
      <p:ext uri="{BB962C8B-B14F-4D97-AF65-F5344CB8AC3E}">
        <p14:creationId xmlns:p14="http://schemas.microsoft.com/office/powerpoint/2010/main" val="10438736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35825" y="3260035"/>
            <a:ext cx="2478157" cy="646331"/>
          </a:xfrm>
          <a:prstGeom prst="rect">
            <a:avLst/>
          </a:prstGeom>
          <a:noFill/>
        </p:spPr>
        <p:txBody>
          <a:bodyPr wrap="square" rtlCol="0">
            <a:spAutoFit/>
          </a:bodyPr>
          <a:lstStyle/>
          <a:p>
            <a:r>
              <a:rPr lang="en-US" sz="3600" dirty="0" smtClean="0">
                <a:latin typeface="Times New Roman" panose="02020603050405020304" pitchFamily="18" charset="0"/>
                <a:cs typeface="Times New Roman" panose="02020603050405020304" pitchFamily="18" charset="0"/>
              </a:rPr>
              <a:t>AOB</a:t>
            </a: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472511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17B784AB97ED741985A055ECAA5CE32" ma:contentTypeVersion="13" ma:contentTypeDescription="Create a new document." ma:contentTypeScope="" ma:versionID="eec7f7e8eba241721ee3fb6b14df5ea6">
  <xsd:schema xmlns:xsd="http://www.w3.org/2001/XMLSchema" xmlns:xs="http://www.w3.org/2001/XMLSchema" xmlns:p="http://schemas.microsoft.com/office/2006/metadata/properties" xmlns:ns2="3c0be606-832e-472c-9a49-d359cbeeb98e" xmlns:ns3="345a37fb-5727-4cee-bc03-55f658506df6" targetNamespace="http://schemas.microsoft.com/office/2006/metadata/properties" ma:root="true" ma:fieldsID="56ab72ed677ac693e32e45566c5634fc" ns2:_="" ns3:_="">
    <xsd:import namespace="3c0be606-832e-472c-9a49-d359cbeeb98e"/>
    <xsd:import namespace="345a37fb-5727-4cee-bc03-55f658506df6"/>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LengthInSeconds" minOccurs="0"/>
                <xsd:element ref="ns2:MediaServiceAutoKeyPoints" minOccurs="0"/>
                <xsd:element ref="ns2:MediaServiceKeyPoints" minOccurs="0"/>
                <xsd:element ref="ns2:MediaServiceDateTaken" minOccurs="0"/>
                <xsd:element ref="ns2:MediaServiceGenerationTime" minOccurs="0"/>
                <xsd:element ref="ns2:MediaServiceEventHashCode" minOccurs="0"/>
                <xsd:element ref="ns2:MediaServiceOCR" minOccurs="0"/>
                <xsd:element ref="ns2:MediaServiceLocatio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c0be606-832e-472c-9a49-d359cbeeb98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18"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45a37fb-5727-4cee-bc03-55f658506df6"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8B095EA-F627-4E5C-A000-A3FB609DC7D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c0be606-832e-472c-9a49-d359cbeeb98e"/>
    <ds:schemaRef ds:uri="345a37fb-5727-4cee-bc03-55f658506df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4E4CA92-98BC-4F2C-8D2F-40517C283A35}">
  <ds:schemaRefs>
    <ds:schemaRef ds:uri="http://schemas.microsoft.com/sharepoint/v3/contenttype/forms"/>
  </ds:schemaRefs>
</ds:datastoreItem>
</file>

<file path=customXml/itemProps3.xml><?xml version="1.0" encoding="utf-8"?>
<ds:datastoreItem xmlns:ds="http://schemas.openxmlformats.org/officeDocument/2006/customXml" ds:itemID="{B20A0DC1-436E-4EB9-90E1-DC1E501BE98B}">
  <ds:schemaRefs>
    <ds:schemaRef ds:uri="http://purl.org/dc/terms/"/>
    <ds:schemaRef ds:uri="http://www.w3.org/XML/1998/namespace"/>
    <ds:schemaRef ds:uri="3c0be606-832e-472c-9a49-d359cbeeb98e"/>
    <ds:schemaRef ds:uri="http://purl.org/dc/elements/1.1/"/>
    <ds:schemaRef ds:uri="http://schemas.microsoft.com/office/2006/metadata/properties"/>
    <ds:schemaRef ds:uri="345a37fb-5727-4cee-bc03-55f658506df6"/>
    <ds:schemaRef ds:uri="http://schemas.microsoft.com/office/2006/documentManagement/types"/>
    <ds:schemaRef ds:uri="http://schemas.microsoft.com/office/infopath/2007/PartnerControls"/>
    <ds:schemaRef ds:uri="http://schemas.openxmlformats.org/package/2006/metadata/core-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Research units strategy[4]</Template>
  <TotalTime>584</TotalTime>
  <Words>1962</Words>
  <Application>Microsoft Office PowerPoint</Application>
  <PresentationFormat>Widescreen</PresentationFormat>
  <Paragraphs>275</Paragraphs>
  <Slides>27</Slides>
  <Notes>4</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27</vt:i4>
      </vt:variant>
    </vt:vector>
  </HeadingPairs>
  <TitlesOfParts>
    <vt:vector size="39" baseType="lpstr">
      <vt:lpstr>Arial</vt:lpstr>
      <vt:lpstr>Calibri</vt:lpstr>
      <vt:lpstr>Calibri Light</vt:lpstr>
      <vt:lpstr>Candara</vt:lpstr>
      <vt:lpstr>Courier New</vt:lpstr>
      <vt:lpstr>Helvetica Neue</vt:lpstr>
      <vt:lpstr>Symbol</vt:lpstr>
      <vt:lpstr>Times New Roman</vt:lpstr>
      <vt:lpstr>Tw Cen MT</vt:lpstr>
      <vt:lpstr>Tw Cen MT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4. Additive Manufacturing Lab</vt:lpstr>
      <vt:lpstr>Lab Operational Summary: July 2022 </vt:lpstr>
      <vt:lpstr>EOS M400-4 Operation</vt:lpstr>
      <vt:lpstr>Exposure Set Parameters and EOS JOB in EOS Print</vt:lpstr>
      <vt:lpstr>EOS M400-4 Maintenance </vt:lpstr>
      <vt:lpstr>Post-Process (Kasto Bandsaw)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Abdulla Hasan Ayyad</dc:creator>
  <cp:lastModifiedBy>Wesley Cantwell</cp:lastModifiedBy>
  <cp:revision>20</cp:revision>
  <cp:lastPrinted>2019-03-27T05:53:19Z</cp:lastPrinted>
  <dcterms:created xsi:type="dcterms:W3CDTF">2022-05-23T14:59:59Z</dcterms:created>
  <dcterms:modified xsi:type="dcterms:W3CDTF">2022-11-23T10:00:57Z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0x010100717B784AB97ED741985A055ECAA5CE32</vt:lpwstr>
  </property>
</Properties>
</file>