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71" r:id="rId5"/>
    <p:sldId id="368" r:id="rId6"/>
    <p:sldId id="367" r:id="rId7"/>
    <p:sldId id="375" r:id="rId8"/>
    <p:sldId id="374" r:id="rId9"/>
    <p:sldId id="371" r:id="rId10"/>
    <p:sldId id="381" r:id="rId11"/>
    <p:sldId id="382" r:id="rId12"/>
    <p:sldId id="376" r:id="rId13"/>
    <p:sldId id="377" r:id="rId14"/>
    <p:sldId id="378" r:id="rId15"/>
    <p:sldId id="379" r:id="rId16"/>
    <p:sldId id="380" r:id="rId17"/>
    <p:sldId id="370" r:id="rId18"/>
    <p:sldId id="372" r:id="rId19"/>
    <p:sldId id="373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BA"/>
    <a:srgbClr val="5C5CF6"/>
    <a:srgbClr val="2929F3"/>
    <a:srgbClr val="FF014A"/>
    <a:srgbClr val="000000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3" autoAdjust="0"/>
  </p:normalViewPr>
  <p:slideViewPr>
    <p:cSldViewPr snapToGrid="0" showGuides="1">
      <p:cViewPr varScale="1">
        <p:scale>
          <a:sx n="69" d="100"/>
          <a:sy n="69" d="100"/>
        </p:scale>
        <p:origin x="5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jpe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0" Type="http://schemas.openxmlformats.org/officeDocument/2006/relationships/image" Target="../media/image31.jpeg"/><Relationship Id="rId4" Type="http://schemas.openxmlformats.org/officeDocument/2006/relationships/image" Target="../media/image23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584921"/>
            <a:ext cx="5038277" cy="1714500"/>
          </a:xfrm>
        </p:spPr>
        <p:txBody>
          <a:bodyPr>
            <a:normAutofit fontScale="90000"/>
          </a:bodyPr>
          <a:lstStyle/>
          <a:p>
            <a:pPr algn="l"/>
            <a:r>
              <a:rPr lang="fi-FI" dirty="0" smtClean="0"/>
              <a:t>Business Projects Updates</a:t>
            </a:r>
            <a:endParaRPr lang="en-US" sz="3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E176711E-071E-20EC-480F-EA2523B66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9" r="16069"/>
          <a:stretch/>
        </p:blipFill>
        <p:spPr>
          <a:xfrm>
            <a:off x="6328099" y="1154836"/>
            <a:ext cx="5152355" cy="50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Performance 2022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8511" y="2715484"/>
            <a:ext cx="2438400" cy="247534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66,229,000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000" b="1" dirty="0" smtClean="0"/>
              <a:t>Budget </a:t>
            </a:r>
            <a:endParaRPr lang="en-US" sz="2000" b="1" dirty="0"/>
          </a:p>
        </p:txBody>
      </p:sp>
      <p:sp>
        <p:nvSpPr>
          <p:cNvPr id="8" name="Oval 7"/>
          <p:cNvSpPr/>
          <p:nvPr/>
        </p:nvSpPr>
        <p:spPr>
          <a:xfrm>
            <a:off x="4633911" y="2715485"/>
            <a:ext cx="2438400" cy="247534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44,607,000</a:t>
            </a:r>
          </a:p>
          <a:p>
            <a:pPr algn="ctr"/>
            <a:endParaRPr lang="en-US" sz="2000" b="1" dirty="0" smtClean="0"/>
          </a:p>
          <a:p>
            <a:pPr algn="ctr"/>
            <a:r>
              <a:rPr lang="en-US" sz="2000" b="1" dirty="0" smtClean="0"/>
              <a:t>Actuals </a:t>
            </a:r>
            <a:r>
              <a:rPr lang="en-US" sz="2000" b="1" dirty="0"/>
              <a:t>Accrual Basis </a:t>
            </a:r>
          </a:p>
        </p:txBody>
      </p:sp>
      <p:sp>
        <p:nvSpPr>
          <p:cNvPr id="10" name="Oval 9"/>
          <p:cNvSpPr/>
          <p:nvPr/>
        </p:nvSpPr>
        <p:spPr>
          <a:xfrm>
            <a:off x="8709311" y="2715484"/>
            <a:ext cx="2438400" cy="247534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62,221,620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Actuals Cash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758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439" y="176147"/>
            <a:ext cx="9991725" cy="1114425"/>
          </a:xfrm>
        </p:spPr>
        <p:txBody>
          <a:bodyPr/>
          <a:lstStyle/>
          <a:p>
            <a:r>
              <a:rPr lang="en-US" dirty="0" smtClean="0"/>
              <a:t>Main Revenue Sectors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2365" y="1838030"/>
            <a:ext cx="2041526" cy="208742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Facilities </a:t>
            </a:r>
            <a:endParaRPr lang="en-US" sz="2000" b="1" dirty="0"/>
          </a:p>
        </p:txBody>
      </p:sp>
      <p:sp>
        <p:nvSpPr>
          <p:cNvPr id="8" name="Oval 7"/>
          <p:cNvSpPr/>
          <p:nvPr/>
        </p:nvSpPr>
        <p:spPr>
          <a:xfrm>
            <a:off x="4665373" y="1838029"/>
            <a:ext cx="2049463" cy="208742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Academic</a:t>
            </a:r>
            <a:endParaRPr lang="en-US" sz="2000" b="1" dirty="0"/>
          </a:p>
        </p:txBody>
      </p:sp>
      <p:sp>
        <p:nvSpPr>
          <p:cNvPr id="9" name="Oval 8"/>
          <p:cNvSpPr/>
          <p:nvPr/>
        </p:nvSpPr>
        <p:spPr>
          <a:xfrm>
            <a:off x="8915399" y="1752600"/>
            <a:ext cx="1974274" cy="202507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Investment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72365" y="4969165"/>
            <a:ext cx="3052908" cy="1423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b="1" dirty="0" smtClean="0"/>
              <a:t>- Spaces Rental</a:t>
            </a:r>
          </a:p>
          <a:p>
            <a:pPr algn="l"/>
            <a:r>
              <a:rPr lang="en-US" sz="1850" b="1" dirty="0" smtClean="0"/>
              <a:t>- Laboratories Services</a:t>
            </a:r>
          </a:p>
          <a:p>
            <a:pPr algn="l"/>
            <a:r>
              <a:rPr lang="en-US" sz="1850" b="1" dirty="0" smtClean="0"/>
              <a:t>- Dorms</a:t>
            </a:r>
          </a:p>
          <a:p>
            <a:pPr algn="l"/>
            <a:r>
              <a:rPr lang="en-US" sz="1850" b="1" dirty="0" smtClean="0"/>
              <a:t>- Transportation</a:t>
            </a:r>
          </a:p>
          <a:p>
            <a:pPr marL="342900" indent="-342900" algn="l">
              <a:buFontTx/>
              <a:buChar char="-"/>
            </a:pPr>
            <a:endParaRPr lang="en-US" sz="185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4428546" y="4969165"/>
            <a:ext cx="3740094" cy="1423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b="1" dirty="0" smtClean="0"/>
              <a:t>-   Scholarship (Tuition)</a:t>
            </a:r>
          </a:p>
          <a:p>
            <a:pPr algn="l"/>
            <a:r>
              <a:rPr lang="en-US" sz="1850" b="1" dirty="0" smtClean="0"/>
              <a:t>-   Sponsorship</a:t>
            </a:r>
          </a:p>
          <a:p>
            <a:pPr algn="l"/>
            <a:r>
              <a:rPr lang="en-US" sz="1850" b="1" dirty="0" smtClean="0"/>
              <a:t>-  Continuing Education Center </a:t>
            </a:r>
          </a:p>
          <a:p>
            <a:pPr algn="l"/>
            <a:endParaRPr lang="en-US" sz="1850" dirty="0" smtClean="0"/>
          </a:p>
          <a:p>
            <a:pPr marL="342900" indent="-342900" algn="l">
              <a:buFontTx/>
              <a:buChar char="-"/>
            </a:pPr>
            <a:endParaRPr lang="en-US" sz="185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915399" y="4890656"/>
            <a:ext cx="2149765" cy="1423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sz="1850" b="1" dirty="0" smtClean="0"/>
              <a:t>Techno-Park</a:t>
            </a:r>
          </a:p>
          <a:p>
            <a:pPr marL="342900" indent="-342900">
              <a:buFontTx/>
              <a:buChar char="-"/>
            </a:pPr>
            <a:r>
              <a:rPr lang="en-US" sz="1850" b="1" dirty="0" smtClean="0"/>
              <a:t> </a:t>
            </a:r>
            <a:r>
              <a:rPr lang="en-US" sz="1850" b="1" dirty="0"/>
              <a:t>Endowment</a:t>
            </a:r>
            <a:endParaRPr lang="en-US" sz="1850" b="1" dirty="0" smtClean="0"/>
          </a:p>
          <a:p>
            <a:pPr marL="342900" indent="-342900">
              <a:buFontTx/>
              <a:buChar char="-"/>
            </a:pPr>
            <a:r>
              <a:rPr lang="en-US" sz="1850" b="1" dirty="0" smtClean="0"/>
              <a:t> KUEC </a:t>
            </a:r>
            <a:endParaRPr lang="en-US" sz="1850" b="1" dirty="0"/>
          </a:p>
          <a:p>
            <a:pPr marL="342900" indent="-342900" algn="l">
              <a:buFontTx/>
              <a:buChar char="-"/>
            </a:pPr>
            <a:endParaRPr lang="en-US" sz="1850" dirty="0" smtClean="0"/>
          </a:p>
          <a:p>
            <a:pPr marL="342900" indent="-342900" algn="l">
              <a:buFontTx/>
              <a:buChar char="-"/>
            </a:pPr>
            <a:endParaRPr lang="en-US" sz="1850" dirty="0" smtClean="0"/>
          </a:p>
        </p:txBody>
      </p:sp>
    </p:spTree>
    <p:extLst>
      <p:ext uri="{BB962C8B-B14F-4D97-AF65-F5344CB8AC3E}">
        <p14:creationId xmlns:p14="http://schemas.microsoft.com/office/powerpoint/2010/main" val="801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Facilities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280794" y="1813388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Laboratories Services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80793" y="358648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Sports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16026" y="358648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Dorms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27182" y="358648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Transportation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16027" y="1833882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Venue Rental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27183" y="193271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Outlet Rental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280793" y="5359574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Outdoor Screen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35902" y="5359574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Student Card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37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441" y="0"/>
            <a:ext cx="12175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B81F-DC89-4ECC-9855-44189BF7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3223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KU Laboratories Commercialization Progress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9D6C8-02AE-4143-B63B-2AE95A36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B153-E3E2-4097-9E51-5A688B93C85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34D1858-B7C9-470D-933A-4EB177B138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2275" y="1878329"/>
          <a:ext cx="11283951" cy="428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993">
                  <a:extLst>
                    <a:ext uri="{9D8B030D-6E8A-4147-A177-3AD203B41FA5}">
                      <a16:colId xmlns:a16="http://schemas.microsoft.com/office/drawing/2014/main" val="2795772412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1018159891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2118014441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2007516460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785844871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1081446575"/>
                    </a:ext>
                  </a:extLst>
                </a:gridCol>
                <a:gridCol w="1611993">
                  <a:extLst>
                    <a:ext uri="{9D8B030D-6E8A-4147-A177-3AD203B41FA5}">
                      <a16:colId xmlns:a16="http://schemas.microsoft.com/office/drawing/2014/main" val="862784854"/>
                    </a:ext>
                  </a:extLst>
                </a:gridCol>
              </a:tblGrid>
              <a:tr h="274321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93994"/>
                  </a:ext>
                </a:extLst>
              </a:tr>
              <a:tr h="771525">
                <a:tc vMerge="1"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 data of all KU Labs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Pricing of KU Lab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 Access and Utilization Policies and 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Preparation of Labs Website or Portal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Trial 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Services through a “KU Services Company” which can conduct commercial business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764110"/>
                  </a:ext>
                </a:extLst>
              </a:tr>
              <a:tr h="963098"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837118"/>
                  </a:ext>
                </a:extLst>
              </a:tr>
              <a:tr h="57423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/ Timeline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Sep-Dec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260512"/>
                  </a:ext>
                </a:extLst>
              </a:tr>
              <a:tr h="135192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Process of collecting KU labs data from all academic and research departments.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微软雅黑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Classify</a:t>
                      </a:r>
                      <a:r>
                        <a:rPr lang="en-US" sz="100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 labs groups and assets against services that can be provided.</a:t>
                      </a:r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Benchmark the services and prices with similar labs in international universities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微软雅黑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Pricing of KU lab services into two groups:</a:t>
                      </a:r>
                    </a:p>
                    <a:p>
                      <a:pPr marL="22860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Usage KU labs only</a:t>
                      </a:r>
                    </a:p>
                    <a:p>
                      <a:pPr marL="22860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lang="en-US" sz="1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Using KU labs with</a:t>
                      </a:r>
                      <a:r>
                        <a:rPr lang="en-US" sz="100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 KU staff support</a:t>
                      </a:r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微软雅黑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Preparation of the lab usage policies and procedures, processes, workflow, and documentation</a:t>
                      </a:r>
                      <a:endParaRPr lang="en-US" sz="10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Listing all the ready laboratories on KU website with prices </a:t>
                      </a:r>
                    </a:p>
                    <a:p>
                      <a:pPr algn="ctr"/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Start trial</a:t>
                      </a: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 operation to make sure that usage policies and procedures well known by all parties.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baseline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微软雅黑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Make sure that lab usage do not interrupt KU academic process or research.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ea typeface="微软雅黑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Establish Khalifa University Services as an </a:t>
                      </a:r>
                      <a:r>
                        <a:rPr lang="en-US" sz="1000" b="0" u="sng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LLC Company</a:t>
                      </a: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ea typeface="微软雅黑"/>
                          <a:cs typeface="Arial" panose="020B0604020202020204" pitchFamily="34" charset="0"/>
                        </a:rPr>
                        <a:t> registered with DED (process to include governance framework, etc.) to handle the lab usage business.</a:t>
                      </a:r>
                    </a:p>
                    <a:p>
                      <a:pPr algn="ctr"/>
                      <a:endParaRPr lang="en-US" sz="1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982986"/>
                  </a:ext>
                </a:extLst>
              </a:tr>
            </a:tbl>
          </a:graphicData>
        </a:graphic>
      </p:graphicFrame>
      <p:pic>
        <p:nvPicPr>
          <p:cNvPr id="50" name="Picture 49">
            <a:extLst>
              <a:ext uri="{FF2B5EF4-FFF2-40B4-BE49-F238E27FC236}">
                <a16:creationId xmlns:a16="http://schemas.microsoft.com/office/drawing/2014/main" id="{B3700BA9-AC37-4E06-ABCA-602592453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85" y="3079937"/>
            <a:ext cx="685800" cy="711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EBE13FB-9C02-4F82-91B5-DD30AEF54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62" y="3128962"/>
            <a:ext cx="457200" cy="6000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333974-EE8D-40E3-B30B-2AC813015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875" y="3119308"/>
            <a:ext cx="647700" cy="70008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375E8DB-EB59-4C66-AFB6-4A253AD31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452" y="3173665"/>
            <a:ext cx="561975" cy="5461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88E6910-FAA8-44D9-9CA4-DB149B840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3542" y="3108577"/>
            <a:ext cx="676275" cy="67627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1FAA728-E79E-4581-9519-7C0FF84CE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5150" y="3203892"/>
            <a:ext cx="5715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7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01 August 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Advertising Screen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790477-A87D-66F8-433F-711920054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07" y="1342696"/>
            <a:ext cx="3540670" cy="479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1" y="1925344"/>
            <a:ext cx="7597524" cy="193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b="1" dirty="0" smtClean="0"/>
              <a:t>Project Name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Outdoor Advertisement Screens</a:t>
            </a:r>
          </a:p>
          <a:p>
            <a:r>
              <a:rPr lang="en-US" b="1" dirty="0" smtClean="0"/>
              <a:t>Project involved departments</a:t>
            </a:r>
            <a:r>
              <a:rPr lang="en-US" dirty="0" smtClean="0"/>
              <a:t>: </a:t>
            </a:r>
            <a:r>
              <a:rPr lang="en-US" dirty="0"/>
              <a:t>Communications </a:t>
            </a:r>
            <a:r>
              <a:rPr lang="en-US" dirty="0" smtClean="0"/>
              <a:t>/Project </a:t>
            </a:r>
            <a:r>
              <a:rPr lang="en-US" dirty="0"/>
              <a:t>time frame: 6 months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Project briefing</a:t>
            </a:r>
            <a:r>
              <a:rPr lang="en-US" dirty="0" smtClean="0"/>
              <a:t>: to install huge outdoor screen to help in community awareness and generate revenue. </a:t>
            </a:r>
            <a:endParaRPr lang="en-US" dirty="0"/>
          </a:p>
          <a:p>
            <a:pPr algn="l"/>
            <a:r>
              <a:rPr lang="en-US" b="1" dirty="0" smtClean="0"/>
              <a:t>Project Timeframe</a:t>
            </a:r>
            <a:r>
              <a:rPr lang="en-US" dirty="0" smtClean="0"/>
              <a:t>: Jun 2023</a:t>
            </a:r>
          </a:p>
          <a:p>
            <a:pPr algn="l"/>
            <a:r>
              <a:rPr lang="en-US" b="1" dirty="0" smtClean="0"/>
              <a:t>Pending points</a:t>
            </a:r>
            <a:r>
              <a:rPr lang="en-US" dirty="0" smtClean="0"/>
              <a:t>: to meet our management to approve the concept.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71120" y="-135263"/>
            <a:ext cx="8438147" cy="1579646"/>
          </a:xfrm>
        </p:spPr>
        <p:txBody>
          <a:bodyPr/>
          <a:lstStyle/>
          <a:p>
            <a:r>
              <a:rPr lang="en-US" dirty="0" smtClean="0"/>
              <a:t>Commercial activities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71120" y="1829028"/>
            <a:ext cx="8038772" cy="2285270"/>
          </a:xfrm>
          <a:prstGeom prst="round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3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"/>
            <a:ext cx="1216342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Academic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362074" y="2450697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Scholarship (Tuition)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16029" y="247119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Sponsorship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27184" y="247119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Continuing Education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49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" y="648128"/>
            <a:ext cx="12038648" cy="620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" y="695325"/>
            <a:ext cx="1185418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1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" y="636432"/>
            <a:ext cx="9733280" cy="60444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6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362074" y="2450697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Techno-Park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16029" y="247119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KUEC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527184" y="2471191"/>
            <a:ext cx="2586181" cy="12746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Endowment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1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14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13" y="203200"/>
            <a:ext cx="11638273" cy="652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D0B4-FA63-46D8-A089-4633FE18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F0B153-E3E2-4097-9E51-5A688B93C8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1C3AD1-587B-4466-BBAE-9771C8059437}"/>
              </a:ext>
            </a:extLst>
          </p:cNvPr>
          <p:cNvSpPr txBox="1"/>
          <p:nvPr/>
        </p:nvSpPr>
        <p:spPr>
          <a:xfrm>
            <a:off x="1834306" y="3159420"/>
            <a:ext cx="2189464" cy="414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Jinomix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CA0ED94-2362-4FA0-BDEF-58651B4ED5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7810" y="4579613"/>
            <a:ext cx="754592" cy="84771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33EBE6B-0AE9-4954-91CA-41D2F13C7D72}"/>
              </a:ext>
            </a:extLst>
          </p:cNvPr>
          <p:cNvSpPr txBox="1"/>
          <p:nvPr/>
        </p:nvSpPr>
        <p:spPr>
          <a:xfrm>
            <a:off x="1834306" y="4600505"/>
            <a:ext cx="2318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Manufacturing of RNA Extraction Reagents</a:t>
            </a:r>
          </a:p>
        </p:txBody>
      </p:sp>
      <p:pic>
        <p:nvPicPr>
          <p:cNvPr id="34" name="Picture 2" descr="Human Dna String Sketch Illustration Stock Illustration ...">
            <a:extLst>
              <a:ext uri="{FF2B5EF4-FFF2-40B4-BE49-F238E27FC236}">
                <a16:creationId xmlns:a16="http://schemas.microsoft.com/office/drawing/2014/main" id="{B00526C6-AF4D-469B-895D-1B4048CA6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6" r="14819"/>
          <a:stretch/>
        </p:blipFill>
        <p:spPr bwMode="auto">
          <a:xfrm>
            <a:off x="893984" y="3173218"/>
            <a:ext cx="602245" cy="52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785D1A4-C188-4058-AB3E-3811162352E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05463" y="3819551"/>
            <a:ext cx="379286" cy="49826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D114773-709B-41B1-9A3F-2A7E0DAC2670}"/>
              </a:ext>
            </a:extLst>
          </p:cNvPr>
          <p:cNvSpPr txBox="1"/>
          <p:nvPr/>
        </p:nvSpPr>
        <p:spPr>
          <a:xfrm>
            <a:off x="1834306" y="3902782"/>
            <a:ext cx="2167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Wastewater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A3F9039-83FB-4A31-B578-598FA116F85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34639" y="5692312"/>
            <a:ext cx="920934" cy="52924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3AE6F6D-C838-469D-8997-0FD4F24929C3}"/>
              </a:ext>
            </a:extLst>
          </p:cNvPr>
          <p:cNvSpPr txBox="1"/>
          <p:nvPr/>
        </p:nvSpPr>
        <p:spPr>
          <a:xfrm>
            <a:off x="1834306" y="5575227"/>
            <a:ext cx="263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Sports Equipment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Manufacturing Company</a:t>
            </a:r>
          </a:p>
        </p:txBody>
      </p:sp>
      <p:sp>
        <p:nvSpPr>
          <p:cNvPr id="51" name="Freeform 50"/>
          <p:cNvSpPr/>
          <p:nvPr/>
        </p:nvSpPr>
        <p:spPr>
          <a:xfrm>
            <a:off x="5360087" y="1150350"/>
            <a:ext cx="1906175" cy="871712"/>
          </a:xfrm>
          <a:custGeom>
            <a:avLst/>
            <a:gdLst>
              <a:gd name="connsiteX0" fmla="*/ 0 w 1906175"/>
              <a:gd name="connsiteY0" fmla="*/ 0 h 1073441"/>
              <a:gd name="connsiteX1" fmla="*/ 1906175 w 1906175"/>
              <a:gd name="connsiteY1" fmla="*/ 0 h 1073441"/>
              <a:gd name="connsiteX2" fmla="*/ 1906175 w 1906175"/>
              <a:gd name="connsiteY2" fmla="*/ 1073441 h 1073441"/>
              <a:gd name="connsiteX3" fmla="*/ 0 w 1906175"/>
              <a:gd name="connsiteY3" fmla="*/ 1073441 h 1073441"/>
              <a:gd name="connsiteX4" fmla="*/ 0 w 1906175"/>
              <a:gd name="connsiteY4" fmla="*/ 0 h 107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175" h="1073441">
                <a:moveTo>
                  <a:pt x="0" y="0"/>
                </a:moveTo>
                <a:lnTo>
                  <a:pt x="1906175" y="0"/>
                </a:lnTo>
                <a:lnTo>
                  <a:pt x="1906175" y="1073441"/>
                </a:lnTo>
                <a:lnTo>
                  <a:pt x="0" y="10734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cmpd="dbl">
            <a:solidFill>
              <a:schemeClr val="accent1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KU Ventures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50" y="492986"/>
            <a:ext cx="11757650" cy="7645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 Ventures support establishing zero/low risk technology based companies that offer technical products and services.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8473" y="3977529"/>
            <a:ext cx="1898800" cy="85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 54"/>
          <p:cNvSpPr/>
          <p:nvPr/>
        </p:nvSpPr>
        <p:spPr>
          <a:xfrm>
            <a:off x="960423" y="2327244"/>
            <a:ext cx="2720882" cy="632318"/>
          </a:xfrm>
          <a:custGeom>
            <a:avLst/>
            <a:gdLst>
              <a:gd name="connsiteX0" fmla="*/ 0 w 1906175"/>
              <a:gd name="connsiteY0" fmla="*/ 0 h 1073441"/>
              <a:gd name="connsiteX1" fmla="*/ 1906175 w 1906175"/>
              <a:gd name="connsiteY1" fmla="*/ 0 h 1073441"/>
              <a:gd name="connsiteX2" fmla="*/ 1906175 w 1906175"/>
              <a:gd name="connsiteY2" fmla="*/ 1073441 h 1073441"/>
              <a:gd name="connsiteX3" fmla="*/ 0 w 1906175"/>
              <a:gd name="connsiteY3" fmla="*/ 1073441 h 1073441"/>
              <a:gd name="connsiteX4" fmla="*/ 0 w 1906175"/>
              <a:gd name="connsiteY4" fmla="*/ 0 h 107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175" h="1073441">
                <a:moveTo>
                  <a:pt x="0" y="0"/>
                </a:moveTo>
                <a:lnTo>
                  <a:pt x="1906175" y="0"/>
                </a:lnTo>
                <a:lnTo>
                  <a:pt x="1906175" y="1073441"/>
                </a:lnTo>
                <a:lnTo>
                  <a:pt x="0" y="10734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cmpd="dbl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 Companies</a:t>
            </a:r>
          </a:p>
        </p:txBody>
      </p:sp>
      <p:sp>
        <p:nvSpPr>
          <p:cNvPr id="56" name="Freeform 55"/>
          <p:cNvSpPr/>
          <p:nvPr/>
        </p:nvSpPr>
        <p:spPr>
          <a:xfrm>
            <a:off x="4956221" y="2335000"/>
            <a:ext cx="2720882" cy="632318"/>
          </a:xfrm>
          <a:custGeom>
            <a:avLst/>
            <a:gdLst>
              <a:gd name="connsiteX0" fmla="*/ 0 w 1906175"/>
              <a:gd name="connsiteY0" fmla="*/ 0 h 1073441"/>
              <a:gd name="connsiteX1" fmla="*/ 1906175 w 1906175"/>
              <a:gd name="connsiteY1" fmla="*/ 0 h 1073441"/>
              <a:gd name="connsiteX2" fmla="*/ 1906175 w 1906175"/>
              <a:gd name="connsiteY2" fmla="*/ 1073441 h 1073441"/>
              <a:gd name="connsiteX3" fmla="*/ 0 w 1906175"/>
              <a:gd name="connsiteY3" fmla="*/ 1073441 h 1073441"/>
              <a:gd name="connsiteX4" fmla="*/ 0 w 1906175"/>
              <a:gd name="connsiteY4" fmla="*/ 0 h 107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175" h="1073441">
                <a:moveTo>
                  <a:pt x="0" y="0"/>
                </a:moveTo>
                <a:lnTo>
                  <a:pt x="1906175" y="0"/>
                </a:lnTo>
                <a:lnTo>
                  <a:pt x="1906175" y="1073441"/>
                </a:lnTo>
                <a:lnTo>
                  <a:pt x="0" y="10734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cmpd="dbl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Operational Assets</a:t>
            </a:r>
          </a:p>
        </p:txBody>
      </p:sp>
      <p:sp>
        <p:nvSpPr>
          <p:cNvPr id="57" name="Freeform 56"/>
          <p:cNvSpPr/>
          <p:nvPr/>
        </p:nvSpPr>
        <p:spPr>
          <a:xfrm>
            <a:off x="8729701" y="2335302"/>
            <a:ext cx="2720882" cy="632318"/>
          </a:xfrm>
          <a:custGeom>
            <a:avLst/>
            <a:gdLst>
              <a:gd name="connsiteX0" fmla="*/ 0 w 1906175"/>
              <a:gd name="connsiteY0" fmla="*/ 0 h 1073441"/>
              <a:gd name="connsiteX1" fmla="*/ 1906175 w 1906175"/>
              <a:gd name="connsiteY1" fmla="*/ 0 h 1073441"/>
              <a:gd name="connsiteX2" fmla="*/ 1906175 w 1906175"/>
              <a:gd name="connsiteY2" fmla="*/ 1073441 h 1073441"/>
              <a:gd name="connsiteX3" fmla="*/ 0 w 1906175"/>
              <a:gd name="connsiteY3" fmla="*/ 1073441 h 1073441"/>
              <a:gd name="connsiteX4" fmla="*/ 0 w 1906175"/>
              <a:gd name="connsiteY4" fmla="*/ 0 h 107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175" h="1073441">
                <a:moveTo>
                  <a:pt x="0" y="0"/>
                </a:moveTo>
                <a:lnTo>
                  <a:pt x="1906175" y="0"/>
                </a:lnTo>
                <a:lnTo>
                  <a:pt x="1906175" y="1073441"/>
                </a:lnTo>
                <a:lnTo>
                  <a:pt x="0" y="10734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cmpd="dbl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marL="0" marR="0" lvl="0" indent="0" algn="ctr" defTabSz="1066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Advisory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Services</a:t>
            </a:r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538" y="3185930"/>
            <a:ext cx="2442848" cy="82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Elbow Connector 59"/>
          <p:cNvCxnSpPr>
            <a:stCxn id="1031" idx="2"/>
            <a:endCxn id="1024" idx="0"/>
          </p:cNvCxnSpPr>
          <p:nvPr/>
        </p:nvCxnSpPr>
        <p:spPr>
          <a:xfrm rot="5400000">
            <a:off x="4161617" y="172198"/>
            <a:ext cx="314294" cy="399579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Rectangle 1023"/>
          <p:cNvSpPr/>
          <p:nvPr/>
        </p:nvSpPr>
        <p:spPr>
          <a:xfrm>
            <a:off x="960423" y="2327244"/>
            <a:ext cx="2720882" cy="632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956221" y="2335000"/>
            <a:ext cx="2720882" cy="632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723497" y="2335000"/>
            <a:ext cx="2720882" cy="632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365750" y="1158730"/>
            <a:ext cx="1901825" cy="854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34" name="Elbow Connector 1033"/>
          <p:cNvCxnSpPr>
            <a:stCxn id="1031" idx="2"/>
            <a:endCxn id="69" idx="0"/>
          </p:cNvCxnSpPr>
          <p:nvPr/>
        </p:nvCxnSpPr>
        <p:spPr>
          <a:xfrm rot="16200000" flipH="1">
            <a:off x="8039275" y="290337"/>
            <a:ext cx="322050" cy="376727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>
            <a:stCxn id="1031" idx="2"/>
            <a:endCxn id="68" idx="0"/>
          </p:cNvCxnSpPr>
          <p:nvPr/>
        </p:nvCxnSpPr>
        <p:spPr>
          <a:xfrm flipH="1">
            <a:off x="6316662" y="2012950"/>
            <a:ext cx="1" cy="32205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56221" y="4103656"/>
            <a:ext cx="2720882" cy="21450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Transfer </a:t>
            </a:r>
            <a:r>
              <a:rPr lang="en-US" sz="1200" dirty="0" err="1"/>
              <a:t>Ankabut</a:t>
            </a:r>
            <a:r>
              <a:rPr lang="en-US" sz="1200" dirty="0"/>
              <a:t> stake from KU to the Enterprise Management Company</a:t>
            </a:r>
          </a:p>
          <a:p>
            <a:pPr marL="171450" indent="-1714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Operate </a:t>
            </a:r>
            <a:r>
              <a:rPr lang="en-US" sz="1200" dirty="0" err="1"/>
              <a:t>Ankabut</a:t>
            </a:r>
            <a:r>
              <a:rPr lang="en-US" sz="1200" dirty="0"/>
              <a:t> as a standalone commercial entity with its own Finance, HR, Marketing, &amp; Procurement divisions, to unlock business opportunities (expanding beyond education sector and beyond UAE)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23497" y="4103656"/>
            <a:ext cx="2720882" cy="13540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Provide advisory and consultancy services to the community, using high profile and experience of university faculties and staff in different scientific and technical areas of need and impact to UAE.</a:t>
            </a:r>
          </a:p>
        </p:txBody>
      </p:sp>
    </p:spTree>
    <p:extLst>
      <p:ext uri="{BB962C8B-B14F-4D97-AF65-F5344CB8AC3E}">
        <p14:creationId xmlns:p14="http://schemas.microsoft.com/office/powerpoint/2010/main" val="148220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35E3-21E3-40A3-B6CD-4DBE6207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62" y="-295498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b="1" i="1" u="sng" dirty="0"/>
              <a:t>KUEC projects status</a:t>
            </a:r>
            <a:r>
              <a:rPr lang="en-US" sz="2400" dirty="0"/>
              <a:t>  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62D19-5BC0-41B4-9DE8-FBDC2534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32E9-AB98-44F9-AF3A-0233B1A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0B153-E3E2-4097-9E51-5A688B93C85A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7629" y="1690688"/>
            <a:ext cx="918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150454"/>
              </p:ext>
            </p:extLst>
          </p:nvPr>
        </p:nvGraphicFramePr>
        <p:xfrm>
          <a:off x="406402" y="1380919"/>
          <a:ext cx="11501117" cy="5362221"/>
        </p:xfrm>
        <a:graphic>
          <a:graphicData uri="http://schemas.openxmlformats.org/drawingml/2006/table">
            <a:tbl>
              <a:tblPr/>
              <a:tblGrid>
                <a:gridCol w="274318">
                  <a:extLst>
                    <a:ext uri="{9D8B030D-6E8A-4147-A177-3AD203B41FA5}">
                      <a16:colId xmlns:a16="http://schemas.microsoft.com/office/drawing/2014/main" val="768853671"/>
                    </a:ext>
                  </a:extLst>
                </a:gridCol>
                <a:gridCol w="684108">
                  <a:extLst>
                    <a:ext uri="{9D8B030D-6E8A-4147-A177-3AD203B41FA5}">
                      <a16:colId xmlns:a16="http://schemas.microsoft.com/office/drawing/2014/main" val="420585701"/>
                    </a:ext>
                  </a:extLst>
                </a:gridCol>
                <a:gridCol w="1793949">
                  <a:extLst>
                    <a:ext uri="{9D8B030D-6E8A-4147-A177-3AD203B41FA5}">
                      <a16:colId xmlns:a16="http://schemas.microsoft.com/office/drawing/2014/main" val="3952111504"/>
                    </a:ext>
                  </a:extLst>
                </a:gridCol>
                <a:gridCol w="1980778">
                  <a:extLst>
                    <a:ext uri="{9D8B030D-6E8A-4147-A177-3AD203B41FA5}">
                      <a16:colId xmlns:a16="http://schemas.microsoft.com/office/drawing/2014/main" val="2465182260"/>
                    </a:ext>
                  </a:extLst>
                </a:gridCol>
                <a:gridCol w="648781">
                  <a:extLst>
                    <a:ext uri="{9D8B030D-6E8A-4147-A177-3AD203B41FA5}">
                      <a16:colId xmlns:a16="http://schemas.microsoft.com/office/drawing/2014/main" val="3653961251"/>
                    </a:ext>
                  </a:extLst>
                </a:gridCol>
                <a:gridCol w="1150112">
                  <a:extLst>
                    <a:ext uri="{9D8B030D-6E8A-4147-A177-3AD203B41FA5}">
                      <a16:colId xmlns:a16="http://schemas.microsoft.com/office/drawing/2014/main" val="3659874593"/>
                    </a:ext>
                  </a:extLst>
                </a:gridCol>
                <a:gridCol w="1017407">
                  <a:extLst>
                    <a:ext uri="{9D8B030D-6E8A-4147-A177-3AD203B41FA5}">
                      <a16:colId xmlns:a16="http://schemas.microsoft.com/office/drawing/2014/main" val="941238259"/>
                    </a:ext>
                  </a:extLst>
                </a:gridCol>
                <a:gridCol w="884700">
                  <a:extLst>
                    <a:ext uri="{9D8B030D-6E8A-4147-A177-3AD203B41FA5}">
                      <a16:colId xmlns:a16="http://schemas.microsoft.com/office/drawing/2014/main" val="1237262666"/>
                    </a:ext>
                  </a:extLst>
                </a:gridCol>
                <a:gridCol w="781486">
                  <a:extLst>
                    <a:ext uri="{9D8B030D-6E8A-4147-A177-3AD203B41FA5}">
                      <a16:colId xmlns:a16="http://schemas.microsoft.com/office/drawing/2014/main" val="968314376"/>
                    </a:ext>
                  </a:extLst>
                </a:gridCol>
                <a:gridCol w="781486">
                  <a:extLst>
                    <a:ext uri="{9D8B030D-6E8A-4147-A177-3AD203B41FA5}">
                      <a16:colId xmlns:a16="http://schemas.microsoft.com/office/drawing/2014/main" val="190252049"/>
                    </a:ext>
                  </a:extLst>
                </a:gridCol>
                <a:gridCol w="825722">
                  <a:extLst>
                    <a:ext uri="{9D8B030D-6E8A-4147-A177-3AD203B41FA5}">
                      <a16:colId xmlns:a16="http://schemas.microsoft.com/office/drawing/2014/main" val="2668946184"/>
                    </a:ext>
                  </a:extLst>
                </a:gridCol>
                <a:gridCol w="678270">
                  <a:extLst>
                    <a:ext uri="{9D8B030D-6E8A-4147-A177-3AD203B41FA5}">
                      <a16:colId xmlns:a16="http://schemas.microsoft.com/office/drawing/2014/main" val="1088686382"/>
                    </a:ext>
                  </a:extLst>
                </a:gridCol>
              </a:tblGrid>
              <a:tr h="9448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Activity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Set Up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Assets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Production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Funding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Plan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Licensing Need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Licensing Priority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27607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Ankabut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services and solutions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Ankabut Assets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Self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Stge 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11420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NAVA Mask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quality mask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Outsourced Supplier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Outsourced Production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.5-1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Operate under Baynounah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240355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Intelligence Testing Center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analysis for detecting diseases, pollution and toxics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Lab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09968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Bike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Manufacturing bikes and sports equipment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Lab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2.5-3.5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301315"/>
                  </a:ext>
                </a:extLst>
              </a:tr>
              <a:tr h="6487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Baynounah</a:t>
                      </a:r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Extraction Reagents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Lab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Self Funding at Beginning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87792"/>
                  </a:ext>
                </a:extLst>
              </a:tr>
              <a:tr h="656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Jinomix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DNA &amp; RNA analysis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Lab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 (currently on hold)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399999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Services Company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Laboratories and spaces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rental &amp; Advisory Service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Facilities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for Operation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.5-1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7688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Rassed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Covid19 detection instrument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.5-1 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Operate under Baynounah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59700"/>
                  </a:ext>
                </a:extLst>
              </a:tr>
              <a:tr h="444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Startups and Innovation Investments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 Facilities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Self Funding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 Progress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372118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3E5FC06B-9AB5-4284-9AC3-276002C1DA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9354" y="2349341"/>
            <a:ext cx="336549" cy="289783"/>
          </a:xfrm>
          <a:prstGeom prst="rect">
            <a:avLst/>
          </a:prstGeom>
        </p:spPr>
      </p:pic>
      <p:pic>
        <p:nvPicPr>
          <p:cNvPr id="27" name="图片 4">
            <a:extLst>
              <a:ext uri="{FF2B5EF4-FFF2-40B4-BE49-F238E27FC236}">
                <a16:creationId xmlns:a16="http://schemas.microsoft.com/office/drawing/2014/main" id="{ABE965B5-1B58-4EBC-AC4A-C65871DA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97" y="2801906"/>
            <a:ext cx="397526" cy="3511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2B3364-B6E8-4226-993B-AA503B56BF4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78758" y="3298342"/>
            <a:ext cx="121205" cy="2496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72B09E-40A8-4226-ADF0-2D1DCC3A6A2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3972" y="3716801"/>
            <a:ext cx="331981" cy="2618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125041-C501-46E1-95BB-C80A6B9D63D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18945" y="4277668"/>
            <a:ext cx="162036" cy="26188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26" y="5465950"/>
            <a:ext cx="183805" cy="23800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037" y="5484082"/>
            <a:ext cx="241688" cy="22139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72" y="5880986"/>
            <a:ext cx="284126" cy="253050"/>
          </a:xfrm>
          <a:prstGeom prst="rect">
            <a:avLst/>
          </a:prstGeom>
        </p:spPr>
      </p:pic>
      <p:pic>
        <p:nvPicPr>
          <p:cNvPr id="34" name="Picture 33" descr="Human Dna String Sketch Illustration Stock Illustration ...">
            <a:extLst>
              <a:ext uri="{FF2B5EF4-FFF2-40B4-BE49-F238E27FC236}">
                <a16:creationId xmlns:a16="http://schemas.microsoft.com/office/drawing/2014/main" id="{2048D03A-D036-48FB-A804-2440AD929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6" r="14819"/>
          <a:stretch/>
        </p:blipFill>
        <p:spPr bwMode="auto">
          <a:xfrm>
            <a:off x="849244" y="4966391"/>
            <a:ext cx="301435" cy="26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C03CFCE-16D8-43F0-A7D3-7B627DF327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35" y="6311721"/>
            <a:ext cx="347618" cy="28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0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BCE9BEE86D22418B98990A0B028EF2" ma:contentTypeVersion="2" ma:contentTypeDescription="Create a new document." ma:contentTypeScope="" ma:versionID="c92d080676834feb7a8d6e7ac37a685f">
  <xsd:schema xmlns:xsd="http://www.w3.org/2001/XMLSchema" xmlns:xs="http://www.w3.org/2001/XMLSchema" xmlns:p="http://schemas.microsoft.com/office/2006/metadata/properties" xmlns:ns1="http://schemas.microsoft.com/sharepoint/v3" xmlns:ns2="557946a8-a765-46f2-8d44-445b86b509b9" targetNamespace="http://schemas.microsoft.com/office/2006/metadata/properties" ma:root="true" ma:fieldsID="773afa511ca0245c4474d0f23d29f83c" ns1:_="" ns2:_="">
    <xsd:import namespace="http://schemas.microsoft.com/sharepoint/v3"/>
    <xsd:import namespace="557946a8-a765-46f2-8d44-445b86b509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7946a8-a765-46f2-8d44-445b86b509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C14F958-FA86-4F8B-BDB0-691B121869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57946a8-a765-46f2-8d44-445b86b509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510135-11A2-4CE9-AC9A-F9B5F7E81A9F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sharepoint/v3"/>
    <ds:schemaRef ds:uri="http://purl.org/dc/dcmitype/"/>
    <ds:schemaRef ds:uri="557946a8-a765-46f2-8d44-445b86b509b9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22389</TotalTime>
  <Words>781</Words>
  <Application>Microsoft Office PowerPoint</Application>
  <PresentationFormat>Widescreen</PresentationFormat>
  <Paragraphs>258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微软雅黑</vt:lpstr>
      <vt:lpstr>Arial</vt:lpstr>
      <vt:lpstr>Calibri</vt:lpstr>
      <vt:lpstr>Times New Roman</vt:lpstr>
      <vt:lpstr>Wingdings</vt:lpstr>
      <vt:lpstr>KU Theme</vt:lpstr>
      <vt:lpstr>Business Projects Updates</vt:lpstr>
      <vt:lpstr>Business Performance 2022</vt:lpstr>
      <vt:lpstr>Main Revenue Sectors </vt:lpstr>
      <vt:lpstr>Facilities </vt:lpstr>
      <vt:lpstr>PowerPoint Presentation</vt:lpstr>
      <vt:lpstr>KU Laboratories Commercialization Progress Report</vt:lpstr>
      <vt:lpstr>Commercial activities</vt:lpstr>
      <vt:lpstr>PowerPoint Presentation</vt:lpstr>
      <vt:lpstr>Academic </vt:lpstr>
      <vt:lpstr>PowerPoint Presentation</vt:lpstr>
      <vt:lpstr>PowerPoint Presentation</vt:lpstr>
      <vt:lpstr>PowerPoint Presentation</vt:lpstr>
      <vt:lpstr>Investment </vt:lpstr>
      <vt:lpstr>PowerPoint Presentation</vt:lpstr>
      <vt:lpstr>PowerPoint Presentation</vt:lpstr>
      <vt:lpstr>KUEC projects status 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Hesham Salem</cp:lastModifiedBy>
  <cp:revision>310</cp:revision>
  <dcterms:created xsi:type="dcterms:W3CDTF">2018-04-29T10:48:36Z</dcterms:created>
  <dcterms:modified xsi:type="dcterms:W3CDTF">2023-05-19T06:37:58Z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0x010100E7BCE9BEE86D22418B98990A0B028EF2</vt:lpwstr>
  </property>
</Properties>
</file>