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5" r:id="rId5"/>
    <p:sldId id="269" r:id="rId6"/>
    <p:sldId id="271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6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5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6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7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8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1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6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5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8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1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9C20E-FFCC-4618-8776-B98ED7CD7A0B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49B2C-A173-4EF8-8084-DA8704BBC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2D21-C127-43B6-9C20-142ACC0F2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071"/>
            <a:ext cx="10515600" cy="31102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KBSI steering committee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28 October 2021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Dr Jeremie Pelletier</a:t>
            </a:r>
          </a:p>
        </p:txBody>
      </p:sp>
    </p:spTree>
    <p:extLst>
      <p:ext uri="{BB962C8B-B14F-4D97-AF65-F5344CB8AC3E}">
        <p14:creationId xmlns:p14="http://schemas.microsoft.com/office/powerpoint/2010/main" val="156197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1210234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Summary KUTC facility in KU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82686"/>
              </p:ext>
            </p:extLst>
          </p:nvPr>
        </p:nvGraphicFramePr>
        <p:xfrm>
          <a:off x="226771" y="1769065"/>
          <a:ext cx="1154960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4156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SAN &gt; 8 &gt; 8377A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Office room for 6 desks. </a:t>
                      </a:r>
                    </a:p>
                    <a:p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Identical to the one in Masdar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Office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SAN &gt; 8 &gt; 345D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Separate office requested.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Ongoing with FM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Laboratory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SAN &gt; 8 &gt; 8022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Laboratory including the equipment and the facilities submitted by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Choi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Available by December  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Research equipment support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Masdar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Expert for Electron Microscope or Clean room most Relevant from now to Q1 2022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Expert for XPS in Q1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Start by end of Q4 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627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04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6359" y="1319936"/>
          <a:ext cx="11719393" cy="4215016"/>
        </p:xfrm>
        <a:graphic>
          <a:graphicData uri="http://schemas.openxmlformats.org/drawingml/2006/table">
            <a:tbl>
              <a:tblPr firstRow="1" bandRow="1"/>
              <a:tblGrid>
                <a:gridCol w="1685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4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44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5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92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98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744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74472">
                  <a:extLst>
                    <a:ext uri="{9D8B030D-6E8A-4147-A177-3AD203B41FA5}">
                      <a16:colId xmlns:a16="http://schemas.microsoft.com/office/drawing/2014/main" val="4157508696"/>
                    </a:ext>
                  </a:extLst>
                </a:gridCol>
                <a:gridCol w="774472">
                  <a:extLst>
                    <a:ext uri="{9D8B030D-6E8A-4147-A177-3AD203B41FA5}">
                      <a16:colId xmlns:a16="http://schemas.microsoft.com/office/drawing/2014/main" val="3141447365"/>
                    </a:ext>
                  </a:extLst>
                </a:gridCol>
                <a:gridCol w="3763085">
                  <a:extLst>
                    <a:ext uri="{9D8B030D-6E8A-4147-A177-3AD203B41FA5}">
                      <a16:colId xmlns:a16="http://schemas.microsoft.com/office/drawing/2014/main" val="2560441190"/>
                    </a:ext>
                  </a:extLst>
                </a:gridCol>
              </a:tblGrid>
              <a:tr h="260016"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Q1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Q2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Q3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Q4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 for Q4 2021 –Q1 2022 for KBSI/KU collab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8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ACBC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 Operation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 reopening of 8019 &amp; 8021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 reopening of 8019 &amp; 8021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 reopening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Clean Room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interest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Electron Microscopy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interest</a:t>
                      </a:r>
                    </a:p>
                    <a:p>
                      <a:pPr algn="ctr" rtl="0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2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 Device Characterization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 Operation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</a:t>
                      </a:r>
                    </a:p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Reopening in 8020</a:t>
                      </a:r>
                      <a:endParaRPr lang="en-US" sz="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</a:t>
                      </a:r>
                    </a:p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Reopening in 8020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 reopening</a:t>
                      </a:r>
                    </a:p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Not available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Material Testing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kern="12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 Operation</a:t>
                      </a:r>
                      <a:endParaRPr lang="en-US" sz="800" b="0" i="0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Relocation of items in storage</a:t>
                      </a:r>
                    </a:p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/installation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Partial reopening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/installation 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 reopening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Not available</a:t>
                      </a:r>
                    </a:p>
                    <a:p>
                      <a:pPr algn="ctr" fontAlgn="b"/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Laboratory Workshop and prototyping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interest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8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Advanced Manufacturing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interest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8802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91978"/>
          </a:xfrm>
          <a:solidFill>
            <a:schemeClr val="bg1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/>
              <a:t>Relocation impact on CORE lab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62" y="5983494"/>
            <a:ext cx="4955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Retrofitting in </a:t>
            </a:r>
            <a:r>
              <a:rPr lang="en-US" dirty="0" err="1"/>
              <a:t>Arzanah</a:t>
            </a:r>
            <a:r>
              <a:rPr lang="en-US" dirty="0"/>
              <a:t> is still ongoing (Q4 2021)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78152-34DA-4726-8591-635411935F1F}"/>
              </a:ext>
            </a:extLst>
          </p:cNvPr>
          <p:cNvSpPr txBox="1"/>
          <p:nvPr/>
        </p:nvSpPr>
        <p:spPr>
          <a:xfrm>
            <a:off x="1901627" y="916269"/>
            <a:ext cx="3147803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2021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98EED-2230-48DB-A53A-88BFD308A787}"/>
              </a:ext>
            </a:extLst>
          </p:cNvPr>
          <p:cNvSpPr txBox="1"/>
          <p:nvPr/>
        </p:nvSpPr>
        <p:spPr>
          <a:xfrm>
            <a:off x="5049430" y="917301"/>
            <a:ext cx="3107343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2022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77FC1F-25E4-4B15-83AC-188270543610}"/>
              </a:ext>
            </a:extLst>
          </p:cNvPr>
          <p:cNvGraphicFramePr>
            <a:graphicFrameLocks noGrp="1"/>
          </p:cNvGraphicFramePr>
          <p:nvPr/>
        </p:nvGraphicFramePr>
        <p:xfrm>
          <a:off x="9997760" y="5907185"/>
          <a:ext cx="1937992" cy="729057"/>
        </p:xfrm>
        <a:graphic>
          <a:graphicData uri="http://schemas.openxmlformats.org/drawingml/2006/table">
            <a:tbl>
              <a:tblPr firstRow="1" bandRow="1"/>
              <a:tblGrid>
                <a:gridCol w="1565019">
                  <a:extLst>
                    <a:ext uri="{9D8B030D-6E8A-4147-A177-3AD203B41FA5}">
                      <a16:colId xmlns:a16="http://schemas.microsoft.com/office/drawing/2014/main" val="2011448062"/>
                    </a:ext>
                  </a:extLst>
                </a:gridCol>
                <a:gridCol w="372973">
                  <a:extLst>
                    <a:ext uri="{9D8B030D-6E8A-4147-A177-3AD203B41FA5}">
                      <a16:colId xmlns:a16="http://schemas.microsoft.com/office/drawing/2014/main" val="1767713489"/>
                    </a:ext>
                  </a:extLst>
                </a:gridCol>
              </a:tblGrid>
              <a:tr h="2670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No  operation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377070"/>
                  </a:ext>
                </a:extLst>
              </a:tr>
              <a:tr h="265343">
                <a:tc>
                  <a:txBody>
                    <a:bodyPr/>
                    <a:lstStyle/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Partial operation</a:t>
                      </a:r>
                      <a:r>
                        <a:rPr kumimoji="0" 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298136"/>
                  </a:ext>
                </a:extLst>
              </a:tr>
              <a:tr h="196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 Operation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485" marR="6485" marT="64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672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5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12964" y="1375713"/>
            <a:ext cx="11125202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Size : 100 m</a:t>
            </a:r>
            <a:r>
              <a:rPr lang="en-US" altLang="ko-KR" sz="14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area available for chemical synthesis under constant temperature and humidity 		   environment for about 3 researchers.</a:t>
            </a:r>
          </a:p>
          <a:p>
            <a:endParaRPr lang="ko-KR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Experiment : Chemical synthesis, Wet chemistry work, Bio &amp; Materials pre-treatment,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 Simple characterization, Post-treatment, Refining, Washing.</a:t>
            </a:r>
          </a:p>
          <a:p>
            <a:endParaRPr lang="ko-KR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Component : Table (Chair), Air conditioning system (Temperature, humidity control),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 Water supply (Water sink), Gas (</a:t>
            </a:r>
            <a:r>
              <a:rPr lang="en-US" altLang="ko-K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en-US" altLang="ko-KR" sz="14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supply.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500346"/>
              </p:ext>
            </p:extLst>
          </p:nvPr>
        </p:nvGraphicFramePr>
        <p:xfrm>
          <a:off x="594502" y="3835248"/>
          <a:ext cx="5607726" cy="27109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55628">
                  <a:extLst>
                    <a:ext uri="{9D8B030D-6E8A-4147-A177-3AD203B41FA5}">
                      <a16:colId xmlns:a16="http://schemas.microsoft.com/office/drawing/2014/main" val="3027820411"/>
                    </a:ext>
                  </a:extLst>
                </a:gridCol>
                <a:gridCol w="1262548">
                  <a:extLst>
                    <a:ext uri="{9D8B030D-6E8A-4147-A177-3AD203B41FA5}">
                      <a16:colId xmlns:a16="http://schemas.microsoft.com/office/drawing/2014/main" val="2015811407"/>
                    </a:ext>
                  </a:extLst>
                </a:gridCol>
                <a:gridCol w="3889550">
                  <a:extLst>
                    <a:ext uri="{9D8B030D-6E8A-4147-A177-3AD203B41FA5}">
                      <a16:colId xmlns:a16="http://schemas.microsoft.com/office/drawing/2014/main" val="3391266636"/>
                    </a:ext>
                  </a:extLst>
                </a:gridCol>
              </a:tblGrid>
              <a:tr h="22131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n-US" altLang="ko-KR" sz="105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</a:t>
                      </a:r>
                      <a:r>
                        <a:rPr lang="ko-KR" altLang="en-US" sz="105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equipment (To be purchased by KBSI)</a:t>
                      </a:r>
                      <a:endParaRPr lang="ko-KR" alt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9566"/>
                  </a:ext>
                </a:extLst>
              </a:tr>
              <a:tr h="221314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Equipment</a:t>
                      </a:r>
                      <a:endParaRPr lang="ko-KR" altLang="en-US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ko-KR" altLang="en-US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061690"/>
                  </a:ext>
                </a:extLst>
              </a:tr>
              <a:tr h="1567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①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Drying oven</a:t>
                      </a:r>
                      <a:endParaRPr kumimoji="0" lang="ko-KR" altLang="ko-KR" sz="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Material drying for pre-treatment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369236"/>
                  </a:ext>
                </a:extLst>
              </a:tr>
              <a:tr h="156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②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Tube furnace</a:t>
                      </a:r>
                      <a:endParaRPr kumimoji="0" lang="ko-KR" altLang="ko-KR" sz="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Chemical reaction, Calcination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104139"/>
                  </a:ext>
                </a:extLst>
              </a:tr>
              <a:tr h="1567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③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 conditioning system</a:t>
                      </a:r>
                      <a:endParaRPr kumimoji="0" lang="ko-KR" altLang="ko-KR" sz="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Maintain constant temperature and humidity of total lab space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466079"/>
                  </a:ext>
                </a:extLst>
              </a:tr>
              <a:tr h="1567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④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sink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Chemical washing, Refining during post-treatment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452013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⑤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Synthesis working table</a:t>
                      </a:r>
                      <a:endParaRPr kumimoji="0" lang="ko-KR" altLang="ko-KR" sz="7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Balances, Hot plate &amp; magnetic stirrer, Ultrasonic cleaner, pH meters, Vortex mixer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219110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⑥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Chemical </a:t>
                      </a: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cabinet</a:t>
                      </a:r>
                      <a:endParaRPr kumimoji="0" lang="ko-KR" altLang="ko-KR" sz="7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Temperature, Fume extraction, Filtering storage of acid(&amp;base), </a:t>
                      </a:r>
                    </a:p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Corrosive and flammable material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69399"/>
                  </a:ext>
                </a:extLst>
              </a:tr>
              <a:tr h="1567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⑦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Deionized water system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i="0" u="none" strike="noStrike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Chemical washing, Refining during post-treatment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6930"/>
                  </a:ext>
                </a:extLst>
              </a:tr>
              <a:tr h="1567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⑧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Centrifuge system</a:t>
                      </a:r>
                      <a:endParaRPr kumimoji="0" lang="ko-KR" altLang="ko-KR" sz="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564164"/>
                  </a:ext>
                </a:extLst>
              </a:tr>
              <a:tr h="1567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⑨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Fume hood</a:t>
                      </a:r>
                      <a:endParaRPr kumimoji="0" lang="ko-KR" altLang="ko-KR" sz="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Fume extraction during chemical synthesis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29955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⑩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Glove box</a:t>
                      </a:r>
                      <a:endParaRPr kumimoji="0" lang="ko-KR" altLang="ko-KR" sz="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Controlling chamber for constant temperature, humidity, vacuum</a:t>
                      </a:r>
                      <a:endParaRPr lang="ko-KR" alt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2105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F04DF95-357B-4176-8520-F901F115F3D1}"/>
              </a:ext>
            </a:extLst>
          </p:cNvPr>
          <p:cNvGrpSpPr/>
          <p:nvPr/>
        </p:nvGrpSpPr>
        <p:grpSpPr>
          <a:xfrm>
            <a:off x="6210350" y="3729862"/>
            <a:ext cx="5096761" cy="3032344"/>
            <a:chOff x="1756914" y="1015944"/>
            <a:chExt cx="8391642" cy="5479412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608D316A-8F9D-4B43-920D-DEB33FDAB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2350" y="1417794"/>
              <a:ext cx="7976206" cy="4940213"/>
            </a:xfrm>
            <a:prstGeom prst="rect">
              <a:avLst/>
            </a:prstGeom>
            <a:noFill/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scene3d>
              <a:camera prst="legacyObliqueFront"/>
              <a:lightRig rig="legacyFlat3" dir="b"/>
            </a:scene3d>
            <a:sp3d prstMaterial="legacyMatte">
              <a:bevelT w="13500" h="13500" prst="angle"/>
              <a:bevelB w="13500" h="13500" prst="angle"/>
              <a:extrusionClr>
                <a:srgbClr val="000000"/>
              </a:extrusionClr>
              <a:contourClr>
                <a:srgbClr val="00000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E1E0E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  <a:flatTx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ko-KR" altLang="ko-KR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AutoShape 3">
              <a:extLst>
                <a:ext uri="{FF2B5EF4-FFF2-40B4-BE49-F238E27FC236}">
                  <a16:creationId xmlns:a16="http://schemas.microsoft.com/office/drawing/2014/main" id="{C7675141-F90E-47D1-BF01-7916AE43F1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169662" y="1283947"/>
              <a:ext cx="7962764" cy="17026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9" name="AutoShape 4">
              <a:extLst>
                <a:ext uri="{FF2B5EF4-FFF2-40B4-BE49-F238E27FC236}">
                  <a16:creationId xmlns:a16="http://schemas.microsoft.com/office/drawing/2014/main" id="{17E4E14C-71CA-431E-81B9-2A5205C2BF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43202" y="1408833"/>
              <a:ext cx="17026" cy="49760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47488EF4-2361-43F5-83DC-29FB82E6B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575765" y="3712946"/>
              <a:ext cx="607829" cy="245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A4CF6B95-557D-4250-ABC3-27C25810A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3891" y="1015944"/>
              <a:ext cx="978914" cy="276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AC3D6EE5-246E-43C9-8267-A0D16F3D5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443" y="1469550"/>
              <a:ext cx="1993959" cy="990138"/>
            </a:xfrm>
            <a:prstGeom prst="rect">
              <a:avLst/>
            </a:prstGeom>
            <a:noFill/>
            <a:ln w="12700" algn="ctr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①</a:t>
              </a:r>
              <a:endParaRPr lang="en-US" altLang="ko-KR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Drying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oven</a:t>
              </a:r>
              <a:endParaRPr lang="ko-KR" altLang="ko-KR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AutoShape 8">
              <a:extLst>
                <a:ext uri="{FF2B5EF4-FFF2-40B4-BE49-F238E27FC236}">
                  <a16:creationId xmlns:a16="http://schemas.microsoft.com/office/drawing/2014/main" id="{07D416B4-16E0-42B6-B057-1D461CBAD3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40056" y="2525906"/>
              <a:ext cx="1923871" cy="4234"/>
            </a:xfrm>
            <a:prstGeom prst="straightConnector1">
              <a:avLst/>
            </a:prstGeom>
            <a:noFill/>
            <a:ln w="317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95912CE6-D432-4B9B-95EB-6EEA4A8F1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6568" y="2516373"/>
              <a:ext cx="931479" cy="381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1.5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AutoShape 10">
              <a:extLst>
                <a:ext uri="{FF2B5EF4-FFF2-40B4-BE49-F238E27FC236}">
                  <a16:creationId xmlns:a16="http://schemas.microsoft.com/office/drawing/2014/main" id="{BD74B281-9302-408A-AB0F-C92F035448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48243" y="1491278"/>
              <a:ext cx="0" cy="898494"/>
            </a:xfrm>
            <a:prstGeom prst="straightConnector1">
              <a:avLst/>
            </a:prstGeom>
            <a:noFill/>
            <a:ln w="317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704F3DD7-E107-4D5A-B8DB-B1770CE6B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773209" y="1780327"/>
              <a:ext cx="609540" cy="327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0.8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20AB87E8-D357-4080-933A-2D98F77D5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9095" y="1469550"/>
              <a:ext cx="1993959" cy="990138"/>
            </a:xfrm>
            <a:prstGeom prst="rect">
              <a:avLst/>
            </a:prstGeom>
            <a:noFill/>
            <a:ln w="12700" algn="ctr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②</a:t>
              </a:r>
              <a:endParaRPr lang="en-US" altLang="ko-KR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Tube 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furnace</a:t>
              </a:r>
              <a:endParaRPr lang="ko-KR" altLang="ko-KR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A9C5AF50-D954-4912-AF36-DA585CD6C2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4708" y="2525906"/>
              <a:ext cx="1923871" cy="4234"/>
            </a:xfrm>
            <a:prstGeom prst="straightConnector1">
              <a:avLst/>
            </a:prstGeom>
            <a:noFill/>
            <a:ln w="317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688B9C11-E0B9-49E8-BCD6-3B99A14A8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220" y="2516373"/>
              <a:ext cx="931479" cy="381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1.5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AutoShape 10">
              <a:extLst>
                <a:ext uri="{FF2B5EF4-FFF2-40B4-BE49-F238E27FC236}">
                  <a16:creationId xmlns:a16="http://schemas.microsoft.com/office/drawing/2014/main" id="{051EB89B-6CA5-459C-8A8F-722BF3CDBA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92895" y="1491278"/>
              <a:ext cx="0" cy="898494"/>
            </a:xfrm>
            <a:prstGeom prst="straightConnector1">
              <a:avLst/>
            </a:prstGeom>
            <a:noFill/>
            <a:ln w="317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71E2AC8B-9109-4968-BB81-D5C8ABD08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817861" y="1780327"/>
              <a:ext cx="609540" cy="327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0.8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D6A41D95-EB05-476C-8B9B-0524A4CA4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9359" y="1469550"/>
              <a:ext cx="1993959" cy="990138"/>
            </a:xfrm>
            <a:prstGeom prst="rect">
              <a:avLst/>
            </a:prstGeom>
            <a:noFill/>
            <a:ln w="12700" algn="ctr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③</a:t>
              </a:r>
              <a:endParaRPr lang="en-US" altLang="ko-KR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Air conditioning system</a:t>
              </a:r>
              <a:endParaRPr lang="ko-KR" altLang="ko-KR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AutoShape 8">
              <a:extLst>
                <a:ext uri="{FF2B5EF4-FFF2-40B4-BE49-F238E27FC236}">
                  <a16:creationId xmlns:a16="http://schemas.microsoft.com/office/drawing/2014/main" id="{6F09B1F2-7E85-475D-A78C-56DD77D595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44972" y="2525906"/>
              <a:ext cx="1923871" cy="4234"/>
            </a:xfrm>
            <a:prstGeom prst="straightConnector1">
              <a:avLst/>
            </a:prstGeom>
            <a:noFill/>
            <a:ln w="317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24" name="Text Box 9">
              <a:extLst>
                <a:ext uri="{FF2B5EF4-FFF2-40B4-BE49-F238E27FC236}">
                  <a16:creationId xmlns:a16="http://schemas.microsoft.com/office/drawing/2014/main" id="{55A362A4-E494-4A6A-89DA-BF14DCD99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1484" y="2516373"/>
              <a:ext cx="931479" cy="381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1.5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AutoShape 10">
              <a:extLst>
                <a:ext uri="{FF2B5EF4-FFF2-40B4-BE49-F238E27FC236}">
                  <a16:creationId xmlns:a16="http://schemas.microsoft.com/office/drawing/2014/main" id="{01C43BBE-CEC3-4147-88D6-9E953C7F5F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53159" y="1491278"/>
              <a:ext cx="0" cy="898494"/>
            </a:xfrm>
            <a:prstGeom prst="straightConnector1">
              <a:avLst/>
            </a:prstGeom>
            <a:noFill/>
            <a:ln w="3175" algn="ctr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26" name="Text Box 11">
              <a:extLst>
                <a:ext uri="{FF2B5EF4-FFF2-40B4-BE49-F238E27FC236}">
                  <a16:creationId xmlns:a16="http://schemas.microsoft.com/office/drawing/2014/main" id="{6DD9AA02-BE1A-4219-A58C-A4AF7DAF3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886751" y="1780327"/>
              <a:ext cx="609540" cy="327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96464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7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0.8 m</a:t>
              </a:r>
              <a:endParaRPr lang="ko-KR" altLang="ko-KR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7" name="그룹 14">
              <a:extLst>
                <a:ext uri="{FF2B5EF4-FFF2-40B4-BE49-F238E27FC236}">
                  <a16:creationId xmlns:a16="http://schemas.microsoft.com/office/drawing/2014/main" id="{6177BE10-4074-4CA9-BEBC-F662408DC438}"/>
                </a:ext>
              </a:extLst>
            </p:cNvPr>
            <p:cNvGrpSpPr/>
            <p:nvPr/>
          </p:nvGrpSpPr>
          <p:grpSpPr>
            <a:xfrm>
              <a:off x="8692983" y="1438374"/>
              <a:ext cx="1418095" cy="1796631"/>
              <a:chOff x="7168982" y="1439116"/>
              <a:chExt cx="1418095" cy="3073187"/>
            </a:xfrm>
          </p:grpSpPr>
          <p:sp>
            <p:nvSpPr>
              <p:cNvPr id="64" name="Rectangle 7">
                <a:extLst>
                  <a:ext uri="{FF2B5EF4-FFF2-40B4-BE49-F238E27FC236}">
                    <a16:creationId xmlns:a16="http://schemas.microsoft.com/office/drawing/2014/main" id="{AC3A56B1-96FD-4D4F-9D34-5C930A815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7137" y="1476746"/>
                <a:ext cx="969940" cy="3035557"/>
              </a:xfrm>
              <a:prstGeom prst="rect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⑨</a:t>
                </a: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Fume hood</a:t>
                </a:r>
                <a:endParaRPr lang="ko-KR" altLang="ko-KR" sz="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5" name="AutoShape 8">
                <a:extLst>
                  <a:ext uri="{FF2B5EF4-FFF2-40B4-BE49-F238E27FC236}">
                    <a16:creationId xmlns:a16="http://schemas.microsoft.com/office/drawing/2014/main" id="{277168BB-8C9D-4983-BC58-FDC9E395C1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028741" y="2946261"/>
                <a:ext cx="3019925" cy="5635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66" name="Text Box 9">
                <a:extLst>
                  <a:ext uri="{FF2B5EF4-FFF2-40B4-BE49-F238E27FC236}">
                    <a16:creationId xmlns:a16="http://schemas.microsoft.com/office/drawing/2014/main" id="{DD5DF642-6721-48BF-9B9D-92962383D0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6893928" y="2805960"/>
                <a:ext cx="931479" cy="381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7" name="AutoShape 10">
                <a:extLst>
                  <a:ext uri="{FF2B5EF4-FFF2-40B4-BE49-F238E27FC236}">
                    <a16:creationId xmlns:a16="http://schemas.microsoft.com/office/drawing/2014/main" id="{F678A1A3-EA88-47E2-B5E7-8283A66674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126201" y="3946416"/>
                <a:ext cx="0" cy="89849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68" name="Text Box 11">
                <a:extLst>
                  <a:ext uri="{FF2B5EF4-FFF2-40B4-BE49-F238E27FC236}">
                    <a16:creationId xmlns:a16="http://schemas.microsoft.com/office/drawing/2014/main" id="{DF654D4D-2388-4F13-877C-D4E3FEAE9A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8048" y="4016912"/>
                <a:ext cx="609540" cy="327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" name="그룹 34">
              <a:extLst>
                <a:ext uri="{FF2B5EF4-FFF2-40B4-BE49-F238E27FC236}">
                  <a16:creationId xmlns:a16="http://schemas.microsoft.com/office/drawing/2014/main" id="{E76D3ECC-9CA3-4672-A2B9-A2832E61C513}"/>
                </a:ext>
              </a:extLst>
            </p:cNvPr>
            <p:cNvGrpSpPr/>
            <p:nvPr/>
          </p:nvGrpSpPr>
          <p:grpSpPr>
            <a:xfrm>
              <a:off x="2211182" y="5067161"/>
              <a:ext cx="3514859" cy="1428195"/>
              <a:chOff x="687182" y="5067160"/>
              <a:chExt cx="2092511" cy="1428195"/>
            </a:xfrm>
          </p:grpSpPr>
          <p:sp>
            <p:nvSpPr>
              <p:cNvPr id="59" name="Rectangle 7">
                <a:extLst>
                  <a:ext uri="{FF2B5EF4-FFF2-40B4-BE49-F238E27FC236}">
                    <a16:creationId xmlns:a16="http://schemas.microsoft.com/office/drawing/2014/main" id="{157F14FE-B150-4496-BBC8-23DEBF8AE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182" y="5067160"/>
                <a:ext cx="1993959" cy="990138"/>
              </a:xfrm>
              <a:prstGeom prst="rect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⑥</a:t>
                </a: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Chemical 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cabinet</a:t>
                </a:r>
                <a:endParaRPr lang="ko-KR" altLang="ko-KR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0" name="AutoShape 8">
                <a:extLst>
                  <a:ext uri="{FF2B5EF4-FFF2-40B4-BE49-F238E27FC236}">
                    <a16:creationId xmlns:a16="http://schemas.microsoft.com/office/drawing/2014/main" id="{13E5F792-6FDC-489C-AC22-4BD3F42BFF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02795" y="6123516"/>
                <a:ext cx="1923871" cy="423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61" name="Text Box 9">
                <a:extLst>
                  <a:ext uri="{FF2B5EF4-FFF2-40B4-BE49-F238E27FC236}">
                    <a16:creationId xmlns:a16="http://schemas.microsoft.com/office/drawing/2014/main" id="{D71C24D8-F6E5-4C25-A0C0-E70988A44D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9307" y="6113983"/>
                <a:ext cx="931479" cy="381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2" name="AutoShape 10">
                <a:extLst>
                  <a:ext uri="{FF2B5EF4-FFF2-40B4-BE49-F238E27FC236}">
                    <a16:creationId xmlns:a16="http://schemas.microsoft.com/office/drawing/2014/main" id="{162AB131-EEDB-4146-B6C0-0C1A0B50F8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610983" y="5088888"/>
                <a:ext cx="0" cy="89849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63" name="Text Box 11">
                <a:extLst>
                  <a:ext uri="{FF2B5EF4-FFF2-40B4-BE49-F238E27FC236}">
                    <a16:creationId xmlns:a16="http://schemas.microsoft.com/office/drawing/2014/main" id="{0896DE8D-A571-49C6-91D6-51B4188A3C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311342" y="5377937"/>
                <a:ext cx="609540" cy="327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0.8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" name="그룹 68">
              <a:extLst>
                <a:ext uri="{FF2B5EF4-FFF2-40B4-BE49-F238E27FC236}">
                  <a16:creationId xmlns:a16="http://schemas.microsoft.com/office/drawing/2014/main" id="{42B0C2AB-B6E9-4910-B89D-7DE31DF21E84}"/>
                </a:ext>
              </a:extLst>
            </p:cNvPr>
            <p:cNvGrpSpPr/>
            <p:nvPr/>
          </p:nvGrpSpPr>
          <p:grpSpPr>
            <a:xfrm>
              <a:off x="7136130" y="5067161"/>
              <a:ext cx="1361901" cy="1428195"/>
              <a:chOff x="4792098" y="5067160"/>
              <a:chExt cx="1993959" cy="1428195"/>
            </a:xfrm>
          </p:grpSpPr>
          <p:sp>
            <p:nvSpPr>
              <p:cNvPr id="54" name="Rectangle 7">
                <a:extLst>
                  <a:ext uri="{FF2B5EF4-FFF2-40B4-BE49-F238E27FC236}">
                    <a16:creationId xmlns:a16="http://schemas.microsoft.com/office/drawing/2014/main" id="{D456D87A-D371-4CFF-B244-62FA2652B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2098" y="5067160"/>
                <a:ext cx="1993959" cy="990138"/>
              </a:xfrm>
              <a:prstGeom prst="rect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⑧</a:t>
                </a: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Centrifuge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system</a:t>
                </a:r>
                <a:endParaRPr lang="ko-KR" altLang="ko-KR" sz="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5" name="AutoShape 8">
                <a:extLst>
                  <a:ext uri="{FF2B5EF4-FFF2-40B4-BE49-F238E27FC236}">
                    <a16:creationId xmlns:a16="http://schemas.microsoft.com/office/drawing/2014/main" id="{BDF76B87-C758-47FE-A7E1-6281B4CCC6C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07711" y="6123516"/>
                <a:ext cx="1923871" cy="423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56" name="Text Box 9">
                <a:extLst>
                  <a:ext uri="{FF2B5EF4-FFF2-40B4-BE49-F238E27FC236}">
                    <a16:creationId xmlns:a16="http://schemas.microsoft.com/office/drawing/2014/main" id="{6A332C98-0CF6-4D6A-8AF0-6B23CC059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223" y="6113983"/>
                <a:ext cx="931479" cy="381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7" name="AutoShape 10">
                <a:extLst>
                  <a:ext uri="{FF2B5EF4-FFF2-40B4-BE49-F238E27FC236}">
                    <a16:creationId xmlns:a16="http://schemas.microsoft.com/office/drawing/2014/main" id="{78EFCCE1-013C-4DA0-A652-2AEA980AF3D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15899" y="5088888"/>
                <a:ext cx="0" cy="89849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58" name="Text Box 11">
                <a:extLst>
                  <a:ext uri="{FF2B5EF4-FFF2-40B4-BE49-F238E27FC236}">
                    <a16:creationId xmlns:a16="http://schemas.microsoft.com/office/drawing/2014/main" id="{7C142F15-D206-473B-994E-7459A7C88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6265089" y="5377937"/>
                <a:ext cx="609540" cy="327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0.8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0" name="그룹 20">
              <a:extLst>
                <a:ext uri="{FF2B5EF4-FFF2-40B4-BE49-F238E27FC236}">
                  <a16:creationId xmlns:a16="http://schemas.microsoft.com/office/drawing/2014/main" id="{8BA9D673-71E8-4995-8527-E8BBAD35A26C}"/>
                </a:ext>
              </a:extLst>
            </p:cNvPr>
            <p:cNvGrpSpPr/>
            <p:nvPr/>
          </p:nvGrpSpPr>
          <p:grpSpPr>
            <a:xfrm>
              <a:off x="4080668" y="3236944"/>
              <a:ext cx="4244744" cy="1428195"/>
              <a:chOff x="1618661" y="3271360"/>
              <a:chExt cx="1993959" cy="1428195"/>
            </a:xfrm>
          </p:grpSpPr>
          <p:sp>
            <p:nvSpPr>
              <p:cNvPr id="49" name="Rectangle 7">
                <a:extLst>
                  <a:ext uri="{FF2B5EF4-FFF2-40B4-BE49-F238E27FC236}">
                    <a16:creationId xmlns:a16="http://schemas.microsoft.com/office/drawing/2014/main" id="{BFD2226C-5149-47C4-8DA5-63DBDAF40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8661" y="3271360"/>
                <a:ext cx="1993959" cy="990138"/>
              </a:xfrm>
              <a:prstGeom prst="rect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⑤</a:t>
                </a: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Synthesis working table</a:t>
                </a:r>
                <a:endParaRPr lang="ko-KR" altLang="ko-KR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0" name="AutoShape 8">
                <a:extLst>
                  <a:ext uri="{FF2B5EF4-FFF2-40B4-BE49-F238E27FC236}">
                    <a16:creationId xmlns:a16="http://schemas.microsoft.com/office/drawing/2014/main" id="{16C65B53-F5FC-4D04-B5DE-CB7FEB4A7E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634274" y="4327716"/>
                <a:ext cx="1923871" cy="423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51" name="Text Box 9">
                <a:extLst>
                  <a:ext uri="{FF2B5EF4-FFF2-40B4-BE49-F238E27FC236}">
                    <a16:creationId xmlns:a16="http://schemas.microsoft.com/office/drawing/2014/main" id="{09E7929F-3057-4D5E-BC89-EA3EC70A4E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786" y="4318183"/>
                <a:ext cx="931479" cy="381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" name="AutoShape 10">
                <a:extLst>
                  <a:ext uri="{FF2B5EF4-FFF2-40B4-BE49-F238E27FC236}">
                    <a16:creationId xmlns:a16="http://schemas.microsoft.com/office/drawing/2014/main" id="{4FBDB910-0E0E-45B6-8DD9-46768EC015C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42462" y="3293088"/>
                <a:ext cx="0" cy="89849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53" name="Text Box 11">
                <a:extLst>
                  <a:ext uri="{FF2B5EF4-FFF2-40B4-BE49-F238E27FC236}">
                    <a16:creationId xmlns:a16="http://schemas.microsoft.com/office/drawing/2014/main" id="{584EFC30-F1A3-449E-B6B5-E61F925CB9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3198002" y="3682650"/>
                <a:ext cx="609540" cy="126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1.5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1" name="그룹 33">
              <a:extLst>
                <a:ext uri="{FF2B5EF4-FFF2-40B4-BE49-F238E27FC236}">
                  <a16:creationId xmlns:a16="http://schemas.microsoft.com/office/drawing/2014/main" id="{CB6E21B6-8956-48E0-ADBF-BBB3E0B088C2}"/>
                </a:ext>
              </a:extLst>
            </p:cNvPr>
            <p:cNvGrpSpPr/>
            <p:nvPr/>
          </p:nvGrpSpPr>
          <p:grpSpPr>
            <a:xfrm>
              <a:off x="3030870" y="3235005"/>
              <a:ext cx="1006658" cy="1428195"/>
              <a:chOff x="731529" y="3235004"/>
              <a:chExt cx="1993959" cy="1428195"/>
            </a:xfrm>
          </p:grpSpPr>
          <p:sp>
            <p:nvSpPr>
              <p:cNvPr id="44" name="Rectangle 7">
                <a:extLst>
                  <a:ext uri="{FF2B5EF4-FFF2-40B4-BE49-F238E27FC236}">
                    <a16:creationId xmlns:a16="http://schemas.microsoft.com/office/drawing/2014/main" id="{4218F7A2-2A0E-44E5-A984-2382E8167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529" y="3235004"/>
                <a:ext cx="1993959" cy="990138"/>
              </a:xfrm>
              <a:prstGeom prst="rect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④</a:t>
                </a: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Water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sink</a:t>
                </a:r>
              </a:p>
            </p:txBody>
          </p:sp>
          <p:cxnSp>
            <p:nvCxnSpPr>
              <p:cNvPr id="45" name="AutoShape 8">
                <a:extLst>
                  <a:ext uri="{FF2B5EF4-FFF2-40B4-BE49-F238E27FC236}">
                    <a16:creationId xmlns:a16="http://schemas.microsoft.com/office/drawing/2014/main" id="{C44F73B8-1FDF-4561-8A00-2E6F3C4AEBD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7142" y="4291360"/>
                <a:ext cx="1923871" cy="423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46" name="Text Box 9">
                <a:extLst>
                  <a:ext uri="{FF2B5EF4-FFF2-40B4-BE49-F238E27FC236}">
                    <a16:creationId xmlns:a16="http://schemas.microsoft.com/office/drawing/2014/main" id="{BFCE8A4B-D9D0-484D-97E0-CA5A3CF162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3654" y="4281827"/>
                <a:ext cx="931479" cy="381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7" name="AutoShape 10">
                <a:extLst>
                  <a:ext uri="{FF2B5EF4-FFF2-40B4-BE49-F238E27FC236}">
                    <a16:creationId xmlns:a16="http://schemas.microsoft.com/office/drawing/2014/main" id="{54A968B4-CC94-4F73-B3A4-D0456919D6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655330" y="3256732"/>
                <a:ext cx="0" cy="89849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1BDAD5BE-2DB0-4C28-8124-7A272D7807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096452" y="3545781"/>
                <a:ext cx="609540" cy="327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1.5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그룹 84">
              <a:extLst>
                <a:ext uri="{FF2B5EF4-FFF2-40B4-BE49-F238E27FC236}">
                  <a16:creationId xmlns:a16="http://schemas.microsoft.com/office/drawing/2014/main" id="{EE5986D4-DBDD-4079-821F-C75CED88EAED}"/>
                </a:ext>
              </a:extLst>
            </p:cNvPr>
            <p:cNvGrpSpPr/>
            <p:nvPr/>
          </p:nvGrpSpPr>
          <p:grpSpPr>
            <a:xfrm>
              <a:off x="5606271" y="5062148"/>
              <a:ext cx="1481641" cy="1428195"/>
              <a:chOff x="4792098" y="5067160"/>
              <a:chExt cx="1993959" cy="1428195"/>
            </a:xfrm>
          </p:grpSpPr>
          <p:sp>
            <p:nvSpPr>
              <p:cNvPr id="39" name="Rectangle 7">
                <a:extLst>
                  <a:ext uri="{FF2B5EF4-FFF2-40B4-BE49-F238E27FC236}">
                    <a16:creationId xmlns:a16="http://schemas.microsoft.com/office/drawing/2014/main" id="{99110D71-01C8-495B-BD41-240FB686B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2098" y="5067160"/>
                <a:ext cx="1993959" cy="990138"/>
              </a:xfrm>
              <a:prstGeom prst="rect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⑦</a:t>
                </a: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Deionized water system</a:t>
                </a:r>
                <a:endParaRPr lang="ko-KR" altLang="ko-KR" sz="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0" name="AutoShape 8">
                <a:extLst>
                  <a:ext uri="{FF2B5EF4-FFF2-40B4-BE49-F238E27FC236}">
                    <a16:creationId xmlns:a16="http://schemas.microsoft.com/office/drawing/2014/main" id="{8EF4E0DB-E9E5-49E7-A6D4-16471052257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07711" y="6123516"/>
                <a:ext cx="1923871" cy="423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41" name="Text Box 9">
                <a:extLst>
                  <a:ext uri="{FF2B5EF4-FFF2-40B4-BE49-F238E27FC236}">
                    <a16:creationId xmlns:a16="http://schemas.microsoft.com/office/drawing/2014/main" id="{D0D55351-9305-4170-B616-8042899343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223" y="6113983"/>
                <a:ext cx="931479" cy="381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2" name="AutoShape 10">
                <a:extLst>
                  <a:ext uri="{FF2B5EF4-FFF2-40B4-BE49-F238E27FC236}">
                    <a16:creationId xmlns:a16="http://schemas.microsoft.com/office/drawing/2014/main" id="{B8A05CAB-C87B-442C-AC5C-8FD8B16670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15899" y="5088888"/>
                <a:ext cx="0" cy="89849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43" name="Text Box 11">
                <a:extLst>
                  <a:ext uri="{FF2B5EF4-FFF2-40B4-BE49-F238E27FC236}">
                    <a16:creationId xmlns:a16="http://schemas.microsoft.com/office/drawing/2014/main" id="{844F3C61-C47B-4ED0-888D-CAF06FD8C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6294431" y="5377937"/>
                <a:ext cx="609540" cy="3271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0.8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3" name="그룹 1">
              <a:extLst>
                <a:ext uri="{FF2B5EF4-FFF2-40B4-BE49-F238E27FC236}">
                  <a16:creationId xmlns:a16="http://schemas.microsoft.com/office/drawing/2014/main" id="{AEDE455E-D889-4983-A821-AB67D86F0F25}"/>
                </a:ext>
              </a:extLst>
            </p:cNvPr>
            <p:cNvGrpSpPr/>
            <p:nvPr/>
          </p:nvGrpSpPr>
          <p:grpSpPr>
            <a:xfrm>
              <a:off x="8701607" y="3547081"/>
              <a:ext cx="1406467" cy="2557969"/>
              <a:chOff x="7168980" y="3596522"/>
              <a:chExt cx="1406467" cy="2114024"/>
            </a:xfrm>
          </p:grpSpPr>
          <p:cxnSp>
            <p:nvCxnSpPr>
              <p:cNvPr id="34" name="AutoShape 8">
                <a:extLst>
                  <a:ext uri="{FF2B5EF4-FFF2-40B4-BE49-F238E27FC236}">
                    <a16:creationId xmlns:a16="http://schemas.microsoft.com/office/drawing/2014/main" id="{6408F61A-5879-4D0C-BAAD-7927DFE6653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493395" y="4639012"/>
                <a:ext cx="2090615" cy="5635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35" name="Text Box 9">
                <a:extLst>
                  <a:ext uri="{FF2B5EF4-FFF2-40B4-BE49-F238E27FC236}">
                    <a16:creationId xmlns:a16="http://schemas.microsoft.com/office/drawing/2014/main" id="{D80A2275-3A22-432C-817C-80AD453AF8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7037247" y="4484073"/>
                <a:ext cx="644838" cy="381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2.5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" name="AutoShape 10">
                <a:extLst>
                  <a:ext uri="{FF2B5EF4-FFF2-40B4-BE49-F238E27FC236}">
                    <a16:creationId xmlns:a16="http://schemas.microsoft.com/office/drawing/2014/main" id="{F47AFFB7-9A33-4E55-8CC4-78E84D978F6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126200" y="5194015"/>
                <a:ext cx="0" cy="898494"/>
              </a:xfrm>
              <a:prstGeom prst="straightConnector1">
                <a:avLst/>
              </a:prstGeom>
              <a:noFill/>
              <a:ln w="3175" algn="ctr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37" name="Text Box 11">
                <a:extLst>
                  <a:ext uri="{FF2B5EF4-FFF2-40B4-BE49-F238E27FC236}">
                    <a16:creationId xmlns:a16="http://schemas.microsoft.com/office/drawing/2014/main" id="{57D9EA07-CA20-4916-BDF7-11CA0F4844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8047" y="5411706"/>
                <a:ext cx="609540" cy="2264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6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m</a:t>
                </a:r>
                <a:endParaRPr lang="ko-KR" altLang="ko-KR" sz="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angle 7">
                <a:extLst>
                  <a:ext uri="{FF2B5EF4-FFF2-40B4-BE49-F238E27FC236}">
                    <a16:creationId xmlns:a16="http://schemas.microsoft.com/office/drawing/2014/main" id="{831AEC7C-F990-45AC-B771-B234B9EA5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05507" y="3609110"/>
                <a:ext cx="969940" cy="2101436"/>
              </a:xfrm>
              <a:prstGeom prst="rect">
                <a:avLst/>
              </a:prstGeom>
              <a:noFill/>
              <a:ln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9646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ko-KR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⑩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Glove box</a:t>
                </a:r>
                <a:endParaRPr lang="ko-KR" altLang="ko-KR" sz="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9" name="Title 1">
            <a:extLst>
              <a:ext uri="{FF2B5EF4-FFF2-40B4-BE49-F238E27FC236}">
                <a16:creationId xmlns:a16="http://schemas.microsoft.com/office/drawing/2014/main" id="{7FF67DF0-C3E8-4046-9CD2-CA52BD4C6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1210234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KUTC lab (SAN &gt; 8 &gt; 8022)</a:t>
            </a:r>
            <a:endParaRPr lang="en-US" altLang="ko-KR" sz="4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234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>
            <a:extLst>
              <a:ext uri="{FF2B5EF4-FFF2-40B4-BE49-F238E27FC236}">
                <a16:creationId xmlns:a16="http://schemas.microsoft.com/office/drawing/2014/main" id="{7FF67DF0-C3E8-4046-9CD2-CA52BD4C6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1210234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KUTC Offices</a:t>
            </a:r>
            <a:endParaRPr lang="en-US" altLang="ko-KR" sz="4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148850-3B80-4A4C-87DB-0F0C230D5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40" y="2531990"/>
            <a:ext cx="5807566" cy="40856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12DC7F-A2D0-4313-8EE6-6DE561C4C727}"/>
              </a:ext>
            </a:extLst>
          </p:cNvPr>
          <p:cNvSpPr txBox="1"/>
          <p:nvPr/>
        </p:nvSpPr>
        <p:spPr>
          <a:xfrm>
            <a:off x="565687" y="1859700"/>
            <a:ext cx="3309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KUTC Team Offices </a:t>
            </a:r>
          </a:p>
          <a:p>
            <a:pPr algn="ctr"/>
            <a:r>
              <a:rPr lang="en-US" dirty="0"/>
              <a:t>6 workbenches in separate room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6E0A978-C729-4F15-8C22-AEE3349A58E7}"/>
              </a:ext>
            </a:extLst>
          </p:cNvPr>
          <p:cNvSpPr/>
          <p:nvPr/>
        </p:nvSpPr>
        <p:spPr>
          <a:xfrm>
            <a:off x="565687" y="2946277"/>
            <a:ext cx="1546698" cy="2101174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9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94D3FEBC4E1A47B575B8A63BCFF0F0" ma:contentTypeVersion="13" ma:contentTypeDescription="Create a new document." ma:contentTypeScope="" ma:versionID="58f1658b4ca7d04e1561e9c31e9e012e">
  <xsd:schema xmlns:xsd="http://www.w3.org/2001/XMLSchema" xmlns:xs="http://www.w3.org/2001/XMLSchema" xmlns:p="http://schemas.microsoft.com/office/2006/metadata/properties" xmlns:ns3="f90f5b90-fbfd-4ec9-a1ca-8353ad30fd8b" xmlns:ns4="f1eb5f31-c3ba-4d85-bccc-1faf6795c993" targetNamespace="http://schemas.microsoft.com/office/2006/metadata/properties" ma:root="true" ma:fieldsID="d97ebfcd3b05ac4600774965af062919" ns3:_="" ns4:_="">
    <xsd:import namespace="f90f5b90-fbfd-4ec9-a1ca-8353ad30fd8b"/>
    <xsd:import namespace="f1eb5f31-c3ba-4d85-bccc-1faf6795c99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f5b90-fbfd-4ec9-a1ca-8353ad30fd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eb5f31-c3ba-4d85-bccc-1faf6795c99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DB0610-6EAA-48D8-8BC1-CBC1731789C9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microsoft.com/office/2006/documentManagement/types"/>
    <ds:schemaRef ds:uri="f90f5b90-fbfd-4ec9-a1ca-8353ad30fd8b"/>
    <ds:schemaRef ds:uri="http://schemas.openxmlformats.org/package/2006/metadata/core-properties"/>
    <ds:schemaRef ds:uri="f1eb5f31-c3ba-4d85-bccc-1faf6795c99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364D7DA-9CA3-4FE4-BCDB-BF043A2AC6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F5BF10-B929-483F-89CD-724DE4B7C1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f5b90-fbfd-4ec9-a1ca-8353ad30fd8b"/>
    <ds:schemaRef ds:uri="f1eb5f31-c3ba-4d85-bccc-1faf6795c9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21129</TotalTime>
  <Words>528</Words>
  <Application>Microsoft Office PowerPoint</Application>
  <PresentationFormat>Widescreen</PresentationFormat>
  <Paragraphs>178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Office Theme</vt:lpstr>
      <vt:lpstr>PowerPoint Presentation</vt:lpstr>
      <vt:lpstr>Summary KUTC facility in KU</vt:lpstr>
      <vt:lpstr>Relocation impact on CORE lab Operation</vt:lpstr>
      <vt:lpstr>KUTC lab (SAN &gt; 8 &gt; 8022)</vt:lpstr>
      <vt:lpstr>KUTC Offices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KUTC</dc:title>
  <dc:creator>Jeremie Daniel Alexandre Pelletier</dc:creator>
  <cp:lastModifiedBy>Daniel Choi</cp:lastModifiedBy>
  <cp:revision>36</cp:revision>
  <dcterms:created xsi:type="dcterms:W3CDTF">2020-02-10T08:11:10Z</dcterms:created>
  <dcterms:modified xsi:type="dcterms:W3CDTF">2023-02-28T09:19:12Z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0x010100F494D3FEBC4E1A47B575B8A63BCFF0F0</vt:lpwstr>
  </property>
</Properties>
</file>