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6"/>
  </p:notesMasterIdLst>
  <p:handoutMasterIdLst>
    <p:handoutMasterId r:id="rId27"/>
  </p:handoutMasterIdLst>
  <p:sldIdLst>
    <p:sldId id="256" r:id="rId3"/>
    <p:sldId id="486" r:id="rId4"/>
    <p:sldId id="337" r:id="rId5"/>
    <p:sldId id="315" r:id="rId6"/>
    <p:sldId id="679" r:id="rId7"/>
    <p:sldId id="678" r:id="rId8"/>
    <p:sldId id="320" r:id="rId9"/>
    <p:sldId id="330" r:id="rId10"/>
    <p:sldId id="334" r:id="rId11"/>
    <p:sldId id="661" r:id="rId12"/>
    <p:sldId id="341" r:id="rId13"/>
    <p:sldId id="326" r:id="rId14"/>
    <p:sldId id="339" r:id="rId15"/>
    <p:sldId id="327" r:id="rId16"/>
    <p:sldId id="675" r:id="rId17"/>
    <p:sldId id="676" r:id="rId18"/>
    <p:sldId id="677" r:id="rId19"/>
    <p:sldId id="672" r:id="rId20"/>
    <p:sldId id="673" r:id="rId21"/>
    <p:sldId id="322" r:id="rId22"/>
    <p:sldId id="332" r:id="rId23"/>
    <p:sldId id="323" r:id="rId24"/>
    <p:sldId id="32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840"/>
    <p:restoredTop sz="86408"/>
  </p:normalViewPr>
  <p:slideViewPr>
    <p:cSldViewPr snapToGrid="0" snapToObjects="1">
      <p:cViewPr varScale="1">
        <p:scale>
          <a:sx n="101" d="100"/>
          <a:sy n="101" d="100"/>
        </p:scale>
        <p:origin x="200"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35" d="100"/>
          <a:sy n="135" d="100"/>
        </p:scale>
        <p:origin x="4768"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27BC06-288B-1F44-B2E1-971BDDAEEE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49FB6EA0-1B86-D642-BE9E-E9BC3DAA61B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8C1E7E-5C8F-9A48-A92B-F8B478CB1F16}" type="datetimeFigureOut">
              <a:rPr lang="en-GB" smtClean="0"/>
              <a:t>25/08/2022</a:t>
            </a:fld>
            <a:endParaRPr lang="en-GB"/>
          </a:p>
        </p:txBody>
      </p:sp>
      <p:sp>
        <p:nvSpPr>
          <p:cNvPr id="4" name="Footer Placeholder 3">
            <a:extLst>
              <a:ext uri="{FF2B5EF4-FFF2-40B4-BE49-F238E27FC236}">
                <a16:creationId xmlns:a16="http://schemas.microsoft.com/office/drawing/2014/main" id="{8E182BA8-A51D-B249-BD65-22C35B2FEE7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BF48D154-2CF1-E445-BB4B-F6E931E95CE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E7F28F-809B-B343-ACF4-720CFA518E2B}" type="slidenum">
              <a:rPr lang="en-GB" smtClean="0"/>
              <a:t>‹#›</a:t>
            </a:fld>
            <a:endParaRPr lang="en-GB"/>
          </a:p>
        </p:txBody>
      </p:sp>
    </p:spTree>
    <p:extLst>
      <p:ext uri="{BB962C8B-B14F-4D97-AF65-F5344CB8AC3E}">
        <p14:creationId xmlns:p14="http://schemas.microsoft.com/office/powerpoint/2010/main" val="37116168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60" name="PlaceHolder 1"/>
          <p:cNvSpPr>
            <a:spLocks noGrp="1" noRot="1" noChangeAspect="1"/>
          </p:cNvSpPr>
          <p:nvPr>
            <p:ph type="sldImg"/>
          </p:nvPr>
        </p:nvSpPr>
        <p:spPr>
          <a:xfrm>
            <a:off x="533520" y="764280"/>
            <a:ext cx="6704640" cy="3771360"/>
          </a:xfrm>
          <a:prstGeom prst="rect">
            <a:avLst/>
          </a:prstGeom>
        </p:spPr>
        <p:txBody>
          <a:bodyPr lIns="0" tIns="0" rIns="0" bIns="0" anchor="ctr">
            <a:noAutofit/>
          </a:bodyPr>
          <a:lstStyle/>
          <a:p>
            <a:pPr algn="ctr"/>
            <a:r>
              <a:rPr lang="en-US" sz="4400" b="0" strike="noStrike" spc="-1">
                <a:latin typeface="Arial"/>
              </a:rPr>
              <a:t>Click to move the slide</a:t>
            </a:r>
          </a:p>
        </p:txBody>
      </p:sp>
      <p:sp>
        <p:nvSpPr>
          <p:cNvPr id="461" name="PlaceHolder 2"/>
          <p:cNvSpPr>
            <a:spLocks noGrp="1"/>
          </p:cNvSpPr>
          <p:nvPr>
            <p:ph type="body"/>
          </p:nvPr>
        </p:nvSpPr>
        <p:spPr>
          <a:xfrm>
            <a:off x="777240" y="4777560"/>
            <a:ext cx="6217560" cy="4525920"/>
          </a:xfrm>
          <a:prstGeom prst="rect">
            <a:avLst/>
          </a:prstGeom>
        </p:spPr>
        <p:txBody>
          <a:bodyPr lIns="0" tIns="0" rIns="0" bIns="0">
            <a:noAutofit/>
          </a:bodyPr>
          <a:lstStyle/>
          <a:p>
            <a:r>
              <a:rPr lang="en-US" sz="2000" b="0" strike="noStrike" spc="-1">
                <a:latin typeface="Arial"/>
              </a:rPr>
              <a:t>Click to edit the notes format</a:t>
            </a:r>
          </a:p>
        </p:txBody>
      </p:sp>
      <p:sp>
        <p:nvSpPr>
          <p:cNvPr id="462" name="PlaceHolder 3"/>
          <p:cNvSpPr>
            <a:spLocks noGrp="1"/>
          </p:cNvSpPr>
          <p:nvPr>
            <p:ph type="hdr"/>
          </p:nvPr>
        </p:nvSpPr>
        <p:spPr>
          <a:xfrm>
            <a:off x="0" y="0"/>
            <a:ext cx="3372840" cy="502560"/>
          </a:xfrm>
          <a:prstGeom prst="rect">
            <a:avLst/>
          </a:prstGeom>
        </p:spPr>
        <p:txBody>
          <a:bodyPr lIns="0" tIns="0" rIns="0" bIns="0">
            <a:noAutofit/>
          </a:bodyPr>
          <a:lstStyle/>
          <a:p>
            <a:r>
              <a:rPr lang="en-US" sz="1400" b="0" strike="noStrike" spc="-1">
                <a:latin typeface="Times New Roman"/>
              </a:rPr>
              <a:t> </a:t>
            </a:r>
          </a:p>
        </p:txBody>
      </p:sp>
      <p:sp>
        <p:nvSpPr>
          <p:cNvPr id="463" name="PlaceHolder 4"/>
          <p:cNvSpPr>
            <a:spLocks noGrp="1"/>
          </p:cNvSpPr>
          <p:nvPr>
            <p:ph type="dt"/>
          </p:nvPr>
        </p:nvSpPr>
        <p:spPr>
          <a:xfrm>
            <a:off x="4399200" y="0"/>
            <a:ext cx="3372840" cy="502560"/>
          </a:xfrm>
          <a:prstGeom prst="rect">
            <a:avLst/>
          </a:prstGeom>
        </p:spPr>
        <p:txBody>
          <a:bodyPr lIns="0" tIns="0" rIns="0" bIns="0">
            <a:noAutofit/>
          </a:bodyPr>
          <a:lstStyle/>
          <a:p>
            <a:pPr algn="r"/>
            <a:r>
              <a:rPr lang="en-US" sz="1400" b="0" strike="noStrike" spc="-1">
                <a:latin typeface="Times New Roman"/>
              </a:rPr>
              <a:t> </a:t>
            </a:r>
          </a:p>
        </p:txBody>
      </p:sp>
      <p:sp>
        <p:nvSpPr>
          <p:cNvPr id="464" name="PlaceHolder 5"/>
          <p:cNvSpPr>
            <a:spLocks noGrp="1"/>
          </p:cNvSpPr>
          <p:nvPr>
            <p:ph type="ftr"/>
          </p:nvPr>
        </p:nvSpPr>
        <p:spPr>
          <a:xfrm>
            <a:off x="0" y="9555480"/>
            <a:ext cx="3372840" cy="502560"/>
          </a:xfrm>
          <a:prstGeom prst="rect">
            <a:avLst/>
          </a:prstGeom>
        </p:spPr>
        <p:txBody>
          <a:bodyPr lIns="0" tIns="0" rIns="0" bIns="0" anchor="b">
            <a:noAutofit/>
          </a:bodyPr>
          <a:lstStyle/>
          <a:p>
            <a:r>
              <a:rPr lang="en-US" sz="1400" b="0" strike="noStrike" spc="-1">
                <a:latin typeface="Times New Roman"/>
              </a:rPr>
              <a:t> </a:t>
            </a:r>
          </a:p>
        </p:txBody>
      </p:sp>
      <p:sp>
        <p:nvSpPr>
          <p:cNvPr id="465" name="PlaceHolder 6"/>
          <p:cNvSpPr>
            <a:spLocks noGrp="1"/>
          </p:cNvSpPr>
          <p:nvPr>
            <p:ph type="sldNum"/>
          </p:nvPr>
        </p:nvSpPr>
        <p:spPr>
          <a:xfrm>
            <a:off x="4399200" y="9555480"/>
            <a:ext cx="3372840" cy="502560"/>
          </a:xfrm>
          <a:prstGeom prst="rect">
            <a:avLst/>
          </a:prstGeom>
        </p:spPr>
        <p:txBody>
          <a:bodyPr lIns="0" tIns="0" rIns="0" bIns="0" anchor="b">
            <a:noAutofit/>
          </a:bodyPr>
          <a:lstStyle/>
          <a:p>
            <a:pPr algn="r"/>
            <a:fld id="{F7351207-CA38-459F-8CF8-67664B620D33}"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2558462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82880" indent="-182520">
              <a:buClr>
                <a:srgbClr val="0047BA"/>
              </a:buClr>
              <a:buSzPct val="65000"/>
              <a:buFont typeface="Wingdings" charset="2"/>
              <a:buChar char=""/>
            </a:pPr>
            <a:r>
              <a:rPr lang="en-US" sz="1200" spc="-1" dirty="0"/>
              <a:t>RC manages and supports the centralized research computing facilities at Khalifa University.</a:t>
            </a:r>
          </a:p>
          <a:p>
            <a:pPr marL="182880" indent="-182520">
              <a:buClr>
                <a:srgbClr val="0047BA"/>
              </a:buClr>
              <a:buSzPct val="65000"/>
              <a:buFont typeface="Wingdings" charset="2"/>
              <a:buChar char=""/>
            </a:pPr>
            <a:endParaRPr lang="en-US" sz="1200" spc="-1" dirty="0">
              <a:latin typeface="+mn-lt"/>
            </a:endParaRPr>
          </a:p>
          <a:p>
            <a:pPr marL="182880" indent="-182520">
              <a:buClr>
                <a:srgbClr val="0047BA"/>
              </a:buClr>
              <a:buSzPct val="65000"/>
              <a:buFont typeface="Wingdings" charset="2"/>
              <a:buChar char=""/>
            </a:pPr>
            <a:r>
              <a:rPr lang="en-US" sz="1200" spc="-1" dirty="0">
                <a:latin typeface="+mn-lt"/>
              </a:rPr>
              <a:t>RC works closely with colleagues in IT/ANKABUT to ensure delivery of consistent high-quality services that will address the research needs of KU faculty and broader research community.</a:t>
            </a:r>
          </a:p>
          <a:p>
            <a:pPr marL="182880" indent="-182520">
              <a:buClr>
                <a:srgbClr val="0047BA"/>
              </a:buClr>
              <a:buSzPct val="65000"/>
              <a:buFont typeface="Wingdings" charset="2"/>
              <a:buChar char=""/>
            </a:pPr>
            <a:endParaRPr lang="en-US" sz="1200" spc="-1" dirty="0">
              <a:latin typeface="+mn-lt"/>
            </a:endParaRPr>
          </a:p>
          <a:p>
            <a:pPr marL="182880" indent="-182520">
              <a:buClr>
                <a:srgbClr val="0047BA"/>
              </a:buClr>
              <a:buSzPct val="65000"/>
              <a:buFont typeface="Wingdings" charset="2"/>
              <a:buChar char=""/>
            </a:pPr>
            <a:r>
              <a:rPr lang="en-US" sz="1200" spc="-1" dirty="0"/>
              <a:t>The overall aim of RC is to provide leading edge, stable and reliable computing resources to Khalifa University researchers across all disciplines, and to provide the advice, training and skills necessary to make effective use of those resources.</a:t>
            </a:r>
          </a:p>
          <a:p>
            <a:endParaRPr lang="en-GB"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2</a:t>
            </a:fld>
            <a:endParaRPr lang="en-US" sz="1400" b="0" strike="noStrike" spc="-1">
              <a:latin typeface="Times New Roman"/>
            </a:endParaRPr>
          </a:p>
        </p:txBody>
      </p:sp>
    </p:spTree>
    <p:extLst>
      <p:ext uri="{BB962C8B-B14F-4D97-AF65-F5344CB8AC3E}">
        <p14:creationId xmlns:p14="http://schemas.microsoft.com/office/powerpoint/2010/main" val="1228494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3</a:t>
            </a:fld>
            <a:endParaRPr lang="en-US" sz="1400" b="0" strike="noStrike" spc="-1">
              <a:latin typeface="Times New Roman"/>
            </a:endParaRPr>
          </a:p>
        </p:txBody>
      </p:sp>
    </p:spTree>
    <p:extLst>
      <p:ext uri="{BB962C8B-B14F-4D97-AF65-F5344CB8AC3E}">
        <p14:creationId xmlns:p14="http://schemas.microsoft.com/office/powerpoint/2010/main" val="2874612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BD5F57D8-2956-440C-8FE5-2823967F9ED1}" type="slidenum">
              <a:rPr lang="en-US" smtClean="0"/>
              <a:t>4</a:t>
            </a:fld>
            <a:endParaRPr lang="en-US"/>
          </a:p>
        </p:txBody>
      </p:sp>
    </p:spTree>
    <p:extLst>
      <p:ext uri="{BB962C8B-B14F-4D97-AF65-F5344CB8AC3E}">
        <p14:creationId xmlns:p14="http://schemas.microsoft.com/office/powerpoint/2010/main" val="25204504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5</a:t>
            </a:fld>
            <a:endParaRPr lang="en-US" sz="1400" b="0" strike="noStrike" spc="-1">
              <a:latin typeface="Times New Roman"/>
            </a:endParaRPr>
          </a:p>
        </p:txBody>
      </p:sp>
    </p:spTree>
    <p:extLst>
      <p:ext uri="{BB962C8B-B14F-4D97-AF65-F5344CB8AC3E}">
        <p14:creationId xmlns:p14="http://schemas.microsoft.com/office/powerpoint/2010/main" val="4044934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6</a:t>
            </a:fld>
            <a:endParaRPr lang="en-US" sz="1400" b="0" strike="noStrike" spc="-1">
              <a:latin typeface="Times New Roman"/>
            </a:endParaRPr>
          </a:p>
        </p:txBody>
      </p:sp>
    </p:spTree>
    <p:extLst>
      <p:ext uri="{BB962C8B-B14F-4D97-AF65-F5344CB8AC3E}">
        <p14:creationId xmlns:p14="http://schemas.microsoft.com/office/powerpoint/2010/main" val="2206026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7</a:t>
            </a:fld>
            <a:endParaRPr lang="en-US" sz="1400" b="0" strike="noStrike" spc="-1">
              <a:latin typeface="Times New Roman"/>
            </a:endParaRPr>
          </a:p>
        </p:txBody>
      </p:sp>
    </p:spTree>
    <p:extLst>
      <p:ext uri="{BB962C8B-B14F-4D97-AF65-F5344CB8AC3E}">
        <p14:creationId xmlns:p14="http://schemas.microsoft.com/office/powerpoint/2010/main" val="2583609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8</a:t>
            </a:fld>
            <a:endParaRPr lang="en-US" sz="1400" b="0" strike="noStrike" spc="-1">
              <a:latin typeface="Times New Roman"/>
            </a:endParaRPr>
          </a:p>
        </p:txBody>
      </p:sp>
    </p:spTree>
    <p:extLst>
      <p:ext uri="{BB962C8B-B14F-4D97-AF65-F5344CB8AC3E}">
        <p14:creationId xmlns:p14="http://schemas.microsoft.com/office/powerpoint/2010/main" val="3561130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640080" lvl="1" indent="-182520">
              <a:spcBef>
                <a:spcPts val="1200"/>
              </a:spcBef>
              <a:buClr>
                <a:srgbClr val="0047BA"/>
              </a:buClr>
              <a:buSzPct val="65000"/>
              <a:buFont typeface="Wingdings" charset="2"/>
              <a:buChar char=""/>
            </a:pPr>
            <a:r>
              <a:rPr lang="en-US" sz="2000" dirty="0"/>
              <a:t>Assist researchers with grant proposals that have a strong High Performance Computing (HPC) component to describe the utilization of HPC resources in their research.</a:t>
            </a:r>
          </a:p>
          <a:p>
            <a:pPr marL="640080" lvl="1" indent="-182520">
              <a:spcBef>
                <a:spcPts val="1200"/>
              </a:spcBef>
              <a:buClr>
                <a:srgbClr val="0047BA"/>
              </a:buClr>
              <a:buSzPct val="65000"/>
              <a:buFont typeface="Wingdings" charset="2"/>
              <a:buChar char=""/>
            </a:pPr>
            <a:r>
              <a:rPr lang="en-US" sz="2000" dirty="0"/>
              <a:t>Ensure to resolve faculty and student computing resource issues and provide programming consultancy, code optimization and resolve users’ programming issues (based on Unix shell script, C/C++, </a:t>
            </a:r>
            <a:r>
              <a:rPr lang="en-US" sz="2000" dirty="0" err="1"/>
              <a:t>Matlab</a:t>
            </a:r>
            <a:r>
              <a:rPr lang="en-US" sz="2000" dirty="0"/>
              <a:t>, Python, MPI, OpenMP, CUDA).</a:t>
            </a:r>
            <a:endParaRPr lang="en-US" sz="2000" spc="-1" dirty="0"/>
          </a:p>
          <a:p>
            <a:pPr marL="640080" lvl="1" indent="-182520">
              <a:spcBef>
                <a:spcPts val="1200"/>
              </a:spcBef>
              <a:buClr>
                <a:srgbClr val="0047BA"/>
              </a:buClr>
              <a:buSzPct val="65000"/>
              <a:buFont typeface="Wingdings" charset="2"/>
              <a:buChar char=""/>
            </a:pPr>
            <a:r>
              <a:rPr lang="en-US" sz="2000" dirty="0"/>
              <a:t>Build, install, maintain and test scientific applications on the HPC clusters.</a:t>
            </a:r>
          </a:p>
          <a:p>
            <a:pPr marL="640080" lvl="1" indent="-182520">
              <a:spcBef>
                <a:spcPts val="1200"/>
              </a:spcBef>
              <a:buClr>
                <a:srgbClr val="0047BA"/>
              </a:buClr>
              <a:buSzPct val="65000"/>
              <a:buFont typeface="Wingdings" charset="2"/>
              <a:buChar char=""/>
            </a:pPr>
            <a:r>
              <a:rPr lang="en-US" sz="2000" spc="-1" dirty="0"/>
              <a:t> </a:t>
            </a:r>
            <a:r>
              <a:rPr lang="en-US" sz="2000" dirty="0"/>
              <a:t>Develop awareness and training programs for students, faculty, and staff with regards to research computing techniques, services, and facilities, including HPC application training to help users parallelize, debug and optimize their applications.</a:t>
            </a:r>
            <a:endParaRPr lang="en-US" sz="2000" spc="-1" dirty="0"/>
          </a:p>
          <a:p>
            <a:pPr marL="640080" lvl="1" indent="-182520">
              <a:spcBef>
                <a:spcPts val="1200"/>
              </a:spcBef>
              <a:buClr>
                <a:srgbClr val="0047BA"/>
              </a:buClr>
              <a:buSzPct val="65000"/>
              <a:buFont typeface="Wingdings" charset="2"/>
              <a:buChar char=""/>
            </a:pPr>
            <a:r>
              <a:rPr lang="en-US" sz="2000" spc="-1" dirty="0"/>
              <a:t> </a:t>
            </a:r>
            <a:r>
              <a:rPr lang="en-US" sz="2000" dirty="0"/>
              <a:t>Conduct regular trainings workshops and tutorials, as well as one-on-one training for new users</a:t>
            </a:r>
            <a:r>
              <a:rPr lang="en-US" sz="2000" spc="-1" dirty="0"/>
              <a:t>. </a:t>
            </a:r>
          </a:p>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9</a:t>
            </a:fld>
            <a:endParaRPr lang="en-US" sz="1400" b="0" strike="noStrike" spc="-1">
              <a:latin typeface="Times New Roman"/>
            </a:endParaRPr>
          </a:p>
        </p:txBody>
      </p:sp>
    </p:spTree>
    <p:extLst>
      <p:ext uri="{BB962C8B-B14F-4D97-AF65-F5344CB8AC3E}">
        <p14:creationId xmlns:p14="http://schemas.microsoft.com/office/powerpoint/2010/main" val="3372254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10</a:t>
            </a:fld>
            <a:endParaRPr lang="en-US" sz="1400" b="0" strike="noStrike" spc="-1">
              <a:latin typeface="Times New Roman"/>
            </a:endParaRPr>
          </a:p>
        </p:txBody>
      </p:sp>
    </p:spTree>
    <p:extLst>
      <p:ext uri="{BB962C8B-B14F-4D97-AF65-F5344CB8AC3E}">
        <p14:creationId xmlns:p14="http://schemas.microsoft.com/office/powerpoint/2010/main" val="855298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12</a:t>
            </a:fld>
            <a:endParaRPr lang="en-US" sz="1400" b="0" strike="noStrike" spc="-1">
              <a:latin typeface="Times New Roman"/>
            </a:endParaRPr>
          </a:p>
        </p:txBody>
      </p:sp>
    </p:spTree>
    <p:extLst>
      <p:ext uri="{BB962C8B-B14F-4D97-AF65-F5344CB8AC3E}">
        <p14:creationId xmlns:p14="http://schemas.microsoft.com/office/powerpoint/2010/main" val="9003043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13</a:t>
            </a:fld>
            <a:endParaRPr lang="en-US" sz="1400" b="0" strike="noStrike" spc="-1">
              <a:latin typeface="Times New Roman"/>
            </a:endParaRPr>
          </a:p>
        </p:txBody>
      </p:sp>
    </p:spTree>
    <p:extLst>
      <p:ext uri="{BB962C8B-B14F-4D97-AF65-F5344CB8AC3E}">
        <p14:creationId xmlns:p14="http://schemas.microsoft.com/office/powerpoint/2010/main" val="5401053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640080" lvl="1" indent="-182520">
              <a:spcBef>
                <a:spcPts val="1200"/>
              </a:spcBef>
              <a:buClr>
                <a:srgbClr val="0047BA"/>
              </a:buClr>
              <a:buSzPct val="65000"/>
              <a:buFont typeface="Wingdings" charset="2"/>
              <a:buChar char=""/>
            </a:pPr>
            <a:r>
              <a:rPr lang="en-US" sz="2000" spc="-1" dirty="0"/>
              <a:t>Its responsibilities include:</a:t>
            </a:r>
          </a:p>
          <a:p>
            <a:pPr marL="1097280" lvl="2" indent="-182520">
              <a:spcBef>
                <a:spcPts val="1200"/>
              </a:spcBef>
              <a:buClr>
                <a:srgbClr val="0047BA"/>
              </a:buClr>
              <a:buSzPct val="65000"/>
              <a:buFont typeface="Wingdings" charset="2"/>
              <a:buChar char=""/>
            </a:pPr>
            <a:r>
              <a:rPr lang="en-US" sz="2000" spc="-1" dirty="0"/>
              <a:t>Ensuring that research computing strategies and plans are aligned with KU’s research needs and objectives;</a:t>
            </a:r>
          </a:p>
          <a:p>
            <a:pPr marL="1097280" lvl="2" indent="-182520">
              <a:spcBef>
                <a:spcPts val="1200"/>
              </a:spcBef>
              <a:buClr>
                <a:srgbClr val="0047BA"/>
              </a:buClr>
              <a:buSzPct val="65000"/>
              <a:buFont typeface="Wingdings" charset="2"/>
              <a:buChar char=""/>
            </a:pPr>
            <a:r>
              <a:rPr lang="en-US" sz="2000" spc="-1" dirty="0"/>
              <a:t>Evaluating KU research computing needs, challenges and options;</a:t>
            </a:r>
          </a:p>
          <a:p>
            <a:pPr marL="1097280" lvl="2" indent="-182520">
              <a:spcBef>
                <a:spcPts val="1200"/>
              </a:spcBef>
              <a:buClr>
                <a:srgbClr val="0047BA"/>
              </a:buClr>
              <a:buSzPct val="65000"/>
              <a:buFont typeface="Wingdings" charset="2"/>
              <a:buChar char=""/>
            </a:pPr>
            <a:r>
              <a:rPr lang="en-US" sz="2000" spc="-1" dirty="0"/>
              <a:t>Advising and recommending direction and priorities for research computing investments, including research software, infrastructure and staff;</a:t>
            </a:r>
          </a:p>
          <a:p>
            <a:pPr marL="1097280" marR="0" lvl="2" indent="-182520" algn="l" defTabSz="914400" rtl="0" eaLnBrk="1" fontAlgn="auto" latinLnBrk="0" hangingPunct="1">
              <a:lnSpc>
                <a:spcPct val="100000"/>
              </a:lnSpc>
              <a:spcBef>
                <a:spcPts val="1200"/>
              </a:spcBef>
              <a:spcAft>
                <a:spcPts val="0"/>
              </a:spcAft>
              <a:buClr>
                <a:srgbClr val="0047BA"/>
              </a:buClr>
              <a:buSzPct val="65000"/>
              <a:buFont typeface="Wingdings" charset="2"/>
              <a:buChar char=""/>
              <a:tabLst/>
              <a:defRPr/>
            </a:pPr>
            <a:r>
              <a:rPr lang="en-US" sz="2000" spc="-1" dirty="0"/>
              <a:t>Members are nominated by the Deans and appointed by SVP of Research</a:t>
            </a:r>
            <a:r>
              <a:rPr lang="en-US" sz="2000" spc="-1" dirty="0">
                <a:latin typeface="+mn-lt"/>
              </a:rPr>
              <a:t>.</a:t>
            </a:r>
            <a:endParaRPr lang="en-US" sz="2000" spc="-1" dirty="0"/>
          </a:p>
          <a:p>
            <a:pPr marL="1097280" lvl="2" indent="-182520">
              <a:spcBef>
                <a:spcPts val="1200"/>
              </a:spcBef>
              <a:buClr>
                <a:srgbClr val="0047BA"/>
              </a:buClr>
              <a:buSzPct val="65000"/>
              <a:buFont typeface="Wingdings" charset="2"/>
              <a:buChar char=""/>
            </a:pPr>
            <a:endParaRPr lang="en-US" sz="2000" spc="-1" dirty="0"/>
          </a:p>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14</a:t>
            </a:fld>
            <a:endParaRPr lang="en-US" sz="1400" b="0" strike="noStrike" spc="-1">
              <a:latin typeface="Times New Roman"/>
            </a:endParaRPr>
          </a:p>
        </p:txBody>
      </p:sp>
    </p:spTree>
    <p:extLst>
      <p:ext uri="{BB962C8B-B14F-4D97-AF65-F5344CB8AC3E}">
        <p14:creationId xmlns:p14="http://schemas.microsoft.com/office/powerpoint/2010/main" val="2200411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15</a:t>
            </a:fld>
            <a:endParaRPr lang="en-US" sz="1400" b="0" strike="noStrike" spc="-1">
              <a:latin typeface="Times New Roman"/>
            </a:endParaRPr>
          </a:p>
        </p:txBody>
      </p:sp>
    </p:spTree>
    <p:extLst>
      <p:ext uri="{BB962C8B-B14F-4D97-AF65-F5344CB8AC3E}">
        <p14:creationId xmlns:p14="http://schemas.microsoft.com/office/powerpoint/2010/main" val="851484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16</a:t>
            </a:fld>
            <a:endParaRPr lang="en-US" sz="1400" b="0" strike="noStrike" spc="-1">
              <a:latin typeface="Times New Roman"/>
            </a:endParaRPr>
          </a:p>
        </p:txBody>
      </p:sp>
    </p:spTree>
    <p:extLst>
      <p:ext uri="{BB962C8B-B14F-4D97-AF65-F5344CB8AC3E}">
        <p14:creationId xmlns:p14="http://schemas.microsoft.com/office/powerpoint/2010/main" val="3176835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17</a:t>
            </a:fld>
            <a:endParaRPr lang="en-US" sz="1400" b="0" strike="noStrike" spc="-1">
              <a:latin typeface="Times New Roman"/>
            </a:endParaRPr>
          </a:p>
        </p:txBody>
      </p:sp>
    </p:spTree>
    <p:extLst>
      <p:ext uri="{BB962C8B-B14F-4D97-AF65-F5344CB8AC3E}">
        <p14:creationId xmlns:p14="http://schemas.microsoft.com/office/powerpoint/2010/main" val="39488898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18</a:t>
            </a:fld>
            <a:endParaRPr lang="en-US" sz="1400" b="0" strike="noStrike" spc="-1">
              <a:latin typeface="Times New Roman"/>
            </a:endParaRPr>
          </a:p>
        </p:txBody>
      </p:sp>
    </p:spTree>
    <p:extLst>
      <p:ext uri="{BB962C8B-B14F-4D97-AF65-F5344CB8AC3E}">
        <p14:creationId xmlns:p14="http://schemas.microsoft.com/office/powerpoint/2010/main" val="25066585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19</a:t>
            </a:fld>
            <a:endParaRPr lang="en-US" sz="1400" b="0" strike="noStrike" spc="-1">
              <a:latin typeface="Times New Roman"/>
            </a:endParaRPr>
          </a:p>
        </p:txBody>
      </p:sp>
    </p:spTree>
    <p:extLst>
      <p:ext uri="{BB962C8B-B14F-4D97-AF65-F5344CB8AC3E}">
        <p14:creationId xmlns:p14="http://schemas.microsoft.com/office/powerpoint/2010/main" val="42072617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20</a:t>
            </a:fld>
            <a:endParaRPr lang="en-US" sz="1400" b="0" strike="noStrike" spc="-1">
              <a:latin typeface="Times New Roman"/>
            </a:endParaRPr>
          </a:p>
        </p:txBody>
      </p:sp>
    </p:spTree>
    <p:extLst>
      <p:ext uri="{BB962C8B-B14F-4D97-AF65-F5344CB8AC3E}">
        <p14:creationId xmlns:p14="http://schemas.microsoft.com/office/powerpoint/2010/main" val="14362362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21</a:t>
            </a:fld>
            <a:endParaRPr lang="en-US" sz="1400" b="0" strike="noStrike" spc="-1">
              <a:latin typeface="Times New Roman"/>
            </a:endParaRPr>
          </a:p>
        </p:txBody>
      </p:sp>
    </p:spTree>
    <p:extLst>
      <p:ext uri="{BB962C8B-B14F-4D97-AF65-F5344CB8AC3E}">
        <p14:creationId xmlns:p14="http://schemas.microsoft.com/office/powerpoint/2010/main" val="30087576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22</a:t>
            </a:fld>
            <a:endParaRPr lang="en-US" sz="1400" b="0" strike="noStrike" spc="-1">
              <a:latin typeface="Times New Roman"/>
            </a:endParaRPr>
          </a:p>
        </p:txBody>
      </p:sp>
    </p:spTree>
    <p:extLst>
      <p:ext uri="{BB962C8B-B14F-4D97-AF65-F5344CB8AC3E}">
        <p14:creationId xmlns:p14="http://schemas.microsoft.com/office/powerpoint/2010/main" val="32467282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23</a:t>
            </a:fld>
            <a:endParaRPr lang="en-US" sz="1400" b="0" strike="noStrike" spc="-1">
              <a:latin typeface="Times New Roman"/>
            </a:endParaRPr>
          </a:p>
        </p:txBody>
      </p:sp>
    </p:spTree>
    <p:extLst>
      <p:ext uri="{BB962C8B-B14F-4D97-AF65-F5344CB8AC3E}">
        <p14:creationId xmlns:p14="http://schemas.microsoft.com/office/powerpoint/2010/main" val="2774871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6"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8"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4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2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1"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5"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7"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28"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3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3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33"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5"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36"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37"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38"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39"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40"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48"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50"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5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5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609480" y="273600"/>
            <a:ext cx="109724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5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5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5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6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6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3"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7"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69"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70"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7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7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7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75"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77"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78"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79"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80"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81"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82"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cSld name="Section Header">
    <p:bg>
      <p:bgPr>
        <a:solidFill>
          <a:srgbClr val="D0CFC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831850" y="3307447"/>
            <a:ext cx="10515600" cy="750205"/>
          </a:xfrm>
        </p:spPr>
        <p:txBody>
          <a:bodyPr anchor="b"/>
          <a:lstStyle>
            <a:lvl1pPr algn="ctr">
              <a:lnSpc>
                <a:spcPct val="100000"/>
              </a:lnSpc>
              <a:defRPr sz="4875"/>
            </a:lvl1pPr>
          </a:lstStyle>
          <a:p>
            <a:r>
              <a:rPr lang="en-US"/>
              <a:t>Click to edit Master title style</a:t>
            </a:r>
          </a:p>
        </p:txBody>
      </p:sp>
      <p:sp>
        <p:nvSpPr>
          <p:cNvPr id="3" name="Text Placeholder 2">
            <a:extLst>
              <a:ext uri="{FF2B5EF4-FFF2-40B4-BE49-F238E27FC236}">
                <a16:creationId xmlns:a16="http://schemas.microsoft.com/office/drawing/2014/main" id="{1104C747-8640-4D13-A1FA-90CDB4EBBF1D}"/>
              </a:ext>
            </a:extLst>
          </p:cNvPr>
          <p:cNvSpPr>
            <a:spLocks noGrp="1"/>
          </p:cNvSpPr>
          <p:nvPr>
            <p:ph type="body" idx="1"/>
          </p:nvPr>
        </p:nvSpPr>
        <p:spPr>
          <a:xfrm>
            <a:off x="831850" y="4000500"/>
            <a:ext cx="10515600" cy="1584326"/>
          </a:xfrm>
        </p:spPr>
        <p:txBody>
          <a:bodyPr>
            <a:normAutofit/>
          </a:bodyPr>
          <a:lstStyle>
            <a:lvl1pPr marL="0" indent="0" algn="ctr">
              <a:buNone/>
              <a:defRPr sz="3088">
                <a:solidFill>
                  <a:srgbClr val="000000"/>
                </a:solidFill>
              </a:defRPr>
            </a:lvl1pPr>
            <a:lvl2pPr marL="371475" indent="0">
              <a:buNone/>
              <a:defRPr sz="1625">
                <a:solidFill>
                  <a:schemeClr val="tx1">
                    <a:tint val="75000"/>
                  </a:schemeClr>
                </a:solidFill>
              </a:defRPr>
            </a:lvl2pPr>
            <a:lvl3pPr marL="742950" indent="0">
              <a:buNone/>
              <a:defRPr sz="1463">
                <a:solidFill>
                  <a:schemeClr val="tx1">
                    <a:tint val="75000"/>
                  </a:schemeClr>
                </a:solidFill>
              </a:defRPr>
            </a:lvl3pPr>
            <a:lvl4pPr marL="1114425" indent="0">
              <a:buNone/>
              <a:defRPr sz="1300">
                <a:solidFill>
                  <a:schemeClr val="tx1">
                    <a:tint val="75000"/>
                  </a:schemeClr>
                </a:solidFill>
              </a:defRPr>
            </a:lvl4pPr>
            <a:lvl5pPr marL="1485900" indent="0">
              <a:buNone/>
              <a:defRPr sz="1300">
                <a:solidFill>
                  <a:schemeClr val="tx1">
                    <a:tint val="75000"/>
                  </a:schemeClr>
                </a:solidFill>
              </a:defRPr>
            </a:lvl5pPr>
            <a:lvl6pPr marL="1857375" indent="0">
              <a:buNone/>
              <a:defRPr sz="1300">
                <a:solidFill>
                  <a:schemeClr val="tx1">
                    <a:tint val="75000"/>
                  </a:schemeClr>
                </a:solidFill>
              </a:defRPr>
            </a:lvl6pPr>
            <a:lvl7pPr marL="2228850" indent="0">
              <a:buNone/>
              <a:defRPr sz="1300">
                <a:solidFill>
                  <a:schemeClr val="tx1">
                    <a:tint val="75000"/>
                  </a:schemeClr>
                </a:solidFill>
              </a:defRPr>
            </a:lvl7pPr>
            <a:lvl8pPr marL="2600325" indent="0">
              <a:buNone/>
              <a:defRPr sz="1300">
                <a:solidFill>
                  <a:schemeClr val="tx1">
                    <a:tint val="75000"/>
                  </a:schemeClr>
                </a:solidFill>
              </a:defRPr>
            </a:lvl8pPr>
            <a:lvl9pPr marL="2971800" indent="0">
              <a:buNone/>
              <a:defRPr sz="1300">
                <a:solidFill>
                  <a:schemeClr val="tx1">
                    <a:tint val="75000"/>
                  </a:schemeClr>
                </a:solidFill>
              </a:defRPr>
            </a:lvl9pPr>
          </a:lstStyle>
          <a:p>
            <a:pPr lvl="0"/>
            <a:r>
              <a:rPr lang="en-US"/>
              <a:t>Click to edit Master text styles</a:t>
            </a:r>
          </a:p>
        </p:txBody>
      </p:sp>
      <p:sp>
        <p:nvSpPr>
          <p:cNvPr id="10" name="TextBox 9">
            <a:extLst>
              <a:ext uri="{FF2B5EF4-FFF2-40B4-BE49-F238E27FC236}">
                <a16:creationId xmlns:a16="http://schemas.microsoft.com/office/drawing/2014/main" id="{7265327D-BC3D-4548-B6FC-FF18B53D2785}"/>
              </a:ext>
            </a:extLst>
          </p:cNvPr>
          <p:cNvSpPr txBox="1"/>
          <p:nvPr userDrawn="1"/>
        </p:nvSpPr>
        <p:spPr>
          <a:xfrm>
            <a:off x="10410825" y="203202"/>
            <a:ext cx="96202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spTree>
    <p:extLst>
      <p:ext uri="{BB962C8B-B14F-4D97-AF65-F5344CB8AC3E}">
        <p14:creationId xmlns:p14="http://schemas.microsoft.com/office/powerpoint/2010/main" val="28716065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936584" y="542927"/>
            <a:ext cx="10416484" cy="81509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936584" y="1502876"/>
            <a:ext cx="10487026" cy="4812200"/>
          </a:xfrm>
        </p:spPr>
        <p:txBody>
          <a:bodyPr/>
          <a:lstStyle>
            <a:lvl1pPr>
              <a:defRPr>
                <a:solidFill>
                  <a:schemeClr val="tx2"/>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lvl1pPr>
              <a:defRPr>
                <a:solidFill>
                  <a:srgbClr val="000000"/>
                </a:solidFill>
              </a:defRPr>
            </a:lvl1pPr>
          </a:lstStyle>
          <a:p>
            <a:r>
              <a:rPr lang="en-US"/>
              <a:t>January 2022</a:t>
            </a:r>
            <a:endParaRPr lang="en-US" dirty="0"/>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lvl1pPr>
              <a:defRPr>
                <a:solidFill>
                  <a:srgbClr val="000000"/>
                </a:solidFill>
              </a:defRPr>
            </a:lvl1pPr>
          </a:lstStyle>
          <a:p>
            <a:r>
              <a:rPr lang="en-US" dirty="0"/>
              <a:t>Research Computing Update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83666" y="236126"/>
            <a:ext cx="1811849"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10410825" y="203202"/>
            <a:ext cx="962025" cy="244475"/>
          </a:xfrm>
          <a:prstGeom prst="rect">
            <a:avLst/>
          </a:prstGeom>
          <a:noFill/>
        </p:spPr>
        <p:txBody>
          <a:bodyPr wrap="square" lIns="0" tIns="0" rIns="0" bIns="0" rtlCol="0" anchor="ctr" anchorCtr="0">
            <a:noAutofit/>
          </a:bodyPr>
          <a:lstStyle/>
          <a:p>
            <a:pPr algn="r"/>
            <a:r>
              <a:rPr lang="fi-FI" sz="850">
                <a:solidFill>
                  <a:srgbClr val="000000"/>
                </a:solidFill>
              </a:rPr>
              <a:t>ku.ac.ae</a:t>
            </a:r>
            <a:endParaRPr lang="en-US" sz="850">
              <a:solidFill>
                <a:srgbClr val="000000"/>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3462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CustomShape 1" hidden="1"/>
          <p:cNvSpPr/>
          <p:nvPr/>
        </p:nvSpPr>
        <p:spPr>
          <a:xfrm>
            <a:off x="10410840" y="203040"/>
            <a:ext cx="96084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pPr>
            <a:r>
              <a:rPr lang="en-US" sz="850" b="0" strike="noStrike" spc="-1">
                <a:solidFill>
                  <a:srgbClr val="96969A"/>
                </a:solidFill>
                <a:latin typeface="Arial"/>
                <a:ea typeface="DejaVu Sans"/>
              </a:rPr>
              <a:t>ku.ac.ae</a:t>
            </a:r>
            <a:endParaRPr lang="en-US" sz="850" b="0" strike="noStrike" spc="-1">
              <a:latin typeface="Arial"/>
            </a:endParaRPr>
          </a:p>
        </p:txBody>
      </p:sp>
      <p:sp>
        <p:nvSpPr>
          <p:cNvPr id="6" name="Line 2"/>
          <p:cNvSpPr/>
          <p:nvPr/>
        </p:nvSpPr>
        <p:spPr>
          <a:xfrm>
            <a:off x="5181480" y="2752560"/>
            <a:ext cx="1809720" cy="0"/>
          </a:xfrm>
          <a:prstGeom prst="line">
            <a:avLst/>
          </a:prstGeom>
          <a:ln w="12600">
            <a:solidFill>
              <a:srgbClr val="FFFFFF"/>
            </a:solidFill>
            <a:round/>
          </a:ln>
        </p:spPr>
        <p:style>
          <a:lnRef idx="1">
            <a:schemeClr val="accent1"/>
          </a:lnRef>
          <a:fillRef idx="0">
            <a:schemeClr val="accent1"/>
          </a:fillRef>
          <a:effectRef idx="0">
            <a:schemeClr val="accent1"/>
          </a:effectRef>
          <a:fontRef idx="minor"/>
        </p:style>
      </p:sp>
      <p:pic>
        <p:nvPicPr>
          <p:cNvPr id="2" name="Picture 6"/>
          <p:cNvPicPr/>
          <p:nvPr/>
        </p:nvPicPr>
        <p:blipFill>
          <a:blip r:embed="rId14"/>
          <a:stretch/>
        </p:blipFill>
        <p:spPr>
          <a:xfrm>
            <a:off x="804960" y="654480"/>
            <a:ext cx="3539160" cy="773280"/>
          </a:xfrm>
          <a:prstGeom prst="rect">
            <a:avLst/>
          </a:prstGeom>
          <a:ln>
            <a:noFill/>
          </a:ln>
        </p:spPr>
      </p:pic>
      <p:sp>
        <p:nvSpPr>
          <p:cNvPr id="3" name="PlaceHolder 3"/>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4" name="PlaceHolder 4"/>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CustomShape 1"/>
          <p:cNvSpPr/>
          <p:nvPr/>
        </p:nvSpPr>
        <p:spPr>
          <a:xfrm>
            <a:off x="10410840" y="203040"/>
            <a:ext cx="96084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pPr>
            <a:r>
              <a:rPr lang="en-US" sz="850" b="0" strike="noStrike" spc="-1">
                <a:solidFill>
                  <a:srgbClr val="96969A"/>
                </a:solidFill>
                <a:latin typeface="Arial"/>
                <a:ea typeface="DejaVu Sans"/>
              </a:rPr>
              <a:t>ku.ac.ae</a:t>
            </a:r>
            <a:endParaRPr lang="en-US" sz="850" b="0" strike="noStrike" spc="-1">
              <a:latin typeface="Arial"/>
            </a:endParaRPr>
          </a:p>
        </p:txBody>
      </p:sp>
      <p:sp>
        <p:nvSpPr>
          <p:cNvPr id="42" name="CustomShape 2"/>
          <p:cNvSpPr/>
          <p:nvPr/>
        </p:nvSpPr>
        <p:spPr>
          <a:xfrm>
            <a:off x="10410840" y="203040"/>
            <a:ext cx="96084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pPr>
            <a:r>
              <a:rPr lang="en-US" sz="850" b="0" strike="noStrike" spc="-1">
                <a:solidFill>
                  <a:srgbClr val="0047BA"/>
                </a:solidFill>
                <a:latin typeface="Arial"/>
                <a:ea typeface="DejaVu Sans"/>
              </a:rPr>
              <a:t>ku.ac.ae</a:t>
            </a:r>
            <a:endParaRPr lang="en-US" sz="850" b="0" strike="noStrike" spc="-1">
              <a:latin typeface="Arial"/>
            </a:endParaRPr>
          </a:p>
        </p:txBody>
      </p:sp>
      <p:pic>
        <p:nvPicPr>
          <p:cNvPr id="43" name="Picture 6"/>
          <p:cNvPicPr/>
          <p:nvPr/>
        </p:nvPicPr>
        <p:blipFill>
          <a:blip r:embed="rId16"/>
          <a:stretch/>
        </p:blipFill>
        <p:spPr>
          <a:xfrm>
            <a:off x="383760" y="236160"/>
            <a:ext cx="1810800" cy="184320"/>
          </a:xfrm>
          <a:prstGeom prst="rect">
            <a:avLst/>
          </a:prstGeom>
          <a:ln>
            <a:noFill/>
          </a:ln>
        </p:spPr>
      </p:pic>
      <p:sp>
        <p:nvSpPr>
          <p:cNvPr id="44" name="Line 3"/>
          <p:cNvSpPr/>
          <p:nvPr/>
        </p:nvSpPr>
        <p:spPr>
          <a:xfrm>
            <a:off x="383400" y="533160"/>
            <a:ext cx="11465640" cy="0"/>
          </a:xfrm>
          <a:prstGeom prst="line">
            <a:avLst/>
          </a:prstGeom>
          <a:ln>
            <a:solidFill>
              <a:schemeClr val="bg2"/>
            </a:solidFill>
            <a:round/>
          </a:ln>
        </p:spPr>
        <p:style>
          <a:lnRef idx="1">
            <a:schemeClr val="accent1"/>
          </a:lnRef>
          <a:fillRef idx="0">
            <a:schemeClr val="accent1"/>
          </a:fillRef>
          <a:effectRef idx="0">
            <a:schemeClr val="accent1"/>
          </a:effectRef>
          <a:fontRef idx="minor"/>
        </p:style>
      </p:sp>
      <p:sp>
        <p:nvSpPr>
          <p:cNvPr id="45" name="PlaceHolder 4"/>
          <p:cNvSpPr>
            <a:spLocks noGrp="1"/>
          </p:cNvSpPr>
          <p:nvPr>
            <p:ph type="title"/>
          </p:nvPr>
        </p:nvSpPr>
        <p:spPr>
          <a:xfrm>
            <a:off x="609480" y="273240"/>
            <a:ext cx="10972080" cy="1145160"/>
          </a:xfrm>
          <a:prstGeom prst="rect">
            <a:avLst/>
          </a:prstGeom>
        </p:spPr>
        <p:txBody>
          <a:bodyPr lIns="0" tIns="0" rIns="0" bIns="0" anchor="ctr">
            <a:spAutoFit/>
          </a:bodyPr>
          <a:lstStyle/>
          <a:p>
            <a:r>
              <a:rPr lang="en-US" sz="1800" b="0" strike="noStrike" spc="-1">
                <a:latin typeface="Arial"/>
              </a:rPr>
              <a:t>Click to edit the title text format</a:t>
            </a:r>
          </a:p>
        </p:txBody>
      </p:sp>
      <p:sp>
        <p:nvSpPr>
          <p:cNvPr id="46"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6" r:id="rId13"/>
    <p:sldLayoutId id="214748367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9.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CustomShape 1"/>
          <p:cNvSpPr/>
          <p:nvPr/>
        </p:nvSpPr>
        <p:spPr>
          <a:xfrm>
            <a:off x="824040" y="3017492"/>
            <a:ext cx="10990008" cy="171360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r>
              <a:rPr lang="en-US" sz="6000" b="1" strike="noStrike" spc="-1" dirty="0">
                <a:solidFill>
                  <a:srgbClr val="0047BA"/>
                </a:solidFill>
                <a:latin typeface="Arial"/>
                <a:ea typeface="DejaVu Sans"/>
              </a:rPr>
              <a:t>Research Computing Strategy</a:t>
            </a:r>
            <a:endParaRPr lang="en-US" sz="6000" b="0" strike="noStrike" spc="-1" dirty="0">
              <a:latin typeface="Arial"/>
            </a:endParaRPr>
          </a:p>
        </p:txBody>
      </p:sp>
      <p:sp>
        <p:nvSpPr>
          <p:cNvPr id="467" name="CustomShape 2"/>
          <p:cNvSpPr/>
          <p:nvPr/>
        </p:nvSpPr>
        <p:spPr>
          <a:xfrm>
            <a:off x="824040" y="3756960"/>
            <a:ext cx="8910360" cy="12466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80000"/>
              </a:lnSpc>
            </a:pPr>
            <a:endParaRPr lang="en-US" sz="3800" b="0" strike="noStrike" spc="-1" dirty="0">
              <a:latin typeface="Arial"/>
            </a:endParaRPr>
          </a:p>
        </p:txBody>
      </p:sp>
      <p:sp>
        <p:nvSpPr>
          <p:cNvPr id="468" name="CustomShape 3"/>
          <p:cNvSpPr/>
          <p:nvPr/>
        </p:nvSpPr>
        <p:spPr>
          <a:xfrm>
            <a:off x="824040" y="5490360"/>
            <a:ext cx="6729120" cy="3132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00000"/>
              </a:lnSpc>
              <a:spcBef>
                <a:spcPts val="400"/>
              </a:spcBef>
            </a:pPr>
            <a:r>
              <a:rPr lang="en-US" sz="1350" b="1" cap="all" spc="-1" dirty="0">
                <a:solidFill>
                  <a:srgbClr val="96969A"/>
                </a:solidFill>
                <a:latin typeface="Arial"/>
                <a:ea typeface="DejaVu Sans"/>
              </a:rPr>
              <a:t>August</a:t>
            </a:r>
            <a:r>
              <a:rPr lang="en-US" sz="1350" b="1" strike="noStrike" cap="all" spc="-1" dirty="0">
                <a:solidFill>
                  <a:srgbClr val="96969A"/>
                </a:solidFill>
                <a:latin typeface="Arial"/>
                <a:ea typeface="DejaVu Sans"/>
              </a:rPr>
              <a:t> 2022</a:t>
            </a:r>
            <a:endParaRPr lang="en-US" sz="1350" b="0" strike="noStrike" spc="-1" dirty="0">
              <a:latin typeface="Arial"/>
            </a:endParaRPr>
          </a:p>
          <a:p>
            <a:pPr>
              <a:lnSpc>
                <a:spcPct val="100000"/>
              </a:lnSpc>
              <a:spcBef>
                <a:spcPts val="400"/>
              </a:spcBef>
            </a:pPr>
            <a:endParaRPr lang="en-US" sz="1350" b="0" strike="noStrike" spc="-1"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 name="CustomShape 1"/>
          <p:cNvSpPr/>
          <p:nvPr/>
        </p:nvSpPr>
        <p:spPr>
          <a:xfrm>
            <a:off x="828720" y="501840"/>
            <a:ext cx="10537920" cy="648360"/>
          </a:xfrm>
          <a:prstGeom prst="rect">
            <a:avLst/>
          </a:prstGeom>
          <a:noFill/>
          <a:ln>
            <a:noFill/>
          </a:ln>
        </p:spPr>
        <p:style>
          <a:lnRef idx="0">
            <a:scrgbClr r="0" g="0" b="0"/>
          </a:lnRef>
          <a:fillRef idx="0">
            <a:scrgbClr r="0" g="0" b="0"/>
          </a:fillRef>
          <a:effectRef idx="0">
            <a:scrgbClr r="0" g="0" b="0"/>
          </a:effectRef>
          <a:fontRef idx="minor"/>
        </p:style>
      </p:sp>
      <p:sp>
        <p:nvSpPr>
          <p:cNvPr id="343" name="CustomShape 2"/>
          <p:cNvSpPr/>
          <p:nvPr/>
        </p:nvSpPr>
        <p:spPr>
          <a:xfrm>
            <a:off x="609480" y="693360"/>
            <a:ext cx="10966680" cy="430887"/>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2800" b="1" strike="noStrike" spc="4" dirty="0">
                <a:solidFill>
                  <a:srgbClr val="0047BA"/>
                </a:solidFill>
                <a:latin typeface="Arial"/>
                <a:ea typeface="DejaVu Sans"/>
              </a:rPr>
              <a:t>Research Computing</a:t>
            </a:r>
            <a:endParaRPr lang="en-US" sz="2800" b="0" strike="noStrike" spc="-1" dirty="0">
              <a:latin typeface="Arial"/>
            </a:endParaRPr>
          </a:p>
        </p:txBody>
      </p:sp>
      <p:sp>
        <p:nvSpPr>
          <p:cNvPr id="345" name="CustomShape 4"/>
          <p:cNvSpPr/>
          <p:nvPr/>
        </p:nvSpPr>
        <p:spPr>
          <a:xfrm>
            <a:off x="11563200" y="203040"/>
            <a:ext cx="517680" cy="238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FDE5EAC3-55AA-4EE8-95E4-F2A7D19208B9}" type="slidenum">
              <a:rPr lang="en-US" sz="850" b="0" strike="noStrike" spc="-1">
                <a:solidFill>
                  <a:srgbClr val="96969A"/>
                </a:solidFill>
                <a:latin typeface="Arial"/>
                <a:ea typeface="DejaVu Sans"/>
              </a:rPr>
              <a:t>2</a:t>
            </a:fld>
            <a:endParaRPr lang="en-US" sz="850" b="0" strike="noStrike" spc="-1">
              <a:latin typeface="Arial"/>
            </a:endParaRPr>
          </a:p>
        </p:txBody>
      </p:sp>
      <p:sp>
        <p:nvSpPr>
          <p:cNvPr id="346" name="CustomShape 5"/>
          <p:cNvSpPr/>
          <p:nvPr/>
        </p:nvSpPr>
        <p:spPr>
          <a:xfrm>
            <a:off x="606959" y="1554480"/>
            <a:ext cx="6708241" cy="52120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400">
              <a:lnSpc>
                <a:spcPct val="100000"/>
              </a:lnSpc>
              <a:spcBef>
                <a:spcPts val="2735"/>
              </a:spcBef>
              <a:buClr>
                <a:srgbClr val="0047BA"/>
              </a:buClr>
              <a:buSzPct val="65000"/>
            </a:pPr>
            <a:r>
              <a:rPr lang="en-US" sz="2400" b="1" spc="-1" dirty="0">
                <a:solidFill>
                  <a:srgbClr val="0047BA"/>
                </a:solidFill>
              </a:rPr>
              <a:t>Introduction</a:t>
            </a:r>
          </a:p>
          <a:p>
            <a:pPr marL="640080" lvl="1" indent="-177480">
              <a:spcBef>
                <a:spcPts val="2735"/>
              </a:spcBef>
              <a:buClr>
                <a:srgbClr val="0047BA"/>
              </a:buClr>
              <a:buSzPct val="65000"/>
              <a:buFont typeface="Wingdings" charset="2"/>
              <a:buChar char=""/>
            </a:pPr>
            <a:r>
              <a:rPr lang="en-US" sz="1600" spc="-1" dirty="0">
                <a:solidFill>
                  <a:srgbClr val="000000"/>
                </a:solidFill>
              </a:rPr>
              <a:t>In recent years computer-based simulation and modeling have been firmly established as integral parts of modern scientific research, alongside experiment, and theory. </a:t>
            </a:r>
          </a:p>
          <a:p>
            <a:pPr marL="640080" lvl="1" indent="-177480">
              <a:spcBef>
                <a:spcPts val="2735"/>
              </a:spcBef>
              <a:buClr>
                <a:srgbClr val="0047BA"/>
              </a:buClr>
              <a:buSzPct val="65000"/>
              <a:buFont typeface="Wingdings" charset="2"/>
              <a:buChar char=""/>
            </a:pPr>
            <a:r>
              <a:rPr lang="en-US" sz="1600" spc="-1" dirty="0">
                <a:solidFill>
                  <a:srgbClr val="000000"/>
                </a:solidFill>
              </a:rPr>
              <a:t>Computation and high-performance computing (HPC) is now routinely used across numerous disciplines across KU.</a:t>
            </a:r>
          </a:p>
          <a:p>
            <a:pPr marL="640080" lvl="1" indent="-182520">
              <a:spcBef>
                <a:spcPts val="1200"/>
              </a:spcBef>
              <a:buClr>
                <a:srgbClr val="0047BA"/>
              </a:buClr>
              <a:buSzPct val="65000"/>
              <a:buFont typeface="Wingdings" charset="2"/>
              <a:buChar char=""/>
            </a:pPr>
            <a:r>
              <a:rPr lang="en-US" sz="1600" spc="-1" dirty="0"/>
              <a:t>To support the strategic vision of KU, and for KU to produce world class research, KU must invest in appropriate leading edge, stable and reliable technology.</a:t>
            </a:r>
          </a:p>
          <a:p>
            <a:pPr marL="640080" lvl="1" indent="-182520">
              <a:spcBef>
                <a:spcPts val="1200"/>
              </a:spcBef>
              <a:buClr>
                <a:srgbClr val="0047BA"/>
              </a:buClr>
              <a:buSzPct val="65000"/>
              <a:buFont typeface="Wingdings" charset="2"/>
              <a:buChar char=""/>
            </a:pPr>
            <a:r>
              <a:rPr lang="en-US" sz="1600" spc="-1" dirty="0"/>
              <a:t>Furthermore, access to these resources should be made available to all who require it.</a:t>
            </a:r>
          </a:p>
          <a:p>
            <a:pPr marL="640080" lvl="1" indent="-182520">
              <a:spcBef>
                <a:spcPts val="1200"/>
              </a:spcBef>
              <a:buClr>
                <a:srgbClr val="0047BA"/>
              </a:buClr>
              <a:buSzPct val="65000"/>
              <a:buFont typeface="Wingdings" charset="2"/>
              <a:buChar char=""/>
            </a:pPr>
            <a:r>
              <a:rPr lang="en-GB" sz="1600" spc="-1" dirty="0"/>
              <a:t>Research Computing strategy and services need to be aligned with KU’s research focus areas, and strategic institutes and centres.</a:t>
            </a:r>
          </a:p>
        </p:txBody>
      </p:sp>
      <p:pic>
        <p:nvPicPr>
          <p:cNvPr id="7" name="Picture 2" descr="http://www.doc.ic.ac.uk/project/2015/163/g1516309/HPC/Smith_protein_simulation.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438353" y="1687484"/>
            <a:ext cx="2253494" cy="170943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www.doc.ic.ac.uk/project/2015/163/g1516309/HPC/wind_patterns_simulation.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991415" y="3965170"/>
            <a:ext cx="1761160" cy="158474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http://www.doc.ic.ac.uk/project/2015/163/g1516309/HPC/nuclear_reactor.jpg"/>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9866725" y="1687484"/>
            <a:ext cx="1709436" cy="170943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http://www.doc.ic.ac.uk/project/2015/163/g1516309/HPC/shuttle_simulation.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455778" y="3965170"/>
            <a:ext cx="2218643" cy="1584745"/>
          </a:xfrm>
          <a:prstGeom prst="rect">
            <a:avLst/>
          </a:prstGeom>
          <a:noFill/>
          <a:extLst>
            <a:ext uri="{909E8E84-426E-40DD-AFC4-6F175D3DCCD1}">
              <a14:hiddenFill xmlns:a14="http://schemas.microsoft.com/office/drawing/2010/main">
                <a:solidFill>
                  <a:srgbClr val="FFFFFF"/>
                </a:solidFill>
              </a14:hiddenFill>
            </a:ext>
          </a:extLst>
        </p:spPr>
      </p:pic>
      <p:sp>
        <p:nvSpPr>
          <p:cNvPr id="2" name="CustomShape 3">
            <a:extLst>
              <a:ext uri="{FF2B5EF4-FFF2-40B4-BE49-F238E27FC236}">
                <a16:creationId xmlns:a16="http://schemas.microsoft.com/office/drawing/2014/main" id="{DF201EB4-F51D-AB3F-F467-F854CAE1308C}"/>
              </a:ext>
            </a:extLst>
          </p:cNvPr>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a:t>
            </a:r>
            <a:endParaRPr lang="en-US" sz="1200" b="0" strike="noStrike" spc="-1" dirty="0">
              <a:latin typeface="Arial"/>
            </a:endParaRPr>
          </a:p>
        </p:txBody>
      </p:sp>
    </p:spTree>
    <p:extLst>
      <p:ext uri="{BB962C8B-B14F-4D97-AF65-F5344CB8AC3E}">
        <p14:creationId xmlns:p14="http://schemas.microsoft.com/office/powerpoint/2010/main" val="2637816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30887"/>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2800" b="1" strike="noStrike" spc="43" dirty="0">
                <a:solidFill>
                  <a:srgbClr val="0047BA"/>
                </a:solidFill>
                <a:latin typeface="Arial"/>
              </a:rPr>
              <a:t>Need for Research Computing at KU</a:t>
            </a:r>
            <a:endParaRPr lang="en-US" sz="28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3</a:t>
            </a:fld>
            <a:endParaRPr lang="en-US" sz="850" b="0" strike="noStrike" spc="-1">
              <a:latin typeface="Arial"/>
            </a:endParaRPr>
          </a:p>
        </p:txBody>
      </p:sp>
      <p:sp>
        <p:nvSpPr>
          <p:cNvPr id="473" name="CustomShape 5"/>
          <p:cNvSpPr/>
          <p:nvPr/>
        </p:nvSpPr>
        <p:spPr>
          <a:xfrm>
            <a:off x="609480" y="1438877"/>
            <a:ext cx="10887048" cy="5257757"/>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640080" lvl="1" indent="-182520">
              <a:spcBef>
                <a:spcPts val="1200"/>
              </a:spcBef>
              <a:buClr>
                <a:srgbClr val="0047BA"/>
              </a:buClr>
              <a:buSzPct val="65000"/>
              <a:buFont typeface="Wingdings" charset="2"/>
              <a:buChar char=""/>
            </a:pPr>
            <a:r>
              <a:rPr lang="en-US" sz="2000" spc="-1" dirty="0"/>
              <a:t>RC conducted surveys in 2017, 2018 and 2021 to gather requirements and feedback from KU faculty, researchers and post-grads.</a:t>
            </a:r>
          </a:p>
          <a:p>
            <a:pPr marL="640080" lvl="1" indent="-182520">
              <a:spcBef>
                <a:spcPts val="1200"/>
              </a:spcBef>
              <a:buClr>
                <a:srgbClr val="0047BA"/>
              </a:buClr>
              <a:buSzPct val="65000"/>
              <a:buFont typeface="Wingdings" charset="2"/>
              <a:buChar char=""/>
            </a:pPr>
            <a:r>
              <a:rPr lang="en-US" sz="2000" spc="-1" dirty="0"/>
              <a:t>In all surveys, respondents expressed an overwhelming demand for more computational power, HPC, modern GPU’s, storage, workstations, virtual machines, and Linux support for shared servers. </a:t>
            </a:r>
          </a:p>
          <a:p>
            <a:pPr marL="1097280" lvl="2" indent="-182520">
              <a:spcBef>
                <a:spcPts val="1200"/>
              </a:spcBef>
              <a:buClr>
                <a:srgbClr val="0047BA"/>
              </a:buClr>
              <a:buSzPct val="65000"/>
              <a:buFont typeface="Wingdings" charset="2"/>
              <a:buChar char=""/>
            </a:pPr>
            <a:r>
              <a:rPr lang="en-US" sz="2000" spc="-1" dirty="0"/>
              <a:t>In the most recent survey, </a:t>
            </a:r>
            <a:r>
              <a:rPr lang="en-US" sz="2000" b="1" spc="-1" dirty="0"/>
              <a:t>29% of respondents stated that they could not carry their research due to inadequate resources</a:t>
            </a:r>
            <a:r>
              <a:rPr lang="en-US" sz="2000" spc="-1" dirty="0"/>
              <a:t>.</a:t>
            </a:r>
          </a:p>
          <a:p>
            <a:pPr marL="640080" lvl="1" indent="-182520">
              <a:spcBef>
                <a:spcPts val="1200"/>
              </a:spcBef>
              <a:buClr>
                <a:srgbClr val="0047BA"/>
              </a:buClr>
              <a:buSzPct val="65000"/>
              <a:buFont typeface="Wingdings" charset="2"/>
              <a:buChar char=""/>
            </a:pPr>
            <a:r>
              <a:rPr lang="en-US" sz="2000" spc="-1" dirty="0"/>
              <a:t>There were also a small number  of requests for access to public cloud services, international supercomputing and a small number of requests for specialized computing platforms, e.g. FPGA’s.</a:t>
            </a:r>
          </a:p>
          <a:p>
            <a:pPr marL="640080" lvl="1" indent="-182520">
              <a:spcBef>
                <a:spcPts val="1200"/>
              </a:spcBef>
              <a:buClr>
                <a:srgbClr val="0047BA"/>
              </a:buClr>
              <a:buSzPct val="65000"/>
              <a:buFont typeface="Wingdings" charset="2"/>
              <a:buChar char=""/>
            </a:pPr>
            <a:r>
              <a:rPr lang="en-US" sz="2000" spc="-1" dirty="0"/>
              <a:t>The Research Computing Committee has also stated that computational resources available at KU are inadequate to meet the research requirements of KU.</a:t>
            </a:r>
          </a:p>
          <a:p>
            <a:pPr marL="640080" lvl="1" indent="-182520">
              <a:spcBef>
                <a:spcPts val="1200"/>
              </a:spcBef>
              <a:buClr>
                <a:srgbClr val="0047BA"/>
              </a:buClr>
              <a:buSzPct val="65000"/>
              <a:buFont typeface="Wingdings" charset="2"/>
              <a:buChar char=""/>
            </a:pPr>
            <a:endParaRPr lang="en-US" sz="2000" spc="-1" dirty="0"/>
          </a:p>
          <a:p>
            <a:pPr marL="640080" lvl="1" indent="-182520">
              <a:spcBef>
                <a:spcPts val="1200"/>
              </a:spcBef>
              <a:buClr>
                <a:srgbClr val="0047BA"/>
              </a:buClr>
              <a:buSzPct val="65000"/>
              <a:buFont typeface="Wingdings" charset="2"/>
              <a:buChar char=""/>
            </a:pPr>
            <a:endParaRPr lang="en-US" sz="2000" spc="-1" dirty="0"/>
          </a:p>
        </p:txBody>
      </p:sp>
    </p:spTree>
    <p:extLst>
      <p:ext uri="{BB962C8B-B14F-4D97-AF65-F5344CB8AC3E}">
        <p14:creationId xmlns:p14="http://schemas.microsoft.com/office/powerpoint/2010/main" val="3165242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hidden="1">
            <a:extLst>
              <a:ext uri="{FF2B5EF4-FFF2-40B4-BE49-F238E27FC236}">
                <a16:creationId xmlns:a16="http://schemas.microsoft.com/office/drawing/2014/main" id="{5E918707-6809-45DB-87A9-B541AB553D1C}"/>
              </a:ext>
            </a:extLst>
          </p:cNvPr>
          <p:cNvSpPr>
            <a:spLocks noGrp="1"/>
          </p:cNvSpPr>
          <p:nvPr>
            <p:ph type="sldNum" sz="quarter" idx="12"/>
          </p:nvPr>
        </p:nvSpPr>
        <p:spPr>
          <a:xfrm>
            <a:off x="11499367" y="184486"/>
            <a:ext cx="523874" cy="300892"/>
          </a:xfrm>
        </p:spPr>
        <p:txBody>
          <a:bodyPr anchor="ctr">
            <a:normAutofit fontScale="92500" lnSpcReduction="20000"/>
          </a:bodyPr>
          <a:lstStyle/>
          <a:p>
            <a:pPr>
              <a:spcAft>
                <a:spcPts val="738"/>
              </a:spcAft>
            </a:pPr>
            <a:fld id="{1E68DD1B-5CD8-424B-8173-19E182143E0A}" type="slidenum">
              <a:rPr lang="en-US" smtClean="0"/>
              <a:pPr>
                <a:spcAft>
                  <a:spcPts val="738"/>
                </a:spcAft>
              </a:pPr>
              <a:t>4</a:t>
            </a:fld>
            <a:endParaRPr lang="en-US"/>
          </a:p>
        </p:txBody>
      </p:sp>
      <p:sp>
        <p:nvSpPr>
          <p:cNvPr id="7" name="Slide Number Placeholder 5">
            <a:extLst>
              <a:ext uri="{FF2B5EF4-FFF2-40B4-BE49-F238E27FC236}">
                <a16:creationId xmlns:a16="http://schemas.microsoft.com/office/drawing/2014/main" id="{A267AC6C-2E4D-5247-9832-6E6C5B805D2F}"/>
              </a:ext>
            </a:extLst>
          </p:cNvPr>
          <p:cNvSpPr txBox="1">
            <a:spLocks/>
          </p:cNvSpPr>
          <p:nvPr/>
        </p:nvSpPr>
        <p:spPr>
          <a:xfrm>
            <a:off x="11563350" y="203202"/>
            <a:ext cx="523874" cy="244475"/>
          </a:xfrm>
          <a:prstGeom prst="rect">
            <a:avLst/>
          </a:prstGeom>
        </p:spPr>
        <p:txBody>
          <a:bodyPr vert="horz" lIns="0" tIns="0" rIns="0" bIns="0" rtlCol="0" anchor="ctr"/>
          <a:lstStyle>
            <a:defPPr>
              <a:defRPr lang="en-US"/>
            </a:defPPr>
            <a:lvl1pPr marL="0" algn="ctr" defTabSz="914400" rtl="0" eaLnBrk="1" latinLnBrk="0" hangingPunct="1">
              <a:defRPr sz="850" kern="1200">
                <a:solidFill>
                  <a:srgbClr val="00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68DD1B-5CD8-424B-8173-19E182143E0A}" type="slidenum">
              <a:rPr lang="en-US" smtClean="0"/>
              <a:pPr/>
              <a:t>4</a:t>
            </a:fld>
            <a:endParaRPr lang="en-US" dirty="0"/>
          </a:p>
        </p:txBody>
      </p:sp>
      <p:pic>
        <p:nvPicPr>
          <p:cNvPr id="3" name="Picture 2">
            <a:extLst>
              <a:ext uri="{FF2B5EF4-FFF2-40B4-BE49-F238E27FC236}">
                <a16:creationId xmlns:a16="http://schemas.microsoft.com/office/drawing/2014/main" id="{955668F3-3850-13FA-C19F-9E98DC221C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837" y="665649"/>
            <a:ext cx="11249637" cy="6192351"/>
          </a:xfrm>
          <a:prstGeom prst="rect">
            <a:avLst/>
          </a:prstGeom>
        </p:spPr>
      </p:pic>
      <p:sp>
        <p:nvSpPr>
          <p:cNvPr id="2" name="CustomShape 3">
            <a:extLst>
              <a:ext uri="{FF2B5EF4-FFF2-40B4-BE49-F238E27FC236}">
                <a16:creationId xmlns:a16="http://schemas.microsoft.com/office/drawing/2014/main" id="{27976D5E-F8B5-16FE-A56F-3A8C90BAC3AE}"/>
              </a:ext>
            </a:extLst>
          </p:cNvPr>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a:t>
            </a:r>
            <a:endParaRPr lang="en-US" sz="1200" b="0" strike="noStrike" spc="-1" dirty="0">
              <a:latin typeface="Arial"/>
            </a:endParaRPr>
          </a:p>
        </p:txBody>
      </p:sp>
    </p:spTree>
    <p:extLst>
      <p:ext uri="{BB962C8B-B14F-4D97-AF65-F5344CB8AC3E}">
        <p14:creationId xmlns:p14="http://schemas.microsoft.com/office/powerpoint/2010/main" val="2775127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30887"/>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2800" b="1" spc="43" dirty="0">
                <a:solidFill>
                  <a:srgbClr val="0047BA"/>
                </a:solidFill>
                <a:latin typeface="Arial"/>
              </a:rPr>
              <a:t>Interaction of RC and </a:t>
            </a:r>
            <a:r>
              <a:rPr lang="en-US" sz="2800" b="1" strike="noStrike" spc="43" dirty="0" err="1">
                <a:solidFill>
                  <a:srgbClr val="0047BA"/>
                </a:solidFill>
                <a:latin typeface="Arial"/>
              </a:rPr>
              <a:t>Ankabut</a:t>
            </a:r>
            <a:endParaRPr lang="en-US" sz="28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5</a:t>
            </a:fld>
            <a:endParaRPr lang="en-US" sz="850" b="0" strike="noStrike" spc="-1">
              <a:latin typeface="Arial"/>
            </a:endParaRPr>
          </a:p>
        </p:txBody>
      </p:sp>
      <p:sp>
        <p:nvSpPr>
          <p:cNvPr id="7" name="Text Placeholder 3">
            <a:extLst>
              <a:ext uri="{FF2B5EF4-FFF2-40B4-BE49-F238E27FC236}">
                <a16:creationId xmlns:a16="http://schemas.microsoft.com/office/drawing/2014/main" id="{3FBF25CE-F4D5-0E4B-AF01-C581E95788CA}"/>
              </a:ext>
            </a:extLst>
          </p:cNvPr>
          <p:cNvSpPr txBox="1">
            <a:spLocks/>
          </p:cNvSpPr>
          <p:nvPr/>
        </p:nvSpPr>
        <p:spPr bwMode="auto">
          <a:xfrm>
            <a:off x="2773817" y="4559968"/>
            <a:ext cx="7705688" cy="2177716"/>
          </a:xfrm>
          <a:prstGeom prst="round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2" rtlCol="0" anchor="t" anchorCtr="0" compatLnSpc="1">
            <a:prstTxWarp prst="textNoShape">
              <a:avLst/>
            </a:prstTxWarp>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0"/>
              </a:spcAft>
              <a:buClr>
                <a:schemeClr val="tx2"/>
              </a:buClr>
              <a:buSzPct val="65000"/>
              <a:buFont typeface="Wingdings" pitchFamily="2" charset="2"/>
              <a:buChar char="Ø"/>
            </a:pPr>
            <a:r>
              <a:rPr lang="en-US" sz="1800" dirty="0">
                <a:solidFill>
                  <a:srgbClr val="414141"/>
                </a:solidFill>
                <a:latin typeface="Arial" panose="020B0604020202020204" pitchFamily="34" charset="0"/>
                <a:ea typeface="Calibri" charset="0"/>
                <a:cs typeface="Arial" panose="020B0604020202020204" pitchFamily="34" charset="0"/>
                <a:sym typeface="Gill Sans Light" charset="0"/>
              </a:rPr>
              <a:t>Core technology capability</a:t>
            </a:r>
          </a:p>
          <a:p>
            <a:pPr>
              <a:spcAft>
                <a:spcPct val="0"/>
              </a:spcAft>
              <a:buClr>
                <a:schemeClr val="tx2"/>
              </a:buClr>
              <a:buSzPct val="65000"/>
              <a:buFont typeface="Wingdings" pitchFamily="2" charset="2"/>
              <a:buChar char="Ø"/>
            </a:pPr>
            <a:r>
              <a:rPr lang="en-US" sz="1800" dirty="0">
                <a:solidFill>
                  <a:srgbClr val="414141"/>
                </a:solidFill>
                <a:latin typeface="Arial" panose="020B0604020202020204" pitchFamily="34" charset="0"/>
                <a:ea typeface="Calibri" charset="0"/>
                <a:cs typeface="Arial" panose="020B0604020202020204" pitchFamily="34" charset="0"/>
                <a:sym typeface="Gill Sans Light" charset="0"/>
              </a:rPr>
              <a:t>Hardware hosting and maintenance</a:t>
            </a:r>
          </a:p>
          <a:p>
            <a:pPr>
              <a:spcAft>
                <a:spcPct val="0"/>
              </a:spcAft>
              <a:buClr>
                <a:schemeClr val="tx2"/>
              </a:buClr>
              <a:buSzPct val="65000"/>
              <a:buFont typeface="Wingdings" pitchFamily="2" charset="2"/>
              <a:buChar char="Ø"/>
            </a:pPr>
            <a:r>
              <a:rPr lang="en-US" sz="1800" dirty="0">
                <a:solidFill>
                  <a:srgbClr val="414141"/>
                </a:solidFill>
                <a:latin typeface="Arial" panose="020B0604020202020204" pitchFamily="34" charset="0"/>
                <a:ea typeface="Calibri" charset="0"/>
                <a:cs typeface="Arial" panose="020B0604020202020204" pitchFamily="34" charset="0"/>
                <a:sym typeface="Gill Sans Light" charset="0"/>
              </a:rPr>
              <a:t>Storage and Backup</a:t>
            </a:r>
          </a:p>
          <a:p>
            <a:pPr>
              <a:spcAft>
                <a:spcPct val="0"/>
              </a:spcAft>
              <a:buClr>
                <a:schemeClr val="tx2"/>
              </a:buClr>
              <a:buSzPct val="65000"/>
              <a:buFont typeface="Wingdings" pitchFamily="2" charset="2"/>
              <a:buChar char="Ø"/>
            </a:pPr>
            <a:r>
              <a:rPr lang="en-US" sz="1800" dirty="0">
                <a:solidFill>
                  <a:srgbClr val="414141"/>
                </a:solidFill>
                <a:latin typeface="Arial" panose="020B0604020202020204" pitchFamily="34" charset="0"/>
                <a:ea typeface="Calibri" charset="0"/>
                <a:cs typeface="Arial" panose="020B0604020202020204" pitchFamily="34" charset="0"/>
                <a:sym typeface="Gill Sans Light" charset="0"/>
              </a:rPr>
              <a:t>Networking and Security</a:t>
            </a:r>
          </a:p>
          <a:p>
            <a:pPr>
              <a:spcAft>
                <a:spcPct val="0"/>
              </a:spcAft>
              <a:buClr>
                <a:schemeClr val="tx2"/>
              </a:buClr>
              <a:buSzPct val="65000"/>
              <a:buFont typeface="Wingdings" pitchFamily="2" charset="2"/>
              <a:buChar char="Ø"/>
            </a:pPr>
            <a:r>
              <a:rPr lang="en-US" sz="1800" dirty="0">
                <a:solidFill>
                  <a:srgbClr val="414141"/>
                </a:solidFill>
                <a:latin typeface="Arial" panose="020B0604020202020204" pitchFamily="34" charset="0"/>
                <a:ea typeface="Calibri" charset="0"/>
                <a:cs typeface="Arial" panose="020B0604020202020204" pitchFamily="34" charset="0"/>
                <a:sym typeface="Gill Sans Light" charset="0"/>
              </a:rPr>
              <a:t>Other RC infrastructure</a:t>
            </a:r>
          </a:p>
          <a:p>
            <a:pPr>
              <a:spcAft>
                <a:spcPct val="0"/>
              </a:spcAft>
              <a:buClr>
                <a:schemeClr val="tx2"/>
              </a:buClr>
              <a:buSzPct val="65000"/>
              <a:buFont typeface="Wingdings" pitchFamily="2" charset="2"/>
              <a:buChar char="Ø"/>
            </a:pPr>
            <a:r>
              <a:rPr lang="en-US" sz="1800" dirty="0">
                <a:solidFill>
                  <a:srgbClr val="414141"/>
                </a:solidFill>
                <a:latin typeface="Arial" panose="020B0604020202020204" pitchFamily="34" charset="0"/>
                <a:ea typeface="Calibri" charset="0"/>
                <a:cs typeface="Arial" panose="020B0604020202020204" pitchFamily="34" charset="0"/>
                <a:sym typeface="Gill Sans Light" charset="0"/>
              </a:rPr>
              <a:t>Architecture</a:t>
            </a:r>
          </a:p>
          <a:p>
            <a:pPr>
              <a:spcAft>
                <a:spcPct val="0"/>
              </a:spcAft>
              <a:buClr>
                <a:schemeClr val="tx2"/>
              </a:buClr>
              <a:buSzPct val="65000"/>
              <a:buFont typeface="Wingdings" pitchFamily="2" charset="2"/>
              <a:buChar char="Ø"/>
            </a:pPr>
            <a:r>
              <a:rPr lang="en-US" sz="1800" dirty="0">
                <a:solidFill>
                  <a:srgbClr val="414141"/>
                </a:solidFill>
                <a:latin typeface="Arial" panose="020B0604020202020204" pitchFamily="34" charset="0"/>
                <a:ea typeface="Calibri" charset="0"/>
                <a:cs typeface="Arial" panose="020B0604020202020204" pitchFamily="34" charset="0"/>
                <a:sym typeface="Gill Sans Light" charset="0"/>
              </a:rPr>
              <a:t>Identity and Access management</a:t>
            </a:r>
          </a:p>
          <a:p>
            <a:pPr>
              <a:spcAft>
                <a:spcPct val="0"/>
              </a:spcAft>
              <a:buClr>
                <a:schemeClr val="tx2"/>
              </a:buClr>
              <a:buSzPct val="65000"/>
              <a:buFont typeface="Wingdings" pitchFamily="2" charset="2"/>
              <a:buChar char="Ø"/>
            </a:pPr>
            <a:r>
              <a:rPr lang="en-US" sz="1800" dirty="0">
                <a:solidFill>
                  <a:srgbClr val="414141"/>
                </a:solidFill>
                <a:latin typeface="Arial" panose="020B0604020202020204" pitchFamily="34" charset="0"/>
                <a:ea typeface="Calibri" charset="0"/>
                <a:cs typeface="Arial" panose="020B0604020202020204" pitchFamily="34" charset="0"/>
                <a:sym typeface="Gill Sans Light" charset="0"/>
              </a:rPr>
              <a:t>Academic software usage monitoring</a:t>
            </a:r>
          </a:p>
          <a:p>
            <a:pPr>
              <a:spcAft>
                <a:spcPct val="0"/>
              </a:spcAft>
              <a:buClr>
                <a:schemeClr val="tx2"/>
              </a:buClr>
              <a:buSzPct val="65000"/>
              <a:buFont typeface="Wingdings" pitchFamily="2" charset="2"/>
              <a:buChar char="Ø"/>
            </a:pPr>
            <a:r>
              <a:rPr lang="en-US" sz="1800" dirty="0">
                <a:solidFill>
                  <a:srgbClr val="414141"/>
                </a:solidFill>
                <a:latin typeface="Arial" panose="020B0604020202020204" pitchFamily="34" charset="0"/>
                <a:ea typeface="Calibri" charset="0"/>
                <a:cs typeface="Arial" panose="020B0604020202020204" pitchFamily="34" charset="0"/>
                <a:sym typeface="Gill Sans Light" charset="0"/>
              </a:rPr>
              <a:t>1</a:t>
            </a:r>
            <a:r>
              <a:rPr lang="en-US" sz="1800" baseline="30000" dirty="0">
                <a:solidFill>
                  <a:srgbClr val="414141"/>
                </a:solidFill>
                <a:latin typeface="Arial" panose="020B0604020202020204" pitchFamily="34" charset="0"/>
                <a:ea typeface="Calibri" charset="0"/>
                <a:cs typeface="Arial" panose="020B0604020202020204" pitchFamily="34" charset="0"/>
                <a:sym typeface="Gill Sans Light" charset="0"/>
              </a:rPr>
              <a:t>st</a:t>
            </a:r>
            <a:r>
              <a:rPr lang="en-US" sz="1800" dirty="0">
                <a:solidFill>
                  <a:srgbClr val="414141"/>
                </a:solidFill>
                <a:latin typeface="Arial" panose="020B0604020202020204" pitchFamily="34" charset="0"/>
                <a:ea typeface="Calibri" charset="0"/>
                <a:cs typeface="Arial" panose="020B0604020202020204" pitchFamily="34" charset="0"/>
                <a:sym typeface="Gill Sans Light" charset="0"/>
              </a:rPr>
              <a:t> line support</a:t>
            </a:r>
          </a:p>
          <a:p>
            <a:pPr>
              <a:spcAft>
                <a:spcPct val="0"/>
              </a:spcAft>
              <a:buClr>
                <a:schemeClr val="tx2"/>
              </a:buClr>
              <a:buSzPct val="65000"/>
              <a:buFont typeface="Wingdings" pitchFamily="2" charset="2"/>
              <a:buChar char="Ø"/>
            </a:pPr>
            <a:r>
              <a:rPr lang="en-US" sz="1800" dirty="0">
                <a:solidFill>
                  <a:srgbClr val="414141"/>
                </a:solidFill>
                <a:latin typeface="Arial" panose="020B0604020202020204" pitchFamily="34" charset="0"/>
                <a:ea typeface="Calibri" charset="0"/>
                <a:cs typeface="Arial" panose="020B0604020202020204" pitchFamily="34" charset="0"/>
                <a:sym typeface="Gill Sans Light" charset="0"/>
              </a:rPr>
              <a:t>Service Desk</a:t>
            </a:r>
          </a:p>
          <a:p>
            <a:pPr>
              <a:spcAft>
                <a:spcPct val="0"/>
              </a:spcAft>
              <a:buClr>
                <a:schemeClr val="tx2"/>
              </a:buClr>
              <a:buSzPct val="65000"/>
              <a:buFont typeface="Wingdings" pitchFamily="2" charset="2"/>
              <a:buChar char="Ø"/>
            </a:pPr>
            <a:r>
              <a:rPr lang="en-US" sz="1800" dirty="0">
                <a:solidFill>
                  <a:srgbClr val="414141"/>
                </a:solidFill>
                <a:latin typeface="Arial" panose="020B0604020202020204" pitchFamily="34" charset="0"/>
                <a:ea typeface="Calibri" charset="0"/>
                <a:cs typeface="Arial" panose="020B0604020202020204" pitchFamily="34" charset="0"/>
                <a:sym typeface="Gill Sans Light" charset="0"/>
              </a:rPr>
              <a:t>End user computing</a:t>
            </a:r>
          </a:p>
          <a:p>
            <a:pPr>
              <a:spcAft>
                <a:spcPct val="0"/>
              </a:spcAft>
              <a:buClr>
                <a:srgbClr val="FF6600"/>
              </a:buClr>
              <a:buFont typeface="Arial" charset="0"/>
              <a:buChar char="•"/>
            </a:pPr>
            <a:endParaRPr lang="en-US" sz="1800" dirty="0">
              <a:solidFill>
                <a:srgbClr val="414141"/>
              </a:solidFill>
              <a:latin typeface="Calibri" charset="0"/>
              <a:ea typeface="Calibri" charset="0"/>
              <a:cs typeface="Calibri" charset="0"/>
              <a:sym typeface="Gill Sans Light" charset="0"/>
            </a:endParaRPr>
          </a:p>
          <a:p>
            <a:pPr algn="ctr" fontAlgn="base">
              <a:lnSpc>
                <a:spcPct val="100000"/>
              </a:lnSpc>
              <a:spcBef>
                <a:spcPct val="0"/>
              </a:spcBef>
              <a:spcAft>
                <a:spcPct val="0"/>
              </a:spcAft>
              <a:buClr>
                <a:srgbClr val="FF6600"/>
              </a:buClr>
              <a:buFont typeface="Arial" charset="0"/>
              <a:buChar char="•"/>
            </a:pPr>
            <a:endParaRPr lang="en-US" sz="1800" dirty="0">
              <a:solidFill>
                <a:srgbClr val="414141"/>
              </a:solidFill>
              <a:latin typeface="Calibri" charset="0"/>
              <a:ea typeface="Calibri" charset="0"/>
              <a:cs typeface="Calibri" charset="0"/>
              <a:sym typeface="Gill Sans Light" charset="0"/>
            </a:endParaRPr>
          </a:p>
        </p:txBody>
      </p:sp>
      <p:sp>
        <p:nvSpPr>
          <p:cNvPr id="8" name="TextBox 7">
            <a:extLst>
              <a:ext uri="{FF2B5EF4-FFF2-40B4-BE49-F238E27FC236}">
                <a16:creationId xmlns:a16="http://schemas.microsoft.com/office/drawing/2014/main" id="{60F9146C-F4DC-874C-ADDE-13EA733862FB}"/>
              </a:ext>
            </a:extLst>
          </p:cNvPr>
          <p:cNvSpPr txBox="1"/>
          <p:nvPr/>
        </p:nvSpPr>
        <p:spPr>
          <a:xfrm>
            <a:off x="1061720" y="4920584"/>
            <a:ext cx="2042160"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Ankabut</a:t>
            </a:r>
            <a:endParaRPr lang="en-US" sz="2000" dirty="0">
              <a:latin typeface="Arial" panose="020B0604020202020204" pitchFamily="34" charset="0"/>
              <a:cs typeface="Arial" panose="020B0604020202020204" pitchFamily="34" charset="0"/>
            </a:endParaRPr>
          </a:p>
        </p:txBody>
      </p:sp>
      <p:sp>
        <p:nvSpPr>
          <p:cNvPr id="9" name="Text Placeholder 3">
            <a:extLst>
              <a:ext uri="{FF2B5EF4-FFF2-40B4-BE49-F238E27FC236}">
                <a16:creationId xmlns:a16="http://schemas.microsoft.com/office/drawing/2014/main" id="{46B41B03-23EC-2B4E-A269-CEF0A56E5DD0}"/>
              </a:ext>
            </a:extLst>
          </p:cNvPr>
          <p:cNvSpPr txBox="1">
            <a:spLocks/>
          </p:cNvSpPr>
          <p:nvPr/>
        </p:nvSpPr>
        <p:spPr bwMode="auto">
          <a:xfrm>
            <a:off x="2773817" y="1241659"/>
            <a:ext cx="7705688" cy="2787148"/>
          </a:xfrm>
          <a:prstGeom prst="round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2" rtlCol="0" anchor="t" anchorCtr="0" compatLnSpc="1">
            <a:prstTxWarp prst="textNoShape">
              <a:avLst/>
            </a:prstTxWarp>
          </a:bodyPr>
          <a:lstStyle>
            <a:lvl1pPr marL="252580" indent="-252580" algn="l" rtl="0" eaLnBrk="1" fontAlgn="base" hangingPunct="1">
              <a:spcBef>
                <a:spcPct val="0"/>
              </a:spcBef>
              <a:spcAft>
                <a:spcPts val="600"/>
              </a:spcAft>
              <a:buClr>
                <a:srgbClr val="E3751E"/>
              </a:buClr>
              <a:buChar char="•"/>
              <a:defRPr sz="2400">
                <a:solidFill>
                  <a:schemeClr val="tx1"/>
                </a:solidFill>
                <a:latin typeface="Calibri" panose="020F0502020204030204" pitchFamily="34" charset="0"/>
                <a:ea typeface="+mn-ea"/>
                <a:cs typeface="+mn-cs"/>
                <a:sym typeface="Arial" charset="0"/>
              </a:defRPr>
            </a:lvl1pPr>
            <a:lvl2pPr marL="547257" indent="-210483" algn="l" rtl="0" eaLnBrk="1" fontAlgn="base" hangingPunct="1">
              <a:spcBef>
                <a:spcPct val="0"/>
              </a:spcBef>
              <a:spcAft>
                <a:spcPts val="600"/>
              </a:spcAft>
              <a:buClr>
                <a:srgbClr val="E3751E"/>
              </a:buClr>
              <a:buChar char="–"/>
              <a:defRPr sz="2200">
                <a:solidFill>
                  <a:schemeClr val="tx1"/>
                </a:solidFill>
                <a:latin typeface="Calibri" panose="020F0502020204030204" pitchFamily="34" charset="0"/>
                <a:ea typeface="+mn-ea"/>
                <a:sym typeface="Arial" charset="0"/>
              </a:defRPr>
            </a:lvl2pPr>
            <a:lvl3pPr marL="841934" indent="-168387" algn="l" rtl="0" eaLnBrk="1" fontAlgn="base" hangingPunct="1">
              <a:spcBef>
                <a:spcPct val="0"/>
              </a:spcBef>
              <a:spcAft>
                <a:spcPts val="600"/>
              </a:spcAft>
              <a:buClr>
                <a:srgbClr val="E3751E"/>
              </a:buClr>
              <a:buChar char="•"/>
              <a:defRPr sz="2000">
                <a:solidFill>
                  <a:schemeClr val="tx1"/>
                </a:solidFill>
                <a:latin typeface="Calibri" panose="020F0502020204030204" pitchFamily="34" charset="0"/>
                <a:ea typeface="+mn-ea"/>
                <a:sym typeface="Arial" charset="0"/>
              </a:defRPr>
            </a:lvl3pPr>
            <a:lvl4pPr marL="1178707" indent="-168387" algn="l" rtl="0" eaLnBrk="1" fontAlgn="base" hangingPunct="1">
              <a:spcBef>
                <a:spcPct val="0"/>
              </a:spcBef>
              <a:spcAft>
                <a:spcPts val="600"/>
              </a:spcAft>
              <a:buClr>
                <a:srgbClr val="E3751E"/>
              </a:buClr>
              <a:buChar char="–"/>
              <a:defRPr sz="1800">
                <a:solidFill>
                  <a:schemeClr val="tx1"/>
                </a:solidFill>
                <a:latin typeface="Calibri" panose="020F0502020204030204" pitchFamily="34" charset="0"/>
                <a:ea typeface="+mn-ea"/>
                <a:sym typeface="Arial" charset="0"/>
              </a:defRPr>
            </a:lvl4pPr>
            <a:lvl5pPr marL="1515481" indent="-168387" algn="l" rtl="0" eaLnBrk="1" fontAlgn="base" hangingPunct="1">
              <a:spcBef>
                <a:spcPct val="0"/>
              </a:spcBef>
              <a:spcAft>
                <a:spcPts val="600"/>
              </a:spcAft>
              <a:buClr>
                <a:srgbClr val="E3751E"/>
              </a:buClr>
              <a:buChar char="»"/>
              <a:defRPr sz="1600">
                <a:solidFill>
                  <a:schemeClr val="tx1"/>
                </a:solidFill>
                <a:latin typeface="Calibri" panose="020F0502020204030204" pitchFamily="34" charset="0"/>
                <a:ea typeface="+mn-ea"/>
                <a:sym typeface="Arial" charset="0"/>
              </a:defRPr>
            </a:lvl5pPr>
            <a:lvl6pPr marL="336774" algn="l" rtl="0" eaLnBrk="1" fontAlgn="base" hangingPunct="1">
              <a:spcBef>
                <a:spcPct val="0"/>
              </a:spcBef>
              <a:spcAft>
                <a:spcPct val="0"/>
              </a:spcAft>
              <a:defRPr sz="1800">
                <a:solidFill>
                  <a:srgbClr val="2F669E"/>
                </a:solidFill>
                <a:latin typeface="+mn-lt"/>
                <a:ea typeface="+mn-ea"/>
                <a:sym typeface="Arial" charset="0"/>
              </a:defRPr>
            </a:lvl6pPr>
            <a:lvl7pPr marL="673547" algn="l" rtl="0" eaLnBrk="1" fontAlgn="base" hangingPunct="1">
              <a:spcBef>
                <a:spcPct val="0"/>
              </a:spcBef>
              <a:spcAft>
                <a:spcPct val="0"/>
              </a:spcAft>
              <a:defRPr sz="1800">
                <a:solidFill>
                  <a:srgbClr val="2F669E"/>
                </a:solidFill>
                <a:latin typeface="+mn-lt"/>
                <a:ea typeface="+mn-ea"/>
                <a:sym typeface="Arial" charset="0"/>
              </a:defRPr>
            </a:lvl7pPr>
            <a:lvl8pPr marL="1010321" algn="l" rtl="0" eaLnBrk="1" fontAlgn="base" hangingPunct="1">
              <a:spcBef>
                <a:spcPct val="0"/>
              </a:spcBef>
              <a:spcAft>
                <a:spcPct val="0"/>
              </a:spcAft>
              <a:defRPr sz="1800">
                <a:solidFill>
                  <a:srgbClr val="2F669E"/>
                </a:solidFill>
                <a:latin typeface="+mn-lt"/>
                <a:ea typeface="+mn-ea"/>
                <a:sym typeface="Arial" charset="0"/>
              </a:defRPr>
            </a:lvl8pPr>
            <a:lvl9pPr marL="1347094" algn="l" rtl="0" eaLnBrk="1" fontAlgn="base" hangingPunct="1">
              <a:spcBef>
                <a:spcPct val="0"/>
              </a:spcBef>
              <a:spcAft>
                <a:spcPct val="0"/>
              </a:spcAft>
              <a:defRPr sz="1800">
                <a:solidFill>
                  <a:srgbClr val="2F669E"/>
                </a:solidFill>
                <a:latin typeface="+mn-lt"/>
                <a:ea typeface="+mn-ea"/>
                <a:sym typeface="Arial" charset="0"/>
              </a:defRPr>
            </a:lvl9pPr>
          </a:lstStyle>
          <a:p>
            <a:pPr>
              <a:buClr>
                <a:schemeClr val="tx2"/>
              </a:buClr>
              <a:buSzPct val="65000"/>
              <a:buFont typeface="Wingdings" pitchFamily="2" charset="2"/>
              <a:buChar char="Ø"/>
            </a:pPr>
            <a:r>
              <a:rPr lang="en-US" sz="1500" dirty="0">
                <a:latin typeface="Arial" panose="020B0604020202020204" pitchFamily="34" charset="0"/>
                <a:cs typeface="Arial" panose="020B0604020202020204" pitchFamily="34" charset="0"/>
              </a:rPr>
              <a:t>HPC System requirements</a:t>
            </a:r>
          </a:p>
          <a:p>
            <a:pPr>
              <a:buClr>
                <a:schemeClr val="tx2"/>
              </a:buClr>
              <a:buSzPct val="65000"/>
              <a:buFont typeface="Wingdings" pitchFamily="2" charset="2"/>
              <a:buChar char="Ø"/>
            </a:pPr>
            <a:r>
              <a:rPr lang="en-US" sz="1500" dirty="0">
                <a:latin typeface="Arial" panose="020B0604020202020204" pitchFamily="34" charset="0"/>
                <a:cs typeface="Arial" panose="020B0604020202020204" pitchFamily="34" charset="0"/>
              </a:rPr>
              <a:t>HPC System Administration</a:t>
            </a:r>
          </a:p>
          <a:p>
            <a:pPr>
              <a:buClr>
                <a:schemeClr val="tx2"/>
              </a:buClr>
              <a:buSzPct val="65000"/>
              <a:buFont typeface="Wingdings" pitchFamily="2" charset="2"/>
              <a:buChar char="Ø"/>
            </a:pPr>
            <a:r>
              <a:rPr lang="en-US" sz="1500" dirty="0">
                <a:latin typeface="Arial" panose="020B0604020202020204" pitchFamily="34" charset="0"/>
                <a:cs typeface="Arial" panose="020B0604020202020204" pitchFamily="34" charset="0"/>
              </a:rPr>
              <a:t>HPC Storage</a:t>
            </a:r>
          </a:p>
          <a:p>
            <a:pPr>
              <a:buClr>
                <a:schemeClr val="tx2"/>
              </a:buClr>
              <a:buSzPct val="65000"/>
              <a:buFont typeface="Wingdings" pitchFamily="2" charset="2"/>
              <a:buChar char="Ø"/>
            </a:pPr>
            <a:r>
              <a:rPr lang="en-US" sz="1500" dirty="0">
                <a:latin typeface="Arial" panose="020B0604020202020204" pitchFamily="34" charset="0"/>
                <a:cs typeface="Arial" panose="020B0604020202020204" pitchFamily="34" charset="0"/>
              </a:rPr>
              <a:t>Application profiling and optimization</a:t>
            </a:r>
          </a:p>
          <a:p>
            <a:pPr>
              <a:buClr>
                <a:schemeClr val="tx2"/>
              </a:buClr>
              <a:buSzPct val="65000"/>
              <a:buFont typeface="Wingdings" pitchFamily="2" charset="2"/>
              <a:buChar char="Ø"/>
            </a:pPr>
            <a:r>
              <a:rPr lang="en-US" sz="1500" dirty="0">
                <a:latin typeface="Arial" panose="020B0604020202020204" pitchFamily="34" charset="0"/>
                <a:cs typeface="Arial" panose="020B0604020202020204" pitchFamily="34" charset="0"/>
              </a:rPr>
              <a:t>Performance evaluation</a:t>
            </a:r>
          </a:p>
          <a:p>
            <a:pPr>
              <a:buClr>
                <a:schemeClr val="tx2"/>
              </a:buClr>
              <a:buSzPct val="65000"/>
              <a:buFont typeface="Wingdings" pitchFamily="2" charset="2"/>
              <a:buChar char="Ø"/>
            </a:pPr>
            <a:r>
              <a:rPr lang="en-US" sz="1500" dirty="0">
                <a:latin typeface="Arial" panose="020B0604020202020204" pitchFamily="34" charset="0"/>
                <a:cs typeface="Arial" panose="020B0604020202020204" pitchFamily="34" charset="0"/>
              </a:rPr>
              <a:t> HPC application support </a:t>
            </a:r>
          </a:p>
          <a:p>
            <a:pPr>
              <a:buClr>
                <a:schemeClr val="tx2"/>
              </a:buClr>
              <a:buSzPct val="65000"/>
              <a:buFont typeface="Wingdings" pitchFamily="2" charset="2"/>
              <a:buChar char="Ø"/>
            </a:pPr>
            <a:r>
              <a:rPr lang="en-US" sz="1500" dirty="0">
                <a:latin typeface="Arial" panose="020B0604020202020204" pitchFamily="34" charset="0"/>
                <a:cs typeface="Arial" panose="020B0604020202020204" pitchFamily="34" charset="0"/>
              </a:rPr>
              <a:t>Code porting and parallelization</a:t>
            </a:r>
          </a:p>
          <a:p>
            <a:pPr>
              <a:buClr>
                <a:schemeClr val="tx2"/>
              </a:buClr>
              <a:buSzPct val="65000"/>
              <a:buFont typeface="Wingdings" pitchFamily="2" charset="2"/>
              <a:buChar char="Ø"/>
            </a:pPr>
            <a:r>
              <a:rPr lang="en-US" sz="1500" dirty="0">
                <a:latin typeface="Arial" panose="020B0604020202020204" pitchFamily="34" charset="0"/>
                <a:cs typeface="Arial" panose="020B0604020202020204" pitchFamily="34" charset="0"/>
              </a:rPr>
              <a:t>GPU programming</a:t>
            </a:r>
          </a:p>
          <a:p>
            <a:pPr>
              <a:buClr>
                <a:schemeClr val="tx2"/>
              </a:buClr>
              <a:buSzPct val="65000"/>
              <a:buFont typeface="Wingdings" pitchFamily="2" charset="2"/>
              <a:buChar char="Ø"/>
            </a:pPr>
            <a:r>
              <a:rPr lang="en-GB" sz="1500" dirty="0">
                <a:latin typeface="Arial" panose="020B0604020202020204" pitchFamily="34" charset="0"/>
                <a:cs typeface="Arial" panose="020B0604020202020204" pitchFamily="34" charset="0"/>
              </a:rPr>
              <a:t>Bespoke</a:t>
            </a:r>
            <a:r>
              <a:rPr lang="en-US" sz="1500" dirty="0">
                <a:latin typeface="Arial" panose="020B0604020202020204" pitchFamily="34" charset="0"/>
                <a:cs typeface="Arial" panose="020B0604020202020204" pitchFamily="34" charset="0"/>
              </a:rPr>
              <a:t> solutions and assessment </a:t>
            </a:r>
          </a:p>
          <a:p>
            <a:pPr>
              <a:buClr>
                <a:schemeClr val="tx2"/>
              </a:buClr>
              <a:buSzPct val="65000"/>
              <a:buFont typeface="Wingdings" pitchFamily="2" charset="2"/>
              <a:buChar char="Ø"/>
            </a:pPr>
            <a:r>
              <a:rPr lang="en-US" sz="1500" dirty="0">
                <a:latin typeface="Arial" panose="020B0604020202020204" pitchFamily="34" charset="0"/>
                <a:cs typeface="Arial" panose="020B0604020202020204" pitchFamily="34" charset="0"/>
              </a:rPr>
              <a:t>Specialist training </a:t>
            </a:r>
          </a:p>
          <a:p>
            <a:pPr>
              <a:buClr>
                <a:schemeClr val="tx2"/>
              </a:buClr>
              <a:buSzPct val="65000"/>
              <a:buFont typeface="Wingdings" pitchFamily="2" charset="2"/>
              <a:buChar char="Ø"/>
            </a:pPr>
            <a:r>
              <a:rPr lang="en-US" sz="1500" dirty="0">
                <a:latin typeface="Arial" panose="020B0604020202020204" pitchFamily="34" charset="0"/>
                <a:cs typeface="Arial" panose="020B0604020202020204" pitchFamily="34" charset="0"/>
              </a:rPr>
              <a:t>Outreach and user engagement</a:t>
            </a:r>
          </a:p>
          <a:p>
            <a:pPr>
              <a:buClr>
                <a:schemeClr val="tx2"/>
              </a:buClr>
              <a:buSzPct val="65000"/>
              <a:buFont typeface="Wingdings" pitchFamily="2" charset="2"/>
              <a:buChar char="Ø"/>
            </a:pPr>
            <a:r>
              <a:rPr lang="en-US" sz="1500" dirty="0">
                <a:latin typeface="Arial" panose="020B0604020202020204" pitchFamily="34" charset="0"/>
                <a:cs typeface="Arial" panose="020B0604020202020204" pitchFamily="34" charset="0"/>
              </a:rPr>
              <a:t>Grant proposal assistance and review</a:t>
            </a:r>
          </a:p>
          <a:p>
            <a:pPr>
              <a:buClr>
                <a:schemeClr val="tx2"/>
              </a:buClr>
              <a:buSzPct val="65000"/>
              <a:buFont typeface="Wingdings" pitchFamily="2" charset="2"/>
              <a:buChar char="Ø"/>
            </a:pPr>
            <a:r>
              <a:rPr lang="en-US" sz="1500" dirty="0">
                <a:latin typeface="Arial" panose="020B0604020202020204" pitchFamily="34" charset="0"/>
                <a:cs typeface="Arial" panose="020B0604020202020204" pitchFamily="34" charset="0"/>
              </a:rPr>
              <a:t>Linux VM Sysadmin</a:t>
            </a:r>
          </a:p>
          <a:p>
            <a:pPr>
              <a:buClr>
                <a:schemeClr val="tx2"/>
              </a:buClr>
              <a:buSzPct val="65000"/>
              <a:buFont typeface="Wingdings" pitchFamily="2" charset="2"/>
              <a:buChar char="Ø"/>
            </a:pPr>
            <a:r>
              <a:rPr lang="en-US" sz="1500" dirty="0">
                <a:latin typeface="Arial" panose="020B0604020202020204" pitchFamily="34" charset="0"/>
                <a:cs typeface="Arial" panose="020B0604020202020204" pitchFamily="34" charset="0"/>
              </a:rPr>
              <a:t>VM Management</a:t>
            </a:r>
          </a:p>
          <a:p>
            <a:pPr>
              <a:buClr>
                <a:schemeClr val="tx2"/>
              </a:buClr>
              <a:buSzPct val="65000"/>
              <a:buFont typeface="Wingdings" pitchFamily="2" charset="2"/>
              <a:buChar char="Ø"/>
            </a:pPr>
            <a:r>
              <a:rPr lang="en-US" sz="1500" dirty="0">
                <a:latin typeface="Arial" panose="020B0604020202020204" pitchFamily="34" charset="0"/>
                <a:cs typeface="Arial" panose="020B0604020202020204" pitchFamily="34" charset="0"/>
              </a:rPr>
              <a:t>2</a:t>
            </a:r>
            <a:r>
              <a:rPr lang="en-US" sz="1500" baseline="30000" dirty="0">
                <a:latin typeface="Arial" panose="020B0604020202020204" pitchFamily="34" charset="0"/>
                <a:cs typeface="Arial" panose="020B0604020202020204" pitchFamily="34" charset="0"/>
              </a:rPr>
              <a:t>nd</a:t>
            </a:r>
            <a:r>
              <a:rPr lang="en-US" sz="1500" dirty="0">
                <a:latin typeface="Arial" panose="020B0604020202020204" pitchFamily="34" charset="0"/>
                <a:cs typeface="Arial" panose="020B0604020202020204" pitchFamily="34" charset="0"/>
              </a:rPr>
              <a:t> line support</a:t>
            </a:r>
          </a:p>
          <a:p>
            <a:pPr marL="0" indent="0">
              <a:buClr>
                <a:schemeClr val="tx2"/>
              </a:buClr>
              <a:buSzPct val="65000"/>
              <a:buNone/>
            </a:pPr>
            <a:endParaRPr lang="en-US" sz="15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A4AA6639-35A4-824A-B07F-006486893A6F}"/>
              </a:ext>
            </a:extLst>
          </p:cNvPr>
          <p:cNvSpPr/>
          <p:nvPr/>
        </p:nvSpPr>
        <p:spPr>
          <a:xfrm>
            <a:off x="1168093" y="2647561"/>
            <a:ext cx="1425390" cy="707886"/>
          </a:xfrm>
          <a:prstGeom prst="rect">
            <a:avLst/>
          </a:prstGeom>
        </p:spPr>
        <p:txBody>
          <a:bodyPr wrap="none">
            <a:spAutoFit/>
          </a:bodyPr>
          <a:lstStyle/>
          <a:p>
            <a:r>
              <a:rPr lang="en-US" sz="2000" dirty="0">
                <a:latin typeface="Arial" panose="020B0604020202020204" pitchFamily="34" charset="0"/>
                <a:cs typeface="Arial" panose="020B0604020202020204" pitchFamily="34" charset="0"/>
              </a:rPr>
              <a:t>Research</a:t>
            </a:r>
          </a:p>
          <a:p>
            <a:r>
              <a:rPr lang="en-US" sz="2000" dirty="0">
                <a:latin typeface="Arial" panose="020B0604020202020204" pitchFamily="34" charset="0"/>
                <a:cs typeface="Arial" panose="020B0604020202020204" pitchFamily="34" charset="0"/>
              </a:rPr>
              <a:t>Computing</a:t>
            </a:r>
          </a:p>
        </p:txBody>
      </p:sp>
      <p:sp>
        <p:nvSpPr>
          <p:cNvPr id="11" name="Up Arrow 10">
            <a:extLst>
              <a:ext uri="{FF2B5EF4-FFF2-40B4-BE49-F238E27FC236}">
                <a16:creationId xmlns:a16="http://schemas.microsoft.com/office/drawing/2014/main" id="{ED6488C3-5060-FA49-9CAD-62F9C20D968F}"/>
              </a:ext>
            </a:extLst>
          </p:cNvPr>
          <p:cNvSpPr/>
          <p:nvPr/>
        </p:nvSpPr>
        <p:spPr bwMode="auto">
          <a:xfrm>
            <a:off x="5007049" y="4028808"/>
            <a:ext cx="1094874" cy="531161"/>
          </a:xfrm>
          <a:prstGeom prst="upArrow">
            <a:avLst/>
          </a:prstGeom>
          <a:solidFill>
            <a:srgbClr val="0047BA"/>
          </a:solidFill>
          <a:ln w="28575" cap="flat" cmpd="sng" algn="ctr">
            <a:solidFill>
              <a:schemeClr val="tx1"/>
            </a:solidFill>
            <a:prstDash val="solid"/>
            <a:round/>
            <a:headEnd type="none" w="med" len="med"/>
            <a:tailEnd type="none"/>
          </a:ln>
          <a:effectLst/>
        </p:spPr>
        <p:txBody>
          <a:bodyPr rtlCol="0" anchor="ctr"/>
          <a:lstStyle/>
          <a:p>
            <a:pPr algn="ctr"/>
            <a:endParaRPr lang="en-US"/>
          </a:p>
        </p:txBody>
      </p:sp>
      <p:sp>
        <p:nvSpPr>
          <p:cNvPr id="12" name="Down Arrow 11">
            <a:extLst>
              <a:ext uri="{FF2B5EF4-FFF2-40B4-BE49-F238E27FC236}">
                <a16:creationId xmlns:a16="http://schemas.microsoft.com/office/drawing/2014/main" id="{C73403B7-D753-F64B-B861-B46C2DDC85C1}"/>
              </a:ext>
            </a:extLst>
          </p:cNvPr>
          <p:cNvSpPr/>
          <p:nvPr/>
        </p:nvSpPr>
        <p:spPr bwMode="auto">
          <a:xfrm>
            <a:off x="6409459" y="4044136"/>
            <a:ext cx="1094874" cy="520942"/>
          </a:xfrm>
          <a:prstGeom prst="downArrow">
            <a:avLst/>
          </a:prstGeom>
          <a:solidFill>
            <a:srgbClr val="0047BA"/>
          </a:solidFill>
          <a:ln w="28575" cap="flat" cmpd="sng" algn="ctr">
            <a:solidFill>
              <a:schemeClr val="tx1"/>
            </a:solidFill>
            <a:prstDash val="solid"/>
            <a:round/>
            <a:headEnd type="none" w="med" len="med"/>
            <a:tailEnd type="none"/>
          </a:ln>
          <a:effectLst/>
        </p:spPr>
        <p:txBody>
          <a:bodyPr rtlCol="0" anchor="ctr"/>
          <a:lstStyle/>
          <a:p>
            <a:pPr algn="ctr"/>
            <a:endParaRPr lang="en-US"/>
          </a:p>
        </p:txBody>
      </p:sp>
      <p:sp>
        <p:nvSpPr>
          <p:cNvPr id="3" name="CustomShape 3">
            <a:extLst>
              <a:ext uri="{FF2B5EF4-FFF2-40B4-BE49-F238E27FC236}">
                <a16:creationId xmlns:a16="http://schemas.microsoft.com/office/drawing/2014/main" id="{346B6D69-30FC-1458-91A9-5A0D183A043A}"/>
              </a:ext>
            </a:extLst>
          </p:cNvPr>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a:t>
            </a:r>
            <a:endParaRPr lang="en-US" sz="1200" b="0" strike="noStrike" spc="-1" dirty="0">
              <a:latin typeface="Arial"/>
            </a:endParaRPr>
          </a:p>
        </p:txBody>
      </p:sp>
    </p:spTree>
    <p:extLst>
      <p:ext uri="{BB962C8B-B14F-4D97-AF65-F5344CB8AC3E}">
        <p14:creationId xmlns:p14="http://schemas.microsoft.com/office/powerpoint/2010/main" val="2062730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30887"/>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2800" b="1" spc="43" dirty="0">
                <a:solidFill>
                  <a:srgbClr val="0047BA"/>
                </a:solidFill>
                <a:latin typeface="Arial"/>
              </a:rPr>
              <a:t>RC Current Services</a:t>
            </a:r>
            <a:endParaRPr lang="en-US" sz="28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6</a:t>
            </a:fld>
            <a:endParaRPr lang="en-US" sz="850" b="0" strike="noStrike" spc="-1">
              <a:latin typeface="Arial"/>
            </a:endParaRPr>
          </a:p>
        </p:txBody>
      </p:sp>
      <p:sp>
        <p:nvSpPr>
          <p:cNvPr id="473" name="CustomShape 5"/>
          <p:cNvSpPr/>
          <p:nvPr/>
        </p:nvSpPr>
        <p:spPr>
          <a:xfrm>
            <a:off x="609480" y="1402199"/>
            <a:ext cx="10887048" cy="2135801"/>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60">
              <a:buClr>
                <a:srgbClr val="0047BA"/>
              </a:buClr>
              <a:buSzPct val="65000"/>
            </a:pPr>
            <a:r>
              <a:rPr lang="en-US" sz="2400" b="1" spc="-1" dirty="0">
                <a:solidFill>
                  <a:srgbClr val="0047BA"/>
                </a:solidFill>
              </a:rPr>
              <a:t>KU HPC capability and requirements are steadily growing</a:t>
            </a:r>
          </a:p>
          <a:p>
            <a:pPr marL="640080" lvl="1" indent="-182520">
              <a:lnSpc>
                <a:spcPct val="150000"/>
              </a:lnSpc>
              <a:buClr>
                <a:srgbClr val="0047BA"/>
              </a:buClr>
              <a:buSzPct val="65000"/>
              <a:buFont typeface="Wingdings" charset="2"/>
              <a:buChar char=""/>
            </a:pPr>
            <a:r>
              <a:rPr lang="en-US" sz="2000" spc="-1" dirty="0"/>
              <a:t>Current KU capabilities lag behind other institutes, causing delays to research outcomes.</a:t>
            </a:r>
          </a:p>
          <a:p>
            <a:pPr marL="640080" lvl="1" indent="-182520">
              <a:lnSpc>
                <a:spcPct val="150000"/>
              </a:lnSpc>
              <a:buClr>
                <a:srgbClr val="0047BA"/>
              </a:buClr>
              <a:buSzPct val="65000"/>
              <a:buFont typeface="Wingdings" charset="2"/>
              <a:buChar char=""/>
            </a:pPr>
            <a:r>
              <a:rPr lang="en-US" sz="2000" spc="-1" dirty="0"/>
              <a:t>Aim to increase HPC provision to </a:t>
            </a:r>
            <a:r>
              <a:rPr lang="en-US" sz="2000" b="1" spc="-1" dirty="0"/>
              <a:t> 30,000 CPU </a:t>
            </a:r>
            <a:r>
              <a:rPr lang="en-US" sz="2000" spc="-1" dirty="0"/>
              <a:t>cores, and </a:t>
            </a:r>
            <a:r>
              <a:rPr lang="en-US" sz="2000" b="1" spc="-1" dirty="0"/>
              <a:t>48 GPU </a:t>
            </a:r>
            <a:r>
              <a:rPr lang="en-US" sz="2000" spc="-1" dirty="0"/>
              <a:t>cards by 2024.</a:t>
            </a:r>
          </a:p>
          <a:p>
            <a:pPr marL="640080" lvl="1" indent="-182520">
              <a:lnSpc>
                <a:spcPct val="150000"/>
              </a:lnSpc>
              <a:buClr>
                <a:srgbClr val="0047BA"/>
              </a:buClr>
              <a:buSzPct val="65000"/>
              <a:buFont typeface="Wingdings" charset="2"/>
              <a:buChar char=""/>
            </a:pPr>
            <a:r>
              <a:rPr lang="en-US" sz="2000" spc="-1" dirty="0"/>
              <a:t>Require regular investment to stay up to date and competitive</a:t>
            </a:r>
          </a:p>
          <a:p>
            <a:pPr marL="640080" lvl="1" indent="-182520">
              <a:lnSpc>
                <a:spcPct val="150000"/>
              </a:lnSpc>
              <a:buClr>
                <a:srgbClr val="0047BA"/>
              </a:buClr>
              <a:buSzPct val="65000"/>
              <a:buFont typeface="Wingdings" charset="2"/>
              <a:buChar char=""/>
            </a:pPr>
            <a:r>
              <a:rPr lang="en-US" sz="2000" spc="-1" dirty="0"/>
              <a:t>Will include specific investments to support strategic projects, such as RIC-2D.</a:t>
            </a:r>
          </a:p>
        </p:txBody>
      </p:sp>
      <p:graphicFrame>
        <p:nvGraphicFramePr>
          <p:cNvPr id="7" name="Object 6">
            <a:extLst>
              <a:ext uri="{FF2B5EF4-FFF2-40B4-BE49-F238E27FC236}">
                <a16:creationId xmlns:a16="http://schemas.microsoft.com/office/drawing/2014/main" id="{1FE19FE3-43CC-E3CF-E67A-D607746BB672}"/>
              </a:ext>
            </a:extLst>
          </p:cNvPr>
          <p:cNvGraphicFramePr>
            <a:graphicFrameLocks noChangeAspect="1"/>
          </p:cNvGraphicFramePr>
          <p:nvPr>
            <p:extLst>
              <p:ext uri="{D42A27DB-BD31-4B8C-83A1-F6EECF244321}">
                <p14:modId xmlns:p14="http://schemas.microsoft.com/office/powerpoint/2010/main" val="1466541659"/>
              </p:ext>
            </p:extLst>
          </p:nvPr>
        </p:nvGraphicFramePr>
        <p:xfrm>
          <a:off x="3024188" y="3630119"/>
          <a:ext cx="4037012" cy="2765425"/>
        </p:xfrm>
        <a:graphic>
          <a:graphicData uri="http://schemas.openxmlformats.org/presentationml/2006/ole">
            <mc:AlternateContent xmlns:mc="http://schemas.openxmlformats.org/markup-compatibility/2006">
              <mc:Choice xmlns:v="urn:schemas-microsoft-com:vml" Requires="v">
                <p:oleObj name="Worksheet" r:id="rId3" imgW="6273800" imgH="4495800" progId="Excel.Sheet.12">
                  <p:embed/>
                </p:oleObj>
              </mc:Choice>
              <mc:Fallback>
                <p:oleObj name="Worksheet" r:id="rId3" imgW="6273800" imgH="4495800" progId="Excel.Sheet.12">
                  <p:embed/>
                  <p:pic>
                    <p:nvPicPr>
                      <p:cNvPr id="7" name="Object 6">
                        <a:extLst>
                          <a:ext uri="{FF2B5EF4-FFF2-40B4-BE49-F238E27FC236}">
                            <a16:creationId xmlns:a16="http://schemas.microsoft.com/office/drawing/2014/main" id="{5B041A89-243C-9A7D-D7A4-6C2D0D2A9DB8}"/>
                          </a:ext>
                        </a:extLst>
                      </p:cNvPr>
                      <p:cNvPicPr/>
                      <p:nvPr/>
                    </p:nvPicPr>
                    <p:blipFill>
                      <a:blip r:embed="rId4"/>
                      <a:stretch>
                        <a:fillRect/>
                      </a:stretch>
                    </p:blipFill>
                    <p:spPr>
                      <a:xfrm>
                        <a:off x="3024188" y="3630119"/>
                        <a:ext cx="4037012" cy="2765425"/>
                      </a:xfrm>
                      <a:prstGeom prst="rect">
                        <a:avLst/>
                      </a:prstGeom>
                    </p:spPr>
                  </p:pic>
                </p:oleObj>
              </mc:Fallback>
            </mc:AlternateContent>
          </a:graphicData>
        </a:graphic>
      </p:graphicFrame>
    </p:spTree>
    <p:extLst>
      <p:ext uri="{BB962C8B-B14F-4D97-AF65-F5344CB8AC3E}">
        <p14:creationId xmlns:p14="http://schemas.microsoft.com/office/powerpoint/2010/main" val="220484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9380" y="53012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592140" y="542927"/>
            <a:ext cx="10971720" cy="430887"/>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360">
              <a:lnSpc>
                <a:spcPct val="100000"/>
              </a:lnSpc>
              <a:spcBef>
                <a:spcPts val="3169"/>
              </a:spcBef>
              <a:buClr>
                <a:srgbClr val="0047BA"/>
              </a:buClr>
              <a:buSzPct val="65000"/>
            </a:pPr>
            <a:r>
              <a:rPr lang="en-US" sz="2800" b="1" spc="-1" dirty="0">
                <a:solidFill>
                  <a:srgbClr val="0047BA"/>
                </a:solidFill>
              </a:rPr>
              <a:t>HPC plan 2021 - 2025</a:t>
            </a:r>
          </a:p>
        </p:txBody>
      </p:sp>
      <p:sp>
        <p:nvSpPr>
          <p:cNvPr id="471" name="CustomShape 3"/>
          <p:cNvSpPr/>
          <p:nvPr/>
        </p:nvSpPr>
        <p:spPr>
          <a:xfrm>
            <a:off x="4183500" y="28641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860" y="23132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7</a:t>
            </a:fld>
            <a:endParaRPr lang="en-US" sz="850" b="0" strike="noStrike" spc="-1">
              <a:latin typeface="Arial"/>
            </a:endParaRPr>
          </a:p>
        </p:txBody>
      </p:sp>
      <p:graphicFrame>
        <p:nvGraphicFramePr>
          <p:cNvPr id="7" name="Table 6">
            <a:extLst>
              <a:ext uri="{FF2B5EF4-FFF2-40B4-BE49-F238E27FC236}">
                <a16:creationId xmlns:a16="http://schemas.microsoft.com/office/drawing/2014/main" id="{07CB7E90-81AE-1E48-A8E5-C2C87FF16FD9}"/>
              </a:ext>
            </a:extLst>
          </p:cNvPr>
          <p:cNvGraphicFramePr>
            <a:graphicFrameLocks noGrp="1"/>
          </p:cNvGraphicFramePr>
          <p:nvPr>
            <p:extLst>
              <p:ext uri="{D42A27DB-BD31-4B8C-83A1-F6EECF244321}">
                <p14:modId xmlns:p14="http://schemas.microsoft.com/office/powerpoint/2010/main" val="1512779183"/>
              </p:ext>
            </p:extLst>
          </p:nvPr>
        </p:nvGraphicFramePr>
        <p:xfrm>
          <a:off x="309759" y="1042061"/>
          <a:ext cx="11272101" cy="5522500"/>
        </p:xfrm>
        <a:graphic>
          <a:graphicData uri="http://schemas.openxmlformats.org/drawingml/2006/table">
            <a:tbl>
              <a:tblPr firstRow="1" bandRow="1"/>
              <a:tblGrid>
                <a:gridCol w="1053445">
                  <a:extLst>
                    <a:ext uri="{9D8B030D-6E8A-4147-A177-3AD203B41FA5}">
                      <a16:colId xmlns:a16="http://schemas.microsoft.com/office/drawing/2014/main" val="557725123"/>
                    </a:ext>
                  </a:extLst>
                </a:gridCol>
                <a:gridCol w="3062641">
                  <a:extLst>
                    <a:ext uri="{9D8B030D-6E8A-4147-A177-3AD203B41FA5}">
                      <a16:colId xmlns:a16="http://schemas.microsoft.com/office/drawing/2014/main" val="3687805585"/>
                    </a:ext>
                  </a:extLst>
                </a:gridCol>
                <a:gridCol w="2206943">
                  <a:extLst>
                    <a:ext uri="{9D8B030D-6E8A-4147-A177-3AD203B41FA5}">
                      <a16:colId xmlns:a16="http://schemas.microsoft.com/office/drawing/2014/main" val="329039289"/>
                    </a:ext>
                  </a:extLst>
                </a:gridCol>
                <a:gridCol w="1781666">
                  <a:extLst>
                    <a:ext uri="{9D8B030D-6E8A-4147-A177-3AD203B41FA5}">
                      <a16:colId xmlns:a16="http://schemas.microsoft.com/office/drawing/2014/main" val="481703216"/>
                    </a:ext>
                  </a:extLst>
                </a:gridCol>
                <a:gridCol w="1687398">
                  <a:extLst>
                    <a:ext uri="{9D8B030D-6E8A-4147-A177-3AD203B41FA5}">
                      <a16:colId xmlns:a16="http://schemas.microsoft.com/office/drawing/2014/main" val="607956648"/>
                    </a:ext>
                  </a:extLst>
                </a:gridCol>
                <a:gridCol w="1480008">
                  <a:extLst>
                    <a:ext uri="{9D8B030D-6E8A-4147-A177-3AD203B41FA5}">
                      <a16:colId xmlns:a16="http://schemas.microsoft.com/office/drawing/2014/main" val="2615944219"/>
                    </a:ext>
                  </a:extLst>
                </a:gridCol>
              </a:tblGrid>
              <a:tr h="243228">
                <a:tc>
                  <a:txBody>
                    <a:bodyPr/>
                    <a:lstStyle/>
                    <a:p>
                      <a:pPr algn="ctr"/>
                      <a:endParaRPr lang="en-US" sz="1000" b="1" dirty="0">
                        <a:solidFill>
                          <a:srgbClr val="FFFFFF"/>
                        </a:solidFill>
                      </a:endParaRPr>
                    </a:p>
                  </a:txBody>
                  <a:tcPr>
                    <a:noFill/>
                  </a:tcPr>
                </a:tc>
                <a:tc>
                  <a:txBody>
                    <a:bodyPr/>
                    <a:lstStyle/>
                    <a:p>
                      <a:pPr algn="ctr"/>
                      <a:r>
                        <a:rPr lang="en-US" sz="1000" b="1" dirty="0">
                          <a:solidFill>
                            <a:srgbClr val="FFFFFF"/>
                          </a:solidFill>
                        </a:rPr>
                        <a:t>2021</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2022</a:t>
                      </a:r>
                    </a:p>
                  </a:txBody>
                  <a:tcPr>
                    <a:solidFill>
                      <a:srgbClr val="0047BA"/>
                    </a:solidFill>
                  </a:tcPr>
                </a:tc>
                <a:tc>
                  <a:txBody>
                    <a:bodyPr/>
                    <a:lstStyle/>
                    <a:p>
                      <a:pPr algn="ctr"/>
                      <a:r>
                        <a:rPr lang="en-US" sz="1000" b="1" dirty="0">
                          <a:solidFill>
                            <a:srgbClr val="FFFFFF"/>
                          </a:solidFill>
                        </a:rPr>
                        <a:t>2023</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2024</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2025</a:t>
                      </a:r>
                    </a:p>
                  </a:txBody>
                  <a:tcPr>
                    <a:solidFill>
                      <a:srgbClr val="0047BA"/>
                    </a:solidFill>
                  </a:tcPr>
                </a:tc>
                <a:extLst>
                  <a:ext uri="{0D108BD9-81ED-4DB2-BD59-A6C34878D82A}">
                    <a16:rowId xmlns:a16="http://schemas.microsoft.com/office/drawing/2014/main" val="667571679"/>
                  </a:ext>
                </a:extLst>
              </a:tr>
              <a:tr h="1591739">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HPC provision</a:t>
                      </a:r>
                    </a:p>
                  </a:txBody>
                  <a:tcPr marL="53280" marR="53280" anchor="ctr">
                    <a:solidFill>
                      <a:schemeClr val="tx2"/>
                    </a:solidFill>
                  </a:tcPr>
                </a:tc>
                <a:tc>
                  <a:txBody>
                    <a:bodyPr/>
                    <a:lstStyle/>
                    <a:p>
                      <a:pPr marL="7938" indent="0" algn="l">
                        <a:lnSpc>
                          <a:spcPts val="2100"/>
                        </a:lnSpc>
                        <a:buFont typeface="Arial" panose="020B0604020202020204" pitchFamily="34" charset="0"/>
                        <a:buNone/>
                        <a:tabLst/>
                      </a:pPr>
                      <a:r>
                        <a:rPr lang="en-US" sz="1000" b="1" strike="noStrike" spc="-1" dirty="0"/>
                        <a:t>88 CPU </a:t>
                      </a:r>
                      <a:r>
                        <a:rPr lang="en-US" sz="1000" strike="noStrike" spc="-1" dirty="0"/>
                        <a:t>nodes ( </a:t>
                      </a:r>
                      <a:r>
                        <a:rPr lang="en-US" sz="1000" b="0" strike="noStrike" spc="-1" dirty="0"/>
                        <a:t>4,576 CPU cores</a:t>
                      </a:r>
                      <a:r>
                        <a:rPr lang="en-US" sz="1000" strike="noStrike" spc="-1" dirty="0"/>
                        <a:t>)</a:t>
                      </a:r>
                    </a:p>
                    <a:p>
                      <a:pPr marL="7938" indent="0" algn="l">
                        <a:lnSpc>
                          <a:spcPts val="2100"/>
                        </a:lnSpc>
                        <a:buFont typeface="Arial" panose="020B0604020202020204" pitchFamily="34" charset="0"/>
                        <a:buNone/>
                        <a:tabLst/>
                      </a:pPr>
                      <a:r>
                        <a:rPr lang="en-US" sz="1000" b="1" strike="noStrike" spc="-1" dirty="0"/>
                        <a:t>3 GPU </a:t>
                      </a:r>
                      <a:r>
                        <a:rPr lang="en-US" sz="1000" strike="noStrike" spc="-1" dirty="0"/>
                        <a:t>nodes (</a:t>
                      </a:r>
                      <a:r>
                        <a:rPr lang="en-US" sz="1000" b="0" strike="noStrike" spc="-1" dirty="0"/>
                        <a:t>12 GPU Nvidia V100 cards, 156 CPU cores)</a:t>
                      </a:r>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endParaRPr lang="en-US" sz="1000" b="1" strike="noStrike" spc="-1" dirty="0"/>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a:t>Total 401.9 TFLOPS</a:t>
                      </a:r>
                      <a:endParaRPr lang="en-US" sz="1000" b="1" strike="noStrike" spc="-1" dirty="0"/>
                    </a:p>
                  </a:txBody>
                  <a:tcPr marL="53280" marR="53280"/>
                </a:tc>
                <a:tc>
                  <a:txBody>
                    <a:bodyPr/>
                    <a:lstStyle/>
                    <a:p>
                      <a:pPr marL="7938" indent="0" algn="justLow"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124 CPU </a:t>
                      </a:r>
                      <a:r>
                        <a:rPr lang="en-US" sz="1000" b="0" strike="noStrike" kern="1200" spc="-1" dirty="0">
                          <a:solidFill>
                            <a:schemeClr val="tx1"/>
                          </a:solidFill>
                          <a:latin typeface="+mn-lt"/>
                          <a:ea typeface="+mn-ea"/>
                          <a:cs typeface="+mn-cs"/>
                        </a:rPr>
                        <a:t>nodes (6,136 CPU cores)</a:t>
                      </a:r>
                    </a:p>
                    <a:p>
                      <a:pPr marL="7938" indent="0" algn="justLow"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7 GPU </a:t>
                      </a:r>
                      <a:r>
                        <a:rPr lang="en-US" sz="1000" b="0" strike="noStrike" kern="1200" spc="-1" dirty="0">
                          <a:solidFill>
                            <a:schemeClr val="tx1"/>
                          </a:solidFill>
                          <a:latin typeface="+mn-lt"/>
                          <a:ea typeface="+mn-ea"/>
                          <a:cs typeface="+mn-cs"/>
                        </a:rPr>
                        <a:t>nodes (20 GPU Nvidia V100 cards, 260 CPU cores)</a:t>
                      </a:r>
                    </a:p>
                    <a:p>
                      <a:pPr marL="7938" marR="0" lvl="0" indent="0" algn="justLow" defTabSz="914400" rtl="0" eaLnBrk="1" fontAlgn="auto" latinLnBrk="0" hangingPunct="1">
                        <a:lnSpc>
                          <a:spcPts val="2100"/>
                        </a:lnSpc>
                        <a:spcBef>
                          <a:spcPts val="0"/>
                        </a:spcBef>
                        <a:spcAft>
                          <a:spcPts val="0"/>
                        </a:spcAft>
                        <a:buClrTx/>
                        <a:buSzTx/>
                        <a:buFont typeface="Arial" panose="020B0604020202020204" pitchFamily="34" charset="0"/>
                        <a:buNone/>
                        <a:tabLst/>
                        <a:defRPr/>
                      </a:pPr>
                      <a:endParaRPr lang="en-US" sz="1000" b="1" strike="noStrike" kern="1200" spc="-1" dirty="0">
                        <a:solidFill>
                          <a:schemeClr val="tx1"/>
                        </a:solidFill>
                        <a:latin typeface="+mn-lt"/>
                        <a:ea typeface="+mn-ea"/>
                        <a:cs typeface="+mn-cs"/>
                      </a:endParaRPr>
                    </a:p>
                    <a:p>
                      <a:pPr marL="7938" marR="0" lvl="0" indent="0" algn="justLow"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kern="1200" spc="-1" dirty="0">
                          <a:solidFill>
                            <a:schemeClr val="tx1"/>
                          </a:solidFill>
                          <a:latin typeface="+mn-lt"/>
                          <a:ea typeface="+mn-ea"/>
                          <a:cs typeface="+mn-cs"/>
                        </a:rPr>
                        <a:t>Total 597.8 TFLOPS</a:t>
                      </a: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190 CPU nodes </a:t>
                      </a:r>
                      <a:r>
                        <a:rPr lang="en-US" sz="1000" b="0" strike="noStrike" kern="1200" spc="-1" dirty="0">
                          <a:solidFill>
                            <a:schemeClr val="tx1"/>
                          </a:solidFill>
                          <a:latin typeface="+mn-lt"/>
                          <a:ea typeface="+mn-ea"/>
                          <a:cs typeface="+mn-cs"/>
                        </a:rPr>
                        <a:t>(9,568 CPU cores)</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7 GPU </a:t>
                      </a:r>
                      <a:r>
                        <a:rPr lang="en-US" sz="1000" b="0" strike="noStrike" kern="1200" spc="-1" dirty="0">
                          <a:solidFill>
                            <a:schemeClr val="tx1"/>
                          </a:solidFill>
                          <a:latin typeface="+mn-lt"/>
                          <a:ea typeface="+mn-ea"/>
                          <a:cs typeface="+mn-cs"/>
                        </a:rPr>
                        <a:t>nodes</a:t>
                      </a:r>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endParaRPr lang="en-US" sz="1000" b="1" strike="noStrike" kern="1200" spc="-1" dirty="0">
                        <a:solidFill>
                          <a:schemeClr val="tx1"/>
                        </a:solidFill>
                        <a:latin typeface="+mn-lt"/>
                        <a:ea typeface="+mn-ea"/>
                        <a:cs typeface="+mn-cs"/>
                      </a:endParaRPr>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kern="1200" spc="-1" dirty="0">
                          <a:solidFill>
                            <a:schemeClr val="tx1"/>
                          </a:solidFill>
                          <a:latin typeface="+mn-lt"/>
                          <a:ea typeface="+mn-ea"/>
                          <a:cs typeface="+mn-cs"/>
                        </a:rPr>
                        <a:t>Total 828.4 TFLOPS</a:t>
                      </a:r>
                      <a:endParaRPr lang="en-US" sz="1000" b="0" strike="noStrike" kern="1200" spc="-1" dirty="0">
                        <a:solidFill>
                          <a:schemeClr val="tx1"/>
                        </a:solidFill>
                        <a:latin typeface="+mn-lt"/>
                        <a:ea typeface="+mn-ea"/>
                        <a:cs typeface="+mn-cs"/>
                      </a:endParaRP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0" strike="noStrike" kern="1200" spc="-1" dirty="0">
                          <a:solidFill>
                            <a:schemeClr val="tx1"/>
                          </a:solidFill>
                          <a:latin typeface="+mn-lt"/>
                          <a:ea typeface="+mn-ea"/>
                          <a:cs typeface="+mn-cs"/>
                        </a:rPr>
                        <a:t>New cluster with  </a:t>
                      </a:r>
                      <a:r>
                        <a:rPr lang="en-US" sz="1000" b="1" strike="noStrike" kern="1200" spc="-1" dirty="0">
                          <a:solidFill>
                            <a:schemeClr val="tx1"/>
                          </a:solidFill>
                          <a:latin typeface="+mn-lt"/>
                          <a:ea typeface="+mn-ea"/>
                          <a:cs typeface="+mn-cs"/>
                        </a:rPr>
                        <a:t>30,000 cores – 1,176.6 TFLOPS</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190 CPU nodes</a:t>
                      </a:r>
                      <a:endParaRPr lang="en-US" sz="1000" b="0" strike="noStrike" kern="1200" spc="-1" dirty="0">
                        <a:solidFill>
                          <a:schemeClr val="tx1"/>
                        </a:solidFill>
                        <a:latin typeface="+mn-lt"/>
                        <a:ea typeface="+mn-ea"/>
                        <a:cs typeface="+mn-cs"/>
                      </a:endParaRP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7 GPU </a:t>
                      </a:r>
                      <a:r>
                        <a:rPr lang="en-US" sz="1000" b="0" strike="noStrike" kern="1200" spc="-1" dirty="0">
                          <a:solidFill>
                            <a:schemeClr val="tx1"/>
                          </a:solidFill>
                          <a:latin typeface="+mn-lt"/>
                          <a:ea typeface="+mn-ea"/>
                          <a:cs typeface="+mn-cs"/>
                        </a:rPr>
                        <a:t>nodes</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Total 2,005 TFLOPS</a:t>
                      </a: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30,000 core cluster</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190 CPU nodes</a:t>
                      </a:r>
                      <a:endParaRPr lang="en-US" sz="1000" b="0" strike="noStrike" kern="1200" spc="-1" dirty="0">
                        <a:solidFill>
                          <a:schemeClr val="tx1"/>
                        </a:solidFill>
                        <a:latin typeface="+mn-lt"/>
                        <a:ea typeface="+mn-ea"/>
                        <a:cs typeface="+mn-cs"/>
                      </a:endParaRP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7 GPU </a:t>
                      </a:r>
                      <a:r>
                        <a:rPr lang="en-US" sz="1000" b="0" strike="noStrike" kern="1200" spc="-1" dirty="0">
                          <a:solidFill>
                            <a:schemeClr val="tx1"/>
                          </a:solidFill>
                          <a:latin typeface="+mn-lt"/>
                          <a:ea typeface="+mn-ea"/>
                          <a:cs typeface="+mn-cs"/>
                        </a:rPr>
                        <a:t>nodes</a:t>
                      </a:r>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endParaRPr lang="en-US" sz="1000" b="1" strike="noStrike" kern="1200" spc="-1" dirty="0">
                        <a:solidFill>
                          <a:schemeClr val="tx1"/>
                        </a:solidFill>
                        <a:latin typeface="+mn-lt"/>
                        <a:ea typeface="+mn-ea"/>
                        <a:cs typeface="+mn-cs"/>
                      </a:endParaRPr>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kern="1200" spc="-1" dirty="0">
                          <a:solidFill>
                            <a:schemeClr val="tx1"/>
                          </a:solidFill>
                          <a:latin typeface="+mn-lt"/>
                          <a:ea typeface="+mn-ea"/>
                          <a:cs typeface="+mn-cs"/>
                        </a:rPr>
                        <a:t>Total 2,005 TFLOPS</a:t>
                      </a:r>
                    </a:p>
                  </a:txBody>
                  <a:tcPr/>
                </a:tc>
                <a:extLst>
                  <a:ext uri="{0D108BD9-81ED-4DB2-BD59-A6C34878D82A}">
                    <a16:rowId xmlns:a16="http://schemas.microsoft.com/office/drawing/2014/main" val="1269556809"/>
                  </a:ext>
                </a:extLst>
              </a:tr>
              <a:tr h="2814129">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Action</a:t>
                      </a:r>
                    </a:p>
                  </a:txBody>
                  <a:tcPr marL="53280" marR="53280" anchor="ctr">
                    <a:solidFill>
                      <a:schemeClr val="tx2"/>
                    </a:solidFill>
                  </a:tcPr>
                </a:tc>
                <a:tc>
                  <a:txBody>
                    <a:bodyPr/>
                    <a:lstStyle/>
                    <a:p>
                      <a:pPr marL="7938" indent="0" algn="l">
                        <a:lnSpc>
                          <a:spcPts val="2100"/>
                        </a:lnSpc>
                        <a:buFont typeface="Arial" panose="020B0604020202020204" pitchFamily="34" charset="0"/>
                        <a:buNone/>
                        <a:tabLst/>
                      </a:pPr>
                      <a:r>
                        <a:rPr lang="en-US" sz="1000" b="0" strike="noStrike" spc="-1" dirty="0"/>
                        <a:t>Currently in process purchasing hardware to expand HPC by:</a:t>
                      </a:r>
                    </a:p>
                    <a:p>
                      <a:pPr marL="450850" indent="-169863" algn="l">
                        <a:lnSpc>
                          <a:spcPts val="2100"/>
                        </a:lnSpc>
                        <a:buFont typeface="Arial" panose="020B0604020202020204" pitchFamily="34" charset="0"/>
                        <a:buChar char="•"/>
                        <a:tabLst/>
                      </a:pPr>
                      <a:r>
                        <a:rPr lang="en-US" sz="1000" b="1" strike="noStrike" spc="-1" dirty="0"/>
                        <a:t>36 CPU </a:t>
                      </a:r>
                      <a:r>
                        <a:rPr lang="en-US" sz="1000" strike="noStrike" spc="-1" dirty="0"/>
                        <a:t>nodes (1,560 CPU cores)</a:t>
                      </a:r>
                    </a:p>
                    <a:p>
                      <a:pPr marL="450850" indent="-169863" algn="l">
                        <a:lnSpc>
                          <a:spcPts val="2100"/>
                        </a:lnSpc>
                        <a:buFont typeface="Arial" panose="020B0604020202020204" pitchFamily="34" charset="0"/>
                        <a:buChar char="•"/>
                        <a:tabLst/>
                      </a:pPr>
                      <a:r>
                        <a:rPr lang="en-US" sz="1000" b="1" strike="noStrike" spc="-1" dirty="0"/>
                        <a:t>4 GPU </a:t>
                      </a:r>
                      <a:r>
                        <a:rPr lang="en-US" sz="1000" strike="noStrike" spc="-1" dirty="0"/>
                        <a:t>nodes (8 GPU Nvidia V100 cards, 104 CPU cores)</a:t>
                      </a:r>
                    </a:p>
                    <a:p>
                      <a:pPr marL="450850" indent="-169863" algn="l">
                        <a:lnSpc>
                          <a:spcPts val="2100"/>
                        </a:lnSpc>
                        <a:buFont typeface="Arial" panose="020B0604020202020204" pitchFamily="34" charset="0"/>
                        <a:buChar char="•"/>
                        <a:tabLst/>
                      </a:pPr>
                      <a:r>
                        <a:rPr lang="en-US" sz="1000" b="1" strike="noStrike" spc="-1" dirty="0"/>
                        <a:t>400 TB </a:t>
                      </a:r>
                      <a:r>
                        <a:rPr lang="en-US" sz="1000" strike="noStrike" spc="-1" dirty="0"/>
                        <a:t>/home storge</a:t>
                      </a:r>
                    </a:p>
                    <a:p>
                      <a:pPr marL="450850" indent="-169863" algn="l">
                        <a:lnSpc>
                          <a:spcPts val="2100"/>
                        </a:lnSpc>
                        <a:buFont typeface="Arial" panose="020B0604020202020204" pitchFamily="34" charset="0"/>
                        <a:buChar char="•"/>
                        <a:tabLst/>
                      </a:pPr>
                      <a:endParaRPr lang="en-US" sz="1000" strike="noStrike" spc="-1" dirty="0"/>
                    </a:p>
                    <a:p>
                      <a:pPr marL="280987" indent="0" algn="l">
                        <a:lnSpc>
                          <a:spcPts val="2100"/>
                        </a:lnSpc>
                        <a:buFont typeface="Arial" panose="020B0604020202020204" pitchFamily="34" charset="0"/>
                        <a:buNone/>
                        <a:tabLst/>
                      </a:pPr>
                      <a:endParaRPr lang="en-US" sz="1000" strike="noStrike" spc="-1" dirty="0"/>
                    </a:p>
                  </a:txBody>
                  <a:tcPr marL="53280" marR="53280"/>
                </a:tc>
                <a:tc>
                  <a:txBody>
                    <a:bodyPr/>
                    <a:lstStyle/>
                    <a:p>
                      <a:pPr marL="271463" indent="-271463" algn="justLow" defTabSz="914400" rtl="0" eaLnBrk="1" latinLnBrk="0" hangingPunct="1">
                        <a:lnSpc>
                          <a:spcPts val="2100"/>
                        </a:lnSpc>
                        <a:buFont typeface="Arial" panose="020B0604020202020204" pitchFamily="34" charset="0"/>
                        <a:buNone/>
                        <a:tabLst/>
                      </a:pPr>
                      <a:r>
                        <a:rPr lang="en-US" sz="1000" b="0" strike="noStrike" kern="1200" spc="-1" dirty="0">
                          <a:solidFill>
                            <a:schemeClr val="tx1"/>
                          </a:solidFill>
                          <a:latin typeface="+mn-lt"/>
                          <a:ea typeface="+mn-ea"/>
                          <a:cs typeface="+mn-cs"/>
                        </a:rPr>
                        <a:t>Expand HPC by:</a:t>
                      </a:r>
                    </a:p>
                    <a:p>
                      <a:pPr marL="450850" indent="-179388" algn="justLow" defTabSz="914400" rtl="0" eaLnBrk="1" latinLnBrk="0" hangingPunct="1">
                        <a:lnSpc>
                          <a:spcPts val="2100"/>
                        </a:lnSpc>
                        <a:buFont typeface="Arial" panose="020B0604020202020204" pitchFamily="34" charset="0"/>
                        <a:buChar char="•"/>
                        <a:tabLst/>
                      </a:pPr>
                      <a:r>
                        <a:rPr lang="en-US" sz="1000" b="1" strike="noStrike" kern="1200" spc="-1" dirty="0">
                          <a:solidFill>
                            <a:schemeClr val="tx1"/>
                          </a:solidFill>
                          <a:latin typeface="+mn-lt"/>
                          <a:ea typeface="+mn-ea"/>
                          <a:cs typeface="+mn-cs"/>
                        </a:rPr>
                        <a:t>66 CPU </a:t>
                      </a:r>
                      <a:r>
                        <a:rPr lang="en-US" sz="1000" b="0" strike="noStrike" kern="1200" spc="-1" dirty="0">
                          <a:solidFill>
                            <a:schemeClr val="tx1"/>
                          </a:solidFill>
                          <a:latin typeface="+mn-lt"/>
                          <a:ea typeface="+mn-ea"/>
                          <a:cs typeface="+mn-cs"/>
                        </a:rPr>
                        <a:t>nodes (3,432 CPU Cores). This includes dedicated nodes for RIC-2d and ENTC</a:t>
                      </a:r>
                    </a:p>
                    <a:p>
                      <a:pPr marL="450850" indent="-179388" algn="justLow" defTabSz="914400" rtl="0" eaLnBrk="1" latinLnBrk="0" hangingPunct="1">
                        <a:lnSpc>
                          <a:spcPts val="2100"/>
                        </a:lnSpc>
                        <a:buFont typeface="Arial" panose="020B0604020202020204" pitchFamily="34" charset="0"/>
                        <a:buChar char="•"/>
                        <a:tabLst/>
                      </a:pPr>
                      <a:r>
                        <a:rPr lang="en-US" sz="1000" b="1" strike="noStrike" kern="1200" spc="-1" dirty="0">
                          <a:solidFill>
                            <a:schemeClr val="tx1"/>
                          </a:solidFill>
                          <a:latin typeface="+mn-lt"/>
                          <a:ea typeface="+mn-ea"/>
                          <a:cs typeface="+mn-cs"/>
                        </a:rPr>
                        <a:t>200 TB </a:t>
                      </a:r>
                      <a:r>
                        <a:rPr lang="en-US" sz="1000" b="0" strike="noStrike" kern="1200" spc="-1" dirty="0">
                          <a:solidFill>
                            <a:schemeClr val="tx1"/>
                          </a:solidFill>
                          <a:latin typeface="+mn-lt"/>
                          <a:ea typeface="+mn-ea"/>
                          <a:cs typeface="+mn-cs"/>
                        </a:rPr>
                        <a:t>/home storage</a:t>
                      </a:r>
                      <a:endParaRPr lang="en-US" sz="1000" b="1" strike="noStrike" kern="1200" spc="-1" dirty="0">
                        <a:solidFill>
                          <a:schemeClr val="tx1"/>
                        </a:solidFill>
                        <a:latin typeface="+mn-lt"/>
                        <a:ea typeface="+mn-ea"/>
                        <a:cs typeface="+mn-cs"/>
                      </a:endParaRPr>
                    </a:p>
                    <a:p>
                      <a:pPr marL="450850" indent="-179388"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Depending on requirements  may invest in more GPU nodes instead of CPU nodes.</a:t>
                      </a:r>
                    </a:p>
                  </a:txBody>
                  <a:tcPr/>
                </a:tc>
                <a:tc>
                  <a:txBody>
                    <a:bodyPr/>
                    <a:lstStyle/>
                    <a:p>
                      <a:pPr marL="171450" marR="0" lvl="0" indent="-17145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Plan and procure major upgrade to HPC facilities, due to new strategic projects.</a:t>
                      </a:r>
                    </a:p>
                    <a:p>
                      <a:pPr marL="171450" marR="0" lvl="0" indent="-17145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Procure by end of 2023 for operation in 2024.</a:t>
                      </a:r>
                    </a:p>
                    <a:p>
                      <a:pPr marL="0" marR="0" lvl="0" indent="0" algn="l" defTabSz="914400" rtl="0" eaLnBrk="1" fontAlgn="auto" latinLnBrk="0" hangingPunct="1">
                        <a:lnSpc>
                          <a:spcPts val="2100"/>
                        </a:lnSpc>
                        <a:spcBef>
                          <a:spcPts val="0"/>
                        </a:spcBef>
                        <a:spcAft>
                          <a:spcPts val="0"/>
                        </a:spcAft>
                        <a:buClrTx/>
                        <a:buSzTx/>
                        <a:buFontTx/>
                        <a:buNone/>
                        <a:tabLst/>
                        <a:defRPr/>
                      </a:pPr>
                      <a:r>
                        <a:rPr lang="en-US" sz="1000" b="0" strike="noStrike" kern="1200" spc="-1" dirty="0">
                          <a:solidFill>
                            <a:schemeClr val="tx1"/>
                          </a:solidFill>
                          <a:latin typeface="+mn-lt"/>
                          <a:ea typeface="+mn-ea"/>
                          <a:cs typeface="+mn-cs"/>
                        </a:rPr>
                        <a:t>Operate HPC, gather evidence and data on usage and demands.</a:t>
                      </a:r>
                    </a:p>
                    <a:p>
                      <a:pPr algn="l" defTabSz="914400" rtl="0" eaLnBrk="1" latinLnBrk="0" hangingPunct="1">
                        <a:lnSpc>
                          <a:spcPts val="2100"/>
                        </a:lnSpc>
                      </a:pPr>
                      <a:endParaRPr lang="en-US" sz="1000" b="1" strike="noStrike" kern="1200" spc="-1" dirty="0">
                        <a:solidFill>
                          <a:schemeClr val="tx1"/>
                        </a:solidFill>
                        <a:latin typeface="+mn-lt"/>
                        <a:ea typeface="+mn-ea"/>
                        <a:cs typeface="+mn-cs"/>
                      </a:endParaRPr>
                    </a:p>
                  </a:txBody>
                  <a:tcPr/>
                </a:tc>
                <a:tc>
                  <a:txBody>
                    <a:bodyPr/>
                    <a:lstStyle/>
                    <a:p>
                      <a:pPr marL="46038" indent="-381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Operate two clusters side by side.</a:t>
                      </a:r>
                    </a:p>
                    <a:p>
                      <a:pPr marL="139700" indent="-1397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Extend existing support for HPC hardware to 2025.</a:t>
                      </a:r>
                    </a:p>
                    <a:p>
                      <a:pPr marL="139700" marR="0" lvl="0" indent="-13970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May require changes to Datacenter as regards cooling and power provision to racks. This will incur a cost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strike="noStrike" kern="1200" spc="-1" dirty="0">
                          <a:solidFill>
                            <a:schemeClr val="tx1"/>
                          </a:solidFill>
                          <a:latin typeface="+mn-lt"/>
                          <a:ea typeface="+mn-ea"/>
                          <a:cs typeface="+mn-cs"/>
                        </a:rPr>
                        <a:t>Upgrade HPC based on requirements and demands.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strike="noStrike" kern="1200" spc="-1" dirty="0">
                        <a:solidFill>
                          <a:schemeClr val="tx1"/>
                        </a:solidFill>
                        <a:latin typeface="+mn-lt"/>
                        <a:ea typeface="+mn-ea"/>
                        <a:cs typeface="+mn-cs"/>
                      </a:endParaRPr>
                    </a:p>
                  </a:txBody>
                  <a:tcPr/>
                </a:tc>
                <a:extLst>
                  <a:ext uri="{0D108BD9-81ED-4DB2-BD59-A6C34878D82A}">
                    <a16:rowId xmlns:a16="http://schemas.microsoft.com/office/drawing/2014/main" val="2197836169"/>
                  </a:ext>
                </a:extLst>
              </a:tr>
              <a:tr h="362252">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CAPEX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3.5M AED </a:t>
                      </a:r>
                      <a:endParaRPr lang="en-US" sz="1000" b="0" strike="noStrike" kern="1200" spc="-1" dirty="0">
                        <a:solidFill>
                          <a:schemeClr val="tx1"/>
                        </a:solidFill>
                        <a:latin typeface="+mn-lt"/>
                        <a:ea typeface="+mn-ea"/>
                        <a:cs typeface="+mn-cs"/>
                      </a:endParaRPr>
                    </a:p>
                  </a:txBody>
                  <a:tcPr marL="53280" marR="53280"/>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marL="0" marR="0" lvl="0" indent="0" algn="ctr"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22M AED </a:t>
                      </a:r>
                      <a:r>
                        <a:rPr lang="en-US" sz="1000" b="0" strike="noStrike" kern="1200" spc="-1" dirty="0">
                          <a:solidFill>
                            <a:schemeClr val="tx1"/>
                          </a:solidFill>
                          <a:latin typeface="+mn-lt"/>
                          <a:ea typeface="+mn-ea"/>
                          <a:cs typeface="+mn-cs"/>
                        </a:rPr>
                        <a:t>(estimated)</a:t>
                      </a: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endParaRPr lang="en-US" sz="1000" b="0" strike="noStrike" kern="1200" spc="-1"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ysClr val="windowText" lastClr="000000"/>
                          </a:solidFill>
                          <a:latin typeface="+mn-lt"/>
                        </a:rPr>
                        <a:t>TBD</a:t>
                      </a:r>
                    </a:p>
                  </a:txBody>
                  <a:tcPr anchor="ctr">
                    <a:noFill/>
                  </a:tcPr>
                </a:tc>
                <a:extLst>
                  <a:ext uri="{0D108BD9-81ED-4DB2-BD59-A6C34878D82A}">
                    <a16:rowId xmlns:a16="http://schemas.microsoft.com/office/drawing/2014/main" val="4114277690"/>
                  </a:ext>
                </a:extLst>
              </a:tr>
              <a:tr h="131576">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OPEX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6M AED (estimated)</a:t>
                      </a:r>
                    </a:p>
                  </a:txBody>
                  <a:tcPr marL="53280" marR="53280"/>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3M AED </a:t>
                      </a:r>
                    </a:p>
                  </a:txBody>
                  <a:tcPr marL="53280" marR="53280"/>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3.2M AED </a:t>
                      </a:r>
                    </a:p>
                  </a:txBody>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3.2M AED </a:t>
                      </a:r>
                      <a:r>
                        <a:rPr lang="en-US" sz="1000" b="0" strike="noStrike" kern="1200" spc="-1" dirty="0">
                          <a:solidFill>
                            <a:schemeClr val="tx1"/>
                          </a:solidFill>
                          <a:latin typeface="+mn-lt"/>
                          <a:ea typeface="+mn-ea"/>
                          <a:cs typeface="+mn-cs"/>
                        </a:rPr>
                        <a:t>(estimated)</a:t>
                      </a:r>
                      <a:endParaRPr lang="en-US" sz="1000" b="1" strike="noStrike" kern="1200" spc="-1" dirty="0">
                        <a:solidFill>
                          <a:schemeClr val="tx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a:noFill/>
                  </a:tcPr>
                </a:tc>
                <a:extLst>
                  <a:ext uri="{0D108BD9-81ED-4DB2-BD59-A6C34878D82A}">
                    <a16:rowId xmlns:a16="http://schemas.microsoft.com/office/drawing/2014/main" val="1588018105"/>
                  </a:ext>
                </a:extLst>
              </a:tr>
            </a:tbl>
          </a:graphicData>
        </a:graphic>
      </p:graphicFrame>
    </p:spTree>
    <p:extLst>
      <p:ext uri="{BB962C8B-B14F-4D97-AF65-F5344CB8AC3E}">
        <p14:creationId xmlns:p14="http://schemas.microsoft.com/office/powerpoint/2010/main" val="2512853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30887"/>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2800" b="1" spc="43" dirty="0">
                <a:solidFill>
                  <a:srgbClr val="0047BA"/>
                </a:solidFill>
                <a:latin typeface="Arial"/>
              </a:rPr>
              <a:t>RC Current Services</a:t>
            </a:r>
            <a:endParaRPr lang="en-US" sz="28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8</a:t>
            </a:fld>
            <a:endParaRPr lang="en-US" sz="850" b="0" strike="noStrike" spc="-1">
              <a:latin typeface="Arial"/>
            </a:endParaRPr>
          </a:p>
        </p:txBody>
      </p:sp>
      <p:sp>
        <p:nvSpPr>
          <p:cNvPr id="473" name="CustomShape 5"/>
          <p:cNvSpPr/>
          <p:nvPr/>
        </p:nvSpPr>
        <p:spPr>
          <a:xfrm>
            <a:off x="609480" y="1438877"/>
            <a:ext cx="6575091" cy="5160989"/>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60">
              <a:lnSpc>
                <a:spcPct val="100000"/>
              </a:lnSpc>
              <a:spcBef>
                <a:spcPts val="3169"/>
              </a:spcBef>
              <a:buClr>
                <a:srgbClr val="0047BA"/>
              </a:buClr>
              <a:buSzPct val="65000"/>
            </a:pPr>
            <a:r>
              <a:rPr lang="en-US" sz="2400" b="1" spc="-1" dirty="0">
                <a:solidFill>
                  <a:srgbClr val="0047BA"/>
                </a:solidFill>
                <a:latin typeface="Arial"/>
                <a:ea typeface="DejaVu Sans"/>
              </a:rPr>
              <a:t>Private Cloud/VM services</a:t>
            </a:r>
          </a:p>
          <a:p>
            <a:pPr marL="640080" lvl="1" indent="-182520">
              <a:spcBef>
                <a:spcPts val="1200"/>
              </a:spcBef>
              <a:buClr>
                <a:srgbClr val="0047BA"/>
              </a:buClr>
              <a:buSzPct val="65000"/>
              <a:buFont typeface="Wingdings" charset="2"/>
              <a:buChar char=""/>
            </a:pPr>
            <a:r>
              <a:rPr lang="en-US" sz="1600" spc="-1" dirty="0"/>
              <a:t>Hardware purchased was used to expand cloud services provided by </a:t>
            </a:r>
            <a:r>
              <a:rPr lang="en-US" sz="1600" spc="-1" dirty="0" err="1"/>
              <a:t>Ankabut</a:t>
            </a:r>
            <a:r>
              <a:rPr lang="en-US" sz="1600" spc="-1" dirty="0"/>
              <a:t>.</a:t>
            </a:r>
          </a:p>
          <a:p>
            <a:pPr marL="640080" lvl="1" indent="-182520">
              <a:spcBef>
                <a:spcPts val="1200"/>
              </a:spcBef>
              <a:buClr>
                <a:srgbClr val="0047BA"/>
              </a:buClr>
              <a:buSzPct val="65000"/>
              <a:buFont typeface="Wingdings" charset="2"/>
              <a:buChar char=""/>
            </a:pPr>
            <a:r>
              <a:rPr lang="en-US" sz="1600" spc="-1" dirty="0" err="1"/>
              <a:t>Ankabut</a:t>
            </a:r>
            <a:r>
              <a:rPr lang="en-US" sz="1600" spc="-1" dirty="0"/>
              <a:t> is managing hardware, infrastructure and cloud services layer. </a:t>
            </a:r>
          </a:p>
          <a:p>
            <a:pPr marL="640080" lvl="1" indent="-182520">
              <a:spcBef>
                <a:spcPts val="1200"/>
              </a:spcBef>
              <a:buClr>
                <a:srgbClr val="0047BA"/>
              </a:buClr>
              <a:buSzPct val="65000"/>
              <a:buFont typeface="Wingdings" charset="2"/>
              <a:buChar char=""/>
            </a:pPr>
            <a:r>
              <a:rPr lang="en-US" sz="1600" spc="-1" dirty="0"/>
              <a:t>Research Computing is responsible for virtual machine management, configuration, system administration and application installation. </a:t>
            </a:r>
          </a:p>
          <a:p>
            <a:pPr marL="640080" lvl="1" indent="-182520">
              <a:spcBef>
                <a:spcPts val="1200"/>
              </a:spcBef>
              <a:buClr>
                <a:srgbClr val="0047BA"/>
              </a:buClr>
              <a:buSzPct val="65000"/>
              <a:buFont typeface="Wingdings" charset="2"/>
              <a:buChar char=""/>
            </a:pPr>
            <a:r>
              <a:rPr lang="en-US" sz="1600" spc="-1" dirty="0"/>
              <a:t>This simplifies management, security and data protection, provisioning, access to software and removes system administration burden from researchers. </a:t>
            </a:r>
          </a:p>
          <a:p>
            <a:pPr marL="640080" lvl="1" indent="-182520">
              <a:spcBef>
                <a:spcPts val="1200"/>
              </a:spcBef>
              <a:buClr>
                <a:srgbClr val="0047BA"/>
              </a:buClr>
              <a:buSzPct val="65000"/>
              <a:buFont typeface="Wingdings" charset="2"/>
              <a:buChar char=""/>
            </a:pPr>
            <a:r>
              <a:rPr lang="en-US" sz="1600" spc="-1" dirty="0"/>
              <a:t>In addition, will cut down on lengthy procurement lead times, as can act as an alternative to purchasing workstations, and shared servers for individual research groups.</a:t>
            </a:r>
          </a:p>
          <a:p>
            <a:pPr marL="640080" lvl="1" indent="-182520">
              <a:spcBef>
                <a:spcPts val="1200"/>
              </a:spcBef>
              <a:buClr>
                <a:srgbClr val="0047BA"/>
              </a:buClr>
              <a:buSzPct val="65000"/>
              <a:buFont typeface="Wingdings" charset="2"/>
              <a:buChar char=""/>
            </a:pPr>
            <a:endParaRPr lang="en-US" b="1" dirty="0"/>
          </a:p>
        </p:txBody>
      </p:sp>
      <p:pic>
        <p:nvPicPr>
          <p:cNvPr id="2" name="Picture 1">
            <a:extLst>
              <a:ext uri="{FF2B5EF4-FFF2-40B4-BE49-F238E27FC236}">
                <a16:creationId xmlns:a16="http://schemas.microsoft.com/office/drawing/2014/main" id="{695D5427-C320-FC4C-A942-48AB204EC8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4223" y="-203040"/>
            <a:ext cx="5516217" cy="6858000"/>
          </a:xfrm>
          <a:prstGeom prst="rect">
            <a:avLst/>
          </a:prstGeom>
        </p:spPr>
      </p:pic>
    </p:spTree>
    <p:extLst>
      <p:ext uri="{BB962C8B-B14F-4D97-AF65-F5344CB8AC3E}">
        <p14:creationId xmlns:p14="http://schemas.microsoft.com/office/powerpoint/2010/main" val="693167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30887"/>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2800" b="1" spc="43" dirty="0">
                <a:solidFill>
                  <a:srgbClr val="0047BA"/>
                </a:solidFill>
                <a:latin typeface="Arial"/>
              </a:rPr>
              <a:t>RC Current Services</a:t>
            </a:r>
            <a:endParaRPr lang="en-US" sz="28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9</a:t>
            </a:fld>
            <a:endParaRPr lang="en-US" sz="850" b="0" strike="noStrike" spc="-1">
              <a:latin typeface="Arial"/>
            </a:endParaRPr>
          </a:p>
        </p:txBody>
      </p:sp>
      <p:sp>
        <p:nvSpPr>
          <p:cNvPr id="473" name="CustomShape 5"/>
          <p:cNvSpPr/>
          <p:nvPr/>
        </p:nvSpPr>
        <p:spPr>
          <a:xfrm>
            <a:off x="609480" y="1438877"/>
            <a:ext cx="10887048" cy="5257757"/>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60">
              <a:lnSpc>
                <a:spcPct val="100000"/>
              </a:lnSpc>
              <a:spcBef>
                <a:spcPts val="3169"/>
              </a:spcBef>
              <a:buClr>
                <a:srgbClr val="0047BA"/>
              </a:buClr>
              <a:buSzPct val="65000"/>
            </a:pPr>
            <a:r>
              <a:rPr lang="en-US" sz="2400" b="1" spc="-1" dirty="0">
                <a:solidFill>
                  <a:srgbClr val="0047BA"/>
                </a:solidFill>
                <a:latin typeface="Arial"/>
                <a:ea typeface="DejaVu Sans"/>
              </a:rPr>
              <a:t>Support, Scientific Computing support and Consultation</a:t>
            </a:r>
          </a:p>
          <a:p>
            <a:pPr marL="640080" lvl="1" indent="-182520">
              <a:spcBef>
                <a:spcPts val="1200"/>
              </a:spcBef>
              <a:buClr>
                <a:srgbClr val="0047BA"/>
              </a:buClr>
              <a:buSzPct val="65000"/>
              <a:buFont typeface="Wingdings" charset="2"/>
              <a:buChar char=""/>
            </a:pPr>
            <a:r>
              <a:rPr lang="en-US" sz="2000" spc="-1" dirty="0"/>
              <a:t>Work in conjunction with researchers to design and implement bespoke computing resources to support research projects.</a:t>
            </a:r>
          </a:p>
          <a:p>
            <a:pPr marL="640080" lvl="1" indent="-182520">
              <a:spcBef>
                <a:spcPts val="1200"/>
              </a:spcBef>
              <a:buClr>
                <a:srgbClr val="0047BA"/>
              </a:buClr>
              <a:buSzPct val="65000"/>
              <a:buFont typeface="Wingdings" charset="2"/>
              <a:buChar char=""/>
            </a:pPr>
            <a:r>
              <a:rPr lang="en-US" sz="2000" spc="-1" dirty="0"/>
              <a:t>Support researchers by understanding their research computational needs and recommend suitable applications and other research computing resources available at the University.</a:t>
            </a:r>
          </a:p>
          <a:p>
            <a:pPr marL="640080" lvl="1" indent="-182520">
              <a:spcBef>
                <a:spcPts val="1200"/>
              </a:spcBef>
              <a:buClr>
                <a:srgbClr val="0047BA"/>
              </a:buClr>
              <a:buSzPct val="65000"/>
              <a:buFont typeface="Wingdings" charset="2"/>
              <a:buChar char=""/>
            </a:pPr>
            <a:r>
              <a:rPr lang="en-US" sz="2000" spc="-1" dirty="0"/>
              <a:t>Develop and maintain documentation and guidelines to assist users to make use of computational resources</a:t>
            </a:r>
          </a:p>
          <a:p>
            <a:pPr marL="640080" lvl="1" indent="-182520">
              <a:spcBef>
                <a:spcPts val="1200"/>
              </a:spcBef>
              <a:buClr>
                <a:srgbClr val="0047BA"/>
              </a:buClr>
              <a:buSzPct val="65000"/>
              <a:buFont typeface="Wingdings" charset="2"/>
              <a:buChar char=""/>
            </a:pPr>
            <a:r>
              <a:rPr lang="en-US" sz="2000" spc="-1" dirty="0"/>
              <a:t> Provide scientific computing support.</a:t>
            </a:r>
          </a:p>
          <a:p>
            <a:pPr marL="1097280" lvl="2" indent="-182520">
              <a:spcBef>
                <a:spcPts val="1200"/>
              </a:spcBef>
              <a:buClr>
                <a:srgbClr val="0047BA"/>
              </a:buClr>
              <a:buSzPct val="65000"/>
              <a:buFont typeface="Wingdings" charset="2"/>
              <a:buChar char=""/>
            </a:pPr>
            <a:r>
              <a:rPr lang="en-US" sz="2000" spc="-1" dirty="0"/>
              <a:t>Evaluating, optimizing and deploying new software on the HPC clusters</a:t>
            </a:r>
          </a:p>
          <a:p>
            <a:pPr marL="1097280" lvl="2" indent="-182520">
              <a:spcBef>
                <a:spcPts val="1200"/>
              </a:spcBef>
              <a:buClr>
                <a:srgbClr val="0047BA"/>
              </a:buClr>
              <a:buSzPct val="65000"/>
              <a:buFont typeface="Wingdings" charset="2"/>
              <a:buChar char=""/>
            </a:pPr>
            <a:r>
              <a:rPr lang="en-US" sz="2000" spc="-1" dirty="0"/>
              <a:t> Application profiling  and performance evaluation </a:t>
            </a:r>
          </a:p>
          <a:p>
            <a:pPr marL="640080" lvl="1" indent="-182520">
              <a:spcBef>
                <a:spcPts val="1200"/>
              </a:spcBef>
              <a:buClr>
                <a:srgbClr val="0047BA"/>
              </a:buClr>
              <a:buSzPct val="65000"/>
              <a:buFont typeface="Wingdings" charset="2"/>
              <a:buChar char=""/>
            </a:pPr>
            <a:r>
              <a:rPr lang="en-US" sz="2000" spc="-1" dirty="0"/>
              <a:t> Develop and deliver specialized training courses. </a:t>
            </a:r>
          </a:p>
          <a:p>
            <a:pPr marL="640080" lvl="1" indent="-182520">
              <a:spcBef>
                <a:spcPts val="1200"/>
              </a:spcBef>
              <a:buClr>
                <a:srgbClr val="0047BA"/>
              </a:buClr>
              <a:buSzPct val="65000"/>
              <a:buFont typeface="Wingdings" charset="2"/>
              <a:buChar char=""/>
            </a:pPr>
            <a:endParaRPr lang="en-US" b="1" dirty="0"/>
          </a:p>
        </p:txBody>
      </p:sp>
    </p:spTree>
    <p:extLst>
      <p:ext uri="{BB962C8B-B14F-4D97-AF65-F5344CB8AC3E}">
        <p14:creationId xmlns:p14="http://schemas.microsoft.com/office/powerpoint/2010/main" val="4119028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30887"/>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2800" b="1" spc="43" dirty="0">
                <a:solidFill>
                  <a:srgbClr val="0047BA"/>
                </a:solidFill>
                <a:latin typeface="Arial"/>
              </a:rPr>
              <a:t>RC Planned Services</a:t>
            </a:r>
            <a:endParaRPr lang="en-US" sz="28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10</a:t>
            </a:fld>
            <a:endParaRPr lang="en-US" sz="850" b="0" strike="noStrike" spc="-1">
              <a:latin typeface="Arial"/>
            </a:endParaRPr>
          </a:p>
        </p:txBody>
      </p:sp>
      <p:sp>
        <p:nvSpPr>
          <p:cNvPr id="473" name="CustomShape 5"/>
          <p:cNvSpPr/>
          <p:nvPr/>
        </p:nvSpPr>
        <p:spPr>
          <a:xfrm>
            <a:off x="609480" y="1342109"/>
            <a:ext cx="10887048" cy="5257757"/>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000" b="1" spc="-1" dirty="0">
                <a:solidFill>
                  <a:srgbClr val="0047BA"/>
                </a:solidFill>
                <a:latin typeface="Arial"/>
                <a:ea typeface="DejaVu Sans"/>
              </a:rPr>
              <a:t>Big Data Platform for health sciences research</a:t>
            </a:r>
          </a:p>
          <a:p>
            <a:pPr marL="640080" lvl="1" indent="-182520">
              <a:spcBef>
                <a:spcPts val="1200"/>
              </a:spcBef>
              <a:buClr>
                <a:srgbClr val="0047BA"/>
              </a:buClr>
              <a:buSzPct val="65000"/>
              <a:buFont typeface="Wingdings" charset="2"/>
              <a:buChar char=""/>
            </a:pPr>
            <a:r>
              <a:rPr lang="en-US" spc="-1" dirty="0"/>
              <a:t>In process of configuring dig data platform, and other computational resources, for the </a:t>
            </a:r>
            <a:r>
              <a:rPr lang="en-US" dirty="0">
                <a:cs typeface="Calibri" panose="020F0502020204030204" pitchFamily="34" charset="0"/>
              </a:rPr>
              <a:t>Research and Data Intelligence Support Center (RDISC).</a:t>
            </a:r>
          </a:p>
          <a:p>
            <a:pPr marL="640080" lvl="1" indent="-182520">
              <a:spcBef>
                <a:spcPts val="1200"/>
              </a:spcBef>
              <a:buClr>
                <a:srgbClr val="0047BA"/>
              </a:buClr>
              <a:buSzPct val="65000"/>
              <a:buFont typeface="Wingdings" charset="2"/>
              <a:buChar char=""/>
            </a:pPr>
            <a:r>
              <a:rPr lang="en-US" spc="-1" dirty="0"/>
              <a:t>The platform will provide services such as HADOOP, Spark, large scale storage, and management of health-related data.</a:t>
            </a:r>
          </a:p>
          <a:p>
            <a:pPr marL="182880" indent="-182520">
              <a:lnSpc>
                <a:spcPct val="100000"/>
              </a:lnSpc>
              <a:spcBef>
                <a:spcPts val="3169"/>
              </a:spcBef>
              <a:buClr>
                <a:srgbClr val="0047BA"/>
              </a:buClr>
              <a:buSzPct val="65000"/>
              <a:buFont typeface="Wingdings" charset="2"/>
              <a:buChar char=""/>
            </a:pPr>
            <a:r>
              <a:rPr lang="en-US" sz="2000" b="1" spc="-1" dirty="0">
                <a:solidFill>
                  <a:srgbClr val="0047BA"/>
                </a:solidFill>
              </a:rPr>
              <a:t>Data Storage Services</a:t>
            </a:r>
          </a:p>
          <a:p>
            <a:pPr marL="640080" lvl="1" indent="-182520">
              <a:spcBef>
                <a:spcPts val="1200"/>
              </a:spcBef>
              <a:buClr>
                <a:srgbClr val="0047BA"/>
              </a:buClr>
              <a:buSzPct val="65000"/>
              <a:buFont typeface="Wingdings" charset="2"/>
              <a:buChar char=""/>
            </a:pPr>
            <a:r>
              <a:rPr lang="en-US" spc="-1" dirty="0"/>
              <a:t>Underlying all computational resources, should be robust and reliable storage services.</a:t>
            </a:r>
          </a:p>
          <a:p>
            <a:pPr marL="640080" lvl="1" indent="-182520">
              <a:spcBef>
                <a:spcPts val="1200"/>
              </a:spcBef>
              <a:buClr>
                <a:srgbClr val="0047BA"/>
              </a:buClr>
              <a:buSzPct val="65000"/>
              <a:buFont typeface="Wingdings" charset="2"/>
              <a:buChar char=""/>
            </a:pPr>
            <a:r>
              <a:rPr lang="en-US" spc="-1" dirty="0"/>
              <a:t>HPC and Private cloud include various types of storage, and these will be expanded periodically as demand grows. Please see appendices for details of expansion.</a:t>
            </a:r>
          </a:p>
          <a:p>
            <a:pPr marL="640080" lvl="1" indent="-182520">
              <a:spcBef>
                <a:spcPts val="1200"/>
              </a:spcBef>
              <a:buClr>
                <a:srgbClr val="0047BA"/>
              </a:buClr>
              <a:buSzPct val="65000"/>
              <a:buFont typeface="Wingdings" charset="2"/>
              <a:buChar char=""/>
            </a:pPr>
            <a:r>
              <a:rPr lang="en-US" spc="-1" dirty="0"/>
              <a:t>Working with </a:t>
            </a:r>
            <a:r>
              <a:rPr lang="en-US" spc="-1" dirty="0" err="1"/>
              <a:t>Ankabut</a:t>
            </a:r>
            <a:r>
              <a:rPr lang="en-US" spc="-1" dirty="0"/>
              <a:t> to build on existing services, and establish process, hardware and service to provide expandable, accessible and large scale tiered storage for research.</a:t>
            </a:r>
          </a:p>
        </p:txBody>
      </p:sp>
    </p:spTree>
    <p:extLst>
      <p:ext uri="{BB962C8B-B14F-4D97-AF65-F5344CB8AC3E}">
        <p14:creationId xmlns:p14="http://schemas.microsoft.com/office/powerpoint/2010/main" val="2822210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AF31104-3D8A-0B44-9CC2-F61A30B4AF0B}"/>
              </a:ext>
            </a:extLst>
          </p:cNvPr>
          <p:cNvSpPr>
            <a:spLocks noGrp="1"/>
          </p:cNvSpPr>
          <p:nvPr>
            <p:ph type="title"/>
          </p:nvPr>
        </p:nvSpPr>
        <p:spPr/>
        <p:txBody>
          <a:bodyPr/>
          <a:lstStyle/>
          <a:p>
            <a:pPr defTabSz="742950"/>
            <a:r>
              <a:rPr lang="en-US" b="1" spc="41" dirty="0">
                <a:solidFill>
                  <a:schemeClr val="tx2"/>
                </a:solidFill>
              </a:rPr>
              <a:t>Appendix</a:t>
            </a:r>
          </a:p>
        </p:txBody>
      </p:sp>
      <p:sp>
        <p:nvSpPr>
          <p:cNvPr id="6" name="Slide Number Placeholder 5">
            <a:extLst>
              <a:ext uri="{FF2B5EF4-FFF2-40B4-BE49-F238E27FC236}">
                <a16:creationId xmlns:a16="http://schemas.microsoft.com/office/drawing/2014/main" id="{1340B75F-FBEC-2A43-82EA-CF34228987A8}"/>
              </a:ext>
            </a:extLst>
          </p:cNvPr>
          <p:cNvSpPr>
            <a:spLocks noGrp="1"/>
          </p:cNvSpPr>
          <p:nvPr>
            <p:ph type="sldNum" sz="quarter" idx="4294967295"/>
          </p:nvPr>
        </p:nvSpPr>
        <p:spPr/>
        <p:txBody>
          <a:bodyPr/>
          <a:lstStyle/>
          <a:p>
            <a:endParaRPr lang="en-US" dirty="0"/>
          </a:p>
        </p:txBody>
      </p:sp>
    </p:spTree>
    <p:extLst>
      <p:ext uri="{BB962C8B-B14F-4D97-AF65-F5344CB8AC3E}">
        <p14:creationId xmlns:p14="http://schemas.microsoft.com/office/powerpoint/2010/main" val="2679952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83292" y="551541"/>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pc="43" dirty="0">
                <a:solidFill>
                  <a:srgbClr val="0047BA"/>
                </a:solidFill>
                <a:latin typeface="Arial"/>
              </a:rPr>
              <a:t>RC Org structure</a:t>
            </a:r>
            <a:endParaRPr lang="en-US" sz="36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12</a:t>
            </a:fld>
            <a:endParaRPr lang="en-US" sz="850" b="0" strike="noStrike" spc="-1">
              <a:latin typeface="Arial"/>
            </a:endParaRPr>
          </a:p>
        </p:txBody>
      </p:sp>
      <p:pic>
        <p:nvPicPr>
          <p:cNvPr id="3" name="Picture 2">
            <a:extLst>
              <a:ext uri="{FF2B5EF4-FFF2-40B4-BE49-F238E27FC236}">
                <a16:creationId xmlns:a16="http://schemas.microsoft.com/office/drawing/2014/main" id="{8FED46EC-57C3-7540-8E9D-6DC683917A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3468" y="1007340"/>
            <a:ext cx="8279421" cy="5850660"/>
          </a:xfrm>
          <a:prstGeom prst="rect">
            <a:avLst/>
          </a:prstGeom>
        </p:spPr>
      </p:pic>
    </p:spTree>
    <p:extLst>
      <p:ext uri="{BB962C8B-B14F-4D97-AF65-F5344CB8AC3E}">
        <p14:creationId xmlns:p14="http://schemas.microsoft.com/office/powerpoint/2010/main" val="3161750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10140" y="601242"/>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pc="43" dirty="0">
                <a:solidFill>
                  <a:srgbClr val="0047BA"/>
                </a:solidFill>
                <a:latin typeface="Arial"/>
              </a:rPr>
              <a:t>Research Computing Personnel</a:t>
            </a:r>
            <a:endParaRPr lang="en-US" sz="36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13</a:t>
            </a:fld>
            <a:endParaRPr lang="en-US" sz="850" b="0" strike="noStrike" spc="-1">
              <a:latin typeface="Arial"/>
            </a:endParaRPr>
          </a:p>
        </p:txBody>
      </p:sp>
      <p:sp>
        <p:nvSpPr>
          <p:cNvPr id="473" name="CustomShape 5"/>
          <p:cNvSpPr/>
          <p:nvPr/>
        </p:nvSpPr>
        <p:spPr>
          <a:xfrm>
            <a:off x="610139" y="1155240"/>
            <a:ext cx="11355437" cy="5782273"/>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60">
              <a:spcBef>
                <a:spcPts val="3169"/>
              </a:spcBef>
              <a:buClr>
                <a:srgbClr val="0047BA"/>
              </a:buClr>
              <a:buSzPct val="65000"/>
            </a:pPr>
            <a:r>
              <a:rPr lang="en-US" sz="2000" b="1" spc="-1" dirty="0">
                <a:latin typeface="Arial"/>
              </a:rPr>
              <a:t>Current Staffing</a:t>
            </a:r>
          </a:p>
          <a:p>
            <a:pPr marL="640080" lvl="1" indent="-182520">
              <a:spcBef>
                <a:spcPts val="1200"/>
              </a:spcBef>
              <a:buClr>
                <a:srgbClr val="0047BA"/>
              </a:buClr>
              <a:buSzPct val="65000"/>
              <a:buFont typeface="Wingdings" charset="2"/>
              <a:buChar char=""/>
            </a:pPr>
            <a:r>
              <a:rPr lang="en-US" b="1" spc="-1" dirty="0"/>
              <a:t>Director: </a:t>
            </a:r>
            <a:r>
              <a:rPr lang="en-US" spc="-1" dirty="0"/>
              <a:t>Sets direction and goals of team, budgeting, planning, strategy. </a:t>
            </a:r>
          </a:p>
          <a:p>
            <a:pPr marL="640080" lvl="1" indent="-182520">
              <a:spcBef>
                <a:spcPts val="1200"/>
              </a:spcBef>
              <a:buClr>
                <a:srgbClr val="0047BA"/>
              </a:buClr>
              <a:buSzPct val="65000"/>
              <a:buFont typeface="Wingdings" charset="2"/>
              <a:buChar char=""/>
            </a:pPr>
            <a:r>
              <a:rPr lang="en-US" b="1" spc="-1" dirty="0"/>
              <a:t>Senior HPC System Administrator: </a:t>
            </a:r>
            <a:r>
              <a:rPr lang="en-US" spc="-1" dirty="0"/>
              <a:t>Day to day operation of HPC systems and back up Unix sysadmin. </a:t>
            </a:r>
          </a:p>
          <a:p>
            <a:pPr marL="640080" lvl="1" indent="-182520">
              <a:spcBef>
                <a:spcPts val="1200"/>
              </a:spcBef>
              <a:buClr>
                <a:srgbClr val="0047BA"/>
              </a:buClr>
              <a:buSzPct val="65000"/>
              <a:buFont typeface="Wingdings" charset="2"/>
              <a:buChar char=""/>
            </a:pPr>
            <a:r>
              <a:rPr lang="en-US" b="1" spc="-1" dirty="0"/>
              <a:t>Senior System Administrator -Unix: </a:t>
            </a:r>
            <a:r>
              <a:rPr lang="en-US" spc="-1" dirty="0"/>
              <a:t>Day to day operation of VM Machines and backs up HPC system administrator. Support researchers using Linux. </a:t>
            </a:r>
          </a:p>
          <a:p>
            <a:pPr marL="640080" lvl="1" indent="-182520">
              <a:spcBef>
                <a:spcPts val="1200"/>
              </a:spcBef>
              <a:buClr>
                <a:srgbClr val="0047BA"/>
              </a:buClr>
              <a:buSzPct val="65000"/>
              <a:buFont typeface="Wingdings" charset="2"/>
              <a:buChar char=""/>
            </a:pPr>
            <a:r>
              <a:rPr lang="en-US" b="1" spc="-1" dirty="0"/>
              <a:t>Senior Specialist, scientific computing support: </a:t>
            </a:r>
            <a:r>
              <a:rPr lang="en-US" spc="-1" dirty="0"/>
              <a:t>Day to day scientific support with focus on outreach and training. </a:t>
            </a:r>
          </a:p>
          <a:p>
            <a:pPr marL="360" lvl="1">
              <a:spcBef>
                <a:spcPts val="3169"/>
              </a:spcBef>
              <a:buClr>
                <a:srgbClr val="0047BA"/>
              </a:buClr>
              <a:buSzPct val="65000"/>
            </a:pPr>
            <a:r>
              <a:rPr lang="en-US" sz="2000" b="1" spc="-1" dirty="0">
                <a:latin typeface="Arial"/>
              </a:rPr>
              <a:t>Current Vacancies</a:t>
            </a:r>
          </a:p>
          <a:p>
            <a:pPr marL="640080" lvl="1" indent="-182520">
              <a:spcBef>
                <a:spcPts val="1200"/>
              </a:spcBef>
              <a:buClr>
                <a:srgbClr val="0047BA"/>
              </a:buClr>
              <a:buSzPct val="65000"/>
              <a:buFont typeface="Wingdings" charset="2"/>
              <a:buChar char=""/>
            </a:pPr>
            <a:r>
              <a:rPr lang="en-US" b="1" spc="-1" dirty="0"/>
              <a:t>RC infrastructure manager: </a:t>
            </a:r>
            <a:r>
              <a:rPr lang="en-US" dirty="0"/>
              <a:t>This technical lead post is necessary to ensure that current and future research computing resources are designed and integrated correctly into the overall infrastructure of the university. Furthermore, it is necessary to ensure that research computing facilities keep up with the state of the art. Currently vacant.</a:t>
            </a:r>
          </a:p>
          <a:p>
            <a:pPr marL="640080" lvl="1" indent="-182520">
              <a:spcBef>
                <a:spcPts val="1200"/>
              </a:spcBef>
              <a:buClr>
                <a:srgbClr val="0047BA"/>
              </a:buClr>
              <a:buSzPct val="65000"/>
              <a:buFont typeface="Wingdings" charset="2"/>
              <a:buChar char=""/>
            </a:pPr>
            <a:r>
              <a:rPr lang="en-US" b="1" spc="-1" dirty="0"/>
              <a:t>Scientific computing support manager: </a:t>
            </a:r>
            <a:r>
              <a:rPr lang="en-US" dirty="0"/>
              <a:t>Provides scientific computing support, consults with researchers, code porting. Needed to grow the understaffed Scientific Computing support function. Currently vacant</a:t>
            </a:r>
          </a:p>
          <a:p>
            <a:pPr marL="640080" lvl="1" indent="-182520">
              <a:spcBef>
                <a:spcPts val="1200"/>
              </a:spcBef>
              <a:buClr>
                <a:srgbClr val="0047BA"/>
              </a:buClr>
              <a:buSzPct val="65000"/>
              <a:buFont typeface="Wingdings" charset="2"/>
              <a:buChar char=""/>
            </a:pPr>
            <a:endParaRPr lang="en-US" dirty="0"/>
          </a:p>
          <a:p>
            <a:pPr marL="640080" lvl="1" indent="-182520">
              <a:spcBef>
                <a:spcPts val="1200"/>
              </a:spcBef>
              <a:buClr>
                <a:srgbClr val="0047BA"/>
              </a:buClr>
              <a:buSzPct val="65000"/>
              <a:buFont typeface="Wingdings" charset="2"/>
              <a:buChar char=""/>
            </a:pPr>
            <a:endParaRPr lang="en-US" spc="-1" dirty="0">
              <a:solidFill>
                <a:srgbClr val="000000"/>
              </a:solidFill>
            </a:endParaRPr>
          </a:p>
        </p:txBody>
      </p:sp>
    </p:spTree>
    <p:extLst>
      <p:ext uri="{BB962C8B-B14F-4D97-AF65-F5344CB8AC3E}">
        <p14:creationId xmlns:p14="http://schemas.microsoft.com/office/powerpoint/2010/main" val="2683558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30887"/>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2800" b="1" spc="43" dirty="0">
                <a:solidFill>
                  <a:srgbClr val="0047BA"/>
                </a:solidFill>
                <a:latin typeface="Arial"/>
              </a:rPr>
              <a:t>RC Governance</a:t>
            </a:r>
            <a:endParaRPr lang="en-US" sz="28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14</a:t>
            </a:fld>
            <a:endParaRPr lang="en-US" sz="850" b="0" strike="noStrike" spc="-1">
              <a:latin typeface="Arial"/>
            </a:endParaRPr>
          </a:p>
        </p:txBody>
      </p:sp>
      <p:sp>
        <p:nvSpPr>
          <p:cNvPr id="473" name="CustomShape 5"/>
          <p:cNvSpPr/>
          <p:nvPr/>
        </p:nvSpPr>
        <p:spPr>
          <a:xfrm>
            <a:off x="609480" y="1438877"/>
            <a:ext cx="10887048" cy="5257757"/>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60">
              <a:lnSpc>
                <a:spcPct val="100000"/>
              </a:lnSpc>
              <a:spcBef>
                <a:spcPts val="3169"/>
              </a:spcBef>
              <a:buClr>
                <a:srgbClr val="0047BA"/>
              </a:buClr>
              <a:buSzPct val="65000"/>
            </a:pPr>
            <a:r>
              <a:rPr lang="en-US" sz="2400" b="1" spc="-1" dirty="0">
                <a:solidFill>
                  <a:srgbClr val="0047BA"/>
                </a:solidFill>
                <a:latin typeface="Arial"/>
                <a:ea typeface="DejaVu Sans"/>
              </a:rPr>
              <a:t>Research Computing Committee (RCC)</a:t>
            </a:r>
          </a:p>
          <a:p>
            <a:pPr marL="640080" lvl="1" indent="-182520">
              <a:spcBef>
                <a:spcPts val="1200"/>
              </a:spcBef>
              <a:buClr>
                <a:srgbClr val="0047BA"/>
              </a:buClr>
              <a:buSzPct val="65000"/>
              <a:buFont typeface="Wingdings" charset="2"/>
              <a:buChar char=""/>
            </a:pPr>
            <a:r>
              <a:rPr lang="en-US" sz="2000" spc="-1" dirty="0"/>
              <a:t>The RCC serves in an advisory capacity for the Research Computing department.</a:t>
            </a:r>
          </a:p>
          <a:p>
            <a:pPr marL="640080" lvl="1" indent="-182520">
              <a:spcBef>
                <a:spcPts val="1200"/>
              </a:spcBef>
              <a:buClr>
                <a:srgbClr val="0047BA"/>
              </a:buClr>
              <a:buSzPct val="65000"/>
              <a:buFont typeface="Wingdings" charset="2"/>
              <a:buChar char=""/>
            </a:pPr>
            <a:r>
              <a:rPr lang="en-US" sz="2000" spc="-1" dirty="0"/>
              <a:t> It is a forum to discuss and make recommendations regarding KU’s research computing requirements, strategies, allocation of resources, policies and standards.</a:t>
            </a:r>
          </a:p>
          <a:p>
            <a:pPr marL="640080" lvl="1" indent="-182520">
              <a:spcBef>
                <a:spcPts val="1200"/>
              </a:spcBef>
              <a:buClr>
                <a:srgbClr val="0047BA"/>
              </a:buClr>
              <a:buSzPct val="65000"/>
              <a:buFont typeface="Wingdings" charset="2"/>
              <a:buChar char=""/>
            </a:pPr>
            <a:r>
              <a:rPr lang="en-US" sz="2000" spc="-1" dirty="0"/>
              <a:t>Membership is comprised of 2 faculty representatives from each of the three colleges, an </a:t>
            </a:r>
            <a:r>
              <a:rPr lang="en-US" sz="2000" spc="-1" dirty="0" err="1"/>
              <a:t>Ankabut</a:t>
            </a:r>
            <a:r>
              <a:rPr lang="en-US" sz="2000" spc="-1" dirty="0"/>
              <a:t> representative and chaired by Director of Research Computing.</a:t>
            </a:r>
          </a:p>
          <a:p>
            <a:pPr marL="360">
              <a:lnSpc>
                <a:spcPct val="100000"/>
              </a:lnSpc>
              <a:spcBef>
                <a:spcPts val="3169"/>
              </a:spcBef>
              <a:buClr>
                <a:srgbClr val="0047BA"/>
              </a:buClr>
              <a:buSzPct val="65000"/>
            </a:pPr>
            <a:r>
              <a:rPr lang="en-US" sz="2400" b="1" spc="-1" dirty="0">
                <a:solidFill>
                  <a:srgbClr val="0047BA"/>
                </a:solidFill>
              </a:rPr>
              <a:t>Research Computing User Group</a:t>
            </a:r>
          </a:p>
          <a:p>
            <a:pPr marL="640080" lvl="1" indent="-182520">
              <a:spcBef>
                <a:spcPts val="1200"/>
              </a:spcBef>
              <a:buClr>
                <a:srgbClr val="0047BA"/>
              </a:buClr>
              <a:buSzPct val="65000"/>
              <a:buFont typeface="Wingdings" charset="2"/>
              <a:buChar char=""/>
            </a:pPr>
            <a:r>
              <a:rPr lang="en-US" sz="2000" spc="-1" dirty="0"/>
              <a:t>User Group represents all users of HPC and Research Computing resources.</a:t>
            </a:r>
          </a:p>
          <a:p>
            <a:pPr marL="640080" lvl="1" indent="-182520">
              <a:spcBef>
                <a:spcPts val="1200"/>
              </a:spcBef>
              <a:buClr>
                <a:srgbClr val="0047BA"/>
              </a:buClr>
              <a:buSzPct val="65000"/>
              <a:buFont typeface="Wingdings" charset="2"/>
              <a:buChar char=""/>
            </a:pPr>
            <a:r>
              <a:rPr lang="en-US" sz="2000" spc="-1" dirty="0"/>
              <a:t>Meetings are chaired by a Faculty member.</a:t>
            </a:r>
          </a:p>
          <a:p>
            <a:pPr marL="640080" lvl="1" indent="-182520">
              <a:spcBef>
                <a:spcPts val="1200"/>
              </a:spcBef>
              <a:buClr>
                <a:srgbClr val="0047BA"/>
              </a:buClr>
              <a:buSzPct val="65000"/>
              <a:buFont typeface="Wingdings" charset="2"/>
              <a:buChar char=""/>
            </a:pPr>
            <a:r>
              <a:rPr lang="en-US" sz="2000" spc="-1" dirty="0"/>
              <a:t>It provides feedback on current performance and configuration of HPC and Research Computing resources, to inform decisions to be taken by the RCC</a:t>
            </a:r>
          </a:p>
          <a:p>
            <a:pPr marL="640080" lvl="1" indent="-182520">
              <a:spcBef>
                <a:spcPts val="1200"/>
              </a:spcBef>
              <a:buClr>
                <a:srgbClr val="0047BA"/>
              </a:buClr>
              <a:buSzPct val="65000"/>
              <a:buFont typeface="Wingdings" charset="2"/>
              <a:buChar char=""/>
            </a:pPr>
            <a:endParaRPr lang="en-US" sz="2000" spc="-1" dirty="0"/>
          </a:p>
        </p:txBody>
      </p:sp>
    </p:spTree>
    <p:extLst>
      <p:ext uri="{BB962C8B-B14F-4D97-AF65-F5344CB8AC3E}">
        <p14:creationId xmlns:p14="http://schemas.microsoft.com/office/powerpoint/2010/main" val="928524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360">
              <a:spcBef>
                <a:spcPts val="3169"/>
              </a:spcBef>
              <a:buClr>
                <a:srgbClr val="0047BA"/>
              </a:buClr>
              <a:buSzPct val="65000"/>
              <a:defRPr/>
            </a:pPr>
            <a:r>
              <a:rPr lang="en-US" sz="3600" b="1" spc="-1" dirty="0">
                <a:solidFill>
                  <a:srgbClr val="0047BA"/>
                </a:solidFill>
              </a:rPr>
              <a:t>RC Objectives and KPIs</a:t>
            </a: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15</a:t>
            </a:fld>
            <a:endParaRPr lang="en-US" sz="850" b="0" strike="noStrike" spc="-1">
              <a:latin typeface="Arial"/>
            </a:endParaRPr>
          </a:p>
        </p:txBody>
      </p:sp>
      <p:graphicFrame>
        <p:nvGraphicFramePr>
          <p:cNvPr id="7" name="Table 6">
            <a:extLst>
              <a:ext uri="{FF2B5EF4-FFF2-40B4-BE49-F238E27FC236}">
                <a16:creationId xmlns:a16="http://schemas.microsoft.com/office/drawing/2014/main" id="{62DB31AB-589C-2B4D-95E7-F9C6E47AE3B4}"/>
              </a:ext>
            </a:extLst>
          </p:cNvPr>
          <p:cNvGraphicFramePr>
            <a:graphicFrameLocks noGrp="1"/>
          </p:cNvGraphicFramePr>
          <p:nvPr>
            <p:extLst>
              <p:ext uri="{D42A27DB-BD31-4B8C-83A1-F6EECF244321}">
                <p14:modId xmlns:p14="http://schemas.microsoft.com/office/powerpoint/2010/main" val="434023726"/>
              </p:ext>
            </p:extLst>
          </p:nvPr>
        </p:nvGraphicFramePr>
        <p:xfrm>
          <a:off x="538703" y="1416376"/>
          <a:ext cx="11153425" cy="4939782"/>
        </p:xfrm>
        <a:graphic>
          <a:graphicData uri="http://schemas.openxmlformats.org/drawingml/2006/table">
            <a:tbl>
              <a:tblPr firstRow="1" bandRow="1">
                <a:tableStyleId>{E8B1032C-EA38-4F05-BA0D-38AFFFC7BED3}</a:tableStyleId>
              </a:tblPr>
              <a:tblGrid>
                <a:gridCol w="3938683">
                  <a:extLst>
                    <a:ext uri="{9D8B030D-6E8A-4147-A177-3AD203B41FA5}">
                      <a16:colId xmlns:a16="http://schemas.microsoft.com/office/drawing/2014/main" val="1617311041"/>
                    </a:ext>
                  </a:extLst>
                </a:gridCol>
                <a:gridCol w="3607371">
                  <a:extLst>
                    <a:ext uri="{9D8B030D-6E8A-4147-A177-3AD203B41FA5}">
                      <a16:colId xmlns:a16="http://schemas.microsoft.com/office/drawing/2014/main" val="2522562679"/>
                    </a:ext>
                  </a:extLst>
                </a:gridCol>
                <a:gridCol w="3607371">
                  <a:extLst>
                    <a:ext uri="{9D8B030D-6E8A-4147-A177-3AD203B41FA5}">
                      <a16:colId xmlns:a16="http://schemas.microsoft.com/office/drawing/2014/main" val="1973284844"/>
                    </a:ext>
                  </a:extLst>
                </a:gridCol>
              </a:tblGrid>
              <a:tr h="922308">
                <a:tc>
                  <a:txBody>
                    <a:bodyPr/>
                    <a:lstStyle/>
                    <a:p>
                      <a:pPr algn="ctr"/>
                      <a:r>
                        <a:rPr lang="en-US" sz="1400" dirty="0">
                          <a:solidFill>
                            <a:schemeClr val="bg1"/>
                          </a:solidFill>
                          <a:latin typeface="+mn-lt"/>
                          <a:cs typeface="Calibri" panose="020F0502020204030204" pitchFamily="34" charset="0"/>
                        </a:rPr>
                        <a:t>Objectives</a:t>
                      </a:r>
                    </a:p>
                  </a:txBody>
                  <a:tcPr anchor="ctr">
                    <a:solidFill>
                      <a:schemeClr val="tx2"/>
                    </a:solidFill>
                  </a:tcPr>
                </a:tc>
                <a:tc>
                  <a:txBody>
                    <a:bodyPr/>
                    <a:lstStyle/>
                    <a:p>
                      <a:pPr algn="ctr"/>
                      <a:r>
                        <a:rPr lang="en-US" sz="1400" dirty="0">
                          <a:solidFill>
                            <a:schemeClr val="bg1"/>
                          </a:solidFill>
                          <a:latin typeface="+mn-lt"/>
                          <a:cs typeface="Calibri" panose="020F0502020204030204" pitchFamily="34" charset="0"/>
                        </a:rPr>
                        <a:t>KPI</a:t>
                      </a:r>
                    </a:p>
                  </a:txBody>
                  <a:tcPr anchor="ctr">
                    <a:solidFill>
                      <a:schemeClr val="tx2"/>
                    </a:solidFill>
                  </a:tcPr>
                </a:tc>
                <a:tc>
                  <a:txBody>
                    <a:bodyPr/>
                    <a:lstStyle/>
                    <a:p>
                      <a:pPr algn="ctr"/>
                      <a:r>
                        <a:rPr lang="en-US" sz="1400" dirty="0">
                          <a:solidFill>
                            <a:schemeClr val="bg1"/>
                          </a:solidFill>
                          <a:latin typeface="+mn-lt"/>
                          <a:cs typeface="Calibri" panose="020F0502020204030204" pitchFamily="34" charset="0"/>
                        </a:rPr>
                        <a:t>Comment</a:t>
                      </a:r>
                    </a:p>
                  </a:txBody>
                  <a:tcPr anchor="ctr">
                    <a:solidFill>
                      <a:schemeClr val="tx2"/>
                    </a:solidFill>
                  </a:tcPr>
                </a:tc>
                <a:extLst>
                  <a:ext uri="{0D108BD9-81ED-4DB2-BD59-A6C34878D82A}">
                    <a16:rowId xmlns:a16="http://schemas.microsoft.com/office/drawing/2014/main" val="3972549779"/>
                  </a:ext>
                </a:extLst>
              </a:tr>
              <a:tr h="7408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Support computationally based research</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mn-lt"/>
                          <a:cs typeface="Calibri" panose="020F0502020204030204" pitchFamily="34" charset="0"/>
                        </a:rPr>
                        <a:t>Research projects supported on RC resources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mn-lt"/>
                          <a:cs typeface="Calibri" panose="020F0502020204030204" pitchFamily="34" charset="0"/>
                        </a:rPr>
                        <a:t>Users supported on RC resources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mn-lt"/>
                          <a:cs typeface="Calibri" panose="020F0502020204030204" pitchFamily="34" charset="0"/>
                        </a:rPr>
                        <a:t>Publications supported by RC resources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latin typeface="+mn-lt"/>
                          <a:cs typeface="Calibri" panose="020F0502020204030204" pitchFamily="34" charset="0"/>
                        </a:rPr>
                        <a:t>Need to collect baseline data on publications.</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latin typeface="+mn-lt"/>
                          <a:cs typeface="Calibri" panose="020F0502020204030204" pitchFamily="34" charset="0"/>
                        </a:rPr>
                        <a:t>Reliant on faculty/researcher acknowledging use of RC resources</a:t>
                      </a:r>
                    </a:p>
                  </a:txBody>
                  <a:tcPr anchor="ctr"/>
                </a:tc>
                <a:extLst>
                  <a:ext uri="{0D108BD9-81ED-4DB2-BD59-A6C34878D82A}">
                    <a16:rowId xmlns:a16="http://schemas.microsoft.com/office/drawing/2014/main" val="2382197585"/>
                  </a:ext>
                </a:extLst>
              </a:tr>
              <a:tr h="7408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Ensure that services and resources meet researcher requirements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latin typeface="+mn-lt"/>
                          <a:cs typeface="Calibri" panose="020F0502020204030204" pitchFamily="34" charset="0"/>
                        </a:rPr>
                        <a:t>Distribution and analysis of annual Survey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latin typeface="+mn-lt"/>
                          <a:cs typeface="Calibri" panose="020F0502020204030204" pitchFamily="34" charset="0"/>
                        </a:rPr>
                        <a:t>Have baseline data, need to improve on response rates to survey, and on percentage of researchers reporting adequate provision of resources.</a:t>
                      </a:r>
                    </a:p>
                  </a:txBody>
                  <a:tcPr anchor="ctr"/>
                </a:tc>
                <a:extLst>
                  <a:ext uri="{0D108BD9-81ED-4DB2-BD59-A6C34878D82A}">
                    <a16:rowId xmlns:a16="http://schemas.microsoft.com/office/drawing/2014/main" val="995856617"/>
                  </a:ext>
                </a:extLst>
              </a:tr>
              <a:tr h="5270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Optimize utilization of RC resources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latin typeface="+mn-lt"/>
                          <a:cs typeface="Calibri" panose="020F0502020204030204" pitchFamily="34" charset="0"/>
                        </a:rPr>
                        <a:t>Utilization rate of resources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latin typeface="+mn-lt"/>
                          <a:cs typeface="Calibri" panose="020F0502020204030204" pitchFamily="34" charset="0"/>
                        </a:rPr>
                        <a:t>The rate needs to be high, but also need to stay ahead of demand.</a:t>
                      </a:r>
                    </a:p>
                  </a:txBody>
                  <a:tcPr anchor="ctr"/>
                </a:tc>
                <a:extLst>
                  <a:ext uri="{0D108BD9-81ED-4DB2-BD59-A6C34878D82A}">
                    <a16:rowId xmlns:a16="http://schemas.microsoft.com/office/drawing/2014/main" val="894724481"/>
                  </a:ext>
                </a:extLst>
              </a:tr>
              <a:tr h="5270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Maximize availability of resources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latin typeface="+mn-lt"/>
                          <a:cs typeface="Calibri" panose="020F0502020204030204" pitchFamily="34" charset="0"/>
                        </a:rPr>
                        <a:t>Uptime rates</a:t>
                      </a:r>
                      <a:endParaRPr lang="en-US" sz="1200" baseline="0" dirty="0">
                        <a:latin typeface="+mn-lt"/>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aseline="0" dirty="0">
                          <a:latin typeface="+mn-lt"/>
                          <a:cs typeface="Calibri" panose="020F0502020204030204" pitchFamily="34" charset="0"/>
                        </a:rPr>
                        <a:t>Minimize unplanned downtime</a:t>
                      </a:r>
                    </a:p>
                  </a:txBody>
                  <a:tcPr anchor="ctr"/>
                </a:tc>
                <a:extLst>
                  <a:ext uri="{0D108BD9-81ED-4DB2-BD59-A6C34878D82A}">
                    <a16:rowId xmlns:a16="http://schemas.microsoft.com/office/drawing/2014/main" val="3852344815"/>
                  </a:ext>
                </a:extLst>
              </a:tr>
              <a:tr h="7408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Deliver high quality training</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latin typeface="+mn-lt"/>
                          <a:cs typeface="Calibri" panose="020F0502020204030204" pitchFamily="34" charset="0"/>
                        </a:rPr>
                        <a:t>Size of training portfolio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latin typeface="+mn-lt"/>
                          <a:cs typeface="Calibri" panose="020F0502020204030204" pitchFamily="34" charset="0"/>
                        </a:rPr>
                        <a:t>Number of courses delivered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latin typeface="+mn-lt"/>
                          <a:cs typeface="Calibri" panose="020F0502020204030204" pitchFamily="34" charset="0"/>
                        </a:rPr>
                        <a:t>Number of users trained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aseline="0" dirty="0">
                        <a:latin typeface="+mn-lt"/>
                        <a:cs typeface="Calibri" panose="020F0502020204030204" pitchFamily="34" charset="0"/>
                      </a:endParaRPr>
                    </a:p>
                  </a:txBody>
                  <a:tcPr anchor="ctr"/>
                </a:tc>
                <a:extLst>
                  <a:ext uri="{0D108BD9-81ED-4DB2-BD59-A6C34878D82A}">
                    <a16:rowId xmlns:a16="http://schemas.microsoft.com/office/drawing/2014/main" val="3982711498"/>
                  </a:ext>
                </a:extLst>
              </a:tr>
              <a:tr h="7408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User Base engagement</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cs typeface="Calibri" panose="020F0502020204030204" pitchFamily="34" charset="0"/>
                        </a:rPr>
                        <a:t>Number of User Group meetings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cs typeface="Calibri" panose="020F0502020204030204" pitchFamily="34" charset="0"/>
                        </a:rPr>
                        <a:t>Number of outreach events</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aseline="0" dirty="0">
                        <a:latin typeface="+mn-lt"/>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aseline="0" dirty="0">
                        <a:latin typeface="+mn-lt"/>
                        <a:cs typeface="Calibri" panose="020F0502020204030204" pitchFamily="34" charset="0"/>
                      </a:endParaRPr>
                    </a:p>
                  </a:txBody>
                  <a:tcPr anchor="ctr"/>
                </a:tc>
                <a:extLst>
                  <a:ext uri="{0D108BD9-81ED-4DB2-BD59-A6C34878D82A}">
                    <a16:rowId xmlns:a16="http://schemas.microsoft.com/office/drawing/2014/main" val="2609335549"/>
                  </a:ext>
                </a:extLst>
              </a:tr>
            </a:tbl>
          </a:graphicData>
        </a:graphic>
      </p:graphicFrame>
    </p:spTree>
    <p:extLst>
      <p:ext uri="{BB962C8B-B14F-4D97-AF65-F5344CB8AC3E}">
        <p14:creationId xmlns:p14="http://schemas.microsoft.com/office/powerpoint/2010/main" val="1712919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29632" y="551541"/>
            <a:ext cx="10932736" cy="276999"/>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nSpc>
                <a:spcPct val="100000"/>
              </a:lnSpc>
            </a:pPr>
            <a:r>
              <a:rPr lang="en-US" b="1" spc="50" dirty="0">
                <a:solidFill>
                  <a:schemeClr val="tx2"/>
                </a:solidFill>
                <a:cs typeface="Calibri" panose="020F0502020204030204" pitchFamily="34" charset="0"/>
              </a:rPr>
              <a:t>Research Computing mapping to new Strategy R&amp;D Themes and Topics</a:t>
            </a:r>
            <a:endParaRPr lang="en-US" sz="1600" b="0" strike="noStrike" spc="-1" dirty="0"/>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16</a:t>
            </a:fld>
            <a:endParaRPr lang="en-US" sz="850" b="0" strike="noStrike" spc="-1">
              <a:latin typeface="Arial"/>
            </a:endParaRPr>
          </a:p>
        </p:txBody>
      </p:sp>
      <p:graphicFrame>
        <p:nvGraphicFramePr>
          <p:cNvPr id="7" name="Table 6">
            <a:extLst>
              <a:ext uri="{FF2B5EF4-FFF2-40B4-BE49-F238E27FC236}">
                <a16:creationId xmlns:a16="http://schemas.microsoft.com/office/drawing/2014/main" id="{92C491C4-77D7-0D98-FAFF-AAC5DA6A1833}"/>
              </a:ext>
            </a:extLst>
          </p:cNvPr>
          <p:cNvGraphicFramePr>
            <a:graphicFrameLocks noGrp="1"/>
          </p:cNvGraphicFramePr>
          <p:nvPr/>
        </p:nvGraphicFramePr>
        <p:xfrm>
          <a:off x="410148" y="849113"/>
          <a:ext cx="11675772" cy="6063112"/>
        </p:xfrm>
        <a:graphic>
          <a:graphicData uri="http://schemas.openxmlformats.org/drawingml/2006/table">
            <a:tbl>
              <a:tblPr firstRow="1" bandRow="1">
                <a:tableStyleId>{5C22544A-7EE6-4342-B048-85BDC9FD1C3A}</a:tableStyleId>
              </a:tblPr>
              <a:tblGrid>
                <a:gridCol w="1913701">
                  <a:extLst>
                    <a:ext uri="{9D8B030D-6E8A-4147-A177-3AD203B41FA5}">
                      <a16:colId xmlns:a16="http://schemas.microsoft.com/office/drawing/2014/main" val="1165829564"/>
                    </a:ext>
                  </a:extLst>
                </a:gridCol>
                <a:gridCol w="1371620">
                  <a:extLst>
                    <a:ext uri="{9D8B030D-6E8A-4147-A177-3AD203B41FA5}">
                      <a16:colId xmlns:a16="http://schemas.microsoft.com/office/drawing/2014/main" val="438131376"/>
                    </a:ext>
                  </a:extLst>
                </a:gridCol>
                <a:gridCol w="5774080">
                  <a:extLst>
                    <a:ext uri="{9D8B030D-6E8A-4147-A177-3AD203B41FA5}">
                      <a16:colId xmlns:a16="http://schemas.microsoft.com/office/drawing/2014/main" val="3829553299"/>
                    </a:ext>
                  </a:extLst>
                </a:gridCol>
                <a:gridCol w="2616371">
                  <a:extLst>
                    <a:ext uri="{9D8B030D-6E8A-4147-A177-3AD203B41FA5}">
                      <a16:colId xmlns:a16="http://schemas.microsoft.com/office/drawing/2014/main" val="1542205313"/>
                    </a:ext>
                  </a:extLst>
                </a:gridCol>
              </a:tblGrid>
              <a:tr h="585428">
                <a:tc>
                  <a:txBody>
                    <a:bodyPr/>
                    <a:lstStyle/>
                    <a:p>
                      <a:pPr algn="ctr" rtl="0" fontAlgn="ctr"/>
                      <a:r>
                        <a:rPr lang="en-US" sz="1600" b="1" i="0" u="none" strike="noStrike" dirty="0">
                          <a:solidFill>
                            <a:schemeClr val="bg1"/>
                          </a:solidFill>
                          <a:effectLst/>
                          <a:latin typeface="Calibri" panose="020F0502020204030204" pitchFamily="34" charset="0"/>
                        </a:rPr>
                        <a:t>Research Area</a:t>
                      </a: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1" i="0" u="none" strike="noStrike" kern="1200" dirty="0">
                          <a:solidFill>
                            <a:schemeClr val="bg1"/>
                          </a:solidFill>
                          <a:effectLst/>
                          <a:latin typeface="Calibri" panose="020F0502020204030204" pitchFamily="34" charset="0"/>
                          <a:ea typeface="+mn-ea"/>
                          <a:cs typeface="+mn-cs"/>
                        </a:rPr>
                        <a:t>Primary Centers</a:t>
                      </a: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r>
                        <a:rPr lang="en-US" sz="1600" b="1" i="0" u="none" strike="noStrike" kern="1200" dirty="0">
                          <a:solidFill>
                            <a:schemeClr val="bg1"/>
                          </a:solidFill>
                          <a:effectLst/>
                          <a:latin typeface="Calibri" panose="020F0502020204030204" pitchFamily="34" charset="0"/>
                          <a:ea typeface="+mn-ea"/>
                          <a:cs typeface="+mn-cs"/>
                        </a:rPr>
                        <a:t>Sub-Area</a:t>
                      </a: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r>
                        <a:rPr lang="en-US" sz="1600" b="1" i="0" u="none" strike="noStrike" kern="1200" dirty="0">
                          <a:solidFill>
                            <a:schemeClr val="bg1"/>
                          </a:solidFill>
                          <a:effectLst/>
                          <a:latin typeface="Calibri" panose="020F0502020204030204" pitchFamily="34" charset="0"/>
                          <a:ea typeface="+mn-ea"/>
                          <a:cs typeface="+mn-cs"/>
                        </a:rPr>
                        <a:t>Research Computing</a:t>
                      </a: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solidFill>
                  </a:tcPr>
                </a:tc>
                <a:extLst>
                  <a:ext uri="{0D108BD9-81ED-4DB2-BD59-A6C34878D82A}">
                    <a16:rowId xmlns:a16="http://schemas.microsoft.com/office/drawing/2014/main" val="3863149475"/>
                  </a:ext>
                </a:extLst>
              </a:tr>
              <a:tr h="225310">
                <a:tc rowSpan="8">
                  <a:txBody>
                    <a:bodyPr/>
                    <a:lstStyle/>
                    <a:p>
                      <a:pPr algn="ctr" rtl="0" fontAlgn="ctr"/>
                      <a:r>
                        <a:rPr lang="en-US" sz="1600" b="1" u="none" strike="noStrike" dirty="0">
                          <a:solidFill>
                            <a:schemeClr val="tx1"/>
                          </a:solidFill>
                          <a:effectLst/>
                        </a:rPr>
                        <a:t>Energy</a:t>
                      </a:r>
                      <a:endParaRPr lang="en-US" sz="1600" b="1" i="0" u="none" strike="noStrike" dirty="0">
                        <a:solidFill>
                          <a:schemeClr val="tx1"/>
                        </a:solidFill>
                        <a:effectLst/>
                        <a:latin typeface="Calibri" panose="020F0502020204030204" pitchFamily="34" charset="0"/>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8">
                  <a:txBody>
                    <a:bodyPr/>
                    <a:lstStyle/>
                    <a:p>
                      <a:pPr algn="l" rtl="0" fontAlgn="ctr"/>
                      <a:r>
                        <a:rPr lang="en-US" sz="1400" b="0" i="0" u="none" strike="noStrike" dirty="0">
                          <a:solidFill>
                            <a:schemeClr val="tx1"/>
                          </a:solidFill>
                          <a:effectLst/>
                          <a:latin typeface="+mn-lt"/>
                        </a:rPr>
                        <a:t>APEC,</a:t>
                      </a:r>
                      <a:r>
                        <a:rPr lang="en-US" sz="1400" b="0" i="0" u="none" strike="noStrike" baseline="0" dirty="0">
                          <a:solidFill>
                            <a:schemeClr val="tx1"/>
                          </a:solidFill>
                          <a:effectLst/>
                          <a:latin typeface="+mn-lt"/>
                        </a:rPr>
                        <a:t> ENTC, RICH, </a:t>
                      </a:r>
                      <a:r>
                        <a:rPr lang="en-US" sz="1400" b="0" i="0" u="none" strike="noStrike" baseline="0" dirty="0">
                          <a:solidFill>
                            <a:srgbClr val="FF0000"/>
                          </a:solidFill>
                          <a:effectLst/>
                          <a:latin typeface="+mn-lt"/>
                        </a:rPr>
                        <a:t>SBRC</a:t>
                      </a:r>
                      <a:r>
                        <a:rPr lang="en-US" sz="1400" b="0" i="0" u="none" strike="noStrike" baseline="0" dirty="0">
                          <a:solidFill>
                            <a:schemeClr val="tx1"/>
                          </a:solidFill>
                          <a:effectLst/>
                          <a:latin typeface="+mn-lt"/>
                        </a:rPr>
                        <a:t>/Air-CRAFT</a:t>
                      </a:r>
                      <a:endParaRPr lang="en-US" sz="1400" b="0" i="0" u="none" strike="noStrike" dirty="0">
                        <a:solidFill>
                          <a:schemeClr val="tx1"/>
                        </a:solidFill>
                        <a:effectLst/>
                        <a:latin typeface="+mn-lt"/>
                      </a:endParaRPr>
                    </a:p>
                  </a:txBody>
                  <a:tcPr marL="45720"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u="none" strike="noStrike" dirty="0">
                          <a:solidFill>
                            <a:schemeClr val="tx1"/>
                          </a:solidFill>
                          <a:effectLst/>
                          <a:latin typeface="+mn-lt"/>
                        </a:rPr>
                        <a:t>Solar energy </a:t>
                      </a:r>
                      <a:endParaRPr lang="en-US" sz="1400" b="0" i="0" u="none" strike="noStrike" dirty="0">
                        <a:solidFill>
                          <a:schemeClr val="tx1"/>
                        </a:solidFill>
                        <a:effectLst/>
                        <a:latin typeface="+mn-lt"/>
                      </a:endParaRP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8">
                  <a:txBody>
                    <a:bodyPr/>
                    <a:lstStyle/>
                    <a:p>
                      <a:pPr marL="285750" indent="-285750" algn="l" rtl="0" fontAlgn="ctr">
                        <a:buFont typeface="Arial" panose="020B0604020202020204" pitchFamily="34" charset="0"/>
                        <a:buChar char="•"/>
                      </a:pPr>
                      <a:r>
                        <a:rPr lang="en-US" sz="1400" b="0" i="0" u="none" strike="noStrike" dirty="0">
                          <a:solidFill>
                            <a:schemeClr val="tx1"/>
                          </a:solidFill>
                          <a:effectLst/>
                          <a:latin typeface="+mn-lt"/>
                        </a:rPr>
                        <a:t>HPC Cluster</a:t>
                      </a:r>
                    </a:p>
                    <a:p>
                      <a:pPr marL="285750" indent="-285750" algn="l" rtl="0" fontAlgn="ctr">
                        <a:buFont typeface="Arial" panose="020B0604020202020204" pitchFamily="34" charset="0"/>
                        <a:buChar char="•"/>
                      </a:pPr>
                      <a:r>
                        <a:rPr lang="en-US" sz="1400" b="0" i="0" u="none" strike="noStrike" dirty="0">
                          <a:solidFill>
                            <a:schemeClr val="tx1"/>
                          </a:solidFill>
                          <a:effectLst/>
                          <a:latin typeface="+mn-lt"/>
                        </a:rPr>
                        <a:t> Private</a:t>
                      </a:r>
                      <a:r>
                        <a:rPr lang="en-US" sz="1400" b="0" i="0" u="none" strike="noStrike" baseline="0" dirty="0">
                          <a:solidFill>
                            <a:schemeClr val="tx1"/>
                          </a:solidFill>
                          <a:effectLst/>
                          <a:latin typeface="+mn-lt"/>
                        </a:rPr>
                        <a:t> Cloud/VM Services</a:t>
                      </a:r>
                    </a:p>
                    <a:p>
                      <a:pPr marL="285750" indent="-285750" algn="l" rtl="0" fontAlgn="ctr">
                        <a:buFont typeface="Arial" panose="020B0604020202020204" pitchFamily="34" charset="0"/>
                        <a:buChar char="•"/>
                      </a:pPr>
                      <a:r>
                        <a:rPr lang="en-US" sz="1400" b="0" i="0" u="none" strike="noStrike" baseline="0" dirty="0">
                          <a:solidFill>
                            <a:schemeClr val="tx1"/>
                          </a:solidFill>
                          <a:effectLst/>
                          <a:latin typeface="+mn-lt"/>
                        </a:rPr>
                        <a:t>Dedicated HPC nodes for ENTEC(in process)</a:t>
                      </a:r>
                    </a:p>
                    <a:p>
                      <a:pPr marL="285750" indent="-285750" algn="l" rtl="0" fontAlgn="ctr">
                        <a:buFont typeface="Arial" panose="020B0604020202020204" pitchFamily="34" charset="0"/>
                        <a:buChar char="•"/>
                      </a:pPr>
                      <a:r>
                        <a:rPr lang="en-US" sz="1400" b="0" i="0" u="none" strike="noStrike" baseline="0" dirty="0">
                          <a:solidFill>
                            <a:schemeClr val="tx1"/>
                          </a:solidFill>
                          <a:effectLst/>
                          <a:latin typeface="+mn-lt"/>
                        </a:rPr>
                        <a:t>Scientific Computing support</a:t>
                      </a: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3852668"/>
                  </a:ext>
                </a:extLst>
              </a:tr>
              <a:tr h="233583">
                <a:tc vMerge="1">
                  <a:txBody>
                    <a:bodyPr/>
                    <a:lstStyle/>
                    <a:p>
                      <a:endParaRPr lang="en-US"/>
                    </a:p>
                  </a:txBody>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u="none" strike="noStrike" dirty="0">
                          <a:solidFill>
                            <a:schemeClr val="tx1"/>
                          </a:solidFill>
                          <a:effectLst/>
                          <a:latin typeface="+mn-lt"/>
                        </a:rPr>
                        <a:t>Nuclear energy</a:t>
                      </a:r>
                      <a:endParaRPr lang="en-US" sz="1400" b="0" i="0" u="none" strike="noStrike" dirty="0">
                        <a:solidFill>
                          <a:schemeClr val="tx1"/>
                        </a:solidFill>
                        <a:effectLst/>
                        <a:latin typeface="+mn-lt"/>
                      </a:endParaRP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2564793"/>
                  </a:ext>
                </a:extLst>
              </a:tr>
              <a:tr h="225310">
                <a:tc vMerge="1">
                  <a:txBody>
                    <a:bodyPr/>
                    <a:lstStyle/>
                    <a:p>
                      <a:endParaRPr lang="en-US"/>
                    </a:p>
                  </a:txBody>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u="none" strike="noStrike" dirty="0">
                          <a:solidFill>
                            <a:schemeClr val="tx1"/>
                          </a:solidFill>
                          <a:effectLst/>
                          <a:latin typeface="+mn-lt"/>
                        </a:rPr>
                        <a:t>Electrical power transmission and distribution </a:t>
                      </a:r>
                      <a:endParaRPr lang="en-US" sz="1400" b="0" i="0" u="none" strike="noStrike" dirty="0">
                        <a:solidFill>
                          <a:schemeClr val="tx1"/>
                        </a:solidFill>
                        <a:effectLst/>
                        <a:latin typeface="+mn-lt"/>
                      </a:endParaRP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070058"/>
                  </a:ext>
                </a:extLst>
              </a:tr>
              <a:tr h="225310">
                <a:tc vMerge="1">
                  <a:txBody>
                    <a:bodyPr/>
                    <a:lstStyle/>
                    <a:p>
                      <a:endParaRPr lang="en-US"/>
                    </a:p>
                  </a:txBody>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u="none" strike="noStrike" dirty="0">
                          <a:solidFill>
                            <a:schemeClr val="tx1"/>
                          </a:solidFill>
                          <a:effectLst/>
                          <a:latin typeface="+mn-lt"/>
                        </a:rPr>
                        <a:t>Energy storage</a:t>
                      </a:r>
                      <a:endParaRPr lang="en-US" sz="1400" b="0" i="0" u="none" strike="noStrike" dirty="0">
                        <a:solidFill>
                          <a:schemeClr val="tx1"/>
                        </a:solidFill>
                        <a:effectLst/>
                        <a:latin typeface="+mn-lt"/>
                      </a:endParaRP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5710721"/>
                  </a:ext>
                </a:extLst>
              </a:tr>
              <a:tr h="225310">
                <a:tc vMerge="1">
                  <a:txBody>
                    <a:bodyPr/>
                    <a:lstStyle/>
                    <a:p>
                      <a:endParaRPr lang="en-US"/>
                    </a:p>
                  </a:txBody>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u="none" strike="noStrike" dirty="0">
                          <a:solidFill>
                            <a:schemeClr val="tx1"/>
                          </a:solidFill>
                          <a:effectLst/>
                          <a:latin typeface="+mn-lt"/>
                        </a:rPr>
                        <a:t>Energy efficient cities and buildings </a:t>
                      </a:r>
                      <a:endParaRPr lang="en-US" sz="1400" b="0" i="0" u="none" strike="noStrike" dirty="0">
                        <a:solidFill>
                          <a:schemeClr val="tx1"/>
                        </a:solidFill>
                        <a:effectLst/>
                        <a:latin typeface="+mn-lt"/>
                      </a:endParaRP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2319421"/>
                  </a:ext>
                </a:extLst>
              </a:tr>
              <a:tr h="216716">
                <a:tc vMerge="1">
                  <a:txBody>
                    <a:bodyPr/>
                    <a:lstStyle/>
                    <a:p>
                      <a:endParaRPr lang="en-US"/>
                    </a:p>
                  </a:txBody>
                  <a:tcPr/>
                </a:tc>
                <a:tc vMerge="1">
                  <a:txBody>
                    <a:bodyPr/>
                    <a:lstStyle/>
                    <a:p>
                      <a:endParaRPr lang="en-US"/>
                    </a:p>
                  </a:txBody>
                  <a:tcPr/>
                </a:tc>
                <a:tc>
                  <a:txBody>
                    <a:bodyPr/>
                    <a:lstStyle/>
                    <a:p>
                      <a:pPr algn="l" rtl="0" fontAlgn="ctr"/>
                      <a:r>
                        <a:rPr lang="en-US" sz="1400" u="none" strike="noStrike" baseline="0" dirty="0">
                          <a:solidFill>
                            <a:schemeClr val="tx1">
                              <a:lumMod val="95000"/>
                              <a:lumOff val="5000"/>
                            </a:schemeClr>
                          </a:solidFill>
                          <a:effectLst/>
                          <a:latin typeface="+mn-lt"/>
                        </a:rPr>
                        <a:t>Hydrogen and its derivatives</a:t>
                      </a:r>
                      <a:endParaRPr lang="en-US" sz="1400" b="0" i="0" u="none" strike="noStrike" dirty="0">
                        <a:solidFill>
                          <a:schemeClr val="tx1">
                            <a:lumMod val="95000"/>
                            <a:lumOff val="5000"/>
                          </a:schemeClr>
                        </a:solidFill>
                        <a:effectLst/>
                        <a:latin typeface="+mn-lt"/>
                      </a:endParaRP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a:p>
                  </a:txBody>
                  <a:tcPr/>
                </a:tc>
                <a:extLst>
                  <a:ext uri="{0D108BD9-81ED-4DB2-BD59-A6C34878D82A}">
                    <a16:rowId xmlns:a16="http://schemas.microsoft.com/office/drawing/2014/main" val="132363464"/>
                  </a:ext>
                </a:extLst>
              </a:tr>
              <a:tr h="216716">
                <a:tc vMerge="1">
                  <a:txBody>
                    <a:bodyPr/>
                    <a:lstStyle/>
                    <a:p>
                      <a:endParaRPr lang="en-US"/>
                    </a:p>
                  </a:txBody>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u="none" strike="noStrike" dirty="0">
                          <a:solidFill>
                            <a:schemeClr val="tx1"/>
                          </a:solidFill>
                          <a:effectLst/>
                          <a:latin typeface="+mn-lt"/>
                        </a:rPr>
                        <a:t>CO2 capture, utilization and storage</a:t>
                      </a:r>
                      <a:endParaRPr lang="en-US" sz="1400" b="0" i="0" u="none" strike="noStrike" dirty="0">
                        <a:solidFill>
                          <a:schemeClr val="tx1"/>
                        </a:solidFill>
                        <a:effectLst/>
                        <a:latin typeface="+mn-lt"/>
                      </a:endParaRP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5266264"/>
                  </a:ext>
                </a:extLst>
              </a:tr>
              <a:tr h="225310">
                <a:tc vMerge="1">
                  <a:txBody>
                    <a:bodyPr/>
                    <a:lstStyle/>
                    <a:p>
                      <a:endParaRPr lang="en-US"/>
                    </a:p>
                  </a:txBody>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u="none" strike="noStrike" dirty="0">
                          <a:solidFill>
                            <a:schemeClr val="tx1"/>
                          </a:solidFill>
                          <a:effectLst/>
                          <a:latin typeface="+mn-lt"/>
                        </a:rPr>
                        <a:t>Sustainable fuels </a:t>
                      </a:r>
                      <a:r>
                        <a:rPr lang="en-US" sz="1400" b="0" kern="1200" baseline="0" dirty="0">
                          <a:solidFill>
                            <a:schemeClr val="tx1"/>
                          </a:solidFill>
                          <a:latin typeface="+mn-lt"/>
                          <a:ea typeface="+mn-ea"/>
                          <a:cs typeface="Calibri" panose="020F0502020204030204" pitchFamily="34" charset="0"/>
                        </a:rPr>
                        <a:t>(low-carbon oil and gas)</a:t>
                      </a:r>
                      <a:endParaRPr lang="en-US" sz="1400" b="0" i="0" u="none" strike="noStrike" dirty="0">
                        <a:solidFill>
                          <a:schemeClr val="tx1"/>
                        </a:solidFill>
                        <a:effectLst/>
                        <a:latin typeface="+mn-lt"/>
                      </a:endParaRP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6520177"/>
                  </a:ext>
                </a:extLst>
              </a:tr>
              <a:tr h="216716">
                <a:tc rowSpan="4">
                  <a:txBody>
                    <a:bodyPr/>
                    <a:lstStyle/>
                    <a:p>
                      <a:pPr algn="ctr" rtl="0" fontAlgn="ctr"/>
                      <a:r>
                        <a:rPr lang="en-US" sz="1600" b="1" u="none" strike="noStrike" dirty="0">
                          <a:solidFill>
                            <a:schemeClr val="tx1"/>
                          </a:solidFill>
                          <a:effectLst/>
                        </a:rPr>
                        <a:t>Water &amp; Environment</a:t>
                      </a:r>
                      <a:endParaRPr lang="en-US" sz="1600" b="1" i="0" u="none" strike="noStrike" dirty="0">
                        <a:solidFill>
                          <a:schemeClr val="tx1"/>
                        </a:solidFill>
                        <a:effectLst/>
                        <a:latin typeface="Calibri" panose="020F0502020204030204" pitchFamily="34" charset="0"/>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lgn="l" rtl="0" fontAlgn="ctr"/>
                      <a:r>
                        <a:rPr lang="en-US" sz="1400" b="0" i="0" u="none" strike="noStrike" dirty="0">
                          <a:solidFill>
                            <a:schemeClr val="tx1"/>
                          </a:solidFill>
                          <a:effectLst/>
                          <a:latin typeface="+mn-lt"/>
                        </a:rPr>
                        <a:t>CMAT, ENGEOS/ EARTHCARE</a:t>
                      </a:r>
                    </a:p>
                  </a:txBody>
                  <a:tcPr marL="45720"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u="none" strike="noStrike" dirty="0">
                          <a:solidFill>
                            <a:schemeClr val="tx1"/>
                          </a:solidFill>
                          <a:effectLst/>
                          <a:latin typeface="+mn-lt"/>
                        </a:rPr>
                        <a:t>Desalination </a:t>
                      </a:r>
                      <a:endParaRPr lang="en-US" sz="1400" b="0" i="0" u="none" strike="noStrike" dirty="0">
                        <a:solidFill>
                          <a:schemeClr val="tx1"/>
                        </a:solidFill>
                        <a:effectLst/>
                        <a:latin typeface="+mn-lt"/>
                      </a:endParaRP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marL="285750" indent="-285750" algn="l" rtl="0" fontAlgn="ctr">
                        <a:buFont typeface="Arial" panose="020B0604020202020204" pitchFamily="34" charset="0"/>
                        <a:buChar char="•"/>
                      </a:pPr>
                      <a:r>
                        <a:rPr lang="en-US" sz="1400" b="0" i="0" u="none" strike="noStrike" dirty="0">
                          <a:solidFill>
                            <a:schemeClr val="tx1"/>
                          </a:solidFill>
                          <a:effectLst/>
                          <a:latin typeface="+mn-lt"/>
                        </a:rPr>
                        <a:t>HPC Cluster</a:t>
                      </a:r>
                    </a:p>
                    <a:p>
                      <a:pPr marL="285750" indent="-285750" algn="l" rtl="0" fontAlgn="ctr">
                        <a:buFont typeface="Arial" panose="020B0604020202020204" pitchFamily="34" charset="0"/>
                        <a:buChar char="•"/>
                      </a:pPr>
                      <a:r>
                        <a:rPr lang="en-US" sz="1400" b="0" i="0" u="none" strike="noStrike" dirty="0">
                          <a:solidFill>
                            <a:schemeClr val="tx1"/>
                          </a:solidFill>
                          <a:effectLst/>
                          <a:latin typeface="+mn-lt"/>
                        </a:rPr>
                        <a:t> Private</a:t>
                      </a:r>
                      <a:r>
                        <a:rPr lang="en-US" sz="1400" b="0" i="0" u="none" strike="noStrike" baseline="0" dirty="0">
                          <a:solidFill>
                            <a:schemeClr val="tx1"/>
                          </a:solidFill>
                          <a:effectLst/>
                          <a:latin typeface="+mn-lt"/>
                        </a:rPr>
                        <a:t> Cloud/VM Services</a:t>
                      </a:r>
                    </a:p>
                    <a:p>
                      <a:pPr marL="285750" indent="-285750" algn="l" rtl="0" fontAlgn="ctr">
                        <a:buFont typeface="Arial" panose="020B0604020202020204" pitchFamily="34" charset="0"/>
                        <a:buChar char="•"/>
                      </a:pPr>
                      <a:r>
                        <a:rPr lang="en-US" sz="1400" b="0" i="0" u="none" strike="noStrike" baseline="0" dirty="0">
                          <a:solidFill>
                            <a:schemeClr val="tx1"/>
                          </a:solidFill>
                          <a:effectLst/>
                          <a:latin typeface="+mn-lt"/>
                        </a:rPr>
                        <a:t> Scientific Computing Support</a:t>
                      </a: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0708918"/>
                  </a:ext>
                </a:extLst>
              </a:tr>
              <a:tr h="225310">
                <a:tc vMerge="1">
                  <a:txBody>
                    <a:bodyPr/>
                    <a:lstStyle/>
                    <a:p>
                      <a:endParaRPr lang="en-US"/>
                    </a:p>
                  </a:txBody>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u="none" strike="noStrike" dirty="0">
                          <a:solidFill>
                            <a:schemeClr val="tx1"/>
                          </a:solidFill>
                          <a:effectLst/>
                          <a:latin typeface="+mn-lt"/>
                        </a:rPr>
                        <a:t>Waste treatment and utilization </a:t>
                      </a:r>
                      <a:endParaRPr lang="en-US" sz="1400" b="0" i="0" u="none" strike="noStrike" dirty="0">
                        <a:solidFill>
                          <a:schemeClr val="tx1"/>
                        </a:solidFill>
                        <a:effectLst/>
                        <a:latin typeface="+mn-lt"/>
                      </a:endParaRP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346088"/>
                  </a:ext>
                </a:extLst>
              </a:tr>
              <a:tr h="225310">
                <a:tc vMerge="1">
                  <a:txBody>
                    <a:bodyPr/>
                    <a:lstStyle/>
                    <a:p>
                      <a:endParaRPr lang="en-US"/>
                    </a:p>
                  </a:txBody>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u="none" strike="noStrike" dirty="0">
                          <a:solidFill>
                            <a:schemeClr val="tx1"/>
                          </a:solidFill>
                          <a:effectLst/>
                          <a:latin typeface="+mn-lt"/>
                        </a:rPr>
                        <a:t>Environmental remote sensing</a:t>
                      </a:r>
                      <a:endParaRPr lang="en-US" sz="1400" b="0" i="0" u="none" strike="noStrike" dirty="0">
                        <a:solidFill>
                          <a:schemeClr val="tx1"/>
                        </a:solidFill>
                        <a:effectLst/>
                        <a:latin typeface="+mn-lt"/>
                      </a:endParaRP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7990248"/>
                  </a:ext>
                </a:extLst>
              </a:tr>
              <a:tr h="225310">
                <a:tc vMerge="1">
                  <a:txBody>
                    <a:bodyPr/>
                    <a:lstStyle/>
                    <a:p>
                      <a:endParaRPr lang="en-US"/>
                    </a:p>
                  </a:txBody>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u="none" strike="noStrike" dirty="0">
                          <a:solidFill>
                            <a:schemeClr val="tx1"/>
                          </a:solidFill>
                          <a:effectLst/>
                          <a:latin typeface="+mn-lt"/>
                        </a:rPr>
                        <a:t>Ocean and coastal ecology and environment</a:t>
                      </a:r>
                      <a:endParaRPr lang="en-US" sz="1400" b="0" i="0" u="none" strike="noStrike" dirty="0">
                        <a:solidFill>
                          <a:schemeClr val="tx1"/>
                        </a:solidFill>
                        <a:effectLst/>
                        <a:latin typeface="+mn-lt"/>
                      </a:endParaRP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1696582"/>
                  </a:ext>
                </a:extLst>
              </a:tr>
              <a:tr h="225310">
                <a:tc rowSpan="5">
                  <a:txBody>
                    <a:bodyPr/>
                    <a:lstStyle/>
                    <a:p>
                      <a:pPr algn="ctr" rtl="0" fontAlgn="ctr"/>
                      <a:r>
                        <a:rPr lang="en-US" sz="1600" b="1" u="none" strike="noStrike" dirty="0">
                          <a:solidFill>
                            <a:schemeClr val="tx1"/>
                          </a:solidFill>
                          <a:effectLst/>
                        </a:rPr>
                        <a:t>Health</a:t>
                      </a:r>
                      <a:endParaRPr lang="en-US" sz="1600" b="1" i="0" u="none" strike="noStrike" dirty="0">
                        <a:solidFill>
                          <a:schemeClr val="tx1"/>
                        </a:solidFill>
                        <a:effectLst/>
                        <a:latin typeface="Calibri" panose="020F0502020204030204" pitchFamily="34" charset="0"/>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algn="l" rtl="0" fontAlgn="ctr"/>
                      <a:r>
                        <a:rPr lang="en-US" sz="1400" b="0" i="0" u="none" strike="noStrike" dirty="0">
                          <a:solidFill>
                            <a:schemeClr val="tx1"/>
                          </a:solidFill>
                          <a:effectLst/>
                          <a:latin typeface="+mn-lt"/>
                        </a:rPr>
                        <a:t>BTC, HEIC, RDISC</a:t>
                      </a:r>
                    </a:p>
                  </a:txBody>
                  <a:tcPr marL="45720"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u="none" strike="noStrike" dirty="0">
                          <a:solidFill>
                            <a:schemeClr val="tx1"/>
                          </a:solidFill>
                          <a:effectLst/>
                          <a:latin typeface="+mn-lt"/>
                        </a:rPr>
                        <a:t>Omics (proteomics, genomics, metabolomics)</a:t>
                      </a:r>
                      <a:endParaRPr lang="en-US" sz="1400" b="0" i="0" u="none" strike="noStrike" dirty="0">
                        <a:solidFill>
                          <a:schemeClr val="tx1"/>
                        </a:solidFill>
                        <a:effectLst/>
                        <a:latin typeface="+mn-lt"/>
                      </a:endParaRP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marL="285750" indent="-285750" algn="l" rtl="0" fontAlgn="ctr">
                        <a:buFont typeface="Arial" panose="020B0604020202020204" pitchFamily="34" charset="0"/>
                        <a:buChar char="•"/>
                      </a:pPr>
                      <a:r>
                        <a:rPr lang="en-US" sz="1400" b="0" i="0" u="none" strike="noStrike" dirty="0">
                          <a:solidFill>
                            <a:schemeClr val="tx1"/>
                          </a:solidFill>
                          <a:effectLst/>
                          <a:latin typeface="+mn-lt"/>
                        </a:rPr>
                        <a:t>HPC Cluster</a:t>
                      </a:r>
                    </a:p>
                    <a:p>
                      <a:pPr marL="285750" indent="-285750" algn="l" rtl="0" fontAlgn="ctr">
                        <a:buFont typeface="Arial" panose="020B0604020202020204" pitchFamily="34" charset="0"/>
                        <a:buChar char="•"/>
                      </a:pPr>
                      <a:r>
                        <a:rPr lang="en-US" sz="1400" b="0" i="0" u="none" strike="noStrike" dirty="0">
                          <a:solidFill>
                            <a:schemeClr val="tx1"/>
                          </a:solidFill>
                          <a:effectLst/>
                          <a:latin typeface="+mn-lt"/>
                        </a:rPr>
                        <a:t>Private</a:t>
                      </a:r>
                      <a:r>
                        <a:rPr lang="en-US" sz="1400" b="0" i="0" u="none" strike="noStrike" baseline="0" dirty="0">
                          <a:solidFill>
                            <a:schemeClr val="tx1"/>
                          </a:solidFill>
                          <a:effectLst/>
                          <a:latin typeface="+mn-lt"/>
                        </a:rPr>
                        <a:t> Cloud/VM Services</a:t>
                      </a:r>
                    </a:p>
                    <a:p>
                      <a:pPr marL="285750" indent="-285750" algn="l" rtl="0" fontAlgn="ctr">
                        <a:buFont typeface="Arial" panose="020B0604020202020204" pitchFamily="34" charset="0"/>
                        <a:buChar char="•"/>
                      </a:pPr>
                      <a:r>
                        <a:rPr lang="en-US" sz="1400" b="0" i="0" u="none" strike="noStrike" baseline="0" dirty="0">
                          <a:solidFill>
                            <a:schemeClr val="tx1"/>
                          </a:solidFill>
                          <a:effectLst/>
                          <a:latin typeface="+mn-lt"/>
                        </a:rPr>
                        <a:t>Big Data Platform</a:t>
                      </a:r>
                    </a:p>
                    <a:p>
                      <a:pPr marL="285750" indent="-285750" algn="l" rtl="0" fontAlgn="ctr">
                        <a:buFont typeface="Arial" panose="020B0604020202020204" pitchFamily="34" charset="0"/>
                        <a:buChar char="•"/>
                      </a:pPr>
                      <a:r>
                        <a:rPr lang="en-US" sz="1400" b="0" i="0" u="none" strike="noStrike" baseline="0" dirty="0">
                          <a:solidFill>
                            <a:schemeClr val="tx1"/>
                          </a:solidFill>
                          <a:effectLst/>
                          <a:latin typeface="+mn-lt"/>
                        </a:rPr>
                        <a:t>Object Storage</a:t>
                      </a:r>
                    </a:p>
                    <a:p>
                      <a:pPr marL="285750" indent="-285750" algn="l" rtl="0" fontAlgn="ctr">
                        <a:buFont typeface="Arial" panose="020B0604020202020204" pitchFamily="34" charset="0"/>
                        <a:buChar char="•"/>
                      </a:pPr>
                      <a:r>
                        <a:rPr lang="en-US" sz="1400" b="0" i="0" u="none" strike="noStrike" baseline="0" dirty="0">
                          <a:solidFill>
                            <a:schemeClr val="tx1"/>
                          </a:solidFill>
                          <a:effectLst/>
                          <a:latin typeface="+mn-lt"/>
                        </a:rPr>
                        <a:t>Teaching and Research Lab</a:t>
                      </a:r>
                    </a:p>
                    <a:p>
                      <a:pPr marL="285750" indent="-285750" algn="l" rtl="0" fontAlgn="ctr">
                        <a:buFont typeface="Arial" panose="020B0604020202020204" pitchFamily="34" charset="0"/>
                        <a:buChar char="•"/>
                      </a:pPr>
                      <a:r>
                        <a:rPr lang="en-US" sz="1400" b="0" i="0" u="none" strike="noStrike" baseline="0" dirty="0">
                          <a:solidFill>
                            <a:schemeClr val="tx1"/>
                          </a:solidFill>
                          <a:effectLst/>
                          <a:latin typeface="+mn-lt"/>
                        </a:rPr>
                        <a:t>Sysadmin for Bioinformatics server </a:t>
                      </a:r>
                    </a:p>
                    <a:p>
                      <a:pPr marL="285750" indent="-285750" algn="l" rtl="0" fontAlgn="ctr">
                        <a:buFont typeface="Arial" panose="020B0604020202020204" pitchFamily="34" charset="0"/>
                        <a:buChar char="•"/>
                      </a:pPr>
                      <a:r>
                        <a:rPr lang="en-US" sz="1400" b="0" i="0" u="none" strike="noStrike" baseline="0" dirty="0">
                          <a:solidFill>
                            <a:schemeClr val="tx1"/>
                          </a:solidFill>
                          <a:effectLst/>
                          <a:latin typeface="+mn-lt"/>
                        </a:rPr>
                        <a:t>Scientific Computing support</a:t>
                      </a: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3502250"/>
                  </a:ext>
                </a:extLst>
              </a:tr>
              <a:tr h="216716">
                <a:tc vMerge="1">
                  <a:txBody>
                    <a:bodyPr/>
                    <a:lstStyle/>
                    <a:p>
                      <a:endParaRPr lang="en-US"/>
                    </a:p>
                  </a:txBody>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u="none" strike="noStrike" dirty="0">
                          <a:solidFill>
                            <a:schemeClr val="tx1"/>
                          </a:solidFill>
                          <a:effectLst/>
                          <a:latin typeface="+mn-lt"/>
                        </a:rPr>
                        <a:t>Medical technology (bio-robotics and medical devices) </a:t>
                      </a:r>
                      <a:endParaRPr lang="en-US" sz="1400" b="0" i="0" u="none" strike="noStrike" dirty="0">
                        <a:solidFill>
                          <a:schemeClr val="tx1"/>
                        </a:solidFill>
                        <a:effectLst/>
                        <a:latin typeface="+mn-lt"/>
                      </a:endParaRP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6034294"/>
                  </a:ext>
                </a:extLst>
              </a:tr>
              <a:tr h="425043">
                <a:tc vMerge="1">
                  <a:txBody>
                    <a:bodyPr/>
                    <a:lstStyle/>
                    <a:p>
                      <a:endParaRPr lang="en-US"/>
                    </a:p>
                  </a:txBody>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u="none" strike="noStrike" dirty="0">
                          <a:solidFill>
                            <a:schemeClr val="tx1"/>
                          </a:solidFill>
                          <a:effectLst/>
                          <a:latin typeface="+mn-lt"/>
                        </a:rPr>
                        <a:t>Therapeutics (pharmacology, clinical toxicology, virology and tissue culture)</a:t>
                      </a:r>
                      <a:endParaRPr lang="en-US" sz="1400" b="0" i="0" u="none" strike="noStrike" dirty="0">
                        <a:solidFill>
                          <a:schemeClr val="tx1"/>
                        </a:solidFill>
                        <a:effectLst/>
                        <a:latin typeface="+mn-lt"/>
                      </a:endParaRP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6257657"/>
                  </a:ext>
                </a:extLst>
              </a:tr>
              <a:tr h="425043">
                <a:tc vMerge="1">
                  <a:txBody>
                    <a:bodyPr/>
                    <a:lstStyle/>
                    <a:p>
                      <a:endParaRPr lang="en-US"/>
                    </a:p>
                  </a:txBody>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u="none" strike="noStrike" dirty="0">
                          <a:solidFill>
                            <a:schemeClr val="tx1"/>
                          </a:solidFill>
                          <a:effectLst/>
                          <a:latin typeface="+mn-lt"/>
                        </a:rPr>
                        <a:t>Analytics (epidemiology, biostatistics and modeling, bioinformatics, bio-signal processing)</a:t>
                      </a:r>
                      <a:endParaRPr lang="en-US" sz="1400" b="0" i="0" u="none" strike="noStrike" dirty="0">
                        <a:solidFill>
                          <a:schemeClr val="tx1"/>
                        </a:solidFill>
                        <a:effectLst/>
                        <a:latin typeface="+mn-lt"/>
                      </a:endParaRP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6804472"/>
                  </a:ext>
                </a:extLst>
              </a:tr>
              <a:tr h="343361">
                <a:tc vMerge="1">
                  <a:txBody>
                    <a:bodyPr/>
                    <a:lstStyle/>
                    <a:p>
                      <a:endParaRPr lang="en-US"/>
                    </a:p>
                  </a:txBody>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u="none" strike="noStrike" dirty="0">
                          <a:solidFill>
                            <a:schemeClr val="tx1"/>
                          </a:solidFill>
                          <a:effectLst/>
                          <a:latin typeface="+mn-lt"/>
                        </a:rPr>
                        <a:t>Management and operations</a:t>
                      </a:r>
                      <a:endParaRPr lang="en-US" sz="1400" b="0" i="0" u="none" strike="noStrike" dirty="0">
                        <a:solidFill>
                          <a:schemeClr val="tx1"/>
                        </a:solidFill>
                        <a:effectLst/>
                        <a:latin typeface="+mn-lt"/>
                      </a:endParaRP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4509643"/>
                  </a:ext>
                </a:extLst>
              </a:tr>
              <a:tr h="425043">
                <a:tc rowSpan="2">
                  <a:txBody>
                    <a:bodyPr/>
                    <a:lstStyle/>
                    <a:p>
                      <a:pPr algn="ctr" rtl="0" fontAlgn="ctr"/>
                      <a:r>
                        <a:rPr lang="en-US" sz="1600" b="1" i="0" u="none" strike="noStrike" dirty="0">
                          <a:solidFill>
                            <a:schemeClr val="tx1"/>
                          </a:solidFill>
                          <a:effectLst/>
                          <a:latin typeface="Calibri" panose="020F0502020204030204" pitchFamily="34" charset="0"/>
                        </a:rPr>
                        <a:t>Space</a:t>
                      </a: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chemeClr val="tx1"/>
                          </a:solidFill>
                          <a:effectLst/>
                          <a:latin typeface="+mn-lt"/>
                        </a:rPr>
                        <a:t>KUSTIC, SPSC, ENGEOS/ EARTHCARE</a:t>
                      </a:r>
                    </a:p>
                  </a:txBody>
                  <a:tcPr marL="45720"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chemeClr val="tx1"/>
                          </a:solidFill>
                          <a:effectLst/>
                          <a:latin typeface="+mn-lt"/>
                        </a:rPr>
                        <a:t>Space telecommunications, access and exploration (technology development and science applications)</a:t>
                      </a:r>
                      <a:endParaRPr lang="en-US" sz="1400" dirty="0"/>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285750" indent="-285750" algn="l" rtl="0" fontAlgn="ctr">
                        <a:buFont typeface="Arial" panose="020B0604020202020204" pitchFamily="34" charset="0"/>
                        <a:buChar char="•"/>
                      </a:pPr>
                      <a:r>
                        <a:rPr lang="en-US" sz="1400" b="0" i="0" u="none" strike="noStrike" dirty="0">
                          <a:solidFill>
                            <a:schemeClr val="tx1"/>
                          </a:solidFill>
                          <a:effectLst/>
                          <a:latin typeface="+mn-lt"/>
                        </a:rPr>
                        <a:t>HPC Cluster</a:t>
                      </a:r>
                    </a:p>
                    <a:p>
                      <a:pPr marL="285750" indent="-285750" algn="l" rtl="0" fontAlgn="ctr">
                        <a:buFont typeface="Arial" panose="020B0604020202020204" pitchFamily="34" charset="0"/>
                        <a:buChar char="•"/>
                      </a:pPr>
                      <a:r>
                        <a:rPr lang="en-US" sz="1400" b="0" i="0" u="none" strike="noStrike" dirty="0">
                          <a:solidFill>
                            <a:schemeClr val="tx1"/>
                          </a:solidFill>
                          <a:effectLst/>
                          <a:latin typeface="+mn-lt"/>
                        </a:rPr>
                        <a:t> Private</a:t>
                      </a:r>
                      <a:r>
                        <a:rPr lang="en-US" sz="1400" b="0" i="0" u="none" strike="noStrike" baseline="0" dirty="0">
                          <a:solidFill>
                            <a:schemeClr val="tx1"/>
                          </a:solidFill>
                          <a:effectLst/>
                          <a:latin typeface="+mn-lt"/>
                        </a:rPr>
                        <a:t> Cloud/VM Services</a:t>
                      </a:r>
                    </a:p>
                    <a:p>
                      <a:pPr marL="285750" indent="-285750" algn="l" rtl="0" fontAlgn="ctr">
                        <a:buFont typeface="Arial" panose="020B0604020202020204" pitchFamily="34" charset="0"/>
                        <a:buChar char="•"/>
                      </a:pPr>
                      <a:r>
                        <a:rPr lang="en-US" sz="1400" b="0" i="0" u="none" strike="noStrike" baseline="0" dirty="0">
                          <a:solidFill>
                            <a:schemeClr val="tx1"/>
                          </a:solidFill>
                          <a:effectLst/>
                          <a:latin typeface="+mn-lt"/>
                        </a:rPr>
                        <a:t>Scientific Computing support</a:t>
                      </a: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639099"/>
                  </a:ext>
                </a:extLst>
              </a:tr>
              <a:tr h="624981">
                <a:tc vMerge="1">
                  <a:txBody>
                    <a:bodyPr/>
                    <a:lstStyle/>
                    <a:p>
                      <a:pPr algn="ctr" rtl="0" fontAlgn="ctr"/>
                      <a:endParaRPr lang="en-US" sz="1800" b="1" i="0" u="none" strike="noStrike" dirty="0">
                        <a:solidFill>
                          <a:schemeClr val="tx1"/>
                        </a:solidFill>
                        <a:effectLst/>
                        <a:latin typeface="Calibri" panose="020F0502020204030204" pitchFamily="34" charset="0"/>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chemeClr val="tx1"/>
                          </a:solidFill>
                          <a:effectLst/>
                          <a:latin typeface="+mn-lt"/>
                        </a:rPr>
                        <a:t>Earth observation</a:t>
                      </a: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3313760"/>
                  </a:ext>
                </a:extLst>
              </a:tr>
            </a:tbl>
          </a:graphicData>
        </a:graphic>
      </p:graphicFrame>
    </p:spTree>
    <p:extLst>
      <p:ext uri="{BB962C8B-B14F-4D97-AF65-F5344CB8AC3E}">
        <p14:creationId xmlns:p14="http://schemas.microsoft.com/office/powerpoint/2010/main" val="1166300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17</a:t>
            </a:fld>
            <a:endParaRPr lang="en-US" sz="850" b="0" strike="noStrike" spc="-1">
              <a:latin typeface="Arial"/>
            </a:endParaRPr>
          </a:p>
        </p:txBody>
      </p:sp>
      <p:sp>
        <p:nvSpPr>
          <p:cNvPr id="9" name="CustomShape 2">
            <a:extLst>
              <a:ext uri="{FF2B5EF4-FFF2-40B4-BE49-F238E27FC236}">
                <a16:creationId xmlns:a16="http://schemas.microsoft.com/office/drawing/2014/main" id="{E729B830-B10C-AB44-6DF2-DBC6675FAF37}"/>
              </a:ext>
            </a:extLst>
          </p:cNvPr>
          <p:cNvSpPr/>
          <p:nvPr/>
        </p:nvSpPr>
        <p:spPr>
          <a:xfrm>
            <a:off x="629632" y="551541"/>
            <a:ext cx="10932736" cy="276999"/>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nSpc>
                <a:spcPct val="100000"/>
              </a:lnSpc>
            </a:pPr>
            <a:r>
              <a:rPr lang="en-US" b="1" spc="50" dirty="0">
                <a:solidFill>
                  <a:schemeClr val="tx2"/>
                </a:solidFill>
                <a:cs typeface="Calibri" panose="020F0502020204030204" pitchFamily="34" charset="0"/>
              </a:rPr>
              <a:t>Research Computing mapping to new Strategy R&amp;D Themes and Topics</a:t>
            </a:r>
            <a:endParaRPr lang="en-US" sz="1600" b="0" strike="noStrike" spc="-1" dirty="0"/>
          </a:p>
        </p:txBody>
      </p:sp>
      <p:graphicFrame>
        <p:nvGraphicFramePr>
          <p:cNvPr id="10" name="Table 9">
            <a:extLst>
              <a:ext uri="{FF2B5EF4-FFF2-40B4-BE49-F238E27FC236}">
                <a16:creationId xmlns:a16="http://schemas.microsoft.com/office/drawing/2014/main" id="{C48B1D0D-55C2-ABDA-079E-BB4856A90CBB}"/>
              </a:ext>
            </a:extLst>
          </p:cNvPr>
          <p:cNvGraphicFramePr>
            <a:graphicFrameLocks noGrp="1"/>
          </p:cNvGraphicFramePr>
          <p:nvPr/>
        </p:nvGraphicFramePr>
        <p:xfrm>
          <a:off x="254357" y="1054091"/>
          <a:ext cx="11683286" cy="5781888"/>
        </p:xfrm>
        <a:graphic>
          <a:graphicData uri="http://schemas.openxmlformats.org/drawingml/2006/table">
            <a:tbl>
              <a:tblPr firstRow="1" bandRow="1">
                <a:tableStyleId>{5C22544A-7EE6-4342-B048-85BDC9FD1C3A}</a:tableStyleId>
              </a:tblPr>
              <a:tblGrid>
                <a:gridCol w="2254753">
                  <a:extLst>
                    <a:ext uri="{9D8B030D-6E8A-4147-A177-3AD203B41FA5}">
                      <a16:colId xmlns:a16="http://schemas.microsoft.com/office/drawing/2014/main" val="1165829564"/>
                    </a:ext>
                  </a:extLst>
                </a:gridCol>
                <a:gridCol w="1324817">
                  <a:extLst>
                    <a:ext uri="{9D8B030D-6E8A-4147-A177-3AD203B41FA5}">
                      <a16:colId xmlns:a16="http://schemas.microsoft.com/office/drawing/2014/main" val="3799162982"/>
                    </a:ext>
                  </a:extLst>
                </a:gridCol>
                <a:gridCol w="5995873">
                  <a:extLst>
                    <a:ext uri="{9D8B030D-6E8A-4147-A177-3AD203B41FA5}">
                      <a16:colId xmlns:a16="http://schemas.microsoft.com/office/drawing/2014/main" val="3829553299"/>
                    </a:ext>
                  </a:extLst>
                </a:gridCol>
                <a:gridCol w="2107843">
                  <a:extLst>
                    <a:ext uri="{9D8B030D-6E8A-4147-A177-3AD203B41FA5}">
                      <a16:colId xmlns:a16="http://schemas.microsoft.com/office/drawing/2014/main" val="1542205313"/>
                    </a:ext>
                  </a:extLst>
                </a:gridCol>
              </a:tblGrid>
              <a:tr h="672691">
                <a:tc>
                  <a:txBody>
                    <a:bodyPr/>
                    <a:lstStyle/>
                    <a:p>
                      <a:pPr algn="ctr" rtl="0" fontAlgn="ctr"/>
                      <a:r>
                        <a:rPr lang="en-US" sz="1600" b="1" i="0" u="none" strike="noStrike" dirty="0">
                          <a:solidFill>
                            <a:schemeClr val="bg1"/>
                          </a:solidFill>
                          <a:effectLst/>
                          <a:latin typeface="Calibri" panose="020F0502020204030204" pitchFamily="34" charset="0"/>
                        </a:rPr>
                        <a:t>Research Area</a:t>
                      </a: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r>
                        <a:rPr lang="en-US" sz="1600" b="1" i="0" u="none" strike="noStrike" kern="1200" dirty="0">
                          <a:solidFill>
                            <a:schemeClr val="bg1"/>
                          </a:solidFill>
                          <a:effectLst/>
                          <a:latin typeface="Calibri" panose="020F0502020204030204" pitchFamily="34" charset="0"/>
                          <a:ea typeface="+mn-ea"/>
                          <a:cs typeface="+mn-cs"/>
                        </a:rPr>
                        <a:t>Centers</a:t>
                      </a: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r>
                        <a:rPr lang="en-US" sz="1600" b="1" i="0" u="none" strike="noStrike" kern="1200" dirty="0">
                          <a:solidFill>
                            <a:schemeClr val="bg1"/>
                          </a:solidFill>
                          <a:effectLst/>
                          <a:latin typeface="Calibri" panose="020F0502020204030204" pitchFamily="34" charset="0"/>
                          <a:ea typeface="+mn-ea"/>
                          <a:cs typeface="+mn-cs"/>
                        </a:rPr>
                        <a:t>Sub-Area</a:t>
                      </a: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r>
                        <a:rPr lang="en-US" sz="1600" b="1" i="0" u="none" strike="noStrike" kern="1200" dirty="0">
                          <a:solidFill>
                            <a:schemeClr val="bg1"/>
                          </a:solidFill>
                          <a:effectLst/>
                          <a:latin typeface="Calibri" panose="020F0502020204030204" pitchFamily="34" charset="0"/>
                          <a:ea typeface="+mn-ea"/>
                          <a:cs typeface="+mn-cs"/>
                        </a:rPr>
                        <a:t>Research Computing</a:t>
                      </a: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solidFill>
                  </a:tcPr>
                </a:tc>
                <a:extLst>
                  <a:ext uri="{0D108BD9-81ED-4DB2-BD59-A6C34878D82A}">
                    <a16:rowId xmlns:a16="http://schemas.microsoft.com/office/drawing/2014/main" val="3863149475"/>
                  </a:ext>
                </a:extLst>
              </a:tr>
              <a:tr h="269003">
                <a:tc rowSpan="6">
                  <a:txBody>
                    <a:bodyPr/>
                    <a:lstStyle/>
                    <a:p>
                      <a:pPr algn="ctr" rtl="0" fontAlgn="ctr"/>
                      <a:r>
                        <a:rPr lang="en-US" sz="1600" b="1" u="none" strike="noStrike" dirty="0">
                          <a:solidFill>
                            <a:schemeClr val="tx1"/>
                          </a:solidFill>
                          <a:effectLst/>
                        </a:rPr>
                        <a:t>Advanced Material &amp; Manufacturing </a:t>
                      </a: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6">
                  <a:txBody>
                    <a:bodyPr/>
                    <a:lstStyle/>
                    <a:p>
                      <a:pPr marL="0" marR="0" lvl="0" indent="0" algn="l"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400" b="0" i="0" u="none" strike="noStrike" dirty="0">
                          <a:solidFill>
                            <a:schemeClr val="tx1"/>
                          </a:solidFill>
                          <a:effectLst/>
                          <a:latin typeface="+mn-lt"/>
                        </a:rPr>
                        <a:t>ARIC, AMCC, </a:t>
                      </a:r>
                      <a:r>
                        <a:rPr lang="en-US" sz="1400" b="0" i="0" u="none" strike="noStrike" dirty="0" err="1">
                          <a:solidFill>
                            <a:schemeClr val="tx1"/>
                          </a:solidFill>
                          <a:effectLst/>
                          <a:latin typeface="+mn-lt"/>
                        </a:rPr>
                        <a:t>CeCaS</a:t>
                      </a:r>
                      <a:r>
                        <a:rPr lang="en-US" sz="1400" b="0" i="0" u="none" strike="noStrike" dirty="0">
                          <a:solidFill>
                            <a:schemeClr val="tx1"/>
                          </a:solidFill>
                          <a:effectLst/>
                          <a:latin typeface="+mn-lt"/>
                        </a:rPr>
                        <a:t>, RIC-2D</a:t>
                      </a:r>
                      <a:endParaRPr lang="en-US" sz="1400" b="0" i="0" u="none" strike="noStrike" baseline="0" dirty="0">
                        <a:solidFill>
                          <a:schemeClr val="tx1"/>
                        </a:solidFill>
                        <a:effectLst/>
                        <a:latin typeface="+mn-lt"/>
                      </a:endParaRPr>
                    </a:p>
                    <a:p>
                      <a:pPr marL="0" indent="0" algn="l" rtl="0" fontAlgn="ctr">
                        <a:buFont typeface="Arial" panose="020B0604020202020204" pitchFamily="34" charset="0"/>
                        <a:buNone/>
                      </a:pPr>
                      <a:endParaRPr lang="en-US" sz="1400" b="0" i="0" u="none" strike="noStrike" baseline="0" dirty="0">
                        <a:solidFill>
                          <a:schemeClr val="tx1"/>
                        </a:solidFill>
                        <a:effectLst/>
                        <a:latin typeface="+mn-lt"/>
                      </a:endParaRPr>
                    </a:p>
                  </a:txBody>
                  <a:tcPr marL="45720"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rtl="0" fontAlgn="ctr">
                        <a:buFont typeface="Arial" panose="020B0604020202020204" pitchFamily="34" charset="0"/>
                        <a:buNone/>
                      </a:pPr>
                      <a:r>
                        <a:rPr lang="en-US" sz="1400" b="0" i="0" u="none" strike="noStrike" dirty="0">
                          <a:solidFill>
                            <a:schemeClr val="tx1"/>
                          </a:solidFill>
                          <a:effectLst/>
                          <a:latin typeface="+mn-lt"/>
                        </a:rPr>
                        <a:t>Computational materials engineering</a:t>
                      </a: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6">
                  <a:txBody>
                    <a:bodyPr/>
                    <a:lstStyle/>
                    <a:p>
                      <a:pPr marL="285750" indent="-285750" algn="l" rtl="0" fontAlgn="ctr">
                        <a:buFont typeface="Arial" panose="020B0604020202020204" pitchFamily="34" charset="0"/>
                        <a:buChar char="•"/>
                      </a:pPr>
                      <a:r>
                        <a:rPr lang="en-US" sz="1400" b="0" i="0" u="none" strike="noStrike" dirty="0">
                          <a:solidFill>
                            <a:schemeClr val="tx1"/>
                          </a:solidFill>
                          <a:effectLst/>
                          <a:latin typeface="+mn-lt"/>
                        </a:rPr>
                        <a:t>HPC Cluster</a:t>
                      </a:r>
                    </a:p>
                    <a:p>
                      <a:pPr marL="285750" indent="-285750" algn="l" rtl="0" fontAlgn="ctr">
                        <a:buFont typeface="Arial" panose="020B0604020202020204" pitchFamily="34" charset="0"/>
                        <a:buChar char="•"/>
                      </a:pPr>
                      <a:r>
                        <a:rPr lang="en-US" sz="1400" b="0" i="0" u="none" strike="noStrike" dirty="0">
                          <a:solidFill>
                            <a:schemeClr val="tx1"/>
                          </a:solidFill>
                          <a:effectLst/>
                          <a:latin typeface="+mn-lt"/>
                        </a:rPr>
                        <a:t> Private</a:t>
                      </a:r>
                      <a:r>
                        <a:rPr lang="en-US" sz="1400" b="0" i="0" u="none" strike="noStrike" baseline="0" dirty="0">
                          <a:solidFill>
                            <a:schemeClr val="tx1"/>
                          </a:solidFill>
                          <a:effectLst/>
                          <a:latin typeface="+mn-lt"/>
                        </a:rPr>
                        <a:t> Cloud/VM Services</a:t>
                      </a:r>
                    </a:p>
                    <a:p>
                      <a:pPr marL="285750" indent="-285750" algn="l" rtl="0" fontAlgn="ctr">
                        <a:buFont typeface="Arial" panose="020B0604020202020204" pitchFamily="34" charset="0"/>
                        <a:buChar char="•"/>
                      </a:pPr>
                      <a:r>
                        <a:rPr lang="en-US" sz="1400" b="0" i="0" u="none" strike="noStrike" baseline="0" dirty="0">
                          <a:solidFill>
                            <a:schemeClr val="tx1"/>
                          </a:solidFill>
                          <a:effectLst/>
                          <a:latin typeface="+mn-lt"/>
                        </a:rPr>
                        <a:t> Dedicated HPC nodes for RIC-2D (in process)</a:t>
                      </a: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baseline="0" dirty="0">
                          <a:solidFill>
                            <a:schemeClr val="tx1"/>
                          </a:solidFill>
                          <a:effectLst/>
                          <a:latin typeface="+mn-lt"/>
                        </a:rPr>
                        <a:t>Scientific Computing support</a:t>
                      </a: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3852668"/>
                  </a:ext>
                </a:extLst>
              </a:tr>
              <a:tr h="245151">
                <a:tc vMerge="1">
                  <a:txBody>
                    <a:bodyPr/>
                    <a:lstStyle/>
                    <a:p>
                      <a:endParaRPr lang="en-US"/>
                    </a:p>
                  </a:txBody>
                  <a:tcPr/>
                </a:tc>
                <a:tc vMerge="1">
                  <a:txBody>
                    <a:bodyPr/>
                    <a:lstStyle/>
                    <a:p>
                      <a:pPr marL="0" indent="0" algn="l" rtl="0" fontAlgn="ctr">
                        <a:buFont typeface="Arial" panose="020B0604020202020204" pitchFamily="34" charset="0"/>
                        <a:buNone/>
                      </a:pP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rtl="0" fontAlgn="ctr">
                        <a:buFont typeface="Arial" panose="020B0604020202020204" pitchFamily="34" charset="0"/>
                        <a:buNone/>
                      </a:pPr>
                      <a:r>
                        <a:rPr lang="en-US" sz="1400" b="0" i="0" u="none" strike="noStrike" dirty="0">
                          <a:solidFill>
                            <a:schemeClr val="tx1"/>
                          </a:solidFill>
                          <a:effectLst/>
                          <a:latin typeface="+mn-lt"/>
                        </a:rPr>
                        <a:t>Composites</a:t>
                      </a: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2564793"/>
                  </a:ext>
                </a:extLst>
              </a:tr>
              <a:tr h="340558">
                <a:tc vMerge="1">
                  <a:txBody>
                    <a:bodyPr/>
                    <a:lstStyle/>
                    <a:p>
                      <a:endParaRPr lang="en-US"/>
                    </a:p>
                  </a:txBody>
                  <a:tcPr/>
                </a:tc>
                <a:tc vMerge="1">
                  <a:txBody>
                    <a:bodyPr/>
                    <a:lstStyle/>
                    <a:p>
                      <a:pPr marL="0" indent="0" algn="l" rtl="0" fontAlgn="ctr">
                        <a:buFont typeface="Arial" panose="020B0604020202020204" pitchFamily="34" charset="0"/>
                        <a:buNone/>
                      </a:pP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rtl="0" fontAlgn="ctr">
                        <a:buFont typeface="Arial" panose="020B0604020202020204" pitchFamily="34" charset="0"/>
                        <a:buNone/>
                      </a:pPr>
                      <a:r>
                        <a:rPr lang="en-US" sz="1400" b="0" i="0" u="none" strike="noStrike" dirty="0">
                          <a:solidFill>
                            <a:schemeClr val="tx1"/>
                          </a:solidFill>
                          <a:effectLst/>
                          <a:latin typeface="+mn-lt"/>
                        </a:rPr>
                        <a:t>Enhanced materials systems (nanomaterials and nanocomposites, multifunctional materials, smart materials, metamaterials)</a:t>
                      </a: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070058"/>
                  </a:ext>
                </a:extLst>
              </a:tr>
              <a:tr h="198100">
                <a:tc vMerge="1">
                  <a:txBody>
                    <a:bodyPr/>
                    <a:lstStyle/>
                    <a:p>
                      <a:endParaRPr lang="en-US"/>
                    </a:p>
                  </a:txBody>
                  <a:tcPr/>
                </a:tc>
                <a:tc vMerge="1">
                  <a:txBody>
                    <a:bodyPr/>
                    <a:lstStyle/>
                    <a:p>
                      <a:endParaRPr lang="en-US"/>
                    </a:p>
                  </a:txBody>
                  <a:tcPr/>
                </a:tc>
                <a:tc>
                  <a:txBody>
                    <a:bodyPr/>
                    <a:lstStyle/>
                    <a:p>
                      <a:pPr marL="0" indent="0" algn="l" rtl="0" fontAlgn="ctr">
                        <a:buFont typeface="Arial" panose="020B0604020202020204" pitchFamily="34" charset="0"/>
                        <a:buNone/>
                      </a:pPr>
                      <a:r>
                        <a:rPr lang="en-US" sz="1400" b="0" i="0" u="none" strike="noStrike" kern="1200" dirty="0">
                          <a:solidFill>
                            <a:schemeClr val="tx1">
                              <a:lumMod val="95000"/>
                              <a:lumOff val="5000"/>
                            </a:schemeClr>
                          </a:solidFill>
                          <a:effectLst/>
                          <a:latin typeface="+mn-lt"/>
                          <a:ea typeface="+mn-ea"/>
                          <a:cs typeface="+mn-cs"/>
                        </a:rPr>
                        <a:t>Catalysis</a:t>
                      </a: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a:p>
                  </a:txBody>
                  <a:tcPr/>
                </a:tc>
                <a:extLst>
                  <a:ext uri="{0D108BD9-81ED-4DB2-BD59-A6C34878D82A}">
                    <a16:rowId xmlns:a16="http://schemas.microsoft.com/office/drawing/2014/main" val="4258433720"/>
                  </a:ext>
                </a:extLst>
              </a:tr>
              <a:tr h="198100">
                <a:tc vMerge="1">
                  <a:txBody>
                    <a:bodyPr/>
                    <a:lstStyle/>
                    <a:p>
                      <a:endParaRPr lang="en-US"/>
                    </a:p>
                  </a:txBody>
                  <a:tcPr/>
                </a:tc>
                <a:tc vMerge="1">
                  <a:txBody>
                    <a:bodyPr/>
                    <a:lstStyle/>
                    <a:p>
                      <a:pPr marL="0" indent="0" algn="l" rtl="0" fontAlgn="ctr">
                        <a:buFont typeface="Arial" panose="020B0604020202020204" pitchFamily="34" charset="0"/>
                        <a:buNone/>
                      </a:pP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rtl="0" fontAlgn="ctr">
                        <a:buFont typeface="Arial" panose="020B0604020202020204" pitchFamily="34" charset="0"/>
                        <a:buNone/>
                      </a:pPr>
                      <a:r>
                        <a:rPr lang="en-US" sz="1400" b="0" i="0" u="none" strike="noStrike" dirty="0">
                          <a:solidFill>
                            <a:schemeClr val="tx1"/>
                          </a:solidFill>
                          <a:effectLst/>
                          <a:latin typeface="+mn-lt"/>
                        </a:rPr>
                        <a:t>Additive manufacturing</a:t>
                      </a: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5710721"/>
                  </a:ext>
                </a:extLst>
              </a:tr>
              <a:tr h="269003">
                <a:tc vMerge="1">
                  <a:txBody>
                    <a:bodyPr/>
                    <a:lstStyle/>
                    <a:p>
                      <a:endParaRPr lang="en-US"/>
                    </a:p>
                  </a:txBody>
                  <a:tcPr/>
                </a:tc>
                <a:tc vMerge="1">
                  <a:txBody>
                    <a:bodyPr/>
                    <a:lstStyle/>
                    <a:p>
                      <a:pPr marL="0" indent="0" algn="l" rtl="0" fontAlgn="ctr">
                        <a:buFont typeface="Arial" panose="020B0604020202020204" pitchFamily="34" charset="0"/>
                        <a:buNone/>
                      </a:pP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rtl="0" fontAlgn="ctr">
                        <a:buFont typeface="Arial" panose="020B0604020202020204" pitchFamily="34" charset="0"/>
                        <a:buNone/>
                      </a:pPr>
                      <a:r>
                        <a:rPr lang="en-US" sz="1400" b="0" i="0" u="none" strike="noStrike" kern="1200" dirty="0">
                          <a:solidFill>
                            <a:schemeClr val="tx1"/>
                          </a:solidFill>
                          <a:effectLst/>
                          <a:latin typeface="+mn-lt"/>
                          <a:ea typeface="+mn-ea"/>
                          <a:cs typeface="+mn-cs"/>
                        </a:rPr>
                        <a:t>Manufacturing automation</a:t>
                      </a: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2319421"/>
                  </a:ext>
                </a:extLst>
              </a:tr>
              <a:tr h="269003">
                <a:tc rowSpan="8">
                  <a:txBody>
                    <a:bodyPr/>
                    <a:lstStyle/>
                    <a:p>
                      <a:pPr algn="ctr"/>
                      <a:r>
                        <a:rPr lang="en-US" sz="1600" b="1" dirty="0">
                          <a:solidFill>
                            <a:schemeClr val="tx1"/>
                          </a:solidFill>
                          <a:latin typeface="Calibri" panose="020F0502020204030204" pitchFamily="34" charset="0"/>
                          <a:cs typeface="Calibri" panose="020F0502020204030204" pitchFamily="34" charset="0"/>
                        </a:rPr>
                        <a:t>Intelligent</a:t>
                      </a:r>
                      <a:r>
                        <a:rPr lang="en-US" sz="1600" b="1" baseline="0" dirty="0">
                          <a:solidFill>
                            <a:schemeClr val="tx1"/>
                          </a:solidFill>
                          <a:latin typeface="Calibri" panose="020F0502020204030204" pitchFamily="34" charset="0"/>
                          <a:cs typeface="Calibri" panose="020F0502020204030204" pitchFamily="34" charset="0"/>
                        </a:rPr>
                        <a:t> &amp; Secure Digital Systems</a:t>
                      </a:r>
                      <a:endParaRPr lang="en-US" sz="1600" b="1" dirty="0">
                        <a:solidFill>
                          <a:schemeClr val="tx1"/>
                        </a:solidFill>
                        <a:latin typeface="Calibri" panose="020F0502020204030204" pitchFamily="34" charset="0"/>
                        <a:cs typeface="Calibri" panose="020F0502020204030204" pitchFamily="34" charset="0"/>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8">
                  <a:txBody>
                    <a:bodyPr/>
                    <a:lstStyle/>
                    <a:p>
                      <a:pPr algn="l" rtl="0" fontAlgn="ctr"/>
                      <a:r>
                        <a:rPr lang="en-US" sz="1400" b="0" i="0" u="none" strike="noStrike" dirty="0">
                          <a:solidFill>
                            <a:schemeClr val="tx1"/>
                          </a:solidFill>
                          <a:effectLst/>
                          <a:latin typeface="+mn-lt"/>
                        </a:rPr>
                        <a:t>KUCARS,</a:t>
                      </a:r>
                      <a:r>
                        <a:rPr lang="en-US" sz="1400" b="0" i="0" u="none" strike="noStrike" baseline="0" dirty="0">
                          <a:solidFill>
                            <a:schemeClr val="tx1"/>
                          </a:solidFill>
                          <a:effectLst/>
                          <a:latin typeface="+mn-lt"/>
                        </a:rPr>
                        <a:t> SOCL, C2PS, EBTIC</a:t>
                      </a:r>
                      <a:endParaRPr lang="en-US" sz="1400" b="0" i="0" u="none" strike="noStrike" dirty="0">
                        <a:solidFill>
                          <a:schemeClr val="tx1"/>
                        </a:solidFill>
                        <a:effectLst/>
                        <a:latin typeface="+mn-lt"/>
                      </a:endParaRPr>
                    </a:p>
                  </a:txBody>
                  <a:tcPr marL="45720"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b="0" i="0" u="none" strike="noStrike" dirty="0">
                          <a:solidFill>
                            <a:schemeClr val="tx1"/>
                          </a:solidFill>
                          <a:effectLst/>
                          <a:latin typeface="+mn-lt"/>
                        </a:rPr>
                        <a:t>Autonomous systems (aerial, ground and marine)	</a:t>
                      </a: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8">
                  <a:txBody>
                    <a:bodyPr/>
                    <a:lstStyle/>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dirty="0">
                          <a:solidFill>
                            <a:schemeClr val="tx1"/>
                          </a:solidFill>
                          <a:effectLst/>
                          <a:latin typeface="+mn-lt"/>
                        </a:rPr>
                        <a:t>HPC Cluster</a:t>
                      </a: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dirty="0">
                          <a:solidFill>
                            <a:schemeClr val="tx1"/>
                          </a:solidFill>
                          <a:effectLst/>
                          <a:latin typeface="+mn-lt"/>
                        </a:rPr>
                        <a:t>Private</a:t>
                      </a:r>
                      <a:r>
                        <a:rPr lang="en-US" sz="1400" b="0" i="0" u="none" strike="noStrike" baseline="0" dirty="0">
                          <a:solidFill>
                            <a:schemeClr val="tx1"/>
                          </a:solidFill>
                          <a:effectLst/>
                          <a:latin typeface="+mn-lt"/>
                        </a:rPr>
                        <a:t> Cloud/VM Services</a:t>
                      </a: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baseline="0" dirty="0">
                          <a:solidFill>
                            <a:schemeClr val="tx1"/>
                          </a:solidFill>
                          <a:effectLst/>
                          <a:latin typeface="+mn-lt"/>
                        </a:rPr>
                        <a:t>Sysadmin support for SoC</a:t>
                      </a: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baseline="0" dirty="0">
                          <a:solidFill>
                            <a:schemeClr val="tx1"/>
                          </a:solidFill>
                          <a:effectLst/>
                          <a:latin typeface="+mn-lt"/>
                        </a:rPr>
                        <a:t>Scientific Computing support</a:t>
                      </a: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5266264"/>
                  </a:ext>
                </a:extLst>
              </a:tr>
              <a:tr h="269003">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b="0" i="0" u="none" strike="noStrike" dirty="0">
                          <a:solidFill>
                            <a:schemeClr val="tx1"/>
                          </a:solidFill>
                          <a:effectLst/>
                          <a:latin typeface="+mn-lt"/>
                        </a:rPr>
                        <a:t>Machine learning</a:t>
                      </a: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0708918"/>
                  </a:ext>
                </a:extLst>
              </a:tr>
              <a:tr h="269003">
                <a:tc vMerge="1">
                  <a:txBody>
                    <a:bodyPr/>
                    <a:lstStyle/>
                    <a:p>
                      <a:endParaRPr lang="en-US"/>
                    </a:p>
                  </a:txBody>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b="0" i="0" u="none" strike="noStrike" dirty="0">
                          <a:solidFill>
                            <a:schemeClr val="tx1"/>
                          </a:solidFill>
                          <a:effectLst/>
                          <a:latin typeface="+mn-lt"/>
                        </a:rPr>
                        <a:t>Computer vision, image and video analysis and processing</a:t>
                      </a: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346088"/>
                  </a:ext>
                </a:extLst>
              </a:tr>
              <a:tr h="269003">
                <a:tc vMerge="1">
                  <a:txBody>
                    <a:bodyPr/>
                    <a:lstStyle/>
                    <a:p>
                      <a:endParaRPr lang="en-US" dirty="0"/>
                    </a:p>
                  </a:txBody>
                  <a:tcPr marL="8592" marR="8592" marT="8592" marB="0" anchor="ct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b="0" i="0" u="none" strike="noStrike" dirty="0">
                          <a:solidFill>
                            <a:schemeClr val="tx1"/>
                          </a:solidFill>
                          <a:effectLst/>
                          <a:latin typeface="+mn-lt"/>
                        </a:rPr>
                        <a:t>Data Science</a:t>
                      </a: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7990248"/>
                  </a:ext>
                </a:extLst>
              </a:tr>
              <a:tr h="269003">
                <a:tc vMerge="1">
                  <a:txBody>
                    <a:bodyPr/>
                    <a:lstStyle/>
                    <a:p>
                      <a:endParaRPr lang="en-US"/>
                    </a:p>
                  </a:txBody>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b="0" i="0" u="none" strike="noStrike" dirty="0">
                          <a:solidFill>
                            <a:schemeClr val="tx1"/>
                          </a:solidFill>
                          <a:effectLst/>
                          <a:latin typeface="+mn-lt"/>
                        </a:rPr>
                        <a:t>Secure systems and networks (cyber security and </a:t>
                      </a:r>
                      <a:r>
                        <a:rPr lang="en-US" sz="1400" b="0" i="0" u="none" strike="noStrike" dirty="0" err="1">
                          <a:solidFill>
                            <a:schemeClr val="tx1"/>
                          </a:solidFill>
                          <a:effectLst/>
                          <a:latin typeface="+mn-lt"/>
                        </a:rPr>
                        <a:t>blockchain</a:t>
                      </a:r>
                      <a:r>
                        <a:rPr lang="en-US" sz="1400" b="0" i="0" u="none" strike="noStrike" dirty="0">
                          <a:solidFill>
                            <a:schemeClr val="tx1"/>
                          </a:solidFill>
                          <a:effectLst/>
                          <a:latin typeface="+mn-lt"/>
                        </a:rPr>
                        <a:t>)</a:t>
                      </a: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1696582"/>
                  </a:ext>
                </a:extLst>
              </a:tr>
              <a:tr h="269003">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b="0" i="0" u="none" strike="noStrike" dirty="0">
                          <a:solidFill>
                            <a:schemeClr val="tx1"/>
                          </a:solidFill>
                          <a:effectLst/>
                          <a:latin typeface="+mn-lt"/>
                        </a:rPr>
                        <a:t>Next Generation Networks (NGNs) and NGN-enabled ICT applications and services</a:t>
                      </a: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3502250"/>
                  </a:ext>
                </a:extLst>
              </a:tr>
              <a:tr h="269003">
                <a:tc vMerge="1">
                  <a:txBody>
                    <a:bodyPr/>
                    <a:lstStyle/>
                    <a:p>
                      <a:endParaRPr lang="en-US"/>
                    </a:p>
                  </a:txBody>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400" b="0" i="0" u="none" strike="noStrike" dirty="0">
                          <a:solidFill>
                            <a:schemeClr val="tx1"/>
                          </a:solidFill>
                          <a:effectLst/>
                          <a:latin typeface="+mn-lt"/>
                        </a:rPr>
                        <a:t>System-on-Chip (</a:t>
                      </a:r>
                      <a:r>
                        <a:rPr lang="en-US" sz="1400" b="0" i="0" u="none" strike="noStrike" dirty="0" err="1">
                          <a:solidFill>
                            <a:schemeClr val="tx1"/>
                          </a:solidFill>
                          <a:effectLst/>
                          <a:latin typeface="+mn-lt"/>
                        </a:rPr>
                        <a:t>SoC</a:t>
                      </a:r>
                      <a:r>
                        <a:rPr lang="en-US" sz="1400" b="0" i="0" u="none" strike="noStrike" dirty="0">
                          <a:solidFill>
                            <a:schemeClr val="tx1"/>
                          </a:solidFill>
                          <a:effectLst/>
                          <a:latin typeface="+mn-lt"/>
                        </a:rPr>
                        <a:t>) technology</a:t>
                      </a: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6034294"/>
                  </a:ext>
                </a:extLst>
              </a:tr>
              <a:tr h="269003">
                <a:tc vMerge="1">
                  <a:txBody>
                    <a:bodyPr/>
                    <a:lstStyle/>
                    <a:p>
                      <a:endParaRPr lang="en-US"/>
                    </a:p>
                  </a:txBody>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chemeClr val="tx1"/>
                          </a:solidFill>
                          <a:effectLst/>
                          <a:latin typeface="+mn-lt"/>
                        </a:rPr>
                        <a:t>Sensors</a:t>
                      </a:r>
                    </a:p>
                  </a:txBody>
                  <a:tcPr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6257657"/>
                  </a:ext>
                </a:extLst>
              </a:tr>
              <a:tr h="427045">
                <a:tc gridSpan="3">
                  <a:txBody>
                    <a:bodyPr/>
                    <a:lstStyle/>
                    <a:p>
                      <a:pPr algn="l"/>
                      <a:r>
                        <a:rPr lang="en-US" sz="1600" b="1" strike="noStrike" baseline="0" dirty="0">
                          <a:solidFill>
                            <a:schemeClr val="tx1"/>
                          </a:solidFill>
                          <a:latin typeface="Calibri" panose="020F0502020204030204" pitchFamily="34" charset="0"/>
                          <a:cs typeface="Calibri" panose="020F0502020204030204" pitchFamily="34" charset="0"/>
                        </a:rPr>
                        <a:t>Emerging Topics &amp; Fundamental Science</a:t>
                      </a: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rtl="0" fontAlgn="ctr">
                        <a:buFont typeface="Arial" panose="020B0604020202020204" pitchFamily="34" charset="0"/>
                        <a:buChar char="•"/>
                      </a:pPr>
                      <a:r>
                        <a:rPr lang="en-US" sz="1400" b="0" i="0" u="none" strike="noStrike" dirty="0">
                          <a:solidFill>
                            <a:schemeClr val="tx1"/>
                          </a:solidFill>
                          <a:effectLst/>
                          <a:latin typeface="+mn-lt"/>
                        </a:rPr>
                        <a:t>HPC Cluster</a:t>
                      </a:r>
                    </a:p>
                    <a:p>
                      <a:pPr marL="285750" indent="-285750" algn="l" rtl="0" fontAlgn="ctr">
                        <a:buFont typeface="Arial" panose="020B0604020202020204" pitchFamily="34" charset="0"/>
                        <a:buChar char="•"/>
                      </a:pPr>
                      <a:r>
                        <a:rPr lang="en-US" sz="1400" b="0" i="0" u="none" strike="noStrike" dirty="0">
                          <a:solidFill>
                            <a:schemeClr val="tx1"/>
                          </a:solidFill>
                          <a:effectLst/>
                          <a:latin typeface="+mn-lt"/>
                        </a:rPr>
                        <a:t>Private</a:t>
                      </a:r>
                      <a:r>
                        <a:rPr lang="en-US" sz="1400" b="0" i="0" u="none" strike="noStrike" baseline="0" dirty="0">
                          <a:solidFill>
                            <a:schemeClr val="tx1"/>
                          </a:solidFill>
                          <a:effectLst/>
                          <a:latin typeface="+mn-lt"/>
                        </a:rPr>
                        <a:t> Cloud/VM Services</a:t>
                      </a: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baseline="0" dirty="0">
                          <a:solidFill>
                            <a:schemeClr val="tx1"/>
                          </a:solidFill>
                          <a:effectLst/>
                          <a:latin typeface="+mn-lt"/>
                        </a:rPr>
                        <a:t>Scientific Computing support</a:t>
                      </a:r>
                      <a:endParaRPr lang="en-US" sz="1400" b="0" i="0" u="none" strike="noStrike" dirty="0">
                        <a:solidFill>
                          <a:schemeClr val="tx1"/>
                        </a:solidFill>
                        <a:effectLst/>
                        <a:latin typeface="+mn-lt"/>
                      </a:endParaRPr>
                    </a:p>
                  </a:txBody>
                  <a:tcPr marL="8592" marR="8592" marT="85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4147907"/>
                  </a:ext>
                </a:extLst>
              </a:tr>
            </a:tbl>
          </a:graphicData>
        </a:graphic>
      </p:graphicFrame>
    </p:spTree>
    <p:extLst>
      <p:ext uri="{BB962C8B-B14F-4D97-AF65-F5344CB8AC3E}">
        <p14:creationId xmlns:p14="http://schemas.microsoft.com/office/powerpoint/2010/main" val="643909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538356" y="546667"/>
            <a:ext cx="11286204" cy="276999"/>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nSpc>
                <a:spcPct val="100000"/>
              </a:lnSpc>
            </a:pPr>
            <a:r>
              <a:rPr lang="en-US" b="1" spc="50" dirty="0">
                <a:solidFill>
                  <a:schemeClr val="tx2"/>
                </a:solidFill>
                <a:cs typeface="Calibri" panose="020F0502020204030204" pitchFamily="34" charset="0"/>
              </a:rPr>
              <a:t>KU Academic Departments and Research Computing</a:t>
            </a:r>
            <a:endParaRPr lang="en-US" sz="1600" b="0" strike="noStrike" spc="-1" dirty="0"/>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18</a:t>
            </a:fld>
            <a:endParaRPr lang="en-US" sz="850" b="0" strike="noStrike" spc="-1">
              <a:latin typeface="Arial"/>
            </a:endParaRPr>
          </a:p>
        </p:txBody>
      </p:sp>
      <p:graphicFrame>
        <p:nvGraphicFramePr>
          <p:cNvPr id="7" name="Table 6">
            <a:extLst>
              <a:ext uri="{FF2B5EF4-FFF2-40B4-BE49-F238E27FC236}">
                <a16:creationId xmlns:a16="http://schemas.microsoft.com/office/drawing/2014/main" id="{4D9B2C97-36E2-5B49-8D7F-65CDC31F8084}"/>
              </a:ext>
            </a:extLst>
          </p:cNvPr>
          <p:cNvGraphicFramePr>
            <a:graphicFrameLocks noGrp="1"/>
          </p:cNvGraphicFramePr>
          <p:nvPr/>
        </p:nvGraphicFramePr>
        <p:xfrm>
          <a:off x="538703" y="1416376"/>
          <a:ext cx="11024497" cy="5238579"/>
        </p:xfrm>
        <a:graphic>
          <a:graphicData uri="http://schemas.openxmlformats.org/drawingml/2006/table">
            <a:tbl>
              <a:tblPr firstRow="1" bandRow="1">
                <a:tableStyleId>{E8B1032C-EA38-4F05-BA0D-38AFFFC7BED3}</a:tableStyleId>
              </a:tblPr>
              <a:tblGrid>
                <a:gridCol w="3064847">
                  <a:extLst>
                    <a:ext uri="{9D8B030D-6E8A-4147-A177-3AD203B41FA5}">
                      <a16:colId xmlns:a16="http://schemas.microsoft.com/office/drawing/2014/main" val="3010023578"/>
                    </a:ext>
                  </a:extLst>
                </a:gridCol>
                <a:gridCol w="5831349">
                  <a:extLst>
                    <a:ext uri="{9D8B030D-6E8A-4147-A177-3AD203B41FA5}">
                      <a16:colId xmlns:a16="http://schemas.microsoft.com/office/drawing/2014/main" val="1617311041"/>
                    </a:ext>
                  </a:extLst>
                </a:gridCol>
                <a:gridCol w="2128301">
                  <a:extLst>
                    <a:ext uri="{9D8B030D-6E8A-4147-A177-3AD203B41FA5}">
                      <a16:colId xmlns:a16="http://schemas.microsoft.com/office/drawing/2014/main" val="2522562679"/>
                    </a:ext>
                  </a:extLst>
                </a:gridCol>
              </a:tblGrid>
              <a:tr h="767571">
                <a:tc>
                  <a:txBody>
                    <a:bodyPr/>
                    <a:lstStyle/>
                    <a:p>
                      <a:pPr algn="ctr"/>
                      <a:r>
                        <a:rPr lang="en-US" sz="1400" dirty="0">
                          <a:solidFill>
                            <a:schemeClr val="bg1"/>
                          </a:solidFill>
                          <a:latin typeface="+mn-lt"/>
                          <a:cs typeface="Calibri" panose="020F0502020204030204" pitchFamily="34" charset="0"/>
                        </a:rPr>
                        <a:t>College</a:t>
                      </a:r>
                    </a:p>
                  </a:txBody>
                  <a:tcPr anchor="ctr">
                    <a:solidFill>
                      <a:schemeClr val="tx2"/>
                    </a:solidFill>
                  </a:tcPr>
                </a:tc>
                <a:tc>
                  <a:txBody>
                    <a:bodyPr/>
                    <a:lstStyle/>
                    <a:p>
                      <a:pPr algn="ctr"/>
                      <a:r>
                        <a:rPr lang="en-US" sz="1400" dirty="0">
                          <a:solidFill>
                            <a:schemeClr val="bg1"/>
                          </a:solidFill>
                          <a:latin typeface="+mn-lt"/>
                          <a:cs typeface="Calibri" panose="020F0502020204030204" pitchFamily="34" charset="0"/>
                        </a:rPr>
                        <a:t>Academic Department</a:t>
                      </a:r>
                    </a:p>
                  </a:txBody>
                  <a:tcPr anchor="ctr">
                    <a:solidFill>
                      <a:schemeClr val="tx2"/>
                    </a:solidFill>
                  </a:tcPr>
                </a:tc>
                <a:tc>
                  <a:txBody>
                    <a:bodyPr/>
                    <a:lstStyle/>
                    <a:p>
                      <a:pPr algn="ctr"/>
                      <a:r>
                        <a:rPr lang="en-US" sz="1400" dirty="0">
                          <a:solidFill>
                            <a:schemeClr val="bg1"/>
                          </a:solidFill>
                          <a:latin typeface="+mn-lt"/>
                          <a:cs typeface="Calibri" panose="020F0502020204030204" pitchFamily="34" charset="0"/>
                        </a:rPr>
                        <a:t>Research Computing</a:t>
                      </a:r>
                    </a:p>
                  </a:txBody>
                  <a:tcPr anchor="ctr">
                    <a:solidFill>
                      <a:srgbClr val="7030A0"/>
                    </a:solidFill>
                  </a:tcPr>
                </a:tc>
                <a:extLst>
                  <a:ext uri="{0D108BD9-81ED-4DB2-BD59-A6C34878D82A}">
                    <a16:rowId xmlns:a16="http://schemas.microsoft.com/office/drawing/2014/main" val="3972549779"/>
                  </a:ext>
                </a:extLst>
              </a:tr>
              <a:tr h="523509">
                <a:tc>
                  <a:txBody>
                    <a:bodyPr/>
                    <a:lstStyle/>
                    <a:p>
                      <a:r>
                        <a:rPr lang="en-US" sz="1400" dirty="0">
                          <a:latin typeface="+mn-lt"/>
                          <a:cs typeface="Calibri" panose="020F0502020204030204" pitchFamily="34" charset="0"/>
                        </a:rPr>
                        <a:t>College of Medicine and Health Sciences</a:t>
                      </a:r>
                    </a:p>
                  </a:txBody>
                  <a:tcPr anchor="ctr"/>
                </a:tc>
                <a:tc>
                  <a:txBody>
                    <a:bodyPr/>
                    <a:lstStyle/>
                    <a:p>
                      <a:endParaRPr lang="en-US" sz="1000" dirty="0">
                        <a:latin typeface="+mn-lt"/>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latin typeface="+mn-lt"/>
                          <a:cs typeface="Calibri" panose="020F0502020204030204" pitchFamily="34" charset="0"/>
                        </a:rPr>
                        <a:t>Yes</a:t>
                      </a:r>
                    </a:p>
                  </a:txBody>
                  <a:tcPr anchor="ctr"/>
                </a:tc>
                <a:extLst>
                  <a:ext uri="{0D108BD9-81ED-4DB2-BD59-A6C34878D82A}">
                    <a16:rowId xmlns:a16="http://schemas.microsoft.com/office/drawing/2014/main" val="1293107938"/>
                  </a:ext>
                </a:extLst>
              </a:tr>
              <a:tr h="438611">
                <a:tc rowSpan="9">
                  <a:txBody>
                    <a:bodyPr/>
                    <a:lstStyle/>
                    <a:p>
                      <a:r>
                        <a:rPr lang="en-US" sz="1400" dirty="0">
                          <a:latin typeface="+mn-lt"/>
                          <a:cs typeface="Calibri" panose="020F0502020204030204" pitchFamily="34" charset="0"/>
                        </a:rPr>
                        <a:t>College of Engineering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Aerospace Engineering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latin typeface="+mn-lt"/>
                          <a:cs typeface="Calibri" panose="020F0502020204030204" pitchFamily="34" charset="0"/>
                        </a:rPr>
                        <a:t>Yes</a:t>
                      </a:r>
                    </a:p>
                  </a:txBody>
                  <a:tcPr anchor="ctr"/>
                </a:tc>
                <a:extLst>
                  <a:ext uri="{0D108BD9-81ED-4DB2-BD59-A6C34878D82A}">
                    <a16:rowId xmlns:a16="http://schemas.microsoft.com/office/drawing/2014/main" val="995856617"/>
                  </a:ext>
                </a:extLst>
              </a:tr>
              <a:tr h="438611">
                <a:tc vMerge="1">
                  <a:txBody>
                    <a:bodyPr/>
                    <a:lstStyle/>
                    <a:p>
                      <a:endParaRPr lang="en-US" sz="1200" dirty="0">
                        <a:latin typeface="Calibri" panose="020F0502020204030204" pitchFamily="34" charset="0"/>
                        <a:cs typeface="Calibri" panose="020F050202020403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Biomedical Engineering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n-lt"/>
                          <a:cs typeface="Calibri" panose="020F0502020204030204" pitchFamily="34" charset="0"/>
                        </a:rPr>
                        <a:t>Yes</a:t>
                      </a:r>
                    </a:p>
                  </a:txBody>
                  <a:tcPr anchor="ctr"/>
                </a:tc>
                <a:extLst>
                  <a:ext uri="{0D108BD9-81ED-4DB2-BD59-A6C34878D82A}">
                    <a16:rowId xmlns:a16="http://schemas.microsoft.com/office/drawing/2014/main" val="894724481"/>
                  </a:ext>
                </a:extLst>
              </a:tr>
              <a:tr h="438611">
                <a:tc vMerge="1">
                  <a:txBody>
                    <a:bodyPr/>
                    <a:lstStyle/>
                    <a:p>
                      <a:endParaRPr lang="en-US" sz="1200" dirty="0">
                        <a:latin typeface="Calibri" panose="020F0502020204030204" pitchFamily="34" charset="0"/>
                        <a:cs typeface="Calibri" panose="020F050202020403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Chemical Engineering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n-lt"/>
                          <a:cs typeface="Calibri" panose="020F0502020204030204" pitchFamily="34" charset="0"/>
                        </a:rPr>
                        <a:t>Yes</a:t>
                      </a:r>
                    </a:p>
                  </a:txBody>
                  <a:tcPr anchor="ctr"/>
                </a:tc>
                <a:extLst>
                  <a:ext uri="{0D108BD9-81ED-4DB2-BD59-A6C34878D82A}">
                    <a16:rowId xmlns:a16="http://schemas.microsoft.com/office/drawing/2014/main" val="3852344815"/>
                  </a:ext>
                </a:extLst>
              </a:tr>
              <a:tr h="438611">
                <a:tc vMerge="1">
                  <a:txBody>
                    <a:bodyPr/>
                    <a:lstStyle/>
                    <a:p>
                      <a:endParaRPr lang="en-US" sz="1000" dirty="0">
                        <a:latin typeface="+mn-lt"/>
                        <a:cs typeface="Calibri" panose="020F050202020403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Civil Infrastructure and Environmental Engineering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n-lt"/>
                          <a:cs typeface="Calibri" panose="020F0502020204030204" pitchFamily="34" charset="0"/>
                        </a:rPr>
                        <a:t>Yes</a:t>
                      </a:r>
                    </a:p>
                  </a:txBody>
                  <a:tcPr anchor="ctr"/>
                </a:tc>
                <a:extLst>
                  <a:ext uri="{0D108BD9-81ED-4DB2-BD59-A6C34878D82A}">
                    <a16:rowId xmlns:a16="http://schemas.microsoft.com/office/drawing/2014/main" val="3982711498"/>
                  </a:ext>
                </a:extLst>
              </a:tr>
              <a:tr h="438611">
                <a:tc vMerge="1">
                  <a:txBody>
                    <a:bodyPr/>
                    <a:lstStyle/>
                    <a:p>
                      <a:endParaRPr lang="en-US" sz="1000" dirty="0">
                        <a:latin typeface="+mn-lt"/>
                        <a:cs typeface="Calibri" panose="020F050202020403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Electrical Engineering and Computer Science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n-lt"/>
                          <a:cs typeface="Calibri" panose="020F0502020204030204" pitchFamily="34" charset="0"/>
                        </a:rPr>
                        <a:t>Yes</a:t>
                      </a:r>
                    </a:p>
                  </a:txBody>
                  <a:tcPr anchor="ctr"/>
                </a:tc>
                <a:extLst>
                  <a:ext uri="{0D108BD9-81ED-4DB2-BD59-A6C34878D82A}">
                    <a16:rowId xmlns:a16="http://schemas.microsoft.com/office/drawing/2014/main" val="449616152"/>
                  </a:ext>
                </a:extLst>
              </a:tr>
              <a:tr h="438611">
                <a:tc vMerge="1">
                  <a:txBody>
                    <a:bodyPr/>
                    <a:lstStyle/>
                    <a:p>
                      <a:endParaRPr lang="en-US" sz="1000" dirty="0">
                        <a:latin typeface="+mn-lt"/>
                        <a:cs typeface="Calibri" panose="020F050202020403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Industrial and Systems Engineering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n-lt"/>
                          <a:cs typeface="Calibri" panose="020F0502020204030204" pitchFamily="34" charset="0"/>
                        </a:rPr>
                        <a:t>No</a:t>
                      </a:r>
                    </a:p>
                  </a:txBody>
                  <a:tcPr anchor="ctr"/>
                </a:tc>
                <a:extLst>
                  <a:ext uri="{0D108BD9-81ED-4DB2-BD59-A6C34878D82A}">
                    <a16:rowId xmlns:a16="http://schemas.microsoft.com/office/drawing/2014/main" val="3338397290"/>
                  </a:ext>
                </a:extLst>
              </a:tr>
              <a:tr h="438611">
                <a:tc vMerge="1">
                  <a:txBody>
                    <a:bodyPr/>
                    <a:lstStyle/>
                    <a:p>
                      <a:endParaRPr lang="en-US" sz="1000" dirty="0">
                        <a:latin typeface="+mn-lt"/>
                        <a:cs typeface="Calibri" panose="020F050202020403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Mechanical Engineering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n-lt"/>
                          <a:cs typeface="Calibri" panose="020F0502020204030204" pitchFamily="34" charset="0"/>
                        </a:rPr>
                        <a:t>Yes</a:t>
                      </a:r>
                    </a:p>
                  </a:txBody>
                  <a:tcPr anchor="ctr"/>
                </a:tc>
                <a:extLst>
                  <a:ext uri="{0D108BD9-81ED-4DB2-BD59-A6C34878D82A}">
                    <a16:rowId xmlns:a16="http://schemas.microsoft.com/office/drawing/2014/main" val="2609335549"/>
                  </a:ext>
                </a:extLst>
              </a:tr>
              <a:tr h="438611">
                <a:tc vMerge="1">
                  <a:txBody>
                    <a:bodyPr/>
                    <a:lstStyle/>
                    <a:p>
                      <a:endParaRPr lang="en-US" sz="1000" dirty="0">
                        <a:latin typeface="+mn-lt"/>
                        <a:cs typeface="Calibri" panose="020F050202020403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Nuclear Engineering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black"/>
                          </a:solidFill>
                          <a:effectLst/>
                          <a:uLnTx/>
                          <a:uFillTx/>
                          <a:latin typeface="+mn-lt"/>
                          <a:cs typeface="Calibri" panose="020F0502020204030204" pitchFamily="34" charset="0"/>
                        </a:rPr>
                        <a:t>Yes</a:t>
                      </a:r>
                      <a:endParaRPr kumimoji="0" lang="en-US" sz="1200" b="0" i="0" u="none" strike="noStrike" kern="1200" cap="none" spc="0" normalizeH="0" baseline="0" noProof="0" dirty="0">
                        <a:ln>
                          <a:noFill/>
                        </a:ln>
                        <a:solidFill>
                          <a:prstClr val="black"/>
                        </a:solidFill>
                        <a:effectLst/>
                        <a:uLnTx/>
                        <a:uFillTx/>
                        <a:latin typeface="+mn-lt"/>
                        <a:cs typeface="Calibri" panose="020F0502020204030204" pitchFamily="34" charset="0"/>
                      </a:endParaRPr>
                    </a:p>
                  </a:txBody>
                  <a:tcPr anchor="ctr"/>
                </a:tc>
                <a:extLst>
                  <a:ext uri="{0D108BD9-81ED-4DB2-BD59-A6C34878D82A}">
                    <a16:rowId xmlns:a16="http://schemas.microsoft.com/office/drawing/2014/main" val="2930920135"/>
                  </a:ext>
                </a:extLst>
              </a:tr>
              <a:tr h="438611">
                <a:tc vMerge="1">
                  <a:txBody>
                    <a:bodyPr/>
                    <a:lstStyle/>
                    <a:p>
                      <a:endParaRPr lang="en-US" sz="1000" dirty="0">
                        <a:latin typeface="+mn-lt"/>
                        <a:cs typeface="Calibri" panose="020F050202020403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Petroleum Engineering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n-lt"/>
                          <a:cs typeface="Calibri" panose="020F0502020204030204" pitchFamily="34" charset="0"/>
                        </a:rPr>
                        <a:t>Yes</a:t>
                      </a:r>
                    </a:p>
                  </a:txBody>
                  <a:tcPr anchor="ctr"/>
                </a:tc>
                <a:extLst>
                  <a:ext uri="{0D108BD9-81ED-4DB2-BD59-A6C34878D82A}">
                    <a16:rowId xmlns:a16="http://schemas.microsoft.com/office/drawing/2014/main" val="1771847898"/>
                  </a:ext>
                </a:extLst>
              </a:tr>
            </a:tbl>
          </a:graphicData>
        </a:graphic>
      </p:graphicFrame>
    </p:spTree>
    <p:extLst>
      <p:ext uri="{BB962C8B-B14F-4D97-AF65-F5344CB8AC3E}">
        <p14:creationId xmlns:p14="http://schemas.microsoft.com/office/powerpoint/2010/main" val="1109154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538356" y="546667"/>
            <a:ext cx="11286204" cy="276999"/>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nSpc>
                <a:spcPct val="100000"/>
              </a:lnSpc>
            </a:pPr>
            <a:r>
              <a:rPr lang="en-US" b="1" spc="50" dirty="0">
                <a:solidFill>
                  <a:schemeClr val="tx2"/>
                </a:solidFill>
                <a:cs typeface="Calibri" panose="020F0502020204030204" pitchFamily="34" charset="0"/>
              </a:rPr>
              <a:t>KU Academic Departments and Research Computing</a:t>
            </a:r>
            <a:endParaRPr lang="en-US" sz="1600" b="0" strike="noStrike" spc="-1" dirty="0"/>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19</a:t>
            </a:fld>
            <a:endParaRPr lang="en-US" sz="850" b="0" strike="noStrike" spc="-1">
              <a:latin typeface="Arial"/>
            </a:endParaRPr>
          </a:p>
        </p:txBody>
      </p:sp>
      <p:graphicFrame>
        <p:nvGraphicFramePr>
          <p:cNvPr id="7" name="Table 6">
            <a:extLst>
              <a:ext uri="{FF2B5EF4-FFF2-40B4-BE49-F238E27FC236}">
                <a16:creationId xmlns:a16="http://schemas.microsoft.com/office/drawing/2014/main" id="{4D9B2C97-36E2-5B49-8D7F-65CDC31F8084}"/>
              </a:ext>
            </a:extLst>
          </p:cNvPr>
          <p:cNvGraphicFramePr>
            <a:graphicFrameLocks noGrp="1"/>
          </p:cNvGraphicFramePr>
          <p:nvPr/>
        </p:nvGraphicFramePr>
        <p:xfrm>
          <a:off x="538703" y="1416377"/>
          <a:ext cx="10921777" cy="4894959"/>
        </p:xfrm>
        <a:graphic>
          <a:graphicData uri="http://schemas.openxmlformats.org/drawingml/2006/table">
            <a:tbl>
              <a:tblPr firstRow="1" bandRow="1">
                <a:tableStyleId>{E8B1032C-EA38-4F05-BA0D-38AFFFC7BED3}</a:tableStyleId>
              </a:tblPr>
              <a:tblGrid>
                <a:gridCol w="3036290">
                  <a:extLst>
                    <a:ext uri="{9D8B030D-6E8A-4147-A177-3AD203B41FA5}">
                      <a16:colId xmlns:a16="http://schemas.microsoft.com/office/drawing/2014/main" val="3010023578"/>
                    </a:ext>
                  </a:extLst>
                </a:gridCol>
                <a:gridCol w="5777015">
                  <a:extLst>
                    <a:ext uri="{9D8B030D-6E8A-4147-A177-3AD203B41FA5}">
                      <a16:colId xmlns:a16="http://schemas.microsoft.com/office/drawing/2014/main" val="1617311041"/>
                    </a:ext>
                  </a:extLst>
                </a:gridCol>
                <a:gridCol w="2108472">
                  <a:extLst>
                    <a:ext uri="{9D8B030D-6E8A-4147-A177-3AD203B41FA5}">
                      <a16:colId xmlns:a16="http://schemas.microsoft.com/office/drawing/2014/main" val="2522562679"/>
                    </a:ext>
                  </a:extLst>
                </a:gridCol>
              </a:tblGrid>
              <a:tr h="796854">
                <a:tc>
                  <a:txBody>
                    <a:bodyPr/>
                    <a:lstStyle/>
                    <a:p>
                      <a:pPr algn="ctr"/>
                      <a:r>
                        <a:rPr lang="en-US" sz="1400" dirty="0">
                          <a:solidFill>
                            <a:schemeClr val="bg1"/>
                          </a:solidFill>
                          <a:latin typeface="+mn-lt"/>
                          <a:cs typeface="Calibri" panose="020F0502020204030204" pitchFamily="34" charset="0"/>
                        </a:rPr>
                        <a:t>College</a:t>
                      </a:r>
                    </a:p>
                  </a:txBody>
                  <a:tcPr anchor="ctr">
                    <a:solidFill>
                      <a:schemeClr val="tx2"/>
                    </a:solidFill>
                  </a:tcPr>
                </a:tc>
                <a:tc>
                  <a:txBody>
                    <a:bodyPr/>
                    <a:lstStyle/>
                    <a:p>
                      <a:pPr algn="ctr"/>
                      <a:r>
                        <a:rPr lang="en-US" sz="1400" dirty="0">
                          <a:solidFill>
                            <a:schemeClr val="bg1"/>
                          </a:solidFill>
                          <a:latin typeface="+mn-lt"/>
                          <a:cs typeface="Calibri" panose="020F0502020204030204" pitchFamily="34" charset="0"/>
                        </a:rPr>
                        <a:t>Academic Department</a:t>
                      </a:r>
                    </a:p>
                  </a:txBody>
                  <a:tcPr anchor="ctr">
                    <a:solidFill>
                      <a:schemeClr val="tx2"/>
                    </a:solidFill>
                  </a:tcPr>
                </a:tc>
                <a:tc>
                  <a:txBody>
                    <a:bodyPr/>
                    <a:lstStyle/>
                    <a:p>
                      <a:pPr algn="ctr"/>
                      <a:r>
                        <a:rPr lang="en-US" sz="1400" dirty="0">
                          <a:solidFill>
                            <a:schemeClr val="bg1"/>
                          </a:solidFill>
                          <a:latin typeface="+mn-lt"/>
                          <a:cs typeface="Calibri" panose="020F0502020204030204" pitchFamily="34" charset="0"/>
                        </a:rPr>
                        <a:t>Research Computing</a:t>
                      </a:r>
                    </a:p>
                  </a:txBody>
                  <a:tcPr anchor="ctr">
                    <a:solidFill>
                      <a:srgbClr val="7030A0"/>
                    </a:solidFill>
                  </a:tcPr>
                </a:tc>
                <a:extLst>
                  <a:ext uri="{0D108BD9-81ED-4DB2-BD59-A6C34878D82A}">
                    <a16:rowId xmlns:a16="http://schemas.microsoft.com/office/drawing/2014/main" val="3972549779"/>
                  </a:ext>
                </a:extLst>
              </a:tr>
              <a:tr h="455345">
                <a:tc rowSpan="9">
                  <a:txBody>
                    <a:bodyPr/>
                    <a:lstStyle/>
                    <a:p>
                      <a:r>
                        <a:rPr lang="en-US" sz="1400" dirty="0">
                          <a:latin typeface="+mn-lt"/>
                          <a:cs typeface="Calibri" panose="020F0502020204030204" pitchFamily="34" charset="0"/>
                        </a:rPr>
                        <a:t>College of Arts and Sciences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Biology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latin typeface="+mn-lt"/>
                          <a:cs typeface="Calibri" panose="020F0502020204030204" pitchFamily="34" charset="0"/>
                        </a:rPr>
                        <a:t>Yes</a:t>
                      </a:r>
                    </a:p>
                  </a:txBody>
                  <a:tcPr anchor="ctr"/>
                </a:tc>
                <a:extLst>
                  <a:ext uri="{0D108BD9-81ED-4DB2-BD59-A6C34878D82A}">
                    <a16:rowId xmlns:a16="http://schemas.microsoft.com/office/drawing/2014/main" val="995856617"/>
                  </a:ext>
                </a:extLst>
              </a:tr>
              <a:tr h="455345">
                <a:tc vMerge="1">
                  <a:txBody>
                    <a:bodyPr/>
                    <a:lstStyle/>
                    <a:p>
                      <a:endParaRPr lang="en-US" sz="1200" dirty="0">
                        <a:latin typeface="Calibri" panose="020F0502020204030204" pitchFamily="34" charset="0"/>
                        <a:cs typeface="Calibri" panose="020F050202020403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Chemistry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latin typeface="+mn-lt"/>
                          <a:cs typeface="Calibri" panose="020F0502020204030204" pitchFamily="34" charset="0"/>
                        </a:rPr>
                        <a:t>Yes</a:t>
                      </a:r>
                    </a:p>
                  </a:txBody>
                  <a:tcPr anchor="ctr"/>
                </a:tc>
                <a:extLst>
                  <a:ext uri="{0D108BD9-81ED-4DB2-BD59-A6C34878D82A}">
                    <a16:rowId xmlns:a16="http://schemas.microsoft.com/office/drawing/2014/main" val="894724481"/>
                  </a:ext>
                </a:extLst>
              </a:tr>
              <a:tr h="455345">
                <a:tc vMerge="1">
                  <a:txBody>
                    <a:bodyPr/>
                    <a:lstStyle/>
                    <a:p>
                      <a:endParaRPr lang="en-US" sz="1200" dirty="0">
                        <a:latin typeface="Calibri" panose="020F0502020204030204" pitchFamily="34" charset="0"/>
                        <a:cs typeface="Calibri" panose="020F050202020403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Earth Sciences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latin typeface="+mn-lt"/>
                          <a:cs typeface="Calibri" panose="020F0502020204030204" pitchFamily="34" charset="0"/>
                        </a:rPr>
                        <a:t>Yes</a:t>
                      </a:r>
                      <a:endParaRPr lang="en-US" sz="1200" baseline="0" dirty="0">
                        <a:latin typeface="+mn-lt"/>
                        <a:cs typeface="Calibri" panose="020F0502020204030204" pitchFamily="34" charset="0"/>
                      </a:endParaRPr>
                    </a:p>
                  </a:txBody>
                  <a:tcPr anchor="ctr"/>
                </a:tc>
                <a:extLst>
                  <a:ext uri="{0D108BD9-81ED-4DB2-BD59-A6C34878D82A}">
                    <a16:rowId xmlns:a16="http://schemas.microsoft.com/office/drawing/2014/main" val="3852344815"/>
                  </a:ext>
                </a:extLst>
              </a:tr>
              <a:tr h="455345">
                <a:tc vMerge="1">
                  <a:txBody>
                    <a:bodyPr/>
                    <a:lstStyle/>
                    <a:p>
                      <a:endParaRPr lang="en-US" sz="1000" dirty="0">
                        <a:latin typeface="+mn-lt"/>
                        <a:cs typeface="Calibri" panose="020F050202020403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English</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aseline="0" dirty="0">
                          <a:latin typeface="+mn-lt"/>
                          <a:cs typeface="Calibri" panose="020F0502020204030204" pitchFamily="34" charset="0"/>
                        </a:rPr>
                        <a:t>No</a:t>
                      </a:r>
                    </a:p>
                  </a:txBody>
                  <a:tcPr anchor="ctr"/>
                </a:tc>
                <a:extLst>
                  <a:ext uri="{0D108BD9-81ED-4DB2-BD59-A6C34878D82A}">
                    <a16:rowId xmlns:a16="http://schemas.microsoft.com/office/drawing/2014/main" val="3982711498"/>
                  </a:ext>
                </a:extLst>
              </a:tr>
              <a:tr h="455345">
                <a:tc vMerge="1">
                  <a:txBody>
                    <a:bodyPr/>
                    <a:lstStyle/>
                    <a:p>
                      <a:endParaRPr lang="en-US" sz="1000" dirty="0">
                        <a:latin typeface="+mn-lt"/>
                        <a:cs typeface="Calibri" panose="020F050202020403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Humanities and Social Sciences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aseline="0" dirty="0">
                          <a:latin typeface="+mn-lt"/>
                          <a:cs typeface="Calibri" panose="020F0502020204030204" pitchFamily="34" charset="0"/>
                        </a:rPr>
                        <a:t>No</a:t>
                      </a:r>
                    </a:p>
                  </a:txBody>
                  <a:tcPr anchor="ctr"/>
                </a:tc>
                <a:extLst>
                  <a:ext uri="{0D108BD9-81ED-4DB2-BD59-A6C34878D82A}">
                    <a16:rowId xmlns:a16="http://schemas.microsoft.com/office/drawing/2014/main" val="449616152"/>
                  </a:ext>
                </a:extLst>
              </a:tr>
              <a:tr h="455345">
                <a:tc vMerge="1">
                  <a:txBody>
                    <a:bodyPr/>
                    <a:lstStyle/>
                    <a:p>
                      <a:endParaRPr lang="en-US" sz="1000" dirty="0">
                        <a:latin typeface="+mn-lt"/>
                        <a:cs typeface="Calibri" panose="020F050202020403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Mathematics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black"/>
                          </a:solidFill>
                          <a:effectLst/>
                          <a:uLnTx/>
                          <a:uFillTx/>
                          <a:latin typeface="+mn-lt"/>
                          <a:cs typeface="Calibri" panose="020F0502020204030204" pitchFamily="34" charset="0"/>
                        </a:rPr>
                        <a:t>Yes</a:t>
                      </a:r>
                      <a:endParaRPr lang="en-US" sz="1200" baseline="0" dirty="0">
                        <a:latin typeface="+mn-lt"/>
                        <a:cs typeface="Calibri" panose="020F0502020204030204" pitchFamily="34" charset="0"/>
                      </a:endParaRPr>
                    </a:p>
                  </a:txBody>
                  <a:tcPr anchor="ctr"/>
                </a:tc>
                <a:extLst>
                  <a:ext uri="{0D108BD9-81ED-4DB2-BD59-A6C34878D82A}">
                    <a16:rowId xmlns:a16="http://schemas.microsoft.com/office/drawing/2014/main" val="3338397290"/>
                  </a:ext>
                </a:extLst>
              </a:tr>
              <a:tr h="455345">
                <a:tc vMerge="1">
                  <a:txBody>
                    <a:bodyPr/>
                    <a:lstStyle/>
                    <a:p>
                      <a:endParaRPr lang="en-US" sz="1000" dirty="0">
                        <a:latin typeface="+mn-lt"/>
                        <a:cs typeface="Calibri" panose="020F050202020403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Physics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black"/>
                          </a:solidFill>
                          <a:effectLst/>
                          <a:uLnTx/>
                          <a:uFillTx/>
                          <a:latin typeface="+mn-lt"/>
                          <a:cs typeface="Calibri" panose="020F0502020204030204" pitchFamily="34" charset="0"/>
                        </a:rPr>
                        <a:t>Yes</a:t>
                      </a:r>
                      <a:endParaRPr lang="en-US" sz="1200" baseline="0" dirty="0">
                        <a:latin typeface="+mn-lt"/>
                        <a:cs typeface="Calibri" panose="020F0502020204030204" pitchFamily="34" charset="0"/>
                      </a:endParaRPr>
                    </a:p>
                  </a:txBody>
                  <a:tcPr anchor="ctr"/>
                </a:tc>
                <a:extLst>
                  <a:ext uri="{0D108BD9-81ED-4DB2-BD59-A6C34878D82A}">
                    <a16:rowId xmlns:a16="http://schemas.microsoft.com/office/drawing/2014/main" val="2609335549"/>
                  </a:ext>
                </a:extLst>
              </a:tr>
              <a:tr h="455345">
                <a:tc vMerge="1">
                  <a:txBody>
                    <a:bodyPr/>
                    <a:lstStyle/>
                    <a:p>
                      <a:endParaRPr lang="en-US" sz="1000" dirty="0">
                        <a:latin typeface="+mn-lt"/>
                        <a:cs typeface="Calibri" panose="020F050202020403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Preparatory Program</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n-lt"/>
                          <a:cs typeface="Calibri" panose="020F0502020204030204" pitchFamily="34" charset="0"/>
                        </a:rPr>
                        <a:t>No</a:t>
                      </a:r>
                      <a:endParaRPr lang="en-US" sz="1200" baseline="0" dirty="0">
                        <a:latin typeface="+mn-lt"/>
                        <a:cs typeface="Calibri" panose="020F0502020204030204" pitchFamily="34" charset="0"/>
                      </a:endParaRPr>
                    </a:p>
                  </a:txBody>
                  <a:tcPr anchor="ctr"/>
                </a:tc>
                <a:extLst>
                  <a:ext uri="{0D108BD9-81ED-4DB2-BD59-A6C34878D82A}">
                    <a16:rowId xmlns:a16="http://schemas.microsoft.com/office/drawing/2014/main" val="2930920135"/>
                  </a:ext>
                </a:extLst>
              </a:tr>
              <a:tr h="455345">
                <a:tc vMerge="1">
                  <a:txBody>
                    <a:bodyPr/>
                    <a:lstStyle/>
                    <a:p>
                      <a:endParaRPr lang="en-US" sz="1000" dirty="0">
                        <a:latin typeface="+mn-lt"/>
                        <a:cs typeface="Calibri" panose="020F050202020403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Calibri" panose="020F0502020204030204" pitchFamily="34" charset="0"/>
                        </a:rPr>
                        <a:t>Pre-Medicine Bridge Program</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n-lt"/>
                          <a:cs typeface="Calibri" panose="020F0502020204030204" pitchFamily="34" charset="0"/>
                        </a:rPr>
                        <a:t>Yes</a:t>
                      </a:r>
                      <a:endParaRPr lang="en-US" sz="1200" baseline="0" dirty="0">
                        <a:latin typeface="+mn-lt"/>
                        <a:cs typeface="Calibri" panose="020F0502020204030204" pitchFamily="34" charset="0"/>
                      </a:endParaRPr>
                    </a:p>
                  </a:txBody>
                  <a:tcPr anchor="ctr"/>
                </a:tc>
                <a:extLst>
                  <a:ext uri="{0D108BD9-81ED-4DB2-BD59-A6C34878D82A}">
                    <a16:rowId xmlns:a16="http://schemas.microsoft.com/office/drawing/2014/main" val="1771847898"/>
                  </a:ext>
                </a:extLst>
              </a:tr>
            </a:tbl>
          </a:graphicData>
        </a:graphic>
      </p:graphicFrame>
    </p:spTree>
    <p:extLst>
      <p:ext uri="{BB962C8B-B14F-4D97-AF65-F5344CB8AC3E}">
        <p14:creationId xmlns:p14="http://schemas.microsoft.com/office/powerpoint/2010/main" val="3832049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Data Storage Gaps and challenges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20</a:t>
            </a:fld>
            <a:endParaRPr lang="en-US" sz="850" b="0" strike="noStrike" spc="-1">
              <a:latin typeface="Arial"/>
            </a:endParaRPr>
          </a:p>
        </p:txBody>
      </p:sp>
      <p:sp>
        <p:nvSpPr>
          <p:cNvPr id="473" name="CustomShape 5"/>
          <p:cNvSpPr/>
          <p:nvPr/>
        </p:nvSpPr>
        <p:spPr>
          <a:xfrm>
            <a:off x="609480" y="1346760"/>
            <a:ext cx="10838808" cy="55112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000" b="1" spc="-1" dirty="0"/>
              <a:t>Data Management policies: </a:t>
            </a:r>
            <a:r>
              <a:rPr lang="en-US" sz="2000" spc="-1" dirty="0"/>
              <a:t>There is a need for clear and comprehensive data management polices for KU.</a:t>
            </a:r>
            <a:r>
              <a:rPr lang="en-US" sz="2000" spc="-1" dirty="0">
                <a:latin typeface="Arial"/>
              </a:rPr>
              <a:t> </a:t>
            </a:r>
          </a:p>
          <a:p>
            <a:pPr marL="182880" indent="-182520">
              <a:lnSpc>
                <a:spcPct val="100000"/>
              </a:lnSpc>
              <a:spcBef>
                <a:spcPts val="3169"/>
              </a:spcBef>
              <a:buClr>
                <a:srgbClr val="0047BA"/>
              </a:buClr>
              <a:buSzPct val="65000"/>
              <a:buFont typeface="Wingdings" charset="2"/>
              <a:buChar char=""/>
            </a:pPr>
            <a:r>
              <a:rPr lang="en-US" sz="2000" b="1" spc="-1" dirty="0">
                <a:latin typeface="Arial"/>
              </a:rPr>
              <a:t>Large scale research data storage</a:t>
            </a:r>
            <a:r>
              <a:rPr lang="en-US" sz="2000" spc="-1" dirty="0">
                <a:latin typeface="Arial"/>
              </a:rPr>
              <a:t>: There is a need for processes, tools and infrastructure for large scale storage of research data, in compliance with data management policies of KU.</a:t>
            </a:r>
          </a:p>
          <a:p>
            <a:pPr marL="182880" indent="-182520">
              <a:lnSpc>
                <a:spcPct val="100000"/>
              </a:lnSpc>
              <a:spcBef>
                <a:spcPts val="3169"/>
              </a:spcBef>
              <a:buClr>
                <a:srgbClr val="0047BA"/>
              </a:buClr>
              <a:buSzPct val="65000"/>
              <a:buFont typeface="Wingdings" charset="2"/>
              <a:buChar char=""/>
            </a:pPr>
            <a:r>
              <a:rPr lang="en-US" sz="2000" b="1" spc="-1" dirty="0">
                <a:latin typeface="Arial"/>
              </a:rPr>
              <a:t>General purpose storage: </a:t>
            </a:r>
            <a:r>
              <a:rPr lang="en-US" sz="2000" spc="-1" dirty="0">
                <a:latin typeface="Arial"/>
              </a:rPr>
              <a:t>A need for general purpose storage accessible from faculty/researcher laptop and workstations.</a:t>
            </a:r>
          </a:p>
          <a:p>
            <a:pPr marL="182880" indent="-182520">
              <a:lnSpc>
                <a:spcPct val="100000"/>
              </a:lnSpc>
              <a:spcBef>
                <a:spcPts val="3169"/>
              </a:spcBef>
              <a:buClr>
                <a:srgbClr val="0047BA"/>
              </a:buClr>
              <a:buSzPct val="65000"/>
              <a:buFont typeface="Wingdings" charset="2"/>
              <a:buChar char=""/>
            </a:pPr>
            <a:r>
              <a:rPr lang="en-US" sz="2000" b="1" spc="-1" dirty="0">
                <a:latin typeface="Arial"/>
              </a:rPr>
              <a:t>Funding from research projects: </a:t>
            </a:r>
            <a:r>
              <a:rPr lang="en-US" sz="2000" spc="-1" dirty="0">
                <a:latin typeface="Arial"/>
              </a:rPr>
              <a:t>There is a need for a mechanism to use project funds to purchase storage, via CAPEX, but also via OPEX </a:t>
            </a:r>
          </a:p>
          <a:p>
            <a:pPr marL="182880" indent="-182520">
              <a:lnSpc>
                <a:spcPct val="100000"/>
              </a:lnSpc>
              <a:spcBef>
                <a:spcPts val="3169"/>
              </a:spcBef>
              <a:buClr>
                <a:srgbClr val="0047BA"/>
              </a:buClr>
              <a:buSzPct val="65000"/>
              <a:buFont typeface="Wingdings" charset="2"/>
              <a:buChar char=""/>
            </a:pPr>
            <a:r>
              <a:rPr lang="en-US" sz="2000" b="1" spc="-1" dirty="0">
                <a:latin typeface="Arial"/>
              </a:rPr>
              <a:t>Purchasing IT services</a:t>
            </a:r>
            <a:r>
              <a:rPr lang="en-US" sz="2000" spc="-1" dirty="0">
                <a:latin typeface="Arial"/>
              </a:rPr>
              <a:t>: Current rules mean that KU is unable to transfer funds to </a:t>
            </a:r>
            <a:r>
              <a:rPr lang="en-US" sz="2000" spc="-1" dirty="0" err="1">
                <a:latin typeface="Arial"/>
              </a:rPr>
              <a:t>Ankabut</a:t>
            </a:r>
            <a:r>
              <a:rPr lang="en-US" sz="2000" spc="-1" dirty="0">
                <a:latin typeface="Arial"/>
              </a:rPr>
              <a:t> or pay them for IT services. This means that RC and KU cannot leverage existing IT infrastructure, and this means that KU will continually need to invest large amounts of CAPEX to fund services. </a:t>
            </a:r>
          </a:p>
        </p:txBody>
      </p:sp>
    </p:spTree>
    <p:extLst>
      <p:ext uri="{BB962C8B-B14F-4D97-AF65-F5344CB8AC3E}">
        <p14:creationId xmlns:p14="http://schemas.microsoft.com/office/powerpoint/2010/main" val="42635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 RC Current Services - </a:t>
            </a:r>
            <a:r>
              <a:rPr lang="en-US" sz="3200" b="1" strike="noStrike" spc="43" dirty="0" err="1">
                <a:solidFill>
                  <a:srgbClr val="0047BA"/>
                </a:solidFill>
                <a:latin typeface="Arial"/>
              </a:rPr>
              <a:t>Almesbar</a:t>
            </a:r>
            <a:r>
              <a:rPr lang="en-US" sz="3200" b="1" spc="43" dirty="0">
                <a:solidFill>
                  <a:srgbClr val="0047BA"/>
                </a:solidFill>
                <a:latin typeface="Arial"/>
              </a:rPr>
              <a:t> HPC Cluster</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21</a:t>
            </a:fld>
            <a:endParaRPr lang="en-US" sz="850" b="0" strike="noStrike" spc="-1">
              <a:latin typeface="Arial"/>
            </a:endParaRPr>
          </a:p>
        </p:txBody>
      </p:sp>
      <p:graphicFrame>
        <p:nvGraphicFramePr>
          <p:cNvPr id="9" name="Table 8">
            <a:extLst>
              <a:ext uri="{FF2B5EF4-FFF2-40B4-BE49-F238E27FC236}">
                <a16:creationId xmlns:a16="http://schemas.microsoft.com/office/drawing/2014/main" id="{340DA73D-979B-F94D-9A28-17E28A7C8643}"/>
              </a:ext>
            </a:extLst>
          </p:cNvPr>
          <p:cNvGraphicFramePr>
            <a:graphicFrameLocks noGrp="1"/>
          </p:cNvGraphicFramePr>
          <p:nvPr/>
        </p:nvGraphicFramePr>
        <p:xfrm>
          <a:off x="201167" y="1432763"/>
          <a:ext cx="8275321" cy="3330576"/>
        </p:xfrm>
        <a:graphic>
          <a:graphicData uri="http://schemas.openxmlformats.org/drawingml/2006/table">
            <a:tbl>
              <a:tblPr firstRow="1" bandRow="1"/>
              <a:tblGrid>
                <a:gridCol w="1173480">
                  <a:extLst>
                    <a:ext uri="{9D8B030D-6E8A-4147-A177-3AD203B41FA5}">
                      <a16:colId xmlns:a16="http://schemas.microsoft.com/office/drawing/2014/main" val="3687805585"/>
                    </a:ext>
                  </a:extLst>
                </a:gridCol>
                <a:gridCol w="1912620">
                  <a:extLst>
                    <a:ext uri="{9D8B030D-6E8A-4147-A177-3AD203B41FA5}">
                      <a16:colId xmlns:a16="http://schemas.microsoft.com/office/drawing/2014/main" val="152125098"/>
                    </a:ext>
                  </a:extLst>
                </a:gridCol>
                <a:gridCol w="906780">
                  <a:extLst>
                    <a:ext uri="{9D8B030D-6E8A-4147-A177-3AD203B41FA5}">
                      <a16:colId xmlns:a16="http://schemas.microsoft.com/office/drawing/2014/main" val="329039289"/>
                    </a:ext>
                  </a:extLst>
                </a:gridCol>
                <a:gridCol w="1173480">
                  <a:extLst>
                    <a:ext uri="{9D8B030D-6E8A-4147-A177-3AD203B41FA5}">
                      <a16:colId xmlns:a16="http://schemas.microsoft.com/office/drawing/2014/main" val="2673423602"/>
                    </a:ext>
                  </a:extLst>
                </a:gridCol>
                <a:gridCol w="1043941">
                  <a:extLst>
                    <a:ext uri="{9D8B030D-6E8A-4147-A177-3AD203B41FA5}">
                      <a16:colId xmlns:a16="http://schemas.microsoft.com/office/drawing/2014/main" val="542751314"/>
                    </a:ext>
                  </a:extLst>
                </a:gridCol>
                <a:gridCol w="2065020">
                  <a:extLst>
                    <a:ext uri="{9D8B030D-6E8A-4147-A177-3AD203B41FA5}">
                      <a16:colId xmlns:a16="http://schemas.microsoft.com/office/drawing/2014/main" val="3470162853"/>
                    </a:ext>
                  </a:extLst>
                </a:gridCol>
              </a:tblGrid>
              <a:tr h="291952">
                <a:tc gridSpan="2">
                  <a:txBody>
                    <a:bodyPr/>
                    <a:lstStyle/>
                    <a:p>
                      <a:pPr algn="ctr"/>
                      <a:r>
                        <a:rPr lang="en-US" sz="1000" b="1" dirty="0">
                          <a:solidFill>
                            <a:srgbClr val="FFFFFF"/>
                          </a:solidFill>
                        </a:rPr>
                        <a:t>Number of nodes</a:t>
                      </a:r>
                    </a:p>
                    <a:p>
                      <a:pPr algn="ctr"/>
                      <a:endParaRPr lang="en-US" sz="1000" b="1" dirty="0">
                        <a:solidFill>
                          <a:srgbClr val="FFFFFF"/>
                        </a:solidFill>
                      </a:endParaRPr>
                    </a:p>
                  </a:txBody>
                  <a:tcPr>
                    <a:solidFill>
                      <a:srgbClr val="0047BA"/>
                    </a:solidFill>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Cores per node</a:t>
                      </a:r>
                    </a:p>
                    <a:p>
                      <a:pPr algn="ctr"/>
                      <a:endParaRPr lang="en-US" sz="1000" b="1" dirty="0">
                        <a:solidFill>
                          <a:srgbClr val="FFFFFF"/>
                        </a:solidFill>
                      </a:endParaRPr>
                    </a:p>
                  </a:txBody>
                  <a:tcPr>
                    <a:solidFill>
                      <a:srgbClr val="0047BA"/>
                    </a:solidFill>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Network</a:t>
                      </a:r>
                      <a:r>
                        <a:rPr lang="en-US" sz="1000" b="1" strike="noStrike" spc="-1" baseline="0" dirty="0">
                          <a:solidFill>
                            <a:srgbClr val="FFFFFF"/>
                          </a:solidFill>
                        </a:rPr>
                        <a:t> interconnection</a:t>
                      </a:r>
                      <a:endParaRPr lang="en-US" sz="1000" b="1" strike="noStrike" spc="-1" dirty="0">
                        <a:solidFill>
                          <a:srgbClr val="FFFFFF"/>
                        </a:solidFill>
                      </a:endParaRPr>
                    </a:p>
                    <a:p>
                      <a:pPr algn="ctr"/>
                      <a:endParaRPr lang="en-US" sz="1000" b="1" dirty="0">
                        <a:solidFill>
                          <a:srgbClr val="FFFFFF"/>
                        </a:solidFill>
                      </a:endParaRPr>
                    </a:p>
                  </a:txBody>
                  <a:tcPr>
                    <a:solidFill>
                      <a:srgbClr val="0047BA"/>
                    </a:solidFill>
                  </a:tcPr>
                </a:tc>
                <a:tc hMerge="1">
                  <a:txBody>
                    <a:bodyPr/>
                    <a:lstStyle/>
                    <a:p>
                      <a:endParaRPr lang="en-US"/>
                    </a:p>
                  </a:txBody>
                  <a:tcPr/>
                </a:tc>
                <a:extLst>
                  <a:ext uri="{0D108BD9-81ED-4DB2-BD59-A6C34878D82A}">
                    <a16:rowId xmlns:a16="http://schemas.microsoft.com/office/drawing/2014/main" val="667571679"/>
                  </a:ext>
                </a:extLst>
              </a:tr>
              <a:tr h="960120">
                <a:tc rowSpan="2">
                  <a:txBody>
                    <a:bodyPr/>
                    <a:lstStyle/>
                    <a:p>
                      <a:pPr algn="ctr">
                        <a:lnSpc>
                          <a:spcPts val="2100"/>
                        </a:lnSpc>
                      </a:pPr>
                      <a:r>
                        <a:rPr lang="en-US" sz="1000" strike="noStrike" spc="-1" dirty="0"/>
                        <a:t>88 CPU nodes</a:t>
                      </a:r>
                      <a:endParaRPr lang="en-US" sz="1000" b="0" strike="noStrike" spc="-1" dirty="0">
                        <a:solidFill>
                          <a:schemeClr val="tx1"/>
                        </a:solidFill>
                        <a:latin typeface="Arial"/>
                      </a:endParaRPr>
                    </a:p>
                  </a:txBody>
                  <a:tcPr marL="53280" marR="53280" anchor="ctr">
                    <a:lnR w="12700" cap="flat" cmpd="sng" algn="ctr">
                      <a:solidFill>
                        <a:schemeClr val="accent6"/>
                      </a:solidFill>
                      <a:prstDash val="solid"/>
                      <a:round/>
                      <a:headEnd type="none" w="med" len="med"/>
                      <a:tailEnd type="none" w="med" len="med"/>
                    </a:lnR>
                    <a:lnB w="12700" cap="flat" cmpd="sng" algn="ctr">
                      <a:solidFill>
                        <a:schemeClr val="accent6"/>
                      </a:solidFill>
                      <a:prstDash val="solid"/>
                      <a:round/>
                      <a:headEnd type="none" w="med" len="med"/>
                      <a:tailEnd type="none" w="med" len="med"/>
                    </a:lnB>
                  </a:tcPr>
                </a:tc>
                <a:tc rowSpan="2">
                  <a:txBody>
                    <a:bodyPr/>
                    <a:lstStyle/>
                    <a:p>
                      <a:pPr algn="ctr">
                        <a:lnSpc>
                          <a:spcPts val="2100"/>
                        </a:lnSpc>
                      </a:pPr>
                      <a:r>
                        <a:rPr lang="en-US" sz="1000" strike="noStrike" spc="-1" dirty="0"/>
                        <a:t>2x Intel Xeon Gold 6230R</a:t>
                      </a:r>
                      <a:r>
                        <a:rPr lang="en-US" sz="1000" strike="noStrike" spc="-1" baseline="0" dirty="0"/>
                        <a:t> </a:t>
                      </a:r>
                      <a:r>
                        <a:rPr lang="en-US" sz="1000" strike="noStrike" spc="-1" dirty="0"/>
                        <a:t>26-Core 2.1GHz</a:t>
                      </a:r>
                      <a:r>
                        <a:rPr lang="en-US" sz="1000" strike="noStrike" spc="-1" baseline="0" dirty="0"/>
                        <a:t> </a:t>
                      </a:r>
                      <a:r>
                        <a:rPr lang="en-US" sz="1000" strike="noStrike" spc="-1" dirty="0"/>
                        <a:t>(Cascade lake)</a:t>
                      </a:r>
                    </a:p>
                    <a:p>
                      <a:pPr marL="0" marR="0" lvl="0" indent="0" algn="ctr" defTabSz="914400" rtl="0" eaLnBrk="1" fontAlgn="auto" latinLnBrk="0" hangingPunct="1">
                        <a:lnSpc>
                          <a:spcPts val="2100"/>
                        </a:lnSpc>
                        <a:spcBef>
                          <a:spcPts val="0"/>
                        </a:spcBef>
                        <a:spcAft>
                          <a:spcPts val="0"/>
                        </a:spcAft>
                        <a:buClrTx/>
                        <a:buSzTx/>
                        <a:buFontTx/>
                        <a:buNone/>
                        <a:tabLst/>
                        <a:defRPr/>
                      </a:pPr>
                      <a:r>
                        <a:rPr lang="en-US" sz="1000" strike="noStrike" spc="-1" dirty="0"/>
                        <a:t>(Q1‘20)</a:t>
                      </a:r>
                      <a:endParaRPr lang="en-US" sz="1000" b="0" strike="noStrike" spc="-1" dirty="0">
                        <a:solidFill>
                          <a:schemeClr val="tx1"/>
                        </a:solidFill>
                        <a:latin typeface="+mn-lt"/>
                      </a:endParaRPr>
                    </a:p>
                  </a:txBody>
                  <a:tcPr marL="53280" marR="53280" anchor="ctr">
                    <a:lnL w="12700" cap="flat" cmpd="sng" algn="ctr">
                      <a:solidFill>
                        <a:schemeClr val="accent6"/>
                      </a:solidFill>
                      <a:prstDash val="solid"/>
                      <a:round/>
                      <a:headEnd type="none" w="med" len="med"/>
                      <a:tailEnd type="none" w="med" len="med"/>
                    </a:lnL>
                    <a:lnB w="12700" cap="flat" cmpd="sng" algn="ctr">
                      <a:solidFill>
                        <a:schemeClr val="accent6"/>
                      </a:solidFill>
                      <a:prstDash val="solid"/>
                      <a:round/>
                      <a:headEnd type="none" w="med" len="med"/>
                      <a:tailEnd type="none" w="med" len="med"/>
                    </a:lnB>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strike="noStrike" spc="-1" dirty="0"/>
                        <a:t>52</a:t>
                      </a:r>
                    </a:p>
                  </a:txBody>
                  <a:tcPr anchor="ct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strike="noStrike" spc="-1" dirty="0" err="1">
                          <a:solidFill>
                            <a:sysClr val="windowText" lastClr="000000"/>
                          </a:solidFill>
                          <a:latin typeface="+mn-lt"/>
                        </a:rPr>
                        <a:t>Infiniband</a:t>
                      </a:r>
                      <a:r>
                        <a:rPr lang="en-US" sz="1000" b="0" strike="noStrike" spc="-1" dirty="0">
                          <a:solidFill>
                            <a:sysClr val="windowText" lastClr="000000"/>
                          </a:solidFill>
                          <a:latin typeface="+mn-lt"/>
                        </a:rPr>
                        <a:t> HDR and </a:t>
                      </a:r>
                      <a:r>
                        <a:rPr lang="en-US" sz="1000" b="0" strike="noStrike" spc="-1" dirty="0" err="1">
                          <a:solidFill>
                            <a:sysClr val="windowText" lastClr="000000"/>
                          </a:solidFill>
                          <a:latin typeface="+mn-lt"/>
                        </a:rPr>
                        <a:t>Infiniband</a:t>
                      </a:r>
                      <a:r>
                        <a:rPr lang="en-US" sz="1000" b="0" strike="noStrike" spc="-1" dirty="0">
                          <a:solidFill>
                            <a:sysClr val="windowText" lastClr="000000"/>
                          </a:solidFill>
                          <a:latin typeface="+mn-lt"/>
                        </a:rPr>
                        <a:t> EDR</a:t>
                      </a:r>
                    </a:p>
                  </a:txBody>
                  <a:tcPr anchor="ctr"/>
                </a:tc>
                <a:tc hMerge="1">
                  <a:txBody>
                    <a:bodyPr/>
                    <a:lstStyle/>
                    <a:p>
                      <a:endParaRPr lang="en-US"/>
                    </a:p>
                  </a:txBody>
                  <a:tcPr/>
                </a:tc>
                <a:extLst>
                  <a:ext uri="{0D108BD9-81ED-4DB2-BD59-A6C34878D82A}">
                    <a16:rowId xmlns:a16="http://schemas.microsoft.com/office/drawing/2014/main" val="1269556809"/>
                  </a:ext>
                </a:extLst>
              </a:tr>
              <a:tr h="251460">
                <a:tc vMerge="1">
                  <a:txBody>
                    <a:bodyPr/>
                    <a:lstStyle/>
                    <a:p>
                      <a:endParaRPr lang="en-US"/>
                    </a:p>
                  </a:txBody>
                  <a:tcPr/>
                </a:tc>
                <a:tc v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Memory</a:t>
                      </a:r>
                      <a:r>
                        <a:rPr lang="en-US" sz="1000" b="1" strike="noStrike" spc="-1" baseline="0" dirty="0">
                          <a:solidFill>
                            <a:srgbClr val="FFFFFF"/>
                          </a:solidFill>
                        </a:rPr>
                        <a:t> per node</a:t>
                      </a:r>
                      <a:endParaRPr lang="en-US" sz="1000" b="1" strike="noStrike" spc="-1" dirty="0">
                        <a:solidFill>
                          <a:srgbClr val="FFFFFF"/>
                        </a:solidFill>
                      </a:endParaRPr>
                    </a:p>
                  </a:txBody>
                  <a:tcPr anchor="ctr">
                    <a:solidFill>
                      <a:srgbClr val="0047BA"/>
                    </a:solidFill>
                  </a:tcPr>
                </a:tc>
                <a:tc hMerge="1">
                  <a:txBody>
                    <a:bodyPr/>
                    <a:lstStyle/>
                    <a:p>
                      <a:endParaRPr lang="en-US"/>
                    </a:p>
                  </a:txBody>
                  <a:tcPr/>
                </a:tc>
                <a:tc gridSpan="2">
                  <a:txBody>
                    <a:bodyPr/>
                    <a:lstStyle/>
                    <a:p>
                      <a:pPr algn="ctr"/>
                      <a:r>
                        <a:rPr lang="en-US" sz="1000" b="1" dirty="0">
                          <a:solidFill>
                            <a:srgbClr val="FFFFFF"/>
                          </a:solidFill>
                        </a:rPr>
                        <a:t>Storage</a:t>
                      </a:r>
                    </a:p>
                  </a:txBody>
                  <a:tcPr anchor="ctr">
                    <a:solidFill>
                      <a:srgbClr val="0047BA"/>
                    </a:solidFill>
                  </a:tcPr>
                </a:tc>
                <a:tc hMerge="1">
                  <a:txBody>
                    <a:bodyPr/>
                    <a:lstStyle/>
                    <a:p>
                      <a:endParaRPr lang="en-US"/>
                    </a:p>
                  </a:txBody>
                  <a:tcPr/>
                </a:tc>
                <a:extLst>
                  <a:ext uri="{0D108BD9-81ED-4DB2-BD59-A6C34878D82A}">
                    <a16:rowId xmlns:a16="http://schemas.microsoft.com/office/drawing/2014/main" val="1934381651"/>
                  </a:ext>
                </a:extLst>
              </a:tr>
              <a:tr h="868998">
                <a:tc rowSpan="2">
                  <a:txBody>
                    <a:bodyPr/>
                    <a:lstStyle/>
                    <a:p>
                      <a:pPr algn="ctr">
                        <a:lnSpc>
                          <a:spcPts val="2100"/>
                        </a:lnSpc>
                      </a:pPr>
                      <a:r>
                        <a:rPr lang="en-US" sz="1000" strike="noStrike" spc="-1" dirty="0"/>
                        <a:t>3 GPU</a:t>
                      </a:r>
                      <a:r>
                        <a:rPr lang="en-US" sz="1000" strike="noStrike" spc="-1" baseline="0" dirty="0"/>
                        <a:t> nodes</a:t>
                      </a:r>
                      <a:endParaRPr lang="en-US" sz="1000" b="0" strike="noStrike" spc="-1" dirty="0">
                        <a:solidFill>
                          <a:schemeClr val="tx1"/>
                        </a:solidFill>
                        <a:latin typeface="Arial"/>
                      </a:endParaRPr>
                    </a:p>
                  </a:txBody>
                  <a:tcPr marL="53280" marR="53280" anchor="ctr">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tcPr>
                </a:tc>
                <a:tc>
                  <a:txBody>
                    <a:bodyPr/>
                    <a:lstStyle/>
                    <a:p>
                      <a:pPr algn="ctr">
                        <a:lnSpc>
                          <a:spcPts val="2100"/>
                        </a:lnSpc>
                      </a:pPr>
                      <a:r>
                        <a:rPr lang="en-US" sz="1000" strike="noStrike" spc="-1" dirty="0"/>
                        <a:t>2x Intel Xeon Gold 6230R</a:t>
                      </a:r>
                      <a:r>
                        <a:rPr lang="en-US" sz="1000" strike="noStrike" spc="-1" baseline="0" dirty="0"/>
                        <a:t> </a:t>
                      </a:r>
                      <a:r>
                        <a:rPr lang="en-US" sz="1000" strike="noStrike" spc="-1" dirty="0"/>
                        <a:t>26-Core 2.1GHz(Cascade lake)</a:t>
                      </a:r>
                    </a:p>
                    <a:p>
                      <a:pPr marL="0" marR="0" lvl="0" indent="0" algn="ctr" defTabSz="914400" rtl="0" eaLnBrk="1" fontAlgn="auto" latinLnBrk="0" hangingPunct="1">
                        <a:lnSpc>
                          <a:spcPts val="2100"/>
                        </a:lnSpc>
                        <a:spcBef>
                          <a:spcPts val="0"/>
                        </a:spcBef>
                        <a:spcAft>
                          <a:spcPts val="0"/>
                        </a:spcAft>
                        <a:buClrTx/>
                        <a:buSzTx/>
                        <a:buFontTx/>
                        <a:buNone/>
                        <a:tabLst/>
                        <a:defRPr/>
                      </a:pPr>
                      <a:r>
                        <a:rPr lang="en-US" sz="1000" strike="noStrike" spc="-1" dirty="0"/>
                        <a:t>(Q1’20)</a:t>
                      </a:r>
                      <a:endParaRPr lang="en-US" sz="1000" b="0" strike="noStrike" spc="-1" dirty="0">
                        <a:solidFill>
                          <a:schemeClr val="tx1"/>
                        </a:solidFill>
                        <a:latin typeface="+mn-lt"/>
                      </a:endParaRPr>
                    </a:p>
                  </a:txBody>
                  <a:tcPr marL="53280" marR="53280" anchor="ctr">
                    <a:lnL w="12700" cap="flat" cmpd="sng" algn="ctr">
                      <a:solidFill>
                        <a:schemeClr val="accent6"/>
                      </a:solidFill>
                      <a:prstDash val="solid"/>
                      <a:round/>
                      <a:headEnd type="none" w="med" len="med"/>
                      <a:tailEnd type="none" w="med" len="med"/>
                    </a:lnL>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strike="noStrike" spc="-1" dirty="0"/>
                        <a:t>CPU nodes</a:t>
                      </a:r>
                      <a:endParaRPr lang="en-US" sz="1000" b="0" strike="noStrike" spc="-1" dirty="0">
                        <a:solidFill>
                          <a:schemeClr val="tx1"/>
                        </a:solidFill>
                        <a:latin typeface="+mn-lt"/>
                      </a:endParaRPr>
                    </a:p>
                  </a:txBody>
                  <a:tcPr marL="53280" marR="53280" anchor="ctr">
                    <a:lnR w="12700" cap="flat" cmpd="sng" algn="ctr">
                      <a:solidFill>
                        <a:schemeClr val="accent6"/>
                      </a:solidFill>
                      <a:prstDash val="solid"/>
                      <a:round/>
                      <a:headEnd type="none" w="med" len="med"/>
                      <a:tailEnd type="none" w="med" len="med"/>
                    </a:lnR>
                    <a:lnB w="12700" cap="flat" cmpd="sng" algn="ctr">
                      <a:solidFill>
                        <a:schemeClr val="accent6"/>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strike="noStrike" spc="-1" dirty="0"/>
                        <a:t>384 GB</a:t>
                      </a:r>
                      <a:endParaRPr lang="en-US" sz="1000" b="0" strike="noStrike" spc="-1" dirty="0">
                        <a:solidFill>
                          <a:schemeClr val="tx1"/>
                        </a:solidFill>
                        <a:latin typeface="+mn-lt"/>
                      </a:endParaRPr>
                    </a:p>
                  </a:txBody>
                  <a:tcPr marL="53280" marR="53280" anchor="ctr">
                    <a:lnL w="12700" cap="flat" cmpd="sng" algn="ctr">
                      <a:solidFill>
                        <a:schemeClr val="accent6"/>
                      </a:solidFill>
                      <a:prstDash val="solid"/>
                      <a:round/>
                      <a:headEnd type="none" w="med" len="med"/>
                      <a:tailEnd type="none" w="med" len="med"/>
                    </a:lnL>
                    <a:lnB w="12700" cap="flat" cmpd="sng" algn="ctr">
                      <a:solidFill>
                        <a:schemeClr val="accent6"/>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strike="noStrike" spc="-1" dirty="0">
                          <a:solidFill>
                            <a:sysClr val="windowText" lastClr="000000"/>
                          </a:solidFill>
                          <a:latin typeface="+mn-lt"/>
                        </a:rPr>
                        <a:t>300 TB home</a:t>
                      </a:r>
                    </a:p>
                  </a:txBody>
                  <a:tcPr anchor="ctr">
                    <a:lnR w="12700" cap="flat" cmpd="sng" algn="ctr">
                      <a:solidFill>
                        <a:schemeClr val="accent6"/>
                      </a:solidFill>
                      <a:prstDash val="solid"/>
                      <a:round/>
                      <a:headEnd type="none" w="med" len="med"/>
                      <a:tailEnd type="none" w="med" len="med"/>
                    </a:lnR>
                    <a:lnB w="12700" cap="flat" cmpd="sng" algn="ctr">
                      <a:solidFill>
                        <a:schemeClr val="accent6"/>
                      </a:solidFill>
                      <a:prstDash val="solid"/>
                      <a:round/>
                      <a:headEnd type="none" w="med" len="med"/>
                      <a:tailEnd type="none" w="med" len="med"/>
                    </a:lnB>
                  </a:tcPr>
                </a:tc>
                <a:tc>
                  <a:txBody>
                    <a:bodyPr/>
                    <a:lstStyle/>
                    <a:p>
                      <a:pPr algn="ctr"/>
                      <a:r>
                        <a:rPr lang="en-US" sz="1000" b="0" strike="noStrike" spc="-1" dirty="0">
                          <a:solidFill>
                            <a:sysClr val="windowText" lastClr="000000"/>
                          </a:solidFill>
                          <a:latin typeface="+mn-lt"/>
                        </a:rPr>
                        <a:t>NFSv4</a:t>
                      </a:r>
                      <a:endParaRPr lang="en-US" sz="1000" dirty="0">
                        <a:solidFill>
                          <a:schemeClr val="tx1"/>
                        </a:solidFill>
                      </a:endParaRPr>
                    </a:p>
                  </a:txBody>
                  <a:tcPr anchor="ctr">
                    <a:lnL w="12700" cap="flat" cmpd="sng" algn="ctr">
                      <a:solidFill>
                        <a:schemeClr val="accent6"/>
                      </a:solidFill>
                      <a:prstDash val="solid"/>
                      <a:round/>
                      <a:headEnd type="none" w="med" len="med"/>
                      <a:tailEnd type="none" w="med" len="med"/>
                    </a:lnL>
                    <a:lnB w="12700" cap="flat" cmpd="sng" algn="ctr">
                      <a:solidFill>
                        <a:schemeClr val="accent6"/>
                      </a:solidFill>
                      <a:prstDash val="solid"/>
                      <a:round/>
                      <a:headEnd type="none" w="med" len="med"/>
                      <a:tailEnd type="none" w="med" len="med"/>
                    </a:lnB>
                  </a:tcPr>
                </a:tc>
                <a:extLst>
                  <a:ext uri="{0D108BD9-81ED-4DB2-BD59-A6C34878D82A}">
                    <a16:rowId xmlns:a16="http://schemas.microsoft.com/office/drawing/2014/main" val="4114277690"/>
                  </a:ext>
                </a:extLst>
              </a:tr>
              <a:tr h="534034">
                <a:tc vMerge="1">
                  <a:txBody>
                    <a:bodyPr/>
                    <a:lstStyle/>
                    <a:p>
                      <a:endParaRPr lang="en-US"/>
                    </a:p>
                  </a:txBody>
                  <a:tcPr/>
                </a:tc>
                <a:tc>
                  <a:txBody>
                    <a:bodyPr/>
                    <a:lstStyle/>
                    <a:p>
                      <a:pPr algn="ctr">
                        <a:lnSpc>
                          <a:spcPts val="2100"/>
                        </a:lnSpc>
                      </a:pPr>
                      <a:r>
                        <a:rPr lang="en-US" sz="1000" strike="noStrike" spc="-1" dirty="0"/>
                        <a:t>4x NVidia V100</a:t>
                      </a:r>
                      <a:endParaRPr lang="en-US" sz="1000" b="0" strike="noStrike" spc="-1" dirty="0">
                        <a:solidFill>
                          <a:schemeClr val="tx1"/>
                        </a:solidFill>
                        <a:latin typeface="+mn-lt"/>
                      </a:endParaRPr>
                    </a:p>
                  </a:txBody>
                  <a:tcPr marL="53280" marR="53280" anchor="ctr">
                    <a:lnL w="12700" cap="flat" cmpd="sng" algn="ctr">
                      <a:solidFill>
                        <a:schemeClr val="accent6"/>
                      </a:solidFill>
                      <a:prstDash val="solid"/>
                      <a:round/>
                      <a:headEnd type="none" w="med" len="med"/>
                      <a:tailEnd type="none" w="med" len="med"/>
                    </a:lnL>
                    <a:lnT w="12700" cap="flat" cmpd="sng" algn="ctr">
                      <a:solidFill>
                        <a:schemeClr val="accent6"/>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strike="noStrike" spc="-1" dirty="0"/>
                        <a:t>GPU nodes</a:t>
                      </a:r>
                      <a:endParaRPr lang="en-US" sz="1000" b="0" strike="noStrike" spc="-1" dirty="0">
                        <a:solidFill>
                          <a:schemeClr val="tx1"/>
                        </a:solidFill>
                        <a:latin typeface="+mn-lt"/>
                      </a:endParaRPr>
                    </a:p>
                  </a:txBody>
                  <a:tcPr anchor="ctr">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tcPr>
                </a:tc>
                <a:tc>
                  <a:txBody>
                    <a:bodyPr/>
                    <a:lstStyle/>
                    <a:p>
                      <a:pPr algn="ctr">
                        <a:lnSpc>
                          <a:spcPts val="2100"/>
                        </a:lnSpc>
                      </a:pPr>
                      <a:r>
                        <a:rPr lang="en-US" sz="1000" strike="noStrike" spc="-1" dirty="0"/>
                        <a:t>640 GB </a:t>
                      </a:r>
                    </a:p>
                    <a:p>
                      <a:pPr algn="ctr">
                        <a:lnSpc>
                          <a:spcPts val="2100"/>
                        </a:lnSpc>
                      </a:pPr>
                      <a:r>
                        <a:rPr lang="en-US" sz="1000" strike="noStrike" spc="-1" dirty="0"/>
                        <a:t>+</a:t>
                      </a:r>
                    </a:p>
                    <a:p>
                      <a:pPr algn="ctr">
                        <a:lnSpc>
                          <a:spcPts val="2100"/>
                        </a:lnSpc>
                      </a:pPr>
                      <a:r>
                        <a:rPr lang="en-US" sz="1000" strike="noStrike" spc="-1" dirty="0"/>
                        <a:t> 128 GB (GPU)</a:t>
                      </a:r>
                      <a:endParaRPr lang="en-US" sz="1000" b="0" strike="noStrike" spc="-1" dirty="0">
                        <a:solidFill>
                          <a:schemeClr val="tx1"/>
                        </a:solidFill>
                        <a:latin typeface="+mn-lt"/>
                      </a:endParaRPr>
                    </a:p>
                  </a:txBody>
                  <a:tcPr anchor="ctr">
                    <a:lnL w="12700" cap="flat" cmpd="sng" algn="ctr">
                      <a:solidFill>
                        <a:schemeClr val="accent6"/>
                      </a:solidFill>
                      <a:prstDash val="solid"/>
                      <a:round/>
                      <a:headEnd type="none" w="med" len="med"/>
                      <a:tailEnd type="none" w="med" len="med"/>
                    </a:lnL>
                    <a:lnT w="12700" cap="flat" cmpd="sng" algn="ctr">
                      <a:solidFill>
                        <a:schemeClr val="accent6"/>
                      </a:solidFill>
                      <a:prstDash val="solid"/>
                      <a:round/>
                      <a:headEnd type="none" w="med" len="med"/>
                      <a:tailEnd type="none" w="med" len="med"/>
                    </a:lnT>
                  </a:tcPr>
                </a:tc>
                <a:tc>
                  <a:txBody>
                    <a:bodyPr/>
                    <a:lstStyle/>
                    <a:p>
                      <a:pPr algn="ctr"/>
                      <a:r>
                        <a:rPr lang="en-US" sz="1000" b="0" strike="noStrike" spc="-1" dirty="0">
                          <a:solidFill>
                            <a:sysClr val="windowText" lastClr="000000"/>
                          </a:solidFill>
                          <a:latin typeface="+mn-lt"/>
                        </a:rPr>
                        <a:t>947 TB scratch</a:t>
                      </a:r>
                      <a:endParaRPr lang="en-US" sz="1000" dirty="0">
                        <a:solidFill>
                          <a:schemeClr val="tx1"/>
                        </a:solidFill>
                      </a:endParaRPr>
                    </a:p>
                  </a:txBody>
                  <a:tcPr anchor="ctr">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strike="noStrike" spc="-1" dirty="0">
                          <a:solidFill>
                            <a:sysClr val="windowText" lastClr="000000"/>
                          </a:solidFill>
                          <a:latin typeface="+mn-lt"/>
                        </a:rPr>
                        <a:t>Parallel file system (</a:t>
                      </a:r>
                      <a:r>
                        <a:rPr lang="en-US" sz="1000" b="0" strike="noStrike" spc="-1" dirty="0" err="1">
                          <a:solidFill>
                            <a:sysClr val="windowText" lastClr="000000"/>
                          </a:solidFill>
                          <a:latin typeface="+mn-lt"/>
                        </a:rPr>
                        <a:t>Lustre</a:t>
                      </a:r>
                      <a:r>
                        <a:rPr lang="en-US" sz="1000" b="0" strike="noStrike" spc="-1" dirty="0">
                          <a:solidFill>
                            <a:sysClr val="windowText" lastClr="000000"/>
                          </a:solidFill>
                          <a:latin typeface="+mn-lt"/>
                        </a:rPr>
                        <a:t>)</a:t>
                      </a:r>
                    </a:p>
                  </a:txBody>
                  <a:tcPr anchor="ctr">
                    <a:lnL w="12700" cap="flat" cmpd="sng" algn="ctr">
                      <a:solidFill>
                        <a:schemeClr val="accent6"/>
                      </a:solidFill>
                      <a:prstDash val="solid"/>
                      <a:round/>
                      <a:headEnd type="none" w="med" len="med"/>
                      <a:tailEnd type="none" w="med" len="med"/>
                    </a:lnL>
                    <a:lnT w="12700" cap="flat" cmpd="sng" algn="ctr">
                      <a:solidFill>
                        <a:schemeClr val="accent6"/>
                      </a:solidFill>
                      <a:prstDash val="solid"/>
                      <a:round/>
                      <a:headEnd type="none" w="med" len="med"/>
                      <a:tailEnd type="none" w="med" len="med"/>
                    </a:lnT>
                  </a:tcPr>
                </a:tc>
                <a:extLst>
                  <a:ext uri="{0D108BD9-81ED-4DB2-BD59-A6C34878D82A}">
                    <a16:rowId xmlns:a16="http://schemas.microsoft.com/office/drawing/2014/main" val="1057353011"/>
                  </a:ext>
                </a:extLst>
              </a:tr>
            </a:tbl>
          </a:graphicData>
        </a:graphic>
      </p:graphicFrame>
      <p:graphicFrame>
        <p:nvGraphicFramePr>
          <p:cNvPr id="2" name="Table 1">
            <a:extLst>
              <a:ext uri="{FF2B5EF4-FFF2-40B4-BE49-F238E27FC236}">
                <a16:creationId xmlns:a16="http://schemas.microsoft.com/office/drawing/2014/main" id="{5A264766-A8F0-2444-98E8-EAB465D0361F}"/>
              </a:ext>
            </a:extLst>
          </p:cNvPr>
          <p:cNvGraphicFramePr>
            <a:graphicFrameLocks noGrp="1"/>
          </p:cNvGraphicFramePr>
          <p:nvPr/>
        </p:nvGraphicFramePr>
        <p:xfrm>
          <a:off x="8732520" y="1432763"/>
          <a:ext cx="3373341" cy="3260562"/>
        </p:xfrm>
        <a:graphic>
          <a:graphicData uri="http://schemas.openxmlformats.org/drawingml/2006/table">
            <a:tbl>
              <a:tblPr firstRow="1" bandRow="1"/>
              <a:tblGrid>
                <a:gridCol w="1112520">
                  <a:extLst>
                    <a:ext uri="{9D8B030D-6E8A-4147-A177-3AD203B41FA5}">
                      <a16:colId xmlns:a16="http://schemas.microsoft.com/office/drawing/2014/main" val="1041994634"/>
                    </a:ext>
                  </a:extLst>
                </a:gridCol>
                <a:gridCol w="2260821">
                  <a:extLst>
                    <a:ext uri="{9D8B030D-6E8A-4147-A177-3AD203B41FA5}">
                      <a16:colId xmlns:a16="http://schemas.microsoft.com/office/drawing/2014/main" val="819794455"/>
                    </a:ext>
                  </a:extLst>
                </a:gridCol>
              </a:tblGrid>
              <a:tr h="2919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Total</a:t>
                      </a:r>
                      <a:r>
                        <a:rPr lang="en-US" sz="1000" b="1" strike="noStrike" spc="-1" baseline="0" dirty="0">
                          <a:solidFill>
                            <a:srgbClr val="FFFFFF"/>
                          </a:solidFill>
                        </a:rPr>
                        <a:t> CPU cores</a:t>
                      </a:r>
                      <a:endParaRPr lang="en-US" sz="1000" b="1" strike="noStrike" spc="-1" dirty="0">
                        <a:solidFill>
                          <a:srgbClr val="FFFFFF"/>
                        </a:solidFill>
                      </a:endParaRP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Theoretical</a:t>
                      </a:r>
                      <a:r>
                        <a:rPr lang="en-US" sz="1000" b="1" strike="noStrike" spc="-1" baseline="0" dirty="0">
                          <a:solidFill>
                            <a:srgbClr val="FFFFFF"/>
                          </a:solidFill>
                        </a:rPr>
                        <a:t> peak of performance</a:t>
                      </a:r>
                      <a:endParaRPr lang="en-US" sz="1000" b="1" strike="noStrike" spc="-1" dirty="0">
                        <a:solidFill>
                          <a:srgbClr val="FFFFFF"/>
                        </a:solidFill>
                      </a:endParaRPr>
                    </a:p>
                    <a:p>
                      <a:pPr algn="ctr"/>
                      <a:endParaRPr lang="en-US" sz="1000" b="1" dirty="0">
                        <a:solidFill>
                          <a:srgbClr val="FFFFFF"/>
                        </a:solidFill>
                      </a:endParaRPr>
                    </a:p>
                  </a:txBody>
                  <a:tcPr>
                    <a:solidFill>
                      <a:srgbClr val="0047BA"/>
                    </a:solidFill>
                  </a:tcPr>
                </a:tc>
                <a:extLst>
                  <a:ext uri="{0D108BD9-81ED-4DB2-BD59-A6C34878D82A}">
                    <a16:rowId xmlns:a16="http://schemas.microsoft.com/office/drawing/2014/main" val="1090702384"/>
                  </a:ext>
                </a:extLst>
              </a:tr>
              <a:tr h="983771">
                <a:tc>
                  <a:txBody>
                    <a:bodyPr/>
                    <a:lstStyle/>
                    <a:p>
                      <a:pPr algn="ctr"/>
                      <a:r>
                        <a:rPr lang="en-US" sz="1000" b="0" strike="noStrike" spc="-1" dirty="0">
                          <a:solidFill>
                            <a:sysClr val="windowText" lastClr="000000"/>
                          </a:solidFill>
                          <a:latin typeface="+mn-lt"/>
                        </a:rPr>
                        <a:t>4,732</a:t>
                      </a:r>
                      <a:endParaRPr lang="en-US" sz="100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strike="noStrike" spc="-1" dirty="0">
                          <a:solidFill>
                            <a:sysClr val="windowText" lastClr="000000"/>
                          </a:solidFill>
                          <a:latin typeface="+mn-lt"/>
                        </a:rPr>
                        <a:t>401.9 TFLOPS</a:t>
                      </a:r>
                    </a:p>
                  </a:txBody>
                  <a:tcPr anchor="ctr"/>
                </a:tc>
                <a:extLst>
                  <a:ext uri="{0D108BD9-81ED-4DB2-BD59-A6C34878D82A}">
                    <a16:rowId xmlns:a16="http://schemas.microsoft.com/office/drawing/2014/main" val="3527846721"/>
                  </a:ext>
                </a:extLst>
              </a:tr>
              <a:tr h="406399">
                <a:tc>
                  <a:txBody>
                    <a:bodyPr/>
                    <a:lstStyle/>
                    <a:p>
                      <a:pPr algn="ctr"/>
                      <a:r>
                        <a:rPr lang="en-US" sz="1000" b="1" dirty="0">
                          <a:solidFill>
                            <a:srgbClr val="FFFFFF"/>
                          </a:solidFill>
                        </a:rPr>
                        <a:t>Total GPU cores</a:t>
                      </a:r>
                    </a:p>
                  </a:txBody>
                  <a:tcPr anchor="ctr">
                    <a:solidFill>
                      <a:srgbClr val="0047BA"/>
                    </a:solidFill>
                  </a:tcPr>
                </a:tc>
                <a:tc>
                  <a:txBody>
                    <a:bodyPr/>
                    <a:lstStyle/>
                    <a:p>
                      <a:r>
                        <a:rPr lang="en-US" sz="1000" b="1" dirty="0">
                          <a:solidFill>
                            <a:srgbClr val="FFFFFF"/>
                          </a:solidFill>
                        </a:rPr>
                        <a:t>Estimated peak of performance</a:t>
                      </a:r>
                      <a:endParaRPr lang="en-US" dirty="0"/>
                    </a:p>
                  </a:txBody>
                  <a:tcPr anchor="ctr">
                    <a:solidFill>
                      <a:srgbClr val="0047BA"/>
                    </a:solidFill>
                  </a:tcPr>
                </a:tc>
                <a:extLst>
                  <a:ext uri="{0D108BD9-81ED-4DB2-BD59-A6C34878D82A}">
                    <a16:rowId xmlns:a16="http://schemas.microsoft.com/office/drawing/2014/main" val="1867950503"/>
                  </a:ext>
                </a:extLst>
              </a:tr>
              <a:tr h="652780">
                <a:tc>
                  <a:txBody>
                    <a:bodyPr/>
                    <a:lstStyle/>
                    <a:p>
                      <a:pPr algn="ctr"/>
                      <a:r>
                        <a:rPr lang="en-US" sz="1000" b="0" strike="noStrike" spc="-1" dirty="0">
                          <a:solidFill>
                            <a:sysClr val="windowText" lastClr="000000"/>
                          </a:solidFill>
                          <a:latin typeface="+mn-lt"/>
                        </a:rPr>
                        <a:t>61,440</a:t>
                      </a:r>
                      <a:endParaRPr lang="en-US" sz="1000" dirty="0">
                        <a:solidFill>
                          <a:schemeClr val="tx1"/>
                        </a:solidFill>
                      </a:endParaRPr>
                    </a:p>
                  </a:txBody>
                  <a:tcPr anchor="ct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strike="noStrike" kern="1200" spc="-1" dirty="0">
                          <a:solidFill>
                            <a:sysClr val="windowText" lastClr="000000"/>
                          </a:solidFill>
                          <a:latin typeface="+mn-lt"/>
                          <a:ea typeface="+mn-ea"/>
                          <a:cs typeface="+mn-cs"/>
                        </a:rPr>
                        <a:t>321.52 TFLOPS</a:t>
                      </a:r>
                    </a:p>
                  </a:txBody>
                  <a:tcPr anchor="ctr"/>
                </a:tc>
                <a:extLst>
                  <a:ext uri="{0D108BD9-81ED-4DB2-BD59-A6C34878D82A}">
                    <a16:rowId xmlns:a16="http://schemas.microsoft.com/office/drawing/2014/main" val="2089643924"/>
                  </a:ext>
                </a:extLst>
              </a:tr>
              <a:tr h="393382">
                <a:tc>
                  <a:txBody>
                    <a:bodyPr/>
                    <a:lstStyle/>
                    <a:p>
                      <a:pPr algn="ctr"/>
                      <a:r>
                        <a:rPr lang="en-US" sz="1000" b="1" dirty="0">
                          <a:solidFill>
                            <a:srgbClr val="FFFFFF"/>
                          </a:solidFill>
                        </a:rPr>
                        <a:t>Total memory</a:t>
                      </a:r>
                    </a:p>
                  </a:txBody>
                  <a:tcPr anchor="ctr">
                    <a:solidFill>
                      <a:srgbClr val="0047BA"/>
                    </a:solidFill>
                  </a:tcPr>
                </a:tc>
                <a:tc vMerge="1">
                  <a:txBody>
                    <a:bodyPr/>
                    <a:lstStyle/>
                    <a:p>
                      <a:endParaRPr lang="en-US" dirty="0"/>
                    </a:p>
                  </a:txBody>
                  <a:tcPr/>
                </a:tc>
                <a:extLst>
                  <a:ext uri="{0D108BD9-81ED-4DB2-BD59-A6C34878D82A}">
                    <a16:rowId xmlns:a16="http://schemas.microsoft.com/office/drawing/2014/main" val="2471999086"/>
                  </a:ext>
                </a:extLst>
              </a:tr>
              <a:tr h="4279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strike="noStrike" spc="-1" dirty="0">
                          <a:solidFill>
                            <a:sysClr val="windowText" lastClr="000000"/>
                          </a:solidFill>
                          <a:latin typeface="+mn-lt"/>
                        </a:rPr>
                        <a:t>35.25 TB</a:t>
                      </a:r>
                    </a:p>
                  </a:txBody>
                  <a:tcPr anchor="ctr"/>
                </a:tc>
                <a:tc vMerge="1">
                  <a:txBody>
                    <a:bodyPr/>
                    <a:lstStyle/>
                    <a:p>
                      <a:endParaRPr lang="en-US"/>
                    </a:p>
                  </a:txBody>
                  <a:tcPr/>
                </a:tc>
                <a:extLst>
                  <a:ext uri="{0D108BD9-81ED-4DB2-BD59-A6C34878D82A}">
                    <a16:rowId xmlns:a16="http://schemas.microsoft.com/office/drawing/2014/main" val="3747521655"/>
                  </a:ext>
                </a:extLst>
              </a:tr>
            </a:tbl>
          </a:graphicData>
        </a:graphic>
      </p:graphicFrame>
      <p:sp>
        <p:nvSpPr>
          <p:cNvPr id="3" name="Rectangle 2">
            <a:extLst>
              <a:ext uri="{FF2B5EF4-FFF2-40B4-BE49-F238E27FC236}">
                <a16:creationId xmlns:a16="http://schemas.microsoft.com/office/drawing/2014/main" id="{80EDE33A-A34D-D14B-A86B-4980524D655D}"/>
              </a:ext>
            </a:extLst>
          </p:cNvPr>
          <p:cNvSpPr/>
          <p:nvPr/>
        </p:nvSpPr>
        <p:spPr>
          <a:xfrm>
            <a:off x="201167" y="5601435"/>
            <a:ext cx="10762200" cy="677108"/>
          </a:xfrm>
          <a:prstGeom prst="rect">
            <a:avLst/>
          </a:prstGeom>
        </p:spPr>
        <p:txBody>
          <a:bodyPr wrap="square">
            <a:spAutoFit/>
          </a:bodyPr>
          <a:lstStyle/>
          <a:p>
            <a:pPr marL="640080" lvl="1" indent="-182520">
              <a:spcBef>
                <a:spcPts val="1200"/>
              </a:spcBef>
              <a:buClr>
                <a:srgbClr val="0047BA"/>
              </a:buClr>
              <a:buSzPct val="65000"/>
              <a:buFont typeface="Wingdings" charset="2"/>
              <a:buChar char=""/>
            </a:pPr>
            <a:r>
              <a:rPr lang="en-US" sz="1400" spc="-1" dirty="0"/>
              <a:t>HPC cluster to be expanded periodically to scale with demand. See Appendix for details.</a:t>
            </a:r>
          </a:p>
          <a:p>
            <a:pPr marL="640080" lvl="1" indent="-182520">
              <a:spcBef>
                <a:spcPts val="1200"/>
              </a:spcBef>
              <a:buClr>
                <a:srgbClr val="0047BA"/>
              </a:buClr>
              <a:buSzPct val="65000"/>
              <a:buFont typeface="Wingdings" charset="2"/>
              <a:buChar char=""/>
            </a:pPr>
            <a:r>
              <a:rPr lang="en-US" sz="1400" spc="-1" dirty="0"/>
              <a:t>Cluster was designed to be quickly expandable, with ability to increase by 40% with minimal disruption.</a:t>
            </a:r>
            <a:endParaRPr lang="en-US" sz="2000" spc="-1" dirty="0"/>
          </a:p>
        </p:txBody>
      </p:sp>
    </p:spTree>
    <p:extLst>
      <p:ext uri="{BB962C8B-B14F-4D97-AF65-F5344CB8AC3E}">
        <p14:creationId xmlns:p14="http://schemas.microsoft.com/office/powerpoint/2010/main" val="3501031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9380" y="53012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10140" y="582878"/>
            <a:ext cx="10971720" cy="369332"/>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360">
              <a:lnSpc>
                <a:spcPct val="100000"/>
              </a:lnSpc>
              <a:spcBef>
                <a:spcPts val="3169"/>
              </a:spcBef>
              <a:buClr>
                <a:srgbClr val="0047BA"/>
              </a:buClr>
              <a:buSzPct val="65000"/>
            </a:pPr>
            <a:r>
              <a:rPr lang="en-US" sz="2400" b="1" spc="-1" dirty="0">
                <a:solidFill>
                  <a:srgbClr val="0047BA"/>
                </a:solidFill>
              </a:rPr>
              <a:t>Private Cloud/VM plan 2021 - 2025</a:t>
            </a:r>
          </a:p>
        </p:txBody>
      </p:sp>
      <p:sp>
        <p:nvSpPr>
          <p:cNvPr id="471" name="CustomShape 3"/>
          <p:cNvSpPr/>
          <p:nvPr/>
        </p:nvSpPr>
        <p:spPr>
          <a:xfrm>
            <a:off x="4183500" y="28641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860" y="23132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22</a:t>
            </a:fld>
            <a:endParaRPr lang="en-US" sz="850" b="0" strike="noStrike" spc="-1">
              <a:latin typeface="Arial"/>
            </a:endParaRPr>
          </a:p>
        </p:txBody>
      </p:sp>
      <p:graphicFrame>
        <p:nvGraphicFramePr>
          <p:cNvPr id="7" name="Table 6">
            <a:extLst>
              <a:ext uri="{FF2B5EF4-FFF2-40B4-BE49-F238E27FC236}">
                <a16:creationId xmlns:a16="http://schemas.microsoft.com/office/drawing/2014/main" id="{07CB7E90-81AE-1E48-A8E5-C2C87FF16FD9}"/>
              </a:ext>
            </a:extLst>
          </p:cNvPr>
          <p:cNvGraphicFramePr>
            <a:graphicFrameLocks noGrp="1"/>
          </p:cNvGraphicFramePr>
          <p:nvPr>
            <p:extLst>
              <p:ext uri="{D42A27DB-BD31-4B8C-83A1-F6EECF244321}">
                <p14:modId xmlns:p14="http://schemas.microsoft.com/office/powerpoint/2010/main" val="2202931523"/>
              </p:ext>
            </p:extLst>
          </p:nvPr>
        </p:nvGraphicFramePr>
        <p:xfrm>
          <a:off x="291759" y="983918"/>
          <a:ext cx="11272101" cy="5802067"/>
        </p:xfrm>
        <a:graphic>
          <a:graphicData uri="http://schemas.openxmlformats.org/drawingml/2006/table">
            <a:tbl>
              <a:tblPr firstRow="1" bandRow="1"/>
              <a:tblGrid>
                <a:gridCol w="1053445">
                  <a:extLst>
                    <a:ext uri="{9D8B030D-6E8A-4147-A177-3AD203B41FA5}">
                      <a16:colId xmlns:a16="http://schemas.microsoft.com/office/drawing/2014/main" val="557725123"/>
                    </a:ext>
                  </a:extLst>
                </a:gridCol>
                <a:gridCol w="2199274">
                  <a:extLst>
                    <a:ext uri="{9D8B030D-6E8A-4147-A177-3AD203B41FA5}">
                      <a16:colId xmlns:a16="http://schemas.microsoft.com/office/drawing/2014/main" val="3687805585"/>
                    </a:ext>
                  </a:extLst>
                </a:gridCol>
                <a:gridCol w="3070310">
                  <a:extLst>
                    <a:ext uri="{9D8B030D-6E8A-4147-A177-3AD203B41FA5}">
                      <a16:colId xmlns:a16="http://schemas.microsoft.com/office/drawing/2014/main" val="329039289"/>
                    </a:ext>
                  </a:extLst>
                </a:gridCol>
                <a:gridCol w="1781666">
                  <a:extLst>
                    <a:ext uri="{9D8B030D-6E8A-4147-A177-3AD203B41FA5}">
                      <a16:colId xmlns:a16="http://schemas.microsoft.com/office/drawing/2014/main" val="481703216"/>
                    </a:ext>
                  </a:extLst>
                </a:gridCol>
                <a:gridCol w="1687398">
                  <a:extLst>
                    <a:ext uri="{9D8B030D-6E8A-4147-A177-3AD203B41FA5}">
                      <a16:colId xmlns:a16="http://schemas.microsoft.com/office/drawing/2014/main" val="607956648"/>
                    </a:ext>
                  </a:extLst>
                </a:gridCol>
                <a:gridCol w="1480008">
                  <a:extLst>
                    <a:ext uri="{9D8B030D-6E8A-4147-A177-3AD203B41FA5}">
                      <a16:colId xmlns:a16="http://schemas.microsoft.com/office/drawing/2014/main" val="2615944219"/>
                    </a:ext>
                  </a:extLst>
                </a:gridCol>
              </a:tblGrid>
              <a:tr h="0">
                <a:tc>
                  <a:txBody>
                    <a:bodyPr/>
                    <a:lstStyle/>
                    <a:p>
                      <a:pPr algn="ctr"/>
                      <a:endParaRPr lang="en-US" sz="1000" b="1" dirty="0">
                        <a:solidFill>
                          <a:srgbClr val="FFFFFF"/>
                        </a:solidFill>
                      </a:endParaRPr>
                    </a:p>
                  </a:txBody>
                  <a:tcPr>
                    <a:noFill/>
                  </a:tcPr>
                </a:tc>
                <a:tc>
                  <a:txBody>
                    <a:bodyPr/>
                    <a:lstStyle/>
                    <a:p>
                      <a:pPr algn="ctr"/>
                      <a:r>
                        <a:rPr lang="en-US" sz="1000" b="1" dirty="0">
                          <a:solidFill>
                            <a:srgbClr val="FFFFFF"/>
                          </a:solidFill>
                        </a:rPr>
                        <a:t>2021</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2022</a:t>
                      </a:r>
                    </a:p>
                  </a:txBody>
                  <a:tcPr>
                    <a:solidFill>
                      <a:srgbClr val="0047BA"/>
                    </a:solidFill>
                  </a:tcPr>
                </a:tc>
                <a:tc>
                  <a:txBody>
                    <a:bodyPr/>
                    <a:lstStyle/>
                    <a:p>
                      <a:pPr algn="ctr"/>
                      <a:r>
                        <a:rPr lang="en-US" sz="1000" b="1" dirty="0">
                          <a:solidFill>
                            <a:srgbClr val="FFFFFF"/>
                          </a:solidFill>
                        </a:rPr>
                        <a:t>2023</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2024</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2025</a:t>
                      </a:r>
                    </a:p>
                  </a:txBody>
                  <a:tcPr>
                    <a:solidFill>
                      <a:srgbClr val="0047BA"/>
                    </a:solidFill>
                  </a:tcPr>
                </a:tc>
                <a:extLst>
                  <a:ext uri="{0D108BD9-81ED-4DB2-BD59-A6C34878D82A}">
                    <a16:rowId xmlns:a16="http://schemas.microsoft.com/office/drawing/2014/main" val="667571679"/>
                  </a:ext>
                </a:extLst>
              </a:tr>
              <a:tr h="863353">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Private cloud  provision</a:t>
                      </a:r>
                    </a:p>
                  </a:txBody>
                  <a:tcPr marL="53280" marR="53280" anchor="ctr">
                    <a:solidFill>
                      <a:schemeClr val="tx2"/>
                    </a:solidFill>
                  </a:tcPr>
                </a:tc>
                <a:tc>
                  <a:txBody>
                    <a:bodyPr/>
                    <a:lstStyle/>
                    <a:p>
                      <a:pPr marL="7938" indent="0" algn="l">
                        <a:lnSpc>
                          <a:spcPts val="2100"/>
                        </a:lnSpc>
                        <a:buFont typeface="Arial" panose="020B0604020202020204" pitchFamily="34" charset="0"/>
                        <a:buNone/>
                        <a:tabLst/>
                      </a:pPr>
                      <a:r>
                        <a:rPr lang="en-US" sz="1000" b="1" strike="noStrike" spc="-1" dirty="0"/>
                        <a:t>Formerly Hosted at Masdar :</a:t>
                      </a:r>
                    </a:p>
                    <a:p>
                      <a:pPr marL="179388" indent="-171450" algn="l">
                        <a:lnSpc>
                          <a:spcPts val="2100"/>
                        </a:lnSpc>
                        <a:buFont typeface="Arial" panose="020B0604020202020204" pitchFamily="34" charset="0"/>
                        <a:buChar char="•"/>
                        <a:tabLst/>
                      </a:pPr>
                      <a:r>
                        <a:rPr lang="en-US" sz="1000" b="1" strike="noStrike" spc="-1" dirty="0"/>
                        <a:t>474 vCPUs</a:t>
                      </a:r>
                    </a:p>
                    <a:p>
                      <a:pPr marL="179388" indent="-171450" algn="l">
                        <a:lnSpc>
                          <a:spcPts val="2100"/>
                        </a:lnSpc>
                        <a:buFont typeface="Arial" panose="020B0604020202020204" pitchFamily="34" charset="0"/>
                        <a:buChar char="•"/>
                        <a:tabLst/>
                      </a:pPr>
                      <a:r>
                        <a:rPr lang="en-US" sz="1000" b="1" strike="noStrike" spc="-1" dirty="0"/>
                        <a:t>228 TB  of storage</a:t>
                      </a:r>
                    </a:p>
                  </a:txBody>
                  <a:tcPr marL="53280" marR="53280"/>
                </a:tc>
                <a:tc>
                  <a:txBody>
                    <a:bodyPr/>
                    <a:lstStyle/>
                    <a:p>
                      <a:pPr marL="7938" indent="0" algn="l">
                        <a:lnSpc>
                          <a:spcPts val="2100"/>
                        </a:lnSpc>
                        <a:buFont typeface="Arial" panose="020B0604020202020204" pitchFamily="34" charset="0"/>
                        <a:buNone/>
                        <a:tabLst/>
                      </a:pPr>
                      <a:r>
                        <a:rPr lang="en-US" sz="1000" b="1" strike="noStrike" spc="-1" dirty="0"/>
                        <a:t>1130 vCPUs</a:t>
                      </a:r>
                    </a:p>
                    <a:p>
                      <a:pPr marL="7938" indent="0" algn="l">
                        <a:lnSpc>
                          <a:spcPts val="2100"/>
                        </a:lnSpc>
                        <a:buFont typeface="Arial" panose="020B0604020202020204" pitchFamily="34" charset="0"/>
                        <a:buNone/>
                        <a:tabLst/>
                      </a:pPr>
                      <a:r>
                        <a:rPr lang="en-US" sz="1000" b="1" strike="noStrike" spc="-1" dirty="0"/>
                        <a:t>400 TB  of storage</a:t>
                      </a:r>
                    </a:p>
                    <a:p>
                      <a:pPr marL="179388" indent="-171450" algn="l">
                        <a:lnSpc>
                          <a:spcPts val="2100"/>
                        </a:lnSpc>
                        <a:buFont typeface="Arial" panose="020B0604020202020204" pitchFamily="34" charset="0"/>
                        <a:buChar char="•"/>
                        <a:tabLst/>
                      </a:pPr>
                      <a:endParaRPr lang="en-US" sz="1000" b="1" strike="noStrike" spc="-1" dirty="0"/>
                    </a:p>
                  </a:txBody>
                  <a:tcPr/>
                </a:tc>
                <a:tc>
                  <a:txBody>
                    <a:bodyPr/>
                    <a:lstStyle/>
                    <a:p>
                      <a:pPr marL="7938" indent="0" algn="l">
                        <a:lnSpc>
                          <a:spcPts val="2100"/>
                        </a:lnSpc>
                        <a:buFont typeface="Arial" panose="020B0604020202020204" pitchFamily="34" charset="0"/>
                        <a:buNone/>
                        <a:tabLst/>
                      </a:pPr>
                      <a:r>
                        <a:rPr lang="en-US" sz="1000" b="1" strike="noStrike" spc="-1" dirty="0"/>
                        <a:t>1356 vCPUs</a:t>
                      </a:r>
                    </a:p>
                    <a:p>
                      <a:pPr marL="7938" indent="0" algn="l">
                        <a:lnSpc>
                          <a:spcPts val="2100"/>
                        </a:lnSpc>
                        <a:buFont typeface="Arial" panose="020B0604020202020204" pitchFamily="34" charset="0"/>
                        <a:buNone/>
                        <a:tabLst/>
                      </a:pPr>
                      <a:r>
                        <a:rPr lang="en-US" sz="1000" b="1" strike="noStrike" spc="-1" dirty="0"/>
                        <a:t>520 TB  of storage</a:t>
                      </a:r>
                    </a:p>
                    <a:p>
                      <a:pPr marL="179388" indent="-171450" algn="l">
                        <a:lnSpc>
                          <a:spcPts val="2100"/>
                        </a:lnSpc>
                        <a:buFont typeface="Arial" panose="020B0604020202020204" pitchFamily="34" charset="0"/>
                        <a:buChar char="•"/>
                        <a:tabLst/>
                      </a:pPr>
                      <a:endParaRPr lang="en-US" sz="1000" b="1" strike="noStrike" spc="-1" dirty="0"/>
                    </a:p>
                  </a:txBody>
                  <a:tcPr/>
                </a:tc>
                <a:tc>
                  <a:txBody>
                    <a:bodyPr/>
                    <a:lstStyle/>
                    <a:p>
                      <a:pPr marL="7938" indent="0" algn="l">
                        <a:lnSpc>
                          <a:spcPts val="2100"/>
                        </a:lnSpc>
                        <a:buFont typeface="Arial" panose="020B0604020202020204" pitchFamily="34" charset="0"/>
                        <a:buNone/>
                        <a:tabLst/>
                      </a:pPr>
                      <a:r>
                        <a:rPr lang="en-US" sz="1000" b="1" strike="noStrike" spc="-1" dirty="0"/>
                        <a:t>1628 vCPUs</a:t>
                      </a:r>
                    </a:p>
                    <a:p>
                      <a:pPr marL="7938" indent="0" algn="l">
                        <a:lnSpc>
                          <a:spcPts val="2100"/>
                        </a:lnSpc>
                        <a:buFont typeface="Arial" panose="020B0604020202020204" pitchFamily="34" charset="0"/>
                        <a:buNone/>
                        <a:tabLst/>
                      </a:pPr>
                      <a:r>
                        <a:rPr lang="en-US" sz="1000" b="1" strike="noStrike" spc="-1" dirty="0"/>
                        <a:t>680 TB  of storage</a:t>
                      </a:r>
                    </a:p>
                  </a:txBody>
                  <a:tcPr/>
                </a:tc>
                <a:tc>
                  <a:txBody>
                    <a:bodyPr/>
                    <a:lstStyle/>
                    <a:p>
                      <a:pPr marL="7938" indent="0" algn="l">
                        <a:lnSpc>
                          <a:spcPts val="2100"/>
                        </a:lnSpc>
                        <a:buFont typeface="Arial" panose="020B0604020202020204" pitchFamily="34" charset="0"/>
                        <a:buNone/>
                        <a:tabLst/>
                      </a:pPr>
                      <a:r>
                        <a:rPr lang="en-US" sz="1000" b="1" strike="noStrike" spc="-1" dirty="0"/>
                        <a:t>1954 vCPUs</a:t>
                      </a:r>
                    </a:p>
                    <a:p>
                      <a:pPr marL="7938" indent="0" algn="l">
                        <a:lnSpc>
                          <a:spcPts val="2100"/>
                        </a:lnSpc>
                        <a:buFont typeface="Arial" panose="020B0604020202020204" pitchFamily="34" charset="0"/>
                        <a:buNone/>
                        <a:tabLst/>
                      </a:pPr>
                      <a:r>
                        <a:rPr lang="en-US" sz="1000" b="1" strike="noStrike" spc="-1" dirty="0"/>
                        <a:t>884 TB  of storage</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000" b="0" strike="noStrike" spc="-1" dirty="0">
                        <a:solidFill>
                          <a:sysClr val="windowText" lastClr="000000"/>
                        </a:solidFill>
                        <a:latin typeface="+mn-lt"/>
                      </a:endParaRPr>
                    </a:p>
                  </a:txBody>
                  <a:tcPr/>
                </a:tc>
                <a:extLst>
                  <a:ext uri="{0D108BD9-81ED-4DB2-BD59-A6C34878D82A}">
                    <a16:rowId xmlns:a16="http://schemas.microsoft.com/office/drawing/2014/main" val="1269556809"/>
                  </a:ext>
                </a:extLst>
              </a:tr>
              <a:tr h="2007701">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Action</a:t>
                      </a:r>
                    </a:p>
                  </a:txBody>
                  <a:tcPr marL="53280" marR="53280" anchor="ctr">
                    <a:solidFill>
                      <a:schemeClr val="tx2"/>
                    </a:solidFill>
                  </a:tcPr>
                </a:tc>
                <a:tc>
                  <a:txBody>
                    <a:bodyPr/>
                    <a:lstStyle/>
                    <a:p>
                      <a:pPr marL="179388" indent="-171450" algn="l">
                        <a:lnSpc>
                          <a:spcPts val="2100"/>
                        </a:lnSpc>
                        <a:buFont typeface="Arial" panose="020B0604020202020204" pitchFamily="34" charset="0"/>
                        <a:buChar char="•"/>
                        <a:tabLst/>
                      </a:pPr>
                      <a:r>
                        <a:rPr lang="en-US" sz="1000" strike="noStrike" spc="-1" dirty="0"/>
                        <a:t>This workload has been migrated and the hardware decommissioned. It is now hosted on temporary resources provided by </a:t>
                      </a:r>
                      <a:r>
                        <a:rPr lang="en-US" sz="1000" strike="noStrike" spc="-1" dirty="0" err="1"/>
                        <a:t>Ankabut</a:t>
                      </a:r>
                      <a:r>
                        <a:rPr lang="en-US" sz="1000" strike="noStrike" spc="-1" dirty="0"/>
                        <a:t>. </a:t>
                      </a:r>
                    </a:p>
                    <a:p>
                      <a:pPr marL="179388" indent="-171450" algn="l">
                        <a:lnSpc>
                          <a:spcPts val="2100"/>
                        </a:lnSpc>
                        <a:buFont typeface="Arial" panose="020B0604020202020204" pitchFamily="34" charset="0"/>
                        <a:buChar char="•"/>
                        <a:tabLst/>
                      </a:pPr>
                      <a:r>
                        <a:rPr lang="en-US" sz="1000" strike="noStrike" spc="-1" dirty="0"/>
                        <a:t>Currently in process of procuring  private cloud infrastructure.</a:t>
                      </a:r>
                    </a:p>
                    <a:p>
                      <a:pPr marL="179388" indent="-171450" algn="l">
                        <a:lnSpc>
                          <a:spcPts val="2100"/>
                        </a:lnSpc>
                        <a:buFont typeface="Arial" panose="020B0604020202020204" pitchFamily="34" charset="0"/>
                        <a:buChar char="•"/>
                        <a:tabLst/>
                      </a:pPr>
                      <a:r>
                        <a:rPr lang="en-US" sz="1000" strike="noStrike" spc="-1" dirty="0"/>
                        <a:t>Resources being purchased:</a:t>
                      </a:r>
                    </a:p>
                    <a:p>
                      <a:pPr marL="636588" lvl="1" indent="-171450" algn="l" rtl="0">
                        <a:lnSpc>
                          <a:spcPts val="2100"/>
                        </a:lnSpc>
                        <a:buFont typeface="Arial" panose="020B0604020202020204" pitchFamily="34" charset="0"/>
                        <a:buChar char="•"/>
                        <a:tabLst/>
                      </a:pPr>
                      <a:r>
                        <a:rPr lang="en-US" sz="1000" b="1" strike="noStrike" spc="-1" dirty="0"/>
                        <a:t>1130 vCPUs</a:t>
                      </a:r>
                    </a:p>
                    <a:p>
                      <a:pPr marL="636588" lvl="1" indent="-171450" algn="l" rtl="0">
                        <a:lnSpc>
                          <a:spcPts val="2100"/>
                        </a:lnSpc>
                        <a:buFont typeface="Arial" panose="020B0604020202020204" pitchFamily="34" charset="0"/>
                        <a:buChar char="•"/>
                        <a:tabLst/>
                      </a:pPr>
                      <a:r>
                        <a:rPr lang="en-US" sz="1000" b="1" strike="noStrike" spc="-1" dirty="0"/>
                        <a:t>400 Tb of storage</a:t>
                      </a:r>
                    </a:p>
                    <a:p>
                      <a:pPr marL="179388" lvl="0" indent="-171450" algn="l" rtl="0">
                        <a:lnSpc>
                          <a:spcPts val="2100"/>
                        </a:lnSpc>
                        <a:buFont typeface="Arial" panose="020B0604020202020204" pitchFamily="34" charset="0"/>
                        <a:buChar char="•"/>
                        <a:tabLst/>
                      </a:pPr>
                      <a:r>
                        <a:rPr lang="en-US" sz="1000" b="0" strike="noStrike" spc="-1" dirty="0"/>
                        <a:t>Sizing considers current workload, resources to migrate some research groups from aging workstations and to allow room for growth.</a:t>
                      </a:r>
                      <a:endParaRPr lang="en-US" sz="1000" strike="noStrike" spc="-1" dirty="0"/>
                    </a:p>
                  </a:txBody>
                  <a:tcPr marL="53280" marR="53280"/>
                </a:tc>
                <a:tc>
                  <a:txBody>
                    <a:bodyPr/>
                    <a:lstStyle/>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Expand private cloud vCPU provision by 20% and data storage by 30 % to allow for growing demand. </a:t>
                      </a:r>
                    </a:p>
                    <a:p>
                      <a:pPr marL="179388" marR="0" lvl="0" indent="-17145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Develop processes and criteria for resource allocation</a:t>
                      </a:r>
                    </a:p>
                    <a:p>
                      <a:pPr marL="179388" marR="0" lvl="0" indent="-17145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Liaise with colleagues in Research Department  and </a:t>
                      </a:r>
                      <a:r>
                        <a:rPr lang="en-US" sz="1000" b="0" strike="noStrike" kern="1200" spc="-1" dirty="0" err="1">
                          <a:solidFill>
                            <a:schemeClr val="tx1"/>
                          </a:solidFill>
                          <a:latin typeface="+mn-lt"/>
                          <a:ea typeface="+mn-ea"/>
                          <a:cs typeface="+mn-cs"/>
                        </a:rPr>
                        <a:t>Ankabut</a:t>
                      </a:r>
                      <a:r>
                        <a:rPr lang="en-US" sz="1000" b="0" strike="noStrike" kern="1200" spc="-1" dirty="0">
                          <a:solidFill>
                            <a:schemeClr val="tx1"/>
                          </a:solidFill>
                          <a:latin typeface="+mn-lt"/>
                          <a:ea typeface="+mn-ea"/>
                          <a:cs typeface="+mn-cs"/>
                        </a:rPr>
                        <a:t> to lobby KU Finance to create mechanism to use funds from research projects to purchase IT services from </a:t>
                      </a:r>
                      <a:r>
                        <a:rPr lang="en-US" sz="1000" b="0" strike="noStrike" kern="1200" spc="-1" dirty="0" err="1">
                          <a:solidFill>
                            <a:schemeClr val="tx1"/>
                          </a:solidFill>
                          <a:latin typeface="+mn-lt"/>
                          <a:ea typeface="+mn-ea"/>
                          <a:cs typeface="+mn-cs"/>
                        </a:rPr>
                        <a:t>Ankabut</a:t>
                      </a:r>
                      <a:r>
                        <a:rPr lang="en-US" sz="1000" b="0" strike="noStrike" kern="1200" spc="-1" dirty="0">
                          <a:solidFill>
                            <a:schemeClr val="tx1"/>
                          </a:solidFill>
                          <a:latin typeface="+mn-lt"/>
                          <a:ea typeface="+mn-ea"/>
                          <a:cs typeface="+mn-cs"/>
                        </a:rPr>
                        <a:t>, or to expand existing services.</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Form partnerships with Public Cloud providers to accommodate non-standard computational requirements, e.g. ASIC, FPGAs .., and test beds, and to complement KU offerings. Use OPEX to purchase public cloud services</a:t>
                      </a:r>
                    </a:p>
                  </a:txBody>
                  <a:tcPr/>
                </a:tc>
                <a:tc>
                  <a:txBody>
                    <a:bodyPr/>
                    <a:lstStyle/>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Expand private cloud provision by 20% and data storage by 30% allow for growing demand.</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Evaluate any services utilized on public cloud, to see if services should be provided at KU.</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Continue to work with Public Cloud providers to accommodate non-standard requirements.</a:t>
                      </a:r>
                    </a:p>
                  </a:txBody>
                  <a:tcPr/>
                </a:tc>
                <a:tc>
                  <a:txBody>
                    <a:bodyPr/>
                    <a:lstStyle/>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 Expand private cloud provision by 20% and data storage by 30%.</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Evaluate any services utilized on public cloud, to see if services should be provided at KU.</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Continue to work with Public Cloud providers </a:t>
                      </a:r>
                    </a:p>
                    <a:p>
                      <a:pPr marL="139700" marR="0" lvl="0" indent="-13970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Extend support for private cloud hardware to 2025</a:t>
                      </a:r>
                    </a:p>
                    <a:p>
                      <a:pPr marL="46038" indent="-38100" algn="l" defTabSz="914400" rtl="0" eaLnBrk="1" latinLnBrk="0" hangingPunct="1">
                        <a:lnSpc>
                          <a:spcPts val="2100"/>
                        </a:lnSpc>
                        <a:buFont typeface="Arial" panose="020B0604020202020204" pitchFamily="34" charset="0"/>
                        <a:buChar char="•"/>
                        <a:tabLst/>
                      </a:pPr>
                      <a:endParaRPr lang="en-US" sz="1000" b="0" strike="noStrike" kern="1200" spc="-1" dirty="0">
                        <a:solidFill>
                          <a:schemeClr val="tx1"/>
                        </a:solidFill>
                        <a:latin typeface="+mn-lt"/>
                        <a:ea typeface="+mn-ea"/>
                        <a:cs typeface="+mn-cs"/>
                      </a:endParaRPr>
                    </a:p>
                  </a:txBody>
                  <a:tcPr/>
                </a:tc>
                <a:tc>
                  <a:txBody>
                    <a:bodyPr/>
                    <a:lstStyle/>
                    <a:p>
                      <a:pPr marL="46038" indent="-381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Evaluate available technology.</a:t>
                      </a:r>
                    </a:p>
                    <a:p>
                      <a:pPr marL="46038" indent="-381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 Gather KU requirements.</a:t>
                      </a:r>
                    </a:p>
                    <a:p>
                      <a:pPr marL="139700" indent="-1397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Decide course of action; carry on expanding services or procure new services.</a:t>
                      </a:r>
                    </a:p>
                  </a:txBody>
                  <a:tcPr/>
                </a:tc>
                <a:extLst>
                  <a:ext uri="{0D108BD9-81ED-4DB2-BD59-A6C34878D82A}">
                    <a16:rowId xmlns:a16="http://schemas.microsoft.com/office/drawing/2014/main" val="2197836169"/>
                  </a:ext>
                </a:extLst>
              </a:tr>
              <a:tr h="125107">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CAPEX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3M AED </a:t>
                      </a:r>
                    </a:p>
                  </a:txBody>
                  <a:tcPr marL="53280" marR="53280"/>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700K AED (estimated)</a:t>
                      </a: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700K AED (estimated)</a:t>
                      </a:r>
                    </a:p>
                  </a:txBody>
                  <a:tcPr marL="53280" marR="53280" anchor="ct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700K (estimated)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ysClr val="windowText" lastClr="000000"/>
                          </a:solidFill>
                          <a:latin typeface="+mn-lt"/>
                        </a:rPr>
                        <a:t>TBD</a:t>
                      </a:r>
                    </a:p>
                  </a:txBody>
                  <a:tcPr anchor="ctr">
                    <a:noFill/>
                  </a:tcPr>
                </a:tc>
                <a:extLst>
                  <a:ext uri="{0D108BD9-81ED-4DB2-BD59-A6C34878D82A}">
                    <a16:rowId xmlns:a16="http://schemas.microsoft.com/office/drawing/2014/main" val="4114277690"/>
                  </a:ext>
                </a:extLst>
              </a:tr>
              <a:tr h="0">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OPEX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200K AED (estimated)</a:t>
                      </a: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200K AED (estimated)</a:t>
                      </a:r>
                    </a:p>
                  </a:txBody>
                  <a:tcPr marL="53280" marR="53280" anchor="ct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825K AED (estimated)</a:t>
                      </a:r>
                    </a:p>
                  </a:txBody>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200K AED</a:t>
                      </a:r>
                    </a:p>
                  </a:txBody>
                  <a:tcPr>
                    <a:noFill/>
                  </a:tcPr>
                </a:tc>
                <a:extLst>
                  <a:ext uri="{0D108BD9-81ED-4DB2-BD59-A6C34878D82A}">
                    <a16:rowId xmlns:a16="http://schemas.microsoft.com/office/drawing/2014/main" val="1588018105"/>
                  </a:ext>
                </a:extLst>
              </a:tr>
            </a:tbl>
          </a:graphicData>
        </a:graphic>
      </p:graphicFrame>
    </p:spTree>
    <p:extLst>
      <p:ext uri="{BB962C8B-B14F-4D97-AF65-F5344CB8AC3E}">
        <p14:creationId xmlns:p14="http://schemas.microsoft.com/office/powerpoint/2010/main" val="830781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9380" y="53012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10140" y="687477"/>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360">
              <a:lnSpc>
                <a:spcPct val="100000"/>
              </a:lnSpc>
              <a:spcBef>
                <a:spcPts val="3169"/>
              </a:spcBef>
              <a:buClr>
                <a:srgbClr val="0047BA"/>
              </a:buClr>
              <a:buSzPct val="65000"/>
            </a:pPr>
            <a:r>
              <a:rPr lang="en-US" sz="3200" b="1" spc="-1" dirty="0">
                <a:solidFill>
                  <a:srgbClr val="0047BA"/>
                </a:solidFill>
              </a:rPr>
              <a:t>Data Storage plan 2021 - 2025</a:t>
            </a:r>
          </a:p>
        </p:txBody>
      </p:sp>
      <p:sp>
        <p:nvSpPr>
          <p:cNvPr id="471" name="CustomShape 3"/>
          <p:cNvSpPr/>
          <p:nvPr/>
        </p:nvSpPr>
        <p:spPr>
          <a:xfrm>
            <a:off x="4183500" y="28641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860" y="23132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23</a:t>
            </a:fld>
            <a:endParaRPr lang="en-US" sz="850" b="0" strike="noStrike" spc="-1">
              <a:latin typeface="Arial"/>
            </a:endParaRPr>
          </a:p>
        </p:txBody>
      </p:sp>
      <p:graphicFrame>
        <p:nvGraphicFramePr>
          <p:cNvPr id="7" name="Table 6">
            <a:extLst>
              <a:ext uri="{FF2B5EF4-FFF2-40B4-BE49-F238E27FC236}">
                <a16:creationId xmlns:a16="http://schemas.microsoft.com/office/drawing/2014/main" id="{07CB7E90-81AE-1E48-A8E5-C2C87FF16FD9}"/>
              </a:ext>
            </a:extLst>
          </p:cNvPr>
          <p:cNvGraphicFramePr>
            <a:graphicFrameLocks noGrp="1"/>
          </p:cNvGraphicFramePr>
          <p:nvPr>
            <p:extLst>
              <p:ext uri="{D42A27DB-BD31-4B8C-83A1-F6EECF244321}">
                <p14:modId xmlns:p14="http://schemas.microsoft.com/office/powerpoint/2010/main" val="2505874949"/>
              </p:ext>
            </p:extLst>
          </p:nvPr>
        </p:nvGraphicFramePr>
        <p:xfrm>
          <a:off x="198589" y="1190916"/>
          <a:ext cx="11993409" cy="5182554"/>
        </p:xfrm>
        <a:graphic>
          <a:graphicData uri="http://schemas.openxmlformats.org/drawingml/2006/table">
            <a:tbl>
              <a:tblPr firstRow="1" bandRow="1"/>
              <a:tblGrid>
                <a:gridCol w="1120855">
                  <a:extLst>
                    <a:ext uri="{9D8B030D-6E8A-4147-A177-3AD203B41FA5}">
                      <a16:colId xmlns:a16="http://schemas.microsoft.com/office/drawing/2014/main" val="557725123"/>
                    </a:ext>
                  </a:extLst>
                </a:gridCol>
                <a:gridCol w="2079226">
                  <a:extLst>
                    <a:ext uri="{9D8B030D-6E8A-4147-A177-3AD203B41FA5}">
                      <a16:colId xmlns:a16="http://schemas.microsoft.com/office/drawing/2014/main" val="3687805585"/>
                    </a:ext>
                  </a:extLst>
                </a:gridCol>
                <a:gridCol w="2156457">
                  <a:extLst>
                    <a:ext uri="{9D8B030D-6E8A-4147-A177-3AD203B41FA5}">
                      <a16:colId xmlns:a16="http://schemas.microsoft.com/office/drawing/2014/main" val="329039289"/>
                    </a:ext>
                  </a:extLst>
                </a:gridCol>
                <a:gridCol w="2527568">
                  <a:extLst>
                    <a:ext uri="{9D8B030D-6E8A-4147-A177-3AD203B41FA5}">
                      <a16:colId xmlns:a16="http://schemas.microsoft.com/office/drawing/2014/main" val="481703216"/>
                    </a:ext>
                  </a:extLst>
                </a:gridCol>
                <a:gridCol w="2075731">
                  <a:extLst>
                    <a:ext uri="{9D8B030D-6E8A-4147-A177-3AD203B41FA5}">
                      <a16:colId xmlns:a16="http://schemas.microsoft.com/office/drawing/2014/main" val="607956648"/>
                    </a:ext>
                  </a:extLst>
                </a:gridCol>
                <a:gridCol w="2033572">
                  <a:extLst>
                    <a:ext uri="{9D8B030D-6E8A-4147-A177-3AD203B41FA5}">
                      <a16:colId xmlns:a16="http://schemas.microsoft.com/office/drawing/2014/main" val="2615944219"/>
                    </a:ext>
                  </a:extLst>
                </a:gridCol>
              </a:tblGrid>
              <a:tr h="0">
                <a:tc>
                  <a:txBody>
                    <a:bodyPr/>
                    <a:lstStyle/>
                    <a:p>
                      <a:pPr algn="ctr"/>
                      <a:endParaRPr lang="en-US" sz="1000" b="1" dirty="0">
                        <a:solidFill>
                          <a:srgbClr val="FFFFFF"/>
                        </a:solidFill>
                      </a:endParaRPr>
                    </a:p>
                  </a:txBody>
                  <a:tcPr>
                    <a:noFill/>
                  </a:tcPr>
                </a:tc>
                <a:tc>
                  <a:txBody>
                    <a:bodyPr/>
                    <a:lstStyle/>
                    <a:p>
                      <a:pPr algn="ctr"/>
                      <a:r>
                        <a:rPr lang="en-US" sz="1000" b="1" dirty="0">
                          <a:solidFill>
                            <a:srgbClr val="FFFFFF"/>
                          </a:solidFill>
                        </a:rPr>
                        <a:t>2021</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2022</a:t>
                      </a:r>
                    </a:p>
                  </a:txBody>
                  <a:tcPr>
                    <a:solidFill>
                      <a:srgbClr val="0047BA"/>
                    </a:solidFill>
                  </a:tcPr>
                </a:tc>
                <a:tc>
                  <a:txBody>
                    <a:bodyPr/>
                    <a:lstStyle/>
                    <a:p>
                      <a:pPr algn="ctr"/>
                      <a:r>
                        <a:rPr lang="en-US" sz="1000" b="1" dirty="0">
                          <a:solidFill>
                            <a:srgbClr val="FFFFFF"/>
                          </a:solidFill>
                        </a:rPr>
                        <a:t>2023</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2024</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2025</a:t>
                      </a:r>
                    </a:p>
                  </a:txBody>
                  <a:tcPr>
                    <a:solidFill>
                      <a:srgbClr val="0047BA"/>
                    </a:solidFill>
                  </a:tcPr>
                </a:tc>
                <a:extLst>
                  <a:ext uri="{0D108BD9-81ED-4DB2-BD59-A6C34878D82A}">
                    <a16:rowId xmlns:a16="http://schemas.microsoft.com/office/drawing/2014/main" val="667571679"/>
                  </a:ext>
                </a:extLst>
              </a:tr>
              <a:tr h="1298967">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Storage  provision</a:t>
                      </a:r>
                    </a:p>
                  </a:txBody>
                  <a:tcPr marL="53280" marR="53280" anchor="ctr">
                    <a:solidFill>
                      <a:schemeClr val="tx2"/>
                    </a:solidFill>
                  </a:tcPr>
                </a:tc>
                <a:tc>
                  <a:txBody>
                    <a:bodyPr/>
                    <a:lstStyle/>
                    <a:p>
                      <a:pPr marL="7938" indent="0" algn="l">
                        <a:lnSpc>
                          <a:spcPts val="2100"/>
                        </a:lnSpc>
                        <a:buFont typeface="Arial" panose="020B0604020202020204" pitchFamily="34" charset="0"/>
                        <a:buNone/>
                        <a:tabLst/>
                      </a:pPr>
                      <a:r>
                        <a:rPr lang="en-US" sz="1000" b="1" strike="noStrike" spc="-1" dirty="0"/>
                        <a:t>300 TB  </a:t>
                      </a:r>
                      <a:r>
                        <a:rPr lang="en-US" sz="1000" b="0" strike="noStrike" spc="-1" dirty="0"/>
                        <a:t>HPC</a:t>
                      </a:r>
                      <a:r>
                        <a:rPr lang="en-US" sz="1000" b="1" strike="noStrike" spc="-1" dirty="0"/>
                        <a:t> </a:t>
                      </a:r>
                      <a:r>
                        <a:rPr lang="en-US" sz="1000" strike="noStrike" spc="-1" dirty="0"/>
                        <a:t>/home storage</a:t>
                      </a:r>
                    </a:p>
                    <a:p>
                      <a:pPr marL="7938" indent="0" algn="l">
                        <a:lnSpc>
                          <a:spcPts val="2100"/>
                        </a:lnSpc>
                        <a:buFont typeface="Arial" panose="020B0604020202020204" pitchFamily="34" charset="0"/>
                        <a:buNone/>
                        <a:tabLst/>
                      </a:pPr>
                      <a:r>
                        <a:rPr lang="en-US" sz="1000" b="1" strike="noStrike" spc="-1" dirty="0"/>
                        <a:t>974 TB </a:t>
                      </a:r>
                      <a:r>
                        <a:rPr lang="en-US" sz="1000" b="0" strike="noStrike" spc="-1" dirty="0"/>
                        <a:t>HPC</a:t>
                      </a:r>
                      <a:r>
                        <a:rPr lang="en-US" sz="1000" b="1" strike="noStrike" spc="-1" dirty="0"/>
                        <a:t> </a:t>
                      </a:r>
                      <a:r>
                        <a:rPr lang="en-US" sz="1000" strike="noStrike" spc="-1" dirty="0"/>
                        <a:t>/scratch storage</a:t>
                      </a:r>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t>228 TB  </a:t>
                      </a:r>
                      <a:r>
                        <a:rPr lang="en-US" sz="1000" b="0" strike="noStrike" spc="-1" dirty="0"/>
                        <a:t>of  private cloud storage</a:t>
                      </a:r>
                    </a:p>
                    <a:p>
                      <a:pPr marL="7938" indent="0" algn="l">
                        <a:lnSpc>
                          <a:spcPts val="2100"/>
                        </a:lnSpc>
                        <a:buFont typeface="Arial" panose="020B0604020202020204" pitchFamily="34" charset="0"/>
                        <a:buNone/>
                        <a:tabLst/>
                      </a:pPr>
                      <a:endParaRPr lang="en-US" sz="1000" strike="noStrike" spc="-1" dirty="0"/>
                    </a:p>
                  </a:txBody>
                  <a:tcPr marL="53280" marR="53280"/>
                </a:tc>
                <a:tc>
                  <a:txBody>
                    <a:bodyPr/>
                    <a:lstStyle/>
                    <a:p>
                      <a:pPr marL="7938" indent="0" algn="justLow"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700TB</a:t>
                      </a:r>
                      <a:r>
                        <a:rPr lang="en-US" sz="1000" b="0" strike="noStrike" kern="1200" spc="-1" dirty="0">
                          <a:solidFill>
                            <a:schemeClr val="tx1"/>
                          </a:solidFill>
                          <a:latin typeface="+mn-lt"/>
                          <a:ea typeface="+mn-ea"/>
                          <a:cs typeface="+mn-cs"/>
                        </a:rPr>
                        <a:t> HPC /home storage</a:t>
                      </a:r>
                    </a:p>
                    <a:p>
                      <a:pPr marL="7938" indent="0" algn="justLow"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HPC /scratch storage</a:t>
                      </a:r>
                    </a:p>
                    <a:p>
                      <a:pPr marL="7938" marR="0" lvl="0" indent="0" algn="justLow"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t>400 TB  </a:t>
                      </a:r>
                      <a:r>
                        <a:rPr lang="en-US" sz="1000" b="0" strike="noStrike" spc="-1" dirty="0"/>
                        <a:t>of  private cloud storage</a:t>
                      </a: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900TB</a:t>
                      </a:r>
                      <a:r>
                        <a:rPr lang="en-US" sz="1000" b="0" strike="noStrike" kern="1200" spc="-1" dirty="0">
                          <a:solidFill>
                            <a:schemeClr val="tx1"/>
                          </a:solidFill>
                          <a:latin typeface="+mn-lt"/>
                          <a:ea typeface="+mn-ea"/>
                          <a:cs typeface="+mn-cs"/>
                        </a:rPr>
                        <a:t> HPC /home storage</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HPC /scratch storage</a:t>
                      </a:r>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t>520 TB  </a:t>
                      </a:r>
                      <a:r>
                        <a:rPr lang="en-US" sz="1000" b="0" strike="noStrike" spc="-1" dirty="0"/>
                        <a:t>of  private cloud storage</a:t>
                      </a:r>
                    </a:p>
                    <a:p>
                      <a:pPr marL="7938" indent="0" algn="l" defTabSz="914400" rtl="0" eaLnBrk="1" latinLnBrk="0" hangingPunct="1">
                        <a:lnSpc>
                          <a:spcPts val="2100"/>
                        </a:lnSpc>
                        <a:buFont typeface="Arial" panose="020B0604020202020204" pitchFamily="34" charset="0"/>
                        <a:buNone/>
                        <a:tabLst/>
                      </a:pPr>
                      <a:endParaRPr lang="en-US" sz="1000" b="0" strike="noStrike" kern="1200" spc="-1" dirty="0">
                        <a:solidFill>
                          <a:schemeClr val="tx1"/>
                        </a:solidFill>
                        <a:latin typeface="+mn-lt"/>
                        <a:ea typeface="+mn-ea"/>
                        <a:cs typeface="+mn-cs"/>
                      </a:endParaRP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900TB</a:t>
                      </a:r>
                      <a:r>
                        <a:rPr lang="en-US" sz="1000" b="0" strike="noStrike" kern="1200" spc="-1" dirty="0">
                          <a:solidFill>
                            <a:schemeClr val="tx1"/>
                          </a:solidFill>
                          <a:latin typeface="+mn-lt"/>
                          <a:ea typeface="+mn-ea"/>
                          <a:cs typeface="+mn-cs"/>
                        </a:rPr>
                        <a:t> HPC /home storage</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HPC /scratch storage</a:t>
                      </a:r>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t>680 TB  </a:t>
                      </a:r>
                      <a:r>
                        <a:rPr lang="en-US" sz="1000" b="0" strike="noStrike" spc="-1" dirty="0"/>
                        <a:t>of  private cloud storage</a:t>
                      </a:r>
                    </a:p>
                    <a:p>
                      <a:pPr marL="7938" indent="0" algn="l" defTabSz="914400" rtl="0" eaLnBrk="1" latinLnBrk="0" hangingPunct="1">
                        <a:lnSpc>
                          <a:spcPts val="2100"/>
                        </a:lnSpc>
                        <a:buFont typeface="Arial" panose="020B0604020202020204" pitchFamily="34" charset="0"/>
                        <a:buNone/>
                        <a:tabLst/>
                      </a:pPr>
                      <a:endParaRPr lang="en-US" sz="1000" b="0" strike="noStrike" kern="1200" spc="-1" dirty="0">
                        <a:solidFill>
                          <a:schemeClr val="tx1"/>
                        </a:solidFill>
                        <a:latin typeface="+mn-lt"/>
                        <a:ea typeface="+mn-ea"/>
                        <a:cs typeface="+mn-cs"/>
                      </a:endParaRP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900TB</a:t>
                      </a:r>
                      <a:r>
                        <a:rPr lang="en-US" sz="1000" b="0" strike="noStrike" kern="1200" spc="-1" dirty="0">
                          <a:solidFill>
                            <a:schemeClr val="tx1"/>
                          </a:solidFill>
                          <a:latin typeface="+mn-lt"/>
                          <a:ea typeface="+mn-ea"/>
                          <a:cs typeface="+mn-cs"/>
                        </a:rPr>
                        <a:t> HPC /home storage</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HPC /scratch storage</a:t>
                      </a:r>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t>884 TB  </a:t>
                      </a:r>
                      <a:r>
                        <a:rPr lang="en-US" sz="1000" b="0" strike="noStrike" spc="-1" dirty="0"/>
                        <a:t>of  private cloud storage</a:t>
                      </a:r>
                    </a:p>
                    <a:p>
                      <a:pPr marL="7938" indent="0" algn="l" defTabSz="914400" rtl="0" eaLnBrk="1" latinLnBrk="0" hangingPunct="1">
                        <a:lnSpc>
                          <a:spcPts val="2100"/>
                        </a:lnSpc>
                        <a:buFont typeface="Arial" panose="020B0604020202020204" pitchFamily="34" charset="0"/>
                        <a:buNone/>
                        <a:tabLst/>
                      </a:pPr>
                      <a:endParaRPr lang="en-US" sz="1000" b="0" strike="noStrike" kern="1200" spc="-1" dirty="0">
                        <a:solidFill>
                          <a:schemeClr val="tx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000" b="0" strike="noStrike" spc="-1" dirty="0">
                        <a:solidFill>
                          <a:sysClr val="windowText" lastClr="000000"/>
                        </a:solidFill>
                        <a:latin typeface="+mn-lt"/>
                      </a:endParaRPr>
                    </a:p>
                  </a:txBody>
                  <a:tcPr/>
                </a:tc>
                <a:extLst>
                  <a:ext uri="{0D108BD9-81ED-4DB2-BD59-A6C34878D82A}">
                    <a16:rowId xmlns:a16="http://schemas.microsoft.com/office/drawing/2014/main" val="1269556809"/>
                  </a:ext>
                </a:extLst>
              </a:tr>
              <a:tr h="2069670">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Action</a:t>
                      </a:r>
                    </a:p>
                  </a:txBody>
                  <a:tcPr marL="53280" marR="53280" anchor="ctr">
                    <a:solidFill>
                      <a:schemeClr val="tx2"/>
                    </a:solidFill>
                  </a:tcPr>
                </a:tc>
                <a:tc>
                  <a:txBody>
                    <a:bodyPr/>
                    <a:lstStyle/>
                    <a:p>
                      <a:pPr marL="7938" indent="0" algn="l">
                        <a:lnSpc>
                          <a:spcPts val="2100"/>
                        </a:lnSpc>
                        <a:buFont typeface="Arial" panose="020B0604020202020204" pitchFamily="34" charset="0"/>
                        <a:buNone/>
                        <a:tabLst/>
                      </a:pPr>
                      <a:r>
                        <a:rPr lang="en-US" sz="1000" strike="noStrike" spc="-1" dirty="0"/>
                        <a:t>Migration of data at Masdar and SAN campuses to KU Campus resources</a:t>
                      </a:r>
                    </a:p>
                  </a:txBody>
                  <a:tcPr marL="53280" marR="53280"/>
                </a:tc>
                <a:tc>
                  <a:txBody>
                    <a:bodyPr/>
                    <a:lstStyle/>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Form working group to develop comprehensive Data Management Policies for KU</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Liaise with colleagues in Research Department  and </a:t>
                      </a:r>
                      <a:r>
                        <a:rPr lang="en-US" sz="1000" b="0" strike="noStrike" kern="1200" spc="-1" dirty="0" err="1">
                          <a:solidFill>
                            <a:schemeClr val="tx1"/>
                          </a:solidFill>
                          <a:latin typeface="+mn-lt"/>
                          <a:ea typeface="+mn-ea"/>
                          <a:cs typeface="+mn-cs"/>
                        </a:rPr>
                        <a:t>Ankabut</a:t>
                      </a:r>
                      <a:r>
                        <a:rPr lang="en-US" sz="1000" b="0" strike="noStrike" kern="1200" spc="-1" dirty="0">
                          <a:solidFill>
                            <a:schemeClr val="tx1"/>
                          </a:solidFill>
                          <a:latin typeface="+mn-lt"/>
                          <a:ea typeface="+mn-ea"/>
                          <a:cs typeface="+mn-cs"/>
                        </a:rPr>
                        <a:t> to lobby KU Finance to create mechanism to use funds from research projects to purchase IT services from </a:t>
                      </a:r>
                      <a:r>
                        <a:rPr lang="en-US" sz="1000" b="0" strike="noStrike" kern="1200" spc="-1" dirty="0" err="1">
                          <a:solidFill>
                            <a:schemeClr val="tx1"/>
                          </a:solidFill>
                          <a:latin typeface="+mn-lt"/>
                          <a:ea typeface="+mn-ea"/>
                          <a:cs typeface="+mn-cs"/>
                        </a:rPr>
                        <a:t>Ankabut</a:t>
                      </a:r>
                      <a:r>
                        <a:rPr lang="en-US" sz="1000" b="0" strike="noStrike" kern="1200" spc="-1" dirty="0">
                          <a:solidFill>
                            <a:schemeClr val="tx1"/>
                          </a:solidFill>
                          <a:latin typeface="+mn-lt"/>
                          <a:ea typeface="+mn-ea"/>
                          <a:cs typeface="+mn-cs"/>
                        </a:rPr>
                        <a:t>, or to expand existing services.</a:t>
                      </a:r>
                    </a:p>
                  </a:txBody>
                  <a:tcPr/>
                </a:tc>
                <a:tc>
                  <a:txBody>
                    <a:bodyPr/>
                    <a:lstStyle/>
                    <a:p>
                      <a:pPr marL="171450" marR="0" lvl="0" indent="-17145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With Data Management Policies in place, gather requirements for new storage services.</a:t>
                      </a:r>
                    </a:p>
                    <a:p>
                      <a:pPr marL="171450" marR="0" lvl="0" indent="-17145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Design new storage services and request budget.</a:t>
                      </a:r>
                      <a:endParaRPr lang="en-US" sz="1000" b="1" strike="noStrike" kern="1200" spc="-1" dirty="0">
                        <a:solidFill>
                          <a:schemeClr val="tx1"/>
                        </a:solidFill>
                        <a:latin typeface="+mn-lt"/>
                        <a:ea typeface="+mn-ea"/>
                        <a:cs typeface="+mn-cs"/>
                      </a:endParaRPr>
                    </a:p>
                  </a:txBody>
                  <a:tcPr/>
                </a:tc>
                <a:tc>
                  <a:txBody>
                    <a:bodyPr/>
                    <a:lstStyle/>
                    <a:p>
                      <a:pPr marL="46038" indent="-381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 Liaise with </a:t>
                      </a:r>
                      <a:r>
                        <a:rPr lang="en-US" sz="1000" b="0" strike="noStrike" kern="1200" spc="-1" dirty="0" err="1">
                          <a:solidFill>
                            <a:schemeClr val="tx1"/>
                          </a:solidFill>
                          <a:latin typeface="+mn-lt"/>
                          <a:ea typeface="+mn-ea"/>
                          <a:cs typeface="+mn-cs"/>
                        </a:rPr>
                        <a:t>Ankabut</a:t>
                      </a:r>
                      <a:r>
                        <a:rPr lang="en-US" sz="1000" b="0" strike="noStrike" kern="1200" spc="-1" dirty="0">
                          <a:solidFill>
                            <a:schemeClr val="tx1"/>
                          </a:solidFill>
                          <a:latin typeface="+mn-lt"/>
                          <a:ea typeface="+mn-ea"/>
                          <a:cs typeface="+mn-cs"/>
                        </a:rPr>
                        <a:t> to procure and install new storage services.</a:t>
                      </a:r>
                    </a:p>
                    <a:p>
                      <a:pPr marL="46038" indent="-38100" algn="l" defTabSz="914400" rtl="0" eaLnBrk="1" latinLnBrk="0" hangingPunct="1">
                        <a:lnSpc>
                          <a:spcPts val="2100"/>
                        </a:lnSpc>
                        <a:buFont typeface="Arial" panose="020B0604020202020204" pitchFamily="34" charset="0"/>
                        <a:buChar char="•"/>
                        <a:tabLst/>
                      </a:pPr>
                      <a:endParaRPr lang="en-US" sz="1000" b="0" strike="noStrike" kern="1200" spc="-1" dirty="0">
                        <a:solidFill>
                          <a:schemeClr val="tx1"/>
                        </a:solidFill>
                        <a:latin typeface="+mn-lt"/>
                        <a:ea typeface="+mn-ea"/>
                        <a:cs typeface="+mn-cs"/>
                      </a:endParaRPr>
                    </a:p>
                  </a:txBody>
                  <a:tcPr/>
                </a:tc>
                <a:tc>
                  <a:txBody>
                    <a:bodyPr/>
                    <a:lstStyle/>
                    <a:p>
                      <a:pPr marL="46038" indent="-381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Evaluate service and gather data.</a:t>
                      </a:r>
                    </a:p>
                  </a:txBody>
                  <a:tcPr/>
                </a:tc>
                <a:extLst>
                  <a:ext uri="{0D108BD9-81ED-4DB2-BD59-A6C34878D82A}">
                    <a16:rowId xmlns:a16="http://schemas.microsoft.com/office/drawing/2014/main" val="2197836169"/>
                  </a:ext>
                </a:extLst>
              </a:tr>
              <a:tr h="125107">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CAPEX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endParaRPr lang="en-US" sz="1000" b="0" strike="noStrike" kern="1200" spc="-1" dirty="0">
                        <a:solidFill>
                          <a:schemeClr val="tx1"/>
                        </a:solidFill>
                        <a:latin typeface="+mn-lt"/>
                        <a:ea typeface="+mn-ea"/>
                        <a:cs typeface="+mn-cs"/>
                      </a:endParaRPr>
                    </a:p>
                  </a:txBody>
                  <a:tcPr marL="53280" marR="53280"/>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nchor="ct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TBD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strike="noStrike" spc="-1" dirty="0">
                        <a:solidFill>
                          <a:sysClr val="windowText" lastClr="000000"/>
                        </a:solidFill>
                        <a:latin typeface="+mn-lt"/>
                      </a:endParaRPr>
                    </a:p>
                  </a:txBody>
                  <a:tcPr anchor="ctr">
                    <a:noFill/>
                  </a:tcPr>
                </a:tc>
                <a:extLst>
                  <a:ext uri="{0D108BD9-81ED-4DB2-BD59-A6C34878D82A}">
                    <a16:rowId xmlns:a16="http://schemas.microsoft.com/office/drawing/2014/main" val="4114277690"/>
                  </a:ext>
                </a:extLst>
              </a:tr>
              <a:tr h="220165">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OPEX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nchor="ct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TBD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a:noFill/>
                  </a:tcPr>
                </a:tc>
                <a:extLst>
                  <a:ext uri="{0D108BD9-81ED-4DB2-BD59-A6C34878D82A}">
                    <a16:rowId xmlns:a16="http://schemas.microsoft.com/office/drawing/2014/main" val="1588018105"/>
                  </a:ext>
                </a:extLst>
              </a:tr>
            </a:tbl>
          </a:graphicData>
        </a:graphic>
      </p:graphicFrame>
    </p:spTree>
    <p:extLst>
      <p:ext uri="{BB962C8B-B14F-4D97-AF65-F5344CB8AC3E}">
        <p14:creationId xmlns:p14="http://schemas.microsoft.com/office/powerpoint/2010/main" val="34196348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KU Theme</Template>
  <TotalTime>33587</TotalTime>
  <Words>3211</Words>
  <Application>Microsoft Macintosh PowerPoint</Application>
  <PresentationFormat>Widescreen</PresentationFormat>
  <Paragraphs>513</Paragraphs>
  <Slides>23</Slides>
  <Notes>22</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23</vt:i4>
      </vt:variant>
    </vt:vector>
  </HeadingPairs>
  <TitlesOfParts>
    <vt:vector size="31" baseType="lpstr">
      <vt:lpstr>Arial</vt:lpstr>
      <vt:lpstr>Calibri</vt:lpstr>
      <vt:lpstr>Symbol</vt:lpstr>
      <vt:lpstr>Times New Roman</vt:lpstr>
      <vt:lpstr>Wingdings</vt:lpstr>
      <vt:lpstr>Office Theme</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Title Goes Here</dc:title>
  <dc:subject/>
  <dc:creator>Majed Almansoori</dc:creator>
  <dc:description/>
  <cp:lastModifiedBy>Dureid El Moghraby</cp:lastModifiedBy>
  <cp:revision>164</cp:revision>
  <cp:lastPrinted>2021-07-28T06:24:30Z</cp:lastPrinted>
  <dcterms:created xsi:type="dcterms:W3CDTF">2018-04-29T10:48:36Z</dcterms:created>
  <dcterms:modified xsi:type="dcterms:W3CDTF">2022-08-25T04:21:00Z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16.0012</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12</vt:i4>
  </property>
</Properties>
</file>