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1" r:id="rId2"/>
    <p:sldId id="261" r:id="rId3"/>
    <p:sldId id="293" r:id="rId4"/>
    <p:sldId id="294" r:id="rId5"/>
    <p:sldId id="291" r:id="rId6"/>
    <p:sldId id="296" r:id="rId7"/>
    <p:sldId id="297" r:id="rId8"/>
    <p:sldId id="298" r:id="rId9"/>
    <p:sldId id="299" r:id="rId10"/>
    <p:sldId id="300" r:id="rId11"/>
    <p:sldId id="301" r:id="rId12"/>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47BA"/>
    <a:srgbClr val="FF014A"/>
    <a:srgbClr val="FFFFFF"/>
    <a:srgbClr val="D0CF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E8B1032C-EA38-4F05-BA0D-38AFFFC7BED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869" autoAdjust="0"/>
    <p:restoredTop sz="86384" autoAdjust="0"/>
  </p:normalViewPr>
  <p:slideViewPr>
    <p:cSldViewPr snapToGrid="0" showGuides="1">
      <p:cViewPr varScale="1">
        <p:scale>
          <a:sx n="127" d="100"/>
          <a:sy n="127" d="100"/>
        </p:scale>
        <p:origin x="656" y="192"/>
      </p:cViewPr>
      <p:guideLst>
        <p:guide orient="horz" pos="2160"/>
        <p:guide pos="312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B66FD6-D2A9-4F00-B491-A99A8AA44ED0}" type="datetimeFigureOut">
              <a:rPr lang="en-US" smtClean="0"/>
              <a:t>1/23/20</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5F57D8-2956-440C-8FE5-2823967F9ED1}" type="slidenum">
              <a:rPr lang="en-US" smtClean="0"/>
              <a:t>‹#›</a:t>
            </a:fld>
            <a:endParaRPr lang="en-US"/>
          </a:p>
        </p:txBody>
      </p:sp>
    </p:spTree>
    <p:extLst>
      <p:ext uri="{BB962C8B-B14F-4D97-AF65-F5344CB8AC3E}">
        <p14:creationId xmlns:p14="http://schemas.microsoft.com/office/powerpoint/2010/main" val="381662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0150" y="1143000"/>
            <a:ext cx="44577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D5F57D8-2956-440C-8FE5-2823967F9ED1}" type="slidenum">
              <a:rPr lang="en-US" smtClean="0"/>
              <a:t>1</a:t>
            </a:fld>
            <a:endParaRPr lang="en-US"/>
          </a:p>
        </p:txBody>
      </p:sp>
    </p:spTree>
    <p:extLst>
      <p:ext uri="{BB962C8B-B14F-4D97-AF65-F5344CB8AC3E}">
        <p14:creationId xmlns:p14="http://schemas.microsoft.com/office/powerpoint/2010/main" val="9037293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47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rgbClr val="FFFFFF"/>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rgbClr val="FFFFFF"/>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3918" y="654528"/>
            <a:ext cx="2876309" cy="774496"/>
          </a:xfrm>
          <a:prstGeom prst="rect">
            <a:avLst/>
          </a:prstGeom>
        </p:spPr>
      </p:pic>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rgbClr val="FFFFFF"/>
                </a:solidFill>
              </a:defRPr>
            </a:lvl1pPr>
            <a:lvl2pPr algn="ctr">
              <a:defRPr/>
            </a:lvl2pPr>
            <a:lvl3pPr algn="ctr">
              <a:defRPr/>
            </a:lvl3pPr>
            <a:lvl4pPr algn="ctr">
              <a:defRPr/>
            </a:lvl4pPr>
            <a:lvl5pPr algn="ctr">
              <a:defRPr/>
            </a:lvl5pPr>
          </a:lstStyle>
          <a:p>
            <a:pPr lvl="0"/>
            <a:r>
              <a:rPr lang="en-US"/>
              <a:t>Click to 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1437342"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66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Nega">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chemeClr val="bg2"/>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chemeClr val="bg2"/>
                </a:solidFill>
              </a:defRPr>
            </a:lvl1pPr>
            <a:lvl2pPr algn="ctr">
              <a:defRPr/>
            </a:lvl2pPr>
            <a:lvl3pPr algn="ctr">
              <a:defRPr/>
            </a:lvl3pPr>
            <a:lvl4pPr algn="ctr">
              <a:defRPr/>
            </a:lvl4pPr>
            <a:lvl5pPr algn="ctr">
              <a:defRPr/>
            </a:lvl5pPr>
          </a:lstStyle>
          <a:p>
            <a:pPr lvl="0"/>
            <a:r>
              <a:rPr lang="en-US"/>
              <a:t>Click to edit Master text styles</a:t>
            </a:r>
          </a:p>
        </p:txBody>
      </p:sp>
      <p:cxnSp>
        <p:nvCxnSpPr>
          <p:cNvPr id="14" name="Straight Connector 13">
            <a:extLst>
              <a:ext uri="{FF2B5EF4-FFF2-40B4-BE49-F238E27FC236}">
                <a16:creationId xmlns:a16="http://schemas.microsoft.com/office/drawing/2014/main" id="{BB5B0621-5201-4B3C-B3F3-03D9DDA06A71}"/>
              </a:ext>
            </a:extLst>
          </p:cNvPr>
          <p:cNvCxnSpPr/>
          <p:nvPr userDrawn="1"/>
        </p:nvCxnSpPr>
        <p:spPr>
          <a:xfrm>
            <a:off x="4210050"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7211BEC-8A05-5048-8010-DA55CE4672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53919" y="654528"/>
            <a:ext cx="2876309" cy="774496"/>
          </a:xfrm>
          <a:prstGeom prst="rect">
            <a:avLst/>
          </a:prstGeom>
        </p:spPr>
      </p:pic>
    </p:spTree>
    <p:extLst>
      <p:ext uri="{BB962C8B-B14F-4D97-AF65-F5344CB8AC3E}">
        <p14:creationId xmlns:p14="http://schemas.microsoft.com/office/powerpoint/2010/main" val="3684787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hoto">
    <p:bg>
      <p:bgPr>
        <a:solidFill>
          <a:srgbClr val="0047BA"/>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B21E90-80D8-4070-8157-51F5D9E9B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sp>
        <p:nvSpPr>
          <p:cNvPr id="2" name="Title 1">
            <a:extLst>
              <a:ext uri="{FF2B5EF4-FFF2-40B4-BE49-F238E27FC236}">
                <a16:creationId xmlns:a16="http://schemas.microsoft.com/office/drawing/2014/main" id="{796ED11D-86B6-41D9-804F-B21E465E6E73}"/>
              </a:ext>
            </a:extLst>
          </p:cNvPr>
          <p:cNvSpPr>
            <a:spLocks noGrp="1"/>
          </p:cNvSpPr>
          <p:nvPr>
            <p:ph type="ctrTitle"/>
          </p:nvPr>
        </p:nvSpPr>
        <p:spPr>
          <a:xfrm>
            <a:off x="1238250" y="2676525"/>
            <a:ext cx="7429500" cy="1714500"/>
          </a:xfrm>
        </p:spPr>
        <p:txBody>
          <a:bodyPr anchor="b"/>
          <a:lstStyle>
            <a:lvl1pPr algn="ctr">
              <a:defRPr sz="4875" spc="0" baseline="0">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FB4DCADE-2A34-4B9D-9987-0330895D737E}"/>
              </a:ext>
            </a:extLst>
          </p:cNvPr>
          <p:cNvSpPr>
            <a:spLocks noGrp="1"/>
          </p:cNvSpPr>
          <p:nvPr>
            <p:ph type="subTitle" idx="1"/>
          </p:nvPr>
        </p:nvSpPr>
        <p:spPr>
          <a:xfrm>
            <a:off x="1238250" y="4429126"/>
            <a:ext cx="7429500" cy="1247775"/>
          </a:xfrm>
        </p:spPr>
        <p:txBody>
          <a:bodyPr>
            <a:normAutofit/>
          </a:bodyPr>
          <a:lstStyle>
            <a:lvl1pPr marL="0" indent="0" algn="ctr">
              <a:lnSpc>
                <a:spcPct val="80000"/>
              </a:lnSpc>
              <a:spcBef>
                <a:spcPts val="0"/>
              </a:spcBef>
              <a:buNone/>
              <a:defRPr sz="3088">
                <a:solidFill>
                  <a:srgbClr val="FFFFFF"/>
                </a:solidFill>
              </a:defRPr>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en-US"/>
              <a:t>Click to edit Master subtitle style</a:t>
            </a:r>
          </a:p>
        </p:txBody>
      </p:sp>
      <p:sp>
        <p:nvSpPr>
          <p:cNvPr id="12" name="Text Placeholder 11">
            <a:extLst>
              <a:ext uri="{FF2B5EF4-FFF2-40B4-BE49-F238E27FC236}">
                <a16:creationId xmlns:a16="http://schemas.microsoft.com/office/drawing/2014/main" id="{45D87C84-1993-43C1-A570-C771C220FB5D}"/>
              </a:ext>
            </a:extLst>
          </p:cNvPr>
          <p:cNvSpPr>
            <a:spLocks noGrp="1"/>
          </p:cNvSpPr>
          <p:nvPr>
            <p:ph type="body" sz="quarter" idx="10"/>
          </p:nvPr>
        </p:nvSpPr>
        <p:spPr>
          <a:xfrm>
            <a:off x="3018235" y="6162675"/>
            <a:ext cx="3877270" cy="314325"/>
          </a:xfrm>
        </p:spPr>
        <p:txBody>
          <a:bodyPr>
            <a:normAutofit/>
          </a:bodyPr>
          <a:lstStyle>
            <a:lvl1pPr marL="0" indent="0" algn="ctr">
              <a:buNone/>
              <a:defRPr sz="1097" cap="all" baseline="0">
                <a:solidFill>
                  <a:srgbClr val="FFFFFF"/>
                </a:solidFill>
              </a:defRPr>
            </a:lvl1pPr>
            <a:lvl2pPr algn="ctr">
              <a:defRPr/>
            </a:lvl2pPr>
            <a:lvl3pPr algn="ctr">
              <a:defRPr/>
            </a:lvl3pPr>
            <a:lvl4pPr algn="ctr">
              <a:defRPr/>
            </a:lvl4pPr>
            <a:lvl5pPr algn="ctr">
              <a:defRPr/>
            </a:lvl5pPr>
          </a:lstStyle>
          <a:p>
            <a:pPr lvl="0"/>
            <a:r>
              <a:rPr lang="en-US"/>
              <a:t>Click to edit Master text styles</a:t>
            </a:r>
          </a:p>
        </p:txBody>
      </p:sp>
      <p:pic>
        <p:nvPicPr>
          <p:cNvPr id="8" name="Picture 7">
            <a:extLst>
              <a:ext uri="{FF2B5EF4-FFF2-40B4-BE49-F238E27FC236}">
                <a16:creationId xmlns:a16="http://schemas.microsoft.com/office/drawing/2014/main" id="{E14C8DC6-096E-714D-AF28-58697258972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53918" y="654528"/>
            <a:ext cx="2876309" cy="774496"/>
          </a:xfrm>
          <a:prstGeom prst="rect">
            <a:avLst/>
          </a:prstGeom>
        </p:spPr>
      </p:pic>
      <p:cxnSp>
        <p:nvCxnSpPr>
          <p:cNvPr id="9" name="Straight Connector 8">
            <a:extLst>
              <a:ext uri="{FF2B5EF4-FFF2-40B4-BE49-F238E27FC236}">
                <a16:creationId xmlns:a16="http://schemas.microsoft.com/office/drawing/2014/main" id="{41EF1488-91C4-7449-841C-78AF4CE5EB83}"/>
              </a:ext>
            </a:extLst>
          </p:cNvPr>
          <p:cNvCxnSpPr/>
          <p:nvPr userDrawn="1"/>
        </p:nvCxnSpPr>
        <p:spPr>
          <a:xfrm>
            <a:off x="1437342" y="2752725"/>
            <a:ext cx="1470422"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840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760974" y="542926"/>
            <a:ext cx="8463393" cy="815095"/>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760974" y="1502876"/>
            <a:ext cx="8520709" cy="481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a:solidFill>
                  <a:srgbClr val="000000"/>
                </a:solidFill>
              </a:defRPr>
            </a:lvl1pPr>
          </a:lstStyle>
          <a:p>
            <a:r>
              <a:rPr lang="en-US" dirty="0"/>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2791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ortrai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CB3A0E-D963-4BA4-863C-413B32E51AE7}"/>
              </a:ext>
            </a:extLst>
          </p:cNvPr>
          <p:cNvSpPr>
            <a:spLocks noGrp="1"/>
          </p:cNvSpPr>
          <p:nvPr>
            <p:ph idx="1" hasCustomPrompt="1"/>
          </p:nvPr>
        </p:nvSpPr>
        <p:spPr>
          <a:xfrm>
            <a:off x="5007174" y="669956"/>
            <a:ext cx="4217788" cy="5644689"/>
          </a:xfrm>
        </p:spPr>
        <p:txBody>
          <a:bodyPr/>
          <a:lstStyle>
            <a:lvl1pPr>
              <a:defRPr b="0"/>
            </a:lvl1pPr>
          </a:lstStyle>
          <a:p>
            <a:pPr lvl="0"/>
            <a:r>
              <a:rPr lang="en-US" dirty="0"/>
              <a:t>Heading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a:solidFill>
                  <a:srgbClr val="000000"/>
                </a:solidFill>
              </a:defRPr>
            </a:lvl1p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sp>
        <p:nvSpPr>
          <p:cNvPr id="11" name="Title 10">
            <a:extLst>
              <a:ext uri="{FF2B5EF4-FFF2-40B4-BE49-F238E27FC236}">
                <a16:creationId xmlns:a16="http://schemas.microsoft.com/office/drawing/2014/main" id="{1C1F0F3F-166A-422E-B49B-E35296BCC605}"/>
              </a:ext>
            </a:extLst>
          </p:cNvPr>
          <p:cNvSpPr>
            <a:spLocks noGrp="1"/>
          </p:cNvSpPr>
          <p:nvPr>
            <p:ph type="title"/>
          </p:nvPr>
        </p:nvSpPr>
        <p:spPr>
          <a:xfrm>
            <a:off x="1106686" y="669956"/>
            <a:ext cx="3590925" cy="5644689"/>
          </a:xfrm>
        </p:spPr>
        <p:txBody>
          <a:bodyPr anchor="t" anchorCtr="0"/>
          <a:lstStyle/>
          <a:p>
            <a:r>
              <a:rPr lang="en-US"/>
              <a:t>Click to edit Master title style</a:t>
            </a:r>
            <a:endParaRPr lang="en-US" dirty="0"/>
          </a:p>
        </p:txBody>
      </p:sp>
      <p:cxnSp>
        <p:nvCxnSpPr>
          <p:cNvPr id="13" name="Straight Connector 12">
            <a:extLst>
              <a:ext uri="{FF2B5EF4-FFF2-40B4-BE49-F238E27FC236}">
                <a16:creationId xmlns:a16="http://schemas.microsoft.com/office/drawing/2014/main" id="{1385506D-9F69-4855-B473-3BFDAF44ED69}"/>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095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105650" y="1868400"/>
            <a:ext cx="3802500" cy="444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417344" y="1868400"/>
            <a:ext cx="3802500" cy="444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Box 7">
            <a:extLst>
              <a:ext uri="{FF2B5EF4-FFF2-40B4-BE49-F238E27FC236}">
                <a16:creationId xmlns:a16="http://schemas.microsoft.com/office/drawing/2014/main" id="{AA8462DF-95A9-4839-9F28-1A83BCE28186}"/>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9" name="Picture 8">
            <a:extLst>
              <a:ext uri="{FF2B5EF4-FFF2-40B4-BE49-F238E27FC236}">
                <a16:creationId xmlns:a16="http://schemas.microsoft.com/office/drawing/2014/main" id="{DEDB1926-9526-4026-8069-F153FB78BD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0" name="Straight Connector 9">
            <a:extLst>
              <a:ext uri="{FF2B5EF4-FFF2-40B4-BE49-F238E27FC236}">
                <a16:creationId xmlns:a16="http://schemas.microsoft.com/office/drawing/2014/main" id="{5B93EDA0-B8B5-41ED-80CE-BFDA6DF8FC4B}"/>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45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8BB98-3A1E-4BA6-A18A-C711FCA9CA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F5B3EF-8293-4FA5-B31C-91F5BA7D4E00}"/>
              </a:ext>
            </a:extLst>
          </p:cNvPr>
          <p:cNvSpPr>
            <a:spLocks noGrp="1"/>
          </p:cNvSpPr>
          <p:nvPr>
            <p:ph sz="half" idx="1"/>
          </p:nvPr>
        </p:nvSpPr>
        <p:spPr>
          <a:xfrm>
            <a:off x="1105650" y="2352675"/>
            <a:ext cx="3802500" cy="3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F6ED27-71A5-4DAD-A199-5EA0A05E7D6B}"/>
              </a:ext>
            </a:extLst>
          </p:cNvPr>
          <p:cNvSpPr>
            <a:spLocks noGrp="1"/>
          </p:cNvSpPr>
          <p:nvPr>
            <p:ph sz="half" idx="2"/>
          </p:nvPr>
        </p:nvSpPr>
        <p:spPr>
          <a:xfrm>
            <a:off x="5417344" y="2352675"/>
            <a:ext cx="3802500" cy="39653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6C24C3-5F25-4ACD-A2D4-0198F4B9FF53}"/>
              </a:ext>
            </a:extLst>
          </p:cNvPr>
          <p:cNvSpPr>
            <a:spLocks noGrp="1"/>
          </p:cNvSpPr>
          <p:nvPr>
            <p:ph type="dt" sz="half" idx="10"/>
          </p:nvPr>
        </p:nvSpPr>
        <p:spPr/>
        <p:txBody>
          <a:bodyPr/>
          <a:lstStyle/>
          <a:p>
            <a:r>
              <a:rPr lang="en-US"/>
              <a:t>DD Month 20XX</a:t>
            </a:r>
          </a:p>
        </p:txBody>
      </p:sp>
      <p:sp>
        <p:nvSpPr>
          <p:cNvPr id="6" name="Footer Placeholder 5">
            <a:extLst>
              <a:ext uri="{FF2B5EF4-FFF2-40B4-BE49-F238E27FC236}">
                <a16:creationId xmlns:a16="http://schemas.microsoft.com/office/drawing/2014/main" id="{EC61D6D0-37D4-42A5-B774-5A583D8407F5}"/>
              </a:ext>
            </a:extLst>
          </p:cNvPr>
          <p:cNvSpPr>
            <a:spLocks noGrp="1"/>
          </p:cNvSpPr>
          <p:nvPr>
            <p:ph type="ftr" sz="quarter" idx="11"/>
          </p:nvPr>
        </p:nvSpPr>
        <p:spPr/>
        <p:txBody>
          <a:bodyPr/>
          <a:lstStyle/>
          <a:p>
            <a:r>
              <a:rPr lang="en-US"/>
              <a:t>Presentation Title Goes Here</a:t>
            </a:r>
          </a:p>
        </p:txBody>
      </p:sp>
      <p:sp>
        <p:nvSpPr>
          <p:cNvPr id="7" name="Slide Number Placeholder 6">
            <a:extLst>
              <a:ext uri="{FF2B5EF4-FFF2-40B4-BE49-F238E27FC236}">
                <a16:creationId xmlns:a16="http://schemas.microsoft.com/office/drawing/2014/main" id="{C4B79724-736B-42D4-9FC2-BBF87F438A01}"/>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8" name="Text Placeholder 2">
            <a:extLst>
              <a:ext uri="{FF2B5EF4-FFF2-40B4-BE49-F238E27FC236}">
                <a16:creationId xmlns:a16="http://schemas.microsoft.com/office/drawing/2014/main" id="{E4673FD0-9E13-4C1A-B859-688309735A0D}"/>
              </a:ext>
            </a:extLst>
          </p:cNvPr>
          <p:cNvSpPr>
            <a:spLocks noGrp="1"/>
          </p:cNvSpPr>
          <p:nvPr>
            <p:ph type="body" idx="13"/>
          </p:nvPr>
        </p:nvSpPr>
        <p:spPr>
          <a:xfrm>
            <a:off x="1105650" y="1868400"/>
            <a:ext cx="3802500" cy="379501"/>
          </a:xfrm>
        </p:spPr>
        <p:txBody>
          <a:bodyPr anchor="b">
            <a:normAutofit/>
          </a:bodyPr>
          <a:lstStyle>
            <a:lvl1pPr marL="0" indent="0">
              <a:buNone/>
              <a:defRPr sz="1625"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9" name="Text Placeholder 4">
            <a:extLst>
              <a:ext uri="{FF2B5EF4-FFF2-40B4-BE49-F238E27FC236}">
                <a16:creationId xmlns:a16="http://schemas.microsoft.com/office/drawing/2014/main" id="{E81F1501-AF73-4AAC-9FF0-0767311D3E75}"/>
              </a:ext>
            </a:extLst>
          </p:cNvPr>
          <p:cNvSpPr>
            <a:spLocks noGrp="1"/>
          </p:cNvSpPr>
          <p:nvPr>
            <p:ph type="body" sz="quarter" idx="3"/>
          </p:nvPr>
        </p:nvSpPr>
        <p:spPr>
          <a:xfrm>
            <a:off x="5417344" y="1868400"/>
            <a:ext cx="3808909" cy="379501"/>
          </a:xfrm>
        </p:spPr>
        <p:txBody>
          <a:bodyPr anchor="b">
            <a:normAutofit/>
          </a:bodyPr>
          <a:lstStyle>
            <a:lvl1pPr marL="0" indent="0">
              <a:buNone/>
              <a:defRPr sz="1625"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en-US"/>
              <a:t>Click to edit Master text styles</a:t>
            </a:r>
          </a:p>
        </p:txBody>
      </p:sp>
      <p:sp>
        <p:nvSpPr>
          <p:cNvPr id="10" name="TextBox 9">
            <a:extLst>
              <a:ext uri="{FF2B5EF4-FFF2-40B4-BE49-F238E27FC236}">
                <a16:creationId xmlns:a16="http://schemas.microsoft.com/office/drawing/2014/main" id="{7ADE178B-FD49-4EE2-9A05-5F6BE0A0483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1" name="Picture 10">
            <a:extLst>
              <a:ext uri="{FF2B5EF4-FFF2-40B4-BE49-F238E27FC236}">
                <a16:creationId xmlns:a16="http://schemas.microsoft.com/office/drawing/2014/main" id="{68D110D8-F82F-4692-8B00-F633DEF1AC1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2" name="Straight Connector 11">
            <a:extLst>
              <a:ext uri="{FF2B5EF4-FFF2-40B4-BE49-F238E27FC236}">
                <a16:creationId xmlns:a16="http://schemas.microsoft.com/office/drawing/2014/main" id="{6132C51C-6D36-4A71-A1DB-6C92A35CA313}"/>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71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with Captio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F29153F9-78D4-4D70-B44A-4B9B91D91CB2}"/>
              </a:ext>
            </a:extLst>
          </p:cNvPr>
          <p:cNvSpPr>
            <a:spLocks noGrp="1"/>
          </p:cNvSpPr>
          <p:nvPr>
            <p:ph type="chart" sz="quarter" idx="14"/>
          </p:nvPr>
        </p:nvSpPr>
        <p:spPr>
          <a:xfrm>
            <a:off x="5007173" y="771526"/>
            <a:ext cx="4581525" cy="5534025"/>
          </a:xfrm>
        </p:spPr>
        <p:txBody>
          <a:bodyPr/>
          <a:lstStyle>
            <a:lvl1pPr marL="0" indent="0">
              <a:buNone/>
              <a:defRPr/>
            </a:lvl1pPr>
          </a:lstStyle>
          <a:p>
            <a:r>
              <a:rPr lang="en-US"/>
              <a:t>Click icon to add chart</a:t>
            </a:r>
          </a:p>
        </p:txBody>
      </p:sp>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542926"/>
            <a:ext cx="3397449"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106686" y="1866901"/>
            <a:ext cx="3397449" cy="4448175"/>
          </a:xfrm>
        </p:spPr>
        <p:txBody>
          <a:bodyPr/>
          <a:lstStyle>
            <a:lvl1pPr marL="0" indent="0">
              <a:buNone/>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43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542926"/>
            <a:ext cx="3397449" cy="11144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2CB3A0E-D963-4BA4-863C-413B32E51AE7}"/>
              </a:ext>
            </a:extLst>
          </p:cNvPr>
          <p:cNvSpPr>
            <a:spLocks noGrp="1"/>
          </p:cNvSpPr>
          <p:nvPr>
            <p:ph idx="1"/>
          </p:nvPr>
        </p:nvSpPr>
        <p:spPr>
          <a:xfrm>
            <a:off x="1106686" y="1866901"/>
            <a:ext cx="3397449" cy="4448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sp>
        <p:nvSpPr>
          <p:cNvPr id="9" name="Picture Placeholder 8">
            <a:extLst>
              <a:ext uri="{FF2B5EF4-FFF2-40B4-BE49-F238E27FC236}">
                <a16:creationId xmlns:a16="http://schemas.microsoft.com/office/drawing/2014/main" id="{A46E416A-BFDB-410E-9AC9-671259E5DAFB}"/>
              </a:ext>
            </a:extLst>
          </p:cNvPr>
          <p:cNvSpPr>
            <a:spLocks noGrp="1"/>
          </p:cNvSpPr>
          <p:nvPr>
            <p:ph type="pic" sz="quarter" idx="13"/>
          </p:nvPr>
        </p:nvSpPr>
        <p:spPr>
          <a:xfrm>
            <a:off x="5007173" y="771526"/>
            <a:ext cx="4581525" cy="5534025"/>
          </a:xfrm>
          <a:solidFill>
            <a:schemeClr val="bg1">
              <a:lumMod val="85000"/>
            </a:schemeClr>
          </a:solidFill>
        </p:spPr>
        <p:txBody>
          <a:bodyPr/>
          <a:lstStyle>
            <a:lvl1pPr marL="0" indent="0">
              <a:buNone/>
              <a:defRPr/>
            </a:lvl1pPr>
          </a:lstStyle>
          <a:p>
            <a:r>
              <a:rPr lang="en-US"/>
              <a:t>Drag picture to placeholder or click icon to add</a:t>
            </a:r>
          </a:p>
        </p:txBody>
      </p:sp>
      <p:sp>
        <p:nvSpPr>
          <p:cNvPr id="11" name="TextBox 10">
            <a:extLst>
              <a:ext uri="{FF2B5EF4-FFF2-40B4-BE49-F238E27FC236}">
                <a16:creationId xmlns:a16="http://schemas.microsoft.com/office/drawing/2014/main" id="{27C296D0-EF25-4659-9A29-DE874EE0BD57}"/>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pic>
        <p:nvPicPr>
          <p:cNvPr id="12" name="Picture 11">
            <a:extLst>
              <a:ext uri="{FF2B5EF4-FFF2-40B4-BE49-F238E27FC236}">
                <a16:creationId xmlns:a16="http://schemas.microsoft.com/office/drawing/2014/main" id="{872D0369-8EEE-446D-A24C-9E71B18567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13" name="Straight Connector 12">
            <a:extLst>
              <a:ext uri="{FF2B5EF4-FFF2-40B4-BE49-F238E27FC236}">
                <a16:creationId xmlns:a16="http://schemas.microsoft.com/office/drawing/2014/main" id="{BDF66C09-963E-47DD-8166-11F0934BF635}"/>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598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673299" y="542926"/>
            <a:ext cx="8567141" cy="1114425"/>
          </a:xfrm>
        </p:spPr>
        <p:txBody>
          <a:bodyPr/>
          <a:lstStyle>
            <a:lvl1pPr algn="ctr">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443883"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25041"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562725"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Tree>
    <p:extLst>
      <p:ext uri="{BB962C8B-B14F-4D97-AF65-F5344CB8AC3E}">
        <p14:creationId xmlns:p14="http://schemas.microsoft.com/office/powerpoint/2010/main" val="4188493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5EF6-6786-4ED3-B643-2BCA247B6B43}"/>
              </a:ext>
            </a:extLst>
          </p:cNvPr>
          <p:cNvSpPr>
            <a:spLocks noGrp="1"/>
          </p:cNvSpPr>
          <p:nvPr>
            <p:ph type="title"/>
          </p:nvPr>
        </p:nvSpPr>
        <p:spPr>
          <a:xfrm>
            <a:off x="1106686" y="1114425"/>
            <a:ext cx="5154216" cy="1438275"/>
          </a:xfrm>
        </p:spPr>
        <p:txBody>
          <a:bodyPr anchor="t" anchorCtr="0"/>
          <a:lstStyle>
            <a:lvl1pPr algn="l">
              <a:lnSpc>
                <a:spcPct val="100000"/>
              </a:lnSpc>
              <a:defRPr/>
            </a:lvl1pPr>
          </a:lstStyle>
          <a:p>
            <a:r>
              <a:rPr lang="en-US"/>
              <a:t>Click to edit Master title style</a:t>
            </a:r>
          </a:p>
        </p:txBody>
      </p:sp>
      <p:sp>
        <p:nvSpPr>
          <p:cNvPr id="4" name="Date Placeholder 3">
            <a:extLst>
              <a:ext uri="{FF2B5EF4-FFF2-40B4-BE49-F238E27FC236}">
                <a16:creationId xmlns:a16="http://schemas.microsoft.com/office/drawing/2014/main" id="{CC8C6537-CD92-4621-BEAC-209C2F46767E}"/>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46802E95-BAFB-4FA5-935D-F153DAC81B79}"/>
              </a:ext>
            </a:extLst>
          </p:cNvPr>
          <p:cNvSpPr>
            <a:spLocks noGrp="1"/>
          </p:cNvSpPr>
          <p:nvPr>
            <p:ph type="ftr" sz="quarter" idx="11"/>
          </p:nvPr>
        </p:nvSpPr>
        <p:spPr/>
        <p:txBody>
          <a:bodyPr/>
          <a:lstStyle>
            <a:lvl1pPr>
              <a:defRPr b="1">
                <a:solidFill>
                  <a:srgbClr val="000000"/>
                </a:solidFill>
              </a:defRPr>
            </a:lvl1pPr>
          </a:lstStyle>
          <a:p>
            <a:r>
              <a:rPr lang="en-US"/>
              <a:t>Presentation Title Goes Here</a:t>
            </a:r>
            <a:endParaRPr lang="en-US" dirty="0"/>
          </a:p>
        </p:txBody>
      </p:sp>
      <p:sp>
        <p:nvSpPr>
          <p:cNvPr id="6" name="Slide Number Placeholder 5">
            <a:extLst>
              <a:ext uri="{FF2B5EF4-FFF2-40B4-BE49-F238E27FC236}">
                <a16:creationId xmlns:a16="http://schemas.microsoft.com/office/drawing/2014/main" id="{536AE8E8-275F-4879-A380-FC69F4F9B24F}"/>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pic>
        <p:nvPicPr>
          <p:cNvPr id="7" name="Picture 6">
            <a:extLst>
              <a:ext uri="{FF2B5EF4-FFF2-40B4-BE49-F238E27FC236}">
                <a16:creationId xmlns:a16="http://schemas.microsoft.com/office/drawing/2014/main" id="{85F31A79-8F5C-4459-9F47-4F4A56020D63}"/>
              </a:ext>
            </a:extLst>
          </p:cNvPr>
          <p:cNvPicPr>
            <a:picLocks noChangeAspect="1"/>
          </p:cNvPicPr>
          <p:nvPr userDrawn="1"/>
        </p:nvPicPr>
        <p:blipFill>
          <a:blip r:embed="rId2" cstate="print">
            <a:duotone>
              <a:prstClr val="black"/>
              <a:srgbClr val="0070C0">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8" name="TextBox 7">
            <a:extLst>
              <a:ext uri="{FF2B5EF4-FFF2-40B4-BE49-F238E27FC236}">
                <a16:creationId xmlns:a16="http://schemas.microsoft.com/office/drawing/2014/main" id="{4E74C6A6-466D-458F-9462-128882D6EF6C}"/>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dirty="0">
                <a:solidFill>
                  <a:srgbClr val="000000"/>
                </a:solidFill>
              </a:rPr>
              <a:t>ku.ac.ae</a:t>
            </a:r>
            <a:endParaRPr lang="en-US" sz="691" dirty="0">
              <a:solidFill>
                <a:srgbClr val="000000"/>
              </a:solidFill>
            </a:endParaRPr>
          </a:p>
        </p:txBody>
      </p:sp>
      <p:cxnSp>
        <p:nvCxnSpPr>
          <p:cNvPr id="11" name="Straight Connector 10">
            <a:extLst>
              <a:ext uri="{FF2B5EF4-FFF2-40B4-BE49-F238E27FC236}">
                <a16:creationId xmlns:a16="http://schemas.microsoft.com/office/drawing/2014/main" id="{8690FDB3-7706-4B32-BD35-532B4AC7ECDA}"/>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3930B2A2-81DA-4F3D-9D9E-46E4F7B93857}"/>
              </a:ext>
            </a:extLst>
          </p:cNvPr>
          <p:cNvSpPr>
            <a:spLocks noGrp="1"/>
          </p:cNvSpPr>
          <p:nvPr>
            <p:ph type="pic" sz="quarter" idx="13"/>
          </p:nvPr>
        </p:nvSpPr>
        <p:spPr>
          <a:xfrm>
            <a:off x="3443883"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4" name="Picture Placeholder 12">
            <a:extLst>
              <a:ext uri="{FF2B5EF4-FFF2-40B4-BE49-F238E27FC236}">
                <a16:creationId xmlns:a16="http://schemas.microsoft.com/office/drawing/2014/main" id="{F16E22AE-DDB9-4C04-8CBA-FF04F1AFB382}"/>
              </a:ext>
            </a:extLst>
          </p:cNvPr>
          <p:cNvSpPr>
            <a:spLocks noGrp="1"/>
          </p:cNvSpPr>
          <p:nvPr>
            <p:ph type="pic" sz="quarter" idx="14"/>
          </p:nvPr>
        </p:nvSpPr>
        <p:spPr>
          <a:xfrm>
            <a:off x="325041" y="2752725"/>
            <a:ext cx="3018234" cy="3562350"/>
          </a:xfrm>
          <a:solidFill>
            <a:schemeClr val="bg1">
              <a:lumMod val="85000"/>
            </a:schemeClr>
          </a:solidFill>
        </p:spPr>
        <p:txBody>
          <a:bodyPr/>
          <a:lstStyle>
            <a:lvl1pPr marL="0" indent="0">
              <a:buNone/>
              <a:defRPr/>
            </a:lvl1pPr>
          </a:lstStyle>
          <a:p>
            <a:r>
              <a:rPr lang="en-US"/>
              <a:t>Drag picture to placeholder or click icon to add</a:t>
            </a:r>
          </a:p>
        </p:txBody>
      </p:sp>
      <p:sp>
        <p:nvSpPr>
          <p:cNvPr id="15" name="Picture Placeholder 12">
            <a:extLst>
              <a:ext uri="{FF2B5EF4-FFF2-40B4-BE49-F238E27FC236}">
                <a16:creationId xmlns:a16="http://schemas.microsoft.com/office/drawing/2014/main" id="{55F3CFBF-C13C-4A9F-BDDF-0E18286F15C6}"/>
              </a:ext>
            </a:extLst>
          </p:cNvPr>
          <p:cNvSpPr>
            <a:spLocks noGrp="1"/>
          </p:cNvSpPr>
          <p:nvPr>
            <p:ph type="pic" sz="quarter" idx="15"/>
          </p:nvPr>
        </p:nvSpPr>
        <p:spPr>
          <a:xfrm>
            <a:off x="6562725" y="762001"/>
            <a:ext cx="3018234" cy="5553075"/>
          </a:xfrm>
          <a:solidFill>
            <a:schemeClr val="bg1">
              <a:lumMod val="85000"/>
            </a:schemeClr>
          </a:solidFill>
        </p:spPr>
        <p:txBody>
          <a:bodyPr/>
          <a:lstStyle>
            <a:lvl1pPr marL="0" indent="0">
              <a:buNone/>
              <a:defRPr/>
            </a:lvl1pPr>
          </a:lstStyle>
          <a:p>
            <a:r>
              <a:rPr lang="en-US"/>
              <a:t>Drag picture to placeholder or click icon to add</a:t>
            </a:r>
          </a:p>
        </p:txBody>
      </p:sp>
    </p:spTree>
    <p:extLst>
      <p:ext uri="{BB962C8B-B14F-4D97-AF65-F5344CB8AC3E}">
        <p14:creationId xmlns:p14="http://schemas.microsoft.com/office/powerpoint/2010/main" val="606654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rgbClr val="000000"/>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rgbClr val="000000"/>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rgbClr val="000000"/>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884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5EDB-8165-4C09-A93D-01F9B0F72B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49EA8E-5754-4FAF-B3D4-63EA441FBC46}"/>
              </a:ext>
            </a:extLst>
          </p:cNvPr>
          <p:cNvSpPr>
            <a:spLocks noGrp="1"/>
          </p:cNvSpPr>
          <p:nvPr>
            <p:ph type="dt" sz="half" idx="10"/>
          </p:nvPr>
        </p:nvSpPr>
        <p:spPr/>
        <p:txBody>
          <a:bodyPr/>
          <a:lstStyle>
            <a:lvl1pPr>
              <a:defRPr>
                <a:solidFill>
                  <a:schemeClr val="tx2"/>
                </a:solidFill>
              </a:defRPr>
            </a:lvl1pPr>
          </a:lstStyle>
          <a:p>
            <a:r>
              <a:rPr lang="en-US"/>
              <a:t>DD Month 20XX</a:t>
            </a:r>
          </a:p>
        </p:txBody>
      </p:sp>
      <p:sp>
        <p:nvSpPr>
          <p:cNvPr id="4" name="Footer Placeholder 3">
            <a:extLst>
              <a:ext uri="{FF2B5EF4-FFF2-40B4-BE49-F238E27FC236}">
                <a16:creationId xmlns:a16="http://schemas.microsoft.com/office/drawing/2014/main" id="{CFF6CD72-BAC2-4994-B821-40432481E830}"/>
              </a:ext>
            </a:extLst>
          </p:cNvPr>
          <p:cNvSpPr>
            <a:spLocks noGrp="1"/>
          </p:cNvSpPr>
          <p:nvPr>
            <p:ph type="ftr" sz="quarter" idx="11"/>
          </p:nvPr>
        </p:nvSpPr>
        <p:spPr/>
        <p:txBody>
          <a:bodyPr/>
          <a:lstStyle>
            <a:lvl1pPr>
              <a:defRPr>
                <a:solidFill>
                  <a:schemeClr val="tx2"/>
                </a:solidFill>
              </a:defRPr>
            </a:lvl1pPr>
          </a:lstStyle>
          <a:p>
            <a:r>
              <a:rPr lang="en-US"/>
              <a:t>Presentation Title Goes Here</a:t>
            </a:r>
          </a:p>
        </p:txBody>
      </p:sp>
      <p:sp>
        <p:nvSpPr>
          <p:cNvPr id="5" name="Slide Number Placeholder 4">
            <a:extLst>
              <a:ext uri="{FF2B5EF4-FFF2-40B4-BE49-F238E27FC236}">
                <a16:creationId xmlns:a16="http://schemas.microsoft.com/office/drawing/2014/main" id="{D593CFAF-562D-445B-846A-E8F71A026870}"/>
              </a:ext>
            </a:extLst>
          </p:cNvPr>
          <p:cNvSpPr>
            <a:spLocks noGrp="1"/>
          </p:cNvSpPr>
          <p:nvPr>
            <p:ph type="sldNum" sz="quarter" idx="12"/>
          </p:nvPr>
        </p:nvSpPr>
        <p:spPr/>
        <p:txBody>
          <a:bodyPr/>
          <a:lstStyle>
            <a:lvl1pPr>
              <a:defRPr>
                <a:solidFill>
                  <a:schemeClr val="tx2"/>
                </a:solidFill>
              </a:defRPr>
            </a:lvl1pPr>
          </a:lstStyle>
          <a:p>
            <a:fld id="{1E68DD1B-5CD8-424B-8173-19E182143E0A}" type="slidenum">
              <a:rPr lang="en-US" smtClean="0"/>
              <a:pPr/>
              <a:t>‹#›</a:t>
            </a:fld>
            <a:endParaRPr lang="en-US"/>
          </a:p>
        </p:txBody>
      </p:sp>
      <p:sp>
        <p:nvSpPr>
          <p:cNvPr id="6" name="TextBox 5">
            <a:extLst>
              <a:ext uri="{FF2B5EF4-FFF2-40B4-BE49-F238E27FC236}">
                <a16:creationId xmlns:a16="http://schemas.microsoft.com/office/drawing/2014/main" id="{7C98C825-F06D-4987-81B8-02D493880414}"/>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tx2"/>
                </a:solidFill>
              </a:rPr>
              <a:t>ku.ac.ae</a:t>
            </a:r>
            <a:endParaRPr lang="en-US" sz="691">
              <a:solidFill>
                <a:schemeClr val="tx2"/>
              </a:solidFill>
            </a:endParaRPr>
          </a:p>
        </p:txBody>
      </p:sp>
      <p:pic>
        <p:nvPicPr>
          <p:cNvPr id="7" name="Picture 6">
            <a:extLst>
              <a:ext uri="{FF2B5EF4-FFF2-40B4-BE49-F238E27FC236}">
                <a16:creationId xmlns:a16="http://schemas.microsoft.com/office/drawing/2014/main" id="{53464E6B-FB97-4EC4-BBD3-24FE3C8D13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6" cy="185303"/>
          </a:xfrm>
          <a:prstGeom prst="rect">
            <a:avLst/>
          </a:prstGeom>
        </p:spPr>
      </p:pic>
      <p:cxnSp>
        <p:nvCxnSpPr>
          <p:cNvPr id="8" name="Straight Connector 7">
            <a:extLst>
              <a:ext uri="{FF2B5EF4-FFF2-40B4-BE49-F238E27FC236}">
                <a16:creationId xmlns:a16="http://schemas.microsoft.com/office/drawing/2014/main" id="{7A8822A8-864B-49B0-9C0B-A862217EF3B8}"/>
              </a:ext>
            </a:extLst>
          </p:cNvPr>
          <p:cNvCxnSpPr/>
          <p:nvPr userDrawn="1"/>
        </p:nvCxnSpPr>
        <p:spPr>
          <a:xfrm>
            <a:off x="311728" y="533400"/>
            <a:ext cx="9315666"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5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94EFBB-C8CA-4201-A903-805856BEB310}"/>
              </a:ext>
            </a:extLst>
          </p:cNvPr>
          <p:cNvSpPr>
            <a:spLocks noGrp="1"/>
          </p:cNvSpPr>
          <p:nvPr>
            <p:ph type="dt" sz="half" idx="10"/>
          </p:nvPr>
        </p:nvSpPr>
        <p:spPr/>
        <p:txBody>
          <a:bodyPr/>
          <a:lstStyle/>
          <a:p>
            <a:r>
              <a:rPr lang="en-US"/>
              <a:t>DD Month 20XX</a:t>
            </a:r>
          </a:p>
        </p:txBody>
      </p:sp>
      <p:sp>
        <p:nvSpPr>
          <p:cNvPr id="3" name="Footer Placeholder 2">
            <a:extLst>
              <a:ext uri="{FF2B5EF4-FFF2-40B4-BE49-F238E27FC236}">
                <a16:creationId xmlns:a16="http://schemas.microsoft.com/office/drawing/2014/main" id="{8551DCEB-2462-4151-B7CC-F3EC0D3A59D6}"/>
              </a:ext>
            </a:extLst>
          </p:cNvPr>
          <p:cNvSpPr>
            <a:spLocks noGrp="1"/>
          </p:cNvSpPr>
          <p:nvPr>
            <p:ph type="ftr" sz="quarter" idx="11"/>
          </p:nvPr>
        </p:nvSpPr>
        <p:spPr/>
        <p:txBody>
          <a:bodyPr/>
          <a:lstStyle/>
          <a:p>
            <a:r>
              <a:rPr lang="en-US"/>
              <a:t>Presentation Title Goes Here</a:t>
            </a:r>
          </a:p>
        </p:txBody>
      </p:sp>
      <p:sp>
        <p:nvSpPr>
          <p:cNvPr id="4" name="Slide Number Placeholder 3">
            <a:extLst>
              <a:ext uri="{FF2B5EF4-FFF2-40B4-BE49-F238E27FC236}">
                <a16:creationId xmlns:a16="http://schemas.microsoft.com/office/drawing/2014/main" id="{B5A57B99-432B-45A8-9216-9BC01B297D0C}"/>
              </a:ext>
            </a:extLst>
          </p:cNvPr>
          <p:cNvSpPr>
            <a:spLocks noGrp="1"/>
          </p:cNvSpPr>
          <p:nvPr>
            <p:ph type="sldNum" sz="quarter" idx="12"/>
          </p:nvPr>
        </p:nvSpPr>
        <p:spPr/>
        <p:txBody>
          <a:bodyPr/>
          <a:lstStyle/>
          <a:p>
            <a:fld id="{1E68DD1B-5CD8-424B-8173-19E182143E0A}" type="slidenum">
              <a:rPr lang="en-US" smtClean="0"/>
              <a:t>‹#›</a:t>
            </a:fld>
            <a:endParaRPr lang="en-US"/>
          </a:p>
        </p:txBody>
      </p:sp>
    </p:spTree>
    <p:extLst>
      <p:ext uri="{BB962C8B-B14F-4D97-AF65-F5344CB8AC3E}">
        <p14:creationId xmlns:p14="http://schemas.microsoft.com/office/powerpoint/2010/main" val="4259154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D0CFC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75878" y="1204914"/>
            <a:ext cx="8543925" cy="2852737"/>
          </a:xfrm>
        </p:spPr>
        <p:txBody>
          <a:bodyPr anchor="b"/>
          <a:lstStyle>
            <a:lvl1pPr algn="ctr">
              <a:lnSpc>
                <a:spcPct val="100000"/>
              </a:lnSpc>
              <a:defRPr sz="4875"/>
            </a:lvl1pPr>
          </a:lstStyle>
          <a:p>
            <a:r>
              <a:rPr lang="en-US"/>
              <a:t>Click to edit Master title style</a:t>
            </a:r>
          </a:p>
        </p:txBody>
      </p:sp>
      <p:sp>
        <p:nvSpPr>
          <p:cNvPr id="3" name="Text Placeholder 2">
            <a:extLst>
              <a:ext uri="{FF2B5EF4-FFF2-40B4-BE49-F238E27FC236}">
                <a16:creationId xmlns:a16="http://schemas.microsoft.com/office/drawing/2014/main" id="{1104C747-8640-4D13-A1FA-90CDB4EBBF1D}"/>
              </a:ext>
            </a:extLst>
          </p:cNvPr>
          <p:cNvSpPr>
            <a:spLocks noGrp="1"/>
          </p:cNvSpPr>
          <p:nvPr>
            <p:ph type="body" idx="1"/>
          </p:nvPr>
        </p:nvSpPr>
        <p:spPr>
          <a:xfrm>
            <a:off x="675878" y="4000500"/>
            <a:ext cx="8543925" cy="1584326"/>
          </a:xfrm>
        </p:spPr>
        <p:txBody>
          <a:bodyPr>
            <a:normAutofit/>
          </a:bodyPr>
          <a:lstStyle>
            <a:lvl1pPr marL="0" indent="0" algn="ctr">
              <a:buNone/>
              <a:defRPr sz="3088">
                <a:solidFill>
                  <a:srgbClr val="000000"/>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spTree>
    <p:extLst>
      <p:ext uri="{BB962C8B-B14F-4D97-AF65-F5344CB8AC3E}">
        <p14:creationId xmlns:p14="http://schemas.microsoft.com/office/powerpoint/2010/main" val="25453610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ing Picture Backgroun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49F49-C197-4276-BA18-25EE446879E5}"/>
              </a:ext>
            </a:extLst>
          </p:cNvPr>
          <p:cNvSpPr>
            <a:spLocks noGrp="1"/>
          </p:cNvSpPr>
          <p:nvPr>
            <p:ph type="title"/>
          </p:nvPr>
        </p:nvSpPr>
        <p:spPr>
          <a:xfrm>
            <a:off x="675878" y="1052514"/>
            <a:ext cx="8543925" cy="2852737"/>
          </a:xfrm>
        </p:spPr>
        <p:txBody>
          <a:bodyPr anchor="b"/>
          <a:lstStyle>
            <a:lvl1pPr algn="ctr">
              <a:lnSpc>
                <a:spcPct val="100000"/>
              </a:lnSpc>
              <a:defRPr sz="4875">
                <a:solidFill>
                  <a:srgbClr val="FFFFFF"/>
                </a:solidFill>
              </a:defRPr>
            </a:lvl1pPr>
          </a:lstStyle>
          <a:p>
            <a:r>
              <a:rPr lang="en-US"/>
              <a:t>Click to edit Master title style</a:t>
            </a:r>
          </a:p>
        </p:txBody>
      </p:sp>
      <p:sp>
        <p:nvSpPr>
          <p:cNvPr id="4" name="Date Placeholder 3">
            <a:extLst>
              <a:ext uri="{FF2B5EF4-FFF2-40B4-BE49-F238E27FC236}">
                <a16:creationId xmlns:a16="http://schemas.microsoft.com/office/drawing/2014/main" id="{08D46D51-CC51-458D-B7F8-BB8DC09CBA9B}"/>
              </a:ext>
            </a:extLst>
          </p:cNvPr>
          <p:cNvSpPr>
            <a:spLocks noGrp="1"/>
          </p:cNvSpPr>
          <p:nvPr>
            <p:ph type="dt" sz="half" idx="10"/>
          </p:nvPr>
        </p:nvSpPr>
        <p:spPr/>
        <p:txBody>
          <a:bodyPr/>
          <a:lstStyle/>
          <a:p>
            <a:r>
              <a:rPr lang="en-US"/>
              <a:t>DD Month 20XX</a:t>
            </a:r>
          </a:p>
        </p:txBody>
      </p:sp>
      <p:sp>
        <p:nvSpPr>
          <p:cNvPr id="5" name="Footer Placeholder 4">
            <a:extLst>
              <a:ext uri="{FF2B5EF4-FFF2-40B4-BE49-F238E27FC236}">
                <a16:creationId xmlns:a16="http://schemas.microsoft.com/office/drawing/2014/main" id="{BD7397C4-D37A-45E1-B1B8-7100D475BDA3}"/>
              </a:ext>
            </a:extLst>
          </p:cNvPr>
          <p:cNvSpPr>
            <a:spLocks noGrp="1"/>
          </p:cNvSpPr>
          <p:nvPr>
            <p:ph type="ftr" sz="quarter" idx="11"/>
          </p:nvPr>
        </p:nvSpPr>
        <p:spPr/>
        <p:txBody>
          <a:bodyPr/>
          <a:lstStyle/>
          <a:p>
            <a:r>
              <a:rPr lang="en-US"/>
              <a:t>Presentation Title Goes Here</a:t>
            </a:r>
          </a:p>
        </p:txBody>
      </p:sp>
      <p:sp>
        <p:nvSpPr>
          <p:cNvPr id="6" name="Slide Number Placeholder 5">
            <a:extLst>
              <a:ext uri="{FF2B5EF4-FFF2-40B4-BE49-F238E27FC236}">
                <a16:creationId xmlns:a16="http://schemas.microsoft.com/office/drawing/2014/main" id="{3393DD6E-BA6A-445E-B542-43DE3AEB0032}"/>
              </a:ext>
            </a:extLst>
          </p:cNvPr>
          <p:cNvSpPr>
            <a:spLocks noGrp="1"/>
          </p:cNvSpPr>
          <p:nvPr>
            <p:ph type="sldNum" sz="quarter" idx="12"/>
          </p:nvPr>
        </p:nvSpPr>
        <p:spPr/>
        <p:txBody>
          <a:bodyPr/>
          <a:lstStyle/>
          <a:p>
            <a:fld id="{1E68DD1B-5CD8-424B-8173-19E182143E0A}" type="slidenum">
              <a:rPr lang="en-US" smtClean="0"/>
              <a:t>‹#›</a:t>
            </a:fld>
            <a:endParaRPr lang="en-US"/>
          </a:p>
        </p:txBody>
      </p:sp>
      <p:pic>
        <p:nvPicPr>
          <p:cNvPr id="9" name="Picture 8">
            <a:extLst>
              <a:ext uri="{FF2B5EF4-FFF2-40B4-BE49-F238E27FC236}">
                <a16:creationId xmlns:a16="http://schemas.microsoft.com/office/drawing/2014/main" id="{965424D6-2475-46D6-A699-3A7CA5F8B12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
        <p:nvSpPr>
          <p:cNvPr id="10" name="TextBox 9">
            <a:extLst>
              <a:ext uri="{FF2B5EF4-FFF2-40B4-BE49-F238E27FC236}">
                <a16:creationId xmlns:a16="http://schemas.microsoft.com/office/drawing/2014/main" id="{7265327D-BC3D-4548-B6FC-FF18B53D278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chemeClr val="bg2"/>
                </a:solidFill>
              </a:rPr>
              <a:t>ku.ac.ae</a:t>
            </a:r>
            <a:endParaRPr lang="en-US" sz="691">
              <a:solidFill>
                <a:schemeClr val="bg2"/>
              </a:solidFill>
            </a:endParaRPr>
          </a:p>
        </p:txBody>
      </p:sp>
    </p:spTree>
    <p:extLst>
      <p:ext uri="{BB962C8B-B14F-4D97-AF65-F5344CB8AC3E}">
        <p14:creationId xmlns:p14="http://schemas.microsoft.com/office/powerpoint/2010/main" val="36582986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0047BA"/>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EA79536-344B-4703-95C3-7F5AD0BFB38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55917" y="891158"/>
            <a:ext cx="1924556" cy="518220"/>
          </a:xfrm>
          <a:prstGeom prst="rect">
            <a:avLst/>
          </a:prstGeom>
        </p:spPr>
      </p:pic>
      <p:sp>
        <p:nvSpPr>
          <p:cNvPr id="4" name="TextBox 3">
            <a:extLst>
              <a:ext uri="{FF2B5EF4-FFF2-40B4-BE49-F238E27FC236}">
                <a16:creationId xmlns:a16="http://schemas.microsoft.com/office/drawing/2014/main" id="{AFAD5768-C7B0-4ABF-BE83-522BCD1F6FE5}"/>
              </a:ext>
            </a:extLst>
          </p:cNvPr>
          <p:cNvSpPr txBox="1"/>
          <p:nvPr userDrawn="1"/>
        </p:nvSpPr>
        <p:spPr>
          <a:xfrm>
            <a:off x="611386" y="2711687"/>
            <a:ext cx="8652272" cy="1437958"/>
          </a:xfrm>
          <a:prstGeom prst="rect">
            <a:avLst/>
          </a:prstGeom>
          <a:noFill/>
        </p:spPr>
        <p:txBody>
          <a:bodyPr wrap="square" lIns="0" tIns="0" rIns="0" bIns="0" rtlCol="0" anchor="ctr" anchorCtr="0">
            <a:spAutoFit/>
          </a:bodyPr>
          <a:lstStyle/>
          <a:p>
            <a:pPr algn="ctr"/>
            <a:r>
              <a:rPr lang="en-US" sz="9344" b="1" spc="-81" baseline="0" noProof="0" dirty="0">
                <a:solidFill>
                  <a:srgbClr val="FFFFFF"/>
                </a:solidFill>
                <a:latin typeface="+mj-lt"/>
              </a:rPr>
              <a:t>Thank You</a:t>
            </a:r>
          </a:p>
        </p:txBody>
      </p:sp>
      <p:sp>
        <p:nvSpPr>
          <p:cNvPr id="13" name="TextBox 12">
            <a:extLst>
              <a:ext uri="{FF2B5EF4-FFF2-40B4-BE49-F238E27FC236}">
                <a16:creationId xmlns:a16="http://schemas.microsoft.com/office/drawing/2014/main" id="{A94333D0-73BA-48D2-AA6E-3F2C63C9CA8F}"/>
              </a:ext>
            </a:extLst>
          </p:cNvPr>
          <p:cNvSpPr txBox="1"/>
          <p:nvPr userDrawn="1"/>
        </p:nvSpPr>
        <p:spPr>
          <a:xfrm>
            <a:off x="4210051" y="6146801"/>
            <a:ext cx="1493638" cy="244475"/>
          </a:xfrm>
          <a:prstGeom prst="rect">
            <a:avLst/>
          </a:prstGeom>
          <a:noFill/>
        </p:spPr>
        <p:txBody>
          <a:bodyPr wrap="square" lIns="0" tIns="0" rIns="0" bIns="0" rtlCol="0" anchor="ctr" anchorCtr="0">
            <a:noAutofit/>
          </a:bodyPr>
          <a:lstStyle/>
          <a:p>
            <a:pPr algn="ctr"/>
            <a:r>
              <a:rPr lang="en-US" sz="1016" b="1" noProof="0" dirty="0">
                <a:solidFill>
                  <a:srgbClr val="FFFFFF"/>
                </a:solidFill>
              </a:rPr>
              <a:t>ku.ac.ae</a:t>
            </a:r>
          </a:p>
        </p:txBody>
      </p:sp>
    </p:spTree>
    <p:extLst>
      <p:ext uri="{BB962C8B-B14F-4D97-AF65-F5344CB8AC3E}">
        <p14:creationId xmlns:p14="http://schemas.microsoft.com/office/powerpoint/2010/main" val="2419569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7564FE-F745-443F-8321-B0EFD169FAC6}"/>
              </a:ext>
            </a:extLst>
          </p:cNvPr>
          <p:cNvSpPr>
            <a:spLocks noGrp="1"/>
          </p:cNvSpPr>
          <p:nvPr>
            <p:ph type="title"/>
          </p:nvPr>
        </p:nvSpPr>
        <p:spPr>
          <a:xfrm>
            <a:off x="922796" y="542925"/>
            <a:ext cx="8286851" cy="824148"/>
          </a:xfrm>
          <a:prstGeom prst="rect">
            <a:avLst/>
          </a:prstGeom>
        </p:spPr>
        <p:txBody>
          <a:bodyPr vert="horz" lIns="0" tIns="0" rIns="0" bIns="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911581-2B37-40B3-825A-043921DFB80C}"/>
              </a:ext>
            </a:extLst>
          </p:cNvPr>
          <p:cNvSpPr>
            <a:spLocks noGrp="1"/>
          </p:cNvSpPr>
          <p:nvPr>
            <p:ph type="body" idx="1"/>
          </p:nvPr>
        </p:nvSpPr>
        <p:spPr>
          <a:xfrm>
            <a:off x="902873" y="1530037"/>
            <a:ext cx="8321486" cy="4839360"/>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A172D0-FD25-45C4-A82E-F4094DCDE0CC}"/>
              </a:ext>
            </a:extLst>
          </p:cNvPr>
          <p:cNvSpPr>
            <a:spLocks noGrp="1"/>
          </p:cNvSpPr>
          <p:nvPr>
            <p:ph type="dt" sz="half" idx="2"/>
          </p:nvPr>
        </p:nvSpPr>
        <p:spPr>
          <a:xfrm>
            <a:off x="6570464" y="203201"/>
            <a:ext cx="1408509" cy="244475"/>
          </a:xfrm>
          <a:prstGeom prst="rect">
            <a:avLst/>
          </a:prstGeom>
        </p:spPr>
        <p:txBody>
          <a:bodyPr vert="horz" lIns="0" tIns="0" rIns="0" bIns="0" rtlCol="0" anchor="ctr"/>
          <a:lstStyle>
            <a:lvl1pPr algn="r">
              <a:defRPr sz="691">
                <a:solidFill>
                  <a:srgbClr val="000000"/>
                </a:solidFill>
              </a:defRPr>
            </a:lvl1pPr>
          </a:lstStyle>
          <a:p>
            <a:r>
              <a:rPr lang="en-US"/>
              <a:t>DD Month 20XX</a:t>
            </a:r>
          </a:p>
        </p:txBody>
      </p:sp>
      <p:sp>
        <p:nvSpPr>
          <p:cNvPr id="5" name="Footer Placeholder 4">
            <a:extLst>
              <a:ext uri="{FF2B5EF4-FFF2-40B4-BE49-F238E27FC236}">
                <a16:creationId xmlns:a16="http://schemas.microsoft.com/office/drawing/2014/main" id="{F5B18871-7BC3-4A13-9CC9-B9A1DB22F262}"/>
              </a:ext>
            </a:extLst>
          </p:cNvPr>
          <p:cNvSpPr>
            <a:spLocks noGrp="1"/>
          </p:cNvSpPr>
          <p:nvPr>
            <p:ph type="ftr" sz="quarter" idx="3"/>
          </p:nvPr>
        </p:nvSpPr>
        <p:spPr>
          <a:xfrm>
            <a:off x="2329458" y="203201"/>
            <a:ext cx="3343275" cy="244475"/>
          </a:xfrm>
          <a:prstGeom prst="rect">
            <a:avLst/>
          </a:prstGeom>
        </p:spPr>
        <p:txBody>
          <a:bodyPr vert="horz" lIns="0" tIns="0" rIns="0" bIns="0" rtlCol="0" anchor="ctr"/>
          <a:lstStyle>
            <a:lvl1pPr algn="ctr">
              <a:defRPr sz="691">
                <a:solidFill>
                  <a:srgbClr val="000000"/>
                </a:solidFill>
              </a:defRPr>
            </a:lvl1pPr>
          </a:lstStyle>
          <a:p>
            <a:r>
              <a:rPr lang="en-US" dirty="0"/>
              <a:t>Presentation Title Goes Here</a:t>
            </a:r>
          </a:p>
        </p:txBody>
      </p:sp>
      <p:sp>
        <p:nvSpPr>
          <p:cNvPr id="6" name="Slide Number Placeholder 5">
            <a:extLst>
              <a:ext uri="{FF2B5EF4-FFF2-40B4-BE49-F238E27FC236}">
                <a16:creationId xmlns:a16="http://schemas.microsoft.com/office/drawing/2014/main" id="{A7EA17DA-0D3F-410F-A9AA-3171ED151327}"/>
              </a:ext>
            </a:extLst>
          </p:cNvPr>
          <p:cNvSpPr>
            <a:spLocks noGrp="1"/>
          </p:cNvSpPr>
          <p:nvPr>
            <p:ph type="sldNum" sz="quarter" idx="4"/>
          </p:nvPr>
        </p:nvSpPr>
        <p:spPr>
          <a:xfrm>
            <a:off x="9395222" y="203201"/>
            <a:ext cx="425648" cy="244475"/>
          </a:xfrm>
          <a:prstGeom prst="rect">
            <a:avLst/>
          </a:prstGeom>
        </p:spPr>
        <p:txBody>
          <a:bodyPr vert="horz" lIns="0" tIns="0" rIns="0" bIns="0" rtlCol="0" anchor="ctr"/>
          <a:lstStyle>
            <a:lvl1pPr algn="ctr">
              <a:defRPr sz="691">
                <a:solidFill>
                  <a:srgbClr val="000000"/>
                </a:solidFill>
              </a:defRPr>
            </a:lvl1pPr>
          </a:lstStyle>
          <a:p>
            <a:fld id="{1E68DD1B-5CD8-424B-8173-19E182143E0A}" type="slidenum">
              <a:rPr lang="en-US" smtClean="0"/>
              <a:pPr/>
              <a:t>‹#›</a:t>
            </a:fld>
            <a:endParaRPr lang="en-US"/>
          </a:p>
        </p:txBody>
      </p:sp>
      <p:sp>
        <p:nvSpPr>
          <p:cNvPr id="13" name="TextBox 12">
            <a:extLst>
              <a:ext uri="{FF2B5EF4-FFF2-40B4-BE49-F238E27FC236}">
                <a16:creationId xmlns:a16="http://schemas.microsoft.com/office/drawing/2014/main" id="{AC18493A-1FC9-483C-BC41-405831F9D965}"/>
              </a:ext>
            </a:extLst>
          </p:cNvPr>
          <p:cNvSpPr txBox="1"/>
          <p:nvPr userDrawn="1"/>
        </p:nvSpPr>
        <p:spPr>
          <a:xfrm>
            <a:off x="8458795" y="203201"/>
            <a:ext cx="781645" cy="244475"/>
          </a:xfrm>
          <a:prstGeom prst="rect">
            <a:avLst/>
          </a:prstGeom>
          <a:noFill/>
        </p:spPr>
        <p:txBody>
          <a:bodyPr wrap="square" lIns="0" tIns="0" rIns="0" bIns="0" rtlCol="0" anchor="ctr" anchorCtr="0">
            <a:noAutofit/>
          </a:bodyPr>
          <a:lstStyle/>
          <a:p>
            <a:pPr algn="r"/>
            <a:r>
              <a:rPr lang="fi-FI" sz="691">
                <a:solidFill>
                  <a:srgbClr val="000000"/>
                </a:solidFill>
              </a:rPr>
              <a:t>ku.ac.ae</a:t>
            </a:r>
            <a:endParaRPr lang="en-US" sz="691">
              <a:solidFill>
                <a:srgbClr val="000000"/>
              </a:solidFill>
            </a:endParaRPr>
          </a:p>
        </p:txBody>
      </p:sp>
      <p:pic>
        <p:nvPicPr>
          <p:cNvPr id="8" name="Picture 7">
            <a:extLst>
              <a:ext uri="{FF2B5EF4-FFF2-40B4-BE49-F238E27FC236}">
                <a16:creationId xmlns:a16="http://schemas.microsoft.com/office/drawing/2014/main" id="{85F31A79-8F5C-4459-9F47-4F4A56020D63}"/>
              </a:ext>
            </a:extLst>
          </p:cNvPr>
          <p:cNvPicPr>
            <a:picLocks noChangeAspect="1"/>
          </p:cNvPicPr>
          <p:nvPr userDrawn="1"/>
        </p:nvPicPr>
        <p:blipFill>
          <a:blip r:embed="rId19" cstate="print">
            <a:duotone>
              <a:prstClr val="black"/>
              <a:srgbClr val="0047BA">
                <a:tint val="45000"/>
                <a:satMod val="400000"/>
              </a:srgbClr>
            </a:duotone>
            <a:extLst>
              <a:ext uri="{28A0092B-C50C-407E-A947-70E740481C1C}">
                <a14:useLocalDpi xmlns:a14="http://schemas.microsoft.com/office/drawing/2010/main" val="0"/>
              </a:ext>
            </a:extLst>
          </a:blip>
          <a:stretch>
            <a:fillRect/>
          </a:stretch>
        </p:blipFill>
        <p:spPr>
          <a:xfrm>
            <a:off x="311728" y="236125"/>
            <a:ext cx="1472127" cy="185303"/>
          </a:xfrm>
          <a:prstGeom prst="rect">
            <a:avLst/>
          </a:prstGeom>
        </p:spPr>
      </p:pic>
    </p:spTree>
    <p:extLst>
      <p:ext uri="{BB962C8B-B14F-4D97-AF65-F5344CB8AC3E}">
        <p14:creationId xmlns:p14="http://schemas.microsoft.com/office/powerpoint/2010/main" val="1107456480"/>
      </p:ext>
    </p:extLst>
  </p:cSld>
  <p:clrMap bg1="lt1" tx1="dk1" bg2="lt2" tx2="dk2" accent1="accent1" accent2="accent2" accent3="accent3" accent4="accent4" accent5="accent5" accent6="accent6" hlink="hlink" folHlink="folHlink"/>
  <p:sldLayoutIdLst>
    <p:sldLayoutId id="2147483649" r:id="rId1"/>
    <p:sldLayoutId id="2147483669" r:id="rId2"/>
    <p:sldLayoutId id="2147483668" r:id="rId3"/>
    <p:sldLayoutId id="2147483650" r:id="rId4"/>
    <p:sldLayoutId id="2147483662" r:id="rId5"/>
    <p:sldLayoutId id="2147483652" r:id="rId6"/>
    <p:sldLayoutId id="2147483661" r:id="rId7"/>
    <p:sldLayoutId id="2147483663" r:id="rId8"/>
    <p:sldLayoutId id="2147483660" r:id="rId9"/>
    <p:sldLayoutId id="2147483664" r:id="rId10"/>
    <p:sldLayoutId id="2147483665" r:id="rId11"/>
    <p:sldLayoutId id="2147483654" r:id="rId12"/>
    <p:sldLayoutId id="2147483671" r:id="rId13"/>
    <p:sldLayoutId id="2147483655" r:id="rId14"/>
    <p:sldLayoutId id="2147483651" r:id="rId15"/>
    <p:sldLayoutId id="2147483666" r:id="rId16"/>
    <p:sldLayoutId id="2147483667" r:id="rId17"/>
  </p:sldLayoutIdLst>
  <p:hf hdr="0"/>
  <p:txStyles>
    <p:titleStyle>
      <a:lvl1pPr algn="l" defTabSz="742950" rtl="0" eaLnBrk="1" latinLnBrk="0" hangingPunct="1">
        <a:lnSpc>
          <a:spcPct val="100000"/>
        </a:lnSpc>
        <a:spcBef>
          <a:spcPct val="0"/>
        </a:spcBef>
        <a:buNone/>
        <a:defRPr sz="2925" b="1" kern="1200" spc="41" baseline="0">
          <a:solidFill>
            <a:schemeClr val="tx2"/>
          </a:solidFill>
          <a:latin typeface="+mj-lt"/>
          <a:ea typeface="+mj-ea"/>
          <a:cs typeface="+mj-cs"/>
        </a:defRPr>
      </a:lvl1pPr>
    </p:titleStyle>
    <p:bodyStyle>
      <a:lvl1pPr marL="147042" indent="-147042" algn="l" defTabSz="742950" rtl="0" eaLnBrk="1" latinLnBrk="0" hangingPunct="1">
        <a:lnSpc>
          <a:spcPct val="100000"/>
        </a:lnSpc>
        <a:spcBef>
          <a:spcPts val="325"/>
        </a:spcBef>
        <a:buFont typeface="Arial" panose="020B0604020202020204" pitchFamily="34" charset="0"/>
        <a:buChar char="•"/>
        <a:defRPr sz="1503" b="1" kern="1200">
          <a:solidFill>
            <a:schemeClr val="tx1"/>
          </a:solidFill>
          <a:latin typeface="+mn-lt"/>
          <a:ea typeface="+mn-ea"/>
          <a:cs typeface="+mn-cs"/>
        </a:defRPr>
      </a:lvl1pPr>
      <a:lvl2pPr marL="441127" indent="-147042" algn="l" defTabSz="742950" rtl="0" eaLnBrk="1" latinLnBrk="0" hangingPunct="1">
        <a:lnSpc>
          <a:spcPct val="100000"/>
        </a:lnSpc>
        <a:spcBef>
          <a:spcPts val="325"/>
        </a:spcBef>
        <a:buFont typeface="Arial" panose="020B0604020202020204" pitchFamily="34" charset="0"/>
        <a:buChar char="•"/>
        <a:defRPr sz="1503" kern="1200">
          <a:solidFill>
            <a:schemeClr val="tx1"/>
          </a:solidFill>
          <a:latin typeface="+mn-lt"/>
          <a:ea typeface="+mn-ea"/>
          <a:cs typeface="+mn-cs"/>
        </a:defRPr>
      </a:lvl2pPr>
      <a:lvl3pPr marL="580430" indent="-139303"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3pPr>
      <a:lvl4pPr marL="727472" indent="-147042"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4pPr>
      <a:lvl5pPr marL="874514" indent="-147042" algn="l" defTabSz="742950" rtl="0" eaLnBrk="1" latinLnBrk="0" hangingPunct="1">
        <a:lnSpc>
          <a:spcPct val="100000"/>
        </a:lnSpc>
        <a:spcBef>
          <a:spcPts val="325"/>
        </a:spcBef>
        <a:buFont typeface="Arial" panose="020B0604020202020204" pitchFamily="34" charset="0"/>
        <a:buChar char="•"/>
        <a:defRPr sz="1300"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n-U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43ABC-9A46-4327-BF74-FE0C643DC4CF}"/>
              </a:ext>
            </a:extLst>
          </p:cNvPr>
          <p:cNvSpPr>
            <a:spLocks noGrp="1"/>
          </p:cNvSpPr>
          <p:nvPr>
            <p:ph type="ctrTitle"/>
          </p:nvPr>
        </p:nvSpPr>
        <p:spPr>
          <a:xfrm>
            <a:off x="669535" y="2271472"/>
            <a:ext cx="7240504" cy="1393031"/>
          </a:xfrm>
        </p:spPr>
        <p:txBody>
          <a:bodyPr>
            <a:normAutofit fontScale="90000"/>
          </a:bodyPr>
          <a:lstStyle/>
          <a:p>
            <a:pPr algn="l"/>
            <a:r>
              <a:rPr lang="en-US" noProof="0" dirty="0"/>
              <a:t>Research Computing End of Year </a:t>
            </a:r>
            <a:r>
              <a:rPr lang="en-US" dirty="0"/>
              <a:t>Report 2019</a:t>
            </a:r>
            <a:endParaRPr lang="en-US" noProof="0" dirty="0"/>
          </a:p>
        </p:txBody>
      </p:sp>
      <p:sp>
        <p:nvSpPr>
          <p:cNvPr id="3" name="Subtitle 2">
            <a:extLst>
              <a:ext uri="{FF2B5EF4-FFF2-40B4-BE49-F238E27FC236}">
                <a16:creationId xmlns:a16="http://schemas.microsoft.com/office/drawing/2014/main" id="{C0FC7021-FB77-4D35-AE1D-A857D1A422CD}"/>
              </a:ext>
            </a:extLst>
          </p:cNvPr>
          <p:cNvSpPr>
            <a:spLocks noGrp="1"/>
          </p:cNvSpPr>
          <p:nvPr>
            <p:ph type="subTitle" idx="1"/>
          </p:nvPr>
        </p:nvSpPr>
        <p:spPr>
          <a:xfrm>
            <a:off x="669535" y="3695460"/>
            <a:ext cx="7240504" cy="1013817"/>
          </a:xfrm>
        </p:spPr>
        <p:txBody>
          <a:bodyPr/>
          <a:lstStyle/>
          <a:p>
            <a:pPr algn="l"/>
            <a:r>
              <a:rPr lang="en-US" noProof="0" dirty="0"/>
              <a:t>January 2020</a:t>
            </a:r>
          </a:p>
        </p:txBody>
      </p:sp>
      <p:sp>
        <p:nvSpPr>
          <p:cNvPr id="4" name="Text Placeholder 3">
            <a:extLst>
              <a:ext uri="{FF2B5EF4-FFF2-40B4-BE49-F238E27FC236}">
                <a16:creationId xmlns:a16="http://schemas.microsoft.com/office/drawing/2014/main" id="{4D96F05C-E8E5-40A0-96E2-70DA59031E10}"/>
              </a:ext>
            </a:extLst>
          </p:cNvPr>
          <p:cNvSpPr>
            <a:spLocks noGrp="1"/>
          </p:cNvSpPr>
          <p:nvPr>
            <p:ph type="body" sz="quarter" idx="10"/>
          </p:nvPr>
        </p:nvSpPr>
        <p:spPr>
          <a:xfrm>
            <a:off x="669535" y="5103968"/>
            <a:ext cx="5468259" cy="255389"/>
          </a:xfrm>
        </p:spPr>
        <p:txBody>
          <a:bodyPr/>
          <a:lstStyle/>
          <a:p>
            <a:pPr algn="l"/>
            <a:endParaRPr lang="en-US" noProof="0" dirty="0"/>
          </a:p>
        </p:txBody>
      </p:sp>
    </p:spTree>
    <p:extLst>
      <p:ext uri="{BB962C8B-B14F-4D97-AF65-F5344CB8AC3E}">
        <p14:creationId xmlns:p14="http://schemas.microsoft.com/office/powerpoint/2010/main" val="3198639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6" y="653143"/>
            <a:ext cx="4809167" cy="828685"/>
          </a:xfrm>
        </p:spPr>
        <p:txBody>
          <a:bodyPr>
            <a:normAutofit fontScale="90000"/>
          </a:bodyPr>
          <a:lstStyle/>
          <a:p>
            <a:r>
              <a:rPr lang="en-US" noProof="0" dirty="0"/>
              <a:t>Objective</a:t>
            </a:r>
            <a:r>
              <a:rPr lang="en-US" dirty="0"/>
              <a:t>s and KPI’s agreed for 2019</a:t>
            </a:r>
            <a:endParaRPr lang="en-US" noProof="0"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2</a:t>
            </a:fld>
            <a:endParaRPr lang="en-US"/>
          </a:p>
        </p:txBody>
      </p:sp>
      <p:graphicFrame>
        <p:nvGraphicFramePr>
          <p:cNvPr id="8" name="Content Placeholder 7">
            <a:extLst>
              <a:ext uri="{FF2B5EF4-FFF2-40B4-BE49-F238E27FC236}">
                <a16:creationId xmlns:a16="http://schemas.microsoft.com/office/drawing/2014/main" id="{F4C7C340-DC86-9D47-A9B8-B5567169997C}"/>
              </a:ext>
            </a:extLst>
          </p:cNvPr>
          <p:cNvGraphicFramePr>
            <a:graphicFrameLocks noGrp="1"/>
          </p:cNvGraphicFramePr>
          <p:nvPr>
            <p:ph idx="1"/>
            <p:extLst>
              <p:ext uri="{D42A27DB-BD31-4B8C-83A1-F6EECF244321}">
                <p14:modId xmlns:p14="http://schemas.microsoft.com/office/powerpoint/2010/main" val="550712481"/>
              </p:ext>
            </p:extLst>
          </p:nvPr>
        </p:nvGraphicFramePr>
        <p:xfrm>
          <a:off x="637052" y="1481829"/>
          <a:ext cx="8758168" cy="4027026"/>
        </p:xfrm>
        <a:graphic>
          <a:graphicData uri="http://schemas.openxmlformats.org/drawingml/2006/table">
            <a:tbl>
              <a:tblPr firstRow="1" bandRow="1">
                <a:tableStyleId>{E8B1032C-EA38-4F05-BA0D-38AFFFC7BED3}</a:tableStyleId>
              </a:tblPr>
              <a:tblGrid>
                <a:gridCol w="2010407">
                  <a:extLst>
                    <a:ext uri="{9D8B030D-6E8A-4147-A177-3AD203B41FA5}">
                      <a16:colId xmlns:a16="http://schemas.microsoft.com/office/drawing/2014/main" val="1771890836"/>
                    </a:ext>
                  </a:extLst>
                </a:gridCol>
                <a:gridCol w="2205999">
                  <a:extLst>
                    <a:ext uri="{9D8B030D-6E8A-4147-A177-3AD203B41FA5}">
                      <a16:colId xmlns:a16="http://schemas.microsoft.com/office/drawing/2014/main" val="1469015678"/>
                    </a:ext>
                  </a:extLst>
                </a:gridCol>
                <a:gridCol w="2270881">
                  <a:extLst>
                    <a:ext uri="{9D8B030D-6E8A-4147-A177-3AD203B41FA5}">
                      <a16:colId xmlns:a16="http://schemas.microsoft.com/office/drawing/2014/main" val="4266751937"/>
                    </a:ext>
                  </a:extLst>
                </a:gridCol>
                <a:gridCol w="2270881">
                  <a:extLst>
                    <a:ext uri="{9D8B030D-6E8A-4147-A177-3AD203B41FA5}">
                      <a16:colId xmlns:a16="http://schemas.microsoft.com/office/drawing/2014/main" val="895016548"/>
                    </a:ext>
                  </a:extLst>
                </a:gridCol>
              </a:tblGrid>
              <a:tr h="408477">
                <a:tc>
                  <a:txBody>
                    <a:bodyPr/>
                    <a:lstStyle/>
                    <a:p>
                      <a:pPr algn="ctr"/>
                      <a:r>
                        <a:rPr lang="en-US" sz="1800" dirty="0"/>
                        <a:t>Goal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sz="1800" dirty="0"/>
                        <a:t>KPI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sz="1800" dirty="0"/>
                        <a:t>Comment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sz="1800" dirty="0"/>
                        <a:t>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27096998"/>
                  </a:ext>
                </a:extLst>
              </a:tr>
              <a:tr h="1201392">
                <a:tc>
                  <a:txBody>
                    <a:bodyPr/>
                    <a:lstStyle/>
                    <a:p>
                      <a:r>
                        <a:rPr lang="en-US" dirty="0"/>
                        <a:t>Goals and objectives setting for department staff</a:t>
                      </a:r>
                    </a:p>
                  </a:txBody>
                  <a:tcPr>
                    <a:lnT w="12700" cap="flat" cmpd="sng" algn="ctr">
                      <a:solidFill>
                        <a:schemeClr val="tx1"/>
                      </a:solidFill>
                      <a:prstDash val="solid"/>
                      <a:round/>
                      <a:headEnd type="none" w="med" len="med"/>
                      <a:tailEnd type="none" w="med" len="med"/>
                    </a:lnT>
                  </a:tcPr>
                </a:tc>
                <a:tc>
                  <a:txBody>
                    <a:bodyPr/>
                    <a:lstStyle/>
                    <a:p>
                      <a:r>
                        <a:rPr lang="en-US" dirty="0"/>
                        <a:t>Setting goals and objectives for department staff</a:t>
                      </a:r>
                    </a:p>
                  </a:txBody>
                  <a:tcPr>
                    <a:lnT w="12700" cap="flat" cmpd="sng" algn="ctr">
                      <a:solidFill>
                        <a:schemeClr val="tx1"/>
                      </a:solidFill>
                      <a:prstDash val="solid"/>
                      <a:round/>
                      <a:headEnd type="none" w="med" len="med"/>
                      <a:tailEnd type="none" w="med" len="med"/>
                    </a:lnT>
                  </a:tcPr>
                </a:tc>
                <a:tc>
                  <a:txBody>
                    <a:bodyPr/>
                    <a:lstStyle/>
                    <a:p>
                      <a:r>
                        <a:rPr lang="en-US" dirty="0"/>
                        <a:t>Deliverables for staff include:</a:t>
                      </a:r>
                    </a:p>
                    <a:p>
                      <a:pPr marL="285750" indent="-285750">
                        <a:buFont typeface="Arial" panose="020B0604020202020204" pitchFamily="34" charset="0"/>
                        <a:buChar char="•"/>
                      </a:pPr>
                      <a:r>
                        <a:rPr lang="en-US" dirty="0"/>
                        <a:t>Training course portfolio</a:t>
                      </a:r>
                    </a:p>
                    <a:p>
                      <a:pPr marL="285750" indent="-285750">
                        <a:buFont typeface="Arial" panose="020B0604020202020204" pitchFamily="34" charset="0"/>
                        <a:buChar char="•"/>
                      </a:pPr>
                      <a:r>
                        <a:rPr lang="en-US" dirty="0"/>
                        <a:t>Training materials</a:t>
                      </a:r>
                    </a:p>
                    <a:p>
                      <a:pPr marL="285750" indent="-285750">
                        <a:buFont typeface="Arial" panose="020B0604020202020204" pitchFamily="34" charset="0"/>
                        <a:buChar char="•"/>
                      </a:pPr>
                      <a:r>
                        <a:rPr lang="en-US" dirty="0"/>
                        <a:t>Service improvement projects</a:t>
                      </a:r>
                    </a:p>
                  </a:txBody>
                  <a:tcPr>
                    <a:lnT w="12700" cap="flat" cmpd="sng" algn="ctr">
                      <a:solidFill>
                        <a:schemeClr val="tx1"/>
                      </a:solidFill>
                      <a:prstDash val="solid"/>
                      <a:round/>
                      <a:headEnd type="none" w="med" len="med"/>
                      <a:tailEnd type="none" w="med" len="med"/>
                    </a:lnT>
                  </a:tcPr>
                </a:tc>
                <a:tc>
                  <a:txBody>
                    <a:bodyPr/>
                    <a:lstStyle/>
                    <a:p>
                      <a:pPr marL="0" indent="0">
                        <a:buFont typeface="Arial" panose="020B0604020202020204" pitchFamily="34" charset="0"/>
                        <a:buNone/>
                      </a:pPr>
                      <a:r>
                        <a:rPr lang="en-US" dirty="0"/>
                        <a:t>Completed. Have set objectives for department staff</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95212745"/>
                  </a:ext>
                </a:extLst>
              </a:tr>
              <a:tr h="552880">
                <a:tc>
                  <a:txBody>
                    <a:bodyPr/>
                    <a:lstStyle/>
                    <a:p>
                      <a:r>
                        <a:rPr lang="en-US" dirty="0"/>
                        <a:t>Monthly report submissions, on time and complete</a:t>
                      </a:r>
                    </a:p>
                  </a:txBody>
                  <a:tcPr/>
                </a:tc>
                <a:tc>
                  <a:txBody>
                    <a:bodyPr/>
                    <a:lstStyle/>
                    <a:p>
                      <a:r>
                        <a:rPr lang="en-US" dirty="0"/>
                        <a:t>Timely submission of monthly reports</a:t>
                      </a:r>
                    </a:p>
                  </a:txBody>
                  <a:tcPr/>
                </a:tc>
                <a:tc>
                  <a:txBody>
                    <a:bodyPr/>
                    <a:lstStyle/>
                    <a:p>
                      <a:endParaRPr lang="en-US" dirty="0"/>
                    </a:p>
                  </a:txBody>
                  <a:tcPr/>
                </a:tc>
                <a:tc>
                  <a:txBody>
                    <a:bodyPr/>
                    <a:lstStyle/>
                    <a:p>
                      <a:r>
                        <a:rPr lang="en-US" dirty="0"/>
                        <a:t>Completed. All reports submitted, though some were submitted late</a:t>
                      </a:r>
                    </a:p>
                  </a:txBody>
                  <a:tcPr/>
                </a:tc>
                <a:extLst>
                  <a:ext uri="{0D108BD9-81ED-4DB2-BD59-A6C34878D82A}">
                    <a16:rowId xmlns:a16="http://schemas.microsoft.com/office/drawing/2014/main" val="3615964389"/>
                  </a:ext>
                </a:extLst>
              </a:tr>
              <a:tr h="877136">
                <a:tc>
                  <a:txBody>
                    <a:bodyPr/>
                    <a:lstStyle/>
                    <a:p>
                      <a:r>
                        <a:rPr lang="en-US" dirty="0"/>
                        <a:t>Documented summary and gap analysis of ICT systems for department</a:t>
                      </a:r>
                    </a:p>
                  </a:txBody>
                  <a:tcPr/>
                </a:tc>
                <a:tc>
                  <a:txBody>
                    <a:bodyPr/>
                    <a:lstStyle/>
                    <a:p>
                      <a:r>
                        <a:rPr lang="en-US" dirty="0"/>
                        <a:t>Actionable project plans to address GAPs</a:t>
                      </a:r>
                    </a:p>
                  </a:txBody>
                  <a:tcPr/>
                </a:tc>
                <a:tc>
                  <a:txBody>
                    <a:bodyPr/>
                    <a:lstStyle/>
                    <a:p>
                      <a:endParaRPr lang="en-US" dirty="0"/>
                    </a:p>
                  </a:txBody>
                  <a:tcPr/>
                </a:tc>
                <a:tc>
                  <a:txBody>
                    <a:bodyPr/>
                    <a:lstStyle/>
                    <a:p>
                      <a:r>
                        <a:rPr lang="en-US" dirty="0"/>
                        <a:t>Completed. Have plans to address gaps</a:t>
                      </a:r>
                    </a:p>
                  </a:txBody>
                  <a:tcPr/>
                </a:tc>
                <a:extLst>
                  <a:ext uri="{0D108BD9-81ED-4DB2-BD59-A6C34878D82A}">
                    <a16:rowId xmlns:a16="http://schemas.microsoft.com/office/drawing/2014/main" val="2107310875"/>
                  </a:ext>
                </a:extLst>
              </a:tr>
            </a:tbl>
          </a:graphicData>
        </a:graphic>
      </p:graphicFrame>
    </p:spTree>
    <p:extLst>
      <p:ext uri="{BB962C8B-B14F-4D97-AF65-F5344CB8AC3E}">
        <p14:creationId xmlns:p14="http://schemas.microsoft.com/office/powerpoint/2010/main" val="537252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6" y="653143"/>
            <a:ext cx="4809167" cy="828685"/>
          </a:xfrm>
        </p:spPr>
        <p:txBody>
          <a:bodyPr>
            <a:normAutofit fontScale="90000"/>
          </a:bodyPr>
          <a:lstStyle/>
          <a:p>
            <a:r>
              <a:rPr lang="en-US" noProof="0" dirty="0"/>
              <a:t>Objective</a:t>
            </a:r>
            <a:r>
              <a:rPr lang="en-US" dirty="0"/>
              <a:t>s and KPI’s agreed for 2019 continued</a:t>
            </a:r>
            <a:endParaRPr lang="en-US" noProof="0"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3</a:t>
            </a:fld>
            <a:endParaRPr lang="en-US"/>
          </a:p>
        </p:txBody>
      </p:sp>
      <p:graphicFrame>
        <p:nvGraphicFramePr>
          <p:cNvPr id="8" name="Content Placeholder 7">
            <a:extLst>
              <a:ext uri="{FF2B5EF4-FFF2-40B4-BE49-F238E27FC236}">
                <a16:creationId xmlns:a16="http://schemas.microsoft.com/office/drawing/2014/main" id="{F4C7C340-DC86-9D47-A9B8-B5567169997C}"/>
              </a:ext>
            </a:extLst>
          </p:cNvPr>
          <p:cNvGraphicFramePr>
            <a:graphicFrameLocks noGrp="1"/>
          </p:cNvGraphicFramePr>
          <p:nvPr>
            <p:ph idx="1"/>
            <p:extLst>
              <p:ext uri="{D42A27DB-BD31-4B8C-83A1-F6EECF244321}">
                <p14:modId xmlns:p14="http://schemas.microsoft.com/office/powerpoint/2010/main" val="1405691582"/>
              </p:ext>
            </p:extLst>
          </p:nvPr>
        </p:nvGraphicFramePr>
        <p:xfrm>
          <a:off x="637052" y="1481828"/>
          <a:ext cx="8758171" cy="4980615"/>
        </p:xfrm>
        <a:graphic>
          <a:graphicData uri="http://schemas.openxmlformats.org/drawingml/2006/table">
            <a:tbl>
              <a:tblPr firstRow="1" bandRow="1">
                <a:tableStyleId>{E8B1032C-EA38-4F05-BA0D-38AFFFC7BED3}</a:tableStyleId>
              </a:tblPr>
              <a:tblGrid>
                <a:gridCol w="2010408">
                  <a:extLst>
                    <a:ext uri="{9D8B030D-6E8A-4147-A177-3AD203B41FA5}">
                      <a16:colId xmlns:a16="http://schemas.microsoft.com/office/drawing/2014/main" val="1771890836"/>
                    </a:ext>
                  </a:extLst>
                </a:gridCol>
                <a:gridCol w="2205999">
                  <a:extLst>
                    <a:ext uri="{9D8B030D-6E8A-4147-A177-3AD203B41FA5}">
                      <a16:colId xmlns:a16="http://schemas.microsoft.com/office/drawing/2014/main" val="1469015678"/>
                    </a:ext>
                  </a:extLst>
                </a:gridCol>
                <a:gridCol w="2331112">
                  <a:extLst>
                    <a:ext uri="{9D8B030D-6E8A-4147-A177-3AD203B41FA5}">
                      <a16:colId xmlns:a16="http://schemas.microsoft.com/office/drawing/2014/main" val="4266751937"/>
                    </a:ext>
                  </a:extLst>
                </a:gridCol>
                <a:gridCol w="2210652">
                  <a:extLst>
                    <a:ext uri="{9D8B030D-6E8A-4147-A177-3AD203B41FA5}">
                      <a16:colId xmlns:a16="http://schemas.microsoft.com/office/drawing/2014/main" val="2215148967"/>
                    </a:ext>
                  </a:extLst>
                </a:gridCol>
              </a:tblGrid>
              <a:tr h="561713">
                <a:tc>
                  <a:txBody>
                    <a:bodyPr/>
                    <a:lstStyle/>
                    <a:p>
                      <a:pPr algn="ctr"/>
                      <a:r>
                        <a:rPr lang="en-US" sz="1800" dirty="0"/>
                        <a:t>Goal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sz="1800" dirty="0"/>
                        <a:t>KPI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sz="1800" dirty="0"/>
                        <a:t>Comment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sz="1800" dirty="0"/>
                        <a:t>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27096998"/>
                  </a:ext>
                </a:extLst>
              </a:tr>
              <a:tr h="561713">
                <a:tc>
                  <a:txBody>
                    <a:bodyPr/>
                    <a:lstStyle/>
                    <a:p>
                      <a:r>
                        <a:rPr lang="en-US" dirty="0"/>
                        <a:t>Increase utilization of department’s central computation resources</a:t>
                      </a:r>
                    </a:p>
                  </a:txBody>
                  <a:tcP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dirty="0"/>
                        <a:t>Percentage of available resources utilized</a:t>
                      </a:r>
                    </a:p>
                  </a:txBody>
                  <a:tcP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dirty="0"/>
                        <a:t>Metrics will include:</a:t>
                      </a:r>
                    </a:p>
                    <a:p>
                      <a:pPr marL="285750" indent="-285750">
                        <a:buFont typeface="Arial" panose="020B0604020202020204" pitchFamily="34" charset="0"/>
                        <a:buChar char="•"/>
                      </a:pPr>
                      <a:r>
                        <a:rPr lang="en-US" dirty="0"/>
                        <a:t>% of available resources utilized</a:t>
                      </a:r>
                    </a:p>
                    <a:p>
                      <a:pPr marL="285750" indent="-285750">
                        <a:buFont typeface="Arial" panose="020B0604020202020204" pitchFamily="34" charset="0"/>
                        <a:buChar char="•"/>
                      </a:pPr>
                      <a:r>
                        <a:rPr lang="en-US" dirty="0"/>
                        <a:t>% of utilization that can be attributed to each research project and user</a:t>
                      </a:r>
                    </a:p>
                    <a:p>
                      <a:pPr marL="285750" indent="-285750">
                        <a:buFont typeface="Arial" panose="020B0604020202020204" pitchFamily="34" charset="0"/>
                        <a:buChar char="•"/>
                      </a:pPr>
                      <a:r>
                        <a:rPr lang="en-US" dirty="0"/>
                        <a:t>$ value of projects supported by RC central resources</a:t>
                      </a:r>
                    </a:p>
                    <a:p>
                      <a:pPr marL="285750" indent="-285750">
                        <a:buFont typeface="Arial" panose="020B0604020202020204" pitchFamily="34" charset="0"/>
                        <a:buChar char="•"/>
                      </a:pPr>
                      <a:r>
                        <a:rPr lang="en-US" dirty="0"/>
                        <a:t>% of uptime and service interruption, due to unplanned outages</a:t>
                      </a:r>
                    </a:p>
                  </a:txBody>
                  <a:tcP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285750" indent="-285750">
                        <a:buFont typeface="Arial" panose="020B0604020202020204" pitchFamily="34" charset="0"/>
                        <a:buChar char="•"/>
                      </a:pPr>
                      <a:r>
                        <a:rPr lang="en-US" dirty="0"/>
                        <a:t>Ongoing and continuous target. </a:t>
                      </a:r>
                    </a:p>
                    <a:p>
                      <a:pPr marL="285750" indent="-285750">
                        <a:buFont typeface="Arial" panose="020B0604020202020204" pitchFamily="34" charset="0"/>
                        <a:buChar char="•"/>
                      </a:pPr>
                      <a:r>
                        <a:rPr lang="en-US" dirty="0"/>
                        <a:t>Do not currently have the ability to measure all of these metrics, especially value of projects and project </a:t>
                      </a:r>
                      <a:r>
                        <a:rPr lang="en-US" dirty="0" err="1"/>
                        <a:t>utilzation</a:t>
                      </a:r>
                      <a:endParaRPr lang="en-US" dirty="0"/>
                    </a:p>
                  </a:txBody>
                  <a:tcP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532463239"/>
                  </a:ext>
                </a:extLst>
              </a:tr>
              <a:tr h="561713">
                <a:tc>
                  <a:txBody>
                    <a:bodyPr/>
                    <a:lstStyle/>
                    <a:p>
                      <a:r>
                        <a:rPr lang="en-US" dirty="0"/>
                        <a:t>University wide survey to improve department function</a:t>
                      </a:r>
                    </a:p>
                  </a:txBody>
                  <a:tcPr>
                    <a:lnT w="12700" cap="flat" cmpd="sng" algn="ctr">
                      <a:noFill/>
                      <a:prstDash val="solid"/>
                      <a:round/>
                      <a:headEnd type="none" w="med" len="med"/>
                      <a:tailEnd type="none" w="med" len="med"/>
                    </a:lnT>
                  </a:tcPr>
                </a:tc>
                <a:tc>
                  <a:txBody>
                    <a:bodyPr/>
                    <a:lstStyle/>
                    <a:p>
                      <a:r>
                        <a:rPr lang="en-US" dirty="0"/>
                        <a:t>Completion of analysis of survey</a:t>
                      </a:r>
                    </a:p>
                  </a:txBody>
                  <a:tcPr>
                    <a:lnT w="12700" cap="flat" cmpd="sng" algn="ctr">
                      <a:noFill/>
                      <a:prstDash val="solid"/>
                      <a:round/>
                      <a:headEnd type="none" w="med" len="med"/>
                      <a:tailEnd type="none" w="med" len="med"/>
                    </a:lnT>
                  </a:tcPr>
                </a:tc>
                <a:tc>
                  <a:txBody>
                    <a:bodyPr/>
                    <a:lstStyle/>
                    <a:p>
                      <a:r>
                        <a:rPr lang="en-US" dirty="0"/>
                        <a:t>Target include:</a:t>
                      </a:r>
                    </a:p>
                    <a:p>
                      <a:pPr marL="285750" indent="-285750">
                        <a:buFont typeface="Arial" panose="020B0604020202020204" pitchFamily="34" charset="0"/>
                        <a:buChar char="•"/>
                      </a:pPr>
                      <a:r>
                        <a:rPr lang="en-US" dirty="0"/>
                        <a:t>Improve on last year’s responses</a:t>
                      </a:r>
                    </a:p>
                    <a:p>
                      <a:pPr marL="285750" indent="-285750">
                        <a:buFont typeface="Arial" panose="020B0604020202020204" pitchFamily="34" charset="0"/>
                        <a:buChar char="•"/>
                      </a:pPr>
                      <a:r>
                        <a:rPr lang="en-US" dirty="0"/>
                        <a:t>Establish a new baseline</a:t>
                      </a:r>
                    </a:p>
                  </a:txBody>
                  <a:tcPr>
                    <a:lnT w="12700" cap="flat" cmpd="sng" algn="ctr">
                      <a:noFill/>
                      <a:prstDash val="solid"/>
                      <a:round/>
                      <a:headEnd type="none" w="med" len="med"/>
                      <a:tailEnd type="none" w="med" len="med"/>
                    </a:lnT>
                  </a:tcPr>
                </a:tc>
                <a:tc>
                  <a:txBody>
                    <a:bodyPr/>
                    <a:lstStyle/>
                    <a:p>
                      <a:pPr marL="285750" indent="-285750">
                        <a:buFont typeface="Arial" panose="020B0604020202020204" pitchFamily="34" charset="0"/>
                        <a:buChar char="•"/>
                      </a:pPr>
                      <a:r>
                        <a:rPr lang="en-US" dirty="0"/>
                        <a:t>Have draft survey, but have not distributed to users.</a:t>
                      </a:r>
                    </a:p>
                  </a:txBody>
                  <a:tcPr>
                    <a:lnT w="12700" cap="flat" cmpd="sng" algn="ctr">
                      <a:noFill/>
                      <a:prstDash val="solid"/>
                      <a:round/>
                      <a:headEnd type="none" w="med" len="med"/>
                      <a:tailEnd type="none" w="med" len="med"/>
                    </a:lnT>
                  </a:tcPr>
                </a:tc>
                <a:extLst>
                  <a:ext uri="{0D108BD9-81ED-4DB2-BD59-A6C34878D82A}">
                    <a16:rowId xmlns:a16="http://schemas.microsoft.com/office/drawing/2014/main" val="3495212745"/>
                  </a:ext>
                </a:extLst>
              </a:tr>
            </a:tbl>
          </a:graphicData>
        </a:graphic>
      </p:graphicFrame>
    </p:spTree>
    <p:extLst>
      <p:ext uri="{BB962C8B-B14F-4D97-AF65-F5344CB8AC3E}">
        <p14:creationId xmlns:p14="http://schemas.microsoft.com/office/powerpoint/2010/main" val="1599343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6" y="653143"/>
            <a:ext cx="4809167" cy="828685"/>
          </a:xfrm>
        </p:spPr>
        <p:txBody>
          <a:bodyPr>
            <a:normAutofit fontScale="90000"/>
          </a:bodyPr>
          <a:lstStyle/>
          <a:p>
            <a:r>
              <a:rPr lang="en-US" noProof="0" dirty="0"/>
              <a:t>Objective</a:t>
            </a:r>
            <a:r>
              <a:rPr lang="en-US" dirty="0"/>
              <a:t>s and KPI’s agreed for 2019 continued</a:t>
            </a:r>
            <a:endParaRPr lang="en-US" noProof="0"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4</a:t>
            </a:fld>
            <a:endParaRPr lang="en-US"/>
          </a:p>
        </p:txBody>
      </p:sp>
      <p:graphicFrame>
        <p:nvGraphicFramePr>
          <p:cNvPr id="8" name="Content Placeholder 7">
            <a:extLst>
              <a:ext uri="{FF2B5EF4-FFF2-40B4-BE49-F238E27FC236}">
                <a16:creationId xmlns:a16="http://schemas.microsoft.com/office/drawing/2014/main" id="{F4C7C340-DC86-9D47-A9B8-B5567169997C}"/>
              </a:ext>
            </a:extLst>
          </p:cNvPr>
          <p:cNvGraphicFramePr>
            <a:graphicFrameLocks noGrp="1"/>
          </p:cNvGraphicFramePr>
          <p:nvPr>
            <p:ph idx="1"/>
            <p:extLst>
              <p:ext uri="{D42A27DB-BD31-4B8C-83A1-F6EECF244321}">
                <p14:modId xmlns:p14="http://schemas.microsoft.com/office/powerpoint/2010/main" val="1225921001"/>
              </p:ext>
            </p:extLst>
          </p:nvPr>
        </p:nvGraphicFramePr>
        <p:xfrm>
          <a:off x="637052" y="1481828"/>
          <a:ext cx="8758171" cy="2528182"/>
        </p:xfrm>
        <a:graphic>
          <a:graphicData uri="http://schemas.openxmlformats.org/drawingml/2006/table">
            <a:tbl>
              <a:tblPr firstRow="1" bandRow="1">
                <a:tableStyleId>{E8B1032C-EA38-4F05-BA0D-38AFFFC7BED3}</a:tableStyleId>
              </a:tblPr>
              <a:tblGrid>
                <a:gridCol w="2010408">
                  <a:extLst>
                    <a:ext uri="{9D8B030D-6E8A-4147-A177-3AD203B41FA5}">
                      <a16:colId xmlns:a16="http://schemas.microsoft.com/office/drawing/2014/main" val="1771890836"/>
                    </a:ext>
                  </a:extLst>
                </a:gridCol>
                <a:gridCol w="2205999">
                  <a:extLst>
                    <a:ext uri="{9D8B030D-6E8A-4147-A177-3AD203B41FA5}">
                      <a16:colId xmlns:a16="http://schemas.microsoft.com/office/drawing/2014/main" val="1469015678"/>
                    </a:ext>
                  </a:extLst>
                </a:gridCol>
                <a:gridCol w="2331112">
                  <a:extLst>
                    <a:ext uri="{9D8B030D-6E8A-4147-A177-3AD203B41FA5}">
                      <a16:colId xmlns:a16="http://schemas.microsoft.com/office/drawing/2014/main" val="4266751937"/>
                    </a:ext>
                  </a:extLst>
                </a:gridCol>
                <a:gridCol w="2210652">
                  <a:extLst>
                    <a:ext uri="{9D8B030D-6E8A-4147-A177-3AD203B41FA5}">
                      <a16:colId xmlns:a16="http://schemas.microsoft.com/office/drawing/2014/main" val="2215148967"/>
                    </a:ext>
                  </a:extLst>
                </a:gridCol>
              </a:tblGrid>
              <a:tr h="561713">
                <a:tc>
                  <a:txBody>
                    <a:bodyPr/>
                    <a:lstStyle/>
                    <a:p>
                      <a:pPr algn="ctr"/>
                      <a:r>
                        <a:rPr lang="en-US" sz="1800" dirty="0"/>
                        <a:t>Goal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sz="1800" dirty="0"/>
                        <a:t>KPI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sz="1800" dirty="0"/>
                        <a:t>Comment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sz="1800" dirty="0"/>
                        <a:t>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27096998"/>
                  </a:ext>
                </a:extLst>
              </a:tr>
              <a:tr h="561713">
                <a:tc>
                  <a:txBody>
                    <a:bodyPr/>
                    <a:lstStyle/>
                    <a:p>
                      <a:r>
                        <a:rPr lang="en-US" dirty="0"/>
                        <a:t>Establishment of Research Computing faculty and staff committee (charter and regular meetings)</a:t>
                      </a:r>
                    </a:p>
                  </a:txBody>
                  <a:tcPr>
                    <a:lnT w="12700" cap="flat" cmpd="sng" algn="ctr">
                      <a:solidFill>
                        <a:schemeClr val="tx1"/>
                      </a:solidFill>
                      <a:prstDash val="solid"/>
                      <a:round/>
                      <a:headEnd type="none" w="med" len="med"/>
                      <a:tailEnd type="none" w="med" len="med"/>
                    </a:lnT>
                  </a:tcPr>
                </a:tc>
                <a:tc>
                  <a:txBody>
                    <a:bodyPr/>
                    <a:lstStyle/>
                    <a:p>
                      <a:r>
                        <a:rPr lang="en-US" dirty="0"/>
                        <a:t>Form committee and hold at least one formal meeting</a:t>
                      </a:r>
                    </a:p>
                  </a:txBody>
                  <a:tcPr>
                    <a:lnT w="12700" cap="flat" cmpd="sng" algn="ctr">
                      <a:solidFill>
                        <a:schemeClr val="tx1"/>
                      </a:solidFill>
                      <a:prstDash val="solid"/>
                      <a:round/>
                      <a:headEnd type="none" w="med" len="med"/>
                      <a:tailEnd type="none" w="med" len="med"/>
                    </a:lnT>
                  </a:tcPr>
                </a:tc>
                <a:tc>
                  <a:txBody>
                    <a:bodyPr/>
                    <a:lstStyle/>
                    <a:p>
                      <a:r>
                        <a:rPr lang="en-US" dirty="0"/>
                        <a:t>Target is to form committee and hold at least one formal meeting</a:t>
                      </a:r>
                    </a:p>
                  </a:txBody>
                  <a:tcPr>
                    <a:lnT w="12700" cap="flat" cmpd="sng" algn="ctr">
                      <a:solidFill>
                        <a:schemeClr val="tx1"/>
                      </a:solidFill>
                      <a:prstDash val="solid"/>
                      <a:round/>
                      <a:headEnd type="none" w="med" len="med"/>
                      <a:tailEnd type="none" w="med" len="med"/>
                    </a:lnT>
                  </a:tcPr>
                </a:tc>
                <a:tc>
                  <a:txBody>
                    <a:bodyPr/>
                    <a:lstStyle/>
                    <a:p>
                      <a:pPr marL="285750" indent="-285750">
                        <a:buFont typeface="Arial" panose="020B0604020202020204" pitchFamily="34" charset="0"/>
                        <a:buChar char="•"/>
                      </a:pPr>
                      <a:r>
                        <a:rPr lang="en-US" dirty="0"/>
                        <a:t>Have draft charter. It is not yet approved and committee not formed</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15964389"/>
                  </a:ext>
                </a:extLst>
              </a:tr>
              <a:tr h="561713">
                <a:tc>
                  <a:txBody>
                    <a:bodyPr/>
                    <a:lstStyle/>
                    <a:p>
                      <a:r>
                        <a:rPr lang="en-US" dirty="0"/>
                        <a:t>Training and development plan for all department staff</a:t>
                      </a:r>
                    </a:p>
                  </a:txBody>
                  <a:tcPr/>
                </a:tc>
                <a:tc>
                  <a:txBody>
                    <a:bodyPr/>
                    <a:lstStyle/>
                    <a:p>
                      <a:r>
                        <a:rPr lang="en-US" dirty="0"/>
                        <a:t>Training Plans for all department staff</a:t>
                      </a:r>
                    </a:p>
                  </a:txBody>
                  <a:tcPr/>
                </a:tc>
                <a:tc>
                  <a:txBody>
                    <a:bodyPr/>
                    <a:lstStyle/>
                    <a:p>
                      <a:endParaRPr lang="en-US" dirty="0"/>
                    </a:p>
                  </a:txBody>
                  <a:tcPr/>
                </a:tc>
                <a:tc>
                  <a:txBody>
                    <a:bodyPr/>
                    <a:lstStyle/>
                    <a:p>
                      <a:pPr marL="285750" indent="-285750">
                        <a:buFont typeface="Arial" panose="020B0604020202020204" pitchFamily="34" charset="0"/>
                        <a:buChar char="•"/>
                      </a:pPr>
                      <a:r>
                        <a:rPr lang="en-US" dirty="0"/>
                        <a:t>Completed and submitted in Jan 2020</a:t>
                      </a:r>
                    </a:p>
                  </a:txBody>
                  <a:tcPr/>
                </a:tc>
                <a:extLst>
                  <a:ext uri="{0D108BD9-81ED-4DB2-BD59-A6C34878D82A}">
                    <a16:rowId xmlns:a16="http://schemas.microsoft.com/office/drawing/2014/main" val="2107310875"/>
                  </a:ext>
                </a:extLst>
              </a:tr>
            </a:tbl>
          </a:graphicData>
        </a:graphic>
      </p:graphicFrame>
    </p:spTree>
    <p:extLst>
      <p:ext uri="{BB962C8B-B14F-4D97-AF65-F5344CB8AC3E}">
        <p14:creationId xmlns:p14="http://schemas.microsoft.com/office/powerpoint/2010/main" val="2149116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612949"/>
            <a:ext cx="6658063" cy="868879"/>
          </a:xfrm>
        </p:spPr>
        <p:txBody>
          <a:bodyPr>
            <a:normAutofit fontScale="90000"/>
          </a:bodyPr>
          <a:lstStyle/>
          <a:p>
            <a:r>
              <a:rPr lang="en-US" noProof="0" dirty="0"/>
              <a:t>Goal and objective setting for department staff </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898297" y="1567544"/>
            <a:ext cx="8388577" cy="5104562"/>
          </a:xfrm>
        </p:spPr>
        <p:txBody>
          <a:bodyPr>
            <a:normAutofit fontScale="92500"/>
          </a:bodyPr>
          <a:lstStyle/>
          <a:p>
            <a:r>
              <a:rPr lang="en-US" sz="2400" b="0" dirty="0"/>
              <a:t>In 2019 had only one member of staff in department to consider, as our technical staff were still in their probation period. </a:t>
            </a:r>
          </a:p>
          <a:p>
            <a:r>
              <a:rPr lang="en-US" sz="2400" b="0" dirty="0"/>
              <a:t>Met up with Dr. Sergio, whose role is Scientific Computing support and set his goals.</a:t>
            </a:r>
          </a:p>
          <a:p>
            <a:r>
              <a:rPr lang="en-US" sz="2400" b="0" dirty="0"/>
              <a:t>The goals were centered around </a:t>
            </a:r>
          </a:p>
          <a:p>
            <a:pPr lvl="1"/>
            <a:r>
              <a:rPr lang="en-US" sz="2400" dirty="0"/>
              <a:t>Developing and delivering training courses</a:t>
            </a:r>
          </a:p>
          <a:p>
            <a:pPr lvl="1"/>
            <a:r>
              <a:rPr lang="en-US" sz="2400" b="0" dirty="0"/>
              <a:t>Creation of </a:t>
            </a:r>
            <a:r>
              <a:rPr lang="en-US" sz="2400" dirty="0"/>
              <a:t>utilization reports for HPC</a:t>
            </a:r>
          </a:p>
          <a:p>
            <a:pPr lvl="1"/>
            <a:r>
              <a:rPr lang="en-US" sz="2400" b="0" dirty="0"/>
              <a:t>Increase number of users on HPC systems</a:t>
            </a:r>
          </a:p>
          <a:p>
            <a:pPr lvl="1"/>
            <a:r>
              <a:rPr lang="en-US" sz="2400" b="0" dirty="0"/>
              <a:t>Create and maintain wiki/knowledge base for Research Computing resources.</a:t>
            </a:r>
          </a:p>
          <a:p>
            <a:pPr lvl="1"/>
            <a:r>
              <a:rPr lang="en-US" sz="2400" dirty="0"/>
              <a:t>Develop knowledge and skill in AI and machine learning via training course</a:t>
            </a:r>
          </a:p>
          <a:p>
            <a:r>
              <a:rPr lang="en-US" sz="2400" b="0" dirty="0"/>
              <a:t>The final report on the status of his objectives will be included as a separate document.</a:t>
            </a:r>
          </a:p>
          <a:p>
            <a:pPr lvl="1"/>
            <a:endParaRPr lang="en-US" sz="2400" b="0"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5</a:t>
            </a:fld>
            <a:endParaRPr lang="en-US"/>
          </a:p>
        </p:txBody>
      </p:sp>
    </p:spTree>
    <p:extLst>
      <p:ext uri="{BB962C8B-B14F-4D97-AF65-F5344CB8AC3E}">
        <p14:creationId xmlns:p14="http://schemas.microsoft.com/office/powerpoint/2010/main" val="2204144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612949"/>
            <a:ext cx="6658063" cy="868879"/>
          </a:xfrm>
        </p:spPr>
        <p:txBody>
          <a:bodyPr>
            <a:normAutofit fontScale="90000"/>
          </a:bodyPr>
          <a:lstStyle/>
          <a:p>
            <a:r>
              <a:rPr lang="en-US" dirty="0"/>
              <a:t>Monthly report submissions, on time and complete</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898297" y="1567544"/>
            <a:ext cx="8388577" cy="5104562"/>
          </a:xfrm>
        </p:spPr>
        <p:txBody>
          <a:bodyPr>
            <a:normAutofit/>
          </a:bodyPr>
          <a:lstStyle/>
          <a:p>
            <a:r>
              <a:rPr lang="en-US" sz="2400" b="0" dirty="0"/>
              <a:t>All monthly reports submitted</a:t>
            </a:r>
          </a:p>
          <a:p>
            <a:pPr lvl="1"/>
            <a:r>
              <a:rPr lang="en-US" sz="2400" b="0" dirty="0"/>
              <a:t>Some reports submitted late</a:t>
            </a:r>
          </a:p>
          <a:p>
            <a:pPr lvl="1"/>
            <a:r>
              <a:rPr lang="en-US" sz="2400" dirty="0"/>
              <a:t> N</a:t>
            </a:r>
            <a:r>
              <a:rPr lang="en-US" sz="2400" b="0" dirty="0"/>
              <a:t>eed to improve and reformat reports to include KPI’s</a:t>
            </a:r>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6</a:t>
            </a:fld>
            <a:endParaRPr lang="en-US"/>
          </a:p>
        </p:txBody>
      </p:sp>
    </p:spTree>
    <p:extLst>
      <p:ext uri="{BB962C8B-B14F-4D97-AF65-F5344CB8AC3E}">
        <p14:creationId xmlns:p14="http://schemas.microsoft.com/office/powerpoint/2010/main" val="1804636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612949"/>
            <a:ext cx="6658063" cy="868879"/>
          </a:xfrm>
        </p:spPr>
        <p:txBody>
          <a:bodyPr>
            <a:normAutofit fontScale="90000"/>
          </a:bodyPr>
          <a:lstStyle/>
          <a:p>
            <a:r>
              <a:rPr lang="en-US" dirty="0"/>
              <a:t>Documented summary and gap analysis of ICT systems for department</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898297" y="1567544"/>
            <a:ext cx="8388577" cy="5104562"/>
          </a:xfrm>
        </p:spPr>
        <p:txBody>
          <a:bodyPr>
            <a:normAutofit/>
          </a:bodyPr>
          <a:lstStyle/>
          <a:p>
            <a:r>
              <a:rPr lang="en-US" sz="2400" b="0" dirty="0"/>
              <a:t>GAPs identified</a:t>
            </a:r>
          </a:p>
          <a:p>
            <a:pPr lvl="1"/>
            <a:r>
              <a:rPr lang="en-US" sz="2400" b="0" dirty="0"/>
              <a:t>Need new up to date HPC system. RFP underway</a:t>
            </a:r>
          </a:p>
          <a:p>
            <a:pPr lvl="1"/>
            <a:r>
              <a:rPr lang="en-US" sz="2400" dirty="0"/>
              <a:t>Improve stability of existing HPC. Plan in place and being executed.</a:t>
            </a:r>
            <a:endParaRPr lang="en-US" sz="2400" b="0" dirty="0"/>
          </a:p>
          <a:p>
            <a:pPr lvl="1"/>
            <a:r>
              <a:rPr lang="en-US" sz="2400" b="0" dirty="0"/>
              <a:t>Need to develop Storage strategy and practical plans. This is underway, in conjunction with ANKABUT/IT. </a:t>
            </a:r>
          </a:p>
          <a:p>
            <a:pPr lvl="1"/>
            <a:r>
              <a:rPr lang="en-US" sz="2400" dirty="0"/>
              <a:t>Need to replace and grow provision of managed virtual machines provided to researchers. Planned and budgeted for in 2020.</a:t>
            </a:r>
            <a:endParaRPr lang="en-US" sz="2400" b="0" dirty="0"/>
          </a:p>
          <a:p>
            <a:pPr lvl="1"/>
            <a:r>
              <a:rPr lang="en-US" sz="2400" dirty="0"/>
              <a:t> Need to streamline process for researchers to acquire computational resources from project funds. Underway with ANKABUT/IT and nearly completed.</a:t>
            </a:r>
            <a:endParaRPr lang="en-US" sz="2400" b="0"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7</a:t>
            </a:fld>
            <a:endParaRPr lang="en-US"/>
          </a:p>
        </p:txBody>
      </p:sp>
    </p:spTree>
    <p:extLst>
      <p:ext uri="{BB962C8B-B14F-4D97-AF65-F5344CB8AC3E}">
        <p14:creationId xmlns:p14="http://schemas.microsoft.com/office/powerpoint/2010/main" val="3582957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612949"/>
            <a:ext cx="6658063" cy="868879"/>
          </a:xfrm>
        </p:spPr>
        <p:txBody>
          <a:bodyPr>
            <a:normAutofit fontScale="90000"/>
          </a:bodyPr>
          <a:lstStyle/>
          <a:p>
            <a:r>
              <a:rPr lang="en-US" dirty="0"/>
              <a:t>Increase utilization of department’s central computation resources</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898297" y="1567544"/>
            <a:ext cx="8388577" cy="5104562"/>
          </a:xfrm>
        </p:spPr>
        <p:txBody>
          <a:bodyPr>
            <a:normAutofit/>
          </a:bodyPr>
          <a:lstStyle/>
          <a:p>
            <a:r>
              <a:rPr lang="en-US" sz="2400" b="0" dirty="0"/>
              <a:t>This is a continuous and ongoing task</a:t>
            </a:r>
          </a:p>
          <a:p>
            <a:pPr lvl="1"/>
            <a:r>
              <a:rPr lang="en-US" sz="2400" dirty="0"/>
              <a:t>Utilization of central resources varies from month to month, but is generally on an upward trend. This includes utilization of storage HPC cycles, and virtual machines.</a:t>
            </a:r>
          </a:p>
          <a:p>
            <a:pPr lvl="1"/>
            <a:r>
              <a:rPr lang="en-US" sz="2400" b="0" dirty="0"/>
              <a:t>Still not able to measure all the required metrics. This is mainly due to not having access to definitive list of projects and their details. </a:t>
            </a:r>
            <a:r>
              <a:rPr lang="en-US" sz="2400" dirty="0"/>
              <a:t>Details such as, project PI, members, funding amounts etc.. Once this information is available we can attribute utilization to projects, and measure value of projects running on HPC and other RC resources.</a:t>
            </a:r>
          </a:p>
          <a:p>
            <a:pPr lvl="1"/>
            <a:r>
              <a:rPr lang="en-US" sz="2400" b="0" dirty="0"/>
              <a:t>Worth noting that we are working with Research labs on compiling this list of projects and project details, and some progress has been made.</a:t>
            </a:r>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8</a:t>
            </a:fld>
            <a:endParaRPr lang="en-US"/>
          </a:p>
        </p:txBody>
      </p:sp>
    </p:spTree>
    <p:extLst>
      <p:ext uri="{BB962C8B-B14F-4D97-AF65-F5344CB8AC3E}">
        <p14:creationId xmlns:p14="http://schemas.microsoft.com/office/powerpoint/2010/main" val="1218544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612949"/>
            <a:ext cx="6658063" cy="868879"/>
          </a:xfrm>
        </p:spPr>
        <p:txBody>
          <a:bodyPr>
            <a:normAutofit fontScale="90000"/>
          </a:bodyPr>
          <a:lstStyle/>
          <a:p>
            <a:r>
              <a:rPr lang="en-US" dirty="0"/>
              <a:t>University wide survey to improve department function</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898297" y="1567544"/>
            <a:ext cx="8388577" cy="5104562"/>
          </a:xfrm>
        </p:spPr>
        <p:txBody>
          <a:bodyPr>
            <a:normAutofit/>
          </a:bodyPr>
          <a:lstStyle/>
          <a:p>
            <a:r>
              <a:rPr lang="en-US" sz="2400" b="0" dirty="0"/>
              <a:t>Have drafted survey.</a:t>
            </a:r>
          </a:p>
          <a:p>
            <a:r>
              <a:rPr lang="en-US" sz="2400" b="0" dirty="0"/>
              <a:t>Have not distributed survey, as the tool formerly used for this is no longer available. </a:t>
            </a:r>
          </a:p>
          <a:p>
            <a:r>
              <a:rPr lang="en-US" sz="2400" b="0" dirty="0"/>
              <a:t>In addition, KU policy is now to distribute survey via Planning department.</a:t>
            </a:r>
          </a:p>
          <a:p>
            <a:r>
              <a:rPr lang="en-US" sz="2400" b="0" dirty="0"/>
              <a:t>Have submitted draft to planning department but this has not progressed.</a:t>
            </a:r>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9</a:t>
            </a:fld>
            <a:endParaRPr lang="en-US"/>
          </a:p>
        </p:txBody>
      </p:sp>
    </p:spTree>
    <p:extLst>
      <p:ext uri="{BB962C8B-B14F-4D97-AF65-F5344CB8AC3E}">
        <p14:creationId xmlns:p14="http://schemas.microsoft.com/office/powerpoint/2010/main" val="1241709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612949"/>
            <a:ext cx="8388577" cy="868879"/>
          </a:xfrm>
        </p:spPr>
        <p:txBody>
          <a:bodyPr>
            <a:normAutofit fontScale="90000"/>
          </a:bodyPr>
          <a:lstStyle/>
          <a:p>
            <a:r>
              <a:rPr lang="en-US" dirty="0"/>
              <a:t>Establishment of Research Computing faculty and staff committee</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898297" y="1567544"/>
            <a:ext cx="8388577" cy="5104562"/>
          </a:xfrm>
        </p:spPr>
        <p:txBody>
          <a:bodyPr>
            <a:normAutofit/>
          </a:bodyPr>
          <a:lstStyle/>
          <a:p>
            <a:r>
              <a:rPr lang="en-US" sz="2400" b="0" dirty="0"/>
              <a:t>Have drafted charter.</a:t>
            </a:r>
          </a:p>
          <a:p>
            <a:r>
              <a:rPr lang="en-US" sz="2400" b="0" dirty="0"/>
              <a:t>Need to get charter approved by KU and once approved can form committee.</a:t>
            </a:r>
          </a:p>
          <a:p>
            <a:r>
              <a:rPr lang="en-US" sz="2400" b="0" dirty="0"/>
              <a:t>Will be pursuing this in early 2020 </a:t>
            </a:r>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10</a:t>
            </a:fld>
            <a:endParaRPr lang="en-US"/>
          </a:p>
        </p:txBody>
      </p:sp>
    </p:spTree>
    <p:extLst>
      <p:ext uri="{BB962C8B-B14F-4D97-AF65-F5344CB8AC3E}">
        <p14:creationId xmlns:p14="http://schemas.microsoft.com/office/powerpoint/2010/main" val="17529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AE0E4-85DE-4F16-91DA-63A23F739F1F}"/>
              </a:ext>
            </a:extLst>
          </p:cNvPr>
          <p:cNvSpPr>
            <a:spLocks noGrp="1"/>
          </p:cNvSpPr>
          <p:nvPr>
            <p:ph type="title"/>
          </p:nvPr>
        </p:nvSpPr>
        <p:spPr>
          <a:xfrm>
            <a:off x="898297" y="612949"/>
            <a:ext cx="8388577" cy="868879"/>
          </a:xfrm>
        </p:spPr>
        <p:txBody>
          <a:bodyPr>
            <a:normAutofit fontScale="90000"/>
          </a:bodyPr>
          <a:lstStyle/>
          <a:p>
            <a:r>
              <a:rPr lang="en-US" dirty="0"/>
              <a:t>Training and development plan for all department staff</a:t>
            </a:r>
          </a:p>
        </p:txBody>
      </p:sp>
      <p:sp>
        <p:nvSpPr>
          <p:cNvPr id="3" name="Content Placeholder 2">
            <a:extLst>
              <a:ext uri="{FF2B5EF4-FFF2-40B4-BE49-F238E27FC236}">
                <a16:creationId xmlns:a16="http://schemas.microsoft.com/office/drawing/2014/main" id="{C194C429-305C-4CC4-9AAC-45E533DB8CCF}"/>
              </a:ext>
            </a:extLst>
          </p:cNvPr>
          <p:cNvSpPr>
            <a:spLocks noGrp="1"/>
          </p:cNvSpPr>
          <p:nvPr>
            <p:ph idx="1"/>
          </p:nvPr>
        </p:nvSpPr>
        <p:spPr>
          <a:xfrm>
            <a:off x="898297" y="1567544"/>
            <a:ext cx="8388577" cy="5104562"/>
          </a:xfrm>
        </p:spPr>
        <p:txBody>
          <a:bodyPr>
            <a:normAutofit/>
          </a:bodyPr>
          <a:lstStyle/>
          <a:p>
            <a:r>
              <a:rPr lang="en-US" sz="2400" b="0" dirty="0"/>
              <a:t>Training plans discussed with department staff. This has since been submitted.</a:t>
            </a:r>
          </a:p>
          <a:p>
            <a:r>
              <a:rPr lang="en-US" sz="2400" b="0" dirty="0"/>
              <a:t>Plans include:</a:t>
            </a:r>
          </a:p>
          <a:p>
            <a:pPr lvl="1"/>
            <a:r>
              <a:rPr lang="en-US" sz="2400" dirty="0"/>
              <a:t>Attending International Supercomputing Conference ISC20</a:t>
            </a:r>
          </a:p>
          <a:p>
            <a:pPr lvl="1"/>
            <a:r>
              <a:rPr lang="en-US" sz="2400" dirty="0"/>
              <a:t>Attending Supercomputing Conference SC20 </a:t>
            </a:r>
          </a:p>
          <a:p>
            <a:pPr lvl="1"/>
            <a:r>
              <a:rPr lang="en-US" sz="2400" b="0" dirty="0"/>
              <a:t>AI</a:t>
            </a:r>
            <a:r>
              <a:rPr lang="en-US" sz="2400" dirty="0"/>
              <a:t>, Machine Learning and Deep Learning training courses</a:t>
            </a:r>
          </a:p>
          <a:p>
            <a:pPr lvl="1"/>
            <a:r>
              <a:rPr lang="en-US" sz="2400" dirty="0"/>
              <a:t>OpenStack Training and certification</a:t>
            </a:r>
          </a:p>
          <a:p>
            <a:pPr lvl="1"/>
            <a:r>
              <a:rPr lang="en-US" sz="2400" b="0" dirty="0"/>
              <a:t>VMWare training </a:t>
            </a:r>
            <a:r>
              <a:rPr lang="en-US" sz="2400" b="0"/>
              <a:t>and certification</a:t>
            </a:r>
            <a:endParaRPr lang="en-US" sz="2400" b="0" dirty="0"/>
          </a:p>
        </p:txBody>
      </p:sp>
      <p:sp>
        <p:nvSpPr>
          <p:cNvPr id="6" name="Slide Number Placeholder 5">
            <a:extLst>
              <a:ext uri="{FF2B5EF4-FFF2-40B4-BE49-F238E27FC236}">
                <a16:creationId xmlns:a16="http://schemas.microsoft.com/office/drawing/2014/main" id="{5E918707-6809-45DB-87A9-B541AB553D1C}"/>
              </a:ext>
            </a:extLst>
          </p:cNvPr>
          <p:cNvSpPr>
            <a:spLocks noGrp="1"/>
          </p:cNvSpPr>
          <p:nvPr>
            <p:ph type="sldNum" sz="quarter" idx="12"/>
          </p:nvPr>
        </p:nvSpPr>
        <p:spPr/>
        <p:txBody>
          <a:bodyPr/>
          <a:lstStyle/>
          <a:p>
            <a:fld id="{1E68DD1B-5CD8-424B-8173-19E182143E0A}" type="slidenum">
              <a:rPr lang="en-US" smtClean="0"/>
              <a:pPr/>
              <a:t>11</a:t>
            </a:fld>
            <a:endParaRPr lang="en-US"/>
          </a:p>
        </p:txBody>
      </p:sp>
    </p:spTree>
    <p:extLst>
      <p:ext uri="{BB962C8B-B14F-4D97-AF65-F5344CB8AC3E}">
        <p14:creationId xmlns:p14="http://schemas.microsoft.com/office/powerpoint/2010/main" val="516110367"/>
      </p:ext>
    </p:extLst>
  </p:cSld>
  <p:clrMapOvr>
    <a:masterClrMapping/>
  </p:clrMapOvr>
</p:sld>
</file>

<file path=ppt/theme/theme1.xml><?xml version="1.0" encoding="utf-8"?>
<a:theme xmlns:a="http://schemas.openxmlformats.org/drawingml/2006/main" name="KU Theme">
  <a:themeElements>
    <a:clrScheme name="KU">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50" smtClean="0"/>
        </a:defPPr>
      </a:lstStyle>
    </a:txDef>
  </a:objectDefaults>
  <a:extraClrSchemeLst/>
  <a:extLst>
    <a:ext uri="{05A4C25C-085E-4340-85A3-A5531E510DB2}">
      <thm15:themeFamily xmlns:thm15="http://schemas.microsoft.com/office/thememl/2012/main" name="KU_presentation_template_v03_dureid" id="{E5C0B40D-4810-4141-950B-63592BF28D0C}" vid="{E0DD810D-9114-6044-9274-3619F9170D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KU_presentation_template_v03_dureid</Template>
  <TotalTime>764</TotalTime>
  <Words>827</Words>
  <Application>Microsoft Macintosh PowerPoint</Application>
  <PresentationFormat>A4 Paper (210x297 mm)</PresentationFormat>
  <Paragraphs>106</Paragraphs>
  <Slides>11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KU Theme</vt:lpstr>
      <vt:lpstr>Research Computing End of Year Report 2019</vt:lpstr>
      <vt:lpstr>Objectives and KPI’s agreed for 2019</vt:lpstr>
      <vt:lpstr>Objectives and KPI’s agreed for 2019 continued</vt:lpstr>
      <vt:lpstr>Objectives and KPI’s agreed for 2019 continued</vt:lpstr>
      <vt:lpstr>Goal and objective setting for department staff </vt:lpstr>
      <vt:lpstr>Monthly report submissions, on time and complete</vt:lpstr>
      <vt:lpstr>Documented summary and gap analysis of ICT systems for department</vt:lpstr>
      <vt:lpstr>Increase utilization of department’s central computation resources</vt:lpstr>
      <vt:lpstr>University wide survey to improve department function</vt:lpstr>
      <vt:lpstr>Establishment of Research Computing faculty and staff committee</vt:lpstr>
      <vt:lpstr>Training and development plan for all department staff</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Computing Update</dc:title>
  <dc:creator>Dureid El-Moghraby</dc:creator>
  <cp:lastModifiedBy>Dureid El-Moghraby</cp:lastModifiedBy>
  <cp:revision>57</cp:revision>
  <dcterms:created xsi:type="dcterms:W3CDTF">2018-11-13T08:10:11Z</dcterms:created>
  <dcterms:modified xsi:type="dcterms:W3CDTF">2020-01-23T08:26:10Z</dcterms:modified>
</cp:coreProperties>
</file>