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8"/>
  </p:notesMasterIdLst>
  <p:sldIdLst>
    <p:sldId id="256" r:id="rId3"/>
    <p:sldId id="257" r:id="rId4"/>
    <p:sldId id="296" r:id="rId5"/>
    <p:sldId id="319" r:id="rId6"/>
    <p:sldId id="297" r:id="rId7"/>
    <p:sldId id="299" r:id="rId8"/>
    <p:sldId id="313" r:id="rId9"/>
    <p:sldId id="316" r:id="rId10"/>
    <p:sldId id="315" r:id="rId11"/>
    <p:sldId id="317" r:id="rId12"/>
    <p:sldId id="314" r:id="rId13"/>
    <p:sldId id="312" r:id="rId14"/>
    <p:sldId id="318" r:id="rId15"/>
    <p:sldId id="298" r:id="rId16"/>
    <p:sldId id="290" r:id="rId17"/>
    <p:sldId id="291" r:id="rId18"/>
    <p:sldId id="323" r:id="rId19"/>
    <p:sldId id="292" r:id="rId20"/>
    <p:sldId id="320" r:id="rId21"/>
    <p:sldId id="293" r:id="rId22"/>
    <p:sldId id="322" r:id="rId23"/>
    <p:sldId id="321" r:id="rId24"/>
    <p:sldId id="294" r:id="rId25"/>
    <p:sldId id="295" r:id="rId26"/>
    <p:sldId id="32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8C4FB4-2836-E547-B2BD-B9654F9088DF}" v="1" dt="2021-04-29T03:22:21.6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1"/>
    <p:restoredTop sz="94558"/>
  </p:normalViewPr>
  <p:slideViewPr>
    <p:cSldViewPr snapToGrid="0" snapToObjects="1">
      <p:cViewPr varScale="1">
        <p:scale>
          <a:sx n="153" d="100"/>
          <a:sy n="153" d="100"/>
        </p:scale>
        <p:origin x="107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60" name="PlaceHolder 1"/>
          <p:cNvSpPr>
            <a:spLocks noGrp="1" noRot="1" noChangeAspect="1"/>
          </p:cNvSpPr>
          <p:nvPr>
            <p:ph type="sldImg"/>
          </p:nvPr>
        </p:nvSpPr>
        <p:spPr>
          <a:xfrm>
            <a:off x="533520" y="764280"/>
            <a:ext cx="6704640" cy="3771360"/>
          </a:xfrm>
          <a:prstGeom prst="rect">
            <a:avLst/>
          </a:prstGeom>
        </p:spPr>
        <p:txBody>
          <a:bodyPr lIns="0" tIns="0" rIns="0" bIns="0" anchor="ctr">
            <a:noAutofit/>
          </a:bodyPr>
          <a:lstStyle/>
          <a:p>
            <a:pPr algn="ctr"/>
            <a:r>
              <a:rPr lang="en-US" sz="4400" b="0" strike="noStrike" spc="-1">
                <a:latin typeface="Arial"/>
              </a:rPr>
              <a:t>Click to move the slide</a:t>
            </a:r>
          </a:p>
        </p:txBody>
      </p:sp>
      <p:sp>
        <p:nvSpPr>
          <p:cNvPr id="461" name="PlaceHolder 2"/>
          <p:cNvSpPr>
            <a:spLocks noGrp="1"/>
          </p:cNvSpPr>
          <p:nvPr>
            <p:ph type="body"/>
          </p:nvPr>
        </p:nvSpPr>
        <p:spPr>
          <a:xfrm>
            <a:off x="777240" y="4777560"/>
            <a:ext cx="6217560" cy="4525920"/>
          </a:xfrm>
          <a:prstGeom prst="rect">
            <a:avLst/>
          </a:prstGeom>
        </p:spPr>
        <p:txBody>
          <a:bodyPr lIns="0" tIns="0" rIns="0" bIns="0">
            <a:noAutofit/>
          </a:bodyPr>
          <a:lstStyle/>
          <a:p>
            <a:r>
              <a:rPr lang="en-US" sz="2000" b="0" strike="noStrike" spc="-1">
                <a:latin typeface="Arial"/>
              </a:rPr>
              <a:t>Click to edit the notes format</a:t>
            </a:r>
          </a:p>
        </p:txBody>
      </p:sp>
      <p:sp>
        <p:nvSpPr>
          <p:cNvPr id="462" name="PlaceHolder 3"/>
          <p:cNvSpPr>
            <a:spLocks noGrp="1"/>
          </p:cNvSpPr>
          <p:nvPr>
            <p:ph type="hdr"/>
          </p:nvPr>
        </p:nvSpPr>
        <p:spPr>
          <a:xfrm>
            <a:off x="0" y="0"/>
            <a:ext cx="3372840" cy="502560"/>
          </a:xfrm>
          <a:prstGeom prst="rect">
            <a:avLst/>
          </a:prstGeom>
        </p:spPr>
        <p:txBody>
          <a:bodyPr lIns="0" tIns="0" rIns="0" bIns="0">
            <a:noAutofit/>
          </a:bodyPr>
          <a:lstStyle/>
          <a:p>
            <a:r>
              <a:rPr lang="en-US" sz="1400" b="0" strike="noStrike" spc="-1">
                <a:latin typeface="Times New Roman"/>
              </a:rPr>
              <a:t> </a:t>
            </a:r>
          </a:p>
        </p:txBody>
      </p:sp>
      <p:sp>
        <p:nvSpPr>
          <p:cNvPr id="463" name="PlaceHolder 4"/>
          <p:cNvSpPr>
            <a:spLocks noGrp="1"/>
          </p:cNvSpPr>
          <p:nvPr>
            <p:ph type="dt"/>
          </p:nvPr>
        </p:nvSpPr>
        <p:spPr>
          <a:xfrm>
            <a:off x="4399200" y="0"/>
            <a:ext cx="3372840" cy="502560"/>
          </a:xfrm>
          <a:prstGeom prst="rect">
            <a:avLst/>
          </a:prstGeom>
        </p:spPr>
        <p:txBody>
          <a:bodyPr lIns="0" tIns="0" rIns="0" bIns="0">
            <a:noAutofit/>
          </a:bodyPr>
          <a:lstStyle/>
          <a:p>
            <a:pPr algn="r"/>
            <a:r>
              <a:rPr lang="en-US" sz="1400" b="0" strike="noStrike" spc="-1">
                <a:latin typeface="Times New Roman"/>
              </a:rPr>
              <a:t> </a:t>
            </a:r>
          </a:p>
        </p:txBody>
      </p:sp>
      <p:sp>
        <p:nvSpPr>
          <p:cNvPr id="464" name="PlaceHolder 5"/>
          <p:cNvSpPr>
            <a:spLocks noGrp="1"/>
          </p:cNvSpPr>
          <p:nvPr>
            <p:ph type="ftr"/>
          </p:nvPr>
        </p:nvSpPr>
        <p:spPr>
          <a:xfrm>
            <a:off x="0" y="9555480"/>
            <a:ext cx="3372840" cy="502560"/>
          </a:xfrm>
          <a:prstGeom prst="rect">
            <a:avLst/>
          </a:prstGeom>
        </p:spPr>
        <p:txBody>
          <a:bodyPr lIns="0" tIns="0" rIns="0" bIns="0" anchor="b">
            <a:noAutofit/>
          </a:bodyPr>
          <a:lstStyle/>
          <a:p>
            <a:r>
              <a:rPr lang="en-US" sz="1400" b="0" strike="noStrike" spc="-1">
                <a:latin typeface="Times New Roman"/>
              </a:rPr>
              <a:t> </a:t>
            </a:r>
          </a:p>
        </p:txBody>
      </p:sp>
      <p:sp>
        <p:nvSpPr>
          <p:cNvPr id="465" name="PlaceHolder 6"/>
          <p:cNvSpPr>
            <a:spLocks noGrp="1"/>
          </p:cNvSpPr>
          <p:nvPr>
            <p:ph type="sldNum"/>
          </p:nvPr>
        </p:nvSpPr>
        <p:spPr>
          <a:xfrm>
            <a:off x="4399200" y="9555480"/>
            <a:ext cx="3372840" cy="502560"/>
          </a:xfrm>
          <a:prstGeom prst="rect">
            <a:avLst/>
          </a:prstGeom>
        </p:spPr>
        <p:txBody>
          <a:bodyPr lIns="0" tIns="0" rIns="0" bIns="0" anchor="b">
            <a:noAutofit/>
          </a:bodyPr>
          <a:lstStyle/>
          <a:p>
            <a:pPr algn="r"/>
            <a:fld id="{F7351207-CA38-459F-8CF8-67664B620D33}"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3</a:t>
            </a:fld>
            <a:endParaRPr lang="en-US" sz="1400" b="0" strike="noStrike" spc="-1">
              <a:latin typeface="Times New Roman"/>
            </a:endParaRPr>
          </a:p>
        </p:txBody>
      </p:sp>
    </p:spTree>
    <p:extLst>
      <p:ext uri="{BB962C8B-B14F-4D97-AF65-F5344CB8AC3E}">
        <p14:creationId xmlns:p14="http://schemas.microsoft.com/office/powerpoint/2010/main" val="646560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4</a:t>
            </a:fld>
            <a:endParaRPr lang="en-US" sz="1400" b="0" strike="noStrike" spc="-1">
              <a:latin typeface="Times New Roman"/>
            </a:endParaRPr>
          </a:p>
        </p:txBody>
      </p:sp>
    </p:spTree>
    <p:extLst>
      <p:ext uri="{BB962C8B-B14F-4D97-AF65-F5344CB8AC3E}">
        <p14:creationId xmlns:p14="http://schemas.microsoft.com/office/powerpoint/2010/main" val="1829249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5</a:t>
            </a:fld>
            <a:endParaRPr lang="en-US" sz="1400" b="0" strike="noStrike" spc="-1">
              <a:latin typeface="Times New Roman"/>
            </a:endParaRPr>
          </a:p>
        </p:txBody>
      </p:sp>
    </p:spTree>
    <p:extLst>
      <p:ext uri="{BB962C8B-B14F-4D97-AF65-F5344CB8AC3E}">
        <p14:creationId xmlns:p14="http://schemas.microsoft.com/office/powerpoint/2010/main" val="930685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8</a:t>
            </a:fld>
            <a:endParaRPr lang="en-US" sz="1400" b="0" strike="noStrike" spc="-1">
              <a:latin typeface="Times New Roman"/>
            </a:endParaRPr>
          </a:p>
        </p:txBody>
      </p:sp>
    </p:spTree>
    <p:extLst>
      <p:ext uri="{BB962C8B-B14F-4D97-AF65-F5344CB8AC3E}">
        <p14:creationId xmlns:p14="http://schemas.microsoft.com/office/powerpoint/2010/main" val="1421158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9</a:t>
            </a:fld>
            <a:endParaRPr lang="en-US" sz="1400" b="0" strike="noStrike" spc="-1">
              <a:latin typeface="Times New Roman"/>
            </a:endParaRPr>
          </a:p>
        </p:txBody>
      </p:sp>
    </p:spTree>
    <p:extLst>
      <p:ext uri="{BB962C8B-B14F-4D97-AF65-F5344CB8AC3E}">
        <p14:creationId xmlns:p14="http://schemas.microsoft.com/office/powerpoint/2010/main" val="1251326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10</a:t>
            </a:fld>
            <a:endParaRPr lang="en-US" sz="1400" b="0" strike="noStrike" spc="-1">
              <a:latin typeface="Times New Roman"/>
            </a:endParaRPr>
          </a:p>
        </p:txBody>
      </p:sp>
    </p:spTree>
    <p:extLst>
      <p:ext uri="{BB962C8B-B14F-4D97-AF65-F5344CB8AC3E}">
        <p14:creationId xmlns:p14="http://schemas.microsoft.com/office/powerpoint/2010/main" val="1863764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12</a:t>
            </a:fld>
            <a:endParaRPr lang="en-US" sz="1400" b="0" strike="noStrike" spc="-1">
              <a:latin typeface="Times New Roman"/>
            </a:endParaRPr>
          </a:p>
        </p:txBody>
      </p:sp>
    </p:spTree>
    <p:extLst>
      <p:ext uri="{BB962C8B-B14F-4D97-AF65-F5344CB8AC3E}">
        <p14:creationId xmlns:p14="http://schemas.microsoft.com/office/powerpoint/2010/main" val="2380930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r>
              <a:rPr lang="en-US" b="1" dirty="0"/>
              <a:t>Sustainability:</a:t>
            </a:r>
            <a:r>
              <a:rPr lang="en-US" dirty="0"/>
              <a:t> Provision of research computing hardware resources needs to be consistent and sustainable. This would entail periodic investment by KU. Alongside this, appropriate life cycle management needs to be </a:t>
            </a:r>
            <a:r>
              <a:rPr lang="en-US" dirty="0" err="1"/>
              <a:t>implemented;useful</a:t>
            </a:r>
            <a:r>
              <a:rPr lang="en-US" dirty="0"/>
              <a:t> lifetime of equipment needs to be defined, the equipment then repurposed and retired as appropriate.</a:t>
            </a:r>
          </a:p>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15</a:t>
            </a:fld>
            <a:endParaRPr lang="en-US" sz="1400" b="0" strike="noStrike" spc="-1">
              <a:latin typeface="Times New Roman"/>
            </a:endParaRPr>
          </a:p>
        </p:txBody>
      </p:sp>
    </p:spTree>
    <p:extLst>
      <p:ext uri="{BB962C8B-B14F-4D97-AF65-F5344CB8AC3E}">
        <p14:creationId xmlns:p14="http://schemas.microsoft.com/office/powerpoint/2010/main" val="1917415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r>
              <a:rPr lang="en-US" b="1" dirty="0"/>
              <a:t>Multiple levels of computation:</a:t>
            </a:r>
            <a:r>
              <a:rPr lang="en-US" b="0" dirty="0"/>
              <a:t> It is important to acknowledge that one size does not fit all, and that there multiple levels of computational requirements across research. These would range from workstations, to cloud services, university level HPC as well as national level supercomputer access. Processes and mechanisms for capturing and satisfying all of these requirements need to be developed. It is crucial that these mechanisms and processes be as simple and efficient as possible and easily accessible to KU researchers.</a:t>
            </a:r>
          </a:p>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16</a:t>
            </a:fld>
            <a:endParaRPr lang="en-US" sz="1400" b="0" strike="noStrike" spc="-1">
              <a:latin typeface="Times New Roman"/>
            </a:endParaRPr>
          </a:p>
        </p:txBody>
      </p:sp>
    </p:spTree>
    <p:extLst>
      <p:ext uri="{BB962C8B-B14F-4D97-AF65-F5344CB8AC3E}">
        <p14:creationId xmlns:p14="http://schemas.microsoft.com/office/powerpoint/2010/main" val="1217684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17</a:t>
            </a:fld>
            <a:endParaRPr lang="en-US" sz="1400" b="0" strike="noStrike" spc="-1">
              <a:latin typeface="Times New Roman"/>
            </a:endParaRPr>
          </a:p>
        </p:txBody>
      </p:sp>
    </p:spTree>
    <p:extLst>
      <p:ext uri="{BB962C8B-B14F-4D97-AF65-F5344CB8AC3E}">
        <p14:creationId xmlns:p14="http://schemas.microsoft.com/office/powerpoint/2010/main" val="3246728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18</a:t>
            </a:fld>
            <a:endParaRPr lang="en-US" sz="1400" b="0" strike="noStrike" spc="-1">
              <a:latin typeface="Times New Roman"/>
            </a:endParaRPr>
          </a:p>
        </p:txBody>
      </p:sp>
    </p:spTree>
    <p:extLst>
      <p:ext uri="{BB962C8B-B14F-4D97-AF65-F5344CB8AC3E}">
        <p14:creationId xmlns:p14="http://schemas.microsoft.com/office/powerpoint/2010/main" val="40653743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19</a:t>
            </a:fld>
            <a:endParaRPr lang="en-US" sz="1400" b="0" strike="noStrike" spc="-1">
              <a:latin typeface="Times New Roman"/>
            </a:endParaRPr>
          </a:p>
        </p:txBody>
      </p:sp>
    </p:spTree>
    <p:extLst>
      <p:ext uri="{BB962C8B-B14F-4D97-AF65-F5344CB8AC3E}">
        <p14:creationId xmlns:p14="http://schemas.microsoft.com/office/powerpoint/2010/main" val="29688141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20</a:t>
            </a:fld>
            <a:endParaRPr lang="en-US" sz="1400" b="0" strike="noStrike" spc="-1">
              <a:latin typeface="Times New Roman"/>
            </a:endParaRPr>
          </a:p>
        </p:txBody>
      </p:sp>
    </p:spTree>
    <p:extLst>
      <p:ext uri="{BB962C8B-B14F-4D97-AF65-F5344CB8AC3E}">
        <p14:creationId xmlns:p14="http://schemas.microsoft.com/office/powerpoint/2010/main" val="27839182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21</a:t>
            </a:fld>
            <a:endParaRPr lang="en-US" sz="1400" b="0" strike="noStrike" spc="-1">
              <a:latin typeface="Times New Roman"/>
            </a:endParaRPr>
          </a:p>
        </p:txBody>
      </p:sp>
    </p:spTree>
    <p:extLst>
      <p:ext uri="{BB962C8B-B14F-4D97-AF65-F5344CB8AC3E}">
        <p14:creationId xmlns:p14="http://schemas.microsoft.com/office/powerpoint/2010/main" val="4203237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22</a:t>
            </a:fld>
            <a:endParaRPr lang="en-US" sz="1400" b="0" strike="noStrike" spc="-1">
              <a:latin typeface="Times New Roman"/>
            </a:endParaRPr>
          </a:p>
        </p:txBody>
      </p:sp>
    </p:spTree>
    <p:extLst>
      <p:ext uri="{BB962C8B-B14F-4D97-AF65-F5344CB8AC3E}">
        <p14:creationId xmlns:p14="http://schemas.microsoft.com/office/powerpoint/2010/main" val="27748712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23</a:t>
            </a:fld>
            <a:endParaRPr lang="en-US" sz="1400" b="0" strike="noStrike" spc="-1">
              <a:latin typeface="Times New Roman"/>
            </a:endParaRPr>
          </a:p>
        </p:txBody>
      </p:sp>
    </p:spTree>
    <p:extLst>
      <p:ext uri="{BB962C8B-B14F-4D97-AF65-F5344CB8AC3E}">
        <p14:creationId xmlns:p14="http://schemas.microsoft.com/office/powerpoint/2010/main" val="4112549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24</a:t>
            </a:fld>
            <a:endParaRPr lang="en-US" sz="1400" b="0" strike="noStrike" spc="-1">
              <a:latin typeface="Times New Roman"/>
            </a:endParaRPr>
          </a:p>
        </p:txBody>
      </p:sp>
    </p:spTree>
    <p:extLst>
      <p:ext uri="{BB962C8B-B14F-4D97-AF65-F5344CB8AC3E}">
        <p14:creationId xmlns:p14="http://schemas.microsoft.com/office/powerpoint/2010/main" val="3352169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6"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8"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4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2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1"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5"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7"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28"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3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3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33"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5"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36"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37"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38"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39"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40"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48"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50"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5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5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609480" y="273600"/>
            <a:ext cx="109724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5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5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5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6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6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3"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7"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69"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70"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7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7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7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75"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77"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78"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79"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80"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81"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82"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CustomShape 1" hidden="1"/>
          <p:cNvSpPr/>
          <p:nvPr/>
        </p:nvSpPr>
        <p:spPr>
          <a:xfrm>
            <a:off x="10410840" y="203040"/>
            <a:ext cx="96084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pPr>
            <a:r>
              <a:rPr lang="en-US" sz="850" b="0" strike="noStrike" spc="-1">
                <a:solidFill>
                  <a:srgbClr val="96969A"/>
                </a:solidFill>
                <a:latin typeface="Arial"/>
                <a:ea typeface="DejaVu Sans"/>
              </a:rPr>
              <a:t>ku.ac.ae</a:t>
            </a:r>
            <a:endParaRPr lang="en-US" sz="850" b="0" strike="noStrike" spc="-1">
              <a:latin typeface="Arial"/>
            </a:endParaRPr>
          </a:p>
        </p:txBody>
      </p:sp>
      <p:sp>
        <p:nvSpPr>
          <p:cNvPr id="6" name="Line 2"/>
          <p:cNvSpPr/>
          <p:nvPr/>
        </p:nvSpPr>
        <p:spPr>
          <a:xfrm>
            <a:off x="5181480" y="2752560"/>
            <a:ext cx="1809720" cy="0"/>
          </a:xfrm>
          <a:prstGeom prst="line">
            <a:avLst/>
          </a:prstGeom>
          <a:ln w="12600">
            <a:solidFill>
              <a:srgbClr val="FFFFFF"/>
            </a:solidFill>
            <a:round/>
          </a:ln>
        </p:spPr>
        <p:style>
          <a:lnRef idx="1">
            <a:schemeClr val="accent1"/>
          </a:lnRef>
          <a:fillRef idx="0">
            <a:schemeClr val="accent1"/>
          </a:fillRef>
          <a:effectRef idx="0">
            <a:schemeClr val="accent1"/>
          </a:effectRef>
          <a:fontRef idx="minor"/>
        </p:style>
      </p:sp>
      <p:pic>
        <p:nvPicPr>
          <p:cNvPr id="2" name="Picture 6"/>
          <p:cNvPicPr/>
          <p:nvPr/>
        </p:nvPicPr>
        <p:blipFill>
          <a:blip r:embed="rId14"/>
          <a:stretch/>
        </p:blipFill>
        <p:spPr>
          <a:xfrm>
            <a:off x="804960" y="654480"/>
            <a:ext cx="3539160" cy="773280"/>
          </a:xfrm>
          <a:prstGeom prst="rect">
            <a:avLst/>
          </a:prstGeom>
          <a:ln>
            <a:noFill/>
          </a:ln>
        </p:spPr>
      </p:pic>
      <p:sp>
        <p:nvSpPr>
          <p:cNvPr id="3" name="PlaceHolder 3"/>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4" name="PlaceHolder 4"/>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CustomShape 1"/>
          <p:cNvSpPr/>
          <p:nvPr/>
        </p:nvSpPr>
        <p:spPr>
          <a:xfrm>
            <a:off x="10410840" y="203040"/>
            <a:ext cx="96084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pPr>
            <a:r>
              <a:rPr lang="en-US" sz="850" b="0" strike="noStrike" spc="-1">
                <a:solidFill>
                  <a:srgbClr val="96969A"/>
                </a:solidFill>
                <a:latin typeface="Arial"/>
                <a:ea typeface="DejaVu Sans"/>
              </a:rPr>
              <a:t>ku.ac.ae</a:t>
            </a:r>
            <a:endParaRPr lang="en-US" sz="850" b="0" strike="noStrike" spc="-1">
              <a:latin typeface="Arial"/>
            </a:endParaRPr>
          </a:p>
        </p:txBody>
      </p:sp>
      <p:sp>
        <p:nvSpPr>
          <p:cNvPr id="42" name="CustomShape 2"/>
          <p:cNvSpPr/>
          <p:nvPr/>
        </p:nvSpPr>
        <p:spPr>
          <a:xfrm>
            <a:off x="10410840" y="203040"/>
            <a:ext cx="96084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pPr>
            <a:r>
              <a:rPr lang="en-US" sz="850" b="0" strike="noStrike" spc="-1">
                <a:solidFill>
                  <a:srgbClr val="0047BA"/>
                </a:solidFill>
                <a:latin typeface="Arial"/>
                <a:ea typeface="DejaVu Sans"/>
              </a:rPr>
              <a:t>ku.ac.ae</a:t>
            </a:r>
            <a:endParaRPr lang="en-US" sz="850" b="0" strike="noStrike" spc="-1">
              <a:latin typeface="Arial"/>
            </a:endParaRPr>
          </a:p>
        </p:txBody>
      </p:sp>
      <p:pic>
        <p:nvPicPr>
          <p:cNvPr id="43" name="Picture 6"/>
          <p:cNvPicPr/>
          <p:nvPr/>
        </p:nvPicPr>
        <p:blipFill>
          <a:blip r:embed="rId14"/>
          <a:stretch/>
        </p:blipFill>
        <p:spPr>
          <a:xfrm>
            <a:off x="383760" y="236160"/>
            <a:ext cx="1810800" cy="184320"/>
          </a:xfrm>
          <a:prstGeom prst="rect">
            <a:avLst/>
          </a:prstGeom>
          <a:ln>
            <a:noFill/>
          </a:ln>
        </p:spPr>
      </p:pic>
      <p:sp>
        <p:nvSpPr>
          <p:cNvPr id="44" name="Line 3"/>
          <p:cNvSpPr/>
          <p:nvPr/>
        </p:nvSpPr>
        <p:spPr>
          <a:xfrm>
            <a:off x="383400" y="533160"/>
            <a:ext cx="11465640" cy="0"/>
          </a:xfrm>
          <a:prstGeom prst="line">
            <a:avLst/>
          </a:prstGeom>
          <a:ln>
            <a:solidFill>
              <a:schemeClr val="bg2"/>
            </a:solidFill>
            <a:round/>
          </a:ln>
        </p:spPr>
        <p:style>
          <a:lnRef idx="1">
            <a:schemeClr val="accent1"/>
          </a:lnRef>
          <a:fillRef idx="0">
            <a:schemeClr val="accent1"/>
          </a:fillRef>
          <a:effectRef idx="0">
            <a:schemeClr val="accent1"/>
          </a:effectRef>
          <a:fontRef idx="minor"/>
        </p:style>
      </p:sp>
      <p:sp>
        <p:nvSpPr>
          <p:cNvPr id="45" name="PlaceHolder 4"/>
          <p:cNvSpPr>
            <a:spLocks noGrp="1"/>
          </p:cNvSpPr>
          <p:nvPr>
            <p:ph type="title"/>
          </p:nvPr>
        </p:nvSpPr>
        <p:spPr>
          <a:xfrm>
            <a:off x="609480" y="273240"/>
            <a:ext cx="10972080" cy="1145160"/>
          </a:xfrm>
          <a:prstGeom prst="rect">
            <a:avLst/>
          </a:prstGeom>
        </p:spPr>
        <p:txBody>
          <a:bodyPr lIns="0" tIns="0" rIns="0" bIns="0" anchor="ctr">
            <a:spAutoFit/>
          </a:bodyPr>
          <a:lstStyle/>
          <a:p>
            <a:r>
              <a:rPr lang="en-US" sz="1800" b="0" strike="noStrike" spc="-1">
                <a:latin typeface="Arial"/>
              </a:rPr>
              <a:t>Click to edit the title text format</a:t>
            </a:r>
          </a:p>
        </p:txBody>
      </p:sp>
      <p:sp>
        <p:nvSpPr>
          <p:cNvPr id="46"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CustomShape 1"/>
          <p:cNvSpPr/>
          <p:nvPr/>
        </p:nvSpPr>
        <p:spPr>
          <a:xfrm>
            <a:off x="824040" y="2004480"/>
            <a:ext cx="10990008" cy="171360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r>
              <a:rPr lang="en-US" sz="6000" b="1" strike="noStrike" spc="-1" dirty="0">
                <a:solidFill>
                  <a:srgbClr val="0047BA"/>
                </a:solidFill>
                <a:latin typeface="Arial"/>
                <a:ea typeface="DejaVu Sans"/>
              </a:rPr>
              <a:t>Research Computing Committee </a:t>
            </a:r>
            <a:r>
              <a:rPr lang="en-US" sz="6000" b="1" spc="-1" dirty="0">
                <a:solidFill>
                  <a:srgbClr val="0047BA"/>
                </a:solidFill>
                <a:latin typeface="Arial"/>
                <a:ea typeface="DejaVu Sans"/>
              </a:rPr>
              <a:t>–April 2021</a:t>
            </a:r>
            <a:endParaRPr lang="en-US" sz="6000" b="0" strike="noStrike" spc="-1" dirty="0">
              <a:latin typeface="Arial"/>
            </a:endParaRPr>
          </a:p>
        </p:txBody>
      </p:sp>
      <p:sp>
        <p:nvSpPr>
          <p:cNvPr id="467" name="CustomShape 2"/>
          <p:cNvSpPr/>
          <p:nvPr/>
        </p:nvSpPr>
        <p:spPr>
          <a:xfrm>
            <a:off x="824040" y="3756960"/>
            <a:ext cx="8910360" cy="12466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80000"/>
              </a:lnSpc>
            </a:pPr>
            <a:endParaRPr lang="en-US" sz="3800" b="0" strike="noStrike" spc="-1" dirty="0">
              <a:latin typeface="Arial"/>
            </a:endParaRPr>
          </a:p>
        </p:txBody>
      </p:sp>
      <p:sp>
        <p:nvSpPr>
          <p:cNvPr id="468" name="CustomShape 3"/>
          <p:cNvSpPr/>
          <p:nvPr/>
        </p:nvSpPr>
        <p:spPr>
          <a:xfrm>
            <a:off x="824040" y="5490360"/>
            <a:ext cx="6729120" cy="3132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00000"/>
              </a:lnSpc>
              <a:spcBef>
                <a:spcPts val="400"/>
              </a:spcBef>
            </a:pPr>
            <a:r>
              <a:rPr lang="en-US" sz="1350" b="1" cap="all" spc="-1" dirty="0">
                <a:solidFill>
                  <a:srgbClr val="96969A"/>
                </a:solidFill>
                <a:latin typeface="Arial"/>
                <a:ea typeface="DejaVu Sans"/>
              </a:rPr>
              <a:t>29</a:t>
            </a:r>
            <a:r>
              <a:rPr lang="en-US" sz="1350" b="1" strike="noStrike" cap="all" spc="-1" dirty="0">
                <a:solidFill>
                  <a:srgbClr val="96969A"/>
                </a:solidFill>
                <a:latin typeface="Arial"/>
                <a:ea typeface="DejaVu Sans"/>
              </a:rPr>
              <a:t> April 2021</a:t>
            </a:r>
            <a:endParaRPr lang="en-US" sz="1350" b="0" strike="noStrike" spc="-1" dirty="0">
              <a:latin typeface="Arial"/>
            </a:endParaRPr>
          </a:p>
          <a:p>
            <a:pPr>
              <a:lnSpc>
                <a:spcPct val="100000"/>
              </a:lnSpc>
              <a:spcBef>
                <a:spcPts val="400"/>
              </a:spcBef>
            </a:pPr>
            <a:endParaRPr lang="en-US" sz="1350" b="0" strike="noStrike" spc="-1"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pc="43" dirty="0">
                <a:solidFill>
                  <a:srgbClr val="0047BA"/>
                </a:solidFill>
                <a:latin typeface="Arial"/>
              </a:rPr>
              <a:t>Agenda</a:t>
            </a:r>
            <a:endParaRPr lang="en-US" sz="36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a:t>
            </a:r>
            <a:r>
              <a:rPr lang="en-US" sz="1200" b="1" spc="43" dirty="0">
                <a:solidFill>
                  <a:srgbClr val="0047BA"/>
                </a:solidFill>
                <a:latin typeface="Arial"/>
              </a:rPr>
              <a:t>Committee</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a:t>
            </a:fld>
            <a:endParaRPr lang="en-US" sz="850" b="0" strike="noStrike" spc="-1">
              <a:latin typeface="Arial"/>
            </a:endParaRPr>
          </a:p>
        </p:txBody>
      </p:sp>
      <p:sp>
        <p:nvSpPr>
          <p:cNvPr id="473" name="CustomShape 5"/>
          <p:cNvSpPr/>
          <p:nvPr/>
        </p:nvSpPr>
        <p:spPr>
          <a:xfrm>
            <a:off x="609480" y="1438878"/>
            <a:ext cx="10887048" cy="5032656"/>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914760" lvl="1" indent="-457200">
              <a:spcBef>
                <a:spcPts val="1200"/>
              </a:spcBef>
              <a:buClr>
                <a:srgbClr val="0047BA"/>
              </a:buClr>
              <a:buSzPct val="100000"/>
              <a:buFont typeface="+mj-lt"/>
              <a:buAutoNum type="arabicPeriod"/>
            </a:pPr>
            <a:r>
              <a:rPr lang="en-US" sz="2000" b="1" spc="-1" dirty="0"/>
              <a:t>New HPC Status</a:t>
            </a:r>
          </a:p>
          <a:p>
            <a:pPr marL="914760" lvl="1" indent="-457200">
              <a:spcBef>
                <a:spcPts val="1200"/>
              </a:spcBef>
              <a:buClr>
                <a:srgbClr val="0047BA"/>
              </a:buClr>
              <a:buSzPct val="100000"/>
              <a:buFont typeface="+mj-lt"/>
              <a:buAutoNum type="arabicPeriod"/>
            </a:pPr>
            <a:r>
              <a:rPr lang="en-US" sz="2000" spc="-1" dirty="0"/>
              <a:t>User account process and resource allocation on New HPC</a:t>
            </a:r>
          </a:p>
          <a:p>
            <a:pPr marL="914760" lvl="1" indent="-457200">
              <a:spcBef>
                <a:spcPts val="1200"/>
              </a:spcBef>
              <a:buClr>
                <a:srgbClr val="0047BA"/>
              </a:buClr>
              <a:buSzPct val="100000"/>
              <a:buFont typeface="+mj-lt"/>
              <a:buAutoNum type="arabicPeriod"/>
            </a:pPr>
            <a:r>
              <a:rPr lang="en-US" sz="2000" spc="-1" dirty="0"/>
              <a:t>Migration of Masdar resources and SAN HPC</a:t>
            </a:r>
          </a:p>
          <a:p>
            <a:pPr marL="914760" lvl="1" indent="-457200">
              <a:spcBef>
                <a:spcPts val="1200"/>
              </a:spcBef>
              <a:buClr>
                <a:srgbClr val="0047BA"/>
              </a:buClr>
              <a:buSzPct val="100000"/>
              <a:buFont typeface="+mj-lt"/>
              <a:buAutoNum type="arabicPeriod"/>
            </a:pPr>
            <a:r>
              <a:rPr lang="en-US" sz="2000" spc="-1" dirty="0"/>
              <a:t>Research Computing strategy</a:t>
            </a:r>
          </a:p>
          <a:p>
            <a:pPr marL="914760" lvl="1" indent="-457200">
              <a:spcBef>
                <a:spcPts val="1200"/>
              </a:spcBef>
              <a:buClr>
                <a:srgbClr val="0047BA"/>
              </a:buClr>
              <a:buSzPct val="100000"/>
              <a:buFont typeface="+mj-lt"/>
              <a:buAutoNum type="arabicPeriod"/>
            </a:pPr>
            <a:r>
              <a:rPr lang="en-US" sz="2000" spc="-1" dirty="0"/>
              <a:t>AOB</a:t>
            </a:r>
          </a:p>
          <a:p>
            <a:pPr marL="914760" lvl="1" indent="-457200">
              <a:spcBef>
                <a:spcPts val="1200"/>
              </a:spcBef>
              <a:buClr>
                <a:srgbClr val="0047BA"/>
              </a:buClr>
              <a:buSzPct val="100000"/>
              <a:buFont typeface="+mj-lt"/>
              <a:buAutoNum type="arabicPeriod"/>
            </a:pPr>
            <a:r>
              <a:rPr lang="en-US" sz="2000" spc="-1" dirty="0"/>
              <a:t>Date of next meeting</a:t>
            </a:r>
            <a:endParaRPr lang="en-US" sz="2000" spc="-1" dirty="0">
              <a:latin typeface="Arial"/>
            </a:endParaRPr>
          </a:p>
          <a:p>
            <a:pPr marL="360">
              <a:lnSpc>
                <a:spcPct val="100000"/>
              </a:lnSpc>
              <a:spcBef>
                <a:spcPts val="1800"/>
              </a:spcBef>
              <a:buClr>
                <a:srgbClr val="0047BA"/>
              </a:buClr>
              <a:buSzPct val="65000"/>
            </a:pPr>
            <a:endParaRPr lang="en-US" sz="1800" b="0" strike="noStrike" spc="-1" dirty="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pc="43" dirty="0">
                <a:solidFill>
                  <a:srgbClr val="0047BA"/>
                </a:solidFill>
                <a:latin typeface="Arial"/>
              </a:rPr>
              <a:t>New HPC Status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Committee Charter</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3</a:t>
            </a:fld>
            <a:endParaRPr lang="en-US" sz="850" b="0" strike="noStrike" spc="-1">
              <a:latin typeface="Arial"/>
            </a:endParaRPr>
          </a:p>
        </p:txBody>
      </p:sp>
      <p:sp>
        <p:nvSpPr>
          <p:cNvPr id="473" name="CustomShape 5"/>
          <p:cNvSpPr/>
          <p:nvPr/>
        </p:nvSpPr>
        <p:spPr>
          <a:xfrm>
            <a:off x="609480" y="1346760"/>
            <a:ext cx="10838808" cy="50094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pc="-1" dirty="0">
                <a:solidFill>
                  <a:srgbClr val="0047BA"/>
                </a:solidFill>
                <a:latin typeface="Arial"/>
                <a:ea typeface="DejaVu Sans"/>
              </a:rPr>
              <a:t>New HPC - </a:t>
            </a:r>
            <a:r>
              <a:rPr lang="en-US" sz="2400" b="1" spc="-1" dirty="0" err="1">
                <a:solidFill>
                  <a:srgbClr val="0047BA"/>
                </a:solidFill>
                <a:latin typeface="Arial"/>
                <a:ea typeface="DejaVu Sans"/>
              </a:rPr>
              <a:t>Almesbar</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t>New hardware purchased and delivered at end of December 2020</a:t>
            </a:r>
          </a:p>
          <a:p>
            <a:pPr marL="640080" lvl="1" indent="-182520">
              <a:spcBef>
                <a:spcPts val="1200"/>
              </a:spcBef>
              <a:buClr>
                <a:srgbClr val="0047BA"/>
              </a:buClr>
              <a:buSzPct val="65000"/>
              <a:buFont typeface="Wingdings" charset="2"/>
              <a:buChar char=""/>
            </a:pPr>
            <a:r>
              <a:rPr lang="en-US" sz="2000" spc="-1" dirty="0"/>
              <a:t>There was some technical issues with the networking that caused some delay in the installation. These are all resolved now.</a:t>
            </a:r>
          </a:p>
          <a:p>
            <a:pPr marL="640080" lvl="1" indent="-182520">
              <a:spcBef>
                <a:spcPts val="1200"/>
              </a:spcBef>
              <a:buClr>
                <a:srgbClr val="0047BA"/>
              </a:buClr>
              <a:buSzPct val="65000"/>
              <a:buFont typeface="Wingdings" charset="2"/>
              <a:buChar char=""/>
            </a:pPr>
            <a:r>
              <a:rPr lang="en-US" sz="2000" spc="-1" dirty="0"/>
              <a:t>Hardware is installed and configured.</a:t>
            </a:r>
          </a:p>
          <a:p>
            <a:pPr marL="640080" lvl="1" indent="-182520">
              <a:spcBef>
                <a:spcPts val="1200"/>
              </a:spcBef>
              <a:buClr>
                <a:srgbClr val="0047BA"/>
              </a:buClr>
              <a:buSzPct val="65000"/>
              <a:buFont typeface="Wingdings" charset="2"/>
              <a:buChar char=""/>
            </a:pPr>
            <a:r>
              <a:rPr lang="en-US" sz="2000" spc="-1" dirty="0"/>
              <a:t>Currently pending integration with KU authentication systems. The aim is to have single sign on, i.e. unified login details for KU email, laptops and HPC </a:t>
            </a:r>
            <a:r>
              <a:rPr lang="en-US" sz="2000" spc="-1" dirty="0" err="1"/>
              <a:t>etc</a:t>
            </a:r>
            <a:r>
              <a:rPr lang="en-US" sz="2000" spc="-1" dirty="0"/>
              <a:t>…</a:t>
            </a:r>
          </a:p>
          <a:p>
            <a:pPr marL="640080" lvl="1" indent="-182520">
              <a:spcBef>
                <a:spcPts val="1200"/>
              </a:spcBef>
              <a:buClr>
                <a:srgbClr val="0047BA"/>
              </a:buClr>
              <a:buSzPct val="65000"/>
              <a:buFont typeface="Wingdings" charset="2"/>
              <a:buChar char=""/>
            </a:pPr>
            <a:r>
              <a:rPr lang="en-US" sz="2000" spc="-1" dirty="0"/>
              <a:t>RC team in in process of installing applications and improving on how applications are loaded/unloaded using module environment.</a:t>
            </a:r>
          </a:p>
          <a:p>
            <a:pPr marL="640080" lvl="1" indent="-182520">
              <a:spcBef>
                <a:spcPts val="1200"/>
              </a:spcBef>
              <a:buClr>
                <a:srgbClr val="0047BA"/>
              </a:buClr>
              <a:buSzPct val="65000"/>
              <a:buFont typeface="Wingdings" charset="2"/>
              <a:buChar char=""/>
            </a:pPr>
            <a:r>
              <a:rPr lang="en-US" sz="2000" spc="-1" dirty="0"/>
              <a:t>Expect to have test users on system by mid-May</a:t>
            </a:r>
          </a:p>
          <a:p>
            <a:pPr marL="457560" lvl="1">
              <a:spcBef>
                <a:spcPts val="1200"/>
              </a:spcBef>
              <a:buClr>
                <a:srgbClr val="0047BA"/>
              </a:buClr>
              <a:buSzPct val="65000"/>
            </a:pPr>
            <a:endParaRPr lang="en-US" sz="2000" spc="-1" dirty="0"/>
          </a:p>
          <a:p>
            <a:pPr marL="640080" lvl="1" indent="-182520">
              <a:spcBef>
                <a:spcPts val="1200"/>
              </a:spcBef>
              <a:buClr>
                <a:srgbClr val="0047BA"/>
              </a:buClr>
              <a:buSzPct val="65000"/>
              <a:buFont typeface="Wingdings" charset="2"/>
              <a:buChar char=""/>
            </a:pPr>
            <a:endParaRPr lang="en-US" sz="2000" spc="-1" dirty="0">
              <a:latin typeface="Arial"/>
            </a:endParaRPr>
          </a:p>
        </p:txBody>
      </p:sp>
    </p:spTree>
    <p:extLst>
      <p:ext uri="{BB962C8B-B14F-4D97-AF65-F5344CB8AC3E}">
        <p14:creationId xmlns:p14="http://schemas.microsoft.com/office/powerpoint/2010/main" val="2550876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Cluster overview</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Committee Charter</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4</a:t>
            </a:fld>
            <a:endParaRPr lang="en-US" sz="850" b="0" strike="noStrike" spc="-1">
              <a:latin typeface="Arial"/>
            </a:endParaRPr>
          </a:p>
        </p:txBody>
      </p:sp>
      <p:pic>
        <p:nvPicPr>
          <p:cNvPr id="1025" name="Picture 1" descr="page16image29427952">
            <a:extLst>
              <a:ext uri="{FF2B5EF4-FFF2-40B4-BE49-F238E27FC236}">
                <a16:creationId xmlns:a16="http://schemas.microsoft.com/office/drawing/2014/main" id="{0F67FF51-183B-4745-A556-94FE8A1070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631" y="1185803"/>
            <a:ext cx="9036116" cy="4848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906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err="1">
                <a:solidFill>
                  <a:srgbClr val="0047BA"/>
                </a:solidFill>
                <a:latin typeface="Arial"/>
              </a:rPr>
              <a:t>Almesbar</a:t>
            </a:r>
            <a:r>
              <a:rPr lang="en-US" sz="3200" b="1" spc="43" dirty="0">
                <a:solidFill>
                  <a:srgbClr val="0047BA"/>
                </a:solidFill>
                <a:latin typeface="Arial"/>
              </a:rPr>
              <a:t> HPC Cluster</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Committee Charter</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5</a:t>
            </a:fld>
            <a:endParaRPr lang="en-US" sz="850" b="0" strike="noStrike" spc="-1">
              <a:latin typeface="Arial"/>
            </a:endParaRPr>
          </a:p>
        </p:txBody>
      </p:sp>
      <p:graphicFrame>
        <p:nvGraphicFramePr>
          <p:cNvPr id="9" name="Table 8">
            <a:extLst>
              <a:ext uri="{FF2B5EF4-FFF2-40B4-BE49-F238E27FC236}">
                <a16:creationId xmlns:a16="http://schemas.microsoft.com/office/drawing/2014/main" id="{340DA73D-979B-F94D-9A28-17E28A7C8643}"/>
              </a:ext>
            </a:extLst>
          </p:cNvPr>
          <p:cNvGraphicFramePr>
            <a:graphicFrameLocks noGrp="1"/>
          </p:cNvGraphicFramePr>
          <p:nvPr>
            <p:extLst>
              <p:ext uri="{D42A27DB-BD31-4B8C-83A1-F6EECF244321}">
                <p14:modId xmlns:p14="http://schemas.microsoft.com/office/powerpoint/2010/main" val="3382174367"/>
              </p:ext>
            </p:extLst>
          </p:nvPr>
        </p:nvGraphicFramePr>
        <p:xfrm>
          <a:off x="182880" y="2080260"/>
          <a:ext cx="11734800" cy="3401696"/>
        </p:xfrm>
        <a:graphic>
          <a:graphicData uri="http://schemas.openxmlformats.org/drawingml/2006/table">
            <a:tbl>
              <a:tblPr firstRow="1" bandRow="1"/>
              <a:tblGrid>
                <a:gridCol w="1173480">
                  <a:extLst>
                    <a:ext uri="{9D8B030D-6E8A-4147-A177-3AD203B41FA5}">
                      <a16:colId xmlns:a16="http://schemas.microsoft.com/office/drawing/2014/main" val="3687805585"/>
                    </a:ext>
                  </a:extLst>
                </a:gridCol>
                <a:gridCol w="1912620">
                  <a:extLst>
                    <a:ext uri="{9D8B030D-6E8A-4147-A177-3AD203B41FA5}">
                      <a16:colId xmlns:a16="http://schemas.microsoft.com/office/drawing/2014/main" val="152125098"/>
                    </a:ext>
                  </a:extLst>
                </a:gridCol>
                <a:gridCol w="906780">
                  <a:extLst>
                    <a:ext uri="{9D8B030D-6E8A-4147-A177-3AD203B41FA5}">
                      <a16:colId xmlns:a16="http://schemas.microsoft.com/office/drawing/2014/main" val="329039289"/>
                    </a:ext>
                  </a:extLst>
                </a:gridCol>
                <a:gridCol w="1173480">
                  <a:extLst>
                    <a:ext uri="{9D8B030D-6E8A-4147-A177-3AD203B41FA5}">
                      <a16:colId xmlns:a16="http://schemas.microsoft.com/office/drawing/2014/main" val="2673423602"/>
                    </a:ext>
                  </a:extLst>
                </a:gridCol>
                <a:gridCol w="1043940">
                  <a:extLst>
                    <a:ext uri="{9D8B030D-6E8A-4147-A177-3AD203B41FA5}">
                      <a16:colId xmlns:a16="http://schemas.microsoft.com/office/drawing/2014/main" val="542751314"/>
                    </a:ext>
                  </a:extLst>
                </a:gridCol>
                <a:gridCol w="2065020">
                  <a:extLst>
                    <a:ext uri="{9D8B030D-6E8A-4147-A177-3AD203B41FA5}">
                      <a16:colId xmlns:a16="http://schemas.microsoft.com/office/drawing/2014/main" val="3470162853"/>
                    </a:ext>
                  </a:extLst>
                </a:gridCol>
                <a:gridCol w="1112520">
                  <a:extLst>
                    <a:ext uri="{9D8B030D-6E8A-4147-A177-3AD203B41FA5}">
                      <a16:colId xmlns:a16="http://schemas.microsoft.com/office/drawing/2014/main" val="607956648"/>
                    </a:ext>
                  </a:extLst>
                </a:gridCol>
                <a:gridCol w="2346960">
                  <a:extLst>
                    <a:ext uri="{9D8B030D-6E8A-4147-A177-3AD203B41FA5}">
                      <a16:colId xmlns:a16="http://schemas.microsoft.com/office/drawing/2014/main" val="2615944219"/>
                    </a:ext>
                  </a:extLst>
                </a:gridCol>
              </a:tblGrid>
              <a:tr h="338666">
                <a:tc gridSpan="2">
                  <a:txBody>
                    <a:bodyPr/>
                    <a:lstStyle/>
                    <a:p>
                      <a:pPr algn="ctr"/>
                      <a:r>
                        <a:rPr lang="en-US" sz="1000" b="1" dirty="0">
                          <a:solidFill>
                            <a:srgbClr val="FFFFFF"/>
                          </a:solidFill>
                        </a:rPr>
                        <a:t>Number of nodes</a:t>
                      </a:r>
                    </a:p>
                    <a:p>
                      <a:pPr algn="ctr"/>
                      <a:endParaRPr lang="en-US" sz="1000" b="1" dirty="0">
                        <a:solidFill>
                          <a:srgbClr val="FFFFFF"/>
                        </a:solidFill>
                      </a:endParaRPr>
                    </a:p>
                  </a:txBody>
                  <a:tcPr>
                    <a:solidFill>
                      <a:srgbClr val="0047BA"/>
                    </a:solidFill>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Cores per node</a:t>
                      </a:r>
                    </a:p>
                    <a:p>
                      <a:pPr algn="ctr"/>
                      <a:endParaRPr lang="en-US" sz="1000" b="1" dirty="0">
                        <a:solidFill>
                          <a:srgbClr val="FFFFFF"/>
                        </a:solidFill>
                      </a:endParaRPr>
                    </a:p>
                  </a:txBody>
                  <a:tcPr>
                    <a:solidFill>
                      <a:srgbClr val="0047BA"/>
                    </a:solidFill>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Network</a:t>
                      </a:r>
                      <a:r>
                        <a:rPr lang="en-US" sz="1000" b="1" strike="noStrike" spc="-1" baseline="0" dirty="0">
                          <a:solidFill>
                            <a:srgbClr val="FFFFFF"/>
                          </a:solidFill>
                        </a:rPr>
                        <a:t> interconnection</a:t>
                      </a:r>
                      <a:endParaRPr lang="en-US" sz="1000" b="1" strike="noStrike" spc="-1" dirty="0">
                        <a:solidFill>
                          <a:srgbClr val="FFFFFF"/>
                        </a:solidFill>
                      </a:endParaRPr>
                    </a:p>
                    <a:p>
                      <a:pPr algn="ctr"/>
                      <a:endParaRPr lang="en-US" sz="1000" b="1" dirty="0">
                        <a:solidFill>
                          <a:srgbClr val="FFFFFF"/>
                        </a:solidFill>
                      </a:endParaRPr>
                    </a:p>
                  </a:txBody>
                  <a:tcPr>
                    <a:solidFill>
                      <a:srgbClr val="0047BA"/>
                    </a:solidFill>
                  </a:tcPr>
                </a:tc>
                <a:tc h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Total</a:t>
                      </a:r>
                      <a:r>
                        <a:rPr lang="en-US" sz="1000" b="1" strike="noStrike" spc="-1" baseline="0" dirty="0">
                          <a:solidFill>
                            <a:srgbClr val="FFFFFF"/>
                          </a:solidFill>
                        </a:rPr>
                        <a:t> CPU cores</a:t>
                      </a:r>
                      <a:endParaRPr lang="en-US" sz="1000" b="1" strike="noStrike" spc="-1" dirty="0">
                        <a:solidFill>
                          <a:srgbClr val="FFFFFF"/>
                        </a:solidFill>
                      </a:endParaRP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Theoretical</a:t>
                      </a:r>
                      <a:r>
                        <a:rPr lang="en-US" sz="1000" b="1" strike="noStrike" spc="-1" baseline="0" dirty="0">
                          <a:solidFill>
                            <a:srgbClr val="FFFFFF"/>
                          </a:solidFill>
                        </a:rPr>
                        <a:t> peak of performance</a:t>
                      </a:r>
                      <a:endParaRPr lang="en-US" sz="1000" b="1" strike="noStrike" spc="-1" dirty="0">
                        <a:solidFill>
                          <a:srgbClr val="FFFFFF"/>
                        </a:solidFill>
                      </a:endParaRPr>
                    </a:p>
                    <a:p>
                      <a:pPr algn="ctr"/>
                      <a:endParaRPr lang="en-US" sz="1000" b="1" dirty="0">
                        <a:solidFill>
                          <a:srgbClr val="FFFFFF"/>
                        </a:solidFill>
                      </a:endParaRPr>
                    </a:p>
                  </a:txBody>
                  <a:tcPr>
                    <a:solidFill>
                      <a:srgbClr val="0047BA"/>
                    </a:solidFill>
                  </a:tcPr>
                </a:tc>
                <a:extLst>
                  <a:ext uri="{0D108BD9-81ED-4DB2-BD59-A6C34878D82A}">
                    <a16:rowId xmlns:a16="http://schemas.microsoft.com/office/drawing/2014/main" val="667571679"/>
                  </a:ext>
                </a:extLst>
              </a:tr>
              <a:tr h="805181">
                <a:tc rowSpan="4">
                  <a:txBody>
                    <a:bodyPr/>
                    <a:lstStyle/>
                    <a:p>
                      <a:pPr algn="ctr">
                        <a:lnSpc>
                          <a:spcPts val="2100"/>
                        </a:lnSpc>
                      </a:pPr>
                      <a:r>
                        <a:rPr lang="en-US" sz="1000" strike="noStrike" spc="-1" dirty="0"/>
                        <a:t>88 CPU nodes</a:t>
                      </a:r>
                      <a:endParaRPr lang="en-US" sz="1000" b="0" strike="noStrike" spc="-1" dirty="0">
                        <a:solidFill>
                          <a:schemeClr val="tx1"/>
                        </a:solidFill>
                        <a:latin typeface="Arial"/>
                      </a:endParaRPr>
                    </a:p>
                  </a:txBody>
                  <a:tcPr marL="53280" marR="53280" anchor="ctr">
                    <a:lnR w="12700" cap="flat" cmpd="sng" algn="ctr">
                      <a:solidFill>
                        <a:schemeClr val="accent6"/>
                      </a:solidFill>
                      <a:prstDash val="solid"/>
                      <a:round/>
                      <a:headEnd type="none" w="med" len="med"/>
                      <a:tailEnd type="none" w="med" len="med"/>
                    </a:lnR>
                    <a:lnB w="12700" cap="flat" cmpd="sng" algn="ctr">
                      <a:solidFill>
                        <a:schemeClr val="accent6"/>
                      </a:solidFill>
                      <a:prstDash val="solid"/>
                      <a:round/>
                      <a:headEnd type="none" w="med" len="med"/>
                      <a:tailEnd type="none" w="med" len="med"/>
                    </a:lnB>
                  </a:tcPr>
                </a:tc>
                <a:tc rowSpan="4">
                  <a:txBody>
                    <a:bodyPr/>
                    <a:lstStyle/>
                    <a:p>
                      <a:pPr algn="ctr">
                        <a:lnSpc>
                          <a:spcPts val="2100"/>
                        </a:lnSpc>
                      </a:pPr>
                      <a:r>
                        <a:rPr lang="en-US" sz="1000" strike="noStrike" spc="-1" dirty="0"/>
                        <a:t>2x Intel Xeon Gold 6230R</a:t>
                      </a:r>
                      <a:r>
                        <a:rPr lang="en-US" sz="1000" strike="noStrike" spc="-1" baseline="0" dirty="0"/>
                        <a:t> </a:t>
                      </a:r>
                      <a:r>
                        <a:rPr lang="en-US" sz="1000" strike="noStrike" spc="-1" dirty="0"/>
                        <a:t>26-Core 2.1GHz</a:t>
                      </a:r>
                      <a:r>
                        <a:rPr lang="en-US" sz="1000" strike="noStrike" spc="-1" baseline="0" dirty="0"/>
                        <a:t> </a:t>
                      </a:r>
                      <a:r>
                        <a:rPr lang="en-US" sz="1000" strike="noStrike" spc="-1" dirty="0"/>
                        <a:t>(Cascade lake)</a:t>
                      </a:r>
                    </a:p>
                    <a:p>
                      <a:pPr marL="0" marR="0" lvl="0" indent="0" algn="ctr" defTabSz="914400" rtl="0" eaLnBrk="1" fontAlgn="auto" latinLnBrk="0" hangingPunct="1">
                        <a:lnSpc>
                          <a:spcPts val="2100"/>
                        </a:lnSpc>
                        <a:spcBef>
                          <a:spcPts val="0"/>
                        </a:spcBef>
                        <a:spcAft>
                          <a:spcPts val="0"/>
                        </a:spcAft>
                        <a:buClrTx/>
                        <a:buSzTx/>
                        <a:buFontTx/>
                        <a:buNone/>
                        <a:tabLst/>
                        <a:defRPr/>
                      </a:pPr>
                      <a:r>
                        <a:rPr lang="en-US" sz="1000" strike="noStrike" spc="-1" dirty="0"/>
                        <a:t>(Q1‘20)</a:t>
                      </a:r>
                      <a:endParaRPr lang="en-US" sz="1000" b="0" strike="noStrike" spc="-1" dirty="0">
                        <a:solidFill>
                          <a:schemeClr val="tx1"/>
                        </a:solidFill>
                        <a:latin typeface="+mn-lt"/>
                      </a:endParaRPr>
                    </a:p>
                  </a:txBody>
                  <a:tcPr marL="53280" marR="53280" anchor="ctr">
                    <a:lnL w="12700" cap="flat" cmpd="sng" algn="ctr">
                      <a:solidFill>
                        <a:schemeClr val="accent6"/>
                      </a:solidFill>
                      <a:prstDash val="solid"/>
                      <a:round/>
                      <a:headEnd type="none" w="med" len="med"/>
                      <a:tailEnd type="none" w="med" len="med"/>
                    </a:lnL>
                    <a:lnB w="12700" cap="flat" cmpd="sng" algn="ctr">
                      <a:solidFill>
                        <a:schemeClr val="accent6"/>
                      </a:solidFill>
                      <a:prstDash val="solid"/>
                      <a:round/>
                      <a:headEnd type="none" w="med" len="med"/>
                      <a:tailEnd type="none" w="med" len="med"/>
                    </a:lnB>
                  </a:tcPr>
                </a:tc>
                <a:tc rowSpan="2"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strike="noStrike" spc="-1" dirty="0"/>
                        <a:t>52</a:t>
                      </a:r>
                    </a:p>
                  </a:txBody>
                  <a:tcPr anchor="ctr"/>
                </a:tc>
                <a:tc rowSpan="2" hMerge="1">
                  <a:txBody>
                    <a:bodyPr/>
                    <a:lstStyle/>
                    <a:p>
                      <a:endParaRPr lang="en-US"/>
                    </a:p>
                  </a:txBody>
                  <a:tcPr/>
                </a:tc>
                <a:tc rowSpan="2"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strike="noStrike" spc="-1" dirty="0" err="1">
                          <a:solidFill>
                            <a:sysClr val="windowText" lastClr="000000"/>
                          </a:solidFill>
                          <a:latin typeface="+mn-lt"/>
                        </a:rPr>
                        <a:t>Infiniband</a:t>
                      </a:r>
                      <a:r>
                        <a:rPr lang="en-US" sz="1000" b="0" strike="noStrike" spc="-1" dirty="0">
                          <a:solidFill>
                            <a:sysClr val="windowText" lastClr="000000"/>
                          </a:solidFill>
                          <a:latin typeface="+mn-lt"/>
                        </a:rPr>
                        <a:t> HDR and </a:t>
                      </a:r>
                      <a:r>
                        <a:rPr lang="en-US" sz="1000" b="0" strike="noStrike" spc="-1" dirty="0" err="1">
                          <a:solidFill>
                            <a:sysClr val="windowText" lastClr="000000"/>
                          </a:solidFill>
                          <a:latin typeface="+mn-lt"/>
                        </a:rPr>
                        <a:t>Infiniband</a:t>
                      </a:r>
                      <a:r>
                        <a:rPr lang="en-US" sz="1000" b="0" strike="noStrike" spc="-1" dirty="0">
                          <a:solidFill>
                            <a:sysClr val="windowText" lastClr="000000"/>
                          </a:solidFill>
                          <a:latin typeface="+mn-lt"/>
                        </a:rPr>
                        <a:t> EDR</a:t>
                      </a:r>
                    </a:p>
                  </a:txBody>
                  <a:tcPr anchor="ctr"/>
                </a:tc>
                <a:tc rowSpan="2" hMerge="1">
                  <a:txBody>
                    <a:bodyPr/>
                    <a:lstStyle/>
                    <a:p>
                      <a:endParaRPr lang="en-US"/>
                    </a:p>
                  </a:txBody>
                  <a:tcPr/>
                </a:tc>
                <a:tc>
                  <a:txBody>
                    <a:bodyPr/>
                    <a:lstStyle/>
                    <a:p>
                      <a:pPr algn="ctr"/>
                      <a:r>
                        <a:rPr lang="en-US" sz="1000" b="0" strike="noStrike" spc="-1" dirty="0">
                          <a:solidFill>
                            <a:sysClr val="windowText" lastClr="000000"/>
                          </a:solidFill>
                          <a:latin typeface="+mn-lt"/>
                        </a:rPr>
                        <a:t>4,732</a:t>
                      </a:r>
                      <a:endParaRPr lang="en-US" sz="1000" dirty="0">
                        <a:solidFill>
                          <a:schemeClr val="tx1"/>
                        </a:solidFill>
                      </a:endParaRPr>
                    </a:p>
                  </a:txBody>
                  <a:tcPr anchor="ct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strike="noStrike" spc="-1" dirty="0">
                          <a:solidFill>
                            <a:sysClr val="windowText" lastClr="000000"/>
                          </a:solidFill>
                          <a:latin typeface="+mn-lt"/>
                        </a:rPr>
                        <a:t>401.9 TFOPS</a:t>
                      </a:r>
                    </a:p>
                  </a:txBody>
                  <a:tcPr anchor="ctr"/>
                </a:tc>
                <a:extLst>
                  <a:ext uri="{0D108BD9-81ED-4DB2-BD59-A6C34878D82A}">
                    <a16:rowId xmlns:a16="http://schemas.microsoft.com/office/drawing/2014/main" val="1269556809"/>
                  </a:ext>
                </a:extLst>
              </a:tr>
              <a:tr h="154939">
                <a:tc vMerge="1">
                  <a:txBody>
                    <a:bodyPr/>
                    <a:lstStyle/>
                    <a:p>
                      <a:endParaRPr lang="en-US"/>
                    </a:p>
                  </a:txBody>
                  <a:tcPr/>
                </a:tc>
                <a:tc vMerge="1">
                  <a:txBody>
                    <a:bodyPr/>
                    <a:lstStyle/>
                    <a:p>
                      <a:endParaRPr lang="en-US"/>
                    </a:p>
                  </a:txBody>
                  <a:tcPr/>
                </a:tc>
                <a:tc gridSpan="2"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rowSpan="2">
                  <a:txBody>
                    <a:bodyPr/>
                    <a:lstStyle/>
                    <a:p>
                      <a:pPr algn="ctr"/>
                      <a:r>
                        <a:rPr lang="en-US" sz="1000" b="1" dirty="0">
                          <a:solidFill>
                            <a:srgbClr val="FFFFFF"/>
                          </a:solidFill>
                        </a:rPr>
                        <a:t>Total GPU cores</a:t>
                      </a:r>
                    </a:p>
                  </a:txBody>
                  <a:tcPr anchor="ctr">
                    <a:solidFill>
                      <a:srgbClr val="0047BA"/>
                    </a:solidFill>
                  </a:tcPr>
                </a:tc>
                <a:tc vMerge="1">
                  <a:txBody>
                    <a:bodyPr/>
                    <a:lstStyle/>
                    <a:p>
                      <a:endParaRPr lang="en-US"/>
                    </a:p>
                  </a:txBody>
                  <a:tcPr/>
                </a:tc>
                <a:extLst>
                  <a:ext uri="{0D108BD9-81ED-4DB2-BD59-A6C34878D82A}">
                    <a16:rowId xmlns:a16="http://schemas.microsoft.com/office/drawing/2014/main" val="1263822972"/>
                  </a:ext>
                </a:extLst>
              </a:tr>
              <a:tr h="251460">
                <a:tc vMerge="1">
                  <a:txBody>
                    <a:bodyPr/>
                    <a:lstStyle/>
                    <a:p>
                      <a:endParaRPr lang="en-US"/>
                    </a:p>
                  </a:txBody>
                  <a:tcPr/>
                </a:tc>
                <a:tc vMerge="1">
                  <a:txBody>
                    <a:bodyPr/>
                    <a:lstStyle/>
                    <a:p>
                      <a:endParaRPr lang="en-US"/>
                    </a:p>
                  </a:txBody>
                  <a:tcPr/>
                </a:tc>
                <a:tc rowSpan="2"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Memory</a:t>
                      </a:r>
                      <a:r>
                        <a:rPr lang="en-US" sz="1000" b="1" strike="noStrike" spc="-1" baseline="0" dirty="0">
                          <a:solidFill>
                            <a:srgbClr val="FFFFFF"/>
                          </a:solidFill>
                        </a:rPr>
                        <a:t> per node</a:t>
                      </a:r>
                      <a:endParaRPr lang="en-US" sz="1000" b="1" strike="noStrike" spc="-1" dirty="0">
                        <a:solidFill>
                          <a:srgbClr val="FFFFFF"/>
                        </a:solidFill>
                      </a:endParaRPr>
                    </a:p>
                  </a:txBody>
                  <a:tcPr anchor="ctr">
                    <a:solidFill>
                      <a:srgbClr val="0047BA"/>
                    </a:solidFill>
                  </a:tcPr>
                </a:tc>
                <a:tc rowSpan="2" hMerge="1">
                  <a:txBody>
                    <a:bodyPr/>
                    <a:lstStyle/>
                    <a:p>
                      <a:endParaRPr lang="en-US"/>
                    </a:p>
                  </a:txBody>
                  <a:tcPr/>
                </a:tc>
                <a:tc rowSpan="2" gridSpan="2">
                  <a:txBody>
                    <a:bodyPr/>
                    <a:lstStyle/>
                    <a:p>
                      <a:pPr algn="ctr"/>
                      <a:r>
                        <a:rPr lang="en-US" sz="1000" b="1" dirty="0">
                          <a:solidFill>
                            <a:srgbClr val="FFFFFF"/>
                          </a:solidFill>
                        </a:rPr>
                        <a:t>Storage</a:t>
                      </a:r>
                    </a:p>
                  </a:txBody>
                  <a:tcPr anchor="ctr">
                    <a:solidFill>
                      <a:srgbClr val="0047BA"/>
                    </a:solidFill>
                  </a:tcPr>
                </a:tc>
                <a:tc rowSpan="2" hMerge="1">
                  <a:txBody>
                    <a:bodyPr/>
                    <a:lstStyle/>
                    <a:p>
                      <a:endParaRPr lang="en-US"/>
                    </a:p>
                  </a:txBody>
                  <a:tcPr/>
                </a:tc>
                <a:tc vMerge="1">
                  <a:txBody>
                    <a:bodyPr/>
                    <a:lstStyle/>
                    <a:p>
                      <a:endParaRPr lang="en-US" dirty="0"/>
                    </a:p>
                  </a:txBody>
                  <a:tcPr/>
                </a:tc>
                <a:tc vMerge="1">
                  <a:txBody>
                    <a:bodyPr/>
                    <a:lstStyle/>
                    <a:p>
                      <a:endParaRPr lang="en-US"/>
                    </a:p>
                  </a:txBody>
                  <a:tcPr/>
                </a:tc>
                <a:extLst>
                  <a:ext uri="{0D108BD9-81ED-4DB2-BD59-A6C34878D82A}">
                    <a16:rowId xmlns:a16="http://schemas.microsoft.com/office/drawing/2014/main" val="1934381651"/>
                  </a:ext>
                </a:extLst>
              </a:tr>
              <a:tr h="0">
                <a:tc vMerge="1">
                  <a:txBody>
                    <a:bodyPr/>
                    <a:lstStyle/>
                    <a:p>
                      <a:endParaRPr lang="en-US"/>
                    </a:p>
                  </a:txBody>
                  <a:tcPr>
                    <a:lnT w="12700" cap="flat" cmpd="sng" algn="ctr">
                      <a:solidFill>
                        <a:schemeClr val="accent6"/>
                      </a:solidFill>
                      <a:prstDash val="solid"/>
                      <a:round/>
                      <a:headEnd type="none" w="med" len="med"/>
                      <a:tailEnd type="none" w="med" len="med"/>
                    </a:lnT>
                  </a:tcPr>
                </a:tc>
                <a:tc vMerge="1">
                  <a:txBody>
                    <a:bodyPr/>
                    <a:lstStyle/>
                    <a:p>
                      <a:endParaRPr lang="en-US"/>
                    </a:p>
                  </a:txBody>
                  <a:tcPr>
                    <a:lnT w="12700" cap="flat" cmpd="sng" algn="ctr">
                      <a:solidFill>
                        <a:schemeClr val="accent6"/>
                      </a:solidFill>
                      <a:prstDash val="solid"/>
                      <a:round/>
                      <a:headEnd type="none" w="med" len="med"/>
                      <a:tailEnd type="none" w="med" len="med"/>
                    </a:lnT>
                  </a:tcPr>
                </a:tc>
                <a:tc gridSpan="2"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strike="noStrike" spc="-1" dirty="0"/>
                    </a:p>
                  </a:txBody>
                  <a:tcPr/>
                </a:tc>
                <a:tc hMerge="1" vMerge="1">
                  <a:txBody>
                    <a:bodyPr/>
                    <a:lstStyle/>
                    <a:p>
                      <a:endParaRPr lang="en-US"/>
                    </a:p>
                  </a:txBody>
                  <a:tcPr/>
                </a:tc>
                <a:tc gridSpan="2" vMerge="1">
                  <a:txBody>
                    <a:bodyPr/>
                    <a:lstStyle/>
                    <a:p>
                      <a:pPr algn="ctr"/>
                      <a:endParaRPr lang="en-US" sz="1000" dirty="0">
                        <a:solidFill>
                          <a:schemeClr val="tx1"/>
                        </a:solidFill>
                      </a:endParaRPr>
                    </a:p>
                  </a:txBody>
                  <a:tcPr/>
                </a:tc>
                <a:tc hMerge="1" vMerge="1">
                  <a:txBody>
                    <a:bodyPr/>
                    <a:lstStyle/>
                    <a:p>
                      <a:endParaRPr lang="en-US"/>
                    </a:p>
                  </a:txBody>
                  <a:tcPr/>
                </a:tc>
                <a:tc rowSpan="3">
                  <a:txBody>
                    <a:bodyPr/>
                    <a:lstStyle/>
                    <a:p>
                      <a:pPr algn="ctr"/>
                      <a:r>
                        <a:rPr lang="en-US" sz="1000" b="0" strike="noStrike" spc="-1" dirty="0">
                          <a:solidFill>
                            <a:sysClr val="windowText" lastClr="000000"/>
                          </a:solidFill>
                          <a:latin typeface="+mn-lt"/>
                        </a:rPr>
                        <a:t>61,440</a:t>
                      </a:r>
                      <a:endParaRPr lang="en-US" sz="1000" dirty="0">
                        <a:solidFill>
                          <a:schemeClr val="tx1"/>
                        </a:solidFill>
                      </a:endParaRPr>
                    </a:p>
                  </a:txBody>
                  <a:tcPr anchor="ctr"/>
                </a:tc>
                <a:tc vMerge="1">
                  <a:txBody>
                    <a:bodyPr/>
                    <a:lstStyle/>
                    <a:p>
                      <a:endParaRPr lang="en-US"/>
                    </a:p>
                  </a:txBody>
                  <a:tcPr/>
                </a:tc>
                <a:extLst>
                  <a:ext uri="{0D108BD9-81ED-4DB2-BD59-A6C34878D82A}">
                    <a16:rowId xmlns:a16="http://schemas.microsoft.com/office/drawing/2014/main" val="2876245945"/>
                  </a:ext>
                </a:extLst>
              </a:tr>
              <a:tr h="458469">
                <a:tc rowSpan="5">
                  <a:txBody>
                    <a:bodyPr/>
                    <a:lstStyle/>
                    <a:p>
                      <a:pPr algn="ctr">
                        <a:lnSpc>
                          <a:spcPts val="2100"/>
                        </a:lnSpc>
                      </a:pPr>
                      <a:r>
                        <a:rPr lang="en-US" sz="1000" strike="noStrike" spc="-1" dirty="0"/>
                        <a:t>3 GPU</a:t>
                      </a:r>
                      <a:r>
                        <a:rPr lang="en-US" sz="1000" strike="noStrike" spc="-1" baseline="0" dirty="0"/>
                        <a:t> nodes</a:t>
                      </a:r>
                      <a:endParaRPr lang="en-US" sz="1000" b="0" strike="noStrike" spc="-1" dirty="0">
                        <a:solidFill>
                          <a:schemeClr val="tx1"/>
                        </a:solidFill>
                        <a:latin typeface="Arial"/>
                      </a:endParaRPr>
                    </a:p>
                  </a:txBody>
                  <a:tcPr marL="53280" marR="53280" anchor="ctr">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tcPr>
                </a:tc>
                <a:tc rowSpan="3">
                  <a:txBody>
                    <a:bodyPr/>
                    <a:lstStyle/>
                    <a:p>
                      <a:pPr algn="ctr">
                        <a:lnSpc>
                          <a:spcPts val="2100"/>
                        </a:lnSpc>
                      </a:pPr>
                      <a:r>
                        <a:rPr lang="en-US" sz="1000" strike="noStrike" spc="-1" dirty="0"/>
                        <a:t>2x Intel Xeon Gold 6230R</a:t>
                      </a:r>
                      <a:r>
                        <a:rPr lang="en-US" sz="1000" strike="noStrike" spc="-1" baseline="0" dirty="0"/>
                        <a:t> </a:t>
                      </a:r>
                      <a:r>
                        <a:rPr lang="en-US" sz="1000" strike="noStrike" spc="-1" dirty="0"/>
                        <a:t>26-Core 2.1GHz(Cascade lake)</a:t>
                      </a:r>
                    </a:p>
                    <a:p>
                      <a:pPr marL="0" marR="0" lvl="0" indent="0" algn="ctr" defTabSz="914400" rtl="0" eaLnBrk="1" fontAlgn="auto" latinLnBrk="0" hangingPunct="1">
                        <a:lnSpc>
                          <a:spcPts val="2100"/>
                        </a:lnSpc>
                        <a:spcBef>
                          <a:spcPts val="0"/>
                        </a:spcBef>
                        <a:spcAft>
                          <a:spcPts val="0"/>
                        </a:spcAft>
                        <a:buClrTx/>
                        <a:buSzTx/>
                        <a:buFontTx/>
                        <a:buNone/>
                        <a:tabLst/>
                        <a:defRPr/>
                      </a:pPr>
                      <a:r>
                        <a:rPr lang="en-US" sz="1000" strike="noStrike" spc="-1" dirty="0"/>
                        <a:t>(Q1’20)</a:t>
                      </a:r>
                      <a:endParaRPr lang="en-US" sz="1000" b="0" strike="noStrike" spc="-1" dirty="0">
                        <a:solidFill>
                          <a:schemeClr val="tx1"/>
                        </a:solidFill>
                        <a:latin typeface="+mn-lt"/>
                      </a:endParaRPr>
                    </a:p>
                  </a:txBody>
                  <a:tcPr marL="53280" marR="53280" anchor="ctr">
                    <a:lnL w="12700" cap="flat" cmpd="sng" algn="ctr">
                      <a:solidFill>
                        <a:schemeClr val="accent6"/>
                      </a:solidFill>
                      <a:prstDash val="solid"/>
                      <a:round/>
                      <a:headEnd type="none" w="med" len="med"/>
                      <a:tailEnd type="none" w="med" len="med"/>
                    </a:lnL>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rowSpan="3">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strike="noStrike" spc="-1" dirty="0"/>
                        <a:t>CPU nodes</a:t>
                      </a:r>
                      <a:endParaRPr lang="en-US" sz="1000" b="0" strike="noStrike" spc="-1" dirty="0">
                        <a:solidFill>
                          <a:schemeClr val="tx1"/>
                        </a:solidFill>
                        <a:latin typeface="+mn-lt"/>
                      </a:endParaRPr>
                    </a:p>
                  </a:txBody>
                  <a:tcPr marL="53280" marR="53280" anchor="ctr">
                    <a:lnR w="12700" cap="flat" cmpd="sng" algn="ctr">
                      <a:solidFill>
                        <a:schemeClr val="accent6"/>
                      </a:solidFill>
                      <a:prstDash val="solid"/>
                      <a:round/>
                      <a:headEnd type="none" w="med" len="med"/>
                      <a:tailEnd type="none" w="med" len="med"/>
                    </a:lnR>
                    <a:lnB w="12700" cap="flat" cmpd="sng" algn="ctr">
                      <a:solidFill>
                        <a:schemeClr val="accent6"/>
                      </a:solidFill>
                      <a:prstDash val="solid"/>
                      <a:round/>
                      <a:headEnd type="none" w="med" len="med"/>
                      <a:tailEnd type="none" w="med" len="med"/>
                    </a:lnB>
                  </a:tcPr>
                </a:tc>
                <a:tc rowSpan="3">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strike="noStrike" spc="-1" dirty="0"/>
                        <a:t>384 GB</a:t>
                      </a:r>
                      <a:endParaRPr lang="en-US" sz="1000" b="0" strike="noStrike" spc="-1" dirty="0">
                        <a:solidFill>
                          <a:schemeClr val="tx1"/>
                        </a:solidFill>
                        <a:latin typeface="+mn-lt"/>
                      </a:endParaRPr>
                    </a:p>
                  </a:txBody>
                  <a:tcPr marL="53280" marR="53280" anchor="ctr">
                    <a:lnL w="12700" cap="flat" cmpd="sng" algn="ctr">
                      <a:solidFill>
                        <a:schemeClr val="accent6"/>
                      </a:solidFill>
                      <a:prstDash val="solid"/>
                      <a:round/>
                      <a:headEnd type="none" w="med" len="med"/>
                      <a:tailEnd type="none" w="med" len="med"/>
                    </a:lnL>
                    <a:lnB w="12700" cap="flat" cmpd="sng" algn="ctr">
                      <a:solidFill>
                        <a:schemeClr val="accent6"/>
                      </a:solidFill>
                      <a:prstDash val="solid"/>
                      <a:round/>
                      <a:headEnd type="none" w="med" len="med"/>
                      <a:tailEnd type="none" w="med" len="med"/>
                    </a:lnB>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strike="noStrike" spc="-1" dirty="0">
                          <a:solidFill>
                            <a:sysClr val="windowText" lastClr="000000"/>
                          </a:solidFill>
                          <a:latin typeface="+mn-lt"/>
                        </a:rPr>
                        <a:t>300 TB home</a:t>
                      </a:r>
                    </a:p>
                  </a:txBody>
                  <a:tcPr anchor="ctr">
                    <a:lnR w="12700" cap="flat" cmpd="sng" algn="ctr">
                      <a:solidFill>
                        <a:schemeClr val="accent6"/>
                      </a:solidFill>
                      <a:prstDash val="solid"/>
                      <a:round/>
                      <a:headEnd type="none" w="med" len="med"/>
                      <a:tailEnd type="none" w="med" len="med"/>
                    </a:lnR>
                    <a:lnB w="12700" cap="flat" cmpd="sng" algn="ctr">
                      <a:solidFill>
                        <a:schemeClr val="accent6"/>
                      </a:solidFill>
                      <a:prstDash val="solid"/>
                      <a:round/>
                      <a:headEnd type="none" w="med" len="med"/>
                      <a:tailEnd type="none" w="med" len="med"/>
                    </a:lnB>
                  </a:tcPr>
                </a:tc>
                <a:tc rowSpan="3">
                  <a:txBody>
                    <a:bodyPr/>
                    <a:lstStyle/>
                    <a:p>
                      <a:pPr algn="ctr"/>
                      <a:r>
                        <a:rPr lang="en-US" sz="1000" b="0" strike="noStrike" spc="-1" dirty="0">
                          <a:solidFill>
                            <a:sysClr val="windowText" lastClr="000000"/>
                          </a:solidFill>
                          <a:latin typeface="+mn-lt"/>
                        </a:rPr>
                        <a:t>NFSv4</a:t>
                      </a:r>
                      <a:endParaRPr lang="en-US" sz="1000" dirty="0">
                        <a:solidFill>
                          <a:schemeClr val="tx1"/>
                        </a:solidFill>
                      </a:endParaRPr>
                    </a:p>
                  </a:txBody>
                  <a:tcPr anchor="ctr">
                    <a:lnL w="12700" cap="flat" cmpd="sng" algn="ctr">
                      <a:solidFill>
                        <a:schemeClr val="accent6"/>
                      </a:solidFill>
                      <a:prstDash val="solid"/>
                      <a:round/>
                      <a:headEnd type="none" w="med" len="med"/>
                      <a:tailEnd type="none" w="med" len="med"/>
                    </a:lnL>
                    <a:lnB w="12700" cap="flat" cmpd="sng" algn="ctr">
                      <a:solidFill>
                        <a:schemeClr val="accent6"/>
                      </a:solidFill>
                      <a:prstDash val="solid"/>
                      <a:round/>
                      <a:headEnd type="none" w="med" len="med"/>
                      <a:tailEnd type="none" w="med" len="med"/>
                    </a:lnB>
                  </a:tcPr>
                </a:tc>
                <a:tc vMerge="1">
                  <a:txBody>
                    <a:bodyPr/>
                    <a:lstStyle/>
                    <a:p>
                      <a:pPr algn="ctr"/>
                      <a:endParaRPr lang="en-US" sz="1000" dirty="0">
                        <a:solidFill>
                          <a:schemeClr val="tx1"/>
                        </a:solidFill>
                      </a:endParaRPr>
                    </a:p>
                  </a:txBody>
                  <a:tcPr anchor="ctr"/>
                </a:tc>
                <a:tc>
                  <a:txBody>
                    <a:bodyPr/>
                    <a:lstStyle/>
                    <a:p>
                      <a:pPr algn="ctr"/>
                      <a:r>
                        <a:rPr lang="en-US" sz="1000" b="1" dirty="0">
                          <a:solidFill>
                            <a:srgbClr val="FFFFFF"/>
                          </a:solidFill>
                        </a:rPr>
                        <a:t>Estimated peak of performance</a:t>
                      </a:r>
                    </a:p>
                  </a:txBody>
                  <a:tcPr anchor="ctr">
                    <a:solidFill>
                      <a:srgbClr val="0047BA"/>
                    </a:solidFill>
                  </a:tcPr>
                </a:tc>
                <a:extLst>
                  <a:ext uri="{0D108BD9-81ED-4DB2-BD59-A6C34878D82A}">
                    <a16:rowId xmlns:a16="http://schemas.microsoft.com/office/drawing/2014/main" val="4114277690"/>
                  </a:ext>
                </a:extLst>
              </a:tr>
              <a:tr h="123191">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strike="noStrike" spc="-1" dirty="0">
                          <a:solidFill>
                            <a:sysClr val="windowText" lastClr="000000"/>
                          </a:solidFill>
                          <a:latin typeface="+mn-lt"/>
                        </a:rPr>
                        <a:t>321.52 TFOPS</a:t>
                      </a:r>
                    </a:p>
                  </a:txBody>
                  <a:tcPr anchor="ctr"/>
                </a:tc>
                <a:extLst>
                  <a:ext uri="{0D108BD9-81ED-4DB2-BD59-A6C34878D82A}">
                    <a16:rowId xmlns:a16="http://schemas.microsoft.com/office/drawing/2014/main" val="1137452679"/>
                  </a:ext>
                </a:extLst>
              </a:tr>
              <a:tr h="28733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algn="ctr"/>
                      <a:r>
                        <a:rPr lang="en-US" sz="1000" b="1" dirty="0">
                          <a:solidFill>
                            <a:srgbClr val="FFFFFF"/>
                          </a:solidFill>
                        </a:rPr>
                        <a:t>Total memory</a:t>
                      </a:r>
                    </a:p>
                  </a:txBody>
                  <a:tcPr anchor="ctr">
                    <a:solidFill>
                      <a:srgbClr val="0047BA"/>
                    </a:solidFill>
                  </a:tcPr>
                </a:tc>
                <a:tc vMerge="1">
                  <a:txBody>
                    <a:bodyPr/>
                    <a:lstStyle/>
                    <a:p>
                      <a:endParaRPr lang="en-US" dirty="0"/>
                    </a:p>
                  </a:txBody>
                  <a:tcPr/>
                </a:tc>
                <a:extLst>
                  <a:ext uri="{0D108BD9-81ED-4DB2-BD59-A6C34878D82A}">
                    <a16:rowId xmlns:a16="http://schemas.microsoft.com/office/drawing/2014/main" val="4187817758"/>
                  </a:ext>
                </a:extLst>
              </a:tr>
              <a:tr h="106044">
                <a:tc vMerge="1">
                  <a:txBody>
                    <a:bodyPr/>
                    <a:lstStyle/>
                    <a:p>
                      <a:endParaRPr lang="en-US"/>
                    </a:p>
                  </a:txBody>
                  <a:tcPr/>
                </a:tc>
                <a:tc rowSpan="2">
                  <a:txBody>
                    <a:bodyPr/>
                    <a:lstStyle/>
                    <a:p>
                      <a:pPr algn="ctr">
                        <a:lnSpc>
                          <a:spcPts val="2100"/>
                        </a:lnSpc>
                      </a:pPr>
                      <a:r>
                        <a:rPr lang="en-US" sz="1000" strike="noStrike" spc="-1" dirty="0"/>
                        <a:t>4x NVidia V100</a:t>
                      </a:r>
                      <a:endParaRPr lang="en-US" sz="1000" b="0" strike="noStrike" spc="-1" dirty="0">
                        <a:solidFill>
                          <a:schemeClr val="tx1"/>
                        </a:solidFill>
                        <a:latin typeface="+mn-lt"/>
                      </a:endParaRPr>
                    </a:p>
                  </a:txBody>
                  <a:tcPr marL="53280" marR="53280" anchor="ctr">
                    <a:lnL w="12700" cap="flat" cmpd="sng" algn="ctr">
                      <a:solidFill>
                        <a:schemeClr val="accent6"/>
                      </a:solidFill>
                      <a:prstDash val="solid"/>
                      <a:round/>
                      <a:headEnd type="none" w="med" len="med"/>
                      <a:tailEnd type="none" w="med" len="med"/>
                    </a:lnL>
                    <a:lnT w="12700" cap="flat" cmpd="sng" algn="ctr">
                      <a:solidFill>
                        <a:schemeClr val="accent6"/>
                      </a:solidFill>
                      <a:prstDash val="solid"/>
                      <a:round/>
                      <a:headEnd type="none" w="med" len="med"/>
                      <a:tailEnd type="none" w="med" len="med"/>
                    </a:lnT>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strike="noStrike" spc="-1" dirty="0"/>
                        <a:t>GPU nodes</a:t>
                      </a:r>
                      <a:endParaRPr lang="en-US" sz="1000" b="0" strike="noStrike" spc="-1" dirty="0">
                        <a:solidFill>
                          <a:schemeClr val="tx1"/>
                        </a:solidFill>
                        <a:latin typeface="+mn-lt"/>
                      </a:endParaRPr>
                    </a:p>
                  </a:txBody>
                  <a:tcPr anchor="ctr">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tcPr>
                </a:tc>
                <a:tc rowSpan="2">
                  <a:txBody>
                    <a:bodyPr/>
                    <a:lstStyle/>
                    <a:p>
                      <a:pPr algn="ctr">
                        <a:lnSpc>
                          <a:spcPts val="2100"/>
                        </a:lnSpc>
                      </a:pPr>
                      <a:r>
                        <a:rPr lang="en-US" sz="1000" strike="noStrike" spc="-1" dirty="0"/>
                        <a:t>640 GB </a:t>
                      </a:r>
                    </a:p>
                    <a:p>
                      <a:pPr algn="ctr">
                        <a:lnSpc>
                          <a:spcPts val="2100"/>
                        </a:lnSpc>
                      </a:pPr>
                      <a:r>
                        <a:rPr lang="en-US" sz="1000" strike="noStrike" spc="-1" dirty="0"/>
                        <a:t>+</a:t>
                      </a:r>
                    </a:p>
                    <a:p>
                      <a:pPr algn="ctr">
                        <a:lnSpc>
                          <a:spcPts val="2100"/>
                        </a:lnSpc>
                      </a:pPr>
                      <a:r>
                        <a:rPr lang="en-US" sz="1000" strike="noStrike" spc="-1" dirty="0"/>
                        <a:t> 128 GB (GPU)</a:t>
                      </a:r>
                      <a:endParaRPr lang="en-US" sz="1000" b="0" strike="noStrike" spc="-1" dirty="0">
                        <a:solidFill>
                          <a:schemeClr val="tx1"/>
                        </a:solidFill>
                        <a:latin typeface="+mn-lt"/>
                      </a:endParaRPr>
                    </a:p>
                  </a:txBody>
                  <a:tcPr anchor="ctr">
                    <a:lnL w="12700" cap="flat" cmpd="sng" algn="ctr">
                      <a:solidFill>
                        <a:schemeClr val="accent6"/>
                      </a:solidFill>
                      <a:prstDash val="solid"/>
                      <a:round/>
                      <a:headEnd type="none" w="med" len="med"/>
                      <a:tailEnd type="none" w="med" len="med"/>
                    </a:lnL>
                    <a:lnT w="12700" cap="flat" cmpd="sng" algn="ctr">
                      <a:solidFill>
                        <a:schemeClr val="accent6"/>
                      </a:solidFill>
                      <a:prstDash val="solid"/>
                      <a:round/>
                      <a:headEnd type="none" w="med" len="med"/>
                      <a:tailEnd type="none" w="med" len="med"/>
                    </a:lnT>
                  </a:tcPr>
                </a:tc>
                <a:tc rowSpan="2">
                  <a:txBody>
                    <a:bodyPr/>
                    <a:lstStyle/>
                    <a:p>
                      <a:pPr algn="ctr"/>
                      <a:r>
                        <a:rPr lang="en-US" sz="1000" b="0" strike="noStrike" spc="-1" dirty="0">
                          <a:solidFill>
                            <a:sysClr val="windowText" lastClr="000000"/>
                          </a:solidFill>
                          <a:latin typeface="+mn-lt"/>
                        </a:rPr>
                        <a:t>947 TB scratch</a:t>
                      </a:r>
                      <a:endParaRPr lang="en-US" sz="1000" dirty="0">
                        <a:solidFill>
                          <a:schemeClr val="tx1"/>
                        </a:solidFill>
                      </a:endParaRPr>
                    </a:p>
                  </a:txBody>
                  <a:tcPr anchor="ctr">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strike="noStrike" spc="-1" dirty="0">
                          <a:solidFill>
                            <a:sysClr val="windowText" lastClr="000000"/>
                          </a:solidFill>
                          <a:latin typeface="+mn-lt"/>
                        </a:rPr>
                        <a:t>Parallel file system (</a:t>
                      </a:r>
                      <a:r>
                        <a:rPr lang="en-US" sz="1000" b="0" strike="noStrike" spc="-1" dirty="0" err="1">
                          <a:solidFill>
                            <a:sysClr val="windowText" lastClr="000000"/>
                          </a:solidFill>
                          <a:latin typeface="+mn-lt"/>
                        </a:rPr>
                        <a:t>Lustre</a:t>
                      </a:r>
                      <a:r>
                        <a:rPr lang="en-US" sz="1000" b="0" strike="noStrike" spc="-1" dirty="0">
                          <a:solidFill>
                            <a:sysClr val="windowText" lastClr="000000"/>
                          </a:solidFill>
                          <a:latin typeface="+mn-lt"/>
                        </a:rPr>
                        <a:t>)</a:t>
                      </a:r>
                    </a:p>
                  </a:txBody>
                  <a:tcPr anchor="ctr">
                    <a:lnL w="12700" cap="flat" cmpd="sng" algn="ctr">
                      <a:solidFill>
                        <a:schemeClr val="accent6"/>
                      </a:solidFill>
                      <a:prstDash val="solid"/>
                      <a:round/>
                      <a:headEnd type="none" w="med" len="med"/>
                      <a:tailEnd type="none" w="med" len="med"/>
                    </a:lnL>
                    <a:lnT w="12700" cap="flat" cmpd="sng" algn="ctr">
                      <a:solidFill>
                        <a:schemeClr val="accent6"/>
                      </a:solidFill>
                      <a:prstDash val="solid"/>
                      <a:round/>
                      <a:headEnd type="none" w="med" len="med"/>
                      <a:tailEnd type="none" w="med" len="med"/>
                    </a:lnT>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57353011"/>
                  </a:ext>
                </a:extLst>
              </a:tr>
              <a:tr h="427990">
                <a:tc vMerge="1">
                  <a:txBody>
                    <a:bodyPr/>
                    <a:lstStyle/>
                    <a:p>
                      <a:endParaRPr lang="en-US"/>
                    </a:p>
                  </a:txBody>
                  <a:tcPr/>
                </a:tc>
                <a:tc vMerge="1">
                  <a:txBody>
                    <a:bodyPr/>
                    <a:lstStyle/>
                    <a:p>
                      <a:pPr algn="ctr">
                        <a:lnSpc>
                          <a:spcPts val="2100"/>
                        </a:lnSpc>
                      </a:pPr>
                      <a:endParaRPr lang="en-US" sz="1000" b="0" strike="noStrike" spc="-1" dirty="0">
                        <a:solidFill>
                          <a:schemeClr val="tx1"/>
                        </a:solidFill>
                        <a:latin typeface="+mn-lt"/>
                      </a:endParaRPr>
                    </a:p>
                  </a:txBody>
                  <a:tcPr marL="53280" marR="53280" anchor="ct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strike="noStrike" spc="-1" dirty="0">
                          <a:solidFill>
                            <a:sysClr val="windowText" lastClr="000000"/>
                          </a:solidFill>
                          <a:latin typeface="+mn-lt"/>
                        </a:rPr>
                        <a:t>35.25 TB</a:t>
                      </a:r>
                    </a:p>
                  </a:txBody>
                  <a:tcPr anchor="ctr"/>
                </a:tc>
                <a:tc vMerge="1">
                  <a:txBody>
                    <a:bodyPr/>
                    <a:lstStyle/>
                    <a:p>
                      <a:endParaRPr lang="en-US"/>
                    </a:p>
                  </a:txBody>
                  <a:tcPr/>
                </a:tc>
                <a:extLst>
                  <a:ext uri="{0D108BD9-81ED-4DB2-BD59-A6C34878D82A}">
                    <a16:rowId xmlns:a16="http://schemas.microsoft.com/office/drawing/2014/main" val="1935337687"/>
                  </a:ext>
                </a:extLst>
              </a:tr>
            </a:tbl>
          </a:graphicData>
        </a:graphic>
      </p:graphicFrame>
    </p:spTree>
    <p:extLst>
      <p:ext uri="{BB962C8B-B14F-4D97-AF65-F5344CB8AC3E}">
        <p14:creationId xmlns:p14="http://schemas.microsoft.com/office/powerpoint/2010/main" val="3225301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pc="43" dirty="0">
                <a:solidFill>
                  <a:srgbClr val="0047BA"/>
                </a:solidFill>
                <a:latin typeface="Arial"/>
              </a:rPr>
              <a:t>Comparison of performance</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Current resources</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6</a:t>
            </a:fld>
            <a:endParaRPr lang="en-US" sz="850" b="0" strike="noStrike" spc="-1">
              <a:latin typeface="Arial"/>
            </a:endParaRPr>
          </a:p>
        </p:txBody>
      </p:sp>
      <p:graphicFrame>
        <p:nvGraphicFramePr>
          <p:cNvPr id="7" name="Table 1">
            <a:extLst>
              <a:ext uri="{FF2B5EF4-FFF2-40B4-BE49-F238E27FC236}">
                <a16:creationId xmlns:a16="http://schemas.microsoft.com/office/drawing/2014/main" id="{420EBFB7-95A8-1544-881E-DC5483B93BA4}"/>
              </a:ext>
            </a:extLst>
          </p:cNvPr>
          <p:cNvGraphicFramePr/>
          <p:nvPr>
            <p:extLst>
              <p:ext uri="{D42A27DB-BD31-4B8C-83A1-F6EECF244321}">
                <p14:modId xmlns:p14="http://schemas.microsoft.com/office/powerpoint/2010/main" val="3365754998"/>
              </p:ext>
            </p:extLst>
          </p:nvPr>
        </p:nvGraphicFramePr>
        <p:xfrm>
          <a:off x="370365" y="1214280"/>
          <a:ext cx="11506443" cy="5190600"/>
        </p:xfrm>
        <a:graphic>
          <a:graphicData uri="http://schemas.openxmlformats.org/drawingml/2006/table">
            <a:tbl>
              <a:tblPr/>
              <a:tblGrid>
                <a:gridCol w="835750">
                  <a:extLst>
                    <a:ext uri="{9D8B030D-6E8A-4147-A177-3AD203B41FA5}">
                      <a16:colId xmlns:a16="http://schemas.microsoft.com/office/drawing/2014/main" val="20000"/>
                    </a:ext>
                  </a:extLst>
                </a:gridCol>
                <a:gridCol w="3984692">
                  <a:extLst>
                    <a:ext uri="{9D8B030D-6E8A-4147-A177-3AD203B41FA5}">
                      <a16:colId xmlns:a16="http://schemas.microsoft.com/office/drawing/2014/main" val="20001"/>
                    </a:ext>
                  </a:extLst>
                </a:gridCol>
                <a:gridCol w="4075644">
                  <a:extLst>
                    <a:ext uri="{9D8B030D-6E8A-4147-A177-3AD203B41FA5}">
                      <a16:colId xmlns:a16="http://schemas.microsoft.com/office/drawing/2014/main" val="20002"/>
                    </a:ext>
                  </a:extLst>
                </a:gridCol>
                <a:gridCol w="1051603">
                  <a:extLst>
                    <a:ext uri="{9D8B030D-6E8A-4147-A177-3AD203B41FA5}">
                      <a16:colId xmlns:a16="http://schemas.microsoft.com/office/drawing/2014/main" val="20003"/>
                    </a:ext>
                  </a:extLst>
                </a:gridCol>
                <a:gridCol w="1558754">
                  <a:extLst>
                    <a:ext uri="{9D8B030D-6E8A-4147-A177-3AD203B41FA5}">
                      <a16:colId xmlns:a16="http://schemas.microsoft.com/office/drawing/2014/main" val="20004"/>
                    </a:ext>
                  </a:extLst>
                </a:gridCol>
              </a:tblGrid>
              <a:tr h="758160">
                <a:tc rowSpan="4">
                  <a:txBody>
                    <a:bodyPr/>
                    <a:lstStyle/>
                    <a:p>
                      <a:pPr algn="ctr">
                        <a:lnSpc>
                          <a:spcPct val="100000"/>
                        </a:lnSpc>
                      </a:pPr>
                      <a:r>
                        <a:rPr lang="en-US" sz="1200" b="1" strike="noStrike" spc="-1" dirty="0">
                          <a:solidFill>
                            <a:srgbClr val="000000"/>
                          </a:solidFill>
                          <a:latin typeface="Arial"/>
                        </a:rPr>
                        <a:t>Masdar Campus Cluster</a:t>
                      </a:r>
                      <a:endParaRPr lang="en-US" sz="12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ctr">
                        <a:lnSpc>
                          <a:spcPct val="100000"/>
                        </a:lnSpc>
                      </a:pPr>
                      <a:r>
                        <a:rPr lang="en-US" sz="1000" b="0" strike="noStrike" spc="-1" dirty="0">
                          <a:solidFill>
                            <a:srgbClr val="000000"/>
                          </a:solidFill>
                          <a:latin typeface="Arial"/>
                        </a:rPr>
                        <a:t> </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ctr">
                        <a:lnSpc>
                          <a:spcPct val="100000"/>
                        </a:lnSpc>
                      </a:pPr>
                      <a:r>
                        <a:rPr lang="en-US" sz="1200" b="1" strike="noStrike" spc="-1" dirty="0">
                          <a:solidFill>
                            <a:srgbClr val="000000"/>
                          </a:solidFill>
                          <a:latin typeface="Arial"/>
                        </a:rPr>
                        <a:t>Components</a:t>
                      </a:r>
                      <a:endParaRPr lang="en-US" sz="12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ctr">
                        <a:lnSpc>
                          <a:spcPct val="100000"/>
                        </a:lnSpc>
                      </a:pPr>
                      <a:r>
                        <a:rPr lang="en-US" sz="1200" b="1" strike="noStrike" spc="-1">
                          <a:solidFill>
                            <a:srgbClr val="000000"/>
                          </a:solidFill>
                          <a:latin typeface="Arial"/>
                        </a:rPr>
                        <a:t>Number of Nodes</a:t>
                      </a:r>
                      <a:endParaRPr lang="en-US" sz="12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ctr">
                        <a:lnSpc>
                          <a:spcPct val="100000"/>
                        </a:lnSpc>
                      </a:pPr>
                      <a:r>
                        <a:rPr lang="en-US" sz="1200" b="1" strike="noStrike" spc="-1">
                          <a:solidFill>
                            <a:srgbClr val="000000"/>
                          </a:solidFill>
                          <a:latin typeface="Arial"/>
                        </a:rPr>
                        <a:t>Theoretical Peak Performance (Rpeak) Teraflops</a:t>
                      </a:r>
                      <a:endParaRPr lang="en-US" sz="12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0"/>
                  </a:ext>
                </a:extLst>
              </a:tr>
              <a:tr h="524520">
                <a:tc vMerge="1">
                  <a:txBody>
                    <a:bodyPr/>
                    <a:lstStyle/>
                    <a:p>
                      <a:endParaRPr lang="en-AE"/>
                    </a:p>
                  </a:txBody>
                  <a:tcPr marL="90000" marR="90000">
                    <a:solidFill>
                      <a:srgbClr val="729FCF"/>
                    </a:solidFill>
                  </a:tcPr>
                </a:tc>
                <a:tc rowSpan="2">
                  <a:txBody>
                    <a:bodyPr/>
                    <a:lstStyle/>
                    <a:p>
                      <a:pPr algn="ctr">
                        <a:lnSpc>
                          <a:spcPct val="100000"/>
                        </a:lnSpc>
                      </a:pPr>
                      <a:r>
                        <a:rPr lang="en-US" sz="1000" b="0" strike="noStrike" spc="-1" dirty="0">
                          <a:solidFill>
                            <a:srgbClr val="000000"/>
                          </a:solidFill>
                          <a:latin typeface="Arial"/>
                        </a:rPr>
                        <a:t>CPU Compute Nodes</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nSpc>
                          <a:spcPct val="100000"/>
                        </a:lnSpc>
                      </a:pPr>
                      <a:r>
                        <a:rPr lang="en-US" sz="1000" b="0" strike="noStrike" spc="-1" dirty="0">
                          <a:solidFill>
                            <a:srgbClr val="000000"/>
                          </a:solidFill>
                          <a:latin typeface="Arial"/>
                        </a:rPr>
                        <a:t>2x Intel Xeon E5-2690 v3 12-Core 2.6GHz (Haswell - 2014)</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dirty="0">
                          <a:solidFill>
                            <a:srgbClr val="000000"/>
                          </a:solidFill>
                          <a:latin typeface="Arial"/>
                        </a:rPr>
                        <a:t>64</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dirty="0">
                          <a:solidFill>
                            <a:srgbClr val="000000"/>
                          </a:solidFill>
                          <a:latin typeface="Arial"/>
                        </a:rPr>
                        <a:t>62.4</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1"/>
                  </a:ext>
                </a:extLst>
              </a:tr>
              <a:tr h="524520">
                <a:tc vMerge="1">
                  <a:txBody>
                    <a:bodyPr/>
                    <a:lstStyle/>
                    <a:p>
                      <a:endParaRPr lang="en-AE"/>
                    </a:p>
                  </a:txBody>
                  <a:tcPr marL="90000" marR="90000">
                    <a:solidFill>
                      <a:srgbClr val="729FCF"/>
                    </a:solidFill>
                  </a:tcPr>
                </a:tc>
                <a:tc vMerge="1">
                  <a:txBody>
                    <a:bodyPr/>
                    <a:lstStyle/>
                    <a:p>
                      <a:endParaRPr lang="en-AE"/>
                    </a:p>
                  </a:txBody>
                  <a:tcPr marL="90000" marR="90000">
                    <a:solidFill>
                      <a:srgbClr val="729FCF"/>
                    </a:solidFill>
                  </a:tcPr>
                </a:tc>
                <a:tc>
                  <a:txBody>
                    <a:bodyPr/>
                    <a:lstStyle/>
                    <a:p>
                      <a:pPr>
                        <a:lnSpc>
                          <a:spcPct val="100000"/>
                        </a:lnSpc>
                      </a:pPr>
                      <a:r>
                        <a:rPr lang="en-US" sz="1000" b="0" strike="noStrike" spc="-1" dirty="0">
                          <a:solidFill>
                            <a:srgbClr val="000000"/>
                          </a:solidFill>
                          <a:latin typeface="Arial"/>
                        </a:rPr>
                        <a:t>2x Intel Xeon E5-2697 v2 12-Core 2.7GHz (Ivy Bridge - 2013)</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16</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8.1</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2"/>
                  </a:ext>
                </a:extLst>
              </a:tr>
              <a:tr h="524520">
                <a:tc vMerge="1">
                  <a:txBody>
                    <a:bodyPr/>
                    <a:lstStyle/>
                    <a:p>
                      <a:endParaRPr lang="en-AE"/>
                    </a:p>
                  </a:txBody>
                  <a:tcPr marL="90000" marR="90000">
                    <a:solidFill>
                      <a:srgbClr val="729FCF"/>
                    </a:solidFill>
                  </a:tcPr>
                </a:tc>
                <a:tc>
                  <a:txBody>
                    <a:bodyPr/>
                    <a:lstStyle/>
                    <a:p>
                      <a:pPr algn="ctr">
                        <a:lnSpc>
                          <a:spcPct val="100000"/>
                        </a:lnSpc>
                      </a:pPr>
                      <a:r>
                        <a:rPr lang="en-US" sz="1000" b="0" strike="noStrike" spc="-1" dirty="0">
                          <a:solidFill>
                            <a:srgbClr val="000000"/>
                          </a:solidFill>
                          <a:latin typeface="Arial"/>
                        </a:rPr>
                        <a:t>GPU Accelerated Nodes</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nSpc>
                          <a:spcPct val="100000"/>
                        </a:lnSpc>
                      </a:pPr>
                      <a:r>
                        <a:rPr lang="en-US" sz="1000" b="0" strike="noStrike" spc="-1" dirty="0">
                          <a:solidFill>
                            <a:srgbClr val="000000"/>
                          </a:solidFill>
                          <a:latin typeface="Arial"/>
                        </a:rPr>
                        <a:t>2x Intel Xeon E5-2695 v2 12Core 2.4GHz (Ivy Bridge) and dual GPU Nvidia K20M</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4</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11.2</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3"/>
                  </a:ext>
                </a:extLst>
              </a:tr>
              <a:tr h="259920">
                <a:tc rowSpan="5">
                  <a:txBody>
                    <a:bodyPr/>
                    <a:lstStyle/>
                    <a:p>
                      <a:pPr algn="ctr">
                        <a:lnSpc>
                          <a:spcPct val="100000"/>
                        </a:lnSpc>
                      </a:pPr>
                      <a:r>
                        <a:rPr lang="en-US" sz="1200" b="1" strike="noStrike" spc="-1">
                          <a:solidFill>
                            <a:srgbClr val="000000"/>
                          </a:solidFill>
                          <a:latin typeface="Arial"/>
                        </a:rPr>
                        <a:t>SAN Campus Cluster</a:t>
                      </a:r>
                      <a:endParaRPr lang="en-US" sz="12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rowSpan="3">
                  <a:txBody>
                    <a:bodyPr/>
                    <a:lstStyle/>
                    <a:p>
                      <a:pPr algn="ctr">
                        <a:lnSpc>
                          <a:spcPct val="100000"/>
                        </a:lnSpc>
                      </a:pPr>
                      <a:r>
                        <a:rPr lang="en-US" sz="1000" b="0" strike="noStrike" spc="-1">
                          <a:solidFill>
                            <a:srgbClr val="000000"/>
                          </a:solidFill>
                          <a:latin typeface="Arial"/>
                        </a:rPr>
                        <a:t>CPU Compute Nodes</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nSpc>
                          <a:spcPct val="100000"/>
                        </a:lnSpc>
                      </a:pPr>
                      <a:r>
                        <a:rPr lang="en-US" sz="1000" b="0" strike="noStrike" spc="-1" dirty="0">
                          <a:solidFill>
                            <a:srgbClr val="000000"/>
                          </a:solidFill>
                          <a:latin typeface="Arial"/>
                        </a:rPr>
                        <a:t>2x Intel Xeon E5-2690 v3 12-Core 2.6GHz (Haswell - 2014)</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41</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24.6</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4"/>
                  </a:ext>
                </a:extLst>
              </a:tr>
              <a:tr h="244800">
                <a:tc vMerge="1">
                  <a:txBody>
                    <a:bodyPr/>
                    <a:lstStyle/>
                    <a:p>
                      <a:endParaRPr lang="en-AE"/>
                    </a:p>
                  </a:txBody>
                  <a:tcPr marL="90000" marR="90000">
                    <a:solidFill>
                      <a:srgbClr val="729FCF"/>
                    </a:solidFill>
                  </a:tcPr>
                </a:tc>
                <a:tc vMerge="1">
                  <a:txBody>
                    <a:bodyPr/>
                    <a:lstStyle/>
                    <a:p>
                      <a:endParaRPr lang="en-AE"/>
                    </a:p>
                  </a:txBody>
                  <a:tcPr marL="90000" marR="90000">
                    <a:solidFill>
                      <a:srgbClr val="729FCF"/>
                    </a:solidFill>
                  </a:tcPr>
                </a:tc>
                <a:tc>
                  <a:txBody>
                    <a:bodyPr/>
                    <a:lstStyle/>
                    <a:p>
                      <a:pPr>
                        <a:lnSpc>
                          <a:spcPct val="100000"/>
                        </a:lnSpc>
                      </a:pPr>
                      <a:r>
                        <a:rPr lang="en-US" sz="1000" b="0" strike="noStrike" spc="-1" dirty="0">
                          <a:solidFill>
                            <a:srgbClr val="000000"/>
                          </a:solidFill>
                          <a:latin typeface="Arial"/>
                        </a:rPr>
                        <a:t>2x Intel Xeon E5-2697 v2 12-Core 2.7GHz (Ivy Bridge - 2013)</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dirty="0">
                          <a:solidFill>
                            <a:srgbClr val="000000"/>
                          </a:solidFill>
                          <a:latin typeface="Arial"/>
                        </a:rPr>
                        <a:t>23</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4.9</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5"/>
                  </a:ext>
                </a:extLst>
              </a:tr>
              <a:tr h="149040">
                <a:tc vMerge="1">
                  <a:txBody>
                    <a:bodyPr/>
                    <a:lstStyle/>
                    <a:p>
                      <a:endParaRPr lang="en-AE"/>
                    </a:p>
                  </a:txBody>
                  <a:tcPr marL="90000" marR="90000">
                    <a:solidFill>
                      <a:srgbClr val="729FCF"/>
                    </a:solidFill>
                  </a:tcPr>
                </a:tc>
                <a:tc vMerge="1">
                  <a:txBody>
                    <a:bodyPr/>
                    <a:lstStyle/>
                    <a:p>
                      <a:endParaRPr lang="en-AE"/>
                    </a:p>
                  </a:txBody>
                  <a:tcPr marL="90000" marR="90000">
                    <a:solidFill>
                      <a:srgbClr val="729FCF"/>
                    </a:solidFill>
                  </a:tcPr>
                </a:tc>
                <a:tc>
                  <a:txBody>
                    <a:bodyPr/>
                    <a:lstStyle/>
                    <a:p>
                      <a:pPr>
                        <a:lnSpc>
                          <a:spcPct val="100000"/>
                        </a:lnSpc>
                      </a:pPr>
                      <a:r>
                        <a:rPr lang="en-US" sz="1000" b="0" strike="noStrike" spc="-1">
                          <a:solidFill>
                            <a:srgbClr val="000000"/>
                          </a:solidFill>
                          <a:latin typeface="Arial"/>
                        </a:rPr>
                        <a:t>2x Intel Xeon E5530 4-Core 2.4GHz (Nehalem - 2009)</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dirty="0">
                          <a:solidFill>
                            <a:srgbClr val="000000"/>
                          </a:solidFill>
                          <a:latin typeface="Arial"/>
                        </a:rPr>
                        <a:t>9</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0.7</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6"/>
                  </a:ext>
                </a:extLst>
              </a:tr>
              <a:tr h="290880">
                <a:tc vMerge="1">
                  <a:txBody>
                    <a:bodyPr/>
                    <a:lstStyle/>
                    <a:p>
                      <a:endParaRPr lang="en-AE"/>
                    </a:p>
                  </a:txBody>
                  <a:tcPr marL="90000" marR="90000">
                    <a:solidFill>
                      <a:srgbClr val="729FCF"/>
                    </a:solidFill>
                  </a:tcPr>
                </a:tc>
                <a:tc>
                  <a:txBody>
                    <a:bodyPr/>
                    <a:lstStyle/>
                    <a:p>
                      <a:pPr algn="ctr">
                        <a:lnSpc>
                          <a:spcPct val="100000"/>
                        </a:lnSpc>
                      </a:pPr>
                      <a:r>
                        <a:rPr lang="en-US" sz="1000" b="0" strike="noStrike" spc="-1">
                          <a:solidFill>
                            <a:srgbClr val="000000"/>
                          </a:solidFill>
                          <a:latin typeface="Arial"/>
                        </a:rPr>
                        <a:t>GPU Accelerated Nodes</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nSpc>
                          <a:spcPct val="100000"/>
                        </a:lnSpc>
                      </a:pPr>
                      <a:r>
                        <a:rPr lang="en-US" sz="1000" b="0" strike="noStrike" spc="-1" dirty="0">
                          <a:solidFill>
                            <a:srgbClr val="000000"/>
                          </a:solidFill>
                          <a:latin typeface="Arial"/>
                        </a:rPr>
                        <a:t>2x Intel Xeon E5-2630 v3 8-Core 2.4GHz (Haswell) and 4x GPU Nvidia K80</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dirty="0">
                          <a:solidFill>
                            <a:srgbClr val="000000"/>
                          </a:solidFill>
                          <a:latin typeface="Arial"/>
                        </a:rPr>
                        <a:t>6</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dirty="0">
                          <a:solidFill>
                            <a:srgbClr val="000000"/>
                          </a:solidFill>
                          <a:latin typeface="Arial"/>
                        </a:rPr>
                        <a:t>48.5</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7"/>
                  </a:ext>
                </a:extLst>
              </a:tr>
              <a:tr h="267840">
                <a:tc vMerge="1">
                  <a:txBody>
                    <a:bodyPr/>
                    <a:lstStyle/>
                    <a:p>
                      <a:endParaRPr lang="en-AE"/>
                    </a:p>
                  </a:txBody>
                  <a:tcPr marL="90000" marR="90000">
                    <a:solidFill>
                      <a:srgbClr val="729FCF"/>
                    </a:solidFill>
                  </a:tcPr>
                </a:tc>
                <a:tc>
                  <a:txBody>
                    <a:bodyPr/>
                    <a:lstStyle/>
                    <a:p>
                      <a:pPr algn="ctr">
                        <a:lnSpc>
                          <a:spcPct val="100000"/>
                        </a:lnSpc>
                      </a:pPr>
                      <a:r>
                        <a:rPr lang="en-US" sz="1400" b="1" strike="noStrike" spc="-1">
                          <a:solidFill>
                            <a:srgbClr val="000000"/>
                          </a:solidFill>
                          <a:latin typeface="Arial"/>
                        </a:rPr>
                        <a:t>Total for existing clusters</a:t>
                      </a:r>
                      <a:endParaRPr lang="en-US" sz="14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nSpc>
                          <a:spcPct val="100000"/>
                        </a:lnSpc>
                      </a:pPr>
                      <a:r>
                        <a:rPr lang="en-US" sz="1400" b="1" strike="noStrike" spc="-1">
                          <a:solidFill>
                            <a:srgbClr val="000000"/>
                          </a:solidFill>
                          <a:latin typeface="Arial"/>
                        </a:rPr>
                        <a:t> </a:t>
                      </a:r>
                      <a:endParaRPr lang="en-US" sz="14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400" b="1" strike="noStrike" spc="-1">
                          <a:solidFill>
                            <a:srgbClr val="000000"/>
                          </a:solidFill>
                          <a:latin typeface="Arial"/>
                        </a:rPr>
                        <a:t>163</a:t>
                      </a:r>
                      <a:endParaRPr lang="en-US" sz="14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400" b="1" strike="noStrike" spc="-1" dirty="0">
                          <a:solidFill>
                            <a:srgbClr val="000000"/>
                          </a:solidFill>
                          <a:latin typeface="Arial"/>
                        </a:rPr>
                        <a:t>160.3</a:t>
                      </a:r>
                      <a:endParaRPr lang="en-US" sz="14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8"/>
                  </a:ext>
                </a:extLst>
              </a:tr>
              <a:tr h="524520">
                <a:tc rowSpan="3">
                  <a:txBody>
                    <a:bodyPr/>
                    <a:lstStyle/>
                    <a:p>
                      <a:pPr algn="ctr">
                        <a:lnSpc>
                          <a:spcPct val="100000"/>
                        </a:lnSpc>
                      </a:pPr>
                      <a:r>
                        <a:rPr lang="en-US" sz="1200" b="1" strike="noStrike" spc="-1" dirty="0" err="1">
                          <a:solidFill>
                            <a:srgbClr val="000000"/>
                          </a:solidFill>
                          <a:latin typeface="Arial"/>
                        </a:rPr>
                        <a:t>Almesbar</a:t>
                      </a:r>
                      <a:r>
                        <a:rPr lang="en-US" sz="1200" b="1" strike="noStrike" spc="-1" dirty="0">
                          <a:solidFill>
                            <a:srgbClr val="000000"/>
                          </a:solidFill>
                          <a:latin typeface="Arial"/>
                        </a:rPr>
                        <a:t> Cluster</a:t>
                      </a:r>
                      <a:endParaRPr lang="en-US" sz="12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nSpc>
                          <a:spcPct val="100000"/>
                        </a:lnSpc>
                      </a:pPr>
                      <a:r>
                        <a:rPr lang="en-US" sz="1000" b="0" strike="noStrike" spc="-1" dirty="0">
                          <a:solidFill>
                            <a:srgbClr val="000000"/>
                          </a:solidFill>
                          <a:latin typeface="Arial"/>
                        </a:rPr>
                        <a:t>CPU Compute Nodes</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marL="0" algn="l" defTabSz="914400" rtl="0" eaLnBrk="1" latinLnBrk="0" hangingPunct="1">
                        <a:lnSpc>
                          <a:spcPct val="100000"/>
                        </a:lnSpc>
                      </a:pPr>
                      <a:r>
                        <a:rPr lang="en-US" sz="1000" b="0" strike="noStrike" kern="1200" spc="-1" dirty="0">
                          <a:solidFill>
                            <a:srgbClr val="000000"/>
                          </a:solidFill>
                          <a:latin typeface="Arial"/>
                          <a:ea typeface="+mn-ea"/>
                          <a:cs typeface="+mn-cs"/>
                        </a:rPr>
                        <a:t>2x Intel Xeon Gold 6230R 26-Core 2.1GHz (Cascade lake)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strike="noStrike" kern="1200" spc="-1" dirty="0">
                          <a:solidFill>
                            <a:srgbClr val="000000"/>
                          </a:solidFill>
                          <a:latin typeface="Arial"/>
                          <a:ea typeface="+mn-ea"/>
                          <a:cs typeface="+mn-cs"/>
                        </a:rPr>
                        <a:t>(Q1‘20)</a:t>
                      </a: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dirty="0">
                          <a:solidFill>
                            <a:srgbClr val="000000"/>
                          </a:solidFill>
                          <a:latin typeface="Arial"/>
                        </a:rPr>
                        <a:t>88</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rowSpan="2">
                  <a:txBody>
                    <a:bodyPr/>
                    <a:lstStyle/>
                    <a:p>
                      <a:pPr algn="ctr">
                        <a:lnSpc>
                          <a:spcPct val="100000"/>
                        </a:lnSpc>
                      </a:pPr>
                      <a:r>
                        <a:rPr lang="en-US" sz="1000" b="0" strike="noStrike" spc="-1" dirty="0">
                          <a:solidFill>
                            <a:sysClr val="windowText" lastClr="000000"/>
                          </a:solidFill>
                          <a:latin typeface="+mn-lt"/>
                        </a:rPr>
                        <a:t>401.9</a:t>
                      </a:r>
                      <a:endParaRPr lang="en-US" sz="1000" b="0" strike="noStrike" spc="-1" dirty="0">
                        <a:latin typeface="Arial"/>
                      </a:endParaRPr>
                    </a:p>
                  </a:txBody>
                  <a:tcPr marL="6840" marR="6840" anchor="ctr">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9"/>
                  </a:ext>
                </a:extLst>
              </a:tr>
              <a:tr h="579960">
                <a:tc vMerge="1">
                  <a:txBody>
                    <a:bodyPr/>
                    <a:lstStyle/>
                    <a:p>
                      <a:endParaRPr lang="en-AE"/>
                    </a:p>
                  </a:txBody>
                  <a:tcPr marL="90000" marR="90000">
                    <a:solidFill>
                      <a:srgbClr val="729FCF"/>
                    </a:solidFill>
                  </a:tcPr>
                </a:tc>
                <a:tc>
                  <a:txBody>
                    <a:bodyPr/>
                    <a:lstStyle/>
                    <a:p>
                      <a:pPr>
                        <a:lnSpc>
                          <a:spcPct val="100000"/>
                        </a:lnSpc>
                      </a:pPr>
                      <a:r>
                        <a:rPr lang="en-US" sz="1000" b="0" strike="noStrike" spc="-1">
                          <a:solidFill>
                            <a:srgbClr val="000000"/>
                          </a:solidFill>
                          <a:latin typeface="Arial"/>
                        </a:rPr>
                        <a:t>GPU Accelerated Nodes</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marL="0" algn="l" defTabSz="914400" rtl="0" eaLnBrk="1" latinLnBrk="0" hangingPunct="1">
                        <a:lnSpc>
                          <a:spcPct val="100000"/>
                        </a:lnSpc>
                      </a:pPr>
                      <a:r>
                        <a:rPr lang="en-US" sz="1000" b="0" strike="noStrike" kern="1200" spc="-1" dirty="0">
                          <a:solidFill>
                            <a:srgbClr val="000000"/>
                          </a:solidFill>
                          <a:latin typeface="Arial"/>
                          <a:ea typeface="+mn-ea"/>
                          <a:cs typeface="+mn-cs"/>
                        </a:rPr>
                        <a:t>2x Intel Xeon Gold 6230R 26-Core 2.1GHz(Cascade lake)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strike="noStrike" kern="1200" spc="-1" dirty="0">
                          <a:solidFill>
                            <a:srgbClr val="000000"/>
                          </a:solidFill>
                          <a:latin typeface="Arial"/>
                          <a:ea typeface="+mn-ea"/>
                          <a:cs typeface="+mn-cs"/>
                        </a:rPr>
                        <a:t>(Q1’20) and four GPU Nvidia Tesla V100 cards</a:t>
                      </a: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3</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vMerge="1">
                  <a:txBody>
                    <a:bodyPr/>
                    <a:lstStyle/>
                    <a:p>
                      <a:pPr algn="r">
                        <a:lnSpc>
                          <a:spcPct val="100000"/>
                        </a:lnSpc>
                      </a:pPr>
                      <a:r>
                        <a:rPr lang="en-US" sz="1000" b="0" strike="noStrike" spc="-1" dirty="0">
                          <a:solidFill>
                            <a:sysClr val="windowText" lastClr="000000"/>
                          </a:solidFill>
                          <a:latin typeface="+mn-lt"/>
                        </a:rPr>
                        <a:t>321.52</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10"/>
                  </a:ext>
                </a:extLst>
              </a:tr>
              <a:tr h="287640">
                <a:tc vMerge="1">
                  <a:txBody>
                    <a:bodyPr/>
                    <a:lstStyle/>
                    <a:p>
                      <a:endParaRPr lang="en-AE"/>
                    </a:p>
                  </a:txBody>
                  <a:tcPr marL="90000" marR="90000">
                    <a:solidFill>
                      <a:srgbClr val="729FCF"/>
                    </a:solidFill>
                  </a:tcPr>
                </a:tc>
                <a:tc>
                  <a:txBody>
                    <a:bodyPr/>
                    <a:lstStyle/>
                    <a:p>
                      <a:pPr>
                        <a:lnSpc>
                          <a:spcPct val="100000"/>
                        </a:lnSpc>
                      </a:pPr>
                      <a:r>
                        <a:rPr lang="en-US" sz="1400" b="1" strike="noStrike" spc="-1" dirty="0">
                          <a:solidFill>
                            <a:srgbClr val="000000"/>
                          </a:solidFill>
                          <a:latin typeface="Arial"/>
                        </a:rPr>
                        <a:t>Total for new cluster</a:t>
                      </a:r>
                      <a:endParaRPr lang="en-US" sz="14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nSpc>
                          <a:spcPct val="100000"/>
                        </a:lnSpc>
                      </a:pPr>
                      <a:r>
                        <a:rPr lang="en-US" sz="1400" b="1" strike="noStrike" spc="-1" dirty="0">
                          <a:solidFill>
                            <a:srgbClr val="000000"/>
                          </a:solidFill>
                          <a:latin typeface="Arial"/>
                        </a:rPr>
                        <a:t> </a:t>
                      </a:r>
                      <a:endParaRPr lang="en-US" sz="14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400" b="1" strike="noStrike" spc="-1" dirty="0">
                          <a:solidFill>
                            <a:srgbClr val="000000"/>
                          </a:solidFill>
                          <a:latin typeface="Arial"/>
                        </a:rPr>
                        <a:t>91</a:t>
                      </a:r>
                      <a:endParaRPr lang="en-US" sz="14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400" b="1" strike="noStrike" spc="-1" dirty="0">
                          <a:solidFill>
                            <a:srgbClr val="000000"/>
                          </a:solidFill>
                          <a:latin typeface="Arial"/>
                        </a:rPr>
                        <a:t>401.9</a:t>
                      </a:r>
                      <a:endParaRPr lang="en-US" sz="14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441666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pc="43" dirty="0">
                <a:solidFill>
                  <a:srgbClr val="0047BA"/>
                </a:solidFill>
                <a:latin typeface="Arial"/>
              </a:rPr>
              <a:t>Agenda</a:t>
            </a:r>
            <a:endParaRPr lang="en-US" sz="36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a:t>
            </a:r>
            <a:r>
              <a:rPr lang="en-US" sz="1200" b="1" spc="43" dirty="0">
                <a:solidFill>
                  <a:srgbClr val="0047BA"/>
                </a:solidFill>
                <a:latin typeface="Arial"/>
              </a:rPr>
              <a:t>Committee</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7</a:t>
            </a:fld>
            <a:endParaRPr lang="en-US" sz="850" b="0" strike="noStrike" spc="-1">
              <a:latin typeface="Arial"/>
            </a:endParaRPr>
          </a:p>
        </p:txBody>
      </p:sp>
      <p:sp>
        <p:nvSpPr>
          <p:cNvPr id="473" name="CustomShape 5"/>
          <p:cNvSpPr/>
          <p:nvPr/>
        </p:nvSpPr>
        <p:spPr>
          <a:xfrm>
            <a:off x="609480" y="1438878"/>
            <a:ext cx="10887048" cy="5032656"/>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914760" lvl="1" indent="-457200">
              <a:spcBef>
                <a:spcPts val="1200"/>
              </a:spcBef>
              <a:buClr>
                <a:srgbClr val="0047BA"/>
              </a:buClr>
              <a:buSzPct val="100000"/>
              <a:buFont typeface="+mj-lt"/>
              <a:buAutoNum type="arabicPeriod"/>
            </a:pPr>
            <a:r>
              <a:rPr lang="en-US" sz="2000" spc="-1" dirty="0"/>
              <a:t>New HPC Status</a:t>
            </a:r>
          </a:p>
          <a:p>
            <a:pPr marL="914760" lvl="1" indent="-457200">
              <a:spcBef>
                <a:spcPts val="1200"/>
              </a:spcBef>
              <a:buClr>
                <a:srgbClr val="0047BA"/>
              </a:buClr>
              <a:buSzPct val="100000"/>
              <a:buFont typeface="+mj-lt"/>
              <a:buAutoNum type="arabicPeriod"/>
            </a:pPr>
            <a:r>
              <a:rPr lang="en-US" sz="2000" b="1" spc="-1" dirty="0"/>
              <a:t>User account process and resource allocation on New HPC</a:t>
            </a:r>
          </a:p>
          <a:p>
            <a:pPr marL="914760" lvl="1" indent="-457200">
              <a:spcBef>
                <a:spcPts val="1200"/>
              </a:spcBef>
              <a:buClr>
                <a:srgbClr val="0047BA"/>
              </a:buClr>
              <a:buSzPct val="100000"/>
              <a:buFont typeface="+mj-lt"/>
              <a:buAutoNum type="arabicPeriod"/>
            </a:pPr>
            <a:r>
              <a:rPr lang="en-US" sz="2000" spc="-1" dirty="0"/>
              <a:t>Migration of Masdar resources and SAN HPC</a:t>
            </a:r>
          </a:p>
          <a:p>
            <a:pPr marL="914760" lvl="1" indent="-457200">
              <a:spcBef>
                <a:spcPts val="1200"/>
              </a:spcBef>
              <a:buClr>
                <a:srgbClr val="0047BA"/>
              </a:buClr>
              <a:buSzPct val="100000"/>
              <a:buFont typeface="+mj-lt"/>
              <a:buAutoNum type="arabicPeriod"/>
            </a:pPr>
            <a:r>
              <a:rPr lang="en-US" sz="2000" spc="-1" dirty="0"/>
              <a:t>Research Computing strategy</a:t>
            </a:r>
          </a:p>
          <a:p>
            <a:pPr marL="914760" lvl="1" indent="-457200">
              <a:spcBef>
                <a:spcPts val="1200"/>
              </a:spcBef>
              <a:buClr>
                <a:srgbClr val="0047BA"/>
              </a:buClr>
              <a:buSzPct val="100000"/>
              <a:buFont typeface="+mj-lt"/>
              <a:buAutoNum type="arabicPeriod"/>
            </a:pPr>
            <a:r>
              <a:rPr lang="en-US" sz="2000" spc="-1" dirty="0"/>
              <a:t>AOB</a:t>
            </a:r>
          </a:p>
          <a:p>
            <a:pPr marL="914760" lvl="1" indent="-457200">
              <a:spcBef>
                <a:spcPts val="1200"/>
              </a:spcBef>
              <a:buClr>
                <a:srgbClr val="0047BA"/>
              </a:buClr>
              <a:buSzPct val="100000"/>
              <a:buFont typeface="+mj-lt"/>
              <a:buAutoNum type="arabicPeriod"/>
            </a:pPr>
            <a:r>
              <a:rPr lang="en-US" sz="2000" spc="-1" dirty="0"/>
              <a:t>Date of next meeting</a:t>
            </a:r>
            <a:endParaRPr lang="en-US" sz="2000" spc="-1" dirty="0">
              <a:latin typeface="Arial"/>
            </a:endParaRPr>
          </a:p>
          <a:p>
            <a:pPr marL="360">
              <a:lnSpc>
                <a:spcPct val="100000"/>
              </a:lnSpc>
              <a:spcBef>
                <a:spcPts val="1800"/>
              </a:spcBef>
              <a:buClr>
                <a:srgbClr val="0047BA"/>
              </a:buClr>
              <a:buSzPct val="65000"/>
            </a:pPr>
            <a:endParaRPr lang="en-US" sz="1800" b="0" strike="noStrike" spc="-1" dirty="0">
              <a:latin typeface="Arial"/>
            </a:endParaRPr>
          </a:p>
        </p:txBody>
      </p:sp>
    </p:spTree>
    <p:extLst>
      <p:ext uri="{BB962C8B-B14F-4D97-AF65-F5344CB8AC3E}">
        <p14:creationId xmlns:p14="http://schemas.microsoft.com/office/powerpoint/2010/main" val="1701224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pc="43" dirty="0">
                <a:solidFill>
                  <a:srgbClr val="0047BA"/>
                </a:solidFill>
              </a:rPr>
              <a:t>User Accounts process and resource allocation</a:t>
            </a:r>
            <a:endParaRPr lang="en-US" sz="3200" spc="-1" dirty="0"/>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Committee Charter</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8</a:t>
            </a:fld>
            <a:endParaRPr lang="en-US" sz="850" b="0" strike="noStrike" spc="-1">
              <a:latin typeface="Arial"/>
            </a:endParaRPr>
          </a:p>
        </p:txBody>
      </p:sp>
      <p:sp>
        <p:nvSpPr>
          <p:cNvPr id="473" name="CustomShape 5"/>
          <p:cNvSpPr/>
          <p:nvPr/>
        </p:nvSpPr>
        <p:spPr>
          <a:xfrm>
            <a:off x="609480" y="1346760"/>
            <a:ext cx="10838808" cy="50094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640080" lvl="1" indent="-182520">
              <a:spcBef>
                <a:spcPts val="1200"/>
              </a:spcBef>
              <a:buClr>
                <a:srgbClr val="0047BA"/>
              </a:buClr>
              <a:buSzPct val="65000"/>
              <a:buFont typeface="Wingdings" charset="2"/>
              <a:buChar char=""/>
            </a:pPr>
            <a:r>
              <a:rPr lang="en-US" sz="2000" spc="-1" dirty="0"/>
              <a:t>Resources on the HPC will be allocated to Research Projects.</a:t>
            </a:r>
          </a:p>
          <a:p>
            <a:pPr marL="1097280" lvl="2" indent="-182520">
              <a:spcBef>
                <a:spcPts val="1200"/>
              </a:spcBef>
              <a:buClr>
                <a:srgbClr val="0047BA"/>
              </a:buClr>
              <a:buSzPct val="65000"/>
              <a:buFont typeface="Wingdings" charset="2"/>
              <a:buChar char=""/>
            </a:pPr>
            <a:r>
              <a:rPr lang="en-US" sz="2000" spc="-1" dirty="0"/>
              <a:t>This will provide a means to quantify the research that is being supported by the HPC, and can be used to justify further investments.</a:t>
            </a:r>
          </a:p>
          <a:p>
            <a:pPr marL="1097280" lvl="2" indent="-182520">
              <a:spcBef>
                <a:spcPts val="1200"/>
              </a:spcBef>
              <a:buClr>
                <a:srgbClr val="0047BA"/>
              </a:buClr>
              <a:buSzPct val="65000"/>
              <a:buFont typeface="Wingdings" charset="2"/>
              <a:buChar char=""/>
            </a:pPr>
            <a:r>
              <a:rPr lang="en-US" sz="2000" spc="-1" dirty="0"/>
              <a:t>There will be provision made for unfunded research, but likely at lower priority in the queues</a:t>
            </a:r>
          </a:p>
          <a:p>
            <a:pPr marL="640080" lvl="1" indent="-182520">
              <a:spcBef>
                <a:spcPts val="1200"/>
              </a:spcBef>
              <a:buClr>
                <a:srgbClr val="0047BA"/>
              </a:buClr>
              <a:buSzPct val="65000"/>
              <a:buFont typeface="Wingdings" charset="2"/>
              <a:buChar char=""/>
            </a:pPr>
            <a:r>
              <a:rPr lang="en-US" sz="2000" spc="-1" dirty="0"/>
              <a:t>User account process will consist of two distinct steps.</a:t>
            </a:r>
          </a:p>
          <a:p>
            <a:pPr marL="1097280" lvl="2" indent="-182520">
              <a:spcBef>
                <a:spcPts val="1200"/>
              </a:spcBef>
              <a:buClr>
                <a:srgbClr val="0047BA"/>
              </a:buClr>
              <a:buSzPct val="65000"/>
              <a:buFont typeface="Wingdings" charset="2"/>
              <a:buChar char=""/>
            </a:pPr>
            <a:r>
              <a:rPr lang="en-US" sz="2000" b="1" spc="-1" dirty="0"/>
              <a:t>Project Creation</a:t>
            </a:r>
            <a:r>
              <a:rPr lang="en-US" sz="2000" spc="-1" dirty="0"/>
              <a:t>: PI’s will need to apply to enable/create their project or projects on the HPC. This will be done using an online form, with a dropdown list of current active projects as defined by ADERP and Research Services. PI’s can have multiple projects</a:t>
            </a:r>
          </a:p>
          <a:p>
            <a:pPr marL="1097280" lvl="2" indent="-182520">
              <a:spcBef>
                <a:spcPts val="1200"/>
              </a:spcBef>
              <a:buClr>
                <a:srgbClr val="0047BA"/>
              </a:buClr>
              <a:buSzPct val="65000"/>
              <a:buFont typeface="Wingdings" charset="2"/>
              <a:buChar char=""/>
            </a:pPr>
            <a:r>
              <a:rPr lang="en-US" sz="2000" b="1" spc="-1" dirty="0"/>
              <a:t>User creation: </a:t>
            </a:r>
            <a:r>
              <a:rPr lang="en-US" sz="2000" spc="-1" dirty="0"/>
              <a:t>Users will then apply for account on HPC, that is linked to a specific project. Users can belong to multiple projects</a:t>
            </a:r>
          </a:p>
          <a:p>
            <a:pPr marL="640080" lvl="1" indent="-182520">
              <a:spcBef>
                <a:spcPts val="1200"/>
              </a:spcBef>
              <a:buClr>
                <a:srgbClr val="0047BA"/>
              </a:buClr>
              <a:buSzPct val="65000"/>
              <a:buFont typeface="Wingdings" charset="2"/>
              <a:buChar char=""/>
            </a:pPr>
            <a:r>
              <a:rPr lang="en-US" sz="2000" spc="-1" dirty="0"/>
              <a:t>I will be sending you the detailed process, for your endorsement. </a:t>
            </a:r>
          </a:p>
          <a:p>
            <a:pPr marL="457560" lvl="1">
              <a:spcBef>
                <a:spcPts val="1200"/>
              </a:spcBef>
              <a:buClr>
                <a:srgbClr val="0047BA"/>
              </a:buClr>
              <a:buSzPct val="65000"/>
            </a:pPr>
            <a:endParaRPr lang="en-US" sz="2000" spc="-1" dirty="0"/>
          </a:p>
          <a:p>
            <a:pPr marL="640080" lvl="1" indent="-182520">
              <a:spcBef>
                <a:spcPts val="1200"/>
              </a:spcBef>
              <a:buClr>
                <a:srgbClr val="0047BA"/>
              </a:buClr>
              <a:buSzPct val="65000"/>
              <a:buFont typeface="Wingdings" charset="2"/>
              <a:buChar char=""/>
            </a:pPr>
            <a:endParaRPr lang="en-US" sz="2000" spc="-1" dirty="0">
              <a:latin typeface="Arial"/>
            </a:endParaRPr>
          </a:p>
        </p:txBody>
      </p:sp>
    </p:spTree>
    <p:extLst>
      <p:ext uri="{BB962C8B-B14F-4D97-AF65-F5344CB8AC3E}">
        <p14:creationId xmlns:p14="http://schemas.microsoft.com/office/powerpoint/2010/main" val="196222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User Accounts process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Committee Charter</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9</a:t>
            </a:fld>
            <a:endParaRPr lang="en-US" sz="850" b="0" strike="noStrike" spc="-1">
              <a:latin typeface="Arial"/>
            </a:endParaRPr>
          </a:p>
        </p:txBody>
      </p:sp>
      <p:pic>
        <p:nvPicPr>
          <p:cNvPr id="3" name="Picture 2" descr="Diagram&#10;&#10;Description automatically generated">
            <a:extLst>
              <a:ext uri="{FF2B5EF4-FFF2-40B4-BE49-F238E27FC236}">
                <a16:creationId xmlns:a16="http://schemas.microsoft.com/office/drawing/2014/main" id="{03D7E6E9-21E3-454E-AC26-60AB7F364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328" y="1829328"/>
            <a:ext cx="10220479" cy="4194400"/>
          </a:xfrm>
          <a:prstGeom prst="rect">
            <a:avLst/>
          </a:prstGeom>
        </p:spPr>
      </p:pic>
      <p:sp>
        <p:nvSpPr>
          <p:cNvPr id="12" name="CustomShape 5">
            <a:extLst>
              <a:ext uri="{FF2B5EF4-FFF2-40B4-BE49-F238E27FC236}">
                <a16:creationId xmlns:a16="http://schemas.microsoft.com/office/drawing/2014/main" id="{197A3ED1-1BBB-1C4B-B6E2-10FA02EDA211}"/>
              </a:ext>
            </a:extLst>
          </p:cNvPr>
          <p:cNvSpPr/>
          <p:nvPr/>
        </p:nvSpPr>
        <p:spPr>
          <a:xfrm>
            <a:off x="609480" y="1346760"/>
            <a:ext cx="10838808" cy="50094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pc="-1" dirty="0">
                <a:solidFill>
                  <a:srgbClr val="0047BA"/>
                </a:solidFill>
                <a:latin typeface="Arial"/>
                <a:ea typeface="DejaVu Sans"/>
              </a:rPr>
              <a:t>Creation of Projects on HPC flowchart - Form-A</a:t>
            </a:r>
          </a:p>
          <a:p>
            <a:pPr marL="457560" lvl="1">
              <a:spcBef>
                <a:spcPts val="1200"/>
              </a:spcBef>
              <a:buClr>
                <a:srgbClr val="0047BA"/>
              </a:buClr>
              <a:buSzPct val="65000"/>
            </a:pPr>
            <a:endParaRPr lang="en-US" sz="2000" spc="-1" dirty="0"/>
          </a:p>
          <a:p>
            <a:pPr marL="640080" lvl="1" indent="-182520">
              <a:spcBef>
                <a:spcPts val="1200"/>
              </a:spcBef>
              <a:buClr>
                <a:srgbClr val="0047BA"/>
              </a:buClr>
              <a:buSzPct val="65000"/>
              <a:buFont typeface="Wingdings" charset="2"/>
              <a:buChar char=""/>
            </a:pPr>
            <a:endParaRPr lang="en-US" sz="2000" spc="-1" dirty="0">
              <a:latin typeface="Arial"/>
            </a:endParaRPr>
          </a:p>
        </p:txBody>
      </p:sp>
    </p:spTree>
    <p:extLst>
      <p:ext uri="{BB962C8B-B14F-4D97-AF65-F5344CB8AC3E}">
        <p14:creationId xmlns:p14="http://schemas.microsoft.com/office/powerpoint/2010/main" val="3028330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User Accounts process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Committee Charter</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10</a:t>
            </a:fld>
            <a:endParaRPr lang="en-US" sz="850" b="0" strike="noStrike" spc="-1">
              <a:latin typeface="Arial"/>
            </a:endParaRPr>
          </a:p>
        </p:txBody>
      </p:sp>
      <p:sp>
        <p:nvSpPr>
          <p:cNvPr id="12" name="CustomShape 5">
            <a:extLst>
              <a:ext uri="{FF2B5EF4-FFF2-40B4-BE49-F238E27FC236}">
                <a16:creationId xmlns:a16="http://schemas.microsoft.com/office/drawing/2014/main" id="{197A3ED1-1BBB-1C4B-B6E2-10FA02EDA211}"/>
              </a:ext>
            </a:extLst>
          </p:cNvPr>
          <p:cNvSpPr/>
          <p:nvPr/>
        </p:nvSpPr>
        <p:spPr>
          <a:xfrm>
            <a:off x="609480" y="1346760"/>
            <a:ext cx="10838808" cy="50094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pc="-1" dirty="0">
                <a:solidFill>
                  <a:srgbClr val="0047BA"/>
                </a:solidFill>
                <a:latin typeface="Arial"/>
                <a:ea typeface="DejaVu Sans"/>
              </a:rPr>
              <a:t>Creation of Users on HPC flowchart – Form-B</a:t>
            </a:r>
          </a:p>
          <a:p>
            <a:pPr marL="457560" lvl="1">
              <a:spcBef>
                <a:spcPts val="1200"/>
              </a:spcBef>
              <a:buClr>
                <a:srgbClr val="0047BA"/>
              </a:buClr>
              <a:buSzPct val="65000"/>
            </a:pPr>
            <a:endParaRPr lang="en-US" sz="2000" spc="-1" dirty="0"/>
          </a:p>
          <a:p>
            <a:pPr marL="640080" lvl="1" indent="-182520">
              <a:spcBef>
                <a:spcPts val="1200"/>
              </a:spcBef>
              <a:buClr>
                <a:srgbClr val="0047BA"/>
              </a:buClr>
              <a:buSzPct val="65000"/>
              <a:buFont typeface="Wingdings" charset="2"/>
              <a:buChar char=""/>
            </a:pPr>
            <a:endParaRPr lang="en-US" sz="2000" spc="-1" dirty="0">
              <a:latin typeface="Arial"/>
            </a:endParaRPr>
          </a:p>
        </p:txBody>
      </p:sp>
      <p:pic>
        <p:nvPicPr>
          <p:cNvPr id="4" name="Picture 3" descr="Diagram&#10;&#10;Description automatically generated">
            <a:extLst>
              <a:ext uri="{FF2B5EF4-FFF2-40B4-BE49-F238E27FC236}">
                <a16:creationId xmlns:a16="http://schemas.microsoft.com/office/drawing/2014/main" id="{BA56E9DF-FCE6-FE41-8D4B-DCC83AE5FF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7480"/>
            <a:ext cx="12192000" cy="3689165"/>
          </a:xfrm>
          <a:prstGeom prst="rect">
            <a:avLst/>
          </a:prstGeom>
        </p:spPr>
      </p:pic>
    </p:spTree>
    <p:extLst>
      <p:ext uri="{BB962C8B-B14F-4D97-AF65-F5344CB8AC3E}">
        <p14:creationId xmlns:p14="http://schemas.microsoft.com/office/powerpoint/2010/main" val="648935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pc="43" dirty="0">
                <a:solidFill>
                  <a:srgbClr val="0047BA"/>
                </a:solidFill>
                <a:latin typeface="Arial"/>
              </a:rPr>
              <a:t>Agenda</a:t>
            </a:r>
            <a:endParaRPr lang="en-US" sz="36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a:t>
            </a:r>
            <a:r>
              <a:rPr lang="en-US" sz="1200" b="1" spc="43" dirty="0">
                <a:solidFill>
                  <a:srgbClr val="0047BA"/>
                </a:solidFill>
                <a:latin typeface="Arial"/>
              </a:rPr>
              <a:t>Committee</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11</a:t>
            </a:fld>
            <a:endParaRPr lang="en-US" sz="850" b="0" strike="noStrike" spc="-1">
              <a:latin typeface="Arial"/>
            </a:endParaRPr>
          </a:p>
        </p:txBody>
      </p:sp>
      <p:sp>
        <p:nvSpPr>
          <p:cNvPr id="473" name="CustomShape 5"/>
          <p:cNvSpPr/>
          <p:nvPr/>
        </p:nvSpPr>
        <p:spPr>
          <a:xfrm>
            <a:off x="609480" y="1438878"/>
            <a:ext cx="10887048" cy="5032656"/>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914760" lvl="1" indent="-457200">
              <a:spcBef>
                <a:spcPts val="1200"/>
              </a:spcBef>
              <a:buClr>
                <a:srgbClr val="0047BA"/>
              </a:buClr>
              <a:buSzPct val="100000"/>
              <a:buFont typeface="+mj-lt"/>
              <a:buAutoNum type="arabicPeriod"/>
            </a:pPr>
            <a:r>
              <a:rPr lang="en-US" sz="2000" spc="-1" dirty="0"/>
              <a:t>New HPC Status</a:t>
            </a:r>
          </a:p>
          <a:p>
            <a:pPr marL="914760" lvl="1" indent="-457200">
              <a:spcBef>
                <a:spcPts val="1200"/>
              </a:spcBef>
              <a:buClr>
                <a:srgbClr val="0047BA"/>
              </a:buClr>
              <a:buSzPct val="100000"/>
              <a:buFont typeface="+mj-lt"/>
              <a:buAutoNum type="arabicPeriod"/>
            </a:pPr>
            <a:r>
              <a:rPr lang="en-US" sz="2000" spc="-1" dirty="0"/>
              <a:t>User account process and resource allocation on New HPC</a:t>
            </a:r>
          </a:p>
          <a:p>
            <a:pPr marL="914760" lvl="1" indent="-457200">
              <a:spcBef>
                <a:spcPts val="1200"/>
              </a:spcBef>
              <a:buClr>
                <a:srgbClr val="0047BA"/>
              </a:buClr>
              <a:buSzPct val="100000"/>
              <a:buFont typeface="+mj-lt"/>
              <a:buAutoNum type="arabicPeriod"/>
            </a:pPr>
            <a:r>
              <a:rPr lang="en-US" sz="2000" b="1" spc="-1" dirty="0"/>
              <a:t>Migration of Masdar resources and SAN HPC</a:t>
            </a:r>
          </a:p>
          <a:p>
            <a:pPr marL="914760" lvl="1" indent="-457200">
              <a:spcBef>
                <a:spcPts val="1200"/>
              </a:spcBef>
              <a:buClr>
                <a:srgbClr val="0047BA"/>
              </a:buClr>
              <a:buSzPct val="100000"/>
              <a:buFont typeface="+mj-lt"/>
              <a:buAutoNum type="arabicPeriod"/>
            </a:pPr>
            <a:r>
              <a:rPr lang="en-US" sz="2000" spc="-1" dirty="0"/>
              <a:t>Research Computing strategy</a:t>
            </a:r>
          </a:p>
          <a:p>
            <a:pPr marL="914760" lvl="1" indent="-457200">
              <a:spcBef>
                <a:spcPts val="1200"/>
              </a:spcBef>
              <a:buClr>
                <a:srgbClr val="0047BA"/>
              </a:buClr>
              <a:buSzPct val="100000"/>
              <a:buFont typeface="+mj-lt"/>
              <a:buAutoNum type="arabicPeriod"/>
            </a:pPr>
            <a:r>
              <a:rPr lang="en-US" sz="2000" spc="-1" dirty="0"/>
              <a:t>AOB</a:t>
            </a:r>
          </a:p>
          <a:p>
            <a:pPr marL="914760" lvl="1" indent="-457200">
              <a:spcBef>
                <a:spcPts val="1200"/>
              </a:spcBef>
              <a:buClr>
                <a:srgbClr val="0047BA"/>
              </a:buClr>
              <a:buSzPct val="100000"/>
              <a:buFont typeface="+mj-lt"/>
              <a:buAutoNum type="arabicPeriod"/>
            </a:pPr>
            <a:r>
              <a:rPr lang="en-US" sz="2000" spc="-1" dirty="0"/>
              <a:t>Date of next meeting</a:t>
            </a:r>
            <a:endParaRPr lang="en-US" sz="2000" spc="-1" dirty="0">
              <a:latin typeface="Arial"/>
            </a:endParaRPr>
          </a:p>
          <a:p>
            <a:pPr marL="360">
              <a:lnSpc>
                <a:spcPct val="100000"/>
              </a:lnSpc>
              <a:spcBef>
                <a:spcPts val="1800"/>
              </a:spcBef>
              <a:buClr>
                <a:srgbClr val="0047BA"/>
              </a:buClr>
              <a:buSzPct val="65000"/>
            </a:pPr>
            <a:endParaRPr lang="en-US" sz="1800" b="0" strike="noStrike" spc="-1" dirty="0">
              <a:latin typeface="Arial"/>
            </a:endParaRPr>
          </a:p>
        </p:txBody>
      </p:sp>
    </p:spTree>
    <p:extLst>
      <p:ext uri="{BB962C8B-B14F-4D97-AF65-F5344CB8AC3E}">
        <p14:creationId xmlns:p14="http://schemas.microsoft.com/office/powerpoint/2010/main" val="986629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Masdar </a:t>
            </a:r>
            <a:r>
              <a:rPr lang="en-US" sz="3200" b="1" spc="43" dirty="0">
                <a:solidFill>
                  <a:srgbClr val="0047BA"/>
                </a:solidFill>
                <a:latin typeface="Arial"/>
              </a:rPr>
              <a:t>and SAN HPC resources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Committee Charter</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12</a:t>
            </a:fld>
            <a:endParaRPr lang="en-US" sz="850" b="0" strike="noStrike" spc="-1">
              <a:latin typeface="Arial"/>
            </a:endParaRPr>
          </a:p>
        </p:txBody>
      </p:sp>
      <p:sp>
        <p:nvSpPr>
          <p:cNvPr id="8" name="Content Placeholder 2">
            <a:extLst>
              <a:ext uri="{FF2B5EF4-FFF2-40B4-BE49-F238E27FC236}">
                <a16:creationId xmlns:a16="http://schemas.microsoft.com/office/drawing/2014/main" id="{7F638105-2864-4648-BB24-AD46E847EE5F}"/>
              </a:ext>
            </a:extLst>
          </p:cNvPr>
          <p:cNvSpPr txBox="1">
            <a:spLocks/>
          </p:cNvSpPr>
          <p:nvPr/>
        </p:nvSpPr>
        <p:spPr>
          <a:xfrm>
            <a:off x="1366233" y="1317374"/>
            <a:ext cx="9111961" cy="5038786"/>
          </a:xfrm>
          <a:prstGeom prst="rect">
            <a:avLst/>
          </a:prstGeom>
        </p:spPr>
        <p:txBody>
          <a:bodyPr>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indent="-182520">
              <a:spcBef>
                <a:spcPts val="1200"/>
              </a:spcBef>
              <a:buClr>
                <a:srgbClr val="0047BA"/>
              </a:buClr>
              <a:buSzPct val="65000"/>
              <a:buFont typeface="Wingdings" charset="2"/>
              <a:buChar char=""/>
            </a:pPr>
            <a:r>
              <a:rPr lang="en-US" sz="4000" spc="-1" dirty="0"/>
              <a:t>High Performance Computing clusters</a:t>
            </a:r>
          </a:p>
          <a:p>
            <a:pPr marL="640080" lvl="1" indent="-182520">
              <a:spcBef>
                <a:spcPts val="1200"/>
              </a:spcBef>
              <a:buClr>
                <a:srgbClr val="0047BA"/>
              </a:buClr>
              <a:buSzPct val="65000"/>
              <a:buFont typeface="Wingdings" charset="2"/>
              <a:buChar char=""/>
            </a:pPr>
            <a:endParaRPr lang="en-US" sz="3600" spc="-1" dirty="0"/>
          </a:p>
          <a:p>
            <a:endParaRPr lang="en-US" dirty="0"/>
          </a:p>
          <a:p>
            <a:endParaRPr lang="en-US" dirty="0"/>
          </a:p>
          <a:p>
            <a:endParaRPr lang="en-US" dirty="0"/>
          </a:p>
          <a:p>
            <a:endParaRPr lang="en-US" dirty="0"/>
          </a:p>
          <a:p>
            <a:endParaRPr lang="en-US" dirty="0"/>
          </a:p>
          <a:p>
            <a:pPr marL="0" indent="0">
              <a:buNone/>
            </a:pPr>
            <a:endParaRPr lang="en-US" dirty="0"/>
          </a:p>
          <a:p>
            <a:endParaRPr lang="en-US" dirty="0"/>
          </a:p>
          <a:p>
            <a:pPr marL="182880" indent="-182520">
              <a:spcBef>
                <a:spcPts val="1200"/>
              </a:spcBef>
              <a:buClr>
                <a:srgbClr val="0047BA"/>
              </a:buClr>
              <a:buSzPct val="65000"/>
              <a:buFont typeface="Wingdings" charset="2"/>
              <a:buChar char=""/>
            </a:pPr>
            <a:r>
              <a:rPr lang="en-US" sz="3600" spc="-1" dirty="0"/>
              <a:t>Virtual Machines</a:t>
            </a:r>
          </a:p>
          <a:p>
            <a:pPr marL="640080" lvl="1" indent="-182520">
              <a:spcBef>
                <a:spcPts val="1200"/>
              </a:spcBef>
              <a:buClr>
                <a:srgbClr val="0047BA"/>
              </a:buClr>
              <a:buSzPct val="65000"/>
              <a:buFont typeface="Wingdings" charset="2"/>
              <a:buChar char=""/>
            </a:pPr>
            <a:r>
              <a:rPr lang="en-US" sz="3200" spc="-1" dirty="0"/>
              <a:t>We are currently managing around 50 virtual machines dedicated to different purposes: Data bases, web servers, research machines, with ~228 TB of storage.</a:t>
            </a:r>
          </a:p>
          <a:p>
            <a:pPr marL="182880" indent="-182520">
              <a:spcBef>
                <a:spcPts val="1200"/>
              </a:spcBef>
              <a:buClr>
                <a:srgbClr val="0047BA"/>
              </a:buClr>
              <a:buSzPct val="65000"/>
              <a:buFont typeface="Wingdings" charset="2"/>
              <a:buChar char=""/>
            </a:pPr>
            <a:r>
              <a:rPr lang="en-US" sz="3600" spc="-1" dirty="0"/>
              <a:t>SAN HPC was scheduled to be decommissioned at end of Jan 2021. Currently pending with ADNOC.</a:t>
            </a:r>
          </a:p>
          <a:p>
            <a:pPr marL="182880" indent="-182520">
              <a:spcBef>
                <a:spcPts val="1200"/>
              </a:spcBef>
              <a:buClr>
                <a:srgbClr val="0047BA"/>
              </a:buClr>
              <a:buSzPct val="65000"/>
              <a:buFont typeface="Wingdings" charset="2"/>
              <a:buChar char=""/>
            </a:pPr>
            <a:r>
              <a:rPr lang="en-US" sz="3600" spc="-1" dirty="0"/>
              <a:t>Masdar Resources to be decommissioned this summer, currently finalizing timeline and migration plan</a:t>
            </a:r>
          </a:p>
        </p:txBody>
      </p:sp>
      <p:graphicFrame>
        <p:nvGraphicFramePr>
          <p:cNvPr id="10" name="Content Placeholder 6">
            <a:extLst>
              <a:ext uri="{FF2B5EF4-FFF2-40B4-BE49-F238E27FC236}">
                <a16:creationId xmlns:a16="http://schemas.microsoft.com/office/drawing/2014/main" id="{5A2269B8-B870-5744-BA5E-F35C528A793A}"/>
              </a:ext>
            </a:extLst>
          </p:cNvPr>
          <p:cNvGraphicFramePr>
            <a:graphicFrameLocks/>
          </p:cNvGraphicFramePr>
          <p:nvPr>
            <p:extLst>
              <p:ext uri="{D42A27DB-BD31-4B8C-83A1-F6EECF244321}">
                <p14:modId xmlns:p14="http://schemas.microsoft.com/office/powerpoint/2010/main" val="1498805022"/>
              </p:ext>
            </p:extLst>
          </p:nvPr>
        </p:nvGraphicFramePr>
        <p:xfrm>
          <a:off x="1713806" y="1820767"/>
          <a:ext cx="8524875" cy="1920240"/>
        </p:xfrm>
        <a:graphic>
          <a:graphicData uri="http://schemas.openxmlformats.org/drawingml/2006/table">
            <a:tbl>
              <a:tblPr firstRow="1" bandRow="1">
                <a:tableStyleId>{E8B1032C-EA38-4F05-BA0D-38AFFFC7BED3}</a:tableStyleId>
              </a:tblPr>
              <a:tblGrid>
                <a:gridCol w="1704975">
                  <a:extLst>
                    <a:ext uri="{9D8B030D-6E8A-4147-A177-3AD203B41FA5}">
                      <a16:colId xmlns:a16="http://schemas.microsoft.com/office/drawing/2014/main" val="3343796688"/>
                    </a:ext>
                  </a:extLst>
                </a:gridCol>
                <a:gridCol w="1704975">
                  <a:extLst>
                    <a:ext uri="{9D8B030D-6E8A-4147-A177-3AD203B41FA5}">
                      <a16:colId xmlns:a16="http://schemas.microsoft.com/office/drawing/2014/main" val="3323181143"/>
                    </a:ext>
                  </a:extLst>
                </a:gridCol>
                <a:gridCol w="1704975">
                  <a:extLst>
                    <a:ext uri="{9D8B030D-6E8A-4147-A177-3AD203B41FA5}">
                      <a16:colId xmlns:a16="http://schemas.microsoft.com/office/drawing/2014/main" val="2928470246"/>
                    </a:ext>
                  </a:extLst>
                </a:gridCol>
                <a:gridCol w="1704975">
                  <a:extLst>
                    <a:ext uri="{9D8B030D-6E8A-4147-A177-3AD203B41FA5}">
                      <a16:colId xmlns:a16="http://schemas.microsoft.com/office/drawing/2014/main" val="1540750301"/>
                    </a:ext>
                  </a:extLst>
                </a:gridCol>
                <a:gridCol w="1704975">
                  <a:extLst>
                    <a:ext uri="{9D8B030D-6E8A-4147-A177-3AD203B41FA5}">
                      <a16:colId xmlns:a16="http://schemas.microsoft.com/office/drawing/2014/main" val="4085966935"/>
                    </a:ext>
                  </a:extLst>
                </a:gridCol>
              </a:tblGrid>
              <a:tr h="484716">
                <a:tc>
                  <a:txBody>
                    <a:bodyPr/>
                    <a:lstStyle/>
                    <a:p>
                      <a:endParaRPr lang="en-US"/>
                    </a:p>
                  </a:txBody>
                  <a:tcPr anchor="ctr">
                    <a:lnL w="12700" cmpd="sng">
                      <a:noFill/>
                    </a:lnL>
                    <a:lnR w="12700" cap="flat" cmpd="sng" algn="ctr">
                      <a:solidFill>
                        <a:srgbClr val="0047BA"/>
                      </a:solidFill>
                      <a:prstDash val="solid"/>
                      <a:round/>
                      <a:headEnd type="none" w="med" len="med"/>
                      <a:tailEnd type="none" w="med" len="med"/>
                    </a:lnR>
                    <a:lnT w="12700" cmpd="sng">
                      <a:noFill/>
                    </a:lnT>
                    <a:lnB w="12700" cap="flat" cmpd="sng" algn="ctr">
                      <a:solidFill>
                        <a:srgbClr val="0047BA"/>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i-FI" dirty="0"/>
                        <a:t>Compute nodes</a:t>
                      </a:r>
                      <a:endParaRPr lang="en-US" dirty="0"/>
                    </a:p>
                  </a:txBody>
                  <a:tcPr anchor="ctr">
                    <a:lnL w="12700" cap="flat" cmpd="sng" algn="ctr">
                      <a:solidFill>
                        <a:srgbClr val="0047BA"/>
                      </a:solidFill>
                      <a:prstDash val="solid"/>
                      <a:round/>
                      <a:headEnd type="none" w="med" len="med"/>
                      <a:tailEnd type="none" w="med" len="med"/>
                    </a:lnL>
                    <a:lnT w="12700" cap="flat" cmpd="sng" algn="ctr">
                      <a:solidFill>
                        <a:srgbClr val="0047BA"/>
                      </a:solidFill>
                      <a:prstDash val="solid"/>
                      <a:round/>
                      <a:headEnd type="none" w="med" len="med"/>
                      <a:tailEnd type="none" w="med" len="med"/>
                    </a:lnT>
                    <a:lnB w="12700" cap="flat" cmpd="sng" algn="ctr">
                      <a:solidFill>
                        <a:srgbClr val="0047BA"/>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i-FI" dirty="0"/>
                        <a:t>GPU nodes</a:t>
                      </a:r>
                      <a:endParaRPr lang="en-US" dirty="0"/>
                    </a:p>
                  </a:txBody>
                  <a:tcPr anchor="ctr">
                    <a:lnT w="12700" cap="flat" cmpd="sng" algn="ctr">
                      <a:solidFill>
                        <a:srgbClr val="0047BA"/>
                      </a:solidFill>
                      <a:prstDash val="solid"/>
                      <a:round/>
                      <a:headEnd type="none" w="med" len="med"/>
                      <a:tailEnd type="none" w="med" len="med"/>
                    </a:lnT>
                    <a:lnB w="12700" cap="flat" cmpd="sng" algn="ctr">
                      <a:solidFill>
                        <a:srgbClr val="0047BA"/>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i-FI" dirty="0"/>
                        <a:t>Memory</a:t>
                      </a:r>
                      <a:endParaRPr lang="en-US" dirty="0"/>
                    </a:p>
                  </a:txBody>
                  <a:tcPr anchor="ctr">
                    <a:lnT w="12700" cap="flat" cmpd="sng" algn="ctr">
                      <a:solidFill>
                        <a:srgbClr val="0047BA"/>
                      </a:solidFill>
                      <a:prstDash val="solid"/>
                      <a:round/>
                      <a:headEnd type="none" w="med" len="med"/>
                      <a:tailEnd type="none" w="med" len="med"/>
                    </a:lnT>
                    <a:lnB w="12700" cap="flat" cmpd="sng" algn="ctr">
                      <a:solidFill>
                        <a:srgbClr val="0047BA"/>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i-FI" dirty="0"/>
                        <a:t>Storage</a:t>
                      </a:r>
                      <a:endParaRPr lang="en-US" dirty="0"/>
                    </a:p>
                  </a:txBody>
                  <a:tcPr anchor="ctr">
                    <a:lnR w="12700" cap="flat" cmpd="sng" algn="ctr">
                      <a:solidFill>
                        <a:srgbClr val="0047BA"/>
                      </a:solidFill>
                      <a:prstDash val="solid"/>
                      <a:round/>
                      <a:headEnd type="none" w="med" len="med"/>
                      <a:tailEnd type="none" w="med" len="med"/>
                    </a:lnR>
                    <a:lnT w="12700" cap="flat" cmpd="sng" algn="ctr">
                      <a:solidFill>
                        <a:srgbClr val="0047BA"/>
                      </a:solidFill>
                      <a:prstDash val="solid"/>
                      <a:round/>
                      <a:headEnd type="none" w="med" len="med"/>
                      <a:tailEnd type="none" w="med" len="med"/>
                    </a:lnT>
                    <a:lnB w="12700" cap="flat" cmpd="sng" algn="ctr">
                      <a:solidFill>
                        <a:srgbClr val="0047BA"/>
                      </a:solidFill>
                      <a:prstDash val="solid"/>
                      <a:round/>
                      <a:headEnd type="none" w="med" len="med"/>
                      <a:tailEnd type="none" w="med" len="med"/>
                    </a:lnB>
                  </a:tcPr>
                </a:tc>
                <a:extLst>
                  <a:ext uri="{0D108BD9-81ED-4DB2-BD59-A6C34878D82A}">
                    <a16:rowId xmlns:a16="http://schemas.microsoft.com/office/drawing/2014/main" val="3819626717"/>
                  </a:ext>
                </a:extLst>
              </a:tr>
              <a:tr h="484716">
                <a:tc>
                  <a:txBody>
                    <a:bodyPr/>
                    <a:lstStyle/>
                    <a:p>
                      <a:r>
                        <a:rPr lang="fi-FI" b="1" dirty="0"/>
                        <a:t>MI HPC cluster</a:t>
                      </a:r>
                      <a:endParaRPr lang="en-US" b="1" dirty="0"/>
                    </a:p>
                  </a:txBody>
                  <a:tcPr anchor="ctr">
                    <a:lnL w="12700" cap="flat" cmpd="sng" algn="ctr">
                      <a:solidFill>
                        <a:srgbClr val="0047BA"/>
                      </a:solidFill>
                      <a:prstDash val="solid"/>
                      <a:round/>
                      <a:headEnd type="none" w="med" len="med"/>
                      <a:tailEnd type="none" w="med" len="med"/>
                    </a:lnL>
                    <a:lnR w="12700" cap="flat" cmpd="sng" algn="ctr">
                      <a:solidFill>
                        <a:srgbClr val="0047BA"/>
                      </a:solidFill>
                      <a:prstDash val="solid"/>
                      <a:round/>
                      <a:headEnd type="none" w="med" len="med"/>
                      <a:tailEnd type="none" w="med" len="med"/>
                    </a:lnR>
                    <a:lnT w="12700" cap="flat" cmpd="sng" algn="ctr">
                      <a:solidFill>
                        <a:srgbClr val="0047BA"/>
                      </a:solidFill>
                      <a:prstDash val="solid"/>
                      <a:round/>
                      <a:headEnd type="none" w="med" len="med"/>
                      <a:tailEnd type="none" w="med" len="med"/>
                    </a:lnT>
                  </a:tcPr>
                </a:tc>
                <a:tc>
                  <a:txBody>
                    <a:bodyPr/>
                    <a:lstStyle/>
                    <a:p>
                      <a:pPr algn="ctr"/>
                      <a:r>
                        <a:rPr lang="en-US" dirty="0"/>
                        <a:t>80</a:t>
                      </a:r>
                    </a:p>
                  </a:txBody>
                  <a:tcPr anchor="ctr">
                    <a:lnL w="12700" cap="flat" cmpd="sng" algn="ctr">
                      <a:solidFill>
                        <a:srgbClr val="0047BA"/>
                      </a:solidFill>
                      <a:prstDash val="solid"/>
                      <a:round/>
                      <a:headEnd type="none" w="med" len="med"/>
                      <a:tailEnd type="none" w="med" len="med"/>
                    </a:lnL>
                    <a:lnT w="12700" cap="flat" cmpd="sng" algn="ctr">
                      <a:solidFill>
                        <a:srgbClr val="0047BA"/>
                      </a:solidFill>
                      <a:prstDash val="solid"/>
                      <a:round/>
                      <a:headEnd type="none" w="med" len="med"/>
                      <a:tailEnd type="none" w="med" len="med"/>
                    </a:lnT>
                  </a:tcPr>
                </a:tc>
                <a:tc>
                  <a:txBody>
                    <a:bodyPr/>
                    <a:lstStyle/>
                    <a:p>
                      <a:pPr algn="ctr"/>
                      <a:r>
                        <a:rPr lang="en-US" dirty="0"/>
                        <a:t>4</a:t>
                      </a:r>
                    </a:p>
                  </a:txBody>
                  <a:tcPr anchor="ctr">
                    <a:lnT w="12700" cap="flat" cmpd="sng" algn="ctr">
                      <a:solidFill>
                        <a:srgbClr val="0047BA"/>
                      </a:solidFill>
                      <a:prstDash val="solid"/>
                      <a:round/>
                      <a:headEnd type="none" w="med" len="med"/>
                      <a:tailEnd type="none" w="med" len="med"/>
                    </a:lnT>
                  </a:tcPr>
                </a:tc>
                <a:tc>
                  <a:txBody>
                    <a:bodyPr/>
                    <a:lstStyle/>
                    <a:p>
                      <a:pPr algn="ctr"/>
                      <a:r>
                        <a:rPr lang="en-US" dirty="0"/>
                        <a:t>256 GB</a:t>
                      </a:r>
                    </a:p>
                  </a:txBody>
                  <a:tcPr anchor="ctr">
                    <a:lnT w="12700" cap="flat" cmpd="sng" algn="ctr">
                      <a:solidFill>
                        <a:srgbClr val="0047BA"/>
                      </a:solidFill>
                      <a:prstDash val="solid"/>
                      <a:round/>
                      <a:headEnd type="none" w="med" len="med"/>
                      <a:tailEnd type="none" w="med" len="med"/>
                    </a:lnT>
                  </a:tcPr>
                </a:tc>
                <a:tc>
                  <a:txBody>
                    <a:bodyPr/>
                    <a:lstStyle/>
                    <a:p>
                      <a:pPr algn="ctr"/>
                      <a:r>
                        <a:rPr lang="en-US" dirty="0"/>
                        <a:t>~45 TB</a:t>
                      </a:r>
                    </a:p>
                  </a:txBody>
                  <a:tcPr anchor="ctr">
                    <a:lnT w="12700" cap="flat" cmpd="sng" algn="ctr">
                      <a:solidFill>
                        <a:srgbClr val="0047BA"/>
                      </a:solidFill>
                      <a:prstDash val="solid"/>
                      <a:round/>
                      <a:headEnd type="none" w="med" len="med"/>
                      <a:tailEnd type="none" w="med" len="med"/>
                    </a:lnT>
                  </a:tcPr>
                </a:tc>
                <a:extLst>
                  <a:ext uri="{0D108BD9-81ED-4DB2-BD59-A6C34878D82A}">
                    <a16:rowId xmlns:a16="http://schemas.microsoft.com/office/drawing/2014/main" val="1282393674"/>
                  </a:ext>
                </a:extLst>
              </a:tr>
              <a:tr h="4847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i-FI" b="1" dirty="0"/>
                        <a:t>SAN HPC cluster</a:t>
                      </a:r>
                      <a:endParaRPr lang="en-US" b="1" dirty="0"/>
                    </a:p>
                  </a:txBody>
                  <a:tcPr anchor="ctr">
                    <a:lnL w="12700" cap="flat" cmpd="sng" algn="ctr">
                      <a:solidFill>
                        <a:srgbClr val="0047BA"/>
                      </a:solidFill>
                      <a:prstDash val="solid"/>
                      <a:round/>
                      <a:headEnd type="none" w="med" len="med"/>
                      <a:tailEnd type="none" w="med" len="med"/>
                    </a:lnL>
                    <a:lnR w="12700" cap="flat" cmpd="sng" algn="ctr">
                      <a:solidFill>
                        <a:srgbClr val="0047BA"/>
                      </a:solidFill>
                      <a:prstDash val="solid"/>
                      <a:round/>
                      <a:headEnd type="none" w="med" len="med"/>
                      <a:tailEnd type="none" w="med" len="med"/>
                    </a:lnR>
                  </a:tcPr>
                </a:tc>
                <a:tc>
                  <a:txBody>
                    <a:bodyPr/>
                    <a:lstStyle/>
                    <a:p>
                      <a:pPr algn="ctr"/>
                      <a:r>
                        <a:rPr lang="en-US" dirty="0"/>
                        <a:t>76</a:t>
                      </a:r>
                    </a:p>
                  </a:txBody>
                  <a:tcPr anchor="ctr">
                    <a:lnL w="12700" cap="flat" cmpd="sng" algn="ctr">
                      <a:solidFill>
                        <a:srgbClr val="0047BA"/>
                      </a:solidFill>
                      <a:prstDash val="solid"/>
                      <a:round/>
                      <a:headEnd type="none" w="med" len="med"/>
                      <a:tailEnd type="none" w="med" len="med"/>
                    </a:lnL>
                  </a:tcPr>
                </a:tc>
                <a:tc>
                  <a:txBody>
                    <a:bodyPr/>
                    <a:lstStyle/>
                    <a:p>
                      <a:pPr algn="ctr"/>
                      <a:r>
                        <a:rPr lang="en-US" dirty="0"/>
                        <a:t>6</a:t>
                      </a:r>
                    </a:p>
                  </a:txBody>
                  <a:tcPr anchor="ctr"/>
                </a:tc>
                <a:tc>
                  <a:txBody>
                    <a:bodyPr/>
                    <a:lstStyle/>
                    <a:p>
                      <a:pPr algn="ctr"/>
                      <a:r>
                        <a:rPr lang="en-US" dirty="0"/>
                        <a:t>From 16 GB to 128 GB</a:t>
                      </a:r>
                    </a:p>
                  </a:txBody>
                  <a:tcPr anchor="ctr"/>
                </a:tc>
                <a:tc>
                  <a:txBody>
                    <a:bodyPr/>
                    <a:lstStyle/>
                    <a:p>
                      <a:pPr algn="ctr"/>
                      <a:r>
                        <a:rPr lang="en-US" dirty="0"/>
                        <a:t>~100 TB</a:t>
                      </a:r>
                    </a:p>
                  </a:txBody>
                  <a:tcPr anchor="ctr"/>
                </a:tc>
                <a:extLst>
                  <a:ext uri="{0D108BD9-81ED-4DB2-BD59-A6C34878D82A}">
                    <a16:rowId xmlns:a16="http://schemas.microsoft.com/office/drawing/2014/main" val="281318743"/>
                  </a:ext>
                </a:extLst>
              </a:tr>
            </a:tbl>
          </a:graphicData>
        </a:graphic>
      </p:graphicFrame>
    </p:spTree>
    <p:extLst>
      <p:ext uri="{BB962C8B-B14F-4D97-AF65-F5344CB8AC3E}">
        <p14:creationId xmlns:p14="http://schemas.microsoft.com/office/powerpoint/2010/main" val="3783693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pc="43" dirty="0">
                <a:solidFill>
                  <a:srgbClr val="0047BA"/>
                </a:solidFill>
                <a:latin typeface="Arial"/>
              </a:rPr>
              <a:t>Agenda</a:t>
            </a:r>
            <a:endParaRPr lang="en-US" sz="36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a:t>
            </a:r>
            <a:r>
              <a:rPr lang="en-US" sz="1200" b="1" spc="43" dirty="0">
                <a:solidFill>
                  <a:srgbClr val="0047BA"/>
                </a:solidFill>
                <a:latin typeface="Arial"/>
              </a:rPr>
              <a:t>Committee</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13</a:t>
            </a:fld>
            <a:endParaRPr lang="en-US" sz="850" b="0" strike="noStrike" spc="-1">
              <a:latin typeface="Arial"/>
            </a:endParaRPr>
          </a:p>
        </p:txBody>
      </p:sp>
      <p:sp>
        <p:nvSpPr>
          <p:cNvPr id="473" name="CustomShape 5"/>
          <p:cNvSpPr/>
          <p:nvPr/>
        </p:nvSpPr>
        <p:spPr>
          <a:xfrm>
            <a:off x="609480" y="1438878"/>
            <a:ext cx="10887048" cy="5032656"/>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914760" lvl="1" indent="-457200">
              <a:spcBef>
                <a:spcPts val="1200"/>
              </a:spcBef>
              <a:buClr>
                <a:srgbClr val="0047BA"/>
              </a:buClr>
              <a:buSzPct val="100000"/>
              <a:buFont typeface="+mj-lt"/>
              <a:buAutoNum type="arabicPeriod"/>
            </a:pPr>
            <a:r>
              <a:rPr lang="en-US" sz="2000" spc="-1" dirty="0"/>
              <a:t>New HPC Status</a:t>
            </a:r>
          </a:p>
          <a:p>
            <a:pPr marL="914760" lvl="1" indent="-457200">
              <a:spcBef>
                <a:spcPts val="1200"/>
              </a:spcBef>
              <a:buClr>
                <a:srgbClr val="0047BA"/>
              </a:buClr>
              <a:buSzPct val="100000"/>
              <a:buFont typeface="+mj-lt"/>
              <a:buAutoNum type="arabicPeriod"/>
            </a:pPr>
            <a:r>
              <a:rPr lang="en-US" sz="2000" spc="-1" dirty="0"/>
              <a:t>User account process and resource allocation on New HPC</a:t>
            </a:r>
          </a:p>
          <a:p>
            <a:pPr marL="914760" lvl="1" indent="-457200">
              <a:spcBef>
                <a:spcPts val="1200"/>
              </a:spcBef>
              <a:buClr>
                <a:srgbClr val="0047BA"/>
              </a:buClr>
              <a:buSzPct val="100000"/>
              <a:buFont typeface="+mj-lt"/>
              <a:buAutoNum type="arabicPeriod"/>
            </a:pPr>
            <a:r>
              <a:rPr lang="en-US" sz="2000" spc="-1" dirty="0"/>
              <a:t>Migration of Masdar resources and SAN HPC</a:t>
            </a:r>
          </a:p>
          <a:p>
            <a:pPr marL="914760" lvl="1" indent="-457200">
              <a:spcBef>
                <a:spcPts val="1200"/>
              </a:spcBef>
              <a:buClr>
                <a:srgbClr val="0047BA"/>
              </a:buClr>
              <a:buSzPct val="100000"/>
              <a:buFont typeface="+mj-lt"/>
              <a:buAutoNum type="arabicPeriod"/>
            </a:pPr>
            <a:r>
              <a:rPr lang="en-US" sz="2000" b="1" spc="-1" dirty="0"/>
              <a:t>Research Computing strategy</a:t>
            </a:r>
          </a:p>
          <a:p>
            <a:pPr marL="914760" lvl="1" indent="-457200">
              <a:spcBef>
                <a:spcPts val="1200"/>
              </a:spcBef>
              <a:buClr>
                <a:srgbClr val="0047BA"/>
              </a:buClr>
              <a:buSzPct val="100000"/>
              <a:buFont typeface="+mj-lt"/>
              <a:buAutoNum type="arabicPeriod"/>
            </a:pPr>
            <a:r>
              <a:rPr lang="en-US" sz="2000" spc="-1" dirty="0"/>
              <a:t>AOB</a:t>
            </a:r>
          </a:p>
          <a:p>
            <a:pPr marL="914760" lvl="1" indent="-457200">
              <a:spcBef>
                <a:spcPts val="1200"/>
              </a:spcBef>
              <a:buClr>
                <a:srgbClr val="0047BA"/>
              </a:buClr>
              <a:buSzPct val="100000"/>
              <a:buFont typeface="+mj-lt"/>
              <a:buAutoNum type="arabicPeriod"/>
            </a:pPr>
            <a:r>
              <a:rPr lang="en-US" sz="2000" spc="-1" dirty="0"/>
              <a:t>Date of next meeting</a:t>
            </a:r>
            <a:endParaRPr lang="en-US" sz="2000" spc="-1" dirty="0">
              <a:latin typeface="Arial"/>
            </a:endParaRPr>
          </a:p>
          <a:p>
            <a:pPr marL="360">
              <a:lnSpc>
                <a:spcPct val="100000"/>
              </a:lnSpc>
              <a:spcBef>
                <a:spcPts val="1800"/>
              </a:spcBef>
              <a:buClr>
                <a:srgbClr val="0047BA"/>
              </a:buClr>
              <a:buSzPct val="65000"/>
            </a:pPr>
            <a:endParaRPr lang="en-US" sz="1800" b="0" strike="noStrike" spc="-1" dirty="0">
              <a:latin typeface="Arial"/>
            </a:endParaRPr>
          </a:p>
        </p:txBody>
      </p:sp>
    </p:spTree>
    <p:extLst>
      <p:ext uri="{BB962C8B-B14F-4D97-AF65-F5344CB8AC3E}">
        <p14:creationId xmlns:p14="http://schemas.microsoft.com/office/powerpoint/2010/main" val="2198851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a:t>
            </a:r>
            <a:r>
              <a:rPr lang="en-US" sz="1200" b="1" spc="43" dirty="0">
                <a:solidFill>
                  <a:srgbClr val="0047BA"/>
                </a:solidFill>
                <a:latin typeface="Arial"/>
              </a:rPr>
              <a:t>Strategy</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14</a:t>
            </a:fld>
            <a:endParaRPr lang="en-US" sz="850" b="0" strike="noStrike" spc="-1">
              <a:latin typeface="Arial"/>
            </a:endParaRPr>
          </a:p>
        </p:txBody>
      </p:sp>
      <p:sp>
        <p:nvSpPr>
          <p:cNvPr id="473" name="CustomShape 5"/>
          <p:cNvSpPr/>
          <p:nvPr/>
        </p:nvSpPr>
        <p:spPr>
          <a:xfrm>
            <a:off x="609480" y="1438878"/>
            <a:ext cx="10887048" cy="5032656"/>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Re</a:t>
            </a:r>
            <a:r>
              <a:rPr lang="en-US" sz="2400" b="1" spc="-1" dirty="0">
                <a:solidFill>
                  <a:srgbClr val="0047BA"/>
                </a:solidFill>
                <a:latin typeface="Arial"/>
                <a:ea typeface="DejaVu Sans"/>
              </a:rPr>
              <a:t>search Computing strategy</a:t>
            </a:r>
          </a:p>
          <a:p>
            <a:pPr marL="640080" lvl="1" indent="-182520">
              <a:spcBef>
                <a:spcPts val="1200"/>
              </a:spcBef>
              <a:buClr>
                <a:srgbClr val="0047BA"/>
              </a:buClr>
              <a:buSzPct val="65000"/>
              <a:buFont typeface="Wingdings" charset="2"/>
              <a:buChar char=""/>
            </a:pPr>
            <a:r>
              <a:rPr lang="en-US" sz="2000" spc="-1" dirty="0">
                <a:latin typeface="Arial"/>
              </a:rPr>
              <a:t>Goals</a:t>
            </a:r>
          </a:p>
          <a:p>
            <a:pPr marL="1097280" lvl="2" indent="-182520">
              <a:spcBef>
                <a:spcPts val="1200"/>
              </a:spcBef>
              <a:buClr>
                <a:srgbClr val="0047BA"/>
              </a:buClr>
              <a:buSzPct val="65000"/>
              <a:buFont typeface="Wingdings" charset="2"/>
              <a:buChar char=""/>
            </a:pPr>
            <a:r>
              <a:rPr lang="en-US" sz="2000" spc="-1" dirty="0">
                <a:latin typeface="Arial"/>
              </a:rPr>
              <a:t>Different levels of computational requirements</a:t>
            </a:r>
          </a:p>
          <a:p>
            <a:pPr marL="1554480" lvl="3" indent="-182520">
              <a:spcBef>
                <a:spcPts val="1200"/>
              </a:spcBef>
              <a:buClr>
                <a:srgbClr val="0047BA"/>
              </a:buClr>
              <a:buSzPct val="65000"/>
              <a:buFont typeface="Wingdings" charset="2"/>
              <a:buChar char=""/>
            </a:pPr>
            <a:r>
              <a:rPr lang="en-US" sz="2000" spc="-1" dirty="0">
                <a:latin typeface="Arial"/>
              </a:rPr>
              <a:t>Private Cloud/VM strategy</a:t>
            </a:r>
          </a:p>
          <a:p>
            <a:pPr marL="1554480" lvl="3" indent="-182520">
              <a:spcBef>
                <a:spcPts val="1200"/>
              </a:spcBef>
              <a:buClr>
                <a:srgbClr val="0047BA"/>
              </a:buClr>
              <a:buSzPct val="65000"/>
              <a:buFont typeface="Wingdings" charset="2"/>
              <a:buChar char=""/>
            </a:pPr>
            <a:r>
              <a:rPr lang="en-US" sz="2000" spc="-1" dirty="0">
                <a:latin typeface="Arial"/>
              </a:rPr>
              <a:t>HPC Strategy</a:t>
            </a:r>
          </a:p>
          <a:p>
            <a:pPr marL="1097280" lvl="2" indent="-182520">
              <a:spcBef>
                <a:spcPts val="1200"/>
              </a:spcBef>
              <a:buClr>
                <a:srgbClr val="0047BA"/>
              </a:buClr>
              <a:buSzPct val="65000"/>
              <a:buFont typeface="Wingdings" charset="2"/>
              <a:buChar char=""/>
            </a:pPr>
            <a:r>
              <a:rPr lang="en-US" sz="2000" spc="-1" dirty="0"/>
              <a:t>Data Storage</a:t>
            </a:r>
            <a:endParaRPr lang="en-US" sz="2000" spc="-1" dirty="0">
              <a:latin typeface="Arial"/>
            </a:endParaRPr>
          </a:p>
          <a:p>
            <a:pPr marL="1097280" lvl="2" indent="-182520">
              <a:spcBef>
                <a:spcPts val="1200"/>
              </a:spcBef>
              <a:buClr>
                <a:srgbClr val="0047BA"/>
              </a:buClr>
              <a:buSzPct val="65000"/>
              <a:buFont typeface="Wingdings" charset="2"/>
              <a:buChar char=""/>
            </a:pPr>
            <a:r>
              <a:rPr lang="en-US" sz="2000" spc="-1" dirty="0">
                <a:latin typeface="Arial"/>
              </a:rPr>
              <a:t>Software</a:t>
            </a:r>
          </a:p>
          <a:p>
            <a:pPr marL="1097280" lvl="2" indent="-182520">
              <a:spcBef>
                <a:spcPts val="1200"/>
              </a:spcBef>
              <a:buClr>
                <a:srgbClr val="0047BA"/>
              </a:buClr>
              <a:buSzPct val="65000"/>
              <a:buFont typeface="Wingdings" charset="2"/>
              <a:buChar char=""/>
            </a:pPr>
            <a:r>
              <a:rPr lang="en-US" sz="2000" spc="-1" dirty="0">
                <a:latin typeface="Arial"/>
              </a:rPr>
              <a:t>Support </a:t>
            </a:r>
          </a:p>
          <a:p>
            <a:pPr marL="360">
              <a:lnSpc>
                <a:spcPct val="100000"/>
              </a:lnSpc>
              <a:spcBef>
                <a:spcPts val="1800"/>
              </a:spcBef>
              <a:buClr>
                <a:srgbClr val="0047BA"/>
              </a:buClr>
              <a:buSzPct val="65000"/>
            </a:pPr>
            <a:endParaRPr lang="en-US" sz="1800" b="0" strike="noStrike" spc="-1" dirty="0">
              <a:latin typeface="Arial"/>
            </a:endParaRPr>
          </a:p>
        </p:txBody>
      </p:sp>
    </p:spTree>
    <p:extLst>
      <p:ext uri="{BB962C8B-B14F-4D97-AF65-F5344CB8AC3E}">
        <p14:creationId xmlns:p14="http://schemas.microsoft.com/office/powerpoint/2010/main" val="2168302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pc="43" dirty="0">
                <a:solidFill>
                  <a:srgbClr val="0047BA"/>
                </a:solidFill>
                <a:latin typeface="Arial"/>
              </a:rPr>
              <a:t>Goals</a:t>
            </a:r>
            <a:endParaRPr lang="en-US" sz="36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15</a:t>
            </a:fld>
            <a:endParaRPr lang="en-US" sz="850" b="0" strike="noStrike" spc="-1">
              <a:latin typeface="Arial"/>
            </a:endParaRPr>
          </a:p>
        </p:txBody>
      </p:sp>
      <p:sp>
        <p:nvSpPr>
          <p:cNvPr id="473" name="CustomShape 5"/>
          <p:cNvSpPr/>
          <p:nvPr/>
        </p:nvSpPr>
        <p:spPr>
          <a:xfrm>
            <a:off x="609480" y="1438878"/>
            <a:ext cx="10887048" cy="5032656"/>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Sustainability</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latin typeface="Arial"/>
              </a:rPr>
              <a:t>Computer based modelling and simulation firmly established as integral parts of scientific research</a:t>
            </a:r>
          </a:p>
          <a:p>
            <a:pPr marL="640080" lvl="1" indent="-182520">
              <a:spcBef>
                <a:spcPts val="1200"/>
              </a:spcBef>
              <a:buClr>
                <a:srgbClr val="0047BA"/>
              </a:buClr>
              <a:buSzPct val="65000"/>
              <a:buFont typeface="Wingdings" charset="2"/>
              <a:buChar char=""/>
            </a:pPr>
            <a:r>
              <a:rPr lang="en-US" sz="2000" spc="-1" dirty="0">
                <a:latin typeface="Arial"/>
              </a:rPr>
              <a:t>Provision of resources needs to be consistent and sustainable.</a:t>
            </a:r>
          </a:p>
          <a:p>
            <a:pPr marL="640080" lvl="1" indent="-182520">
              <a:spcBef>
                <a:spcPts val="1200"/>
              </a:spcBef>
              <a:buClr>
                <a:srgbClr val="0047BA"/>
              </a:buClr>
              <a:buSzPct val="65000"/>
              <a:buFont typeface="Wingdings" charset="2"/>
              <a:buChar char=""/>
            </a:pPr>
            <a:r>
              <a:rPr lang="en-US" sz="2000" spc="-1" dirty="0">
                <a:latin typeface="Arial"/>
              </a:rPr>
              <a:t>This would entail periodic investment by KU. Appropriate life-cycle management needs to be implemented.</a:t>
            </a:r>
          </a:p>
        </p:txBody>
      </p:sp>
    </p:spTree>
    <p:extLst>
      <p:ext uri="{BB962C8B-B14F-4D97-AF65-F5344CB8AC3E}">
        <p14:creationId xmlns:p14="http://schemas.microsoft.com/office/powerpoint/2010/main" val="2980986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Goals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16</a:t>
            </a:fld>
            <a:endParaRPr lang="en-US" sz="850" b="0" strike="noStrike" spc="-1">
              <a:latin typeface="Arial"/>
            </a:endParaRPr>
          </a:p>
        </p:txBody>
      </p:sp>
      <p:sp>
        <p:nvSpPr>
          <p:cNvPr id="473" name="CustomShape 5"/>
          <p:cNvSpPr/>
          <p:nvPr/>
        </p:nvSpPr>
        <p:spPr>
          <a:xfrm>
            <a:off x="609480" y="1214280"/>
            <a:ext cx="10838808" cy="5744304"/>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Multiple Levels of Computation</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latin typeface="Arial"/>
              </a:rPr>
              <a:t>One size does not fit all</a:t>
            </a:r>
          </a:p>
          <a:p>
            <a:pPr marL="640080" lvl="1" indent="-182520">
              <a:spcBef>
                <a:spcPts val="1200"/>
              </a:spcBef>
              <a:buClr>
                <a:srgbClr val="0047BA"/>
              </a:buClr>
              <a:buSzPct val="65000"/>
              <a:buFont typeface="Wingdings" charset="2"/>
              <a:buChar char=""/>
            </a:pPr>
            <a:r>
              <a:rPr lang="en-US" sz="2000" spc="-1" dirty="0">
                <a:latin typeface="Arial"/>
              </a:rPr>
              <a:t>Requirements range from powerful workstations, to cloud services, university level HPC as well as large scale/national level HPC</a:t>
            </a:r>
          </a:p>
          <a:p>
            <a:pPr marL="640080" lvl="1" indent="-182520">
              <a:spcBef>
                <a:spcPts val="1200"/>
              </a:spcBef>
              <a:buClr>
                <a:srgbClr val="0047BA"/>
              </a:buClr>
              <a:buSzPct val="65000"/>
              <a:buFont typeface="Wingdings" charset="2"/>
              <a:buChar char=""/>
            </a:pPr>
            <a:r>
              <a:rPr lang="en-US" sz="2000" spc="-1" dirty="0">
                <a:latin typeface="Arial"/>
              </a:rPr>
              <a:t>Need to develop efficient and simple mechanisms for capturing and satisfying these requirements</a:t>
            </a:r>
          </a:p>
          <a:p>
            <a:pPr marL="182880" indent="-182520">
              <a:spcBef>
                <a:spcPts val="1369"/>
              </a:spcBef>
              <a:buClr>
                <a:srgbClr val="0047BA"/>
              </a:buClr>
              <a:buSzPct val="65000"/>
              <a:buFont typeface="Wingdings" charset="2"/>
              <a:buChar char=""/>
            </a:pPr>
            <a:r>
              <a:rPr lang="en-US" sz="2400" b="1" spc="-1" dirty="0">
                <a:solidFill>
                  <a:srgbClr val="0047BA"/>
                </a:solidFill>
                <a:latin typeface="Arial"/>
              </a:rPr>
              <a:t>Medium level Computation</a:t>
            </a:r>
          </a:p>
          <a:p>
            <a:pPr marL="640080" lvl="1" indent="-182520">
              <a:spcBef>
                <a:spcPts val="1200"/>
              </a:spcBef>
              <a:buClr>
                <a:srgbClr val="0047BA"/>
              </a:buClr>
              <a:buSzPct val="65000"/>
              <a:buFont typeface="Wingdings" charset="2"/>
              <a:buChar char=""/>
            </a:pPr>
            <a:r>
              <a:rPr lang="en-US" sz="2000" spc="-1" dirty="0">
                <a:latin typeface="Arial"/>
              </a:rPr>
              <a:t>Some computational tasks cannot be carried out on standard laptops/desktops but are not suited to High Performance Computing (HPC) clusters.</a:t>
            </a:r>
          </a:p>
          <a:p>
            <a:pPr marL="640080" lvl="1" indent="-182520">
              <a:spcBef>
                <a:spcPts val="1200"/>
              </a:spcBef>
              <a:buClr>
                <a:srgbClr val="0047BA"/>
              </a:buClr>
              <a:buSzPct val="65000"/>
              <a:buFont typeface="Wingdings" charset="2"/>
              <a:buChar char=""/>
            </a:pPr>
            <a:r>
              <a:rPr lang="en-US" sz="2000" spc="-1" dirty="0">
                <a:latin typeface="Arial"/>
              </a:rPr>
              <a:t>Centralize where possible, through providing access to private cloud and virtual machines/labs</a:t>
            </a:r>
          </a:p>
          <a:p>
            <a:pPr marL="640080" lvl="1" indent="-182520">
              <a:spcBef>
                <a:spcPts val="1200"/>
              </a:spcBef>
              <a:buClr>
                <a:srgbClr val="0047BA"/>
              </a:buClr>
              <a:buSzPct val="65000"/>
              <a:buFont typeface="Wingdings" charset="2"/>
              <a:buChar char=""/>
            </a:pPr>
            <a:r>
              <a:rPr lang="en-US" sz="2000" spc="-1" dirty="0">
                <a:latin typeface="Arial"/>
              </a:rPr>
              <a:t>Use public cloud for test beds and services not available locally</a:t>
            </a:r>
          </a:p>
          <a:p>
            <a:pPr marL="640080" lvl="1" indent="-182520">
              <a:spcBef>
                <a:spcPts val="1200"/>
              </a:spcBef>
              <a:buClr>
                <a:srgbClr val="0047BA"/>
              </a:buClr>
              <a:buSzPct val="65000"/>
              <a:buFont typeface="Wingdings" charset="2"/>
              <a:buChar char=""/>
            </a:pPr>
            <a:r>
              <a:rPr lang="en-US" sz="2000" spc="-1" dirty="0">
                <a:latin typeface="Arial"/>
              </a:rPr>
              <a:t>This will simplify management, security and data protection, provisioning, access to software and remove system administration burden from researchers</a:t>
            </a:r>
          </a:p>
        </p:txBody>
      </p:sp>
    </p:spTree>
    <p:extLst>
      <p:ext uri="{BB962C8B-B14F-4D97-AF65-F5344CB8AC3E}">
        <p14:creationId xmlns:p14="http://schemas.microsoft.com/office/powerpoint/2010/main" val="3168221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9380" y="53012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10140" y="582878"/>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360">
              <a:lnSpc>
                <a:spcPct val="100000"/>
              </a:lnSpc>
              <a:spcBef>
                <a:spcPts val="3169"/>
              </a:spcBef>
              <a:buClr>
                <a:srgbClr val="0047BA"/>
              </a:buClr>
              <a:buSzPct val="65000"/>
            </a:pPr>
            <a:r>
              <a:rPr lang="en-US" sz="3200" b="1" spc="-1" dirty="0">
                <a:solidFill>
                  <a:srgbClr val="0047BA"/>
                </a:solidFill>
              </a:rPr>
              <a:t>Private Cloud/VM strategy 2021 - 2025</a:t>
            </a:r>
          </a:p>
        </p:txBody>
      </p:sp>
      <p:sp>
        <p:nvSpPr>
          <p:cNvPr id="471" name="CustomShape 3"/>
          <p:cNvSpPr/>
          <p:nvPr/>
        </p:nvSpPr>
        <p:spPr>
          <a:xfrm>
            <a:off x="4183500" y="28641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860" y="23132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17</a:t>
            </a:fld>
            <a:endParaRPr lang="en-US" sz="850" b="0" strike="noStrike" spc="-1">
              <a:latin typeface="Arial"/>
            </a:endParaRPr>
          </a:p>
        </p:txBody>
      </p:sp>
      <p:graphicFrame>
        <p:nvGraphicFramePr>
          <p:cNvPr id="7" name="Table 6">
            <a:extLst>
              <a:ext uri="{FF2B5EF4-FFF2-40B4-BE49-F238E27FC236}">
                <a16:creationId xmlns:a16="http://schemas.microsoft.com/office/drawing/2014/main" id="{07CB7E90-81AE-1E48-A8E5-C2C87FF16FD9}"/>
              </a:ext>
            </a:extLst>
          </p:cNvPr>
          <p:cNvGraphicFramePr>
            <a:graphicFrameLocks noGrp="1"/>
          </p:cNvGraphicFramePr>
          <p:nvPr>
            <p:extLst>
              <p:ext uri="{D42A27DB-BD31-4B8C-83A1-F6EECF244321}">
                <p14:modId xmlns:p14="http://schemas.microsoft.com/office/powerpoint/2010/main" val="1018107653"/>
              </p:ext>
            </p:extLst>
          </p:nvPr>
        </p:nvGraphicFramePr>
        <p:xfrm>
          <a:off x="309759" y="1055933"/>
          <a:ext cx="11272101" cy="5802067"/>
        </p:xfrm>
        <a:graphic>
          <a:graphicData uri="http://schemas.openxmlformats.org/drawingml/2006/table">
            <a:tbl>
              <a:tblPr firstRow="1" bandRow="1"/>
              <a:tblGrid>
                <a:gridCol w="1053445">
                  <a:extLst>
                    <a:ext uri="{9D8B030D-6E8A-4147-A177-3AD203B41FA5}">
                      <a16:colId xmlns:a16="http://schemas.microsoft.com/office/drawing/2014/main" val="557725123"/>
                    </a:ext>
                  </a:extLst>
                </a:gridCol>
                <a:gridCol w="2199274">
                  <a:extLst>
                    <a:ext uri="{9D8B030D-6E8A-4147-A177-3AD203B41FA5}">
                      <a16:colId xmlns:a16="http://schemas.microsoft.com/office/drawing/2014/main" val="3687805585"/>
                    </a:ext>
                  </a:extLst>
                </a:gridCol>
                <a:gridCol w="3070310">
                  <a:extLst>
                    <a:ext uri="{9D8B030D-6E8A-4147-A177-3AD203B41FA5}">
                      <a16:colId xmlns:a16="http://schemas.microsoft.com/office/drawing/2014/main" val="329039289"/>
                    </a:ext>
                  </a:extLst>
                </a:gridCol>
                <a:gridCol w="1781666">
                  <a:extLst>
                    <a:ext uri="{9D8B030D-6E8A-4147-A177-3AD203B41FA5}">
                      <a16:colId xmlns:a16="http://schemas.microsoft.com/office/drawing/2014/main" val="481703216"/>
                    </a:ext>
                  </a:extLst>
                </a:gridCol>
                <a:gridCol w="1687398">
                  <a:extLst>
                    <a:ext uri="{9D8B030D-6E8A-4147-A177-3AD203B41FA5}">
                      <a16:colId xmlns:a16="http://schemas.microsoft.com/office/drawing/2014/main" val="607956648"/>
                    </a:ext>
                  </a:extLst>
                </a:gridCol>
                <a:gridCol w="1480008">
                  <a:extLst>
                    <a:ext uri="{9D8B030D-6E8A-4147-A177-3AD203B41FA5}">
                      <a16:colId xmlns:a16="http://schemas.microsoft.com/office/drawing/2014/main" val="2615944219"/>
                    </a:ext>
                  </a:extLst>
                </a:gridCol>
              </a:tblGrid>
              <a:tr h="0">
                <a:tc>
                  <a:txBody>
                    <a:bodyPr/>
                    <a:lstStyle/>
                    <a:p>
                      <a:pPr algn="ctr"/>
                      <a:endParaRPr lang="en-US" sz="1000" b="1" dirty="0">
                        <a:solidFill>
                          <a:srgbClr val="FFFFFF"/>
                        </a:solidFill>
                      </a:endParaRPr>
                    </a:p>
                  </a:txBody>
                  <a:tcPr>
                    <a:noFill/>
                  </a:tcPr>
                </a:tc>
                <a:tc>
                  <a:txBody>
                    <a:bodyPr/>
                    <a:lstStyle/>
                    <a:p>
                      <a:pPr algn="ctr"/>
                      <a:r>
                        <a:rPr lang="en-US" sz="1000" b="1" dirty="0">
                          <a:solidFill>
                            <a:srgbClr val="FFFFFF"/>
                          </a:solidFill>
                        </a:rPr>
                        <a:t>2021</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2022</a:t>
                      </a:r>
                    </a:p>
                  </a:txBody>
                  <a:tcPr>
                    <a:solidFill>
                      <a:srgbClr val="0047BA"/>
                    </a:solidFill>
                  </a:tcPr>
                </a:tc>
                <a:tc>
                  <a:txBody>
                    <a:bodyPr/>
                    <a:lstStyle/>
                    <a:p>
                      <a:pPr algn="ctr"/>
                      <a:r>
                        <a:rPr lang="en-US" sz="1000" b="1" dirty="0">
                          <a:solidFill>
                            <a:srgbClr val="FFFFFF"/>
                          </a:solidFill>
                        </a:rPr>
                        <a:t>2023</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2024</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2025</a:t>
                      </a:r>
                    </a:p>
                  </a:txBody>
                  <a:tcPr>
                    <a:solidFill>
                      <a:srgbClr val="0047BA"/>
                    </a:solidFill>
                  </a:tcPr>
                </a:tc>
                <a:extLst>
                  <a:ext uri="{0D108BD9-81ED-4DB2-BD59-A6C34878D82A}">
                    <a16:rowId xmlns:a16="http://schemas.microsoft.com/office/drawing/2014/main" val="667571679"/>
                  </a:ext>
                </a:extLst>
              </a:tr>
              <a:tr h="863353">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Private cloud  provision</a:t>
                      </a:r>
                    </a:p>
                  </a:txBody>
                  <a:tcPr marL="53280" marR="53280" anchor="ctr">
                    <a:solidFill>
                      <a:schemeClr val="tx2"/>
                    </a:solidFill>
                  </a:tcPr>
                </a:tc>
                <a:tc>
                  <a:txBody>
                    <a:bodyPr/>
                    <a:lstStyle/>
                    <a:p>
                      <a:pPr marL="7938" indent="0" algn="l">
                        <a:lnSpc>
                          <a:spcPts val="2100"/>
                        </a:lnSpc>
                        <a:buFont typeface="Arial" panose="020B0604020202020204" pitchFamily="34" charset="0"/>
                        <a:buNone/>
                        <a:tabLst/>
                      </a:pPr>
                      <a:r>
                        <a:rPr lang="en-US" sz="1000" b="1" strike="noStrike" spc="-1" dirty="0"/>
                        <a:t>Hosted at Masdar (not cloud):</a:t>
                      </a:r>
                    </a:p>
                    <a:p>
                      <a:pPr marL="179388" indent="-171450" algn="l">
                        <a:lnSpc>
                          <a:spcPts val="2100"/>
                        </a:lnSpc>
                        <a:buFont typeface="Arial" panose="020B0604020202020204" pitchFamily="34" charset="0"/>
                        <a:buChar char="•"/>
                        <a:tabLst/>
                      </a:pPr>
                      <a:r>
                        <a:rPr lang="en-US" sz="1000" b="1" strike="noStrike" spc="-1" dirty="0"/>
                        <a:t>474 vCPUs</a:t>
                      </a:r>
                    </a:p>
                    <a:p>
                      <a:pPr marL="179388" indent="-171450" algn="l">
                        <a:lnSpc>
                          <a:spcPts val="2100"/>
                        </a:lnSpc>
                        <a:buFont typeface="Arial" panose="020B0604020202020204" pitchFamily="34" charset="0"/>
                        <a:buChar char="•"/>
                        <a:tabLst/>
                      </a:pPr>
                      <a:r>
                        <a:rPr lang="en-US" sz="1000" b="1" strike="noStrike" spc="-1" dirty="0"/>
                        <a:t>228 TB  of storage</a:t>
                      </a:r>
                    </a:p>
                  </a:txBody>
                  <a:tcPr marL="53280" marR="53280"/>
                </a:tc>
                <a:tc>
                  <a:txBody>
                    <a:bodyPr/>
                    <a:lstStyle/>
                    <a:p>
                      <a:pPr marL="7938" indent="0" algn="l">
                        <a:lnSpc>
                          <a:spcPts val="2100"/>
                        </a:lnSpc>
                        <a:buFont typeface="Arial" panose="020B0604020202020204" pitchFamily="34" charset="0"/>
                        <a:buNone/>
                        <a:tabLst/>
                      </a:pPr>
                      <a:r>
                        <a:rPr lang="en-US" sz="1000" b="1" strike="noStrike" spc="-1" dirty="0"/>
                        <a:t>474 vCPUs</a:t>
                      </a:r>
                    </a:p>
                    <a:p>
                      <a:pPr marL="7938" indent="0" algn="l">
                        <a:lnSpc>
                          <a:spcPts val="2100"/>
                        </a:lnSpc>
                        <a:buFont typeface="Arial" panose="020B0604020202020204" pitchFamily="34" charset="0"/>
                        <a:buNone/>
                        <a:tabLst/>
                      </a:pPr>
                      <a:r>
                        <a:rPr lang="en-US" sz="1000" b="1" strike="noStrike" spc="-1" dirty="0"/>
                        <a:t>228 TB  of storage</a:t>
                      </a:r>
                    </a:p>
                    <a:p>
                      <a:pPr marL="179388" indent="-171450" algn="l">
                        <a:lnSpc>
                          <a:spcPts val="2100"/>
                        </a:lnSpc>
                        <a:buFont typeface="Arial" panose="020B0604020202020204" pitchFamily="34" charset="0"/>
                        <a:buChar char="•"/>
                        <a:tabLst/>
                      </a:pPr>
                      <a:endParaRPr lang="en-US" sz="1000" b="1" strike="noStrike" spc="-1" dirty="0"/>
                    </a:p>
                  </a:txBody>
                  <a:tcPr/>
                </a:tc>
                <a:tc>
                  <a:txBody>
                    <a:bodyPr/>
                    <a:lstStyle/>
                    <a:p>
                      <a:pPr marL="7938" indent="0" algn="l">
                        <a:lnSpc>
                          <a:spcPts val="2100"/>
                        </a:lnSpc>
                        <a:buFont typeface="Arial" panose="020B0604020202020204" pitchFamily="34" charset="0"/>
                        <a:buNone/>
                        <a:tabLst/>
                      </a:pPr>
                      <a:r>
                        <a:rPr lang="en-US" sz="1000" b="1" strike="noStrike" spc="-1" dirty="0"/>
                        <a:t>567 vCPUs</a:t>
                      </a:r>
                    </a:p>
                    <a:p>
                      <a:pPr marL="7938" indent="0" algn="l">
                        <a:lnSpc>
                          <a:spcPts val="2100"/>
                        </a:lnSpc>
                        <a:buFont typeface="Arial" panose="020B0604020202020204" pitchFamily="34" charset="0"/>
                        <a:buNone/>
                        <a:tabLst/>
                      </a:pPr>
                      <a:r>
                        <a:rPr lang="en-US" sz="1000" b="1" strike="noStrike" spc="-1" dirty="0"/>
                        <a:t>300 TB  of storage</a:t>
                      </a:r>
                    </a:p>
                    <a:p>
                      <a:pPr marL="179388" indent="-171450" algn="l">
                        <a:lnSpc>
                          <a:spcPts val="2100"/>
                        </a:lnSpc>
                        <a:buFont typeface="Arial" panose="020B0604020202020204" pitchFamily="34" charset="0"/>
                        <a:buChar char="•"/>
                        <a:tabLst/>
                      </a:pPr>
                      <a:endParaRPr lang="en-US" sz="1000" b="1" strike="noStrike" spc="-1" dirty="0"/>
                    </a:p>
                  </a:txBody>
                  <a:tcPr/>
                </a:tc>
                <a:tc>
                  <a:txBody>
                    <a:bodyPr/>
                    <a:lstStyle/>
                    <a:p>
                      <a:pPr marL="7938" indent="0" algn="l">
                        <a:lnSpc>
                          <a:spcPts val="2100"/>
                        </a:lnSpc>
                        <a:buFont typeface="Arial" panose="020B0604020202020204" pitchFamily="34" charset="0"/>
                        <a:buNone/>
                        <a:tabLst/>
                      </a:pPr>
                      <a:r>
                        <a:rPr lang="en-US" sz="1000" b="1" strike="noStrike" spc="-1" dirty="0"/>
                        <a:t>680 vCPUs</a:t>
                      </a:r>
                    </a:p>
                    <a:p>
                      <a:pPr marL="7938" indent="0" algn="l">
                        <a:lnSpc>
                          <a:spcPts val="2100"/>
                        </a:lnSpc>
                        <a:buFont typeface="Arial" panose="020B0604020202020204" pitchFamily="34" charset="0"/>
                        <a:buNone/>
                        <a:tabLst/>
                      </a:pPr>
                      <a:r>
                        <a:rPr lang="en-US" sz="1000" b="1" strike="noStrike" spc="-1" dirty="0"/>
                        <a:t>400 TB  of storage</a:t>
                      </a:r>
                    </a:p>
                  </a:txBody>
                  <a:tcPr/>
                </a:tc>
                <a:tc>
                  <a:txBody>
                    <a:bodyPr/>
                    <a:lstStyle/>
                    <a:p>
                      <a:pPr marL="7938" indent="0" algn="l">
                        <a:lnSpc>
                          <a:spcPts val="2100"/>
                        </a:lnSpc>
                        <a:buFont typeface="Arial" panose="020B0604020202020204" pitchFamily="34" charset="0"/>
                        <a:buNone/>
                        <a:tabLst/>
                      </a:pPr>
                      <a:r>
                        <a:rPr lang="en-US" sz="1000" b="1" strike="noStrike" spc="-1" dirty="0"/>
                        <a:t>816 vCPUs</a:t>
                      </a:r>
                    </a:p>
                    <a:p>
                      <a:pPr marL="7938" indent="0" algn="l">
                        <a:lnSpc>
                          <a:spcPts val="2100"/>
                        </a:lnSpc>
                        <a:buFont typeface="Arial" panose="020B0604020202020204" pitchFamily="34" charset="0"/>
                        <a:buNone/>
                        <a:tabLst/>
                      </a:pPr>
                      <a:r>
                        <a:rPr lang="en-US" sz="1000" b="1" strike="noStrike" spc="-1" dirty="0"/>
                        <a:t>600 TB  of storage</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000" b="0" strike="noStrike" spc="-1" dirty="0">
                        <a:solidFill>
                          <a:sysClr val="windowText" lastClr="000000"/>
                        </a:solidFill>
                        <a:latin typeface="+mn-lt"/>
                      </a:endParaRPr>
                    </a:p>
                  </a:txBody>
                  <a:tcPr/>
                </a:tc>
                <a:extLst>
                  <a:ext uri="{0D108BD9-81ED-4DB2-BD59-A6C34878D82A}">
                    <a16:rowId xmlns:a16="http://schemas.microsoft.com/office/drawing/2014/main" val="1269556809"/>
                  </a:ext>
                </a:extLst>
              </a:tr>
              <a:tr h="2069670">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Action</a:t>
                      </a:r>
                    </a:p>
                  </a:txBody>
                  <a:tcPr marL="53280" marR="53280" anchor="ctr">
                    <a:solidFill>
                      <a:schemeClr val="tx2"/>
                    </a:solidFill>
                  </a:tcPr>
                </a:tc>
                <a:tc>
                  <a:txBody>
                    <a:bodyPr/>
                    <a:lstStyle/>
                    <a:p>
                      <a:pPr marL="179388" indent="-171450" algn="l">
                        <a:lnSpc>
                          <a:spcPts val="2100"/>
                        </a:lnSpc>
                        <a:buFont typeface="Arial" panose="020B0604020202020204" pitchFamily="34" charset="0"/>
                        <a:buChar char="•"/>
                        <a:tabLst/>
                      </a:pPr>
                      <a:r>
                        <a:rPr lang="en-US" sz="1000" strike="noStrike" spc="-1" dirty="0"/>
                        <a:t>Liaise with </a:t>
                      </a:r>
                      <a:r>
                        <a:rPr lang="en-US" sz="1000" strike="noStrike" spc="-1" dirty="0" err="1"/>
                        <a:t>Ankabut</a:t>
                      </a:r>
                      <a:r>
                        <a:rPr lang="en-US" sz="1000" strike="noStrike" spc="-1" dirty="0"/>
                        <a:t> to migrate above workload and storage.</a:t>
                      </a:r>
                    </a:p>
                    <a:p>
                      <a:pPr marL="179388" indent="-171450" algn="l">
                        <a:lnSpc>
                          <a:spcPts val="2100"/>
                        </a:lnSpc>
                        <a:buFont typeface="Arial" panose="020B0604020202020204" pitchFamily="34" charset="0"/>
                        <a:buChar char="•"/>
                        <a:tabLst/>
                      </a:pPr>
                      <a:r>
                        <a:rPr lang="en-US" sz="1000" strike="noStrike" spc="-1" dirty="0"/>
                        <a:t>Purchase private cloud infrastructure to host above workload and allow for expansion and growth.</a:t>
                      </a:r>
                    </a:p>
                    <a:p>
                      <a:pPr marL="179388" indent="-171450" algn="l">
                        <a:lnSpc>
                          <a:spcPts val="2100"/>
                        </a:lnSpc>
                        <a:buFont typeface="Arial" panose="020B0604020202020204" pitchFamily="34" charset="0"/>
                        <a:buChar char="•"/>
                        <a:tabLst/>
                      </a:pPr>
                      <a:r>
                        <a:rPr lang="en-US" sz="1000" strike="noStrike" spc="-1" dirty="0"/>
                        <a:t>Important to note, budgeted amount based on assumption that KU can leverage existing </a:t>
                      </a:r>
                      <a:r>
                        <a:rPr lang="en-US" sz="1000" strike="noStrike" spc="-1" dirty="0" err="1"/>
                        <a:t>Ankabut</a:t>
                      </a:r>
                      <a:r>
                        <a:rPr lang="en-US" sz="1000" strike="noStrike" spc="-1" dirty="0"/>
                        <a:t> investment. As this is no longer the case budget estimates can be inaccurate at moment, and will be corrected in time.</a:t>
                      </a:r>
                    </a:p>
                  </a:txBody>
                  <a:tcPr marL="53280" marR="53280"/>
                </a:tc>
                <a:tc>
                  <a:txBody>
                    <a:bodyPr/>
                    <a:lstStyle/>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Expand private cloud vCPU provision by 20% and data storage by 30 % to allow for growing demand. </a:t>
                      </a:r>
                    </a:p>
                    <a:p>
                      <a:pPr marL="179388" marR="0" lvl="0" indent="-17145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Develop processes and criteria for resource allocation</a:t>
                      </a:r>
                    </a:p>
                    <a:p>
                      <a:pPr marL="179388" marR="0" lvl="0" indent="-17145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Liaise with colleagues in Research Department  and </a:t>
                      </a:r>
                      <a:r>
                        <a:rPr lang="en-US" sz="1000" b="0" strike="noStrike" kern="1200" spc="-1" dirty="0" err="1">
                          <a:solidFill>
                            <a:schemeClr val="tx1"/>
                          </a:solidFill>
                          <a:latin typeface="+mn-lt"/>
                          <a:ea typeface="+mn-ea"/>
                          <a:cs typeface="+mn-cs"/>
                        </a:rPr>
                        <a:t>Ankabut</a:t>
                      </a:r>
                      <a:r>
                        <a:rPr lang="en-US" sz="1000" b="0" strike="noStrike" kern="1200" spc="-1" dirty="0">
                          <a:solidFill>
                            <a:schemeClr val="tx1"/>
                          </a:solidFill>
                          <a:latin typeface="+mn-lt"/>
                          <a:ea typeface="+mn-ea"/>
                          <a:cs typeface="+mn-cs"/>
                        </a:rPr>
                        <a:t> to lobby KU Finance to create mechanism to use funds from research projects to purchase IT services from </a:t>
                      </a:r>
                      <a:r>
                        <a:rPr lang="en-US" sz="1000" b="0" strike="noStrike" kern="1200" spc="-1" dirty="0" err="1">
                          <a:solidFill>
                            <a:schemeClr val="tx1"/>
                          </a:solidFill>
                          <a:latin typeface="+mn-lt"/>
                          <a:ea typeface="+mn-ea"/>
                          <a:cs typeface="+mn-cs"/>
                        </a:rPr>
                        <a:t>Ankabut</a:t>
                      </a:r>
                      <a:r>
                        <a:rPr lang="en-US" sz="1000" b="0" strike="noStrike" kern="1200" spc="-1" dirty="0">
                          <a:solidFill>
                            <a:schemeClr val="tx1"/>
                          </a:solidFill>
                          <a:latin typeface="+mn-lt"/>
                          <a:ea typeface="+mn-ea"/>
                          <a:cs typeface="+mn-cs"/>
                        </a:rPr>
                        <a:t>, or to expand existing services.</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Form partnerships with Public Cloud providers to accommodate non-standard computational requirements, e.g. ASIC, FPGAs .., and test beds, and to complement KU offerings. Use OPEX to purchase public cloud services</a:t>
                      </a:r>
                    </a:p>
                  </a:txBody>
                  <a:tcPr/>
                </a:tc>
                <a:tc>
                  <a:txBody>
                    <a:bodyPr/>
                    <a:lstStyle/>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Expand private cloud provision by 20% and data storage by 30% allow for growing demand.</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Evaluate any services utilized on public cloud, to see if services should be provided at KU.</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Continue to work with Public Cloud providers to accommodate non-standard requirements.</a:t>
                      </a:r>
                    </a:p>
                  </a:txBody>
                  <a:tcPr/>
                </a:tc>
                <a:tc>
                  <a:txBody>
                    <a:bodyPr/>
                    <a:lstStyle/>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 Expand private cloud provision by 20% and data storage by 30%.</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Evaluate any services utilized on public cloud, to see if services should be provided at KU.</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Continue to work with Public Cloud providers </a:t>
                      </a:r>
                    </a:p>
                    <a:p>
                      <a:pPr marL="139700" marR="0" lvl="0" indent="-13970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Extend support for private cloud hardware to 2025</a:t>
                      </a:r>
                    </a:p>
                    <a:p>
                      <a:pPr marL="46038" indent="-38100" algn="l" defTabSz="914400" rtl="0" eaLnBrk="1" latinLnBrk="0" hangingPunct="1">
                        <a:lnSpc>
                          <a:spcPts val="2100"/>
                        </a:lnSpc>
                        <a:buFont typeface="Arial" panose="020B0604020202020204" pitchFamily="34" charset="0"/>
                        <a:buChar char="•"/>
                        <a:tabLst/>
                      </a:pPr>
                      <a:endParaRPr lang="en-US" sz="1000" b="0" strike="noStrike" kern="1200" spc="-1" dirty="0">
                        <a:solidFill>
                          <a:schemeClr val="tx1"/>
                        </a:solidFill>
                        <a:latin typeface="+mn-lt"/>
                        <a:ea typeface="+mn-ea"/>
                        <a:cs typeface="+mn-cs"/>
                      </a:endParaRPr>
                    </a:p>
                  </a:txBody>
                  <a:tcPr/>
                </a:tc>
                <a:tc>
                  <a:txBody>
                    <a:bodyPr/>
                    <a:lstStyle/>
                    <a:p>
                      <a:pPr marL="46038" indent="-381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Evaluate available technology.</a:t>
                      </a:r>
                    </a:p>
                    <a:p>
                      <a:pPr marL="46038" indent="-381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 Gather KU requirements.</a:t>
                      </a:r>
                    </a:p>
                    <a:p>
                      <a:pPr marL="139700" indent="-1397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Decide course of action; carry on expanding services or procure new services.</a:t>
                      </a:r>
                    </a:p>
                  </a:txBody>
                  <a:tcPr/>
                </a:tc>
                <a:extLst>
                  <a:ext uri="{0D108BD9-81ED-4DB2-BD59-A6C34878D82A}">
                    <a16:rowId xmlns:a16="http://schemas.microsoft.com/office/drawing/2014/main" val="2197836169"/>
                  </a:ext>
                </a:extLst>
              </a:tr>
              <a:tr h="125107">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CAPEX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2.9M AED (estimated)</a:t>
                      </a:r>
                    </a:p>
                  </a:txBody>
                  <a:tcPr marL="53280" marR="53280"/>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700K AED (estimated)</a:t>
                      </a: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700K AED (estimated)</a:t>
                      </a:r>
                    </a:p>
                  </a:txBody>
                  <a:tcPr marL="53280" marR="53280" anchor="ct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700K (estimated)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ysClr val="windowText" lastClr="000000"/>
                          </a:solidFill>
                          <a:latin typeface="+mn-lt"/>
                        </a:rPr>
                        <a:t>TBD</a:t>
                      </a:r>
                    </a:p>
                  </a:txBody>
                  <a:tcPr anchor="ctr">
                    <a:noFill/>
                  </a:tcPr>
                </a:tc>
                <a:extLst>
                  <a:ext uri="{0D108BD9-81ED-4DB2-BD59-A6C34878D82A}">
                    <a16:rowId xmlns:a16="http://schemas.microsoft.com/office/drawing/2014/main" val="4114277690"/>
                  </a:ext>
                </a:extLst>
              </a:tr>
              <a:tr h="220165">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OPEX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200K AED (estimated)</a:t>
                      </a: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200K AED (estimated)</a:t>
                      </a:r>
                    </a:p>
                  </a:txBody>
                  <a:tcPr marL="53280" marR="53280" anchor="ct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825K AED (estimated)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200K AED</a:t>
                      </a:r>
                    </a:p>
                  </a:txBody>
                  <a:tcPr>
                    <a:noFill/>
                  </a:tcPr>
                </a:tc>
                <a:extLst>
                  <a:ext uri="{0D108BD9-81ED-4DB2-BD59-A6C34878D82A}">
                    <a16:rowId xmlns:a16="http://schemas.microsoft.com/office/drawing/2014/main" val="1588018105"/>
                  </a:ext>
                </a:extLst>
              </a:tr>
            </a:tbl>
          </a:graphicData>
        </a:graphic>
      </p:graphicFrame>
    </p:spTree>
    <p:extLst>
      <p:ext uri="{BB962C8B-B14F-4D97-AF65-F5344CB8AC3E}">
        <p14:creationId xmlns:p14="http://schemas.microsoft.com/office/powerpoint/2010/main" val="830781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Goals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18</a:t>
            </a:fld>
            <a:endParaRPr lang="en-US" sz="850" b="0" strike="noStrike" spc="-1">
              <a:latin typeface="Arial"/>
            </a:endParaRPr>
          </a:p>
        </p:txBody>
      </p:sp>
      <p:sp>
        <p:nvSpPr>
          <p:cNvPr id="473" name="CustomShape 5"/>
          <p:cNvSpPr/>
          <p:nvPr/>
        </p:nvSpPr>
        <p:spPr>
          <a:xfrm>
            <a:off x="609480" y="1346760"/>
            <a:ext cx="10838808" cy="55112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High Performance Computing</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latin typeface="Arial"/>
              </a:rPr>
              <a:t>Replace current ageing cluster with an HPC cluster of adequate size to enable researchers to produce results in a timely manner as well as explore new research topics.</a:t>
            </a:r>
          </a:p>
          <a:p>
            <a:pPr marL="640080" lvl="1" indent="-182520">
              <a:spcBef>
                <a:spcPts val="1200"/>
              </a:spcBef>
              <a:buClr>
                <a:srgbClr val="0047BA"/>
              </a:buClr>
              <a:buSzPct val="65000"/>
              <a:buFont typeface="Wingdings" charset="2"/>
              <a:buChar char=""/>
            </a:pPr>
            <a:r>
              <a:rPr lang="en-US" sz="2000" spc="-1" dirty="0">
                <a:latin typeface="Arial"/>
              </a:rPr>
              <a:t>Allow researchers to develop skills and tools required to make use of larger scale HPC.</a:t>
            </a:r>
          </a:p>
          <a:p>
            <a:pPr marL="640080" lvl="1" indent="-182520">
              <a:spcBef>
                <a:spcPts val="1200"/>
              </a:spcBef>
              <a:buClr>
                <a:srgbClr val="0047BA"/>
              </a:buClr>
              <a:buSzPct val="65000"/>
              <a:buFont typeface="Wingdings" charset="2"/>
              <a:buChar char=""/>
            </a:pPr>
            <a:r>
              <a:rPr lang="en-US" sz="2000" spc="-1" dirty="0">
                <a:latin typeface="Arial"/>
              </a:rPr>
              <a:t>HPC should be accessible to all who require it, permit access to funded and unfunded research and researchers should be actively encouraged to use the service.</a:t>
            </a:r>
          </a:p>
          <a:p>
            <a:pPr marL="640080" lvl="1" indent="-182520">
              <a:spcBef>
                <a:spcPts val="1200"/>
              </a:spcBef>
              <a:buClr>
                <a:srgbClr val="0047BA"/>
              </a:buClr>
              <a:buSzPct val="65000"/>
              <a:buFont typeface="Wingdings" charset="2"/>
              <a:buChar char=""/>
            </a:pPr>
            <a:r>
              <a:rPr lang="en-US" sz="2000" spc="-1" dirty="0"/>
              <a:t>Establish mechanism to expand resources using external grant funding for projects that require a higher level of provision. These can be dedicated to the project or shared with a common pool.</a:t>
            </a:r>
            <a:endParaRPr lang="en-US" sz="2000" spc="-1" dirty="0">
              <a:latin typeface="Arial"/>
            </a:endParaRPr>
          </a:p>
          <a:p>
            <a:pPr marL="640080" lvl="1" indent="-182520">
              <a:spcBef>
                <a:spcPts val="1200"/>
              </a:spcBef>
              <a:buClr>
                <a:srgbClr val="0047BA"/>
              </a:buClr>
              <a:buSzPct val="65000"/>
              <a:buFont typeface="Wingdings" charset="2"/>
              <a:buChar char=""/>
            </a:pPr>
            <a:r>
              <a:rPr lang="en-US" sz="2000" spc="-1" dirty="0">
                <a:latin typeface="Arial"/>
              </a:rPr>
              <a:t>Assist researchers with accessing larger HPC resources, where appropriate. These could include large scale/national level HPC, such as at KAUST, or from commercial cloud providers.</a:t>
            </a:r>
          </a:p>
          <a:p>
            <a:pPr marL="640080" lvl="1" indent="-182520">
              <a:spcBef>
                <a:spcPts val="1200"/>
              </a:spcBef>
              <a:buClr>
                <a:srgbClr val="0047BA"/>
              </a:buClr>
              <a:buSzPct val="65000"/>
              <a:buFont typeface="Wingdings" charset="2"/>
              <a:buChar char=""/>
            </a:pPr>
            <a:endParaRPr lang="en-US" sz="2000" spc="-1" dirty="0">
              <a:latin typeface="Arial"/>
            </a:endParaRPr>
          </a:p>
        </p:txBody>
      </p:sp>
    </p:spTree>
    <p:extLst>
      <p:ext uri="{BB962C8B-B14F-4D97-AF65-F5344CB8AC3E}">
        <p14:creationId xmlns:p14="http://schemas.microsoft.com/office/powerpoint/2010/main" val="1182237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9380" y="53012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10140" y="687477"/>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360">
              <a:lnSpc>
                <a:spcPct val="100000"/>
              </a:lnSpc>
              <a:spcBef>
                <a:spcPts val="3169"/>
              </a:spcBef>
              <a:buClr>
                <a:srgbClr val="0047BA"/>
              </a:buClr>
              <a:buSzPct val="65000"/>
            </a:pPr>
            <a:r>
              <a:rPr lang="en-US" sz="3200" b="1" spc="-1" dirty="0">
                <a:solidFill>
                  <a:srgbClr val="0047BA"/>
                </a:solidFill>
              </a:rPr>
              <a:t>HPC Strategy 2021 - 2025</a:t>
            </a:r>
          </a:p>
        </p:txBody>
      </p:sp>
      <p:sp>
        <p:nvSpPr>
          <p:cNvPr id="471" name="CustomShape 3"/>
          <p:cNvSpPr/>
          <p:nvPr/>
        </p:nvSpPr>
        <p:spPr>
          <a:xfrm>
            <a:off x="4183500" y="28641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860" y="23132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19</a:t>
            </a:fld>
            <a:endParaRPr lang="en-US" sz="850" b="0" strike="noStrike" spc="-1">
              <a:latin typeface="Arial"/>
            </a:endParaRPr>
          </a:p>
        </p:txBody>
      </p:sp>
      <p:graphicFrame>
        <p:nvGraphicFramePr>
          <p:cNvPr id="7" name="Table 6">
            <a:extLst>
              <a:ext uri="{FF2B5EF4-FFF2-40B4-BE49-F238E27FC236}">
                <a16:creationId xmlns:a16="http://schemas.microsoft.com/office/drawing/2014/main" id="{07CB7E90-81AE-1E48-A8E5-C2C87FF16FD9}"/>
              </a:ext>
            </a:extLst>
          </p:cNvPr>
          <p:cNvGraphicFramePr>
            <a:graphicFrameLocks noGrp="1"/>
          </p:cNvGraphicFramePr>
          <p:nvPr>
            <p:extLst>
              <p:ext uri="{D42A27DB-BD31-4B8C-83A1-F6EECF244321}">
                <p14:modId xmlns:p14="http://schemas.microsoft.com/office/powerpoint/2010/main" val="3293645140"/>
              </p:ext>
            </p:extLst>
          </p:nvPr>
        </p:nvGraphicFramePr>
        <p:xfrm>
          <a:off x="291759" y="1183520"/>
          <a:ext cx="11272101" cy="5639436"/>
        </p:xfrm>
        <a:graphic>
          <a:graphicData uri="http://schemas.openxmlformats.org/drawingml/2006/table">
            <a:tbl>
              <a:tblPr firstRow="1" bandRow="1"/>
              <a:tblGrid>
                <a:gridCol w="1053445">
                  <a:extLst>
                    <a:ext uri="{9D8B030D-6E8A-4147-A177-3AD203B41FA5}">
                      <a16:colId xmlns:a16="http://schemas.microsoft.com/office/drawing/2014/main" val="557725123"/>
                    </a:ext>
                  </a:extLst>
                </a:gridCol>
                <a:gridCol w="3062641">
                  <a:extLst>
                    <a:ext uri="{9D8B030D-6E8A-4147-A177-3AD203B41FA5}">
                      <a16:colId xmlns:a16="http://schemas.microsoft.com/office/drawing/2014/main" val="3687805585"/>
                    </a:ext>
                  </a:extLst>
                </a:gridCol>
                <a:gridCol w="2206943">
                  <a:extLst>
                    <a:ext uri="{9D8B030D-6E8A-4147-A177-3AD203B41FA5}">
                      <a16:colId xmlns:a16="http://schemas.microsoft.com/office/drawing/2014/main" val="329039289"/>
                    </a:ext>
                  </a:extLst>
                </a:gridCol>
                <a:gridCol w="1781666">
                  <a:extLst>
                    <a:ext uri="{9D8B030D-6E8A-4147-A177-3AD203B41FA5}">
                      <a16:colId xmlns:a16="http://schemas.microsoft.com/office/drawing/2014/main" val="481703216"/>
                    </a:ext>
                  </a:extLst>
                </a:gridCol>
                <a:gridCol w="1687398">
                  <a:extLst>
                    <a:ext uri="{9D8B030D-6E8A-4147-A177-3AD203B41FA5}">
                      <a16:colId xmlns:a16="http://schemas.microsoft.com/office/drawing/2014/main" val="607956648"/>
                    </a:ext>
                  </a:extLst>
                </a:gridCol>
                <a:gridCol w="1480008">
                  <a:extLst>
                    <a:ext uri="{9D8B030D-6E8A-4147-A177-3AD203B41FA5}">
                      <a16:colId xmlns:a16="http://schemas.microsoft.com/office/drawing/2014/main" val="2615944219"/>
                    </a:ext>
                  </a:extLst>
                </a:gridCol>
              </a:tblGrid>
              <a:tr h="0">
                <a:tc>
                  <a:txBody>
                    <a:bodyPr/>
                    <a:lstStyle/>
                    <a:p>
                      <a:pPr algn="ctr"/>
                      <a:endParaRPr lang="en-US" sz="1000" b="1" dirty="0">
                        <a:solidFill>
                          <a:srgbClr val="FFFFFF"/>
                        </a:solidFill>
                      </a:endParaRPr>
                    </a:p>
                  </a:txBody>
                  <a:tcPr>
                    <a:noFill/>
                  </a:tcPr>
                </a:tc>
                <a:tc>
                  <a:txBody>
                    <a:bodyPr/>
                    <a:lstStyle/>
                    <a:p>
                      <a:pPr algn="ctr"/>
                      <a:r>
                        <a:rPr lang="en-US" sz="1000" b="1" dirty="0">
                          <a:solidFill>
                            <a:srgbClr val="FFFFFF"/>
                          </a:solidFill>
                        </a:rPr>
                        <a:t>2021</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2022</a:t>
                      </a:r>
                    </a:p>
                  </a:txBody>
                  <a:tcPr>
                    <a:solidFill>
                      <a:srgbClr val="0047BA"/>
                    </a:solidFill>
                  </a:tcPr>
                </a:tc>
                <a:tc>
                  <a:txBody>
                    <a:bodyPr/>
                    <a:lstStyle/>
                    <a:p>
                      <a:pPr algn="ctr"/>
                      <a:r>
                        <a:rPr lang="en-US" sz="1000" b="1" dirty="0">
                          <a:solidFill>
                            <a:srgbClr val="FFFFFF"/>
                          </a:solidFill>
                        </a:rPr>
                        <a:t>2023</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2024</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2025</a:t>
                      </a:r>
                    </a:p>
                  </a:txBody>
                  <a:tcPr>
                    <a:solidFill>
                      <a:srgbClr val="0047BA"/>
                    </a:solidFill>
                  </a:tcPr>
                </a:tc>
                <a:extLst>
                  <a:ext uri="{0D108BD9-81ED-4DB2-BD59-A6C34878D82A}">
                    <a16:rowId xmlns:a16="http://schemas.microsoft.com/office/drawing/2014/main" val="667571679"/>
                  </a:ext>
                </a:extLst>
              </a:tr>
              <a:tr h="1298967">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HPC provision</a:t>
                      </a:r>
                    </a:p>
                  </a:txBody>
                  <a:tcPr marL="53280" marR="53280" anchor="ctr">
                    <a:solidFill>
                      <a:schemeClr val="tx2"/>
                    </a:solidFill>
                  </a:tcPr>
                </a:tc>
                <a:tc>
                  <a:txBody>
                    <a:bodyPr/>
                    <a:lstStyle/>
                    <a:p>
                      <a:pPr marL="7938" indent="0" algn="l">
                        <a:lnSpc>
                          <a:spcPts val="2100"/>
                        </a:lnSpc>
                        <a:buFont typeface="Arial" panose="020B0604020202020204" pitchFamily="34" charset="0"/>
                        <a:buNone/>
                        <a:tabLst/>
                      </a:pPr>
                      <a:r>
                        <a:rPr lang="en-US" sz="1000" b="1" strike="noStrike" spc="-1" dirty="0"/>
                        <a:t>88 CPU </a:t>
                      </a:r>
                      <a:r>
                        <a:rPr lang="en-US" sz="1000" strike="noStrike" spc="-1" dirty="0"/>
                        <a:t>nodes ( </a:t>
                      </a:r>
                      <a:r>
                        <a:rPr lang="en-US" sz="1000" b="0" strike="noStrike" spc="-1" dirty="0"/>
                        <a:t>4,576 CPU cores</a:t>
                      </a:r>
                      <a:r>
                        <a:rPr lang="en-US" sz="1000" strike="noStrike" spc="-1" dirty="0"/>
                        <a:t>)</a:t>
                      </a:r>
                    </a:p>
                    <a:p>
                      <a:pPr marL="7938" indent="0" algn="l">
                        <a:lnSpc>
                          <a:spcPts val="2100"/>
                        </a:lnSpc>
                        <a:buFont typeface="Arial" panose="020B0604020202020204" pitchFamily="34" charset="0"/>
                        <a:buNone/>
                        <a:tabLst/>
                      </a:pPr>
                      <a:r>
                        <a:rPr lang="en-US" sz="1000" b="1" strike="noStrike" spc="-1" dirty="0"/>
                        <a:t>3 GPU </a:t>
                      </a:r>
                      <a:r>
                        <a:rPr lang="en-US" sz="1000" strike="noStrike" spc="-1" dirty="0"/>
                        <a:t>nodes (</a:t>
                      </a:r>
                      <a:r>
                        <a:rPr lang="en-US" sz="1000" b="0" strike="noStrike" spc="-1" dirty="0"/>
                        <a:t>12 GPU Nvidia V100 cards, 156 CPU cores)</a:t>
                      </a:r>
                    </a:p>
                    <a:p>
                      <a:pPr marL="7938" indent="0" algn="l">
                        <a:lnSpc>
                          <a:spcPts val="2100"/>
                        </a:lnSpc>
                        <a:buFont typeface="Arial" panose="020B0604020202020204" pitchFamily="34" charset="0"/>
                        <a:buNone/>
                        <a:tabLst/>
                      </a:pPr>
                      <a:r>
                        <a:rPr lang="en-US" sz="1000" b="1" strike="noStrike" spc="-1" dirty="0"/>
                        <a:t>300 TB </a:t>
                      </a:r>
                      <a:r>
                        <a:rPr lang="en-US" sz="1000" strike="noStrike" spc="-1" dirty="0"/>
                        <a:t>/home storage</a:t>
                      </a:r>
                    </a:p>
                    <a:p>
                      <a:pPr marL="7938" indent="0" algn="l">
                        <a:lnSpc>
                          <a:spcPts val="2100"/>
                        </a:lnSpc>
                        <a:buFont typeface="Arial" panose="020B0604020202020204" pitchFamily="34" charset="0"/>
                        <a:buNone/>
                        <a:tabLst/>
                      </a:pPr>
                      <a:r>
                        <a:rPr lang="en-US" sz="1000" b="1" strike="noStrike" spc="-1" dirty="0"/>
                        <a:t>974 TB </a:t>
                      </a:r>
                      <a:r>
                        <a:rPr lang="en-US" sz="1000" strike="noStrike" spc="-1" dirty="0"/>
                        <a:t>/scratch storage</a:t>
                      </a:r>
                    </a:p>
                  </a:txBody>
                  <a:tcPr marL="53280" marR="53280"/>
                </a:tc>
                <a:tc>
                  <a:txBody>
                    <a:bodyPr/>
                    <a:lstStyle/>
                    <a:p>
                      <a:pPr marL="7938" indent="0" algn="justLow"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118 CPU </a:t>
                      </a:r>
                      <a:r>
                        <a:rPr lang="en-US" sz="1000" b="0" strike="noStrike" kern="1200" spc="-1" dirty="0">
                          <a:solidFill>
                            <a:schemeClr val="tx1"/>
                          </a:solidFill>
                          <a:latin typeface="+mn-lt"/>
                          <a:ea typeface="+mn-ea"/>
                          <a:cs typeface="+mn-cs"/>
                        </a:rPr>
                        <a:t>nodes (6,136 CPU cores)</a:t>
                      </a:r>
                    </a:p>
                    <a:p>
                      <a:pPr marL="7938" indent="0" algn="justLow"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5 GPU </a:t>
                      </a:r>
                      <a:r>
                        <a:rPr lang="en-US" sz="1000" b="0" strike="noStrike" kern="1200" spc="-1" dirty="0">
                          <a:solidFill>
                            <a:schemeClr val="tx1"/>
                          </a:solidFill>
                          <a:latin typeface="+mn-lt"/>
                          <a:ea typeface="+mn-ea"/>
                          <a:cs typeface="+mn-cs"/>
                        </a:rPr>
                        <a:t>nodes (20 GPU Nvidia V100 cards, 260 CPU cores)</a:t>
                      </a:r>
                    </a:p>
                    <a:p>
                      <a:pPr marL="7938" indent="0" algn="justLow"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500TB</a:t>
                      </a:r>
                      <a:r>
                        <a:rPr lang="en-US" sz="1000" b="0" strike="noStrike" kern="1200" spc="-1" dirty="0">
                          <a:solidFill>
                            <a:schemeClr val="tx1"/>
                          </a:solidFill>
                          <a:latin typeface="+mn-lt"/>
                          <a:ea typeface="+mn-ea"/>
                          <a:cs typeface="+mn-cs"/>
                        </a:rPr>
                        <a:t> /home storage</a:t>
                      </a:r>
                    </a:p>
                    <a:p>
                      <a:pPr marL="7938" indent="0" algn="justLow"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/scratch storage</a:t>
                      </a: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140 CPU nodes </a:t>
                      </a:r>
                      <a:r>
                        <a:rPr lang="en-US" sz="1000" b="0" strike="noStrike" kern="1200" spc="-1" dirty="0">
                          <a:solidFill>
                            <a:schemeClr val="tx1"/>
                          </a:solidFill>
                          <a:latin typeface="+mn-lt"/>
                          <a:ea typeface="+mn-ea"/>
                          <a:cs typeface="+mn-cs"/>
                        </a:rPr>
                        <a:t>(7,280 CPU cores)</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5 GPU </a:t>
                      </a:r>
                      <a:r>
                        <a:rPr lang="en-US" sz="1000" b="0" strike="noStrike" kern="1200" spc="-1" dirty="0">
                          <a:solidFill>
                            <a:schemeClr val="tx1"/>
                          </a:solidFill>
                          <a:latin typeface="+mn-lt"/>
                          <a:ea typeface="+mn-ea"/>
                          <a:cs typeface="+mn-cs"/>
                        </a:rPr>
                        <a:t>nodes</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700TB</a:t>
                      </a:r>
                      <a:r>
                        <a:rPr lang="en-US" sz="1000" b="0" strike="noStrike" kern="1200" spc="-1" dirty="0">
                          <a:solidFill>
                            <a:schemeClr val="tx1"/>
                          </a:solidFill>
                          <a:latin typeface="+mn-lt"/>
                          <a:ea typeface="+mn-ea"/>
                          <a:cs typeface="+mn-cs"/>
                        </a:rPr>
                        <a:t> /home storage</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/scratch storage</a:t>
                      </a: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140 CPU nodes</a:t>
                      </a:r>
                      <a:endParaRPr lang="en-US" sz="1000" b="0" strike="noStrike" kern="1200" spc="-1" dirty="0">
                        <a:solidFill>
                          <a:schemeClr val="tx1"/>
                        </a:solidFill>
                        <a:latin typeface="+mn-lt"/>
                        <a:ea typeface="+mn-ea"/>
                        <a:cs typeface="+mn-cs"/>
                      </a:endParaRP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5 GPU </a:t>
                      </a:r>
                      <a:r>
                        <a:rPr lang="en-US" sz="1000" b="0" strike="noStrike" kern="1200" spc="-1" dirty="0">
                          <a:solidFill>
                            <a:schemeClr val="tx1"/>
                          </a:solidFill>
                          <a:latin typeface="+mn-lt"/>
                          <a:ea typeface="+mn-ea"/>
                          <a:cs typeface="+mn-cs"/>
                        </a:rPr>
                        <a:t>nodes</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700TB</a:t>
                      </a:r>
                      <a:r>
                        <a:rPr lang="en-US" sz="1000" b="0" strike="noStrike" kern="1200" spc="-1" dirty="0">
                          <a:solidFill>
                            <a:schemeClr val="tx1"/>
                          </a:solidFill>
                          <a:latin typeface="+mn-lt"/>
                          <a:ea typeface="+mn-ea"/>
                          <a:cs typeface="+mn-cs"/>
                        </a:rPr>
                        <a:t> /home storage</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/scratch storage</a:t>
                      </a: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140 CPU nodes</a:t>
                      </a:r>
                      <a:endParaRPr lang="en-US" sz="1000" b="0" strike="noStrike" kern="1200" spc="-1" dirty="0">
                        <a:solidFill>
                          <a:schemeClr val="tx1"/>
                        </a:solidFill>
                        <a:latin typeface="+mn-lt"/>
                        <a:ea typeface="+mn-ea"/>
                        <a:cs typeface="+mn-cs"/>
                      </a:endParaRP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5 GPU </a:t>
                      </a:r>
                      <a:r>
                        <a:rPr lang="en-US" sz="1000" b="0" strike="noStrike" kern="1200" spc="-1" dirty="0">
                          <a:solidFill>
                            <a:schemeClr val="tx1"/>
                          </a:solidFill>
                          <a:latin typeface="+mn-lt"/>
                          <a:ea typeface="+mn-ea"/>
                          <a:cs typeface="+mn-cs"/>
                        </a:rPr>
                        <a:t>nodes</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700TB</a:t>
                      </a:r>
                      <a:r>
                        <a:rPr lang="en-US" sz="1000" b="0" strike="noStrike" kern="1200" spc="-1" dirty="0">
                          <a:solidFill>
                            <a:schemeClr val="tx1"/>
                          </a:solidFill>
                          <a:latin typeface="+mn-lt"/>
                          <a:ea typeface="+mn-ea"/>
                          <a:cs typeface="+mn-cs"/>
                        </a:rPr>
                        <a:t> /home storage</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/scratch storage</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000" b="0" strike="noStrike" spc="-1" dirty="0">
                        <a:solidFill>
                          <a:sysClr val="windowText" lastClr="000000"/>
                        </a:solidFill>
                        <a:latin typeface="+mn-lt"/>
                      </a:endParaRPr>
                    </a:p>
                  </a:txBody>
                  <a:tcPr/>
                </a:tc>
                <a:extLst>
                  <a:ext uri="{0D108BD9-81ED-4DB2-BD59-A6C34878D82A}">
                    <a16:rowId xmlns:a16="http://schemas.microsoft.com/office/drawing/2014/main" val="1269556809"/>
                  </a:ext>
                </a:extLst>
              </a:tr>
              <a:tr h="2693829">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Action</a:t>
                      </a:r>
                    </a:p>
                  </a:txBody>
                  <a:tcPr marL="53280" marR="53280" anchor="ctr">
                    <a:solidFill>
                      <a:schemeClr val="tx2"/>
                    </a:solidFill>
                  </a:tcPr>
                </a:tc>
                <a:tc>
                  <a:txBody>
                    <a:bodyPr/>
                    <a:lstStyle/>
                    <a:p>
                      <a:pPr marL="7938" indent="0" algn="l">
                        <a:lnSpc>
                          <a:spcPts val="2100"/>
                        </a:lnSpc>
                        <a:buFont typeface="Arial" panose="020B0604020202020204" pitchFamily="34" charset="0"/>
                        <a:buNone/>
                        <a:tabLst/>
                      </a:pPr>
                      <a:r>
                        <a:rPr lang="en-US" sz="1000" b="0" strike="noStrike" spc="-1" dirty="0"/>
                        <a:t>Expand HPC by:</a:t>
                      </a:r>
                    </a:p>
                    <a:p>
                      <a:pPr marL="450850" indent="-169863" algn="l">
                        <a:lnSpc>
                          <a:spcPts val="2100"/>
                        </a:lnSpc>
                        <a:buFont typeface="Arial" panose="020B0604020202020204" pitchFamily="34" charset="0"/>
                        <a:buChar char="•"/>
                        <a:tabLst/>
                      </a:pPr>
                      <a:r>
                        <a:rPr lang="en-US" sz="1000" b="1" strike="noStrike" spc="-1" dirty="0"/>
                        <a:t>30 CPU </a:t>
                      </a:r>
                      <a:r>
                        <a:rPr lang="en-US" sz="1000" strike="noStrike" spc="-1" dirty="0"/>
                        <a:t>nodes (1,560 CPU cores)</a:t>
                      </a:r>
                    </a:p>
                    <a:p>
                      <a:pPr marL="450850" indent="-169863" algn="l">
                        <a:lnSpc>
                          <a:spcPts val="2100"/>
                        </a:lnSpc>
                        <a:buFont typeface="Arial" panose="020B0604020202020204" pitchFamily="34" charset="0"/>
                        <a:buChar char="•"/>
                        <a:tabLst/>
                      </a:pPr>
                      <a:r>
                        <a:rPr lang="en-US" sz="1000" b="1" strike="noStrike" spc="-1" dirty="0"/>
                        <a:t>2 GPU </a:t>
                      </a:r>
                      <a:r>
                        <a:rPr lang="en-US" sz="1000" strike="noStrike" spc="-1" dirty="0"/>
                        <a:t>nodes (8 GPU Nvidia V100 cards, 104 CPU cores)</a:t>
                      </a:r>
                    </a:p>
                    <a:p>
                      <a:pPr marL="450850" indent="-169863" algn="l">
                        <a:lnSpc>
                          <a:spcPts val="2100"/>
                        </a:lnSpc>
                        <a:buFont typeface="Arial" panose="020B0604020202020204" pitchFamily="34" charset="0"/>
                        <a:buChar char="•"/>
                        <a:tabLst/>
                      </a:pPr>
                      <a:r>
                        <a:rPr lang="en-US" sz="1000" b="1" strike="noStrike" spc="-1" dirty="0"/>
                        <a:t>200 TB </a:t>
                      </a:r>
                      <a:r>
                        <a:rPr lang="en-US" sz="1000" strike="noStrike" spc="-1" dirty="0"/>
                        <a:t>/home storge</a:t>
                      </a:r>
                    </a:p>
                    <a:p>
                      <a:pPr marL="450850" indent="-169863" algn="l">
                        <a:lnSpc>
                          <a:spcPts val="2100"/>
                        </a:lnSpc>
                        <a:buFont typeface="Arial" panose="020B0604020202020204" pitchFamily="34" charset="0"/>
                        <a:buChar char="•"/>
                        <a:tabLst/>
                      </a:pPr>
                      <a:endParaRPr lang="en-US" sz="1000" strike="noStrike" spc="-1" dirty="0"/>
                    </a:p>
                    <a:p>
                      <a:pPr marL="280987" indent="0" algn="l">
                        <a:lnSpc>
                          <a:spcPts val="2100"/>
                        </a:lnSpc>
                        <a:buFont typeface="Arial" panose="020B0604020202020204" pitchFamily="34" charset="0"/>
                        <a:buNone/>
                        <a:tabLst/>
                      </a:pPr>
                      <a:endParaRPr lang="en-US" sz="1000" strike="noStrike" spc="-1" dirty="0"/>
                    </a:p>
                  </a:txBody>
                  <a:tcPr marL="53280" marR="53280"/>
                </a:tc>
                <a:tc>
                  <a:txBody>
                    <a:bodyPr/>
                    <a:lstStyle/>
                    <a:p>
                      <a:pPr marL="271463" indent="-271463" algn="justLow" defTabSz="914400" rtl="0" eaLnBrk="1" latinLnBrk="0" hangingPunct="1">
                        <a:lnSpc>
                          <a:spcPts val="2100"/>
                        </a:lnSpc>
                        <a:buFont typeface="Arial" panose="020B0604020202020204" pitchFamily="34" charset="0"/>
                        <a:buNone/>
                        <a:tabLst/>
                      </a:pPr>
                      <a:r>
                        <a:rPr lang="en-US" sz="1000" b="0" strike="noStrike" kern="1200" spc="-1" dirty="0">
                          <a:solidFill>
                            <a:schemeClr val="tx1"/>
                          </a:solidFill>
                          <a:latin typeface="+mn-lt"/>
                          <a:ea typeface="+mn-ea"/>
                          <a:cs typeface="+mn-cs"/>
                        </a:rPr>
                        <a:t>Expand HPC by:</a:t>
                      </a:r>
                    </a:p>
                    <a:p>
                      <a:pPr marL="450850" indent="-179388" algn="justLow" defTabSz="914400" rtl="0" eaLnBrk="1" latinLnBrk="0" hangingPunct="1">
                        <a:lnSpc>
                          <a:spcPts val="2100"/>
                        </a:lnSpc>
                        <a:buFont typeface="Arial" panose="020B0604020202020204" pitchFamily="34" charset="0"/>
                        <a:buChar char="•"/>
                        <a:tabLst/>
                      </a:pPr>
                      <a:r>
                        <a:rPr lang="en-US" sz="1000" b="1" strike="noStrike" kern="1200" spc="-1" dirty="0">
                          <a:solidFill>
                            <a:schemeClr val="tx1"/>
                          </a:solidFill>
                          <a:latin typeface="+mn-lt"/>
                          <a:ea typeface="+mn-ea"/>
                          <a:cs typeface="+mn-cs"/>
                        </a:rPr>
                        <a:t>22 CPU </a:t>
                      </a:r>
                      <a:r>
                        <a:rPr lang="en-US" sz="1000" b="0" strike="noStrike" kern="1200" spc="-1" dirty="0">
                          <a:solidFill>
                            <a:schemeClr val="tx1"/>
                          </a:solidFill>
                          <a:latin typeface="+mn-lt"/>
                          <a:ea typeface="+mn-ea"/>
                          <a:cs typeface="+mn-cs"/>
                        </a:rPr>
                        <a:t>nodes (1,040 CPU Cores)</a:t>
                      </a:r>
                    </a:p>
                    <a:p>
                      <a:pPr marL="450850" indent="-179388" algn="justLow" defTabSz="914400" rtl="0" eaLnBrk="1" latinLnBrk="0" hangingPunct="1">
                        <a:lnSpc>
                          <a:spcPts val="2100"/>
                        </a:lnSpc>
                        <a:buFont typeface="Arial" panose="020B0604020202020204" pitchFamily="34" charset="0"/>
                        <a:buChar char="•"/>
                        <a:tabLst/>
                      </a:pPr>
                      <a:r>
                        <a:rPr lang="en-US" sz="1000" b="1" strike="noStrike" kern="1200" spc="-1" dirty="0">
                          <a:solidFill>
                            <a:schemeClr val="tx1"/>
                          </a:solidFill>
                          <a:latin typeface="+mn-lt"/>
                          <a:ea typeface="+mn-ea"/>
                          <a:cs typeface="+mn-cs"/>
                        </a:rPr>
                        <a:t>200 TB </a:t>
                      </a:r>
                      <a:r>
                        <a:rPr lang="en-US" sz="1000" b="0" strike="noStrike" kern="1200" spc="-1" dirty="0">
                          <a:solidFill>
                            <a:schemeClr val="tx1"/>
                          </a:solidFill>
                          <a:latin typeface="+mn-lt"/>
                          <a:ea typeface="+mn-ea"/>
                          <a:cs typeface="+mn-cs"/>
                        </a:rPr>
                        <a:t>/home storage</a:t>
                      </a:r>
                      <a:endParaRPr lang="en-US" sz="1000" b="1" strike="noStrike" kern="1200" spc="-1" dirty="0">
                        <a:solidFill>
                          <a:schemeClr val="tx1"/>
                        </a:solidFill>
                        <a:latin typeface="+mn-lt"/>
                        <a:ea typeface="+mn-ea"/>
                        <a:cs typeface="+mn-cs"/>
                      </a:endParaRPr>
                    </a:p>
                    <a:p>
                      <a:pPr marL="46038" indent="-46038" algn="justLow" defTabSz="914400" rtl="0" eaLnBrk="1" latinLnBrk="0" hangingPunct="1">
                        <a:lnSpc>
                          <a:spcPts val="2100"/>
                        </a:lnSpc>
                        <a:buFont typeface="Arial" panose="020B0604020202020204" pitchFamily="34" charset="0"/>
                        <a:buNone/>
                        <a:tabLst/>
                      </a:pPr>
                      <a:endParaRPr lang="en-US" sz="1000" b="0" strike="noStrike" kern="1200" spc="-1" dirty="0">
                        <a:solidFill>
                          <a:schemeClr val="tx1"/>
                        </a:solidFill>
                        <a:latin typeface="+mn-lt"/>
                        <a:ea typeface="+mn-ea"/>
                        <a:cs typeface="+mn-cs"/>
                      </a:endParaRPr>
                    </a:p>
                    <a:p>
                      <a:pPr marL="46038" marR="0" lvl="0" indent="-46038" algn="justLow"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0" strike="noStrike" kern="1200" spc="-1" dirty="0">
                          <a:solidFill>
                            <a:schemeClr val="tx1"/>
                          </a:solidFill>
                          <a:latin typeface="+mn-lt"/>
                          <a:ea typeface="+mn-ea"/>
                          <a:cs typeface="+mn-cs"/>
                        </a:rPr>
                        <a:t>Operate HPC, gather evidence and data on usage and demands</a:t>
                      </a:r>
                    </a:p>
                    <a:p>
                      <a:pPr marL="46038" indent="-46038" algn="justLow" defTabSz="914400" rtl="0" eaLnBrk="1" latinLnBrk="0" hangingPunct="1">
                        <a:lnSpc>
                          <a:spcPts val="2100"/>
                        </a:lnSpc>
                        <a:buFont typeface="Arial" panose="020B0604020202020204" pitchFamily="34" charset="0"/>
                        <a:buNone/>
                        <a:tabLst/>
                      </a:pPr>
                      <a:endParaRPr lang="en-US" sz="1000" b="0" strike="noStrike" kern="1200" spc="-1"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0" strike="noStrike" kern="1200" spc="-1" dirty="0">
                          <a:solidFill>
                            <a:schemeClr val="tx1"/>
                          </a:solidFill>
                          <a:latin typeface="+mn-lt"/>
                          <a:ea typeface="+mn-ea"/>
                          <a:cs typeface="+mn-cs"/>
                        </a:rPr>
                        <a:t>Operate HPC, gather evidence and data on usage and demands</a:t>
                      </a:r>
                    </a:p>
                    <a:p>
                      <a:pPr algn="l" defTabSz="914400" rtl="0" eaLnBrk="1" latinLnBrk="0" hangingPunct="1">
                        <a:lnSpc>
                          <a:spcPts val="2100"/>
                        </a:lnSpc>
                      </a:pPr>
                      <a:endParaRPr lang="en-US" sz="1000" b="1" strike="noStrike" kern="1200" spc="-1" dirty="0">
                        <a:solidFill>
                          <a:schemeClr val="tx1"/>
                        </a:solidFill>
                        <a:latin typeface="+mn-lt"/>
                        <a:ea typeface="+mn-ea"/>
                        <a:cs typeface="+mn-cs"/>
                      </a:endParaRPr>
                    </a:p>
                  </a:txBody>
                  <a:tcPr/>
                </a:tc>
                <a:tc>
                  <a:txBody>
                    <a:bodyPr/>
                    <a:lstStyle/>
                    <a:p>
                      <a:pPr marL="46038" indent="-381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Form task force to evaluate available technology.</a:t>
                      </a:r>
                    </a:p>
                    <a:p>
                      <a:pPr marL="46038" indent="-381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 Gather KU requirements.</a:t>
                      </a:r>
                    </a:p>
                    <a:p>
                      <a:pPr marL="139700" indent="-1397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Decide course of action; replace HPC cluster or upgrade if possible.</a:t>
                      </a:r>
                    </a:p>
                    <a:p>
                      <a:pPr marL="139700" indent="-1397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Extend support for HPC hardware to 2025</a:t>
                      </a:r>
                    </a:p>
                    <a:p>
                      <a:pPr marL="139700" indent="-139700" algn="l" defTabSz="914400" rtl="0" eaLnBrk="1" latinLnBrk="0" hangingPunct="1">
                        <a:lnSpc>
                          <a:spcPts val="2100"/>
                        </a:lnSpc>
                        <a:buFont typeface="Arial" panose="020B0604020202020204" pitchFamily="34" charset="0"/>
                        <a:buChar char="•"/>
                        <a:tabLst/>
                      </a:pPr>
                      <a:endParaRPr lang="en-US" sz="1000" b="0" strike="noStrike" kern="1200" spc="-1"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strike="noStrike" kern="1200" spc="-1" dirty="0">
                          <a:solidFill>
                            <a:schemeClr val="tx1"/>
                          </a:solidFill>
                          <a:latin typeface="+mn-lt"/>
                          <a:ea typeface="+mn-ea"/>
                          <a:cs typeface="+mn-cs"/>
                        </a:rPr>
                        <a:t>Upgrade or replace HPC based on requirements and demands.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strike="noStrike" kern="1200" spc="-1"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strike="noStrike" kern="1200" spc="-1" dirty="0">
                          <a:solidFill>
                            <a:schemeClr val="tx1"/>
                          </a:solidFill>
                          <a:latin typeface="+mn-lt"/>
                          <a:ea typeface="+mn-ea"/>
                          <a:cs typeface="+mn-cs"/>
                        </a:rPr>
                        <a:t>May require changes to Datacenter as regards cooling and power provision to racks. This will incur a cost</a:t>
                      </a:r>
                    </a:p>
                  </a:txBody>
                  <a:tcPr/>
                </a:tc>
                <a:extLst>
                  <a:ext uri="{0D108BD9-81ED-4DB2-BD59-A6C34878D82A}">
                    <a16:rowId xmlns:a16="http://schemas.microsoft.com/office/drawing/2014/main" val="2197836169"/>
                  </a:ext>
                </a:extLst>
              </a:tr>
              <a:tr h="125107">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CAPEX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3M AED </a:t>
                      </a:r>
                      <a:r>
                        <a:rPr lang="en-US" sz="1000" b="0" strike="noStrike" kern="1200" spc="-1" dirty="0">
                          <a:solidFill>
                            <a:schemeClr val="tx1"/>
                          </a:solidFill>
                          <a:latin typeface="+mn-lt"/>
                          <a:ea typeface="+mn-ea"/>
                          <a:cs typeface="+mn-cs"/>
                        </a:rPr>
                        <a:t>(estimated)</a:t>
                      </a:r>
                    </a:p>
                  </a:txBody>
                  <a:tcPr marL="53280" marR="53280"/>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2M AED </a:t>
                      </a:r>
                      <a:r>
                        <a:rPr lang="en-US" sz="1000" b="0" strike="noStrike" kern="1200" spc="-1" dirty="0">
                          <a:solidFill>
                            <a:schemeClr val="tx1"/>
                          </a:solidFill>
                          <a:latin typeface="Arial"/>
                          <a:ea typeface="DejaVu Sans"/>
                          <a:cs typeface="DejaVu Sans"/>
                        </a:rPr>
                        <a:t>(estimated)</a:t>
                      </a:r>
                      <a:endParaRPr lang="en-US" sz="1000" b="1" strike="noStrike" kern="1200" spc="-1" dirty="0">
                        <a:solidFill>
                          <a:schemeClr val="tx1"/>
                        </a:solidFill>
                        <a:latin typeface="+mn-lt"/>
                        <a:ea typeface="+mn-ea"/>
                        <a:cs typeface="+mn-cs"/>
                      </a:endParaRPr>
                    </a:p>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nchor="ct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ysClr val="windowText" lastClr="000000"/>
                          </a:solidFill>
                          <a:latin typeface="+mn-lt"/>
                        </a:rPr>
                        <a:t>TBD</a:t>
                      </a:r>
                    </a:p>
                  </a:txBody>
                  <a:tcPr anchor="ctr">
                    <a:noFill/>
                  </a:tcPr>
                </a:tc>
                <a:extLst>
                  <a:ext uri="{0D108BD9-81ED-4DB2-BD59-A6C34878D82A}">
                    <a16:rowId xmlns:a16="http://schemas.microsoft.com/office/drawing/2014/main" val="4114277690"/>
                  </a:ext>
                </a:extLst>
              </a:tr>
              <a:tr h="220165">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OPEX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nchor="ct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1.2M AED </a:t>
                      </a:r>
                      <a:r>
                        <a:rPr lang="en-US" sz="1000" b="0" strike="noStrike" kern="1200" spc="-1" dirty="0">
                          <a:solidFill>
                            <a:schemeClr val="tx1"/>
                          </a:solidFill>
                          <a:latin typeface="+mn-lt"/>
                          <a:ea typeface="+mn-ea"/>
                          <a:cs typeface="+mn-cs"/>
                        </a:rPr>
                        <a:t>(estimated)</a:t>
                      </a:r>
                      <a:endParaRPr lang="en-US" sz="1000" b="1" strike="noStrike" kern="1200" spc="-1"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1.2M AED </a:t>
                      </a:r>
                      <a:r>
                        <a:rPr lang="en-US" sz="1000" b="0" strike="noStrike" kern="1200" spc="-1" dirty="0">
                          <a:solidFill>
                            <a:schemeClr val="tx1"/>
                          </a:solidFill>
                          <a:latin typeface="+mn-lt"/>
                          <a:ea typeface="+mn-ea"/>
                          <a:cs typeface="+mn-cs"/>
                        </a:rPr>
                        <a:t>(estimated)</a:t>
                      </a:r>
                      <a:endParaRPr lang="en-US" sz="1000" b="1" strike="noStrike" kern="1200" spc="-1" dirty="0">
                        <a:solidFill>
                          <a:schemeClr val="tx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a:noFill/>
                  </a:tcPr>
                </a:tc>
                <a:extLst>
                  <a:ext uri="{0D108BD9-81ED-4DB2-BD59-A6C34878D82A}">
                    <a16:rowId xmlns:a16="http://schemas.microsoft.com/office/drawing/2014/main" val="1588018105"/>
                  </a:ext>
                </a:extLst>
              </a:tr>
            </a:tbl>
          </a:graphicData>
        </a:graphic>
      </p:graphicFrame>
    </p:spTree>
    <p:extLst>
      <p:ext uri="{BB962C8B-B14F-4D97-AF65-F5344CB8AC3E}">
        <p14:creationId xmlns:p14="http://schemas.microsoft.com/office/powerpoint/2010/main" val="4831083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Goals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20</a:t>
            </a:fld>
            <a:endParaRPr lang="en-US" sz="850" b="0" strike="noStrike" spc="-1">
              <a:latin typeface="Arial"/>
            </a:endParaRPr>
          </a:p>
        </p:txBody>
      </p:sp>
      <p:sp>
        <p:nvSpPr>
          <p:cNvPr id="473" name="CustomShape 5"/>
          <p:cNvSpPr/>
          <p:nvPr/>
        </p:nvSpPr>
        <p:spPr>
          <a:xfrm>
            <a:off x="609480" y="1346760"/>
            <a:ext cx="10838808" cy="55112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Data Storage</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latin typeface="Arial"/>
              </a:rPr>
              <a:t>Underlying all computational resources, should be robust and reliable storage services, which conform to some basic principles:</a:t>
            </a:r>
          </a:p>
          <a:p>
            <a:pPr marL="1097280" lvl="2" indent="-182520">
              <a:spcBef>
                <a:spcPts val="1200"/>
              </a:spcBef>
              <a:buClr>
                <a:srgbClr val="0047BA"/>
              </a:buClr>
              <a:buSzPct val="65000"/>
              <a:buFont typeface="Wingdings" charset="2"/>
              <a:buChar char=""/>
            </a:pPr>
            <a:r>
              <a:rPr lang="en-US" sz="2000" b="1" spc="-1" dirty="0">
                <a:latin typeface="Arial"/>
              </a:rPr>
              <a:t>Data Management:</a:t>
            </a:r>
            <a:r>
              <a:rPr lang="en-US" sz="2000" spc="-1" dirty="0">
                <a:latin typeface="Arial"/>
              </a:rPr>
              <a:t> Provide tools, processes to allow researchers to comply to KU data management policies</a:t>
            </a:r>
          </a:p>
          <a:p>
            <a:pPr marL="1097280" lvl="2" indent="-182520">
              <a:spcBef>
                <a:spcPts val="1200"/>
              </a:spcBef>
              <a:buClr>
                <a:srgbClr val="0047BA"/>
              </a:buClr>
              <a:buSzPct val="65000"/>
              <a:buFont typeface="Wingdings" charset="2"/>
              <a:buChar char=""/>
            </a:pPr>
            <a:r>
              <a:rPr lang="en-US" sz="2000" b="1" spc="-1" dirty="0">
                <a:latin typeface="Arial"/>
              </a:rPr>
              <a:t>Tiered Storage:</a:t>
            </a:r>
            <a:r>
              <a:rPr lang="en-US" sz="2000" spc="-1" dirty="0">
                <a:latin typeface="Arial"/>
              </a:rPr>
              <a:t> </a:t>
            </a:r>
            <a:r>
              <a:rPr lang="en-US" sz="2000" spc="-1" dirty="0"/>
              <a:t>Services should span multiple performance and functional requirements, ranging from HPC storage to long term backup</a:t>
            </a:r>
            <a:endParaRPr lang="en-US" sz="2000" spc="-1" dirty="0">
              <a:latin typeface="Arial"/>
            </a:endParaRPr>
          </a:p>
          <a:p>
            <a:pPr marL="1097280" lvl="2" indent="-182520">
              <a:spcBef>
                <a:spcPts val="1200"/>
              </a:spcBef>
              <a:buClr>
                <a:srgbClr val="0047BA"/>
              </a:buClr>
              <a:buSzPct val="65000"/>
              <a:buFont typeface="Wingdings" charset="2"/>
              <a:buChar char=""/>
            </a:pPr>
            <a:r>
              <a:rPr lang="en-US" sz="2000" b="1" spc="-1" dirty="0">
                <a:latin typeface="Arial"/>
              </a:rPr>
              <a:t>Accessibility: </a:t>
            </a:r>
            <a:r>
              <a:rPr lang="en-US" sz="2000" spc="-1" dirty="0">
                <a:latin typeface="Arial"/>
              </a:rPr>
              <a:t>Accessible from a variety of computing platforms, without jeopardizing security</a:t>
            </a:r>
          </a:p>
          <a:p>
            <a:pPr marL="1097280" lvl="2" indent="-182520">
              <a:spcBef>
                <a:spcPts val="1200"/>
              </a:spcBef>
              <a:buClr>
                <a:srgbClr val="0047BA"/>
              </a:buClr>
              <a:buSzPct val="65000"/>
              <a:buFont typeface="Wingdings" charset="2"/>
              <a:buChar char=""/>
            </a:pPr>
            <a:r>
              <a:rPr lang="en-US" sz="2000" b="1" spc="-1" dirty="0">
                <a:latin typeface="Arial"/>
              </a:rPr>
              <a:t>Funding &amp; allocation: </a:t>
            </a:r>
            <a:r>
              <a:rPr lang="en-US" sz="2000" spc="-1" dirty="0">
                <a:latin typeface="Arial"/>
              </a:rPr>
              <a:t>Should be funded and run centrally. Processes for resource allocation will need to be established</a:t>
            </a:r>
          </a:p>
          <a:p>
            <a:pPr marL="1097280" lvl="2" indent="-182520">
              <a:spcBef>
                <a:spcPts val="1200"/>
              </a:spcBef>
              <a:buClr>
                <a:srgbClr val="0047BA"/>
              </a:buClr>
              <a:buSzPct val="65000"/>
              <a:buFont typeface="Wingdings" charset="2"/>
              <a:buChar char=""/>
            </a:pPr>
            <a:r>
              <a:rPr lang="en-US" sz="2000" b="1" spc="-1" dirty="0">
                <a:latin typeface="Arial"/>
              </a:rPr>
              <a:t>Expandability</a:t>
            </a:r>
            <a:r>
              <a:rPr lang="en-US" sz="2000" spc="-1" dirty="0">
                <a:latin typeface="Arial"/>
              </a:rPr>
              <a:t>: Establish mechanism to expand storage using external grant funding for projects that require a higher level of provision</a:t>
            </a:r>
          </a:p>
        </p:txBody>
      </p:sp>
    </p:spTree>
    <p:extLst>
      <p:ext uri="{BB962C8B-B14F-4D97-AF65-F5344CB8AC3E}">
        <p14:creationId xmlns:p14="http://schemas.microsoft.com/office/powerpoint/2010/main" val="29183871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Data Storage Gaps and challenges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21</a:t>
            </a:fld>
            <a:endParaRPr lang="en-US" sz="850" b="0" strike="noStrike" spc="-1">
              <a:latin typeface="Arial"/>
            </a:endParaRPr>
          </a:p>
        </p:txBody>
      </p:sp>
      <p:sp>
        <p:nvSpPr>
          <p:cNvPr id="473" name="CustomShape 5"/>
          <p:cNvSpPr/>
          <p:nvPr/>
        </p:nvSpPr>
        <p:spPr>
          <a:xfrm>
            <a:off x="609480" y="1346760"/>
            <a:ext cx="10838808" cy="55112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000" b="1" spc="-1" dirty="0"/>
              <a:t>Data Management policies: </a:t>
            </a:r>
            <a:r>
              <a:rPr lang="en-US" sz="2000" spc="-1" dirty="0"/>
              <a:t>There is a need for clear and comprehensive data management polices for KU.</a:t>
            </a:r>
            <a:r>
              <a:rPr lang="en-US" sz="2000" spc="-1" dirty="0">
                <a:latin typeface="Arial"/>
              </a:rPr>
              <a:t> </a:t>
            </a:r>
          </a:p>
          <a:p>
            <a:pPr marL="182880" indent="-182520">
              <a:lnSpc>
                <a:spcPct val="100000"/>
              </a:lnSpc>
              <a:spcBef>
                <a:spcPts val="3169"/>
              </a:spcBef>
              <a:buClr>
                <a:srgbClr val="0047BA"/>
              </a:buClr>
              <a:buSzPct val="65000"/>
              <a:buFont typeface="Wingdings" charset="2"/>
              <a:buChar char=""/>
            </a:pPr>
            <a:r>
              <a:rPr lang="en-US" sz="2000" b="1" spc="-1" dirty="0">
                <a:latin typeface="Arial"/>
              </a:rPr>
              <a:t>Large scale research data storage</a:t>
            </a:r>
            <a:r>
              <a:rPr lang="en-US" sz="2000" spc="-1" dirty="0">
                <a:latin typeface="Arial"/>
              </a:rPr>
              <a:t>: There is a need for processes, tools and infrastructure for large scale storage of research data, in compliance with data management policies of KU.</a:t>
            </a:r>
          </a:p>
          <a:p>
            <a:pPr marL="182880" indent="-182520">
              <a:lnSpc>
                <a:spcPct val="100000"/>
              </a:lnSpc>
              <a:spcBef>
                <a:spcPts val="3169"/>
              </a:spcBef>
              <a:buClr>
                <a:srgbClr val="0047BA"/>
              </a:buClr>
              <a:buSzPct val="65000"/>
              <a:buFont typeface="Wingdings" charset="2"/>
              <a:buChar char=""/>
            </a:pPr>
            <a:r>
              <a:rPr lang="en-US" sz="2000" b="1" spc="-1" dirty="0">
                <a:latin typeface="Arial"/>
              </a:rPr>
              <a:t>General purpose storage: </a:t>
            </a:r>
            <a:r>
              <a:rPr lang="en-US" sz="2000" spc="-1" dirty="0">
                <a:latin typeface="Arial"/>
              </a:rPr>
              <a:t>A need for general purpose storage accessible from faculty/researcher laptop and workstations.</a:t>
            </a:r>
          </a:p>
          <a:p>
            <a:pPr marL="182880" indent="-182520">
              <a:lnSpc>
                <a:spcPct val="100000"/>
              </a:lnSpc>
              <a:spcBef>
                <a:spcPts val="3169"/>
              </a:spcBef>
              <a:buClr>
                <a:srgbClr val="0047BA"/>
              </a:buClr>
              <a:buSzPct val="65000"/>
              <a:buFont typeface="Wingdings" charset="2"/>
              <a:buChar char=""/>
            </a:pPr>
            <a:r>
              <a:rPr lang="en-US" sz="2000" b="1" spc="-1" dirty="0">
                <a:latin typeface="Arial"/>
              </a:rPr>
              <a:t>Funding from research projects: </a:t>
            </a:r>
            <a:r>
              <a:rPr lang="en-US" sz="2000" spc="-1" dirty="0">
                <a:latin typeface="Arial"/>
              </a:rPr>
              <a:t>There is a need for a mechanism to use project funds to purchase storage, via CAPEX, but also via OPEX </a:t>
            </a:r>
          </a:p>
          <a:p>
            <a:pPr marL="182880" indent="-182520">
              <a:lnSpc>
                <a:spcPct val="100000"/>
              </a:lnSpc>
              <a:spcBef>
                <a:spcPts val="3169"/>
              </a:spcBef>
              <a:buClr>
                <a:srgbClr val="0047BA"/>
              </a:buClr>
              <a:buSzPct val="65000"/>
              <a:buFont typeface="Wingdings" charset="2"/>
              <a:buChar char=""/>
            </a:pPr>
            <a:r>
              <a:rPr lang="en-US" sz="2000" b="1" spc="-1" dirty="0">
                <a:latin typeface="Arial"/>
              </a:rPr>
              <a:t>Purchasing IT services</a:t>
            </a:r>
            <a:r>
              <a:rPr lang="en-US" sz="2000" spc="-1" dirty="0">
                <a:latin typeface="Arial"/>
              </a:rPr>
              <a:t>: Current rules mean that KU is unable to transfer funds to </a:t>
            </a:r>
            <a:r>
              <a:rPr lang="en-US" sz="2000" spc="-1" dirty="0" err="1">
                <a:latin typeface="Arial"/>
              </a:rPr>
              <a:t>Ankabut</a:t>
            </a:r>
            <a:r>
              <a:rPr lang="en-US" sz="2000" spc="-1" dirty="0">
                <a:latin typeface="Arial"/>
              </a:rPr>
              <a:t> or pay them for IT services. This means that RC and KU cannot leverage existing IT infrastructure, and this means that KU will continually need to invest large amounts of CAPEX to fund services. </a:t>
            </a:r>
          </a:p>
        </p:txBody>
      </p:sp>
    </p:spTree>
    <p:extLst>
      <p:ext uri="{BB962C8B-B14F-4D97-AF65-F5344CB8AC3E}">
        <p14:creationId xmlns:p14="http://schemas.microsoft.com/office/powerpoint/2010/main" val="3723600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9380" y="53012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10140" y="687477"/>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360">
              <a:lnSpc>
                <a:spcPct val="100000"/>
              </a:lnSpc>
              <a:spcBef>
                <a:spcPts val="3169"/>
              </a:spcBef>
              <a:buClr>
                <a:srgbClr val="0047BA"/>
              </a:buClr>
              <a:buSzPct val="65000"/>
            </a:pPr>
            <a:r>
              <a:rPr lang="en-US" sz="3200" b="1" spc="-1" dirty="0">
                <a:solidFill>
                  <a:srgbClr val="0047BA"/>
                </a:solidFill>
              </a:rPr>
              <a:t>Data Storage Strategy 2021 - 2025</a:t>
            </a:r>
          </a:p>
        </p:txBody>
      </p:sp>
      <p:sp>
        <p:nvSpPr>
          <p:cNvPr id="471" name="CustomShape 3"/>
          <p:cNvSpPr/>
          <p:nvPr/>
        </p:nvSpPr>
        <p:spPr>
          <a:xfrm>
            <a:off x="4183500" y="28641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860" y="23132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22</a:t>
            </a:fld>
            <a:endParaRPr lang="en-US" sz="850" b="0" strike="noStrike" spc="-1">
              <a:latin typeface="Arial"/>
            </a:endParaRPr>
          </a:p>
        </p:txBody>
      </p:sp>
      <p:graphicFrame>
        <p:nvGraphicFramePr>
          <p:cNvPr id="7" name="Table 6">
            <a:extLst>
              <a:ext uri="{FF2B5EF4-FFF2-40B4-BE49-F238E27FC236}">
                <a16:creationId xmlns:a16="http://schemas.microsoft.com/office/drawing/2014/main" id="{07CB7E90-81AE-1E48-A8E5-C2C87FF16FD9}"/>
              </a:ext>
            </a:extLst>
          </p:cNvPr>
          <p:cNvGraphicFramePr>
            <a:graphicFrameLocks noGrp="1"/>
          </p:cNvGraphicFramePr>
          <p:nvPr>
            <p:extLst>
              <p:ext uri="{D42A27DB-BD31-4B8C-83A1-F6EECF244321}">
                <p14:modId xmlns:p14="http://schemas.microsoft.com/office/powerpoint/2010/main" val="2954010228"/>
              </p:ext>
            </p:extLst>
          </p:nvPr>
        </p:nvGraphicFramePr>
        <p:xfrm>
          <a:off x="198589" y="1190916"/>
          <a:ext cx="11993409" cy="5182554"/>
        </p:xfrm>
        <a:graphic>
          <a:graphicData uri="http://schemas.openxmlformats.org/drawingml/2006/table">
            <a:tbl>
              <a:tblPr firstRow="1" bandRow="1"/>
              <a:tblGrid>
                <a:gridCol w="1120855">
                  <a:extLst>
                    <a:ext uri="{9D8B030D-6E8A-4147-A177-3AD203B41FA5}">
                      <a16:colId xmlns:a16="http://schemas.microsoft.com/office/drawing/2014/main" val="557725123"/>
                    </a:ext>
                  </a:extLst>
                </a:gridCol>
                <a:gridCol w="2079226">
                  <a:extLst>
                    <a:ext uri="{9D8B030D-6E8A-4147-A177-3AD203B41FA5}">
                      <a16:colId xmlns:a16="http://schemas.microsoft.com/office/drawing/2014/main" val="3687805585"/>
                    </a:ext>
                  </a:extLst>
                </a:gridCol>
                <a:gridCol w="2156457">
                  <a:extLst>
                    <a:ext uri="{9D8B030D-6E8A-4147-A177-3AD203B41FA5}">
                      <a16:colId xmlns:a16="http://schemas.microsoft.com/office/drawing/2014/main" val="329039289"/>
                    </a:ext>
                  </a:extLst>
                </a:gridCol>
                <a:gridCol w="2527568">
                  <a:extLst>
                    <a:ext uri="{9D8B030D-6E8A-4147-A177-3AD203B41FA5}">
                      <a16:colId xmlns:a16="http://schemas.microsoft.com/office/drawing/2014/main" val="481703216"/>
                    </a:ext>
                  </a:extLst>
                </a:gridCol>
                <a:gridCol w="2075731">
                  <a:extLst>
                    <a:ext uri="{9D8B030D-6E8A-4147-A177-3AD203B41FA5}">
                      <a16:colId xmlns:a16="http://schemas.microsoft.com/office/drawing/2014/main" val="607956648"/>
                    </a:ext>
                  </a:extLst>
                </a:gridCol>
                <a:gridCol w="2033572">
                  <a:extLst>
                    <a:ext uri="{9D8B030D-6E8A-4147-A177-3AD203B41FA5}">
                      <a16:colId xmlns:a16="http://schemas.microsoft.com/office/drawing/2014/main" val="2615944219"/>
                    </a:ext>
                  </a:extLst>
                </a:gridCol>
              </a:tblGrid>
              <a:tr h="0">
                <a:tc>
                  <a:txBody>
                    <a:bodyPr/>
                    <a:lstStyle/>
                    <a:p>
                      <a:pPr algn="ctr"/>
                      <a:endParaRPr lang="en-US" sz="1000" b="1" dirty="0">
                        <a:solidFill>
                          <a:srgbClr val="FFFFFF"/>
                        </a:solidFill>
                      </a:endParaRPr>
                    </a:p>
                  </a:txBody>
                  <a:tcPr>
                    <a:noFill/>
                  </a:tcPr>
                </a:tc>
                <a:tc>
                  <a:txBody>
                    <a:bodyPr/>
                    <a:lstStyle/>
                    <a:p>
                      <a:pPr algn="ctr"/>
                      <a:r>
                        <a:rPr lang="en-US" sz="1000" b="1" dirty="0">
                          <a:solidFill>
                            <a:srgbClr val="FFFFFF"/>
                          </a:solidFill>
                        </a:rPr>
                        <a:t>2021</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2022</a:t>
                      </a:r>
                    </a:p>
                  </a:txBody>
                  <a:tcPr>
                    <a:solidFill>
                      <a:srgbClr val="0047BA"/>
                    </a:solidFill>
                  </a:tcPr>
                </a:tc>
                <a:tc>
                  <a:txBody>
                    <a:bodyPr/>
                    <a:lstStyle/>
                    <a:p>
                      <a:pPr algn="ctr"/>
                      <a:r>
                        <a:rPr lang="en-US" sz="1000" b="1" dirty="0">
                          <a:solidFill>
                            <a:srgbClr val="FFFFFF"/>
                          </a:solidFill>
                        </a:rPr>
                        <a:t>2023</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2024</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2025</a:t>
                      </a:r>
                    </a:p>
                  </a:txBody>
                  <a:tcPr>
                    <a:solidFill>
                      <a:srgbClr val="0047BA"/>
                    </a:solidFill>
                  </a:tcPr>
                </a:tc>
                <a:extLst>
                  <a:ext uri="{0D108BD9-81ED-4DB2-BD59-A6C34878D82A}">
                    <a16:rowId xmlns:a16="http://schemas.microsoft.com/office/drawing/2014/main" val="667571679"/>
                  </a:ext>
                </a:extLst>
              </a:tr>
              <a:tr h="1298967">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Storage  provision</a:t>
                      </a:r>
                    </a:p>
                  </a:txBody>
                  <a:tcPr marL="53280" marR="53280" anchor="ctr">
                    <a:solidFill>
                      <a:schemeClr val="tx2"/>
                    </a:solidFill>
                  </a:tcPr>
                </a:tc>
                <a:tc>
                  <a:txBody>
                    <a:bodyPr/>
                    <a:lstStyle/>
                    <a:p>
                      <a:pPr marL="7938" indent="0" algn="l">
                        <a:lnSpc>
                          <a:spcPts val="2100"/>
                        </a:lnSpc>
                        <a:buFont typeface="Arial" panose="020B0604020202020204" pitchFamily="34" charset="0"/>
                        <a:buNone/>
                        <a:tabLst/>
                      </a:pPr>
                      <a:r>
                        <a:rPr lang="en-US" sz="1000" b="1" strike="noStrike" spc="-1" dirty="0"/>
                        <a:t>300 TB  </a:t>
                      </a:r>
                      <a:r>
                        <a:rPr lang="en-US" sz="1000" b="0" strike="noStrike" spc="-1" dirty="0"/>
                        <a:t>HPC</a:t>
                      </a:r>
                      <a:r>
                        <a:rPr lang="en-US" sz="1000" b="1" strike="noStrike" spc="-1" dirty="0"/>
                        <a:t> </a:t>
                      </a:r>
                      <a:r>
                        <a:rPr lang="en-US" sz="1000" strike="noStrike" spc="-1" dirty="0"/>
                        <a:t>/home storage</a:t>
                      </a:r>
                    </a:p>
                    <a:p>
                      <a:pPr marL="7938" indent="0" algn="l">
                        <a:lnSpc>
                          <a:spcPts val="2100"/>
                        </a:lnSpc>
                        <a:buFont typeface="Arial" panose="020B0604020202020204" pitchFamily="34" charset="0"/>
                        <a:buNone/>
                        <a:tabLst/>
                      </a:pPr>
                      <a:r>
                        <a:rPr lang="en-US" sz="1000" b="1" strike="noStrike" spc="-1" dirty="0"/>
                        <a:t>974 TB </a:t>
                      </a:r>
                      <a:r>
                        <a:rPr lang="en-US" sz="1000" b="0" strike="noStrike" spc="-1" dirty="0"/>
                        <a:t>HPC</a:t>
                      </a:r>
                      <a:r>
                        <a:rPr lang="en-US" sz="1000" b="1" strike="noStrike" spc="-1" dirty="0"/>
                        <a:t> </a:t>
                      </a:r>
                      <a:r>
                        <a:rPr lang="en-US" sz="1000" strike="noStrike" spc="-1" dirty="0"/>
                        <a:t>/scratch storage</a:t>
                      </a:r>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t>228 TB  </a:t>
                      </a:r>
                      <a:r>
                        <a:rPr lang="en-US" sz="1000" b="0" strike="noStrike" spc="-1" dirty="0"/>
                        <a:t>of  private cloud storage</a:t>
                      </a:r>
                    </a:p>
                    <a:p>
                      <a:pPr marL="7938" indent="0" algn="l">
                        <a:lnSpc>
                          <a:spcPts val="2100"/>
                        </a:lnSpc>
                        <a:buFont typeface="Arial" panose="020B0604020202020204" pitchFamily="34" charset="0"/>
                        <a:buNone/>
                        <a:tabLst/>
                      </a:pPr>
                      <a:endParaRPr lang="en-US" sz="1000" strike="noStrike" spc="-1" dirty="0"/>
                    </a:p>
                  </a:txBody>
                  <a:tcPr marL="53280" marR="53280"/>
                </a:tc>
                <a:tc>
                  <a:txBody>
                    <a:bodyPr/>
                    <a:lstStyle/>
                    <a:p>
                      <a:pPr marL="7938" indent="0" algn="justLow"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500TB</a:t>
                      </a:r>
                      <a:r>
                        <a:rPr lang="en-US" sz="1000" b="0" strike="noStrike" kern="1200" spc="-1" dirty="0">
                          <a:solidFill>
                            <a:schemeClr val="tx1"/>
                          </a:solidFill>
                          <a:latin typeface="+mn-lt"/>
                          <a:ea typeface="+mn-ea"/>
                          <a:cs typeface="+mn-cs"/>
                        </a:rPr>
                        <a:t> HPC /home storage</a:t>
                      </a:r>
                    </a:p>
                    <a:p>
                      <a:pPr marL="7938" indent="0" algn="justLow"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HPC /scratch storage</a:t>
                      </a:r>
                    </a:p>
                    <a:p>
                      <a:pPr marL="7938" marR="0" lvl="0" indent="0" algn="justLow"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t>228 TB  </a:t>
                      </a:r>
                      <a:r>
                        <a:rPr lang="en-US" sz="1000" b="0" strike="noStrike" spc="-1" dirty="0"/>
                        <a:t>of  private cloud storage</a:t>
                      </a: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700TB</a:t>
                      </a:r>
                      <a:r>
                        <a:rPr lang="en-US" sz="1000" b="0" strike="noStrike" kern="1200" spc="-1" dirty="0">
                          <a:solidFill>
                            <a:schemeClr val="tx1"/>
                          </a:solidFill>
                          <a:latin typeface="+mn-lt"/>
                          <a:ea typeface="+mn-ea"/>
                          <a:cs typeface="+mn-cs"/>
                        </a:rPr>
                        <a:t> HPC /home storage</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HPC /scratch storage</a:t>
                      </a:r>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t>300 TB  </a:t>
                      </a:r>
                      <a:r>
                        <a:rPr lang="en-US" sz="1000" b="0" strike="noStrike" spc="-1" dirty="0"/>
                        <a:t>of  private cloud storage</a:t>
                      </a:r>
                    </a:p>
                    <a:p>
                      <a:pPr marL="7938" indent="0" algn="l" defTabSz="914400" rtl="0" eaLnBrk="1" latinLnBrk="0" hangingPunct="1">
                        <a:lnSpc>
                          <a:spcPts val="2100"/>
                        </a:lnSpc>
                        <a:buFont typeface="Arial" panose="020B0604020202020204" pitchFamily="34" charset="0"/>
                        <a:buNone/>
                        <a:tabLst/>
                      </a:pPr>
                      <a:endParaRPr lang="en-US" sz="1000" b="0" strike="noStrike" kern="1200" spc="-1" dirty="0">
                        <a:solidFill>
                          <a:schemeClr val="tx1"/>
                        </a:solidFill>
                        <a:latin typeface="+mn-lt"/>
                        <a:ea typeface="+mn-ea"/>
                        <a:cs typeface="+mn-cs"/>
                      </a:endParaRP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700TB</a:t>
                      </a:r>
                      <a:r>
                        <a:rPr lang="en-US" sz="1000" b="0" strike="noStrike" kern="1200" spc="-1" dirty="0">
                          <a:solidFill>
                            <a:schemeClr val="tx1"/>
                          </a:solidFill>
                          <a:latin typeface="+mn-lt"/>
                          <a:ea typeface="+mn-ea"/>
                          <a:cs typeface="+mn-cs"/>
                        </a:rPr>
                        <a:t> HPC /home storage</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HPC /scratch storage</a:t>
                      </a:r>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t>400 TB  </a:t>
                      </a:r>
                      <a:r>
                        <a:rPr lang="en-US" sz="1000" b="0" strike="noStrike" spc="-1" dirty="0"/>
                        <a:t>of  private cloud storage</a:t>
                      </a:r>
                    </a:p>
                    <a:p>
                      <a:pPr marL="7938" indent="0" algn="l" defTabSz="914400" rtl="0" eaLnBrk="1" latinLnBrk="0" hangingPunct="1">
                        <a:lnSpc>
                          <a:spcPts val="2100"/>
                        </a:lnSpc>
                        <a:buFont typeface="Arial" panose="020B0604020202020204" pitchFamily="34" charset="0"/>
                        <a:buNone/>
                        <a:tabLst/>
                      </a:pPr>
                      <a:endParaRPr lang="en-US" sz="1000" b="0" strike="noStrike" kern="1200" spc="-1" dirty="0">
                        <a:solidFill>
                          <a:schemeClr val="tx1"/>
                        </a:solidFill>
                        <a:latin typeface="+mn-lt"/>
                        <a:ea typeface="+mn-ea"/>
                        <a:cs typeface="+mn-cs"/>
                      </a:endParaRP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700TB</a:t>
                      </a:r>
                      <a:r>
                        <a:rPr lang="en-US" sz="1000" b="0" strike="noStrike" kern="1200" spc="-1" dirty="0">
                          <a:solidFill>
                            <a:schemeClr val="tx1"/>
                          </a:solidFill>
                          <a:latin typeface="+mn-lt"/>
                          <a:ea typeface="+mn-ea"/>
                          <a:cs typeface="+mn-cs"/>
                        </a:rPr>
                        <a:t> HPC /home storage</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HPC /scratch storage</a:t>
                      </a:r>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t>600 TB  </a:t>
                      </a:r>
                      <a:r>
                        <a:rPr lang="en-US" sz="1000" b="0" strike="noStrike" spc="-1" dirty="0"/>
                        <a:t>of  private cloud storage</a:t>
                      </a:r>
                    </a:p>
                    <a:p>
                      <a:pPr marL="7938" indent="0" algn="l" defTabSz="914400" rtl="0" eaLnBrk="1" latinLnBrk="0" hangingPunct="1">
                        <a:lnSpc>
                          <a:spcPts val="2100"/>
                        </a:lnSpc>
                        <a:buFont typeface="Arial" panose="020B0604020202020204" pitchFamily="34" charset="0"/>
                        <a:buNone/>
                        <a:tabLst/>
                      </a:pPr>
                      <a:endParaRPr lang="en-US" sz="1000" b="0" strike="noStrike" kern="1200" spc="-1" dirty="0">
                        <a:solidFill>
                          <a:schemeClr val="tx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000" b="0" strike="noStrike" spc="-1" dirty="0">
                        <a:solidFill>
                          <a:sysClr val="windowText" lastClr="000000"/>
                        </a:solidFill>
                        <a:latin typeface="+mn-lt"/>
                      </a:endParaRPr>
                    </a:p>
                  </a:txBody>
                  <a:tcPr/>
                </a:tc>
                <a:extLst>
                  <a:ext uri="{0D108BD9-81ED-4DB2-BD59-A6C34878D82A}">
                    <a16:rowId xmlns:a16="http://schemas.microsoft.com/office/drawing/2014/main" val="1269556809"/>
                  </a:ext>
                </a:extLst>
              </a:tr>
              <a:tr h="2069670">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Action</a:t>
                      </a:r>
                    </a:p>
                  </a:txBody>
                  <a:tcPr marL="53280" marR="53280" anchor="ctr">
                    <a:solidFill>
                      <a:schemeClr val="tx2"/>
                    </a:solidFill>
                  </a:tcPr>
                </a:tc>
                <a:tc>
                  <a:txBody>
                    <a:bodyPr/>
                    <a:lstStyle/>
                    <a:p>
                      <a:pPr marL="7938" indent="0" algn="l">
                        <a:lnSpc>
                          <a:spcPts val="2100"/>
                        </a:lnSpc>
                        <a:buFont typeface="Arial" panose="020B0604020202020204" pitchFamily="34" charset="0"/>
                        <a:buNone/>
                        <a:tabLst/>
                      </a:pPr>
                      <a:r>
                        <a:rPr lang="en-US" sz="1000" strike="noStrike" spc="-1" dirty="0"/>
                        <a:t>Migration of data at Masdar and SAN campuses to KU Campus resources</a:t>
                      </a:r>
                    </a:p>
                  </a:txBody>
                  <a:tcPr marL="53280" marR="53280"/>
                </a:tc>
                <a:tc>
                  <a:txBody>
                    <a:bodyPr/>
                    <a:lstStyle/>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Form working group to develop comprehensive Data Management Policies for KU</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Liaise with colleagues in Research Department  and </a:t>
                      </a:r>
                      <a:r>
                        <a:rPr lang="en-US" sz="1000" b="0" strike="noStrike" kern="1200" spc="-1" dirty="0" err="1">
                          <a:solidFill>
                            <a:schemeClr val="tx1"/>
                          </a:solidFill>
                          <a:latin typeface="+mn-lt"/>
                          <a:ea typeface="+mn-ea"/>
                          <a:cs typeface="+mn-cs"/>
                        </a:rPr>
                        <a:t>Ankabut</a:t>
                      </a:r>
                      <a:r>
                        <a:rPr lang="en-US" sz="1000" b="0" strike="noStrike" kern="1200" spc="-1" dirty="0">
                          <a:solidFill>
                            <a:schemeClr val="tx1"/>
                          </a:solidFill>
                          <a:latin typeface="+mn-lt"/>
                          <a:ea typeface="+mn-ea"/>
                          <a:cs typeface="+mn-cs"/>
                        </a:rPr>
                        <a:t> to lobby KU Finance to create mechanism to use funds from research projects to purchase IT services from </a:t>
                      </a:r>
                      <a:r>
                        <a:rPr lang="en-US" sz="1000" b="0" strike="noStrike" kern="1200" spc="-1" dirty="0" err="1">
                          <a:solidFill>
                            <a:schemeClr val="tx1"/>
                          </a:solidFill>
                          <a:latin typeface="+mn-lt"/>
                          <a:ea typeface="+mn-ea"/>
                          <a:cs typeface="+mn-cs"/>
                        </a:rPr>
                        <a:t>Ankabut</a:t>
                      </a:r>
                      <a:r>
                        <a:rPr lang="en-US" sz="1000" b="0" strike="noStrike" kern="1200" spc="-1" dirty="0">
                          <a:solidFill>
                            <a:schemeClr val="tx1"/>
                          </a:solidFill>
                          <a:latin typeface="+mn-lt"/>
                          <a:ea typeface="+mn-ea"/>
                          <a:cs typeface="+mn-cs"/>
                        </a:rPr>
                        <a:t>, or to expand existing services.</a:t>
                      </a:r>
                    </a:p>
                  </a:txBody>
                  <a:tcPr/>
                </a:tc>
                <a:tc>
                  <a:txBody>
                    <a:bodyPr/>
                    <a:lstStyle/>
                    <a:p>
                      <a:pPr marL="171450" marR="0" lvl="0" indent="-17145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With Data Management Policies in place, gather requirements for new storage services.</a:t>
                      </a:r>
                    </a:p>
                    <a:p>
                      <a:pPr marL="171450" marR="0" lvl="0" indent="-17145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Design new storage services and request budget.</a:t>
                      </a:r>
                      <a:endParaRPr lang="en-US" sz="1000" b="1" strike="noStrike" kern="1200" spc="-1" dirty="0">
                        <a:solidFill>
                          <a:schemeClr val="tx1"/>
                        </a:solidFill>
                        <a:latin typeface="+mn-lt"/>
                        <a:ea typeface="+mn-ea"/>
                        <a:cs typeface="+mn-cs"/>
                      </a:endParaRPr>
                    </a:p>
                  </a:txBody>
                  <a:tcPr/>
                </a:tc>
                <a:tc>
                  <a:txBody>
                    <a:bodyPr/>
                    <a:lstStyle/>
                    <a:p>
                      <a:pPr marL="46038" indent="-381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 Liaise with </a:t>
                      </a:r>
                      <a:r>
                        <a:rPr lang="en-US" sz="1000" b="0" strike="noStrike" kern="1200" spc="-1" dirty="0" err="1">
                          <a:solidFill>
                            <a:schemeClr val="tx1"/>
                          </a:solidFill>
                          <a:latin typeface="+mn-lt"/>
                          <a:ea typeface="+mn-ea"/>
                          <a:cs typeface="+mn-cs"/>
                        </a:rPr>
                        <a:t>Ankabut</a:t>
                      </a:r>
                      <a:r>
                        <a:rPr lang="en-US" sz="1000" b="0" strike="noStrike" kern="1200" spc="-1" dirty="0">
                          <a:solidFill>
                            <a:schemeClr val="tx1"/>
                          </a:solidFill>
                          <a:latin typeface="+mn-lt"/>
                          <a:ea typeface="+mn-ea"/>
                          <a:cs typeface="+mn-cs"/>
                        </a:rPr>
                        <a:t> to procure and install new storage services.</a:t>
                      </a:r>
                    </a:p>
                    <a:p>
                      <a:pPr marL="46038" indent="-38100" algn="l" defTabSz="914400" rtl="0" eaLnBrk="1" latinLnBrk="0" hangingPunct="1">
                        <a:lnSpc>
                          <a:spcPts val="2100"/>
                        </a:lnSpc>
                        <a:buFont typeface="Arial" panose="020B0604020202020204" pitchFamily="34" charset="0"/>
                        <a:buChar char="•"/>
                        <a:tabLst/>
                      </a:pPr>
                      <a:endParaRPr lang="en-US" sz="1000" b="0" strike="noStrike" kern="1200" spc="-1" dirty="0">
                        <a:solidFill>
                          <a:schemeClr val="tx1"/>
                        </a:solidFill>
                        <a:latin typeface="+mn-lt"/>
                        <a:ea typeface="+mn-ea"/>
                        <a:cs typeface="+mn-cs"/>
                      </a:endParaRPr>
                    </a:p>
                  </a:txBody>
                  <a:tcPr/>
                </a:tc>
                <a:tc>
                  <a:txBody>
                    <a:bodyPr/>
                    <a:lstStyle/>
                    <a:p>
                      <a:pPr marL="46038" indent="-381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Evaluate service and gather data.</a:t>
                      </a:r>
                    </a:p>
                  </a:txBody>
                  <a:tcPr/>
                </a:tc>
                <a:extLst>
                  <a:ext uri="{0D108BD9-81ED-4DB2-BD59-A6C34878D82A}">
                    <a16:rowId xmlns:a16="http://schemas.microsoft.com/office/drawing/2014/main" val="2197836169"/>
                  </a:ext>
                </a:extLst>
              </a:tr>
              <a:tr h="125107">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CAPEX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endParaRPr lang="en-US" sz="1000" b="0" strike="noStrike" kern="1200" spc="-1" dirty="0">
                        <a:solidFill>
                          <a:schemeClr val="tx1"/>
                        </a:solidFill>
                        <a:latin typeface="+mn-lt"/>
                        <a:ea typeface="+mn-ea"/>
                        <a:cs typeface="+mn-cs"/>
                      </a:endParaRPr>
                    </a:p>
                  </a:txBody>
                  <a:tcPr marL="53280" marR="53280"/>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nchor="ct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TBD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strike="noStrike" spc="-1" dirty="0">
                        <a:solidFill>
                          <a:sysClr val="windowText" lastClr="000000"/>
                        </a:solidFill>
                        <a:latin typeface="+mn-lt"/>
                      </a:endParaRPr>
                    </a:p>
                  </a:txBody>
                  <a:tcPr anchor="ctr">
                    <a:noFill/>
                  </a:tcPr>
                </a:tc>
                <a:extLst>
                  <a:ext uri="{0D108BD9-81ED-4DB2-BD59-A6C34878D82A}">
                    <a16:rowId xmlns:a16="http://schemas.microsoft.com/office/drawing/2014/main" val="4114277690"/>
                  </a:ext>
                </a:extLst>
              </a:tr>
              <a:tr h="220165">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OPEX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nchor="ct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TBD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a:noFill/>
                  </a:tcPr>
                </a:tc>
                <a:extLst>
                  <a:ext uri="{0D108BD9-81ED-4DB2-BD59-A6C34878D82A}">
                    <a16:rowId xmlns:a16="http://schemas.microsoft.com/office/drawing/2014/main" val="1588018105"/>
                  </a:ext>
                </a:extLst>
              </a:tr>
            </a:tbl>
          </a:graphicData>
        </a:graphic>
      </p:graphicFrame>
    </p:spTree>
    <p:extLst>
      <p:ext uri="{BB962C8B-B14F-4D97-AF65-F5344CB8AC3E}">
        <p14:creationId xmlns:p14="http://schemas.microsoft.com/office/powerpoint/2010/main" val="3419634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Goals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23</a:t>
            </a:fld>
            <a:endParaRPr lang="en-US" sz="850" b="0" strike="noStrike" spc="-1">
              <a:latin typeface="Arial"/>
            </a:endParaRPr>
          </a:p>
        </p:txBody>
      </p:sp>
      <p:sp>
        <p:nvSpPr>
          <p:cNvPr id="473" name="CustomShape 5"/>
          <p:cNvSpPr/>
          <p:nvPr/>
        </p:nvSpPr>
        <p:spPr>
          <a:xfrm>
            <a:off x="609480" y="1346760"/>
            <a:ext cx="10838808" cy="55112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Software</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latin typeface="Arial"/>
              </a:rPr>
              <a:t>Though progress has been made to streamline the funding, purchasing and consolidation of software licenses, this can be improved.</a:t>
            </a:r>
          </a:p>
          <a:p>
            <a:pPr marL="640080" lvl="1" indent="-182520">
              <a:spcBef>
                <a:spcPts val="1200"/>
              </a:spcBef>
              <a:buClr>
                <a:srgbClr val="0047BA"/>
              </a:buClr>
              <a:buSzPct val="65000"/>
              <a:buFont typeface="Wingdings" charset="2"/>
              <a:buChar char=""/>
            </a:pPr>
            <a:r>
              <a:rPr lang="en-US" sz="2000" spc="-1" dirty="0">
                <a:latin typeface="Arial"/>
              </a:rPr>
              <a:t>Only a small number of software applications widely used by researchers currently funded via Research Computing. Typically site licensed software, and/or used across multiple departments</a:t>
            </a:r>
          </a:p>
          <a:p>
            <a:pPr marL="640080" lvl="1" indent="-182520">
              <a:spcBef>
                <a:spcPts val="1200"/>
              </a:spcBef>
              <a:buClr>
                <a:srgbClr val="0047BA"/>
              </a:buClr>
              <a:buSzPct val="65000"/>
              <a:buFont typeface="Wingdings" charset="2"/>
              <a:buChar char=""/>
            </a:pPr>
            <a:r>
              <a:rPr lang="en-US" sz="2000" spc="-1" dirty="0">
                <a:latin typeface="Arial"/>
              </a:rPr>
              <a:t>Need to establish a process to determine which software should be funded centrally.</a:t>
            </a:r>
          </a:p>
          <a:p>
            <a:pPr marL="640080" lvl="1" indent="-182520">
              <a:spcBef>
                <a:spcPts val="1200"/>
              </a:spcBef>
              <a:buClr>
                <a:srgbClr val="0047BA"/>
              </a:buClr>
              <a:buSzPct val="65000"/>
              <a:buFont typeface="Wingdings" charset="2"/>
              <a:buChar char=""/>
            </a:pPr>
            <a:r>
              <a:rPr lang="en-US" sz="2000" spc="-1" dirty="0">
                <a:latin typeface="Arial"/>
              </a:rPr>
              <a:t>The aim is to simplify management, and streamline purchasing. This may also enable monitoring the utilization of licenses, to help with making decisions about the level of license provision.   </a:t>
            </a:r>
          </a:p>
        </p:txBody>
      </p:sp>
    </p:spTree>
    <p:extLst>
      <p:ext uri="{BB962C8B-B14F-4D97-AF65-F5344CB8AC3E}">
        <p14:creationId xmlns:p14="http://schemas.microsoft.com/office/powerpoint/2010/main" val="487178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Goals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24</a:t>
            </a:fld>
            <a:endParaRPr lang="en-US" sz="850" b="0" strike="noStrike" spc="-1">
              <a:latin typeface="Arial"/>
            </a:endParaRPr>
          </a:p>
        </p:txBody>
      </p:sp>
      <p:sp>
        <p:nvSpPr>
          <p:cNvPr id="473" name="CustomShape 5"/>
          <p:cNvSpPr/>
          <p:nvPr/>
        </p:nvSpPr>
        <p:spPr>
          <a:xfrm>
            <a:off x="609480" y="1346760"/>
            <a:ext cx="10838808" cy="55112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Support</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t>Work in conjunction with researchers to design and implement bespoke computing resources to support research projects.</a:t>
            </a:r>
          </a:p>
          <a:p>
            <a:pPr marL="640080" lvl="1" indent="-182520">
              <a:spcBef>
                <a:spcPts val="1200"/>
              </a:spcBef>
              <a:buClr>
                <a:srgbClr val="0047BA"/>
              </a:buClr>
              <a:buSzPct val="65000"/>
              <a:buFont typeface="Wingdings" charset="2"/>
              <a:buChar char=""/>
            </a:pPr>
            <a:r>
              <a:rPr lang="en-US" sz="2000" spc="-1" dirty="0"/>
              <a:t>Support researchers by understanding their research computational needs and recommend suitable applications and other research computing resources available at the University.</a:t>
            </a:r>
          </a:p>
          <a:p>
            <a:pPr marL="640080" lvl="1" indent="-182520">
              <a:spcBef>
                <a:spcPts val="1200"/>
              </a:spcBef>
              <a:buClr>
                <a:srgbClr val="0047BA"/>
              </a:buClr>
              <a:buSzPct val="65000"/>
              <a:buFont typeface="Wingdings" charset="2"/>
              <a:buChar char=""/>
            </a:pPr>
            <a:r>
              <a:rPr lang="en-US" sz="2000" spc="-1" dirty="0"/>
              <a:t>Develop and maintain documentation and guidelines to assist users to make use of computational resources</a:t>
            </a:r>
          </a:p>
          <a:p>
            <a:pPr marL="640080" lvl="1" indent="-182520">
              <a:spcBef>
                <a:spcPts val="1200"/>
              </a:spcBef>
              <a:buClr>
                <a:srgbClr val="0047BA"/>
              </a:buClr>
              <a:buSzPct val="65000"/>
              <a:buFont typeface="Wingdings" charset="2"/>
              <a:buChar char=""/>
            </a:pPr>
            <a:r>
              <a:rPr lang="en-US" sz="2000" spc="-1" dirty="0"/>
              <a:t> Provide scientific computing support.</a:t>
            </a:r>
          </a:p>
          <a:p>
            <a:pPr marL="1097280" lvl="2" indent="-182520">
              <a:spcBef>
                <a:spcPts val="1200"/>
              </a:spcBef>
              <a:buClr>
                <a:srgbClr val="0047BA"/>
              </a:buClr>
              <a:buSzPct val="65000"/>
              <a:buFont typeface="Wingdings" charset="2"/>
              <a:buChar char=""/>
            </a:pPr>
            <a:r>
              <a:rPr lang="en-US" sz="2000" spc="-1" dirty="0"/>
              <a:t>Evaluating, optimizing and deploying new software on the HPC clusters</a:t>
            </a:r>
          </a:p>
          <a:p>
            <a:pPr marL="1097280" lvl="2" indent="-182520">
              <a:spcBef>
                <a:spcPts val="1200"/>
              </a:spcBef>
              <a:buClr>
                <a:srgbClr val="0047BA"/>
              </a:buClr>
              <a:buSzPct val="65000"/>
              <a:buFont typeface="Wingdings" charset="2"/>
              <a:buChar char=""/>
            </a:pPr>
            <a:r>
              <a:rPr lang="en-US" sz="2000" spc="-1" dirty="0"/>
              <a:t> Application profiling  and performance evaluation </a:t>
            </a:r>
          </a:p>
          <a:p>
            <a:pPr marL="640080" lvl="1" indent="-182520">
              <a:spcBef>
                <a:spcPts val="1200"/>
              </a:spcBef>
              <a:buClr>
                <a:srgbClr val="0047BA"/>
              </a:buClr>
              <a:buSzPct val="65000"/>
              <a:buFont typeface="Wingdings" charset="2"/>
              <a:buChar char=""/>
            </a:pPr>
            <a:r>
              <a:rPr lang="en-US" sz="2000" spc="-1" dirty="0"/>
              <a:t>Continue to develop and deliver specialized training courses. </a:t>
            </a:r>
          </a:p>
          <a:p>
            <a:pPr marL="640080" lvl="1" indent="-182520">
              <a:spcBef>
                <a:spcPts val="1200"/>
              </a:spcBef>
              <a:buClr>
                <a:srgbClr val="0047BA"/>
              </a:buClr>
              <a:buSzPct val="65000"/>
              <a:buFont typeface="Wingdings" charset="2"/>
              <a:buChar char=""/>
            </a:pPr>
            <a:endParaRPr lang="en-US" sz="2000" spc="-1" dirty="0">
              <a:latin typeface="Arial"/>
            </a:endParaRPr>
          </a:p>
        </p:txBody>
      </p:sp>
    </p:spTree>
    <p:extLst>
      <p:ext uri="{BB962C8B-B14F-4D97-AF65-F5344CB8AC3E}">
        <p14:creationId xmlns:p14="http://schemas.microsoft.com/office/powerpoint/2010/main" val="1698258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pc="43" dirty="0">
                <a:solidFill>
                  <a:srgbClr val="0047BA"/>
                </a:solidFill>
                <a:latin typeface="Arial"/>
              </a:rPr>
              <a:t>Agenda</a:t>
            </a:r>
            <a:endParaRPr lang="en-US" sz="36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a:t>
            </a:r>
            <a:r>
              <a:rPr lang="en-US" sz="1200" b="1" spc="43" dirty="0">
                <a:solidFill>
                  <a:srgbClr val="0047BA"/>
                </a:solidFill>
                <a:latin typeface="Arial"/>
              </a:rPr>
              <a:t>Committee</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25</a:t>
            </a:fld>
            <a:endParaRPr lang="en-US" sz="850" b="0" strike="noStrike" spc="-1">
              <a:latin typeface="Arial"/>
            </a:endParaRPr>
          </a:p>
        </p:txBody>
      </p:sp>
      <p:sp>
        <p:nvSpPr>
          <p:cNvPr id="473" name="CustomShape 5"/>
          <p:cNvSpPr/>
          <p:nvPr/>
        </p:nvSpPr>
        <p:spPr>
          <a:xfrm>
            <a:off x="609480" y="1438878"/>
            <a:ext cx="10887048" cy="5032656"/>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914760" lvl="1" indent="-457200">
              <a:spcBef>
                <a:spcPts val="1200"/>
              </a:spcBef>
              <a:buClr>
                <a:srgbClr val="0047BA"/>
              </a:buClr>
              <a:buSzPct val="100000"/>
              <a:buFont typeface="+mj-lt"/>
              <a:buAutoNum type="arabicPeriod"/>
            </a:pPr>
            <a:r>
              <a:rPr lang="en-US" sz="2000" spc="-1" dirty="0"/>
              <a:t>New HPC Status</a:t>
            </a:r>
          </a:p>
          <a:p>
            <a:pPr marL="914760" lvl="1" indent="-457200">
              <a:spcBef>
                <a:spcPts val="1200"/>
              </a:spcBef>
              <a:buClr>
                <a:srgbClr val="0047BA"/>
              </a:buClr>
              <a:buSzPct val="100000"/>
              <a:buFont typeface="+mj-lt"/>
              <a:buAutoNum type="arabicPeriod"/>
            </a:pPr>
            <a:r>
              <a:rPr lang="en-US" sz="2000" spc="-1" dirty="0"/>
              <a:t>User account process and resource allocation on New HPC</a:t>
            </a:r>
          </a:p>
          <a:p>
            <a:pPr marL="914760" lvl="1" indent="-457200">
              <a:spcBef>
                <a:spcPts val="1200"/>
              </a:spcBef>
              <a:buClr>
                <a:srgbClr val="0047BA"/>
              </a:buClr>
              <a:buSzPct val="100000"/>
              <a:buFont typeface="+mj-lt"/>
              <a:buAutoNum type="arabicPeriod"/>
            </a:pPr>
            <a:r>
              <a:rPr lang="en-US" sz="2000" spc="-1" dirty="0"/>
              <a:t>Migration of Masdar resources and SAN HPC</a:t>
            </a:r>
          </a:p>
          <a:p>
            <a:pPr marL="914760" lvl="1" indent="-457200">
              <a:spcBef>
                <a:spcPts val="1200"/>
              </a:spcBef>
              <a:buClr>
                <a:srgbClr val="0047BA"/>
              </a:buClr>
              <a:buSzPct val="100000"/>
              <a:buFont typeface="+mj-lt"/>
              <a:buAutoNum type="arabicPeriod"/>
            </a:pPr>
            <a:r>
              <a:rPr lang="en-US" sz="2000" spc="-1" dirty="0"/>
              <a:t>Research Computing strategy</a:t>
            </a:r>
          </a:p>
          <a:p>
            <a:pPr marL="914760" lvl="1" indent="-457200">
              <a:spcBef>
                <a:spcPts val="1200"/>
              </a:spcBef>
              <a:buClr>
                <a:srgbClr val="0047BA"/>
              </a:buClr>
              <a:buSzPct val="100000"/>
              <a:buFont typeface="+mj-lt"/>
              <a:buAutoNum type="arabicPeriod"/>
            </a:pPr>
            <a:r>
              <a:rPr lang="en-US" sz="2000" b="1" spc="-1" dirty="0"/>
              <a:t>AOB</a:t>
            </a:r>
          </a:p>
          <a:p>
            <a:pPr marL="914760" lvl="1" indent="-457200">
              <a:spcBef>
                <a:spcPts val="1200"/>
              </a:spcBef>
              <a:buClr>
                <a:srgbClr val="0047BA"/>
              </a:buClr>
              <a:buSzPct val="100000"/>
              <a:buFont typeface="+mj-lt"/>
              <a:buAutoNum type="arabicPeriod"/>
            </a:pPr>
            <a:r>
              <a:rPr lang="en-US" sz="2000" spc="-1" dirty="0"/>
              <a:t>Date of next meeting</a:t>
            </a:r>
            <a:endParaRPr lang="en-US" sz="2000" spc="-1" dirty="0">
              <a:latin typeface="Arial"/>
            </a:endParaRPr>
          </a:p>
          <a:p>
            <a:pPr marL="360">
              <a:lnSpc>
                <a:spcPct val="100000"/>
              </a:lnSpc>
              <a:spcBef>
                <a:spcPts val="1800"/>
              </a:spcBef>
              <a:buClr>
                <a:srgbClr val="0047BA"/>
              </a:buClr>
              <a:buSzPct val="65000"/>
            </a:pPr>
            <a:endParaRPr lang="en-US" sz="1800" b="0" strike="noStrike" spc="-1" dirty="0">
              <a:latin typeface="Arial"/>
            </a:endParaRPr>
          </a:p>
        </p:txBody>
      </p:sp>
    </p:spTree>
    <p:extLst>
      <p:ext uri="{BB962C8B-B14F-4D97-AF65-F5344CB8AC3E}">
        <p14:creationId xmlns:p14="http://schemas.microsoft.com/office/powerpoint/2010/main" val="7880179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KU Theme</Template>
  <TotalTime>5833</TotalTime>
  <Words>2749</Words>
  <Application>Microsoft Macintosh PowerPoint</Application>
  <PresentationFormat>Widescreen</PresentationFormat>
  <Paragraphs>430</Paragraphs>
  <Slides>25</Slides>
  <Notes>18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25</vt:i4>
      </vt:variant>
    </vt:vector>
  </HeadingPairs>
  <TitlesOfParts>
    <vt:vector size="31" baseType="lpstr">
      <vt:lpstr>Arial</vt:lpstr>
      <vt:lpstr>Symbol</vt:lpstr>
      <vt:lpstr>Times New Roman</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Title Goes Here</dc:title>
  <dc:subject/>
  <dc:creator>Majed Almansoori</dc:creator>
  <dc:description/>
  <cp:lastModifiedBy>Dureid El Moghraby</cp:lastModifiedBy>
  <cp:revision>100</cp:revision>
  <dcterms:created xsi:type="dcterms:W3CDTF">2018-04-29T10:48:36Z</dcterms:created>
  <dcterms:modified xsi:type="dcterms:W3CDTF">2021-04-29T07:16:45Z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16.0012</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12</vt:i4>
  </property>
</Properties>
</file>