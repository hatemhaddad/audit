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61" r:id="rId3"/>
    <p:sldId id="291" r:id="rId4"/>
    <p:sldId id="292" r:id="rId5"/>
    <p:sldId id="283" r:id="rId6"/>
    <p:sldId id="284" r:id="rId7"/>
    <p:sldId id="285" r:id="rId8"/>
    <p:sldId id="288" r:id="rId9"/>
    <p:sldId id="289" r:id="rId10"/>
    <p:sldId id="286" r:id="rId11"/>
    <p:sldId id="287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 autoAdjust="0"/>
    <p:restoredTop sz="86384" autoAdjust="0"/>
  </p:normalViewPr>
  <p:slideViewPr>
    <p:cSldViewPr snapToGrid="0" showGuides="1">
      <p:cViewPr varScale="1">
        <p:scale>
          <a:sx n="127" d="100"/>
          <a:sy n="127" d="100"/>
        </p:scale>
        <p:origin x="656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1/23/20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50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0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December</a:t>
            </a:r>
            <a:r>
              <a:rPr lang="en-US" noProof="0" dirty="0"/>
              <a:t> 2019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noProof="0" dirty="0"/>
              <a:t>MI HPC Cluster</a:t>
            </a:r>
          </a:p>
          <a:p>
            <a:pPr lvl="1"/>
            <a:r>
              <a:rPr lang="en-US" sz="2200" noProof="0" dirty="0"/>
              <a:t> </a:t>
            </a:r>
            <a:r>
              <a:rPr lang="en-US" sz="2200" dirty="0"/>
              <a:t>In final stages of testing before moving critical HPC servers to news hardware.</a:t>
            </a:r>
          </a:p>
          <a:p>
            <a:pPr lvl="2"/>
            <a:r>
              <a:rPr lang="en-US" sz="1997" dirty="0"/>
              <a:t> The continued delay is partially attributed to PO for the HPC management software support still being in process</a:t>
            </a:r>
          </a:p>
          <a:p>
            <a:pPr lvl="2"/>
            <a:r>
              <a:rPr lang="en-US" sz="1997" dirty="0"/>
              <a:t>PO to renew support for h/w still not finalized, chasing up with Procurement</a:t>
            </a:r>
            <a:endParaRPr lang="en-US" noProof="0" dirty="0"/>
          </a:p>
          <a:p>
            <a:r>
              <a:rPr lang="en-US" sz="2400" noProof="0" dirty="0"/>
              <a:t>PI Cluster</a:t>
            </a:r>
          </a:p>
          <a:p>
            <a:pPr lvl="1"/>
            <a:r>
              <a:rPr lang="en-US" sz="2200" dirty="0"/>
              <a:t>There is a large dip in the utilization of the cluster, but likely attributed to faculty teaching/exam commitments.</a:t>
            </a:r>
            <a:endParaRPr lang="en-US" noProof="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“Introduction to Linux” course developed and delivered</a:t>
            </a:r>
          </a:p>
          <a:p>
            <a:pPr lvl="1"/>
            <a:r>
              <a:rPr lang="en-US" sz="2400" dirty="0"/>
              <a:t>Successfully delivered course, which includes students, faculty and researchers.</a:t>
            </a:r>
          </a:p>
          <a:p>
            <a:pPr lvl="1"/>
            <a:r>
              <a:rPr lang="en-US" sz="2400" dirty="0"/>
              <a:t>Course was well received and well attended.</a:t>
            </a:r>
          </a:p>
          <a:p>
            <a:pPr lvl="1"/>
            <a:r>
              <a:rPr lang="en-US" sz="2400" dirty="0"/>
              <a:t>Course is a prerequisite to existing “Intro to HPC”</a:t>
            </a:r>
          </a:p>
          <a:p>
            <a:pPr lvl="1"/>
            <a:r>
              <a:rPr lang="en-US" sz="2400" dirty="0"/>
              <a:t>New instances of  course scheduled for early December.</a:t>
            </a:r>
          </a:p>
          <a:p>
            <a:r>
              <a:rPr lang="en-US" sz="2400" dirty="0"/>
              <a:t>“Introduction to HPC” course delivered</a:t>
            </a:r>
          </a:p>
          <a:p>
            <a:r>
              <a:rPr lang="en-US" sz="2400" dirty="0"/>
              <a:t>Currently discussing focus of a new Python course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91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FE308-BDC4-BC4E-B229-088B3D979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383"/>
            <a:ext cx="9906000" cy="46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B5342-38A0-7741-80EA-CC4DAA485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0" y="1122973"/>
            <a:ext cx="9820870" cy="473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8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B0D651-228E-BC4C-8A8F-2931A0EB1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6319"/>
            <a:ext cx="9906000" cy="476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MI HPC Group Utilization for December 2019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A06489D-8D94-254D-8BE1-EC4131BFE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051526"/>
              </p:ext>
            </p:extLst>
          </p:nvPr>
        </p:nvGraphicFramePr>
        <p:xfrm>
          <a:off x="1053332" y="1282560"/>
          <a:ext cx="7053840" cy="495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Worksheet" r:id="rId4" imgW="6794500" imgH="4775200" progId="Excel.Sheet.12">
                  <p:embed/>
                </p:oleObj>
              </mc:Choice>
              <mc:Fallback>
                <p:oleObj name="Worksheet" r:id="rId4" imgW="6794500" imgH="4775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3332" y="1282560"/>
                        <a:ext cx="7053840" cy="4957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A3F36-0234-F347-8170-6B23E3CED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627"/>
            <a:ext cx="9906000" cy="473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654</TotalTime>
  <Words>220</Words>
  <Application>Microsoft Macintosh PowerPoint</Application>
  <PresentationFormat>A4 Paper (210x297 mm)</PresentationFormat>
  <Paragraphs>45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KU Theme</vt:lpstr>
      <vt:lpstr>Worksheet</vt:lpstr>
      <vt:lpstr>Research Computing Update</vt:lpstr>
      <vt:lpstr>HPC Resources</vt:lpstr>
      <vt:lpstr>Training</vt:lpstr>
      <vt:lpstr>Resource Utilization</vt:lpstr>
      <vt:lpstr>MI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47</cp:revision>
  <dcterms:created xsi:type="dcterms:W3CDTF">2018-11-13T08:10:11Z</dcterms:created>
  <dcterms:modified xsi:type="dcterms:W3CDTF">2020-01-23T08:28:58Z</dcterms:modified>
</cp:coreProperties>
</file>