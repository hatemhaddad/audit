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6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drawings/drawing1.xml" ContentType="application/vnd.openxmlformats-officedocument.drawingml.chartshapes+xml"/>
  <Override PartName="/ppt/charts/chart8.xml" ContentType="application/vnd.openxmlformats-officedocument.drawingml.chart+xml"/>
  <Override PartName="/ppt/drawings/drawing2.xml" ContentType="application/vnd.openxmlformats-officedocument.drawingml.chartshapes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395" r:id="rId2"/>
    <p:sldId id="450" r:id="rId3"/>
    <p:sldId id="448" r:id="rId4"/>
    <p:sldId id="396" r:id="rId5"/>
    <p:sldId id="397" r:id="rId6"/>
    <p:sldId id="402" r:id="rId7"/>
    <p:sldId id="403" r:id="rId8"/>
    <p:sldId id="429" r:id="rId9"/>
    <p:sldId id="449" r:id="rId10"/>
    <p:sldId id="430" r:id="rId11"/>
    <p:sldId id="426" r:id="rId12"/>
    <p:sldId id="404" r:id="rId13"/>
    <p:sldId id="405" r:id="rId14"/>
    <p:sldId id="406" r:id="rId15"/>
    <p:sldId id="407" r:id="rId16"/>
    <p:sldId id="408" r:id="rId17"/>
    <p:sldId id="409" r:id="rId18"/>
    <p:sldId id="441" r:id="rId19"/>
    <p:sldId id="443" r:id="rId20"/>
    <p:sldId id="442" r:id="rId21"/>
    <p:sldId id="444" r:id="rId22"/>
    <p:sldId id="410" r:id="rId23"/>
    <p:sldId id="432" r:id="rId24"/>
    <p:sldId id="415" r:id="rId25"/>
    <p:sldId id="424" r:id="rId26"/>
    <p:sldId id="416" r:id="rId27"/>
    <p:sldId id="417" r:id="rId28"/>
    <p:sldId id="418" r:id="rId29"/>
    <p:sldId id="419" r:id="rId30"/>
    <p:sldId id="421" r:id="rId31"/>
    <p:sldId id="427" r:id="rId32"/>
    <p:sldId id="434" r:id="rId33"/>
  </p:sldIdLst>
  <p:sldSz cx="12526963" cy="79549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>
          <p15:clr>
            <a:srgbClr val="A4A3A4"/>
          </p15:clr>
        </p15:guide>
        <p15:guide id="2" pos="394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99"/>
    <a:srgbClr val="FFFFCC"/>
    <a:srgbClr val="25769F"/>
    <a:srgbClr val="FFABAB"/>
    <a:srgbClr val="960000"/>
    <a:srgbClr val="031837"/>
    <a:srgbClr val="115469"/>
    <a:srgbClr val="04A3C8"/>
    <a:srgbClr val="49B4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55" d="100"/>
          <a:sy n="55" d="100"/>
        </p:scale>
        <p:origin x="892" y="40"/>
      </p:cViewPr>
      <p:guideLst>
        <p:guide orient="horz" pos="2506"/>
        <p:guide pos="39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KUSTAR%20ranking%20project\ADEO\Budget%20and%20revenue%202018-2029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KUSTAR%20ranking%20project\ADEO\Budget%20and%20revenue%202018-2029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929\Desktop\H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0.2.108\KU_Students_Share\KU_TEACHING_STAFF_COMMON_SHARE\Institutional_Research_and_Planning\Work-in-Progress\Ramadas\KU-Activities-for-HG\KU-in-Numbers-Fall202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brahim.alahmed\AppData\Local\Microsoft\Windows\Temporary%20Internet%20Files\Content.Outlook\HB0VQY01\Projection%2010%20years.xlsx" TargetMode="Externa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ebrahim.alahmed\AppData\Local\Microsoft\Windows\Temporary%20Internet%20Files\Content.Outlook\HB0VQY01\Projection%2010%20years.xlsx" TargetMode="Externa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ebrahim.alahmed\AppData\Local\Microsoft\Windows\Temporary%20Internet%20Files\Content.Outlook\HB0VQY01\Projection%2010%20year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>
                <a:solidFill>
                  <a:schemeClr val="tx1"/>
                </a:solidFill>
              </a:rPr>
              <a:t>Revised Budget </a:t>
            </a:r>
            <a:r>
              <a:rPr lang="en-US" sz="1100" b="0" i="0" u="none" strike="noStrike" baseline="0" dirty="0">
                <a:solidFill>
                  <a:schemeClr val="tx1"/>
                </a:solidFill>
                <a:effectLst/>
              </a:rPr>
              <a:t>(in AED Million)</a:t>
            </a:r>
            <a:endParaRPr lang="en-US" sz="11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3339000658088002"/>
                  <c:y val="-3.10077519379844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A3-4E83-BBCA-B2A3A495145A}"/>
                </c:ext>
              </c:extLst>
            </c:dLbl>
            <c:dLbl>
              <c:idx val="1"/>
              <c:layout>
                <c:manualLayout>
                  <c:x val="-1.6673750822610075E-2"/>
                  <c:y val="-6.97674418604651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2A3-4E83-BBCA-B2A3A49514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'Summary 2018 to 2021'!$L$3:$N$3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'Summary 2018 to 2021'!$L$5:$N$5</c:f>
              <c:numCache>
                <c:formatCode>#,##0</c:formatCode>
                <c:ptCount val="3"/>
                <c:pt idx="0">
                  <c:v>1375.155</c:v>
                </c:pt>
                <c:pt idx="1">
                  <c:v>1102.8535360200001</c:v>
                </c:pt>
                <c:pt idx="2" formatCode="_(* #,##0.00_);_(* \(#,##0.00\);_(* &quot;-&quot;??_);_(@_)">
                  <c:v>1069.6648319999999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A3-4E83-BBCA-B2A3A4951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620992"/>
        <c:axId val="140133888"/>
      </c:lineChart>
      <c:catAx>
        <c:axId val="12562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33888"/>
        <c:crosses val="autoZero"/>
        <c:auto val="1"/>
        <c:lblAlgn val="ctr"/>
        <c:lblOffset val="100"/>
        <c:noMultiLvlLbl val="0"/>
      </c:catAx>
      <c:valAx>
        <c:axId val="14013388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25620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Revenue Summary (in AED Million)*</a:t>
            </a:r>
          </a:p>
        </c:rich>
      </c:tx>
      <c:layout>
        <c:manualLayout>
          <c:xMode val="edge"/>
          <c:yMode val="edge"/>
          <c:x val="0.22323420998352383"/>
          <c:y val="2.13267953551247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'Summary 2018 to 2021'!$J$8</c:f>
              <c:strCache>
                <c:ptCount val="1"/>
                <c:pt idx="0">
                  <c:v>Internally generated revenue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0.14998548483268009"/>
                  <c:y val="-6.398038606537431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8F-49E3-819F-C810EFDCBF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'Summary 2018 to 2021'!$L$7:$N$7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'Summary 2018 to 2021'!$L$8:$N$8</c:f>
              <c:numCache>
                <c:formatCode>#,##0.0</c:formatCode>
                <c:ptCount val="3"/>
                <c:pt idx="0">
                  <c:v>57.706799930000003</c:v>
                </c:pt>
                <c:pt idx="1">
                  <c:v>58.264771719999999</c:v>
                </c:pt>
                <c:pt idx="2" formatCode="_(* #,##0.0_);_(* \(#,##0.0\);_(* &quot;-&quot;??_);_(@_)">
                  <c:v>12.80144181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8F-49E3-819F-C810EFDCBF1A}"/>
            </c:ext>
          </c:extLst>
        </c:ser>
        <c:ser>
          <c:idx val="1"/>
          <c:order val="1"/>
          <c:tx>
            <c:strRef>
              <c:f>'Summary 2018 to 2021'!$J$9</c:f>
              <c:strCache>
                <c:ptCount val="1"/>
                <c:pt idx="0">
                  <c:v>Externally funded projects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5.2320517964888402E-2"/>
                  <c:y val="-0.142178635700831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E8F-49E3-819F-C810EFDCBF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'Summary 2018 to 2021'!$L$7:$N$7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'Summary 2018 to 2021'!$L$9:$N$9</c:f>
              <c:numCache>
                <c:formatCode>#,##0.0</c:formatCode>
                <c:ptCount val="3"/>
                <c:pt idx="0">
                  <c:v>58.904170279999988</c:v>
                </c:pt>
                <c:pt idx="1">
                  <c:v>62.866963090000006</c:v>
                </c:pt>
                <c:pt idx="2" formatCode="_(* #,##0.0_);_(* \(#,##0.0\);_(* &quot;-&quot;??_);_(@_)">
                  <c:v>10.021413610000003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8F-49E3-819F-C810EFDCBF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3539072"/>
        <c:axId val="205828864"/>
      </c:barChart>
      <c:catAx>
        <c:axId val="193539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828864"/>
        <c:crosses val="autoZero"/>
        <c:auto val="1"/>
        <c:lblAlgn val="ctr"/>
        <c:lblOffset val="100"/>
        <c:noMultiLvlLbl val="0"/>
      </c:catAx>
      <c:valAx>
        <c:axId val="205828864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193539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650491997432496E-2"/>
          <c:y val="0.33929309146114134"/>
          <c:w val="0.90222222222222226"/>
          <c:h val="0.3306796693681922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Sheet1!$A$19</c:f>
              <c:strCache>
                <c:ptCount val="1"/>
                <c:pt idx="0">
                  <c:v>Foundation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4894508171861603E-2"/>
                  <c:y val="-1.066391699945924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A9D-4C41-B718-638635D181FC}"/>
                </c:ext>
              </c:extLst>
            </c:dLbl>
            <c:dLbl>
              <c:idx val="1"/>
              <c:layout>
                <c:manualLayout>
                  <c:x val="-7.7767219910137256E-2"/>
                  <c:y val="-1.06639169994593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9D-4C41-B718-638635D181FC}"/>
                </c:ext>
              </c:extLst>
            </c:dLbl>
            <c:dLbl>
              <c:idx val="2"/>
              <c:layout>
                <c:manualLayout>
                  <c:x val="-8.2341762257792397E-2"/>
                  <c:y val="-9.7751443262029081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A9D-4C41-B718-638635D181FC}"/>
                </c:ext>
              </c:extLst>
            </c:dLbl>
            <c:dLbl>
              <c:idx val="3"/>
              <c:layout>
                <c:manualLayout>
                  <c:x val="-6.8618135214827167E-2"/>
                  <c:y val="-2.132783399891849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9D-4C41-B718-638635D181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Sheet1!$B$19:$E$19</c:f>
              <c:numCache>
                <c:formatCode>0%</c:formatCode>
                <c:ptCount val="4"/>
                <c:pt idx="0">
                  <c:v>0.09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9D-4C41-B718-638635D181FC}"/>
            </c:ext>
          </c:extLst>
        </c:ser>
        <c:ser>
          <c:idx val="1"/>
          <c:order val="1"/>
          <c:tx>
            <c:strRef>
              <c:f>Sheet1!$A$20</c:f>
              <c:strCache>
                <c:ptCount val="1"/>
                <c:pt idx="0">
                  <c:v>Undergraduate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Sheet1!$B$20:$E$20</c:f>
              <c:numCache>
                <c:formatCode>0%</c:formatCode>
                <c:ptCount val="4"/>
                <c:pt idx="0">
                  <c:v>0.76</c:v>
                </c:pt>
                <c:pt idx="1">
                  <c:v>0.71</c:v>
                </c:pt>
                <c:pt idx="2">
                  <c:v>0.68</c:v>
                </c:pt>
                <c:pt idx="3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A9D-4C41-B718-638635D181FC}"/>
            </c:ext>
          </c:extLst>
        </c:ser>
        <c:ser>
          <c:idx val="2"/>
          <c:order val="2"/>
          <c:tx>
            <c:strRef>
              <c:f>Sheet1!$A$21</c:f>
              <c:strCache>
                <c:ptCount val="1"/>
                <c:pt idx="0">
                  <c:v>Postgraduate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Sheet1!$B$21:$E$21</c:f>
              <c:numCache>
                <c:formatCode>0%</c:formatCode>
                <c:ptCount val="4"/>
                <c:pt idx="0">
                  <c:v>0.15</c:v>
                </c:pt>
                <c:pt idx="1">
                  <c:v>0.15</c:v>
                </c:pt>
                <c:pt idx="2">
                  <c:v>0.18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9D-4C41-B718-638635D181F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83672943"/>
        <c:axId val="1083670031"/>
      </c:barChart>
      <c:catAx>
        <c:axId val="1083672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670031"/>
        <c:crosses val="autoZero"/>
        <c:auto val="1"/>
        <c:lblAlgn val="ctr"/>
        <c:lblOffset val="100"/>
        <c:noMultiLvlLbl val="0"/>
      </c:catAx>
      <c:valAx>
        <c:axId val="1083670031"/>
        <c:scaling>
          <c:orientation val="minMax"/>
          <c:max val="1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083672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270736654211298E-2"/>
          <c:y val="0.80938122411691027"/>
          <c:w val="0.89999980847718297"/>
          <c:h val="0.179954858883630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888888888888891E-2"/>
          <c:y val="0.27530988274706869"/>
          <c:w val="0.90222222222222226"/>
          <c:h val="0.4159907147284981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'[KU-in-Numbers-Fall2021.xlsx]Sheet1'!$A$37</c:f>
              <c:strCache>
                <c:ptCount val="1"/>
                <c:pt idx="0">
                  <c:v>CMHS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9406412657796776E-2"/>
                  <c:y val="-3.66972477064220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3B-434E-8A58-796AF865DC14}"/>
                </c:ext>
              </c:extLst>
            </c:dLbl>
            <c:dLbl>
              <c:idx val="1"/>
              <c:layout>
                <c:manualLayout>
                  <c:x val="-8.4018289006806635E-2"/>
                  <c:y val="-1.8348623853211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3B-434E-8A58-796AF865DC14}"/>
                </c:ext>
              </c:extLst>
            </c:dLbl>
            <c:dLbl>
              <c:idx val="2"/>
              <c:layout>
                <c:manualLayout>
                  <c:x val="-7.6712350832301754E-2"/>
                  <c:y val="-1.8348623853211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E3B-434E-8A58-796AF865DC14}"/>
                </c:ext>
              </c:extLst>
            </c:dLbl>
            <c:dLbl>
              <c:idx val="3"/>
              <c:layout>
                <c:manualLayout>
                  <c:x val="-7.6712350832301685E-2"/>
                  <c:y val="-6.116207951070448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E3B-434E-8A58-796AF865DC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'[KU-in-Numbers-Fall2021.xlsx]Sheet1'!$B$1:$E$1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'[KU-in-Numbers-Fall2021.xlsx]Sheet1'!$B$37:$E$37</c:f>
              <c:numCache>
                <c:formatCode>0%</c:formatCode>
                <c:ptCount val="4"/>
                <c:pt idx="0">
                  <c:v>0</c:v>
                </c:pt>
                <c:pt idx="1">
                  <c:v>0.05</c:v>
                </c:pt>
                <c:pt idx="2">
                  <c:v>0.06</c:v>
                </c:pt>
                <c:pt idx="3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3B-434E-8A58-796AF865DC14}"/>
            </c:ext>
          </c:extLst>
        </c:ser>
        <c:ser>
          <c:idx val="1"/>
          <c:order val="1"/>
          <c:tx>
            <c:strRef>
              <c:f>'[KU-in-Numbers-Fall2021.xlsx]Sheet1'!$A$38</c:f>
              <c:strCache>
                <c:ptCount val="1"/>
                <c:pt idx="0">
                  <c:v>CoE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'[KU-in-Numbers-Fall2021.xlsx]Sheet1'!$B$1:$E$1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'[KU-in-Numbers-Fall2021.xlsx]Sheet1'!$B$38:$E$38</c:f>
              <c:numCache>
                <c:formatCode>0%</c:formatCode>
                <c:ptCount val="4"/>
                <c:pt idx="0">
                  <c:v>0.6</c:v>
                </c:pt>
                <c:pt idx="1">
                  <c:v>0.55000000000000004</c:v>
                </c:pt>
                <c:pt idx="2">
                  <c:v>0.53</c:v>
                </c:pt>
                <c:pt idx="3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E3B-434E-8A58-796AF865DC14}"/>
            </c:ext>
          </c:extLst>
        </c:ser>
        <c:ser>
          <c:idx val="2"/>
          <c:order val="2"/>
          <c:tx>
            <c:strRef>
              <c:f>'[KU-in-Numbers-Fall2021.xlsx]Sheet1'!$A$39</c:f>
              <c:strCache>
                <c:ptCount val="1"/>
                <c:pt idx="0">
                  <c:v>CoAS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'[KU-in-Numbers-Fall2021.xlsx]Sheet1'!$B$1:$E$1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'[KU-in-Numbers-Fall2021.xlsx]Sheet1'!$B$39:$E$39</c:f>
              <c:numCache>
                <c:formatCode>0%</c:formatCode>
                <c:ptCount val="4"/>
                <c:pt idx="0">
                  <c:v>0.4</c:v>
                </c:pt>
                <c:pt idx="1">
                  <c:v>0.4</c:v>
                </c:pt>
                <c:pt idx="2">
                  <c:v>0.41</c:v>
                </c:pt>
                <c:pt idx="3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E3B-434E-8A58-796AF865DC1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83672943"/>
        <c:axId val="1083670031"/>
      </c:barChart>
      <c:catAx>
        <c:axId val="1083672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670031"/>
        <c:crosses val="autoZero"/>
        <c:auto val="1"/>
        <c:lblAlgn val="ctr"/>
        <c:lblOffset val="100"/>
        <c:noMultiLvlLbl val="0"/>
      </c:catAx>
      <c:valAx>
        <c:axId val="1083670031"/>
        <c:scaling>
          <c:orientation val="minMax"/>
          <c:max val="1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083672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681169821638645"/>
          <c:y val="0.82627443846872439"/>
          <c:w val="0.4663766035672271"/>
          <c:h val="0.155317670198711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694464446276734E-2"/>
          <c:y val="0.20160804020100506"/>
          <c:w val="0.89841660106480226"/>
          <c:h val="0.489692557274561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Master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608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966-45CB-90A4-1EACD8A584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347</c:v>
                </c:pt>
                <c:pt idx="1">
                  <c:v>344</c:v>
                </c:pt>
                <c:pt idx="2">
                  <c:v>482</c:v>
                </c:pt>
                <c:pt idx="3">
                  <c:v>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5B-4B7C-A64E-A0377DF6F71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PhD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2018/19: Fall</c:v>
                </c:pt>
                <c:pt idx="1">
                  <c:v>2019/20: Fall</c:v>
                </c:pt>
                <c:pt idx="2">
                  <c:v>2020/21: Fall</c:v>
                </c:pt>
                <c:pt idx="3">
                  <c:v>2021/22: Fall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150</c:v>
                </c:pt>
                <c:pt idx="1">
                  <c:v>160</c:v>
                </c:pt>
                <c:pt idx="2">
                  <c:v>216</c:v>
                </c:pt>
                <c:pt idx="3">
                  <c:v>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5B-4B7C-A64E-A0377DF6F71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83672943"/>
        <c:axId val="1083670031"/>
      </c:barChart>
      <c:catAx>
        <c:axId val="1083672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670031"/>
        <c:crosses val="autoZero"/>
        <c:auto val="1"/>
        <c:lblAlgn val="ctr"/>
        <c:lblOffset val="100"/>
        <c:noMultiLvlLbl val="0"/>
      </c:catAx>
      <c:valAx>
        <c:axId val="1083670031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083672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176446679095812"/>
          <c:y val="0.82540872147944544"/>
          <c:w val="0.31647072514573182"/>
          <c:h val="0.156091656160483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Total budget including revenue (projection) (in</a:t>
            </a:r>
            <a:r>
              <a:rPr lang="en-US" sz="1800" b="1" baseline="0" dirty="0"/>
              <a:t> AED)</a:t>
            </a:r>
            <a:endParaRPr lang="en-US" sz="1800" b="1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'[Projection 10 years.xlsx]Sheet1'!$B$121</c:f>
              <c:strCache>
                <c:ptCount val="1"/>
                <c:pt idx="0">
                  <c:v>Annual Operating Budget (govermnet funding)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'[Projection 10 years.xlsx]Sheet1'!$C$120:$L$120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years.xlsx]Sheet1'!$C$121:$L$121</c:f>
              <c:numCache>
                <c:formatCode>_(* #,##0_);_(* \(#,##0\);_(* "-"??_);_(@_)</c:formatCode>
                <c:ptCount val="10"/>
                <c:pt idx="0">
                  <c:v>1200000000</c:v>
                </c:pt>
                <c:pt idx="1">
                  <c:v>1200000000</c:v>
                </c:pt>
                <c:pt idx="2">
                  <c:v>1200000000</c:v>
                </c:pt>
                <c:pt idx="3">
                  <c:v>1200000000</c:v>
                </c:pt>
                <c:pt idx="4">
                  <c:v>1200000000</c:v>
                </c:pt>
                <c:pt idx="5">
                  <c:v>1200000000</c:v>
                </c:pt>
                <c:pt idx="6">
                  <c:v>1200000000</c:v>
                </c:pt>
                <c:pt idx="7">
                  <c:v>1200000000</c:v>
                </c:pt>
                <c:pt idx="8">
                  <c:v>1200000000</c:v>
                </c:pt>
                <c:pt idx="9">
                  <c:v>1200000000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40-419A-953A-0F864180DE44}"/>
            </c:ext>
          </c:extLst>
        </c:ser>
        <c:ser>
          <c:idx val="1"/>
          <c:order val="1"/>
          <c:tx>
            <c:strRef>
              <c:f>'[Projection 10 years.xlsx]Sheet1'!$B$122</c:f>
              <c:strCache>
                <c:ptCount val="1"/>
                <c:pt idx="0">
                  <c:v>Revenue 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'[Projection 10 years.xlsx]Sheet1'!$C$120:$L$120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years.xlsx]Sheet1'!$C$122:$L$122</c:f>
              <c:numCache>
                <c:formatCode>#,##0</c:formatCode>
                <c:ptCount val="10"/>
                <c:pt idx="0">
                  <c:v>107651659.67900001</c:v>
                </c:pt>
                <c:pt idx="1">
                  <c:v>117866938.04690002</c:v>
                </c:pt>
                <c:pt idx="2">
                  <c:v>129645478.91199002</c:v>
                </c:pt>
                <c:pt idx="3">
                  <c:v>143341562.75028145</c:v>
                </c:pt>
                <c:pt idx="4">
                  <c:v>159406871.11069208</c:v>
                </c:pt>
                <c:pt idx="5">
                  <c:v>178419556.90456191</c:v>
                </c:pt>
                <c:pt idx="6">
                  <c:v>201122355.54821157</c:v>
                </c:pt>
                <c:pt idx="7">
                  <c:v>228472620.71302706</c:v>
                </c:pt>
                <c:pt idx="8">
                  <c:v>261708104.29064041</c:v>
                </c:pt>
                <c:pt idx="9">
                  <c:v>300227392.40350127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40-419A-953A-0F864180DE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3524608"/>
        <c:axId val="123526528"/>
      </c:barChart>
      <c:catAx>
        <c:axId val="123524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526528"/>
        <c:crosses val="autoZero"/>
        <c:auto val="1"/>
        <c:lblAlgn val="ctr"/>
        <c:lblOffset val="100"/>
        <c:noMultiLvlLbl val="0"/>
      </c:catAx>
      <c:valAx>
        <c:axId val="1235265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52460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  <a:sp3d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chemeClr val="tx1"/>
                </a:solidFill>
              </a:rPr>
              <a:t>Revenue projection for 10 years </a:t>
            </a:r>
            <a:r>
              <a:rPr lang="en-US" sz="2000" b="1" i="0" u="none" strike="noStrike" baseline="0" dirty="0">
                <a:solidFill>
                  <a:schemeClr val="tx1"/>
                </a:solidFill>
                <a:effectLst/>
              </a:rPr>
              <a:t>(in AED)</a:t>
            </a:r>
            <a:endParaRPr lang="en-US" sz="20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'[Projection 10 years.xlsx]Sheet1'!$B$35</c:f>
              <c:strCache>
                <c:ptCount val="1"/>
                <c:pt idx="0">
                  <c:v>Annual Budget (Govermnet funding)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years.xlsx]Sheet1'!$C$35:$L$35</c:f>
            </c:numRef>
          </c:val>
          <c:smooth val="0"/>
          <c:extLst>
            <c:ext xmlns:c16="http://schemas.microsoft.com/office/drawing/2014/chart" uri="{C3380CC4-5D6E-409C-BE32-E72D297353CC}">
              <c16:uniqueId val="{00000000-FAB0-47DE-812F-4781B14B09C6}"/>
            </c:ext>
          </c:extLst>
        </c:ser>
        <c:ser>
          <c:idx val="1"/>
          <c:order val="1"/>
          <c:tx>
            <c:strRef>
              <c:f>'[Projection 10 years.xlsx]Sheet1'!$B$36</c:f>
              <c:strCache>
                <c:ptCount val="1"/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years.xlsx]Sheet1'!$C$36:$L$36</c:f>
            </c:numRef>
          </c:val>
          <c:smooth val="0"/>
          <c:extLst>
            <c:ext xmlns:c16="http://schemas.microsoft.com/office/drawing/2014/chart" uri="{C3380CC4-5D6E-409C-BE32-E72D297353CC}">
              <c16:uniqueId val="{00000001-FAB0-47DE-812F-4781B14B09C6}"/>
            </c:ext>
          </c:extLst>
        </c:ser>
        <c:ser>
          <c:idx val="2"/>
          <c:order val="2"/>
          <c:tx>
            <c:strRef>
              <c:f>'[Projection 10 years.xlsx]Sheet1'!$B$37</c:f>
              <c:strCache>
                <c:ptCount val="1"/>
                <c:pt idx="0">
                  <c:v>Revenue: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years.xlsx]Sheet1'!$C$37:$L$37</c:f>
            </c:numRef>
          </c:val>
          <c:smooth val="0"/>
          <c:extLst>
            <c:ext xmlns:c16="http://schemas.microsoft.com/office/drawing/2014/chart" uri="{C3380CC4-5D6E-409C-BE32-E72D297353CC}">
              <c16:uniqueId val="{00000002-FAB0-47DE-812F-4781B14B09C6}"/>
            </c:ext>
          </c:extLst>
        </c:ser>
        <c:ser>
          <c:idx val="3"/>
          <c:order val="3"/>
          <c:tx>
            <c:strRef>
              <c:f>'[Projection 10 years.xlsx]Sheet1'!$B$38</c:f>
              <c:strCache>
                <c:ptCount val="1"/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years.xlsx]Sheet1'!$C$38:$L$38</c:f>
            </c:numRef>
          </c:val>
          <c:smooth val="0"/>
          <c:extLst>
            <c:ext xmlns:c16="http://schemas.microsoft.com/office/drawing/2014/chart" uri="{C3380CC4-5D6E-409C-BE32-E72D297353CC}">
              <c16:uniqueId val="{00000003-FAB0-47DE-812F-4781B14B09C6}"/>
            </c:ext>
          </c:extLst>
        </c:ser>
        <c:ser>
          <c:idx val="4"/>
          <c:order val="4"/>
          <c:tx>
            <c:strRef>
              <c:f>'[Projection 10 years.xlsx]Sheet1'!$B$39</c:f>
              <c:strCache>
                <c:ptCount val="1"/>
                <c:pt idx="0">
                  <c:v>Secondments Revenues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years.xlsx]Sheet1'!$C$39:$L$39</c:f>
              <c:numCache>
                <c:formatCode>#,##0</c:formatCode>
                <c:ptCount val="10"/>
                <c:pt idx="0">
                  <c:v>400000</c:v>
                </c:pt>
                <c:pt idx="1">
                  <c:v>480000</c:v>
                </c:pt>
                <c:pt idx="2">
                  <c:v>576000</c:v>
                </c:pt>
                <c:pt idx="3">
                  <c:v>691200</c:v>
                </c:pt>
                <c:pt idx="4">
                  <c:v>829440</c:v>
                </c:pt>
                <c:pt idx="5">
                  <c:v>995328</c:v>
                </c:pt>
                <c:pt idx="6">
                  <c:v>1194393.5999999999</c:v>
                </c:pt>
                <c:pt idx="7">
                  <c:v>1433272.3199999998</c:v>
                </c:pt>
                <c:pt idx="8">
                  <c:v>1719926.7839999998</c:v>
                </c:pt>
                <c:pt idx="9">
                  <c:v>2063912.1407999997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AB0-47DE-812F-4781B14B09C6}"/>
            </c:ext>
          </c:extLst>
        </c:ser>
        <c:ser>
          <c:idx val="5"/>
          <c:order val="5"/>
          <c:tx>
            <c:strRef>
              <c:f>'[Projection 10 years.xlsx]Sheet1'!$B$40</c:f>
              <c:strCache>
                <c:ptCount val="1"/>
                <c:pt idx="0">
                  <c:v>Sponsorship Income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years.xlsx]Sheet1'!$C$40:$L$40</c:f>
              <c:numCache>
                <c:formatCode>#,##0</c:formatCode>
                <c:ptCount val="10"/>
                <c:pt idx="0">
                  <c:v>14659400</c:v>
                </c:pt>
                <c:pt idx="1">
                  <c:v>15187138.4</c:v>
                </c:pt>
                <c:pt idx="2">
                  <c:v>15733875.3824</c:v>
                </c:pt>
                <c:pt idx="3">
                  <c:v>16300294.896166401</c:v>
                </c:pt>
                <c:pt idx="4">
                  <c:v>16887105.512428392</c:v>
                </c:pt>
                <c:pt idx="5">
                  <c:v>17495041.310875814</c:v>
                </c:pt>
                <c:pt idx="6">
                  <c:v>18124862.798067342</c:v>
                </c:pt>
                <c:pt idx="7">
                  <c:v>18777357.858797766</c:v>
                </c:pt>
                <c:pt idx="8">
                  <c:v>19453342.741714485</c:v>
                </c:pt>
                <c:pt idx="9">
                  <c:v>20153663.080416206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AB0-47DE-812F-4781B14B09C6}"/>
            </c:ext>
          </c:extLst>
        </c:ser>
        <c:ser>
          <c:idx val="6"/>
          <c:order val="6"/>
          <c:tx>
            <c:strRef>
              <c:f>'[Projection 10 years.xlsx]Sheet1'!$B$41</c:f>
              <c:strCache>
                <c:ptCount val="1"/>
                <c:pt idx="0">
                  <c:v>Tuition fee (Self-Financed)</c:v>
                </c:pt>
              </c:strCache>
            </c:strRef>
          </c:tx>
          <c:spPr>
            <a:ln w="2857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rgbClr val="0000FF"/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years.xlsx]Sheet1'!$C$41:$L$41</c:f>
              <c:numCache>
                <c:formatCode>#,##0</c:formatCode>
                <c:ptCount val="10"/>
                <c:pt idx="0">
                  <c:v>7422000.0000000009</c:v>
                </c:pt>
                <c:pt idx="1">
                  <c:v>9181014.0000000019</c:v>
                </c:pt>
                <c:pt idx="2">
                  <c:v>11356914.318000004</c:v>
                </c:pt>
                <c:pt idx="3">
                  <c:v>14048503.011366006</c:v>
                </c:pt>
                <c:pt idx="4">
                  <c:v>17377998.225059751</c:v>
                </c:pt>
                <c:pt idx="5">
                  <c:v>21496583.804398913</c:v>
                </c:pt>
                <c:pt idx="6">
                  <c:v>26591274.166041456</c:v>
                </c:pt>
                <c:pt idx="7">
                  <c:v>32893406.143393286</c:v>
                </c:pt>
                <c:pt idx="8">
                  <c:v>40689143.399377495</c:v>
                </c:pt>
                <c:pt idx="9">
                  <c:v>50332470.385029964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AB0-47DE-812F-4781B14B09C6}"/>
            </c:ext>
          </c:extLst>
        </c:ser>
        <c:ser>
          <c:idx val="7"/>
          <c:order val="7"/>
          <c:tx>
            <c:strRef>
              <c:f>'[Projection 10 years.xlsx]Sheet1'!$B$42</c:f>
              <c:strCache>
                <c:ptCount val="1"/>
                <c:pt idx="0">
                  <c:v>Overhead  Revenue 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years.xlsx]Sheet1'!$C$42:$L$42</c:f>
              <c:numCache>
                <c:formatCode>#,##0</c:formatCode>
                <c:ptCount val="10"/>
                <c:pt idx="0">
                  <c:v>6300000</c:v>
                </c:pt>
                <c:pt idx="1">
                  <c:v>6615000</c:v>
                </c:pt>
                <c:pt idx="2">
                  <c:v>6945750</c:v>
                </c:pt>
                <c:pt idx="3">
                  <c:v>7293037.5</c:v>
                </c:pt>
                <c:pt idx="4">
                  <c:v>7657689.375</c:v>
                </c:pt>
                <c:pt idx="5">
                  <c:v>8040573.84375</c:v>
                </c:pt>
                <c:pt idx="6">
                  <c:v>8442602.5359375011</c:v>
                </c:pt>
                <c:pt idx="7">
                  <c:v>8864732.6627343763</c:v>
                </c:pt>
                <c:pt idx="8">
                  <c:v>9307969.2958710957</c:v>
                </c:pt>
                <c:pt idx="9">
                  <c:v>9773367.7606646512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AB0-47DE-812F-4781B14B09C6}"/>
            </c:ext>
          </c:extLst>
        </c:ser>
        <c:ser>
          <c:idx val="8"/>
          <c:order val="8"/>
          <c:tx>
            <c:strRef>
              <c:f>'[Projection 10 years.xlsx]Sheet1'!$B$43</c:f>
              <c:strCache>
                <c:ptCount val="1"/>
                <c:pt idx="0">
                  <c:v>Student Dorms Revenue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years.xlsx]Sheet1'!$C$43:$L$43</c:f>
              <c:numCache>
                <c:formatCode>#,##0</c:formatCode>
                <c:ptCount val="10"/>
                <c:pt idx="0">
                  <c:v>3865524.1900000004</c:v>
                </c:pt>
                <c:pt idx="1">
                  <c:v>4252076.6090000011</c:v>
                </c:pt>
                <c:pt idx="2">
                  <c:v>4677284.2699000016</c:v>
                </c:pt>
                <c:pt idx="3">
                  <c:v>5145012.6968900021</c:v>
                </c:pt>
                <c:pt idx="4">
                  <c:v>5659513.9665790023</c:v>
                </c:pt>
                <c:pt idx="5">
                  <c:v>6225465.3632369032</c:v>
                </c:pt>
                <c:pt idx="6">
                  <c:v>6848011.899560594</c:v>
                </c:pt>
                <c:pt idx="7">
                  <c:v>7532813.0895166537</c:v>
                </c:pt>
                <c:pt idx="8">
                  <c:v>8286094.3984683193</c:v>
                </c:pt>
                <c:pt idx="9">
                  <c:v>9114703.8383151516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AB0-47DE-812F-4781B14B09C6}"/>
            </c:ext>
          </c:extLst>
        </c:ser>
        <c:ser>
          <c:idx val="9"/>
          <c:order val="9"/>
          <c:tx>
            <c:strRef>
              <c:f>'[Projection 10 years.xlsx]Sheet1'!$B$44</c:f>
              <c:strCache>
                <c:ptCount val="1"/>
                <c:pt idx="0">
                  <c:v>Commercial properties Rent (outlets and other space rent) 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years.xlsx]Sheet1'!$C$44:$L$44</c:f>
              <c:numCache>
                <c:formatCode>#,##0</c:formatCode>
                <c:ptCount val="10"/>
                <c:pt idx="0">
                  <c:v>1000000</c:v>
                </c:pt>
                <c:pt idx="1">
                  <c:v>1200000</c:v>
                </c:pt>
                <c:pt idx="2">
                  <c:v>1440000</c:v>
                </c:pt>
                <c:pt idx="3">
                  <c:v>1728000</c:v>
                </c:pt>
                <c:pt idx="4">
                  <c:v>2073600</c:v>
                </c:pt>
                <c:pt idx="5">
                  <c:v>2488320</c:v>
                </c:pt>
                <c:pt idx="6">
                  <c:v>2985984</c:v>
                </c:pt>
                <c:pt idx="7">
                  <c:v>3583180.7999999998</c:v>
                </c:pt>
                <c:pt idx="8">
                  <c:v>4299816.96</c:v>
                </c:pt>
                <c:pt idx="9">
                  <c:v>5159780.352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AB0-47DE-812F-4781B14B09C6}"/>
            </c:ext>
          </c:extLst>
        </c:ser>
        <c:ser>
          <c:idx val="10"/>
          <c:order val="10"/>
          <c:tx>
            <c:strRef>
              <c:f>'[Projection 10 years.xlsx]Sheet1'!$B$45</c:f>
              <c:strCache>
                <c:ptCount val="1"/>
                <c:pt idx="0">
                  <c:v>Continuing Education Revenue 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years.xlsx]Sheet1'!$C$45:$L$45</c:f>
              <c:numCache>
                <c:formatCode>#,##0</c:formatCode>
                <c:ptCount val="10"/>
                <c:pt idx="0">
                  <c:v>2500000</c:v>
                </c:pt>
                <c:pt idx="1">
                  <c:v>3000000</c:v>
                </c:pt>
                <c:pt idx="2">
                  <c:v>3600000</c:v>
                </c:pt>
                <c:pt idx="3">
                  <c:v>4320000</c:v>
                </c:pt>
                <c:pt idx="4">
                  <c:v>5184000</c:v>
                </c:pt>
                <c:pt idx="5">
                  <c:v>6220800</c:v>
                </c:pt>
                <c:pt idx="6">
                  <c:v>7464960</c:v>
                </c:pt>
                <c:pt idx="7">
                  <c:v>8957952</c:v>
                </c:pt>
                <c:pt idx="8">
                  <c:v>10749542.4</c:v>
                </c:pt>
                <c:pt idx="9">
                  <c:v>12899450.880000001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FAB0-47DE-812F-4781B14B09C6}"/>
            </c:ext>
          </c:extLst>
        </c:ser>
        <c:ser>
          <c:idx val="11"/>
          <c:order val="11"/>
          <c:tx>
            <c:strRef>
              <c:f>'[Projection 10 years.xlsx]Sheet1'!$B$46</c:f>
              <c:strCache>
                <c:ptCount val="1"/>
                <c:pt idx="0">
                  <c:v>Other Revenues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years.xlsx]Sheet1'!$C$46:$L$46</c:f>
              <c:numCache>
                <c:formatCode>#,##0</c:formatCode>
                <c:ptCount val="10"/>
                <c:pt idx="0">
                  <c:v>1654735.4890000001</c:v>
                </c:pt>
                <c:pt idx="1">
                  <c:v>1820209.0379000001</c:v>
                </c:pt>
                <c:pt idx="2">
                  <c:v>2002229.9416900002</c:v>
                </c:pt>
                <c:pt idx="3">
                  <c:v>2202452.9358590003</c:v>
                </c:pt>
                <c:pt idx="4">
                  <c:v>2422698.2294449005</c:v>
                </c:pt>
                <c:pt idx="5">
                  <c:v>2664968.0523893908</c:v>
                </c:pt>
                <c:pt idx="6">
                  <c:v>2931464.8576283301</c:v>
                </c:pt>
                <c:pt idx="7">
                  <c:v>3224611.3433911633</c:v>
                </c:pt>
                <c:pt idx="8">
                  <c:v>3547072.4777302798</c:v>
                </c:pt>
                <c:pt idx="9">
                  <c:v>3901779.7255033082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FAB0-47DE-812F-4781B14B09C6}"/>
            </c:ext>
          </c:extLst>
        </c:ser>
        <c:ser>
          <c:idx val="12"/>
          <c:order val="12"/>
          <c:tx>
            <c:strRef>
              <c:f>'[Projection 10 years.xlsx]Sheet1'!$B$47</c:f>
              <c:strCache>
                <c:ptCount val="1"/>
                <c:pt idx="0">
                  <c:v>Profit from "KU Enterprices Company"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years.xlsx]Sheet1'!$C$47:$L$47</c:f>
              <c:numCache>
                <c:formatCode>#,##0</c:formatCode>
                <c:ptCount val="10"/>
                <c:pt idx="0">
                  <c:v>5000000</c:v>
                </c:pt>
                <c:pt idx="1">
                  <c:v>6690000</c:v>
                </c:pt>
                <c:pt idx="2">
                  <c:v>8951220</c:v>
                </c:pt>
                <c:pt idx="3">
                  <c:v>11976732.360000001</c:v>
                </c:pt>
                <c:pt idx="4">
                  <c:v>16024867.897680003</c:v>
                </c:pt>
                <c:pt idx="5">
                  <c:v>21441273.247095846</c:v>
                </c:pt>
                <c:pt idx="6">
                  <c:v>28688423.604614243</c:v>
                </c:pt>
                <c:pt idx="7">
                  <c:v>38385110.782973856</c:v>
                </c:pt>
                <c:pt idx="8">
                  <c:v>51359278.227619022</c:v>
                </c:pt>
                <c:pt idx="9">
                  <c:v>68718714.268554255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FAB0-47DE-812F-4781B14B09C6}"/>
            </c:ext>
          </c:extLst>
        </c:ser>
        <c:ser>
          <c:idx val="13"/>
          <c:order val="13"/>
          <c:tx>
            <c:strRef>
              <c:f>'[Projection 10 years.xlsx]Sheet1'!$B$48</c:f>
              <c:strCache>
                <c:ptCount val="1"/>
                <c:pt idx="0">
                  <c:v>Interest from deposits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  <a:lumOff val="20000"/>
                </a:schemeClr>
              </a:solidFill>
              <a:ln w="9525">
                <a:solidFill>
                  <a:schemeClr val="accent2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years.xlsx]Sheet1'!$C$48:$L$48</c:f>
              <c:numCache>
                <c:formatCode>#,##0</c:formatCode>
                <c:ptCount val="10"/>
                <c:pt idx="0">
                  <c:v>650000</c:v>
                </c:pt>
                <c:pt idx="1">
                  <c:v>747500</c:v>
                </c:pt>
                <c:pt idx="2">
                  <c:v>859624.99999999988</c:v>
                </c:pt>
                <c:pt idx="3">
                  <c:v>988568.74999999977</c:v>
                </c:pt>
                <c:pt idx="4">
                  <c:v>1136854.0624999995</c:v>
                </c:pt>
                <c:pt idx="5">
                  <c:v>1307382.1718749993</c:v>
                </c:pt>
                <c:pt idx="6">
                  <c:v>1503489.497656249</c:v>
                </c:pt>
                <c:pt idx="7">
                  <c:v>1729012.9223046862</c:v>
                </c:pt>
                <c:pt idx="8">
                  <c:v>1988364.860650389</c:v>
                </c:pt>
                <c:pt idx="9">
                  <c:v>2286619.5897479472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FAB0-47DE-812F-4781B14B09C6}"/>
            </c:ext>
          </c:extLst>
        </c:ser>
        <c:ser>
          <c:idx val="14"/>
          <c:order val="14"/>
          <c:tx>
            <c:strRef>
              <c:f>'[Projection 10 years.xlsx]Sheet1'!$B$49</c:f>
              <c:strCache>
                <c:ptCount val="1"/>
                <c:pt idx="0">
                  <c:v>External Research Grants 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years.xlsx]Sheet1'!$C$49:$L$49</c:f>
              <c:numCache>
                <c:formatCode>#,##0</c:formatCode>
                <c:ptCount val="10"/>
                <c:pt idx="0">
                  <c:v>64200000.000000007</c:v>
                </c:pt>
                <c:pt idx="1">
                  <c:v>68694000.000000015</c:v>
                </c:pt>
                <c:pt idx="2">
                  <c:v>73502580.000000015</c:v>
                </c:pt>
                <c:pt idx="3">
                  <c:v>78647760.600000024</c:v>
                </c:pt>
                <c:pt idx="4">
                  <c:v>84153103.842000037</c:v>
                </c:pt>
                <c:pt idx="5">
                  <c:v>90043821.110940039</c:v>
                </c:pt>
                <c:pt idx="6">
                  <c:v>96346888.588705853</c:v>
                </c:pt>
                <c:pt idx="7">
                  <c:v>103091170.78991526</c:v>
                </c:pt>
                <c:pt idx="8">
                  <c:v>110307552.74520934</c:v>
                </c:pt>
                <c:pt idx="9">
                  <c:v>115822930.3824698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FAB0-47DE-812F-4781B14B09C6}"/>
            </c:ext>
          </c:extLst>
        </c:ser>
        <c:ser>
          <c:idx val="15"/>
          <c:order val="15"/>
          <c:tx>
            <c:strRef>
              <c:f>'[Projection 10 years.xlsx]Sheet1'!$B$50</c:f>
              <c:strCache>
                <c:ptCount val="1"/>
                <c:pt idx="0">
                  <c:v>Grand Total 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80000"/>
                  <a:lumOff val="20000"/>
                </a:schemeClr>
              </a:solidFill>
              <a:ln w="9525">
                <a:solidFill>
                  <a:schemeClr val="accent4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'[Projection 10 years.xlsx]Sheet1'!$C$34:$L$34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years.xlsx]Sheet1'!$C$50:$L$50</c:f>
              <c:numCache>
                <c:formatCode>#,##0</c:formatCode>
                <c:ptCount val="10"/>
                <c:pt idx="0">
                  <c:v>107651659.67900001</c:v>
                </c:pt>
                <c:pt idx="1">
                  <c:v>117866938.04690002</c:v>
                </c:pt>
                <c:pt idx="2">
                  <c:v>129645478.91199002</c:v>
                </c:pt>
                <c:pt idx="3">
                  <c:v>143341562.75028145</c:v>
                </c:pt>
                <c:pt idx="4">
                  <c:v>159406871.11069208</c:v>
                </c:pt>
                <c:pt idx="5">
                  <c:v>178419556.90456191</c:v>
                </c:pt>
                <c:pt idx="6">
                  <c:v>201122355.54821157</c:v>
                </c:pt>
                <c:pt idx="7">
                  <c:v>228472620.71302706</c:v>
                </c:pt>
                <c:pt idx="8">
                  <c:v>261708104.29064041</c:v>
                </c:pt>
                <c:pt idx="9">
                  <c:v>300227392.40350127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FAB0-47DE-812F-4781B14B09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916864"/>
        <c:axId val="122918400"/>
      </c:lineChart>
      <c:catAx>
        <c:axId val="122916864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18400"/>
        <c:crosses val="autoZero"/>
        <c:auto val="1"/>
        <c:lblAlgn val="ctr"/>
        <c:lblOffset val="100"/>
        <c:noMultiLvlLbl val="0"/>
      </c:catAx>
      <c:valAx>
        <c:axId val="12291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1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967992110730928E-2"/>
          <c:y val="0.89313306381362467"/>
          <c:w val="0.87908250585260417"/>
          <c:h val="9.4259711745208655E-2"/>
        </c:manualLayout>
      </c:layout>
      <c:overlay val="0"/>
      <c:spPr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en-US"/>
    </a:p>
  </c:txPr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High level Projection for total budget between chapters over 10 years (in AED)</a:t>
            </a:r>
            <a:endParaRPr lang="en-US" dirty="0">
              <a:effectLst/>
            </a:endParaRPr>
          </a:p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 </a:t>
            </a:r>
            <a:r>
              <a:rPr lang="en-US" sz="1800" b="0" i="0" baseline="0" dirty="0">
                <a:effectLst/>
              </a:rPr>
              <a:t>(assume fixed government funding with revenue used to fund part of the budget)</a:t>
            </a:r>
            <a:endParaRPr lang="en-US" dirty="0">
              <a:effectLst/>
            </a:endParaRPr>
          </a:p>
        </c:rich>
      </c:tx>
      <c:layout>
        <c:manualLayout>
          <c:xMode val="edge"/>
          <c:yMode val="edge"/>
          <c:x val="0.16637587905712078"/>
          <c:y val="1.7122330890018161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'[Projection 10 years.xlsx]Sheet1'!$E$88</c:f>
              <c:strCache>
                <c:ptCount val="1"/>
                <c:pt idx="0">
                  <c:v>1 Personnel 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cat>
            <c:numRef>
              <c:f>'[Projection 10 years.xlsx]Sheet1'!$F$87:$O$87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years.xlsx]Sheet1'!$F$88:$O$88</c:f>
              <c:numCache>
                <c:formatCode>_(* #,##0_);_(* \(#,##0\);_(* "-"??_);_(@_)</c:formatCode>
                <c:ptCount val="10"/>
                <c:pt idx="0">
                  <c:v>580790220</c:v>
                </c:pt>
                <c:pt idx="1">
                  <c:v>592406024.39999998</c:v>
                </c:pt>
                <c:pt idx="2">
                  <c:v>610178205.13199997</c:v>
                </c:pt>
                <c:pt idx="3">
                  <c:v>628483551.28595996</c:v>
                </c:pt>
                <c:pt idx="4">
                  <c:v>647338057.82453883</c:v>
                </c:pt>
                <c:pt idx="5">
                  <c:v>666758199.55927503</c:v>
                </c:pt>
                <c:pt idx="6">
                  <c:v>686760945.54605329</c:v>
                </c:pt>
                <c:pt idx="7">
                  <c:v>707363773.91243494</c:v>
                </c:pt>
                <c:pt idx="8">
                  <c:v>728584687.12980795</c:v>
                </c:pt>
                <c:pt idx="9">
                  <c:v>750442227.74370217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94-475E-AD3F-43A6ABEB7A0D}"/>
            </c:ext>
          </c:extLst>
        </c:ser>
        <c:ser>
          <c:idx val="1"/>
          <c:order val="1"/>
          <c:tx>
            <c:strRef>
              <c:f>'[Projection 10 years.xlsx]Sheet1'!$E$89</c:f>
              <c:strCache>
                <c:ptCount val="1"/>
                <c:pt idx="0">
                  <c:v>2 Operating 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cat>
            <c:numRef>
              <c:f>'[Projection 10 years.xlsx]Sheet1'!$F$87:$O$87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years.xlsx]Sheet1'!$F$89:$O$89</c:f>
              <c:numCache>
                <c:formatCode>_(* #,##0_);_(* \(#,##0\);_(* "-"??_);_(@_)</c:formatCode>
                <c:ptCount val="10"/>
                <c:pt idx="0">
                  <c:v>637038229.6789999</c:v>
                </c:pt>
                <c:pt idx="1">
                  <c:v>633841239.44690001</c:v>
                </c:pt>
                <c:pt idx="2">
                  <c:v>625099009.35398996</c:v>
                </c:pt>
                <c:pt idx="3">
                  <c:v>617658699.10554135</c:v>
                </c:pt>
                <c:pt idx="4">
                  <c:v>611953521.55660975</c:v>
                </c:pt>
                <c:pt idx="5">
                  <c:v>608542606.86385727</c:v>
                </c:pt>
                <c:pt idx="6">
                  <c:v>608149097.00628567</c:v>
                </c:pt>
                <c:pt idx="7">
                  <c:v>611710164.41484332</c:v>
                </c:pt>
                <c:pt idx="8">
                  <c:v>620442774.30351114</c:v>
                </c:pt>
                <c:pt idx="9">
                  <c:v>633724102.5167582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94-475E-AD3F-43A6ABEB7A0D}"/>
            </c:ext>
          </c:extLst>
        </c:ser>
        <c:ser>
          <c:idx val="2"/>
          <c:order val="2"/>
          <c:tx>
            <c:strRef>
              <c:f>'[Projection 10 years.xlsx]Sheet1'!$E$90</c:f>
              <c:strCache>
                <c:ptCount val="1"/>
                <c:pt idx="0">
                  <c:v>3 Capital 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cat>
            <c:numRef>
              <c:f>'[Projection 10 years.xlsx]Sheet1'!$F$87:$O$87</c:f>
              <c:numCache>
                <c:formatCode>General</c:formatCode>
                <c:ptCount val="1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</c:numCache>
            </c:numRef>
          </c:cat>
          <c:val>
            <c:numRef>
              <c:f>'[Projection 10 years.xlsx]Sheet1'!$F$90:$O$90</c:f>
              <c:numCache>
                <c:formatCode>_(* #,##0_);_(* \(#,##0\);_(* "-"??_);_(@_)</c:formatCode>
                <c:ptCount val="10"/>
                <c:pt idx="0">
                  <c:v>89823210</c:v>
                </c:pt>
                <c:pt idx="1">
                  <c:v>91619674.200000003</c:v>
                </c:pt>
                <c:pt idx="2">
                  <c:v>94368264.425999999</c:v>
                </c:pt>
                <c:pt idx="3">
                  <c:v>97199312.358779997</c:v>
                </c:pt>
                <c:pt idx="4">
                  <c:v>100115291.7295434</c:v>
                </c:pt>
                <c:pt idx="5">
                  <c:v>103118750.48142971</c:v>
                </c:pt>
                <c:pt idx="6">
                  <c:v>106212312.9958726</c:v>
                </c:pt>
                <c:pt idx="7">
                  <c:v>109398682.38574879</c:v>
                </c:pt>
                <c:pt idx="8">
                  <c:v>112680642.85732126</c:v>
                </c:pt>
                <c:pt idx="9">
                  <c:v>116061062.14304091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94-475E-AD3F-43A6ABEB7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3836288"/>
        <c:axId val="123837824"/>
      </c:areaChart>
      <c:catAx>
        <c:axId val="123836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37824"/>
        <c:crosses val="autoZero"/>
        <c:auto val="1"/>
        <c:lblAlgn val="ctr"/>
        <c:lblOffset val="100"/>
        <c:noMultiLvlLbl val="0"/>
      </c:catAx>
      <c:valAx>
        <c:axId val="123837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362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C4884A-860D-4B43-AE66-E2FB24844D39}" type="doc">
      <dgm:prSet loTypeId="urn:diagrams.loki3.com/BracketList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5DFA3318-6D62-4415-8881-39A35BBB443A}">
      <dgm:prSet phldrT="[Text]" custT="1"/>
      <dgm:spPr>
        <a:solidFill>
          <a:srgbClr val="FF0000"/>
        </a:solidFill>
        <a:ln w="28575">
          <a:solidFill>
            <a:schemeClr val="tx1"/>
          </a:solidFill>
        </a:ln>
      </dgm:spPr>
      <dgm:t>
        <a:bodyPr/>
        <a:lstStyle/>
        <a:p>
          <a:pPr algn="ctr"/>
          <a:r>
            <a:rPr lang="en-US" sz="1000" b="1" dirty="0">
              <a:solidFill>
                <a:schemeClr val="bg1"/>
              </a:solidFill>
              <a:latin typeface="Calibri" panose="020F0502020204030204" pitchFamily="34" charset="0"/>
            </a:rPr>
            <a:t>Advanced Materials and Manufacturing</a:t>
          </a:r>
        </a:p>
      </dgm:t>
    </dgm:pt>
    <dgm:pt modelId="{2B144472-5BF2-4D44-81F0-CC97C9D4F9E0}" type="parTrans" cxnId="{CA16A3CC-63C6-4497-986E-77F0695A4AA5}">
      <dgm:prSet/>
      <dgm:spPr/>
      <dgm:t>
        <a:bodyPr/>
        <a:lstStyle/>
        <a:p>
          <a:endParaRPr lang="en-US" sz="2000"/>
        </a:p>
      </dgm:t>
    </dgm:pt>
    <dgm:pt modelId="{7B94CD95-B3E3-4E32-B415-CF82ECFC5997}" type="sibTrans" cxnId="{CA16A3CC-63C6-4497-986E-77F0695A4AA5}">
      <dgm:prSet/>
      <dgm:spPr/>
      <dgm:t>
        <a:bodyPr/>
        <a:lstStyle/>
        <a:p>
          <a:endParaRPr lang="en-US" sz="2000"/>
        </a:p>
      </dgm:t>
    </dgm:pt>
    <dgm:pt modelId="{A537AEB0-E7A4-4D23-A76F-EBE8303074A2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Computational materials engineering</a:t>
          </a:r>
        </a:p>
      </dgm:t>
    </dgm:pt>
    <dgm:pt modelId="{E6C92514-3D71-4DC2-944B-10E6E7DE3451}" type="parTrans" cxnId="{449C65F0-6AEF-4B5B-BBC8-60BEE5CF3D0A}">
      <dgm:prSet/>
      <dgm:spPr/>
      <dgm:t>
        <a:bodyPr/>
        <a:lstStyle/>
        <a:p>
          <a:endParaRPr lang="en-US" sz="2000"/>
        </a:p>
      </dgm:t>
    </dgm:pt>
    <dgm:pt modelId="{15198C94-E9EC-4B7D-B17C-B7803680C7AE}" type="sibTrans" cxnId="{449C65F0-6AEF-4B5B-BBC8-60BEE5CF3D0A}">
      <dgm:prSet/>
      <dgm:spPr/>
      <dgm:t>
        <a:bodyPr/>
        <a:lstStyle/>
        <a:p>
          <a:endParaRPr lang="en-US" sz="2000"/>
        </a:p>
      </dgm:t>
    </dgm:pt>
    <dgm:pt modelId="{CD4D3A2F-818F-41A6-9CB6-741B07FB3F39}">
      <dgm:prSet phldrT="[Text]" custT="1"/>
      <dgm:spPr>
        <a:solidFill>
          <a:srgbClr val="00B050"/>
        </a:solidFill>
        <a:ln w="28575">
          <a:solidFill>
            <a:schemeClr val="tx1"/>
          </a:solidFill>
        </a:ln>
      </dgm:spPr>
      <dgm:t>
        <a:bodyPr/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000" b="1" dirty="0">
              <a:solidFill>
                <a:schemeClr val="bg1"/>
              </a:solidFill>
              <a:latin typeface="Calibri" panose="020F0502020204030204" pitchFamily="34" charset="0"/>
            </a:rPr>
            <a:t>Robotics, Artificial Intelligence (AI) and Data Science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1000" b="1" dirty="0">
            <a:solidFill>
              <a:schemeClr val="bg1"/>
            </a:solidFill>
            <a:latin typeface="Calibri" panose="020F0502020204030204" pitchFamily="34" charset="0"/>
          </a:endParaRP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1000" b="1" dirty="0">
            <a:solidFill>
              <a:schemeClr val="bg1"/>
            </a:solidFill>
            <a:latin typeface="Calibri" panose="020F0502020204030204" pitchFamily="34" charset="0"/>
          </a:endParaRP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dirty="0">
              <a:solidFill>
                <a:schemeClr val="bg1"/>
              </a:solidFill>
              <a:latin typeface="Calibri" panose="020F0502020204030204" pitchFamily="34" charset="0"/>
            </a:rPr>
            <a:t>Information and Communication Technologies (ICT)</a:t>
          </a:r>
        </a:p>
      </dgm:t>
    </dgm:pt>
    <dgm:pt modelId="{9ED76315-83E8-4532-89E7-94854B21BD53}" type="parTrans" cxnId="{73B5B973-BA13-4635-BF4E-CEC7D66D73A6}">
      <dgm:prSet/>
      <dgm:spPr/>
      <dgm:t>
        <a:bodyPr/>
        <a:lstStyle/>
        <a:p>
          <a:endParaRPr lang="en-US" sz="2000"/>
        </a:p>
      </dgm:t>
    </dgm:pt>
    <dgm:pt modelId="{0AF03265-10E8-4769-874A-9589DBFB69E8}" type="sibTrans" cxnId="{73B5B973-BA13-4635-BF4E-CEC7D66D73A6}">
      <dgm:prSet/>
      <dgm:spPr/>
      <dgm:t>
        <a:bodyPr/>
        <a:lstStyle/>
        <a:p>
          <a:endParaRPr lang="en-US" sz="2000"/>
        </a:p>
      </dgm:t>
    </dgm:pt>
    <dgm:pt modelId="{7FFE12CD-1C0B-4D51-B68E-7A14B84A971E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Unmanned systems  (aerial, ground and marine)	</a:t>
          </a:r>
          <a:endParaRPr lang="en-US" sz="900" dirty="0">
            <a:solidFill>
              <a:srgbClr val="FF0000"/>
            </a:solidFill>
            <a:latin typeface="Calibri" panose="020F0502020204030204" pitchFamily="34" charset="0"/>
          </a:endParaRPr>
        </a:p>
      </dgm:t>
    </dgm:pt>
    <dgm:pt modelId="{07BDB934-C28E-4F98-80F3-E89090A03F93}" type="parTrans" cxnId="{3488314E-E820-4062-A719-DD16B8F7E156}">
      <dgm:prSet/>
      <dgm:spPr/>
      <dgm:t>
        <a:bodyPr/>
        <a:lstStyle/>
        <a:p>
          <a:endParaRPr lang="en-US" sz="2000"/>
        </a:p>
      </dgm:t>
    </dgm:pt>
    <dgm:pt modelId="{066C7D34-0FD1-48C4-B62C-0192B5F1A4B8}" type="sibTrans" cxnId="{3488314E-E820-4062-A719-DD16B8F7E156}">
      <dgm:prSet/>
      <dgm:spPr/>
      <dgm:t>
        <a:bodyPr/>
        <a:lstStyle/>
        <a:p>
          <a:endParaRPr lang="en-US" sz="2000"/>
        </a:p>
      </dgm:t>
    </dgm:pt>
    <dgm:pt modelId="{B353AF58-F7EB-4620-B271-06CC8D95874A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Composites</a:t>
          </a:r>
        </a:p>
      </dgm:t>
    </dgm:pt>
    <dgm:pt modelId="{15D59DAB-EF5C-48F2-9F0B-137A6EA1AFA8}" type="parTrans" cxnId="{504E0BFC-EED9-4657-9765-48733DBF2DA8}">
      <dgm:prSet/>
      <dgm:spPr/>
      <dgm:t>
        <a:bodyPr/>
        <a:lstStyle/>
        <a:p>
          <a:endParaRPr lang="en-US" sz="2000"/>
        </a:p>
      </dgm:t>
    </dgm:pt>
    <dgm:pt modelId="{E82EFDFE-F64A-43D4-8676-B4ADAE6777BD}" type="sibTrans" cxnId="{504E0BFC-EED9-4657-9765-48733DBF2DA8}">
      <dgm:prSet/>
      <dgm:spPr/>
      <dgm:t>
        <a:bodyPr/>
        <a:lstStyle/>
        <a:p>
          <a:endParaRPr lang="en-US" sz="2000"/>
        </a:p>
      </dgm:t>
    </dgm:pt>
    <dgm:pt modelId="{0929CEE5-7954-4E5F-B309-53946953BB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Enhanced materials systems (nanomaterials and nanocomposites, multifunctional materials, smart materials, metamaterials)</a:t>
          </a:r>
        </a:p>
      </dgm:t>
    </dgm:pt>
    <dgm:pt modelId="{4421BAD6-DA6C-4B47-BC82-ECE9EB8CA9EE}" type="parTrans" cxnId="{7EEDB7BD-7A62-4C69-89E2-7F31EBD27E17}">
      <dgm:prSet/>
      <dgm:spPr/>
      <dgm:t>
        <a:bodyPr/>
        <a:lstStyle/>
        <a:p>
          <a:endParaRPr lang="en-US" sz="2000"/>
        </a:p>
      </dgm:t>
    </dgm:pt>
    <dgm:pt modelId="{CD74DBA4-CDB6-43E8-998F-AD015A473F13}" type="sibTrans" cxnId="{7EEDB7BD-7A62-4C69-89E2-7F31EBD27E17}">
      <dgm:prSet/>
      <dgm:spPr/>
      <dgm:t>
        <a:bodyPr/>
        <a:lstStyle/>
        <a:p>
          <a:endParaRPr lang="en-US" sz="2000"/>
        </a:p>
      </dgm:t>
    </dgm:pt>
    <dgm:pt modelId="{E6B6FAD6-DFB7-40FB-ABEB-E8F8F99F81E7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Manufacturing automation</a:t>
          </a:r>
        </a:p>
      </dgm:t>
    </dgm:pt>
    <dgm:pt modelId="{86698599-AFFC-43E6-9997-8B7E41E58C6B}" type="parTrans" cxnId="{5D0BC2E3-E3AE-4986-A770-FA10099DFBA8}">
      <dgm:prSet/>
      <dgm:spPr/>
      <dgm:t>
        <a:bodyPr/>
        <a:lstStyle/>
        <a:p>
          <a:endParaRPr lang="en-US" sz="2000"/>
        </a:p>
      </dgm:t>
    </dgm:pt>
    <dgm:pt modelId="{CA53133D-CFCB-4839-B7F5-3E9F876B4BAA}" type="sibTrans" cxnId="{5D0BC2E3-E3AE-4986-A770-FA10099DFBA8}">
      <dgm:prSet/>
      <dgm:spPr/>
      <dgm:t>
        <a:bodyPr/>
        <a:lstStyle/>
        <a:p>
          <a:endParaRPr lang="en-US" sz="2000"/>
        </a:p>
      </dgm:t>
    </dgm:pt>
    <dgm:pt modelId="{4554C540-A195-4F21-ABE0-75DE6CAD1CBF}">
      <dgm:prSet phldrT="[Text]" custT="1"/>
      <dgm:spPr>
        <a:noFill/>
        <a:ln w="28575">
          <a:solidFill>
            <a:schemeClr val="tx1"/>
          </a:solidFill>
          <a:prstDash val="solid"/>
        </a:ln>
      </dgm:spPr>
      <dgm:t>
        <a:bodyPr/>
        <a:lstStyle/>
        <a:p>
          <a:pPr algn="ctr"/>
          <a:r>
            <a:rPr lang="en-US" sz="1000" b="1" dirty="0">
              <a:latin typeface="Calibri" panose="020F0502020204030204" pitchFamily="34" charset="0"/>
            </a:rPr>
            <a:t>Security</a:t>
          </a:r>
          <a:endParaRPr lang="en-US" sz="900" b="1" dirty="0">
            <a:latin typeface="Calibri" panose="020F0502020204030204" pitchFamily="34" charset="0"/>
          </a:endParaRPr>
        </a:p>
      </dgm:t>
    </dgm:pt>
    <dgm:pt modelId="{013B5850-20F1-44DE-9901-353C0914C4E9}" type="parTrans" cxnId="{6B59421F-F20E-4AC9-A319-10DBE0C47503}">
      <dgm:prSet/>
      <dgm:spPr/>
      <dgm:t>
        <a:bodyPr/>
        <a:lstStyle/>
        <a:p>
          <a:endParaRPr lang="en-US" sz="2000"/>
        </a:p>
      </dgm:t>
    </dgm:pt>
    <dgm:pt modelId="{0B324C08-9350-4318-90C9-13C40563DB56}" type="sibTrans" cxnId="{6B59421F-F20E-4AC9-A319-10DBE0C47503}">
      <dgm:prSet/>
      <dgm:spPr/>
      <dgm:t>
        <a:bodyPr/>
        <a:lstStyle/>
        <a:p>
          <a:endParaRPr lang="en-US" sz="2000"/>
        </a:p>
      </dgm:t>
    </dgm:pt>
    <dgm:pt modelId="{3BFA21F1-8F07-4817-94DD-6BB63EC1DDC6}">
      <dgm:prSet phldrT="[Text]" custT="1"/>
      <dgm:spPr>
        <a:ln>
          <a:solidFill>
            <a:schemeClr val="tx1"/>
          </a:solidFill>
          <a:prstDash val="solid"/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Security environments and security policies</a:t>
          </a:r>
        </a:p>
      </dgm:t>
    </dgm:pt>
    <dgm:pt modelId="{BDE796EF-C4F2-4A5C-A086-633F8CD55621}" type="parTrans" cxnId="{85981172-27F3-46D8-B0A5-4A2825BE546E}">
      <dgm:prSet/>
      <dgm:spPr/>
      <dgm:t>
        <a:bodyPr/>
        <a:lstStyle/>
        <a:p>
          <a:endParaRPr lang="en-US" sz="2000"/>
        </a:p>
      </dgm:t>
    </dgm:pt>
    <dgm:pt modelId="{72294858-CFFF-40FF-91E2-E570EC053E07}" type="sibTrans" cxnId="{85981172-27F3-46D8-B0A5-4A2825BE546E}">
      <dgm:prSet/>
      <dgm:spPr/>
      <dgm:t>
        <a:bodyPr/>
        <a:lstStyle/>
        <a:p>
          <a:endParaRPr lang="en-US" sz="2000"/>
        </a:p>
      </dgm:t>
    </dgm:pt>
    <dgm:pt modelId="{26D66127-0CB2-4FFE-BA5A-61B65F231CD0}">
      <dgm:prSet custT="1"/>
      <dgm:spPr>
        <a:ln>
          <a:solidFill>
            <a:schemeClr val="tx1"/>
          </a:solidFill>
          <a:prstDash val="solid"/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Defense science and technology</a:t>
          </a:r>
        </a:p>
      </dgm:t>
    </dgm:pt>
    <dgm:pt modelId="{11C47AE9-36A6-47A3-A3EA-A9CE404156F6}" type="parTrans" cxnId="{266B0B9C-7714-45A3-82E0-216F4162BF94}">
      <dgm:prSet/>
      <dgm:spPr/>
      <dgm:t>
        <a:bodyPr/>
        <a:lstStyle/>
        <a:p>
          <a:endParaRPr lang="en-US" sz="2000"/>
        </a:p>
      </dgm:t>
    </dgm:pt>
    <dgm:pt modelId="{45793CD4-2DC3-4639-B0D7-4302046FF1B0}" type="sibTrans" cxnId="{266B0B9C-7714-45A3-82E0-216F4162BF94}">
      <dgm:prSet/>
      <dgm:spPr/>
      <dgm:t>
        <a:bodyPr/>
        <a:lstStyle/>
        <a:p>
          <a:endParaRPr lang="en-US" sz="2000"/>
        </a:p>
      </dgm:t>
    </dgm:pt>
    <dgm:pt modelId="{811CC8F2-33EE-48E3-8197-EC05864F71B6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Biomaterials</a:t>
          </a:r>
        </a:p>
      </dgm:t>
    </dgm:pt>
    <dgm:pt modelId="{F5317EAA-7484-4A89-97E4-77A119906242}" type="sibTrans" cxnId="{C3C06614-59A7-4215-950A-BC1522E90311}">
      <dgm:prSet/>
      <dgm:spPr/>
      <dgm:t>
        <a:bodyPr/>
        <a:lstStyle/>
        <a:p>
          <a:endParaRPr lang="en-US" sz="2000"/>
        </a:p>
      </dgm:t>
    </dgm:pt>
    <dgm:pt modelId="{9B0870C4-8D48-42E1-A056-8F8A4F49D819}" type="parTrans" cxnId="{C3C06614-59A7-4215-950A-BC1522E90311}">
      <dgm:prSet/>
      <dgm:spPr/>
      <dgm:t>
        <a:bodyPr/>
        <a:lstStyle/>
        <a:p>
          <a:endParaRPr lang="en-US" sz="2000"/>
        </a:p>
      </dgm:t>
    </dgm:pt>
    <dgm:pt modelId="{7416F2ED-F40E-4A25-9667-D00FF8891873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Data mining and big data analytics</a:t>
          </a:r>
        </a:p>
      </dgm:t>
    </dgm:pt>
    <dgm:pt modelId="{3AE0BCEA-6E8F-4F9C-9B4C-0D29E79BA12B}" type="sibTrans" cxnId="{805DC818-6870-4A1B-99AA-B7C429F0F44B}">
      <dgm:prSet/>
      <dgm:spPr/>
      <dgm:t>
        <a:bodyPr/>
        <a:lstStyle/>
        <a:p>
          <a:endParaRPr lang="en-US" sz="2000"/>
        </a:p>
      </dgm:t>
    </dgm:pt>
    <dgm:pt modelId="{C117AA4C-791F-48A1-A40B-5E9BD7438930}" type="parTrans" cxnId="{805DC818-6870-4A1B-99AA-B7C429F0F44B}">
      <dgm:prSet/>
      <dgm:spPr/>
      <dgm:t>
        <a:bodyPr/>
        <a:lstStyle/>
        <a:p>
          <a:endParaRPr lang="en-US" sz="2000"/>
        </a:p>
      </dgm:t>
    </dgm:pt>
    <dgm:pt modelId="{E2A1E516-C05A-47AC-824D-5D83C6FA4260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Efficient algorithms and optimization</a:t>
          </a:r>
        </a:p>
      </dgm:t>
    </dgm:pt>
    <dgm:pt modelId="{768013B1-7AC4-4D66-8BAD-E5E824CCC5A7}" type="sibTrans" cxnId="{DDB4FF60-82AD-4BBD-A7AF-86253A4DF2FC}">
      <dgm:prSet/>
      <dgm:spPr/>
      <dgm:t>
        <a:bodyPr/>
        <a:lstStyle/>
        <a:p>
          <a:endParaRPr lang="en-US" sz="2000"/>
        </a:p>
      </dgm:t>
    </dgm:pt>
    <dgm:pt modelId="{E2B2C2B9-4CC2-4432-9EE0-69D71FBC466C}" type="parTrans" cxnId="{DDB4FF60-82AD-4BBD-A7AF-86253A4DF2FC}">
      <dgm:prSet/>
      <dgm:spPr/>
      <dgm:t>
        <a:bodyPr/>
        <a:lstStyle/>
        <a:p>
          <a:endParaRPr lang="en-US" sz="2000"/>
        </a:p>
      </dgm:t>
    </dgm:pt>
    <dgm:pt modelId="{24A849E9-D17F-4A6E-8A12-DBE493ADDCF8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Autonomous manipulation</a:t>
          </a:r>
        </a:p>
      </dgm:t>
    </dgm:pt>
    <dgm:pt modelId="{C72108B3-980C-45E3-A2CB-3581D5B919F9}" type="sibTrans" cxnId="{56E27CF8-09AB-4FAE-8195-B545C4DEB02D}">
      <dgm:prSet/>
      <dgm:spPr/>
      <dgm:t>
        <a:bodyPr/>
        <a:lstStyle/>
        <a:p>
          <a:endParaRPr lang="en-US" sz="2000"/>
        </a:p>
      </dgm:t>
    </dgm:pt>
    <dgm:pt modelId="{A7635136-BDC6-4E58-AAEE-448E41EC9665}" type="parTrans" cxnId="{56E27CF8-09AB-4FAE-8195-B545C4DEB02D}">
      <dgm:prSet/>
      <dgm:spPr/>
      <dgm:t>
        <a:bodyPr/>
        <a:lstStyle/>
        <a:p>
          <a:endParaRPr lang="en-US" sz="2000"/>
        </a:p>
      </dgm:t>
    </dgm:pt>
    <dgm:pt modelId="{B5B683D2-D904-42A2-BC0F-A9C8BFEC4E1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>
              <a:latin typeface="Calibri" panose="020F0502020204030204" pitchFamily="34" charset="0"/>
            </a:rPr>
            <a:t>Maching learning</a:t>
          </a:r>
          <a:endParaRPr lang="en-US" sz="900" dirty="0">
            <a:latin typeface="Calibri" panose="020F0502020204030204" pitchFamily="34" charset="0"/>
          </a:endParaRPr>
        </a:p>
      </dgm:t>
    </dgm:pt>
    <dgm:pt modelId="{DF7D3F1F-92EB-40EE-AE64-689C7CA85CC3}" type="sibTrans" cxnId="{2D526E33-EAF0-4010-864D-16A8CF5964D7}">
      <dgm:prSet/>
      <dgm:spPr/>
      <dgm:t>
        <a:bodyPr/>
        <a:lstStyle/>
        <a:p>
          <a:endParaRPr lang="en-US" sz="2000"/>
        </a:p>
      </dgm:t>
    </dgm:pt>
    <dgm:pt modelId="{F3A4B4B3-9CCD-446E-B7F7-4A689FAF1E05}" type="parTrans" cxnId="{2D526E33-EAF0-4010-864D-16A8CF5964D7}">
      <dgm:prSet/>
      <dgm:spPr/>
      <dgm:t>
        <a:bodyPr/>
        <a:lstStyle/>
        <a:p>
          <a:endParaRPr lang="en-US" sz="2000"/>
        </a:p>
      </dgm:t>
    </dgm:pt>
    <dgm:pt modelId="{2B2BC46F-E576-4258-8506-DA2BFF73E12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b="0" i="0" u="none">
              <a:latin typeface="Calibri" panose="020F0502020204030204" pitchFamily="34" charset="0"/>
            </a:rPr>
            <a:t>Image and video analysis and processing</a:t>
          </a:r>
          <a:endParaRPr lang="en-US" sz="900" dirty="0">
            <a:latin typeface="Calibri" panose="020F0502020204030204" pitchFamily="34" charset="0"/>
          </a:endParaRPr>
        </a:p>
      </dgm:t>
    </dgm:pt>
    <dgm:pt modelId="{B4531A37-3F7C-4A2F-817D-34619613BF45}" type="sibTrans" cxnId="{1BA425A1-2891-4F0D-A3AC-80FF22319B08}">
      <dgm:prSet/>
      <dgm:spPr/>
      <dgm:t>
        <a:bodyPr/>
        <a:lstStyle/>
        <a:p>
          <a:endParaRPr lang="en-US" sz="2000"/>
        </a:p>
      </dgm:t>
    </dgm:pt>
    <dgm:pt modelId="{6325D137-9B0D-48E3-AAE4-FED7F7DCF525}" type="parTrans" cxnId="{1BA425A1-2891-4F0D-A3AC-80FF22319B08}">
      <dgm:prSet/>
      <dgm:spPr/>
      <dgm:t>
        <a:bodyPr/>
        <a:lstStyle/>
        <a:p>
          <a:endParaRPr lang="en-US" sz="2000"/>
        </a:p>
      </dgm:t>
    </dgm:pt>
    <dgm:pt modelId="{6234981B-FB44-4225-A557-9134630AF964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 err="1">
              <a:latin typeface="Calibri" panose="020F0502020204030204" pitchFamily="34" charset="0"/>
            </a:rPr>
            <a:t>Biorobotics</a:t>
          </a:r>
          <a:r>
            <a:rPr lang="en-US" sz="900" dirty="0">
              <a:latin typeface="Calibri" panose="020F0502020204030204" pitchFamily="34" charset="0"/>
            </a:rPr>
            <a:t> (bioinspired and medical)</a:t>
          </a:r>
        </a:p>
      </dgm:t>
    </dgm:pt>
    <dgm:pt modelId="{BCDE3181-BE87-4C27-BA16-C4EE60D0602F}" type="parTrans" cxnId="{D4AC0C52-466B-4AB6-A315-8DE361CA862C}">
      <dgm:prSet/>
      <dgm:spPr/>
      <dgm:t>
        <a:bodyPr/>
        <a:lstStyle/>
        <a:p>
          <a:endParaRPr lang="en-US"/>
        </a:p>
      </dgm:t>
    </dgm:pt>
    <dgm:pt modelId="{423FF466-ABC3-4B27-8CBE-6DC0FC1C76B0}" type="sibTrans" cxnId="{D4AC0C52-466B-4AB6-A315-8DE361CA862C}">
      <dgm:prSet/>
      <dgm:spPr/>
      <dgm:t>
        <a:bodyPr/>
        <a:lstStyle/>
        <a:p>
          <a:endParaRPr lang="en-US"/>
        </a:p>
      </dgm:t>
    </dgm:pt>
    <dgm:pt modelId="{D61581DC-8654-4AD3-B044-004CD9702411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Biometrics and bio-imaging</a:t>
          </a:r>
        </a:p>
      </dgm:t>
    </dgm:pt>
    <dgm:pt modelId="{E6AD989E-A043-494F-A0CC-FA78AA97AD7C}" type="parTrans" cxnId="{E0C0C553-9A78-4E7C-B6B9-333BE018F4CF}">
      <dgm:prSet/>
      <dgm:spPr/>
      <dgm:t>
        <a:bodyPr/>
        <a:lstStyle/>
        <a:p>
          <a:endParaRPr lang="en-US"/>
        </a:p>
      </dgm:t>
    </dgm:pt>
    <dgm:pt modelId="{867C7ED2-4B6C-450D-B9FD-D3BFB1DD0B94}" type="sibTrans" cxnId="{E0C0C553-9A78-4E7C-B6B9-333BE018F4CF}">
      <dgm:prSet/>
      <dgm:spPr/>
      <dgm:t>
        <a:bodyPr/>
        <a:lstStyle/>
        <a:p>
          <a:endParaRPr lang="en-US"/>
        </a:p>
      </dgm:t>
    </dgm:pt>
    <dgm:pt modelId="{788B179D-DCFD-4089-9CB0-1FDEFEDD1E59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b="0" i="0" u="none" dirty="0">
              <a:latin typeface="Calibri" panose="020F0502020204030204" pitchFamily="34" charset="0"/>
            </a:rPr>
            <a:t>Next Generation Networks (NGNs) and NGN-enabled ICT applications and services</a:t>
          </a:r>
          <a:endParaRPr lang="en-US" sz="900" dirty="0">
            <a:latin typeface="Calibri" panose="020F0502020204030204" pitchFamily="34" charset="0"/>
          </a:endParaRPr>
        </a:p>
      </dgm:t>
    </dgm:pt>
    <dgm:pt modelId="{6551AB1E-CFF0-4FAF-8139-709EACFC892F}" type="parTrans" cxnId="{48ED3B05-10B0-41D1-A87B-291C59229CC7}">
      <dgm:prSet/>
      <dgm:spPr/>
      <dgm:t>
        <a:bodyPr/>
        <a:lstStyle/>
        <a:p>
          <a:endParaRPr lang="en-US"/>
        </a:p>
      </dgm:t>
    </dgm:pt>
    <dgm:pt modelId="{D5C7127D-F341-4441-A9B6-C2981E7DDFA5}" type="sibTrans" cxnId="{48ED3B05-10B0-41D1-A87B-291C59229CC7}">
      <dgm:prSet/>
      <dgm:spPr/>
      <dgm:t>
        <a:bodyPr/>
        <a:lstStyle/>
        <a:p>
          <a:endParaRPr lang="en-US"/>
        </a:p>
      </dgm:t>
    </dgm:pt>
    <dgm:pt modelId="{2E13136B-B059-462A-989E-ACA31644A8CE}">
      <dgm:prSet custT="1"/>
      <dgm:spPr/>
      <dgm:t>
        <a:bodyPr/>
        <a:lstStyle/>
        <a:p>
          <a:r>
            <a:rPr lang="en-US" sz="900" b="0" i="0" u="none" dirty="0">
              <a:latin typeface="Calibri" panose="020F0502020204030204" pitchFamily="34" charset="0"/>
            </a:rPr>
            <a:t>Cyber Security technologies and applications	</a:t>
          </a:r>
        </a:p>
      </dgm:t>
    </dgm:pt>
    <dgm:pt modelId="{7AD37B24-0303-436E-AB9C-B71D41F22CEE}" type="parTrans" cxnId="{0BF1336D-C48C-4729-BF86-F48DC3186E81}">
      <dgm:prSet/>
      <dgm:spPr/>
      <dgm:t>
        <a:bodyPr/>
        <a:lstStyle/>
        <a:p>
          <a:endParaRPr lang="en-US"/>
        </a:p>
      </dgm:t>
    </dgm:pt>
    <dgm:pt modelId="{4D506B1A-39FF-4838-85ED-1171C59848C0}" type="sibTrans" cxnId="{0BF1336D-C48C-4729-BF86-F48DC3186E81}">
      <dgm:prSet/>
      <dgm:spPr/>
      <dgm:t>
        <a:bodyPr/>
        <a:lstStyle/>
        <a:p>
          <a:endParaRPr lang="en-US"/>
        </a:p>
      </dgm:t>
    </dgm:pt>
    <dgm:pt modelId="{642C19B9-C533-4346-BF7D-ED4959D75FBC}">
      <dgm:prSet custT="1"/>
      <dgm:spPr/>
      <dgm:t>
        <a:bodyPr/>
        <a:lstStyle/>
        <a:p>
          <a:r>
            <a:rPr lang="en-US" sz="900" b="0" i="0" u="none" dirty="0">
              <a:latin typeface="Calibri" panose="020F0502020204030204" pitchFamily="34" charset="0"/>
            </a:rPr>
            <a:t>Electronic and photonic circuits and devices</a:t>
          </a:r>
        </a:p>
      </dgm:t>
    </dgm:pt>
    <dgm:pt modelId="{FDA41242-6724-4497-9620-50EAAE7C1151}" type="parTrans" cxnId="{2B9E4742-E0E0-4690-ADCF-32ECFF71590B}">
      <dgm:prSet/>
      <dgm:spPr/>
      <dgm:t>
        <a:bodyPr/>
        <a:lstStyle/>
        <a:p>
          <a:endParaRPr lang="en-US"/>
        </a:p>
      </dgm:t>
    </dgm:pt>
    <dgm:pt modelId="{EE2B115B-76D4-4699-BDF3-415F2218E7CB}" type="sibTrans" cxnId="{2B9E4742-E0E0-4690-ADCF-32ECFF71590B}">
      <dgm:prSet/>
      <dgm:spPr/>
      <dgm:t>
        <a:bodyPr/>
        <a:lstStyle/>
        <a:p>
          <a:endParaRPr lang="en-US"/>
        </a:p>
      </dgm:t>
    </dgm:pt>
    <dgm:pt modelId="{1925C5E7-5EC6-4A33-A188-6DA560DAAF72}">
      <dgm:prSet custT="1"/>
      <dgm:spPr/>
      <dgm:t>
        <a:bodyPr/>
        <a:lstStyle/>
        <a:p>
          <a:r>
            <a:rPr lang="en-US" sz="900" b="0" i="0" u="none" dirty="0">
              <a:latin typeface="Calibri" panose="020F0502020204030204" pitchFamily="34" charset="0"/>
            </a:rPr>
            <a:t>Sensors</a:t>
          </a:r>
        </a:p>
      </dgm:t>
    </dgm:pt>
    <dgm:pt modelId="{FC2BF8B5-B2D8-4C62-8AC6-A3060AC83EF3}" type="parTrans" cxnId="{E1083EB4-6AC2-4E36-8940-6CE0A398C2F6}">
      <dgm:prSet/>
      <dgm:spPr/>
      <dgm:t>
        <a:bodyPr/>
        <a:lstStyle/>
        <a:p>
          <a:endParaRPr lang="en-US"/>
        </a:p>
      </dgm:t>
    </dgm:pt>
    <dgm:pt modelId="{00D89441-D9C9-4E13-89A8-A75D99F567E3}" type="sibTrans" cxnId="{E1083EB4-6AC2-4E36-8940-6CE0A398C2F6}">
      <dgm:prSet/>
      <dgm:spPr/>
      <dgm:t>
        <a:bodyPr/>
        <a:lstStyle/>
        <a:p>
          <a:endParaRPr lang="en-US"/>
        </a:p>
      </dgm:t>
    </dgm:pt>
    <dgm:pt modelId="{B24726D7-0CA2-4E1D-9B8D-894DA1A3F393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n-US" sz="900" dirty="0">
            <a:latin typeface="Calibri" panose="020F0502020204030204" pitchFamily="34" charset="0"/>
          </a:endParaRPr>
        </a:p>
      </dgm:t>
    </dgm:pt>
    <dgm:pt modelId="{9FBAE098-2DBE-4264-A4B7-842F1DA56FE2}" type="parTrans" cxnId="{B68E46D7-D9A2-43D8-9B00-50CD2ABD6ECA}">
      <dgm:prSet/>
      <dgm:spPr/>
      <dgm:t>
        <a:bodyPr/>
        <a:lstStyle/>
        <a:p>
          <a:endParaRPr lang="en-US"/>
        </a:p>
      </dgm:t>
    </dgm:pt>
    <dgm:pt modelId="{43B48868-CB8D-4AF6-A49A-D6E2A33E7A6E}" type="sibTrans" cxnId="{B68E46D7-D9A2-43D8-9B00-50CD2ABD6ECA}">
      <dgm:prSet/>
      <dgm:spPr/>
      <dgm:t>
        <a:bodyPr/>
        <a:lstStyle/>
        <a:p>
          <a:endParaRPr lang="en-US"/>
        </a:p>
      </dgm:t>
    </dgm:pt>
    <dgm:pt modelId="{E07C1483-518D-4984-93A1-90CB0D19CAD8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900" dirty="0">
              <a:latin typeface="Calibri" panose="020F0502020204030204" pitchFamily="34" charset="0"/>
            </a:rPr>
            <a:t>Additive manufacturing</a:t>
          </a:r>
        </a:p>
      </dgm:t>
    </dgm:pt>
    <dgm:pt modelId="{6A84D121-808A-4EE9-B4A9-2DB412C790B2}" type="parTrans" cxnId="{BB0926FF-1C43-4FCE-B1BB-DF6B0FE51B08}">
      <dgm:prSet/>
      <dgm:spPr/>
      <dgm:t>
        <a:bodyPr/>
        <a:lstStyle/>
        <a:p>
          <a:endParaRPr lang="en-US"/>
        </a:p>
      </dgm:t>
    </dgm:pt>
    <dgm:pt modelId="{6F14AA07-16B7-4A97-AC00-A6A445E7F591}" type="sibTrans" cxnId="{BB0926FF-1C43-4FCE-B1BB-DF6B0FE51B08}">
      <dgm:prSet/>
      <dgm:spPr/>
      <dgm:t>
        <a:bodyPr/>
        <a:lstStyle/>
        <a:p>
          <a:endParaRPr lang="en-US"/>
        </a:p>
      </dgm:t>
    </dgm:pt>
    <dgm:pt modelId="{A17BE8EF-9105-4547-95E6-2DE7337F5D94}" type="pres">
      <dgm:prSet presAssocID="{94C4884A-860D-4B43-AE66-E2FB24844D39}" presName="Name0" presStyleCnt="0">
        <dgm:presLayoutVars>
          <dgm:dir/>
          <dgm:animLvl val="lvl"/>
          <dgm:resizeHandles val="exact"/>
        </dgm:presLayoutVars>
      </dgm:prSet>
      <dgm:spPr/>
    </dgm:pt>
    <dgm:pt modelId="{ACD0F019-9F51-48D5-BA61-5C0A7B78831B}" type="pres">
      <dgm:prSet presAssocID="{5DFA3318-6D62-4415-8881-39A35BBB443A}" presName="linNode" presStyleCnt="0"/>
      <dgm:spPr/>
    </dgm:pt>
    <dgm:pt modelId="{76210256-B069-4474-9CB1-A85EF5BEDC1E}" type="pres">
      <dgm:prSet presAssocID="{5DFA3318-6D62-4415-8881-39A35BBB443A}" presName="parTx" presStyleLbl="revTx" presStyleIdx="0" presStyleCnt="3" custScaleY="332509">
        <dgm:presLayoutVars>
          <dgm:chMax val="1"/>
          <dgm:bulletEnabled val="1"/>
        </dgm:presLayoutVars>
      </dgm:prSet>
      <dgm:spPr/>
    </dgm:pt>
    <dgm:pt modelId="{394D244A-4B67-41AA-AB1D-7F491A2B5D6B}" type="pres">
      <dgm:prSet presAssocID="{5DFA3318-6D62-4415-8881-39A35BBB443A}" presName="bracket" presStyleLbl="parChTrans1D1" presStyleIdx="0" presStyleCnt="3"/>
      <dgm:spPr>
        <a:ln>
          <a:solidFill>
            <a:schemeClr val="tx1"/>
          </a:solidFill>
        </a:ln>
      </dgm:spPr>
    </dgm:pt>
    <dgm:pt modelId="{67261794-A820-408C-BAA3-15BFED758FE8}" type="pres">
      <dgm:prSet presAssocID="{5DFA3318-6D62-4415-8881-39A35BBB443A}" presName="spH" presStyleCnt="0"/>
      <dgm:spPr/>
    </dgm:pt>
    <dgm:pt modelId="{230421EB-0829-46B4-BAFC-EDA8C9485A6C}" type="pres">
      <dgm:prSet presAssocID="{5DFA3318-6D62-4415-8881-39A35BBB443A}" presName="desTx" presStyleLbl="node1" presStyleIdx="0" presStyleCnt="3" custLinFactNeighborY="5685">
        <dgm:presLayoutVars>
          <dgm:bulletEnabled val="1"/>
        </dgm:presLayoutVars>
      </dgm:prSet>
      <dgm:spPr/>
    </dgm:pt>
    <dgm:pt modelId="{E3B3285E-C44B-440F-BC85-19DDA495A5AB}" type="pres">
      <dgm:prSet presAssocID="{7B94CD95-B3E3-4E32-B415-CF82ECFC5997}" presName="spV" presStyleCnt="0"/>
      <dgm:spPr/>
    </dgm:pt>
    <dgm:pt modelId="{1C1F80CC-0540-443F-AD60-FCE3EFDC4EB2}" type="pres">
      <dgm:prSet presAssocID="{CD4D3A2F-818F-41A6-9CB6-741B07FB3F39}" presName="linNode" presStyleCnt="0"/>
      <dgm:spPr/>
    </dgm:pt>
    <dgm:pt modelId="{E6CF1BD8-EE9D-4D5D-8B1E-63F2DAAFFEA1}" type="pres">
      <dgm:prSet presAssocID="{CD4D3A2F-818F-41A6-9CB6-741B07FB3F39}" presName="parTx" presStyleLbl="revTx" presStyleIdx="1" presStyleCnt="3" custScaleY="193964">
        <dgm:presLayoutVars>
          <dgm:chMax val="1"/>
          <dgm:bulletEnabled val="1"/>
        </dgm:presLayoutVars>
      </dgm:prSet>
      <dgm:spPr/>
    </dgm:pt>
    <dgm:pt modelId="{E02CDE6C-2E03-4D53-8522-F49B5543F951}" type="pres">
      <dgm:prSet presAssocID="{CD4D3A2F-818F-41A6-9CB6-741B07FB3F39}" presName="bracket" presStyleLbl="parChTrans1D1" presStyleIdx="1" presStyleCnt="3"/>
      <dgm:spPr>
        <a:ln>
          <a:solidFill>
            <a:schemeClr val="tx1"/>
          </a:solidFill>
        </a:ln>
      </dgm:spPr>
    </dgm:pt>
    <dgm:pt modelId="{CAE750F0-A8AD-4B2B-BC15-99A36A08B9A7}" type="pres">
      <dgm:prSet presAssocID="{CD4D3A2F-818F-41A6-9CB6-741B07FB3F39}" presName="spH" presStyleCnt="0"/>
      <dgm:spPr/>
    </dgm:pt>
    <dgm:pt modelId="{3B8843A7-2CAC-407F-8440-1C0DE2F4F899}" type="pres">
      <dgm:prSet presAssocID="{CD4D3A2F-818F-41A6-9CB6-741B07FB3F39}" presName="desTx" presStyleLbl="node1" presStyleIdx="1" presStyleCnt="3">
        <dgm:presLayoutVars>
          <dgm:bulletEnabled val="1"/>
        </dgm:presLayoutVars>
      </dgm:prSet>
      <dgm:spPr/>
    </dgm:pt>
    <dgm:pt modelId="{CBE57DBF-951C-4668-ACCC-CE9412CBE06D}" type="pres">
      <dgm:prSet presAssocID="{0AF03265-10E8-4769-874A-9589DBFB69E8}" presName="spV" presStyleCnt="0"/>
      <dgm:spPr/>
    </dgm:pt>
    <dgm:pt modelId="{6AC88B2F-DA7B-4429-BAD8-31D922271B4A}" type="pres">
      <dgm:prSet presAssocID="{4554C540-A195-4F21-ABE0-75DE6CAD1CBF}" presName="linNode" presStyleCnt="0"/>
      <dgm:spPr/>
    </dgm:pt>
    <dgm:pt modelId="{FC73F7B3-54E9-4476-A02A-2CE43C19114E}" type="pres">
      <dgm:prSet presAssocID="{4554C540-A195-4F21-ABE0-75DE6CAD1CBF}" presName="parTx" presStyleLbl="revTx" presStyleIdx="2" presStyleCnt="3" custScaleY="141992">
        <dgm:presLayoutVars>
          <dgm:chMax val="1"/>
          <dgm:bulletEnabled val="1"/>
        </dgm:presLayoutVars>
      </dgm:prSet>
      <dgm:spPr/>
    </dgm:pt>
    <dgm:pt modelId="{686F6543-0E86-40DE-855E-EED3507B05B6}" type="pres">
      <dgm:prSet presAssocID="{4554C540-A195-4F21-ABE0-75DE6CAD1CBF}" presName="bracket" presStyleLbl="parChTrans1D1" presStyleIdx="2" presStyleCnt="3"/>
      <dgm:spPr>
        <a:ln>
          <a:solidFill>
            <a:schemeClr val="tx1"/>
          </a:solidFill>
        </a:ln>
      </dgm:spPr>
    </dgm:pt>
    <dgm:pt modelId="{BF6B7D1B-139B-4086-9D8E-D86492EEDF92}" type="pres">
      <dgm:prSet presAssocID="{4554C540-A195-4F21-ABE0-75DE6CAD1CBF}" presName="spH" presStyleCnt="0"/>
      <dgm:spPr/>
    </dgm:pt>
    <dgm:pt modelId="{190113B8-F09F-49D4-971C-4C616AADEBF0}" type="pres">
      <dgm:prSet presAssocID="{4554C540-A195-4F21-ABE0-75DE6CAD1CBF}" presName="desTx" presStyleLbl="node1" presStyleIdx="2" presStyleCnt="3">
        <dgm:presLayoutVars>
          <dgm:bulletEnabled val="1"/>
        </dgm:presLayoutVars>
      </dgm:prSet>
      <dgm:spPr/>
    </dgm:pt>
  </dgm:ptLst>
  <dgm:cxnLst>
    <dgm:cxn modelId="{48ED3B05-10B0-41D1-A87B-291C59229CC7}" srcId="{CD4D3A2F-818F-41A6-9CB6-741B07FB3F39}" destId="{788B179D-DCFD-4089-9CB0-1FDEFEDD1E59}" srcOrd="9" destOrd="0" parTransId="{6551AB1E-CFF0-4FAF-8139-709EACFC892F}" sibTransId="{D5C7127D-F341-4441-A9B6-C2981E7DDFA5}"/>
    <dgm:cxn modelId="{99C5C511-7075-4BAE-A3CE-FB32417BE71A}" type="presOf" srcId="{B24726D7-0CA2-4E1D-9B8D-894DA1A3F393}" destId="{3B8843A7-2CAC-407F-8440-1C0DE2F4F899}" srcOrd="0" destOrd="8" presId="urn:diagrams.loki3.com/BracketList"/>
    <dgm:cxn modelId="{C3C06614-59A7-4215-950A-BC1522E90311}" srcId="{5DFA3318-6D62-4415-8881-39A35BBB443A}" destId="{811CC8F2-33EE-48E3-8197-EC05864F71B6}" srcOrd="3" destOrd="0" parTransId="{9B0870C4-8D48-42E1-A056-8F8A4F49D819}" sibTransId="{F5317EAA-7484-4A89-97E4-77A119906242}"/>
    <dgm:cxn modelId="{805DC818-6870-4A1B-99AA-B7C429F0F44B}" srcId="{CD4D3A2F-818F-41A6-9CB6-741B07FB3F39}" destId="{7416F2ED-F40E-4A25-9667-D00FF8891873}" srcOrd="5" destOrd="0" parTransId="{C117AA4C-791F-48A1-A40B-5E9BD7438930}" sibTransId="{3AE0BCEA-6E8F-4F9C-9B4C-0D29E79BA12B}"/>
    <dgm:cxn modelId="{6B59421F-F20E-4AC9-A319-10DBE0C47503}" srcId="{94C4884A-860D-4B43-AE66-E2FB24844D39}" destId="{4554C540-A195-4F21-ABE0-75DE6CAD1CBF}" srcOrd="2" destOrd="0" parTransId="{013B5850-20F1-44DE-9901-353C0914C4E9}" sibTransId="{0B324C08-9350-4318-90C9-13C40563DB56}"/>
    <dgm:cxn modelId="{77F23C21-F35E-4351-8D97-060C65228356}" type="presOf" srcId="{94C4884A-860D-4B43-AE66-E2FB24844D39}" destId="{A17BE8EF-9105-4547-95E6-2DE7337F5D94}" srcOrd="0" destOrd="0" presId="urn:diagrams.loki3.com/BracketList"/>
    <dgm:cxn modelId="{2D526E33-EAF0-4010-864D-16A8CF5964D7}" srcId="{CD4D3A2F-818F-41A6-9CB6-741B07FB3F39}" destId="{B5B683D2-D904-42A2-BC0F-A9C8BFEC4E15}" srcOrd="3" destOrd="0" parTransId="{F3A4B4B3-9CCD-446E-B7F7-4A689FAF1E05}" sibTransId="{DF7D3F1F-92EB-40EE-AE64-689C7CA85CC3}"/>
    <dgm:cxn modelId="{DDB4FF60-82AD-4BBD-A7AF-86253A4DF2FC}" srcId="{CD4D3A2F-818F-41A6-9CB6-741B07FB3F39}" destId="{E2A1E516-C05A-47AC-824D-5D83C6FA4260}" srcOrd="6" destOrd="0" parTransId="{E2B2C2B9-4CC2-4432-9EE0-69D71FBC466C}" sibTransId="{768013B1-7AC4-4D66-8BAD-E5E824CCC5A7}"/>
    <dgm:cxn modelId="{2B9E4742-E0E0-4690-ADCF-32ECFF71590B}" srcId="{CD4D3A2F-818F-41A6-9CB6-741B07FB3F39}" destId="{642C19B9-C533-4346-BF7D-ED4959D75FBC}" srcOrd="11" destOrd="0" parTransId="{FDA41242-6724-4497-9620-50EAAE7C1151}" sibTransId="{EE2B115B-76D4-4699-BDF3-415F2218E7CB}"/>
    <dgm:cxn modelId="{76A5B46B-1518-4848-82BF-5BB7AC2D8F1C}" type="presOf" srcId="{3BFA21F1-8F07-4817-94DD-6BB63EC1DDC6}" destId="{190113B8-F09F-49D4-971C-4C616AADEBF0}" srcOrd="0" destOrd="0" presId="urn:diagrams.loki3.com/BracketList"/>
    <dgm:cxn modelId="{0BF1336D-C48C-4729-BF86-F48DC3186E81}" srcId="{CD4D3A2F-818F-41A6-9CB6-741B07FB3F39}" destId="{2E13136B-B059-462A-989E-ACA31644A8CE}" srcOrd="10" destOrd="0" parTransId="{7AD37B24-0303-436E-AB9C-B71D41F22CEE}" sibTransId="{4D506B1A-39FF-4838-85ED-1171C59848C0}"/>
    <dgm:cxn modelId="{3488314E-E820-4062-A719-DD16B8F7E156}" srcId="{CD4D3A2F-818F-41A6-9CB6-741B07FB3F39}" destId="{7FFE12CD-1C0B-4D51-B68E-7A14B84A971E}" srcOrd="0" destOrd="0" parTransId="{07BDB934-C28E-4F98-80F3-E89090A03F93}" sibTransId="{066C7D34-0FD1-48C4-B62C-0192B5F1A4B8}"/>
    <dgm:cxn modelId="{4C646B6F-9DBB-4F1A-8248-81EAE5D96D49}" type="presOf" srcId="{2B2BC46F-E576-4258-8506-DA2BFF73E125}" destId="{3B8843A7-2CAC-407F-8440-1C0DE2F4F899}" srcOrd="0" destOrd="4" presId="urn:diagrams.loki3.com/BracketList"/>
    <dgm:cxn modelId="{D4AC0C52-466B-4AB6-A315-8DE361CA862C}" srcId="{CD4D3A2F-818F-41A6-9CB6-741B07FB3F39}" destId="{6234981B-FB44-4225-A557-9134630AF964}" srcOrd="1" destOrd="0" parTransId="{BCDE3181-BE87-4C27-BA16-C4EE60D0602F}" sibTransId="{423FF466-ABC3-4B27-8CBE-6DC0FC1C76B0}"/>
    <dgm:cxn modelId="{85981172-27F3-46D8-B0A5-4A2825BE546E}" srcId="{4554C540-A195-4F21-ABE0-75DE6CAD1CBF}" destId="{3BFA21F1-8F07-4817-94DD-6BB63EC1DDC6}" srcOrd="0" destOrd="0" parTransId="{BDE796EF-C4F2-4A5C-A086-633F8CD55621}" sibTransId="{72294858-CFFF-40FF-91E2-E570EC053E07}"/>
    <dgm:cxn modelId="{3F69BB52-E562-4790-A8CC-C07E06003F56}" type="presOf" srcId="{2E13136B-B059-462A-989E-ACA31644A8CE}" destId="{3B8843A7-2CAC-407F-8440-1C0DE2F4F899}" srcOrd="0" destOrd="10" presId="urn:diagrams.loki3.com/BracketList"/>
    <dgm:cxn modelId="{6EA65153-E724-4E8E-A115-C605A3D813DB}" type="presOf" srcId="{E07C1483-518D-4984-93A1-90CB0D19CAD8}" destId="{230421EB-0829-46B4-BAFC-EDA8C9485A6C}" srcOrd="0" destOrd="4" presId="urn:diagrams.loki3.com/BracketList"/>
    <dgm:cxn modelId="{73B5B973-BA13-4635-BF4E-CEC7D66D73A6}" srcId="{94C4884A-860D-4B43-AE66-E2FB24844D39}" destId="{CD4D3A2F-818F-41A6-9CB6-741B07FB3F39}" srcOrd="1" destOrd="0" parTransId="{9ED76315-83E8-4532-89E7-94854B21BD53}" sibTransId="{0AF03265-10E8-4769-874A-9589DBFB69E8}"/>
    <dgm:cxn modelId="{E0C0C553-9A78-4E7C-B6B9-333BE018F4CF}" srcId="{CD4D3A2F-818F-41A6-9CB6-741B07FB3F39}" destId="{D61581DC-8654-4AD3-B044-004CD9702411}" srcOrd="7" destOrd="0" parTransId="{E6AD989E-A043-494F-A0CC-FA78AA97AD7C}" sibTransId="{867C7ED2-4B6C-450D-B9FD-D3BFB1DD0B94}"/>
    <dgm:cxn modelId="{55A0AC78-736D-4C1E-9517-0D8E63B64E5E}" type="presOf" srcId="{7416F2ED-F40E-4A25-9667-D00FF8891873}" destId="{3B8843A7-2CAC-407F-8440-1C0DE2F4F899}" srcOrd="0" destOrd="5" presId="urn:diagrams.loki3.com/BracketList"/>
    <dgm:cxn modelId="{11E7B97D-06F1-425A-AA64-A8F5A0A08D4E}" type="presOf" srcId="{1925C5E7-5EC6-4A33-A188-6DA560DAAF72}" destId="{3B8843A7-2CAC-407F-8440-1C0DE2F4F899}" srcOrd="0" destOrd="12" presId="urn:diagrams.loki3.com/BracketList"/>
    <dgm:cxn modelId="{F508BC89-36FB-4618-BEF9-6E31BEFFF56C}" type="presOf" srcId="{788B179D-DCFD-4089-9CB0-1FDEFEDD1E59}" destId="{3B8843A7-2CAC-407F-8440-1C0DE2F4F899}" srcOrd="0" destOrd="9" presId="urn:diagrams.loki3.com/BracketList"/>
    <dgm:cxn modelId="{197A4290-F671-444A-96A2-C2238074A095}" type="presOf" srcId="{E6B6FAD6-DFB7-40FB-ABEB-E8F8F99F81E7}" destId="{230421EB-0829-46B4-BAFC-EDA8C9485A6C}" srcOrd="0" destOrd="5" presId="urn:diagrams.loki3.com/BracketList"/>
    <dgm:cxn modelId="{266B0B9C-7714-45A3-82E0-216F4162BF94}" srcId="{4554C540-A195-4F21-ABE0-75DE6CAD1CBF}" destId="{26D66127-0CB2-4FFE-BA5A-61B65F231CD0}" srcOrd="1" destOrd="0" parTransId="{11C47AE9-36A6-47A3-A3EA-A9CE404156F6}" sibTransId="{45793CD4-2DC3-4639-B0D7-4302046FF1B0}"/>
    <dgm:cxn modelId="{657E339E-F096-419B-99CB-BD0DC22DDCEB}" type="presOf" srcId="{4554C540-A195-4F21-ABE0-75DE6CAD1CBF}" destId="{FC73F7B3-54E9-4476-A02A-2CE43C19114E}" srcOrd="0" destOrd="0" presId="urn:diagrams.loki3.com/BracketList"/>
    <dgm:cxn modelId="{CEA0EFA0-C299-4A33-AEAC-D00FD8068997}" type="presOf" srcId="{B5B683D2-D904-42A2-BC0F-A9C8BFEC4E15}" destId="{3B8843A7-2CAC-407F-8440-1C0DE2F4F899}" srcOrd="0" destOrd="3" presId="urn:diagrams.loki3.com/BracketList"/>
    <dgm:cxn modelId="{1BA425A1-2891-4F0D-A3AC-80FF22319B08}" srcId="{CD4D3A2F-818F-41A6-9CB6-741B07FB3F39}" destId="{2B2BC46F-E576-4258-8506-DA2BFF73E125}" srcOrd="4" destOrd="0" parTransId="{6325D137-9B0D-48E3-AAE4-FED7F7DCF525}" sibTransId="{B4531A37-3F7C-4A2F-817D-34619613BF45}"/>
    <dgm:cxn modelId="{DCB9F3A3-BFF6-4F54-8DC2-352A3007411B}" type="presOf" srcId="{6234981B-FB44-4225-A557-9134630AF964}" destId="{3B8843A7-2CAC-407F-8440-1C0DE2F4F899}" srcOrd="0" destOrd="1" presId="urn:diagrams.loki3.com/BracketList"/>
    <dgm:cxn modelId="{E1083EB4-6AC2-4E36-8940-6CE0A398C2F6}" srcId="{CD4D3A2F-818F-41A6-9CB6-741B07FB3F39}" destId="{1925C5E7-5EC6-4A33-A188-6DA560DAAF72}" srcOrd="12" destOrd="0" parTransId="{FC2BF8B5-B2D8-4C62-8AC6-A3060AC83EF3}" sibTransId="{00D89441-D9C9-4E13-89A8-A75D99F567E3}"/>
    <dgm:cxn modelId="{05B5A8B4-2B34-4DAF-A59B-38284F504406}" type="presOf" srcId="{5DFA3318-6D62-4415-8881-39A35BBB443A}" destId="{76210256-B069-4474-9CB1-A85EF5BEDC1E}" srcOrd="0" destOrd="0" presId="urn:diagrams.loki3.com/BracketList"/>
    <dgm:cxn modelId="{01D06ABA-BC6C-4756-B718-C010CC8EE258}" type="presOf" srcId="{7FFE12CD-1C0B-4D51-B68E-7A14B84A971E}" destId="{3B8843A7-2CAC-407F-8440-1C0DE2F4F899}" srcOrd="0" destOrd="0" presId="urn:diagrams.loki3.com/BracketList"/>
    <dgm:cxn modelId="{7EEDB7BD-7A62-4C69-89E2-7F31EBD27E17}" srcId="{5DFA3318-6D62-4415-8881-39A35BBB443A}" destId="{0929CEE5-7954-4E5F-B309-53946953BB71}" srcOrd="2" destOrd="0" parTransId="{4421BAD6-DA6C-4B47-BC82-ECE9EB8CA9EE}" sibTransId="{CD74DBA4-CDB6-43E8-998F-AD015A473F13}"/>
    <dgm:cxn modelId="{7A3E7BC0-EEA1-43C0-A93F-75C50FE2F507}" type="presOf" srcId="{A537AEB0-E7A4-4D23-A76F-EBE8303074A2}" destId="{230421EB-0829-46B4-BAFC-EDA8C9485A6C}" srcOrd="0" destOrd="0" presId="urn:diagrams.loki3.com/BracketList"/>
    <dgm:cxn modelId="{EFD784C8-A068-4BF6-B4A1-19D2D0886761}" type="presOf" srcId="{B353AF58-F7EB-4620-B271-06CC8D95874A}" destId="{230421EB-0829-46B4-BAFC-EDA8C9485A6C}" srcOrd="0" destOrd="1" presId="urn:diagrams.loki3.com/BracketList"/>
    <dgm:cxn modelId="{CA16A3CC-63C6-4497-986E-77F0695A4AA5}" srcId="{94C4884A-860D-4B43-AE66-E2FB24844D39}" destId="{5DFA3318-6D62-4415-8881-39A35BBB443A}" srcOrd="0" destOrd="0" parTransId="{2B144472-5BF2-4D44-81F0-CC97C9D4F9E0}" sibTransId="{7B94CD95-B3E3-4E32-B415-CF82ECFC5997}"/>
    <dgm:cxn modelId="{642DC7CC-3A04-4E8C-A322-C574A539BA38}" type="presOf" srcId="{811CC8F2-33EE-48E3-8197-EC05864F71B6}" destId="{230421EB-0829-46B4-BAFC-EDA8C9485A6C}" srcOrd="0" destOrd="3" presId="urn:diagrams.loki3.com/BracketList"/>
    <dgm:cxn modelId="{C45253D6-B82F-463B-86CD-EDEB4990B49F}" type="presOf" srcId="{D61581DC-8654-4AD3-B044-004CD9702411}" destId="{3B8843A7-2CAC-407F-8440-1C0DE2F4F899}" srcOrd="0" destOrd="7" presId="urn:diagrams.loki3.com/BracketList"/>
    <dgm:cxn modelId="{01DC80D6-BFE2-4ED9-A90E-23D64F2C5D38}" type="presOf" srcId="{24A849E9-D17F-4A6E-8A12-DBE493ADDCF8}" destId="{3B8843A7-2CAC-407F-8440-1C0DE2F4F899}" srcOrd="0" destOrd="2" presId="urn:diagrams.loki3.com/BracketList"/>
    <dgm:cxn modelId="{B68E46D7-D9A2-43D8-9B00-50CD2ABD6ECA}" srcId="{CD4D3A2F-818F-41A6-9CB6-741B07FB3F39}" destId="{B24726D7-0CA2-4E1D-9B8D-894DA1A3F393}" srcOrd="8" destOrd="0" parTransId="{9FBAE098-2DBE-4264-A4B7-842F1DA56FE2}" sibTransId="{43B48868-CB8D-4AF6-A49A-D6E2A33E7A6E}"/>
    <dgm:cxn modelId="{5D0BC2E3-E3AE-4986-A770-FA10099DFBA8}" srcId="{5DFA3318-6D62-4415-8881-39A35BBB443A}" destId="{E6B6FAD6-DFB7-40FB-ABEB-E8F8F99F81E7}" srcOrd="5" destOrd="0" parTransId="{86698599-AFFC-43E6-9997-8B7E41E58C6B}" sibTransId="{CA53133D-CFCB-4839-B7F5-3E9F876B4BAA}"/>
    <dgm:cxn modelId="{45A4E5E7-E128-4E11-99D3-CB53DF8AF0E0}" type="presOf" srcId="{642C19B9-C533-4346-BF7D-ED4959D75FBC}" destId="{3B8843A7-2CAC-407F-8440-1C0DE2F4F899}" srcOrd="0" destOrd="11" presId="urn:diagrams.loki3.com/BracketList"/>
    <dgm:cxn modelId="{449C65F0-6AEF-4B5B-BBC8-60BEE5CF3D0A}" srcId="{5DFA3318-6D62-4415-8881-39A35BBB443A}" destId="{A537AEB0-E7A4-4D23-A76F-EBE8303074A2}" srcOrd="0" destOrd="0" parTransId="{E6C92514-3D71-4DC2-944B-10E6E7DE3451}" sibTransId="{15198C94-E9EC-4B7D-B17C-B7803680C7AE}"/>
    <dgm:cxn modelId="{A487F2F0-FE13-4DE7-A1E5-F2C0F324A2AD}" type="presOf" srcId="{E2A1E516-C05A-47AC-824D-5D83C6FA4260}" destId="{3B8843A7-2CAC-407F-8440-1C0DE2F4F899}" srcOrd="0" destOrd="6" presId="urn:diagrams.loki3.com/BracketList"/>
    <dgm:cxn modelId="{AF35B6F4-98D6-430D-A99E-F5628235D98F}" type="presOf" srcId="{26D66127-0CB2-4FFE-BA5A-61B65F231CD0}" destId="{190113B8-F09F-49D4-971C-4C616AADEBF0}" srcOrd="0" destOrd="1" presId="urn:diagrams.loki3.com/BracketList"/>
    <dgm:cxn modelId="{718038F7-67FD-428C-905A-009268B69D04}" type="presOf" srcId="{0929CEE5-7954-4E5F-B309-53946953BB71}" destId="{230421EB-0829-46B4-BAFC-EDA8C9485A6C}" srcOrd="0" destOrd="2" presId="urn:diagrams.loki3.com/BracketList"/>
    <dgm:cxn modelId="{D6375AF8-3A2F-40DF-8938-48F52A4DDE06}" type="presOf" srcId="{CD4D3A2F-818F-41A6-9CB6-741B07FB3F39}" destId="{E6CF1BD8-EE9D-4D5D-8B1E-63F2DAAFFEA1}" srcOrd="0" destOrd="0" presId="urn:diagrams.loki3.com/BracketList"/>
    <dgm:cxn modelId="{56E27CF8-09AB-4FAE-8195-B545C4DEB02D}" srcId="{CD4D3A2F-818F-41A6-9CB6-741B07FB3F39}" destId="{24A849E9-D17F-4A6E-8A12-DBE493ADDCF8}" srcOrd="2" destOrd="0" parTransId="{A7635136-BDC6-4E58-AAEE-448E41EC9665}" sibTransId="{C72108B3-980C-45E3-A2CB-3581D5B919F9}"/>
    <dgm:cxn modelId="{504E0BFC-EED9-4657-9765-48733DBF2DA8}" srcId="{5DFA3318-6D62-4415-8881-39A35BBB443A}" destId="{B353AF58-F7EB-4620-B271-06CC8D95874A}" srcOrd="1" destOrd="0" parTransId="{15D59DAB-EF5C-48F2-9F0B-137A6EA1AFA8}" sibTransId="{E82EFDFE-F64A-43D4-8676-B4ADAE6777BD}"/>
    <dgm:cxn modelId="{BB0926FF-1C43-4FCE-B1BB-DF6B0FE51B08}" srcId="{5DFA3318-6D62-4415-8881-39A35BBB443A}" destId="{E07C1483-518D-4984-93A1-90CB0D19CAD8}" srcOrd="4" destOrd="0" parTransId="{6A84D121-808A-4EE9-B4A9-2DB412C790B2}" sibTransId="{6F14AA07-16B7-4A97-AC00-A6A445E7F591}"/>
    <dgm:cxn modelId="{1F12D640-E52F-413E-95C1-AB2AEA2B8C4B}" type="presParOf" srcId="{A17BE8EF-9105-4547-95E6-2DE7337F5D94}" destId="{ACD0F019-9F51-48D5-BA61-5C0A7B78831B}" srcOrd="0" destOrd="0" presId="urn:diagrams.loki3.com/BracketList"/>
    <dgm:cxn modelId="{AC9AC057-C33A-498D-829E-5B0753EC3326}" type="presParOf" srcId="{ACD0F019-9F51-48D5-BA61-5C0A7B78831B}" destId="{76210256-B069-4474-9CB1-A85EF5BEDC1E}" srcOrd="0" destOrd="0" presId="urn:diagrams.loki3.com/BracketList"/>
    <dgm:cxn modelId="{F255E3D5-F856-4B39-8C0C-2FC912DA2AD9}" type="presParOf" srcId="{ACD0F019-9F51-48D5-BA61-5C0A7B78831B}" destId="{394D244A-4B67-41AA-AB1D-7F491A2B5D6B}" srcOrd="1" destOrd="0" presId="urn:diagrams.loki3.com/BracketList"/>
    <dgm:cxn modelId="{E5F77461-3A3A-4A91-ABB4-62E20177ADEE}" type="presParOf" srcId="{ACD0F019-9F51-48D5-BA61-5C0A7B78831B}" destId="{67261794-A820-408C-BAA3-15BFED758FE8}" srcOrd="2" destOrd="0" presId="urn:diagrams.loki3.com/BracketList"/>
    <dgm:cxn modelId="{04E8B849-050B-43DF-8773-ED2B6CE7A800}" type="presParOf" srcId="{ACD0F019-9F51-48D5-BA61-5C0A7B78831B}" destId="{230421EB-0829-46B4-BAFC-EDA8C9485A6C}" srcOrd="3" destOrd="0" presId="urn:diagrams.loki3.com/BracketList"/>
    <dgm:cxn modelId="{9BC0AFF0-08E3-4F26-9B6D-80C2B246F275}" type="presParOf" srcId="{A17BE8EF-9105-4547-95E6-2DE7337F5D94}" destId="{E3B3285E-C44B-440F-BC85-19DDA495A5AB}" srcOrd="1" destOrd="0" presId="urn:diagrams.loki3.com/BracketList"/>
    <dgm:cxn modelId="{D575C92E-D79E-4287-8C95-2287FF9167A9}" type="presParOf" srcId="{A17BE8EF-9105-4547-95E6-2DE7337F5D94}" destId="{1C1F80CC-0540-443F-AD60-FCE3EFDC4EB2}" srcOrd="2" destOrd="0" presId="urn:diagrams.loki3.com/BracketList"/>
    <dgm:cxn modelId="{66542767-F5B1-4316-BAFE-F6F94D602DDA}" type="presParOf" srcId="{1C1F80CC-0540-443F-AD60-FCE3EFDC4EB2}" destId="{E6CF1BD8-EE9D-4D5D-8B1E-63F2DAAFFEA1}" srcOrd="0" destOrd="0" presId="urn:diagrams.loki3.com/BracketList"/>
    <dgm:cxn modelId="{EF423C77-0334-4864-8F86-B122A043929D}" type="presParOf" srcId="{1C1F80CC-0540-443F-AD60-FCE3EFDC4EB2}" destId="{E02CDE6C-2E03-4D53-8522-F49B5543F951}" srcOrd="1" destOrd="0" presId="urn:diagrams.loki3.com/BracketList"/>
    <dgm:cxn modelId="{4609D347-7F83-44B3-A462-1CEE26D4A0B7}" type="presParOf" srcId="{1C1F80CC-0540-443F-AD60-FCE3EFDC4EB2}" destId="{CAE750F0-A8AD-4B2B-BC15-99A36A08B9A7}" srcOrd="2" destOrd="0" presId="urn:diagrams.loki3.com/BracketList"/>
    <dgm:cxn modelId="{CAB769BB-FFE7-4FFC-8121-2F2A4A8F4FAB}" type="presParOf" srcId="{1C1F80CC-0540-443F-AD60-FCE3EFDC4EB2}" destId="{3B8843A7-2CAC-407F-8440-1C0DE2F4F899}" srcOrd="3" destOrd="0" presId="urn:diagrams.loki3.com/BracketList"/>
    <dgm:cxn modelId="{86292A4F-2137-4DD1-B68B-2452DAA91E52}" type="presParOf" srcId="{A17BE8EF-9105-4547-95E6-2DE7337F5D94}" destId="{CBE57DBF-951C-4668-ACCC-CE9412CBE06D}" srcOrd="3" destOrd="0" presId="urn:diagrams.loki3.com/BracketList"/>
    <dgm:cxn modelId="{34D706A5-2429-4EF0-996D-4ACA65A8D56B}" type="presParOf" srcId="{A17BE8EF-9105-4547-95E6-2DE7337F5D94}" destId="{6AC88B2F-DA7B-4429-BAD8-31D922271B4A}" srcOrd="4" destOrd="0" presId="urn:diagrams.loki3.com/BracketList"/>
    <dgm:cxn modelId="{50C19ECF-F668-4D36-9017-B7BFA56CDD1B}" type="presParOf" srcId="{6AC88B2F-DA7B-4429-BAD8-31D922271B4A}" destId="{FC73F7B3-54E9-4476-A02A-2CE43C19114E}" srcOrd="0" destOrd="0" presId="urn:diagrams.loki3.com/BracketList"/>
    <dgm:cxn modelId="{EB5B38BE-A410-49E0-92CD-D9B212E60FBF}" type="presParOf" srcId="{6AC88B2F-DA7B-4429-BAD8-31D922271B4A}" destId="{686F6543-0E86-40DE-855E-EED3507B05B6}" srcOrd="1" destOrd="0" presId="urn:diagrams.loki3.com/BracketList"/>
    <dgm:cxn modelId="{44F2B4A4-D357-4FC1-9CCD-7670389FB4A0}" type="presParOf" srcId="{6AC88B2F-DA7B-4429-BAD8-31D922271B4A}" destId="{BF6B7D1B-139B-4086-9D8E-D86492EEDF92}" srcOrd="2" destOrd="0" presId="urn:diagrams.loki3.com/BracketList"/>
    <dgm:cxn modelId="{B6AD910D-C9FE-4B4B-BB03-2403D0244526}" type="presParOf" srcId="{6AC88B2F-DA7B-4429-BAD8-31D922271B4A}" destId="{190113B8-F09F-49D4-971C-4C616AADEBF0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F829DE-7D16-4F69-8A4F-3FF598692FFE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DB0DE52-2262-40E1-8BB0-D3D5B34FA0F1}">
      <dgm:prSet phldrT="[Text]" custT="1"/>
      <dgm:spPr>
        <a:solidFill>
          <a:schemeClr val="accent2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000" b="1" dirty="0">
              <a:solidFill>
                <a:schemeClr val="bg1"/>
              </a:solidFill>
              <a:latin typeface="Calibri" panose="020F0502020204030204" pitchFamily="34" charset="0"/>
            </a:rPr>
            <a:t>Clean and Renewable Energy</a:t>
          </a:r>
        </a:p>
      </dgm:t>
    </dgm:pt>
    <dgm:pt modelId="{6FFCA6F8-0B91-49C2-ACF7-4003036EC43B}" type="parTrans" cxnId="{1C3FB8C0-6095-456B-999A-788E2EB8794E}">
      <dgm:prSet/>
      <dgm:spPr/>
      <dgm:t>
        <a:bodyPr/>
        <a:lstStyle/>
        <a:p>
          <a:endParaRPr lang="en-US"/>
        </a:p>
      </dgm:t>
    </dgm:pt>
    <dgm:pt modelId="{11C1D03B-8D3E-42DE-B8E6-CE0C3F71A356}" type="sibTrans" cxnId="{1C3FB8C0-6095-456B-999A-788E2EB8794E}">
      <dgm:prSet/>
      <dgm:spPr/>
      <dgm:t>
        <a:bodyPr/>
        <a:lstStyle/>
        <a:p>
          <a:endParaRPr lang="en-US"/>
        </a:p>
      </dgm:t>
    </dgm:pt>
    <dgm:pt modelId="{3D2F55E5-099B-4A48-834B-371116D5B83A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Solar and other renewable energy </a:t>
          </a:r>
          <a:endParaRPr lang="en-US" dirty="0">
            <a:latin typeface="Calibri" panose="020F0502020204030204" pitchFamily="34" charset="0"/>
          </a:endParaRPr>
        </a:p>
      </dgm:t>
    </dgm:pt>
    <dgm:pt modelId="{C2D8DB18-50C5-4D52-97BC-0590E8D2922B}" type="parTrans" cxnId="{B2BD3429-3EDA-4029-A669-3BD957E10897}">
      <dgm:prSet/>
      <dgm:spPr/>
      <dgm:t>
        <a:bodyPr/>
        <a:lstStyle/>
        <a:p>
          <a:endParaRPr lang="en-US"/>
        </a:p>
      </dgm:t>
    </dgm:pt>
    <dgm:pt modelId="{D8F55B1F-2E1C-444F-BF79-315B63158D80}" type="sibTrans" cxnId="{B2BD3429-3EDA-4029-A669-3BD957E10897}">
      <dgm:prSet/>
      <dgm:spPr/>
      <dgm:t>
        <a:bodyPr/>
        <a:lstStyle/>
        <a:p>
          <a:endParaRPr lang="en-US"/>
        </a:p>
      </dgm:t>
    </dgm:pt>
    <dgm:pt modelId="{6722BE4F-948A-4854-A44D-ADC773FCABE2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Genomics  and Bioinformatics</a:t>
          </a:r>
          <a:endParaRPr lang="en-US" dirty="0">
            <a:latin typeface="Calibri" panose="020F0502020204030204" pitchFamily="34" charset="0"/>
          </a:endParaRPr>
        </a:p>
      </dgm:t>
    </dgm:pt>
    <dgm:pt modelId="{000AC7C5-4E39-4A64-8B37-37ED2CE3CBA7}" type="parTrans" cxnId="{33CC74FA-1C49-49AF-8AD7-EDF2B4C2B3C3}">
      <dgm:prSet/>
      <dgm:spPr/>
      <dgm:t>
        <a:bodyPr/>
        <a:lstStyle/>
        <a:p>
          <a:endParaRPr lang="en-US"/>
        </a:p>
      </dgm:t>
    </dgm:pt>
    <dgm:pt modelId="{578F40EA-A606-4E72-B2C6-8EA25C1D66BA}" type="sibTrans" cxnId="{33CC74FA-1C49-49AF-8AD7-EDF2B4C2B3C3}">
      <dgm:prSet/>
      <dgm:spPr/>
      <dgm:t>
        <a:bodyPr/>
        <a:lstStyle/>
        <a:p>
          <a:endParaRPr lang="en-US"/>
        </a:p>
      </dgm:t>
    </dgm:pt>
    <dgm:pt modelId="{668841D2-E769-4590-BB65-72ABF43C434E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Electrical power transmission and distribution </a:t>
          </a:r>
          <a:endParaRPr lang="en-US" b="1" dirty="0">
            <a:solidFill>
              <a:srgbClr val="FF0000"/>
            </a:solidFill>
            <a:latin typeface="Calibri" panose="020F0502020204030204" pitchFamily="34" charset="0"/>
          </a:endParaRPr>
        </a:p>
      </dgm:t>
    </dgm:pt>
    <dgm:pt modelId="{7958DF10-CE7E-471D-86A5-24CAD2AD6CCA}" type="parTrans" cxnId="{DE6706FF-FDDE-4119-937F-B8A33D1B9583}">
      <dgm:prSet/>
      <dgm:spPr/>
      <dgm:t>
        <a:bodyPr/>
        <a:lstStyle/>
        <a:p>
          <a:endParaRPr lang="en-US"/>
        </a:p>
      </dgm:t>
    </dgm:pt>
    <dgm:pt modelId="{2B4F5A02-79A4-4721-8FED-48C254AB1A3D}" type="sibTrans" cxnId="{DE6706FF-FDDE-4119-937F-B8A33D1B9583}">
      <dgm:prSet/>
      <dgm:spPr/>
      <dgm:t>
        <a:bodyPr/>
        <a:lstStyle/>
        <a:p>
          <a:endParaRPr lang="en-US"/>
        </a:p>
      </dgm:t>
    </dgm:pt>
    <dgm:pt modelId="{631FB678-EAA2-44CB-A3AE-4C50AFEF4428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Energy storage</a:t>
          </a:r>
          <a:endParaRPr lang="en-US" dirty="0">
            <a:latin typeface="Calibri" panose="020F0502020204030204" pitchFamily="34" charset="0"/>
          </a:endParaRPr>
        </a:p>
      </dgm:t>
    </dgm:pt>
    <dgm:pt modelId="{D17B935C-A951-4CDE-9882-1490B3BC9778}" type="parTrans" cxnId="{6A1DFC22-4937-48BB-9186-D53D754CB560}">
      <dgm:prSet/>
      <dgm:spPr/>
      <dgm:t>
        <a:bodyPr/>
        <a:lstStyle/>
        <a:p>
          <a:endParaRPr lang="en-US"/>
        </a:p>
      </dgm:t>
    </dgm:pt>
    <dgm:pt modelId="{F6AA0E42-2B55-4A45-9DDF-EF95A5C088EE}" type="sibTrans" cxnId="{6A1DFC22-4937-48BB-9186-D53D754CB560}">
      <dgm:prSet/>
      <dgm:spPr/>
      <dgm:t>
        <a:bodyPr/>
        <a:lstStyle/>
        <a:p>
          <a:endParaRPr lang="en-US"/>
        </a:p>
      </dgm:t>
    </dgm:pt>
    <dgm:pt modelId="{BA377537-FC2A-4ACB-B4A5-B5EC2E6D6944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Energy efficient cities and buildings </a:t>
          </a:r>
          <a:endParaRPr lang="en-US" dirty="0">
            <a:latin typeface="Calibri" panose="020F0502020204030204" pitchFamily="34" charset="0"/>
          </a:endParaRPr>
        </a:p>
      </dgm:t>
    </dgm:pt>
    <dgm:pt modelId="{2B6E3879-D03F-4D02-BDEB-2A18C178E489}" type="parTrans" cxnId="{72E4EEB2-E50F-4122-AEE0-47158EDFABE7}">
      <dgm:prSet/>
      <dgm:spPr/>
      <dgm:t>
        <a:bodyPr/>
        <a:lstStyle/>
        <a:p>
          <a:endParaRPr lang="en-US"/>
        </a:p>
      </dgm:t>
    </dgm:pt>
    <dgm:pt modelId="{6CCAB711-108B-4B86-886C-4D2548658607}" type="sibTrans" cxnId="{72E4EEB2-E50F-4122-AEE0-47158EDFABE7}">
      <dgm:prSet/>
      <dgm:spPr/>
      <dgm:t>
        <a:bodyPr/>
        <a:lstStyle/>
        <a:p>
          <a:endParaRPr lang="en-US"/>
        </a:p>
      </dgm:t>
    </dgm:pt>
    <dgm:pt modelId="{808807D0-A1BC-48EF-AD90-27E5299A3937}">
      <dgm:prSet custT="1"/>
      <dgm:spPr>
        <a:solidFill>
          <a:schemeClr val="bg1"/>
        </a:solidFill>
        <a:ln>
          <a:solidFill>
            <a:schemeClr val="tx1"/>
          </a:solidFill>
          <a:prstDash val="solid"/>
        </a:ln>
      </dgm:spPr>
      <dgm:t>
        <a:bodyPr/>
        <a:lstStyle/>
        <a:p>
          <a:r>
            <a:rPr lang="en-US" sz="1000" b="1" dirty="0">
              <a:solidFill>
                <a:schemeClr val="tx1"/>
              </a:solidFill>
              <a:latin typeface="Calibri" panose="020F0502020204030204" pitchFamily="34" charset="0"/>
            </a:rPr>
            <a:t>Supply Chain and Logistics</a:t>
          </a:r>
        </a:p>
      </dgm:t>
    </dgm:pt>
    <dgm:pt modelId="{D8C588AC-5B7D-4235-B681-9F8C7C4AF559}" type="parTrans" cxnId="{FE64919E-BE88-4EB7-BF02-E993D7DC4057}">
      <dgm:prSet/>
      <dgm:spPr/>
      <dgm:t>
        <a:bodyPr/>
        <a:lstStyle/>
        <a:p>
          <a:endParaRPr lang="en-US"/>
        </a:p>
      </dgm:t>
    </dgm:pt>
    <dgm:pt modelId="{FB2479FC-CE42-4FF3-BDC8-C4F31F3E34BC}" type="sibTrans" cxnId="{FE64919E-BE88-4EB7-BF02-E993D7DC4057}">
      <dgm:prSet/>
      <dgm:spPr/>
      <dgm:t>
        <a:bodyPr/>
        <a:lstStyle/>
        <a:p>
          <a:endParaRPr lang="en-US"/>
        </a:p>
      </dgm:t>
    </dgm:pt>
    <dgm:pt modelId="{1D8014EA-0500-4B4B-8577-D82BBDF5EE45}">
      <dgm:prSet/>
      <dgm:spPr>
        <a:ln>
          <a:solidFill>
            <a:schemeClr val="tx1"/>
          </a:solidFill>
          <a:prstDash val="solid"/>
        </a:ln>
      </dgm:spPr>
      <dgm:t>
        <a:bodyPr/>
        <a:lstStyle/>
        <a:p>
          <a:r>
            <a:rPr lang="en-US" b="0" i="0" u="none" dirty="0">
              <a:solidFill>
                <a:schemeClr val="tx1"/>
              </a:solidFill>
              <a:latin typeface="Calibri" panose="020F0502020204030204" pitchFamily="34" charset="0"/>
            </a:rPr>
            <a:t>Transportation</a:t>
          </a:r>
          <a:endParaRPr lang="en-US" dirty="0">
            <a:solidFill>
              <a:schemeClr val="bg1">
                <a:lumMod val="50000"/>
              </a:schemeClr>
            </a:solidFill>
            <a:latin typeface="Calibri" panose="020F0502020204030204" pitchFamily="34" charset="0"/>
          </a:endParaRPr>
        </a:p>
      </dgm:t>
    </dgm:pt>
    <dgm:pt modelId="{899B2FB7-9102-4182-B5CC-F091C4079133}" type="parTrans" cxnId="{0BB1E697-2B1D-4C13-9965-468F3BF8DE0B}">
      <dgm:prSet/>
      <dgm:spPr/>
      <dgm:t>
        <a:bodyPr/>
        <a:lstStyle/>
        <a:p>
          <a:endParaRPr lang="en-US"/>
        </a:p>
      </dgm:t>
    </dgm:pt>
    <dgm:pt modelId="{8EACD043-32D5-4AF5-B349-C4F5699CBFF4}" type="sibTrans" cxnId="{0BB1E697-2B1D-4C13-9965-468F3BF8DE0B}">
      <dgm:prSet/>
      <dgm:spPr/>
      <dgm:t>
        <a:bodyPr/>
        <a:lstStyle/>
        <a:p>
          <a:endParaRPr lang="en-US"/>
        </a:p>
      </dgm:t>
    </dgm:pt>
    <dgm:pt modelId="{628D1B94-F9FD-4B9D-9C94-AA14D2554DA4}">
      <dgm:prSet phldrT="[Text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000" b="1" dirty="0">
              <a:latin typeface="Calibri" panose="020F0502020204030204" pitchFamily="34" charset="0"/>
            </a:rPr>
            <a:t>Healthcare</a:t>
          </a:r>
          <a:endParaRPr lang="en-US" sz="900" dirty="0">
            <a:latin typeface="Calibri" panose="020F0502020204030204" pitchFamily="34" charset="0"/>
          </a:endParaRPr>
        </a:p>
      </dgm:t>
    </dgm:pt>
    <dgm:pt modelId="{2DFCEA18-034D-4249-86A3-06EA814DE7B5}" type="parTrans" cxnId="{CF798E5F-6E09-46E7-A06D-EC7A27076C63}">
      <dgm:prSet/>
      <dgm:spPr/>
      <dgm:t>
        <a:bodyPr/>
        <a:lstStyle/>
        <a:p>
          <a:endParaRPr lang="en-US"/>
        </a:p>
      </dgm:t>
    </dgm:pt>
    <dgm:pt modelId="{1D52C28C-37A3-4C2F-915D-067FF26140A8}" type="sibTrans" cxnId="{CF798E5F-6E09-46E7-A06D-EC7A27076C63}">
      <dgm:prSet/>
      <dgm:spPr/>
      <dgm:t>
        <a:bodyPr/>
        <a:lstStyle/>
        <a:p>
          <a:endParaRPr lang="en-US"/>
        </a:p>
      </dgm:t>
    </dgm:pt>
    <dgm:pt modelId="{04CA0F65-48C6-41D6-B617-DD9979DD0595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Medical imaging </a:t>
          </a:r>
        </a:p>
      </dgm:t>
    </dgm:pt>
    <dgm:pt modelId="{46834F94-0C11-4FD8-AC8F-00EF463D1648}" type="parTrans" cxnId="{3B5EF7E3-5DB4-4A16-B4A9-BBF5C2C31F10}">
      <dgm:prSet/>
      <dgm:spPr/>
      <dgm:t>
        <a:bodyPr/>
        <a:lstStyle/>
        <a:p>
          <a:endParaRPr lang="en-US"/>
        </a:p>
      </dgm:t>
    </dgm:pt>
    <dgm:pt modelId="{7B2DB6F9-9CBD-4110-A6AA-2EBB57F80A1F}" type="sibTrans" cxnId="{3B5EF7E3-5DB4-4A16-B4A9-BBF5C2C31F10}">
      <dgm:prSet/>
      <dgm:spPr/>
      <dgm:t>
        <a:bodyPr/>
        <a:lstStyle/>
        <a:p>
          <a:endParaRPr lang="en-US"/>
        </a:p>
      </dgm:t>
    </dgm:pt>
    <dgm:pt modelId="{B45A74BD-7B25-4D44-97E2-BD60D68E3D7E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Biomedical robotics and devices</a:t>
          </a:r>
        </a:p>
      </dgm:t>
    </dgm:pt>
    <dgm:pt modelId="{93422D69-AD09-4A5A-B1FC-8A678B71D741}" type="parTrans" cxnId="{BA18380B-C31F-44C3-810B-5EE8A6F6E440}">
      <dgm:prSet/>
      <dgm:spPr/>
      <dgm:t>
        <a:bodyPr/>
        <a:lstStyle/>
        <a:p>
          <a:endParaRPr lang="en-US"/>
        </a:p>
      </dgm:t>
    </dgm:pt>
    <dgm:pt modelId="{34570C32-3CA8-4747-8732-9C7FC6CDD1BC}" type="sibTrans" cxnId="{BA18380B-C31F-44C3-810B-5EE8A6F6E440}">
      <dgm:prSet/>
      <dgm:spPr/>
      <dgm:t>
        <a:bodyPr/>
        <a:lstStyle/>
        <a:p>
          <a:endParaRPr lang="en-US"/>
        </a:p>
      </dgm:t>
    </dgm:pt>
    <dgm:pt modelId="{50823CD3-1570-4018-949C-8741B55CBDBB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Healthcare management</a:t>
          </a:r>
        </a:p>
      </dgm:t>
    </dgm:pt>
    <dgm:pt modelId="{272A4137-B223-4D27-A88A-F1420BD902DC}" type="parTrans" cxnId="{367372C7-7724-4B47-8DD5-46893E8F03FF}">
      <dgm:prSet/>
      <dgm:spPr/>
      <dgm:t>
        <a:bodyPr/>
        <a:lstStyle/>
        <a:p>
          <a:endParaRPr lang="en-US"/>
        </a:p>
      </dgm:t>
    </dgm:pt>
    <dgm:pt modelId="{BDC8F124-5D12-4C3D-B796-0717140DF0B8}" type="sibTrans" cxnId="{367372C7-7724-4B47-8DD5-46893E8F03FF}">
      <dgm:prSet/>
      <dgm:spPr/>
      <dgm:t>
        <a:bodyPr/>
        <a:lstStyle/>
        <a:p>
          <a:endParaRPr lang="en-US"/>
        </a:p>
      </dgm:t>
    </dgm:pt>
    <dgm:pt modelId="{14393C39-A2D0-4299-AD69-FA69A96E2992}">
      <dgm:prSet phldrT="[Text]" custT="1"/>
      <dgm:spPr>
        <a:solidFill>
          <a:schemeClr val="accent2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000" b="1" dirty="0">
              <a:solidFill>
                <a:schemeClr val="bg1"/>
              </a:solidFill>
              <a:latin typeface="Calibri" panose="020F0502020204030204" pitchFamily="34" charset="0"/>
            </a:rPr>
            <a:t>Water and Environment</a:t>
          </a:r>
        </a:p>
      </dgm:t>
    </dgm:pt>
    <dgm:pt modelId="{50D71A5F-12C8-43C5-8723-95E1D92F2C49}" type="parTrans" cxnId="{CF3F5D87-B71A-4D32-BFBE-1B98787177A6}">
      <dgm:prSet/>
      <dgm:spPr/>
      <dgm:t>
        <a:bodyPr/>
        <a:lstStyle/>
        <a:p>
          <a:endParaRPr lang="en-US"/>
        </a:p>
      </dgm:t>
    </dgm:pt>
    <dgm:pt modelId="{BAECB74F-CF5D-46EC-BECA-490C2B28059C}" type="sibTrans" cxnId="{CF3F5D87-B71A-4D32-BFBE-1B98787177A6}">
      <dgm:prSet/>
      <dgm:spPr/>
      <dgm:t>
        <a:bodyPr/>
        <a:lstStyle/>
        <a:p>
          <a:endParaRPr lang="en-US"/>
        </a:p>
      </dgm:t>
    </dgm:pt>
    <dgm:pt modelId="{394C192F-8159-488F-93EB-9D332D8451AF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000" b="1" dirty="0">
              <a:solidFill>
                <a:schemeClr val="tx1"/>
              </a:solidFill>
              <a:latin typeface="Calibri" panose="020F0502020204030204" pitchFamily="34" charset="0"/>
            </a:rPr>
            <a:t>Aerospace (Aero/Astro)</a:t>
          </a:r>
        </a:p>
      </dgm:t>
    </dgm:pt>
    <dgm:pt modelId="{15972147-57BD-4D66-B932-3D5EDBB4E4F4}" type="parTrans" cxnId="{F9B1763D-AF63-404E-B0F8-4041116C7F69}">
      <dgm:prSet/>
      <dgm:spPr/>
      <dgm:t>
        <a:bodyPr/>
        <a:lstStyle/>
        <a:p>
          <a:endParaRPr lang="en-US"/>
        </a:p>
      </dgm:t>
    </dgm:pt>
    <dgm:pt modelId="{CBBCEC2E-0B6A-4279-BBB7-2591E76DA125}" type="sibTrans" cxnId="{F9B1763D-AF63-404E-B0F8-4041116C7F69}">
      <dgm:prSet/>
      <dgm:spPr/>
      <dgm:t>
        <a:bodyPr/>
        <a:lstStyle/>
        <a:p>
          <a:endParaRPr lang="en-US"/>
        </a:p>
      </dgm:t>
    </dgm:pt>
    <dgm:pt modelId="{1E76E7D7-B23B-422A-B239-7AF97B2EDAF3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dirty="0" err="1">
              <a:solidFill>
                <a:schemeClr val="tx1"/>
              </a:solidFill>
              <a:latin typeface="Calibri" panose="020F0502020204030204" pitchFamily="34" charset="0"/>
            </a:rPr>
            <a:t>Cubesats</a:t>
          </a:r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</a:rPr>
            <a:t> and nanosatellites</a:t>
          </a:r>
          <a:endParaRPr lang="en-US" b="1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CCA721FC-BAF7-4977-9A7F-FEC5F116E66F}" type="parTrans" cxnId="{018DB6E2-A2DF-4C6B-BFC9-5578D6CC8D82}">
      <dgm:prSet/>
      <dgm:spPr/>
      <dgm:t>
        <a:bodyPr/>
        <a:lstStyle/>
        <a:p>
          <a:endParaRPr lang="en-US"/>
        </a:p>
      </dgm:t>
    </dgm:pt>
    <dgm:pt modelId="{D52B196D-9097-497B-A648-14B28C530D12}" type="sibTrans" cxnId="{018DB6E2-A2DF-4C6B-BFC9-5578D6CC8D82}">
      <dgm:prSet/>
      <dgm:spPr/>
      <dgm:t>
        <a:bodyPr/>
        <a:lstStyle/>
        <a:p>
          <a:endParaRPr lang="en-US"/>
        </a:p>
      </dgm:t>
    </dgm:pt>
    <dgm:pt modelId="{A56438EC-D335-42B9-B953-D67A8CE49F39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b="0" i="0" u="none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2B28CE90-5A61-4146-9160-CD64C5A32DE9}" type="parTrans" cxnId="{B5A8DD3E-7DE0-4312-B04A-31F1491F9D8B}">
      <dgm:prSet/>
      <dgm:spPr/>
      <dgm:t>
        <a:bodyPr/>
        <a:lstStyle/>
        <a:p>
          <a:endParaRPr lang="en-US"/>
        </a:p>
      </dgm:t>
    </dgm:pt>
    <dgm:pt modelId="{71DFF3F0-8210-4C36-A283-983E897D0D21}" type="sibTrans" cxnId="{B5A8DD3E-7DE0-4312-B04A-31F1491F9D8B}">
      <dgm:prSet/>
      <dgm:spPr/>
      <dgm:t>
        <a:bodyPr/>
        <a:lstStyle/>
        <a:p>
          <a:endParaRPr lang="en-US"/>
        </a:p>
      </dgm:t>
    </dgm:pt>
    <dgm:pt modelId="{457A3351-9232-40BC-A79B-1F7176C6B441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i="0" dirty="0">
              <a:solidFill>
                <a:schemeClr val="tx1"/>
              </a:solidFill>
              <a:latin typeface="Calibri" panose="020F0502020204030204" pitchFamily="34" charset="0"/>
            </a:rPr>
            <a:t>Reservoir characterization, evaluation and surveillance</a:t>
          </a:r>
        </a:p>
      </dgm:t>
    </dgm:pt>
    <dgm:pt modelId="{05F8B431-AB62-42A0-ACC3-FA16647B65FC}" type="parTrans" cxnId="{0A2BABA5-BF7E-40FA-81D3-76662331AFA7}">
      <dgm:prSet/>
      <dgm:spPr/>
      <dgm:t>
        <a:bodyPr/>
        <a:lstStyle/>
        <a:p>
          <a:endParaRPr lang="en-US"/>
        </a:p>
      </dgm:t>
    </dgm:pt>
    <dgm:pt modelId="{2F980ECD-24FF-43E7-9296-F297698FF77E}" type="sibTrans" cxnId="{0A2BABA5-BF7E-40FA-81D3-76662331AFA7}">
      <dgm:prSet/>
      <dgm:spPr/>
      <dgm:t>
        <a:bodyPr/>
        <a:lstStyle/>
        <a:p>
          <a:endParaRPr lang="en-US"/>
        </a:p>
      </dgm:t>
    </dgm:pt>
    <dgm:pt modelId="{074B56C8-F20E-49F6-AFEF-FB290DA9A411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</a:rPr>
            <a:t>Enhanced/improved oil recovery</a:t>
          </a:r>
        </a:p>
      </dgm:t>
    </dgm:pt>
    <dgm:pt modelId="{0925C90B-8180-44B9-AB69-CAE6AB857F89}" type="parTrans" cxnId="{612FCEEF-FEE5-4819-B011-6FDEF727E9AA}">
      <dgm:prSet/>
      <dgm:spPr/>
      <dgm:t>
        <a:bodyPr/>
        <a:lstStyle/>
        <a:p>
          <a:endParaRPr lang="en-US"/>
        </a:p>
      </dgm:t>
    </dgm:pt>
    <dgm:pt modelId="{88BC57CB-B3DC-4E59-801B-0248B51B83C2}" type="sibTrans" cxnId="{612FCEEF-FEE5-4819-B011-6FDEF727E9AA}">
      <dgm:prSet/>
      <dgm:spPr/>
      <dgm:t>
        <a:bodyPr/>
        <a:lstStyle/>
        <a:p>
          <a:endParaRPr lang="en-US"/>
        </a:p>
      </dgm:t>
    </dgm:pt>
    <dgm:pt modelId="{9E9B4004-7470-4983-99DC-B8572623B171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</a:rPr>
            <a:t>Gas processes</a:t>
          </a:r>
        </a:p>
      </dgm:t>
    </dgm:pt>
    <dgm:pt modelId="{478EB38E-2FB0-459A-9018-FBF35586F333}" type="parTrans" cxnId="{936EC08F-FB08-4C41-918A-8A481AB6F28D}">
      <dgm:prSet/>
      <dgm:spPr/>
      <dgm:t>
        <a:bodyPr/>
        <a:lstStyle/>
        <a:p>
          <a:endParaRPr lang="en-US"/>
        </a:p>
      </dgm:t>
    </dgm:pt>
    <dgm:pt modelId="{B93E2ADC-095F-4574-8872-9D586727A8A6}" type="sibTrans" cxnId="{936EC08F-FB08-4C41-918A-8A481AB6F28D}">
      <dgm:prSet/>
      <dgm:spPr/>
      <dgm:t>
        <a:bodyPr/>
        <a:lstStyle/>
        <a:p>
          <a:endParaRPr lang="en-US"/>
        </a:p>
      </dgm:t>
    </dgm:pt>
    <dgm:pt modelId="{65427907-8223-427E-956A-36C3D08C3F7B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</a:rPr>
            <a:t>Asset integrity</a:t>
          </a:r>
        </a:p>
      </dgm:t>
    </dgm:pt>
    <dgm:pt modelId="{0C0BAE62-B74B-4383-BE7C-648A7A65794F}" type="parTrans" cxnId="{48DAC34B-CBD1-499F-B673-529EDD7455B3}">
      <dgm:prSet/>
      <dgm:spPr/>
      <dgm:t>
        <a:bodyPr/>
        <a:lstStyle/>
        <a:p>
          <a:endParaRPr lang="en-US"/>
        </a:p>
      </dgm:t>
    </dgm:pt>
    <dgm:pt modelId="{208F18DC-B34A-4975-9258-67837C6C04E7}" type="sibTrans" cxnId="{48DAC34B-CBD1-499F-B673-529EDD7455B3}">
      <dgm:prSet/>
      <dgm:spPr/>
      <dgm:t>
        <a:bodyPr/>
        <a:lstStyle/>
        <a:p>
          <a:endParaRPr lang="en-US"/>
        </a:p>
      </dgm:t>
    </dgm:pt>
    <dgm:pt modelId="{7D3228BB-A676-4E79-B246-E776A12E88B4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b="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F7C14E2A-2011-4341-8C5B-B9C05C51B7D4}" type="parTrans" cxnId="{25AE48D4-ABCB-46C1-AC78-43F1898CC698}">
      <dgm:prSet/>
      <dgm:spPr/>
      <dgm:t>
        <a:bodyPr/>
        <a:lstStyle/>
        <a:p>
          <a:endParaRPr lang="en-US"/>
        </a:p>
      </dgm:t>
    </dgm:pt>
    <dgm:pt modelId="{6F552534-8B95-4FA0-8053-42B8899ED40A}" type="sibTrans" cxnId="{25AE48D4-ABCB-46C1-AC78-43F1898CC698}">
      <dgm:prSet/>
      <dgm:spPr/>
      <dgm:t>
        <a:bodyPr/>
        <a:lstStyle/>
        <a:p>
          <a:endParaRPr lang="en-US"/>
        </a:p>
      </dgm:t>
    </dgm:pt>
    <dgm:pt modelId="{BC1C1E5B-8D00-4092-8A54-4FA0D0AD3AA9}">
      <dgm:prSet/>
      <dgm:spPr>
        <a:ln>
          <a:solidFill>
            <a:schemeClr val="tx1"/>
          </a:solidFill>
          <a:prstDash val="solid"/>
        </a:ln>
      </dgm:spPr>
      <dgm:t>
        <a:bodyPr/>
        <a:lstStyle/>
        <a:p>
          <a:r>
            <a:rPr lang="en-US" b="0" i="0" u="none" dirty="0">
              <a:solidFill>
                <a:schemeClr val="tx1"/>
              </a:solidFill>
              <a:latin typeface="Calibri" panose="020F0502020204030204" pitchFamily="34" charset="0"/>
            </a:rPr>
            <a:t>Maintenance repair and overhaul (MRO) </a:t>
          </a:r>
        </a:p>
      </dgm:t>
    </dgm:pt>
    <dgm:pt modelId="{C0A2180C-6FF4-41BD-B93D-32FC070D737F}" type="sibTrans" cxnId="{B3E0F1B9-DF9C-4AFC-A9E0-03B10F2DB1D0}">
      <dgm:prSet/>
      <dgm:spPr/>
      <dgm:t>
        <a:bodyPr/>
        <a:lstStyle/>
        <a:p>
          <a:endParaRPr lang="en-US"/>
        </a:p>
      </dgm:t>
    </dgm:pt>
    <dgm:pt modelId="{3332AAA5-ECC6-43D4-98FB-799EC8273499}" type="parTrans" cxnId="{B3E0F1B9-DF9C-4AFC-A9E0-03B10F2DB1D0}">
      <dgm:prSet/>
      <dgm:spPr/>
      <dgm:t>
        <a:bodyPr/>
        <a:lstStyle/>
        <a:p>
          <a:endParaRPr lang="en-US"/>
        </a:p>
      </dgm:t>
    </dgm:pt>
    <dgm:pt modelId="{33EBCF6B-153C-4C00-933C-A88AF8D3E4E9}">
      <dgm:prSet/>
      <dgm:spPr>
        <a:ln>
          <a:solidFill>
            <a:schemeClr val="tx1"/>
          </a:solidFill>
          <a:prstDash val="solid"/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</a:rPr>
            <a:t>Manufacturing logistics</a:t>
          </a:r>
        </a:p>
      </dgm:t>
    </dgm:pt>
    <dgm:pt modelId="{F22FA246-D822-46CB-8A23-ADA4EB5CB74E}" type="parTrans" cxnId="{E07748DC-C852-4CFF-A4EC-0C37BDDC0BBE}">
      <dgm:prSet/>
      <dgm:spPr/>
      <dgm:t>
        <a:bodyPr/>
        <a:lstStyle/>
        <a:p>
          <a:endParaRPr lang="en-US"/>
        </a:p>
      </dgm:t>
    </dgm:pt>
    <dgm:pt modelId="{80AE8F4E-896F-4B3C-B06F-1BF32CEB9048}" type="sibTrans" cxnId="{E07748DC-C852-4CFF-A4EC-0C37BDDC0BBE}">
      <dgm:prSet/>
      <dgm:spPr/>
      <dgm:t>
        <a:bodyPr/>
        <a:lstStyle/>
        <a:p>
          <a:endParaRPr lang="en-US"/>
        </a:p>
      </dgm:t>
    </dgm:pt>
    <dgm:pt modelId="{9C29C8E7-9BFA-4D42-B925-CB5B63CDDA39}">
      <dgm:prSet/>
      <dgm:spPr>
        <a:ln>
          <a:solidFill>
            <a:schemeClr val="tx1"/>
          </a:solidFill>
          <a:prstDash val="solid"/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</a:rPr>
            <a:t>Supply-chain strategy</a:t>
          </a:r>
        </a:p>
      </dgm:t>
    </dgm:pt>
    <dgm:pt modelId="{0D5085C0-E808-46D1-A791-ACFE1739A049}" type="parTrans" cxnId="{90CE4E33-0E52-4ABC-A292-84B9C064648F}">
      <dgm:prSet/>
      <dgm:spPr/>
      <dgm:t>
        <a:bodyPr/>
        <a:lstStyle/>
        <a:p>
          <a:endParaRPr lang="en-US"/>
        </a:p>
      </dgm:t>
    </dgm:pt>
    <dgm:pt modelId="{78E773DD-E02C-45ED-ADE2-CDB890DB267F}" type="sibTrans" cxnId="{90CE4E33-0E52-4ABC-A292-84B9C064648F}">
      <dgm:prSet/>
      <dgm:spPr/>
      <dgm:t>
        <a:bodyPr/>
        <a:lstStyle/>
        <a:p>
          <a:endParaRPr lang="en-US"/>
        </a:p>
      </dgm:t>
    </dgm:pt>
    <dgm:pt modelId="{CAE05A78-BE2A-45B5-ACC1-0B74A53CA449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Bio-materials and cellular mechanics</a:t>
          </a:r>
        </a:p>
      </dgm:t>
    </dgm:pt>
    <dgm:pt modelId="{2AF8AAEB-FF5F-440A-BAC6-A118278711FC}" type="sibTrans" cxnId="{421C7D1F-25D9-488D-BF6E-B988111B93D1}">
      <dgm:prSet/>
      <dgm:spPr/>
      <dgm:t>
        <a:bodyPr/>
        <a:lstStyle/>
        <a:p>
          <a:endParaRPr lang="en-US"/>
        </a:p>
      </dgm:t>
    </dgm:pt>
    <dgm:pt modelId="{07E9795F-6EB5-4C7D-9ADA-37852EF5C19A}" type="parTrans" cxnId="{421C7D1F-25D9-488D-BF6E-B988111B93D1}">
      <dgm:prSet/>
      <dgm:spPr/>
      <dgm:t>
        <a:bodyPr/>
        <a:lstStyle/>
        <a:p>
          <a:endParaRPr lang="en-US"/>
        </a:p>
      </dgm:t>
    </dgm:pt>
    <dgm:pt modelId="{F319D4E4-B194-4425-BFBE-8362C8DE4948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i="0" dirty="0">
              <a:solidFill>
                <a:schemeClr val="tx1"/>
              </a:solidFill>
              <a:latin typeface="Calibri" panose="020F0502020204030204" pitchFamily="34" charset="0"/>
            </a:rPr>
            <a:t>Drilling and completion</a:t>
          </a:r>
        </a:p>
      </dgm:t>
    </dgm:pt>
    <dgm:pt modelId="{898F5220-C3AD-41D5-A5A1-6978C5EDD825}" type="parTrans" cxnId="{62D789D7-C6B4-4B18-9FC2-3D77F2D98313}">
      <dgm:prSet/>
      <dgm:spPr/>
      <dgm:t>
        <a:bodyPr/>
        <a:lstStyle/>
        <a:p>
          <a:endParaRPr lang="en-US"/>
        </a:p>
      </dgm:t>
    </dgm:pt>
    <dgm:pt modelId="{A290956F-7073-42A1-BF13-75DD158CCD23}" type="sibTrans" cxnId="{62D789D7-C6B4-4B18-9FC2-3D77F2D98313}">
      <dgm:prSet/>
      <dgm:spPr/>
      <dgm:t>
        <a:bodyPr/>
        <a:lstStyle/>
        <a:p>
          <a:endParaRPr lang="en-US"/>
        </a:p>
      </dgm:t>
    </dgm:pt>
    <dgm:pt modelId="{4846A8B1-6758-4526-A024-0064B714636A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Desalination </a:t>
          </a:r>
          <a:endParaRPr lang="en-US" dirty="0">
            <a:latin typeface="Calibri" panose="020F0502020204030204" pitchFamily="34" charset="0"/>
          </a:endParaRPr>
        </a:p>
      </dgm:t>
    </dgm:pt>
    <dgm:pt modelId="{A843D868-8C31-472F-B0DF-ED0C7C3CBF7B}" type="parTrans" cxnId="{7617CCFA-4A2E-4C2D-A92F-A816309B3D1D}">
      <dgm:prSet/>
      <dgm:spPr/>
      <dgm:t>
        <a:bodyPr/>
        <a:lstStyle/>
        <a:p>
          <a:endParaRPr lang="en-US"/>
        </a:p>
      </dgm:t>
    </dgm:pt>
    <dgm:pt modelId="{6C8E2007-3787-4DAD-BAB2-181771D2657F}" type="sibTrans" cxnId="{7617CCFA-4A2E-4C2D-A92F-A816309B3D1D}">
      <dgm:prSet/>
      <dgm:spPr/>
      <dgm:t>
        <a:bodyPr/>
        <a:lstStyle/>
        <a:p>
          <a:endParaRPr lang="en-US"/>
        </a:p>
      </dgm:t>
    </dgm:pt>
    <dgm:pt modelId="{1D9C6DA8-EAC2-4107-B781-D8C3996A5FC7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Waste treatment and utilization (wastewater, industrial and municipal waste streams)</a:t>
          </a:r>
          <a:endParaRPr lang="en-US" dirty="0">
            <a:latin typeface="Calibri" panose="020F0502020204030204" pitchFamily="34" charset="0"/>
          </a:endParaRPr>
        </a:p>
      </dgm:t>
    </dgm:pt>
    <dgm:pt modelId="{07F9498C-DBDF-43D1-9219-88EC28343C1B}" type="parTrans" cxnId="{9D4B989E-4BE9-4B7E-8AAD-E6956196D711}">
      <dgm:prSet/>
      <dgm:spPr/>
      <dgm:t>
        <a:bodyPr/>
        <a:lstStyle/>
        <a:p>
          <a:endParaRPr lang="en-US"/>
        </a:p>
      </dgm:t>
    </dgm:pt>
    <dgm:pt modelId="{D39130BC-A0F7-452D-8947-A6A477E61106}" type="sibTrans" cxnId="{9D4B989E-4BE9-4B7E-8AAD-E6956196D711}">
      <dgm:prSet/>
      <dgm:spPr/>
      <dgm:t>
        <a:bodyPr/>
        <a:lstStyle/>
        <a:p>
          <a:endParaRPr lang="en-US"/>
        </a:p>
      </dgm:t>
    </dgm:pt>
    <dgm:pt modelId="{976463AB-EC32-4F3D-B18A-38F85D56D916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latin typeface="Calibri" panose="020F0502020204030204" pitchFamily="34" charset="0"/>
            </a:rPr>
            <a:t>Environmental resource management </a:t>
          </a:r>
          <a:endParaRPr lang="en-US" dirty="0">
            <a:latin typeface="Calibri" panose="020F0502020204030204" pitchFamily="34" charset="0"/>
          </a:endParaRPr>
        </a:p>
      </dgm:t>
    </dgm:pt>
    <dgm:pt modelId="{3639FC0C-E1E6-45CF-878B-97016F617B86}" type="parTrans" cxnId="{E56FD3BD-F9A8-49A2-A28E-7D838728C9E7}">
      <dgm:prSet/>
      <dgm:spPr/>
      <dgm:t>
        <a:bodyPr/>
        <a:lstStyle/>
        <a:p>
          <a:endParaRPr lang="en-US"/>
        </a:p>
      </dgm:t>
    </dgm:pt>
    <dgm:pt modelId="{CF36B6CE-5385-454B-9D7C-3409241DCFD3}" type="sibTrans" cxnId="{E56FD3BD-F9A8-49A2-A28E-7D838728C9E7}">
      <dgm:prSet/>
      <dgm:spPr/>
      <dgm:t>
        <a:bodyPr/>
        <a:lstStyle/>
        <a:p>
          <a:endParaRPr lang="en-US"/>
        </a:p>
      </dgm:t>
    </dgm:pt>
    <dgm:pt modelId="{7150050E-96AD-4F62-9B1A-143C71699D27}">
      <dgm:prSet phldrT="[Text]" custT="1"/>
      <dgm:spPr>
        <a:solidFill>
          <a:srgbClr val="FF993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000" b="1" dirty="0">
              <a:solidFill>
                <a:schemeClr val="bg1"/>
              </a:solidFill>
              <a:latin typeface="Calibri" panose="020F0502020204030204" pitchFamily="34" charset="0"/>
            </a:rPr>
            <a:t>Hydrocarbon Exploration and Production</a:t>
          </a:r>
          <a:endParaRPr lang="en-US" sz="1000" dirty="0">
            <a:solidFill>
              <a:schemeClr val="bg1"/>
            </a:solidFill>
          </a:endParaRPr>
        </a:p>
      </dgm:t>
    </dgm:pt>
    <dgm:pt modelId="{B1910B46-1175-44BB-93F8-8DDAE4CD191C}" type="parTrans" cxnId="{28DA70CA-1E1E-4705-9F00-C22A45085C98}">
      <dgm:prSet/>
      <dgm:spPr/>
      <dgm:t>
        <a:bodyPr/>
        <a:lstStyle/>
        <a:p>
          <a:endParaRPr lang="en-US"/>
        </a:p>
      </dgm:t>
    </dgm:pt>
    <dgm:pt modelId="{ACF6E11B-1BFF-4A47-9430-FA6F0E4A9861}" type="sibTrans" cxnId="{28DA70CA-1E1E-4705-9F00-C22A45085C98}">
      <dgm:prSet/>
      <dgm:spPr/>
      <dgm:t>
        <a:bodyPr/>
        <a:lstStyle/>
        <a:p>
          <a:endParaRPr lang="en-US"/>
        </a:p>
      </dgm:t>
    </dgm:pt>
    <dgm:pt modelId="{F560B2E4-991A-4820-A568-EB5BF89E872E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i="0" dirty="0">
              <a:solidFill>
                <a:schemeClr val="tx1"/>
              </a:solidFill>
              <a:latin typeface="Calibri" panose="020F0502020204030204" pitchFamily="34" charset="0"/>
            </a:rPr>
            <a:t>Nuclear energy</a:t>
          </a:r>
        </a:p>
      </dgm:t>
    </dgm:pt>
    <dgm:pt modelId="{D41BFDA7-C646-469B-A415-32CF4A95B800}" type="parTrans" cxnId="{9DA072C6-FACA-4552-B918-4B63D42637CE}">
      <dgm:prSet/>
      <dgm:spPr/>
      <dgm:t>
        <a:bodyPr/>
        <a:lstStyle/>
        <a:p>
          <a:endParaRPr lang="en-US"/>
        </a:p>
      </dgm:t>
    </dgm:pt>
    <dgm:pt modelId="{03E3F78B-6928-4AAB-B543-6F01E02D4FB6}" type="sibTrans" cxnId="{9DA072C6-FACA-4552-B918-4B63D42637CE}">
      <dgm:prSet/>
      <dgm:spPr/>
      <dgm:t>
        <a:bodyPr/>
        <a:lstStyle/>
        <a:p>
          <a:endParaRPr lang="en-US"/>
        </a:p>
      </dgm:t>
    </dgm:pt>
    <dgm:pt modelId="{574BDF32-8ED4-46B6-A65B-08636DBE9DD0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1" u="none" dirty="0">
              <a:solidFill>
                <a:schemeClr val="tx1"/>
              </a:solidFill>
              <a:latin typeface="Calibri" panose="020F0502020204030204" pitchFamily="34" charset="0"/>
            </a:rPr>
            <a:t>Space sciences</a:t>
          </a:r>
          <a:endParaRPr lang="en-US" b="1" i="1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E4FCBE67-3822-4034-B61D-90AFD93675C9}" type="parTrans" cxnId="{853B3A48-6981-4F19-8D43-F394305F4E13}">
      <dgm:prSet/>
      <dgm:spPr/>
      <dgm:t>
        <a:bodyPr/>
        <a:lstStyle/>
        <a:p>
          <a:endParaRPr lang="en-US"/>
        </a:p>
      </dgm:t>
    </dgm:pt>
    <dgm:pt modelId="{64B83720-CC70-414E-9F24-057E06AAE4CB}" type="sibTrans" cxnId="{853B3A48-6981-4F19-8D43-F394305F4E13}">
      <dgm:prSet/>
      <dgm:spPr/>
      <dgm:t>
        <a:bodyPr/>
        <a:lstStyle/>
        <a:p>
          <a:endParaRPr lang="en-US"/>
        </a:p>
      </dgm:t>
    </dgm:pt>
    <dgm:pt modelId="{C4161C40-721F-43C5-89C6-4B46698A2A6E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0" i="0" u="none" dirty="0">
              <a:solidFill>
                <a:schemeClr val="tx1"/>
              </a:solidFill>
              <a:latin typeface="Calibri" panose="020F0502020204030204" pitchFamily="34" charset="0"/>
            </a:rPr>
            <a:t>Remote sensing and modeling</a:t>
          </a:r>
          <a:endParaRPr lang="en-US" b="1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4A8DD0AF-4D15-4761-AF7F-2A57907D4207}" type="parTrans" cxnId="{8CCF204F-C611-41E8-99E4-E9F1B886879E}">
      <dgm:prSet/>
      <dgm:spPr/>
      <dgm:t>
        <a:bodyPr/>
        <a:lstStyle/>
        <a:p>
          <a:endParaRPr lang="en-US"/>
        </a:p>
      </dgm:t>
    </dgm:pt>
    <dgm:pt modelId="{AF22458A-07F8-4212-A676-DE0EB91760E5}" type="sibTrans" cxnId="{8CCF204F-C611-41E8-99E4-E9F1B886879E}">
      <dgm:prSet/>
      <dgm:spPr/>
      <dgm:t>
        <a:bodyPr/>
        <a:lstStyle/>
        <a:p>
          <a:endParaRPr lang="en-US"/>
        </a:p>
      </dgm:t>
    </dgm:pt>
    <dgm:pt modelId="{E6868610-9CA9-42E5-BCD1-042C93E774BF}" type="pres">
      <dgm:prSet presAssocID="{74F829DE-7D16-4F69-8A4F-3FF598692FFE}" presName="Name0" presStyleCnt="0">
        <dgm:presLayoutVars>
          <dgm:dir/>
          <dgm:animLvl val="lvl"/>
          <dgm:resizeHandles val="exact"/>
        </dgm:presLayoutVars>
      </dgm:prSet>
      <dgm:spPr/>
    </dgm:pt>
    <dgm:pt modelId="{DA5F41B2-09AA-40A3-B0C8-F72632307620}" type="pres">
      <dgm:prSet presAssocID="{BDB0DE52-2262-40E1-8BB0-D3D5B34FA0F1}" presName="composite" presStyleCnt="0"/>
      <dgm:spPr/>
    </dgm:pt>
    <dgm:pt modelId="{10AC379D-BE27-450E-8F8E-7C9F0AFDD83E}" type="pres">
      <dgm:prSet presAssocID="{BDB0DE52-2262-40E1-8BB0-D3D5B34FA0F1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A3DF3EF7-119C-4513-B10E-5EE9938D4F06}" type="pres">
      <dgm:prSet presAssocID="{BDB0DE52-2262-40E1-8BB0-D3D5B34FA0F1}" presName="desTx" presStyleLbl="alignAccFollowNode1" presStyleIdx="0" presStyleCnt="6">
        <dgm:presLayoutVars>
          <dgm:bulletEnabled val="1"/>
        </dgm:presLayoutVars>
      </dgm:prSet>
      <dgm:spPr/>
    </dgm:pt>
    <dgm:pt modelId="{B2C83F17-CD8E-4572-A618-9035851701BF}" type="pres">
      <dgm:prSet presAssocID="{11C1D03B-8D3E-42DE-B8E6-CE0C3F71A356}" presName="space" presStyleCnt="0"/>
      <dgm:spPr/>
    </dgm:pt>
    <dgm:pt modelId="{1FCD66D5-BC4A-4057-9AF0-108DD005E4FB}" type="pres">
      <dgm:prSet presAssocID="{14393C39-A2D0-4299-AD69-FA69A96E2992}" presName="composite" presStyleCnt="0"/>
      <dgm:spPr/>
    </dgm:pt>
    <dgm:pt modelId="{25467664-AE8F-47B5-9FD2-672FF6C842FC}" type="pres">
      <dgm:prSet presAssocID="{14393C39-A2D0-4299-AD69-FA69A96E2992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EEC53513-C16E-4B51-A076-1623A52A2402}" type="pres">
      <dgm:prSet presAssocID="{14393C39-A2D0-4299-AD69-FA69A96E2992}" presName="desTx" presStyleLbl="alignAccFollowNode1" presStyleIdx="1" presStyleCnt="6">
        <dgm:presLayoutVars>
          <dgm:bulletEnabled val="1"/>
        </dgm:presLayoutVars>
      </dgm:prSet>
      <dgm:spPr/>
    </dgm:pt>
    <dgm:pt modelId="{B9A95DD1-B491-4CBC-BD32-70D45A8672C8}" type="pres">
      <dgm:prSet presAssocID="{BAECB74F-CF5D-46EC-BECA-490C2B28059C}" presName="space" presStyleCnt="0"/>
      <dgm:spPr/>
    </dgm:pt>
    <dgm:pt modelId="{FE408C4D-47D6-4BCA-ABC9-B97DCF3795AD}" type="pres">
      <dgm:prSet presAssocID="{7150050E-96AD-4F62-9B1A-143C71699D27}" presName="composite" presStyleCnt="0"/>
      <dgm:spPr/>
    </dgm:pt>
    <dgm:pt modelId="{A94CF517-1FA4-4BC5-A747-E05B714AA6ED}" type="pres">
      <dgm:prSet presAssocID="{7150050E-96AD-4F62-9B1A-143C71699D27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035A1912-2452-403C-9AD0-8B3C3A0FB160}" type="pres">
      <dgm:prSet presAssocID="{7150050E-96AD-4F62-9B1A-143C71699D27}" presName="desTx" presStyleLbl="alignAccFollowNode1" presStyleIdx="2" presStyleCnt="6">
        <dgm:presLayoutVars>
          <dgm:bulletEnabled val="1"/>
        </dgm:presLayoutVars>
      </dgm:prSet>
      <dgm:spPr/>
    </dgm:pt>
    <dgm:pt modelId="{C5B84E07-1607-4B8E-A1DE-FF04BE55FBC5}" type="pres">
      <dgm:prSet presAssocID="{ACF6E11B-1BFF-4A47-9430-FA6F0E4A9861}" presName="space" presStyleCnt="0"/>
      <dgm:spPr/>
    </dgm:pt>
    <dgm:pt modelId="{C91C63EC-7468-4EA9-A17A-A167DD7C02F0}" type="pres">
      <dgm:prSet presAssocID="{628D1B94-F9FD-4B9D-9C94-AA14D2554DA4}" presName="composite" presStyleCnt="0"/>
      <dgm:spPr/>
    </dgm:pt>
    <dgm:pt modelId="{848786BA-2E04-4296-A06E-0ECBFFB8A5D5}" type="pres">
      <dgm:prSet presAssocID="{628D1B94-F9FD-4B9D-9C94-AA14D2554DA4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ADA88CBD-70AB-4C8E-8D85-9F59734A2934}" type="pres">
      <dgm:prSet presAssocID="{628D1B94-F9FD-4B9D-9C94-AA14D2554DA4}" presName="desTx" presStyleLbl="alignAccFollowNode1" presStyleIdx="3" presStyleCnt="6">
        <dgm:presLayoutVars>
          <dgm:bulletEnabled val="1"/>
        </dgm:presLayoutVars>
      </dgm:prSet>
      <dgm:spPr/>
    </dgm:pt>
    <dgm:pt modelId="{01DC50F8-F432-4519-A94A-8EF3FF601193}" type="pres">
      <dgm:prSet presAssocID="{1D52C28C-37A3-4C2F-915D-067FF26140A8}" presName="space" presStyleCnt="0"/>
      <dgm:spPr/>
    </dgm:pt>
    <dgm:pt modelId="{D2219419-20A5-4F69-A9BF-385201761C53}" type="pres">
      <dgm:prSet presAssocID="{394C192F-8159-488F-93EB-9D332D8451AF}" presName="composite" presStyleCnt="0"/>
      <dgm:spPr/>
    </dgm:pt>
    <dgm:pt modelId="{48785325-DF5D-4FD2-8CBD-1D2FFBCFC3F4}" type="pres">
      <dgm:prSet presAssocID="{394C192F-8159-488F-93EB-9D332D8451AF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FBD78EA1-F6C5-4FC1-9BBC-B10134EF3BCF}" type="pres">
      <dgm:prSet presAssocID="{394C192F-8159-488F-93EB-9D332D8451AF}" presName="desTx" presStyleLbl="alignAccFollowNode1" presStyleIdx="4" presStyleCnt="6">
        <dgm:presLayoutVars>
          <dgm:bulletEnabled val="1"/>
        </dgm:presLayoutVars>
      </dgm:prSet>
      <dgm:spPr/>
    </dgm:pt>
    <dgm:pt modelId="{48C5A9B7-63D0-4ED5-AEED-CE13BD838429}" type="pres">
      <dgm:prSet presAssocID="{CBBCEC2E-0B6A-4279-BBB7-2591E76DA125}" presName="space" presStyleCnt="0"/>
      <dgm:spPr/>
    </dgm:pt>
    <dgm:pt modelId="{BEDC0A31-2F4D-4446-A3E8-CF91B6160B47}" type="pres">
      <dgm:prSet presAssocID="{808807D0-A1BC-48EF-AD90-27E5299A3937}" presName="composite" presStyleCnt="0"/>
      <dgm:spPr/>
    </dgm:pt>
    <dgm:pt modelId="{C4FB98B5-29C6-4FA2-945E-8AB8584A7B86}" type="pres">
      <dgm:prSet presAssocID="{808807D0-A1BC-48EF-AD90-27E5299A3937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08D9E875-C1A9-4531-9CBA-675459A1C50D}" type="pres">
      <dgm:prSet presAssocID="{808807D0-A1BC-48EF-AD90-27E5299A3937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CF8B4507-8688-4768-A730-A412535C3400}" type="presOf" srcId="{1E76E7D7-B23B-422A-B239-7AF97B2EDAF3}" destId="{FBD78EA1-F6C5-4FC1-9BBC-B10134EF3BCF}" srcOrd="0" destOrd="0" presId="urn:microsoft.com/office/officeart/2005/8/layout/hList1"/>
    <dgm:cxn modelId="{BA18380B-C31F-44C3-810B-5EE8A6F6E440}" srcId="{628D1B94-F9FD-4B9D-9C94-AA14D2554DA4}" destId="{B45A74BD-7B25-4D44-97E2-BD60D68E3D7E}" srcOrd="2" destOrd="0" parTransId="{93422D69-AD09-4A5A-B1FC-8A678B71D741}" sibTransId="{34570C32-3CA8-4747-8732-9C7FC6CDD1BC}"/>
    <dgm:cxn modelId="{69F8C70C-7723-47B1-B514-2FF53BBC1147}" type="presOf" srcId="{808807D0-A1BC-48EF-AD90-27E5299A3937}" destId="{C4FB98B5-29C6-4FA2-945E-8AB8584A7B86}" srcOrd="0" destOrd="0" presId="urn:microsoft.com/office/officeart/2005/8/layout/hList1"/>
    <dgm:cxn modelId="{4E5B6F0F-0E6E-4CFA-9395-E68EB1AEEBC0}" type="presOf" srcId="{50823CD3-1570-4018-949C-8741B55CBDBB}" destId="{ADA88CBD-70AB-4C8E-8D85-9F59734A2934}" srcOrd="0" destOrd="4" presId="urn:microsoft.com/office/officeart/2005/8/layout/hList1"/>
    <dgm:cxn modelId="{EED17D10-E231-4D09-BE11-C4AD7603D41E}" type="presOf" srcId="{7D3228BB-A676-4E79-B246-E776A12E88B4}" destId="{FBD78EA1-F6C5-4FC1-9BBC-B10134EF3BCF}" srcOrd="0" destOrd="3" presId="urn:microsoft.com/office/officeart/2005/8/layout/hList1"/>
    <dgm:cxn modelId="{421C7D1F-25D9-488D-BF6E-B988111B93D1}" srcId="{628D1B94-F9FD-4B9D-9C94-AA14D2554DA4}" destId="{CAE05A78-BE2A-45B5-ACC1-0B74A53CA449}" srcOrd="3" destOrd="0" parTransId="{07E9795F-6EB5-4C7D-9ADA-37852EF5C19A}" sibTransId="{2AF8AAEB-FF5F-440A-BAC6-A118278711FC}"/>
    <dgm:cxn modelId="{6A1DFC22-4937-48BB-9186-D53D754CB560}" srcId="{BDB0DE52-2262-40E1-8BB0-D3D5B34FA0F1}" destId="{631FB678-EAA2-44CB-A3AE-4C50AFEF4428}" srcOrd="2" destOrd="0" parTransId="{D17B935C-A951-4CDE-9882-1490B3BC9778}" sibTransId="{F6AA0E42-2B55-4A45-9DDF-EF95A5C088EE}"/>
    <dgm:cxn modelId="{B2BD3429-3EDA-4029-A669-3BD957E10897}" srcId="{BDB0DE52-2262-40E1-8BB0-D3D5B34FA0F1}" destId="{3D2F55E5-099B-4A48-834B-371116D5B83A}" srcOrd="0" destOrd="0" parTransId="{C2D8DB18-50C5-4D52-97BC-0590E8D2922B}" sibTransId="{D8F55B1F-2E1C-444F-BF79-315B63158D80}"/>
    <dgm:cxn modelId="{5810E02C-8374-4B59-8272-9AF26EBE3F50}" type="presOf" srcId="{14393C39-A2D0-4299-AD69-FA69A96E2992}" destId="{25467664-AE8F-47B5-9FD2-672FF6C842FC}" srcOrd="0" destOrd="0" presId="urn:microsoft.com/office/officeart/2005/8/layout/hList1"/>
    <dgm:cxn modelId="{90CE4E33-0E52-4ABC-A292-84B9C064648F}" srcId="{808807D0-A1BC-48EF-AD90-27E5299A3937}" destId="{9C29C8E7-9BFA-4D42-B925-CB5B63CDDA39}" srcOrd="2" destOrd="0" parTransId="{0D5085C0-E808-46D1-A791-ACFE1739A049}" sibTransId="{78E773DD-E02C-45ED-ADE2-CDB890DB267F}"/>
    <dgm:cxn modelId="{7BA3CF38-FED9-438E-9B2D-29C2D0B427DE}" type="presOf" srcId="{668841D2-E769-4590-BB65-72ABF43C434E}" destId="{A3DF3EF7-119C-4513-B10E-5EE9938D4F06}" srcOrd="0" destOrd="1" presId="urn:microsoft.com/office/officeart/2005/8/layout/hList1"/>
    <dgm:cxn modelId="{7D746B3C-E82B-46CC-A33F-695FB3705E05}" type="presOf" srcId="{04CA0F65-48C6-41D6-B617-DD9979DD0595}" destId="{ADA88CBD-70AB-4C8E-8D85-9F59734A2934}" srcOrd="0" destOrd="1" presId="urn:microsoft.com/office/officeart/2005/8/layout/hList1"/>
    <dgm:cxn modelId="{F9B1763D-AF63-404E-B0F8-4041116C7F69}" srcId="{74F829DE-7D16-4F69-8A4F-3FF598692FFE}" destId="{394C192F-8159-488F-93EB-9D332D8451AF}" srcOrd="4" destOrd="0" parTransId="{15972147-57BD-4D66-B932-3D5EDBB4E4F4}" sibTransId="{CBBCEC2E-0B6A-4279-BBB7-2591E76DA125}"/>
    <dgm:cxn modelId="{B5A8DD3E-7DE0-4312-B04A-31F1491F9D8B}" srcId="{394C192F-8159-488F-93EB-9D332D8451AF}" destId="{A56438EC-D335-42B9-B953-D67A8CE49F39}" srcOrd="4" destOrd="0" parTransId="{2B28CE90-5A61-4146-9160-CD64C5A32DE9}" sibTransId="{71DFF3F0-8210-4C36-A283-983E897D0D21}"/>
    <dgm:cxn modelId="{31E5E63E-58BE-4DDA-B5FA-FFFCA3FB38F6}" type="presOf" srcId="{C4161C40-721F-43C5-89C6-4B46698A2A6E}" destId="{FBD78EA1-F6C5-4FC1-9BBC-B10134EF3BCF}" srcOrd="0" destOrd="1" presId="urn:microsoft.com/office/officeart/2005/8/layout/hList1"/>
    <dgm:cxn modelId="{9A2A4940-02C9-4B2F-8B77-942AE8C912CE}" type="presOf" srcId="{F560B2E4-991A-4820-A568-EB5BF89E872E}" destId="{A3DF3EF7-119C-4513-B10E-5EE9938D4F06}" srcOrd="0" destOrd="4" presId="urn:microsoft.com/office/officeart/2005/8/layout/hList1"/>
    <dgm:cxn modelId="{CF798E5F-6E09-46E7-A06D-EC7A27076C63}" srcId="{74F829DE-7D16-4F69-8A4F-3FF598692FFE}" destId="{628D1B94-F9FD-4B9D-9C94-AA14D2554DA4}" srcOrd="3" destOrd="0" parTransId="{2DFCEA18-034D-4249-86A3-06EA814DE7B5}" sibTransId="{1D52C28C-37A3-4C2F-915D-067FF26140A8}"/>
    <dgm:cxn modelId="{8EE0AE41-847E-48A4-A39B-56A0EB989A96}" type="presOf" srcId="{1D8014EA-0500-4B4B-8577-D82BBDF5EE45}" destId="{08D9E875-C1A9-4531-9CBA-675459A1C50D}" srcOrd="0" destOrd="0" presId="urn:microsoft.com/office/officeart/2005/8/layout/hList1"/>
    <dgm:cxn modelId="{5AACD341-9D48-4B15-8C91-C47FA716C344}" type="presOf" srcId="{BC1C1E5B-8D00-4092-8A54-4FA0D0AD3AA9}" destId="{08D9E875-C1A9-4531-9CBA-675459A1C50D}" srcOrd="0" destOrd="3" presId="urn:microsoft.com/office/officeart/2005/8/layout/hList1"/>
    <dgm:cxn modelId="{81A60166-68F8-473E-AEA7-36AEE19582CC}" type="presOf" srcId="{74F829DE-7D16-4F69-8A4F-3FF598692FFE}" destId="{E6868610-9CA9-42E5-BCD1-042C93E774BF}" srcOrd="0" destOrd="0" presId="urn:microsoft.com/office/officeart/2005/8/layout/hList1"/>
    <dgm:cxn modelId="{853B3A48-6981-4F19-8D43-F394305F4E13}" srcId="{394C192F-8159-488F-93EB-9D332D8451AF}" destId="{574BDF32-8ED4-46B6-A65B-08636DBE9DD0}" srcOrd="2" destOrd="0" parTransId="{E4FCBE67-3822-4034-B61D-90AFD93675C9}" sibTransId="{64B83720-CC70-414E-9F24-057E06AAE4CB}"/>
    <dgm:cxn modelId="{10ACCB69-A631-47D8-BFD3-D387E8EE5DE3}" type="presOf" srcId="{3D2F55E5-099B-4A48-834B-371116D5B83A}" destId="{A3DF3EF7-119C-4513-B10E-5EE9938D4F06}" srcOrd="0" destOrd="0" presId="urn:microsoft.com/office/officeart/2005/8/layout/hList1"/>
    <dgm:cxn modelId="{8287D669-EEFB-47E4-8941-C555B134CCD0}" type="presOf" srcId="{631FB678-EAA2-44CB-A3AE-4C50AFEF4428}" destId="{A3DF3EF7-119C-4513-B10E-5EE9938D4F06}" srcOrd="0" destOrd="2" presId="urn:microsoft.com/office/officeart/2005/8/layout/hList1"/>
    <dgm:cxn modelId="{48DAC34B-CBD1-499F-B673-529EDD7455B3}" srcId="{7150050E-96AD-4F62-9B1A-143C71699D27}" destId="{65427907-8223-427E-956A-36C3D08C3F7B}" srcOrd="3" destOrd="0" parTransId="{0C0BAE62-B74B-4383-BE7C-648A7A65794F}" sibTransId="{208F18DC-B34A-4975-9258-67837C6C04E7}"/>
    <dgm:cxn modelId="{5CA0824D-0C5A-4B6C-9D5C-F56F44E50F23}" type="presOf" srcId="{B45A74BD-7B25-4D44-97E2-BD60D68E3D7E}" destId="{ADA88CBD-70AB-4C8E-8D85-9F59734A2934}" srcOrd="0" destOrd="2" presId="urn:microsoft.com/office/officeart/2005/8/layout/hList1"/>
    <dgm:cxn modelId="{8CCF204F-C611-41E8-99E4-E9F1B886879E}" srcId="{394C192F-8159-488F-93EB-9D332D8451AF}" destId="{C4161C40-721F-43C5-89C6-4B46698A2A6E}" srcOrd="1" destOrd="0" parTransId="{4A8DD0AF-4D15-4761-AF7F-2A57907D4207}" sibTransId="{AF22458A-07F8-4212-A676-DE0EB91760E5}"/>
    <dgm:cxn modelId="{10E86B6F-C13C-4D29-B09E-B84074D96A42}" type="presOf" srcId="{7150050E-96AD-4F62-9B1A-143C71699D27}" destId="{A94CF517-1FA4-4BC5-A747-E05B714AA6ED}" srcOrd="0" destOrd="0" presId="urn:microsoft.com/office/officeart/2005/8/layout/hList1"/>
    <dgm:cxn modelId="{2ED4D872-5B20-4B65-A882-C4FC7DF45BEA}" type="presOf" srcId="{074B56C8-F20E-49F6-AFEF-FB290DA9A411}" destId="{035A1912-2452-403C-9AD0-8B3C3A0FB160}" srcOrd="0" destOrd="1" presId="urn:microsoft.com/office/officeart/2005/8/layout/hList1"/>
    <dgm:cxn modelId="{7BB64B53-121F-4E7B-B668-3EBB422663B7}" type="presOf" srcId="{F319D4E4-B194-4425-BFBE-8362C8DE4948}" destId="{035A1912-2452-403C-9AD0-8B3C3A0FB160}" srcOrd="0" destOrd="4" presId="urn:microsoft.com/office/officeart/2005/8/layout/hList1"/>
    <dgm:cxn modelId="{3EB01558-9393-4CF2-B6A0-B4B7298E45C7}" type="presOf" srcId="{6722BE4F-948A-4854-A44D-ADC773FCABE2}" destId="{ADA88CBD-70AB-4C8E-8D85-9F59734A2934}" srcOrd="0" destOrd="0" presId="urn:microsoft.com/office/officeart/2005/8/layout/hList1"/>
    <dgm:cxn modelId="{774BDC7E-7A9B-4543-A6AD-74C0AA4A9D5F}" type="presOf" srcId="{457A3351-9232-40BC-A79B-1F7176C6B441}" destId="{035A1912-2452-403C-9AD0-8B3C3A0FB160}" srcOrd="0" destOrd="0" presId="urn:microsoft.com/office/officeart/2005/8/layout/hList1"/>
    <dgm:cxn modelId="{CF3F5D87-B71A-4D32-BFBE-1B98787177A6}" srcId="{74F829DE-7D16-4F69-8A4F-3FF598692FFE}" destId="{14393C39-A2D0-4299-AD69-FA69A96E2992}" srcOrd="1" destOrd="0" parTransId="{50D71A5F-12C8-43C5-8723-95E1D92F2C49}" sibTransId="{BAECB74F-CF5D-46EC-BECA-490C2B28059C}"/>
    <dgm:cxn modelId="{E3685487-9755-4B7A-8A86-645790EBB5AE}" type="presOf" srcId="{33EBCF6B-153C-4C00-933C-A88AF8D3E4E9}" destId="{08D9E875-C1A9-4531-9CBA-675459A1C50D}" srcOrd="0" destOrd="1" presId="urn:microsoft.com/office/officeart/2005/8/layout/hList1"/>
    <dgm:cxn modelId="{936EC08F-FB08-4C41-918A-8A481AB6F28D}" srcId="{7150050E-96AD-4F62-9B1A-143C71699D27}" destId="{9E9B4004-7470-4983-99DC-B8572623B171}" srcOrd="2" destOrd="0" parTransId="{478EB38E-2FB0-459A-9018-FBF35586F333}" sibTransId="{B93E2ADC-095F-4574-8872-9D586727A8A6}"/>
    <dgm:cxn modelId="{0BB1E697-2B1D-4C13-9965-468F3BF8DE0B}" srcId="{808807D0-A1BC-48EF-AD90-27E5299A3937}" destId="{1D8014EA-0500-4B4B-8577-D82BBDF5EE45}" srcOrd="0" destOrd="0" parTransId="{899B2FB7-9102-4182-B5CC-F091C4079133}" sibTransId="{8EACD043-32D5-4AF5-B349-C4F5699CBFF4}"/>
    <dgm:cxn modelId="{FE64919E-BE88-4EB7-BF02-E993D7DC4057}" srcId="{74F829DE-7D16-4F69-8A4F-3FF598692FFE}" destId="{808807D0-A1BC-48EF-AD90-27E5299A3937}" srcOrd="5" destOrd="0" parTransId="{D8C588AC-5B7D-4235-B681-9F8C7C4AF559}" sibTransId="{FB2479FC-CE42-4FF3-BDC8-C4F31F3E34BC}"/>
    <dgm:cxn modelId="{9D4B989E-4BE9-4B7E-8AAD-E6956196D711}" srcId="{14393C39-A2D0-4299-AD69-FA69A96E2992}" destId="{1D9C6DA8-EAC2-4107-B781-D8C3996A5FC7}" srcOrd="1" destOrd="0" parTransId="{07F9498C-DBDF-43D1-9219-88EC28343C1B}" sibTransId="{D39130BC-A0F7-452D-8947-A6A477E61106}"/>
    <dgm:cxn modelId="{3BDE60A0-758D-4CB0-AC9C-E3256755BDB6}" type="presOf" srcId="{628D1B94-F9FD-4B9D-9C94-AA14D2554DA4}" destId="{848786BA-2E04-4296-A06E-0ECBFFB8A5D5}" srcOrd="0" destOrd="0" presId="urn:microsoft.com/office/officeart/2005/8/layout/hList1"/>
    <dgm:cxn modelId="{0E2DA7A3-A86B-4B68-AA17-7787374D928E}" type="presOf" srcId="{976463AB-EC32-4F3D-B18A-38F85D56D916}" destId="{EEC53513-C16E-4B51-A076-1623A52A2402}" srcOrd="0" destOrd="2" presId="urn:microsoft.com/office/officeart/2005/8/layout/hList1"/>
    <dgm:cxn modelId="{0A2BABA5-BF7E-40FA-81D3-76662331AFA7}" srcId="{7150050E-96AD-4F62-9B1A-143C71699D27}" destId="{457A3351-9232-40BC-A79B-1F7176C6B441}" srcOrd="0" destOrd="0" parTransId="{05F8B431-AB62-42A0-ACC3-FA16647B65FC}" sibTransId="{2F980ECD-24FF-43E7-9296-F297698FF77E}"/>
    <dgm:cxn modelId="{9CB4C7A6-CE5B-4117-B8C1-AF7CDB7E29B1}" type="presOf" srcId="{4846A8B1-6758-4526-A024-0064B714636A}" destId="{EEC53513-C16E-4B51-A076-1623A52A2402}" srcOrd="0" destOrd="0" presId="urn:microsoft.com/office/officeart/2005/8/layout/hList1"/>
    <dgm:cxn modelId="{6A8445AA-D84F-4532-BDD8-CE2E0710FDD7}" type="presOf" srcId="{BA377537-FC2A-4ACB-B4A5-B5EC2E6D6944}" destId="{A3DF3EF7-119C-4513-B10E-5EE9938D4F06}" srcOrd="0" destOrd="3" presId="urn:microsoft.com/office/officeart/2005/8/layout/hList1"/>
    <dgm:cxn modelId="{6F29B7AD-5098-49B7-98A5-FF621E9C94FD}" type="presOf" srcId="{CAE05A78-BE2A-45B5-ACC1-0B74A53CA449}" destId="{ADA88CBD-70AB-4C8E-8D85-9F59734A2934}" srcOrd="0" destOrd="3" presId="urn:microsoft.com/office/officeart/2005/8/layout/hList1"/>
    <dgm:cxn modelId="{A91FDCB2-04A3-46CF-A162-7334FCA7B0E6}" type="presOf" srcId="{9C29C8E7-9BFA-4D42-B925-CB5B63CDDA39}" destId="{08D9E875-C1A9-4531-9CBA-675459A1C50D}" srcOrd="0" destOrd="2" presId="urn:microsoft.com/office/officeart/2005/8/layout/hList1"/>
    <dgm:cxn modelId="{72E4EEB2-E50F-4122-AEE0-47158EDFABE7}" srcId="{BDB0DE52-2262-40E1-8BB0-D3D5B34FA0F1}" destId="{BA377537-FC2A-4ACB-B4A5-B5EC2E6D6944}" srcOrd="3" destOrd="0" parTransId="{2B6E3879-D03F-4D02-BDEB-2A18C178E489}" sibTransId="{6CCAB711-108B-4B86-886C-4D2548658607}"/>
    <dgm:cxn modelId="{37B19FB3-27DA-4FA0-8736-6A9218A573D4}" type="presOf" srcId="{1D9C6DA8-EAC2-4107-B781-D8C3996A5FC7}" destId="{EEC53513-C16E-4B51-A076-1623A52A2402}" srcOrd="0" destOrd="1" presId="urn:microsoft.com/office/officeart/2005/8/layout/hList1"/>
    <dgm:cxn modelId="{B3E0F1B9-DF9C-4AFC-A9E0-03B10F2DB1D0}" srcId="{808807D0-A1BC-48EF-AD90-27E5299A3937}" destId="{BC1C1E5B-8D00-4092-8A54-4FA0D0AD3AA9}" srcOrd="3" destOrd="0" parTransId="{3332AAA5-ECC6-43D4-98FB-799EC8273499}" sibTransId="{C0A2180C-6FF4-41BD-B93D-32FC070D737F}"/>
    <dgm:cxn modelId="{E56FD3BD-F9A8-49A2-A28E-7D838728C9E7}" srcId="{14393C39-A2D0-4299-AD69-FA69A96E2992}" destId="{976463AB-EC32-4F3D-B18A-38F85D56D916}" srcOrd="2" destOrd="0" parTransId="{3639FC0C-E1E6-45CF-878B-97016F617B86}" sibTransId="{CF36B6CE-5385-454B-9D7C-3409241DCFD3}"/>
    <dgm:cxn modelId="{1C3FB8C0-6095-456B-999A-788E2EB8794E}" srcId="{74F829DE-7D16-4F69-8A4F-3FF598692FFE}" destId="{BDB0DE52-2262-40E1-8BB0-D3D5B34FA0F1}" srcOrd="0" destOrd="0" parTransId="{6FFCA6F8-0B91-49C2-ACF7-4003036EC43B}" sibTransId="{11C1D03B-8D3E-42DE-B8E6-CE0C3F71A356}"/>
    <dgm:cxn modelId="{9DA072C6-FACA-4552-B918-4B63D42637CE}" srcId="{BDB0DE52-2262-40E1-8BB0-D3D5B34FA0F1}" destId="{F560B2E4-991A-4820-A568-EB5BF89E872E}" srcOrd="4" destOrd="0" parTransId="{D41BFDA7-C646-469B-A415-32CF4A95B800}" sibTransId="{03E3F78B-6928-4AAB-B543-6F01E02D4FB6}"/>
    <dgm:cxn modelId="{367372C7-7724-4B47-8DD5-46893E8F03FF}" srcId="{628D1B94-F9FD-4B9D-9C94-AA14D2554DA4}" destId="{50823CD3-1570-4018-949C-8741B55CBDBB}" srcOrd="4" destOrd="0" parTransId="{272A4137-B223-4D27-A88A-F1420BD902DC}" sibTransId="{BDC8F124-5D12-4C3D-B796-0717140DF0B8}"/>
    <dgm:cxn modelId="{28DA70CA-1E1E-4705-9F00-C22A45085C98}" srcId="{74F829DE-7D16-4F69-8A4F-3FF598692FFE}" destId="{7150050E-96AD-4F62-9B1A-143C71699D27}" srcOrd="2" destOrd="0" parTransId="{B1910B46-1175-44BB-93F8-8DDAE4CD191C}" sibTransId="{ACF6E11B-1BFF-4A47-9430-FA6F0E4A9861}"/>
    <dgm:cxn modelId="{5AA395CA-C432-4202-A48D-BA6A830F69DB}" type="presOf" srcId="{A56438EC-D335-42B9-B953-D67A8CE49F39}" destId="{FBD78EA1-F6C5-4FC1-9BBC-B10134EF3BCF}" srcOrd="0" destOrd="4" presId="urn:microsoft.com/office/officeart/2005/8/layout/hList1"/>
    <dgm:cxn modelId="{4B08BCCD-BC9F-40C0-B827-CC50408E72BD}" type="presOf" srcId="{BDB0DE52-2262-40E1-8BB0-D3D5B34FA0F1}" destId="{10AC379D-BE27-450E-8F8E-7C9F0AFDD83E}" srcOrd="0" destOrd="0" presId="urn:microsoft.com/office/officeart/2005/8/layout/hList1"/>
    <dgm:cxn modelId="{0C474FCF-04A6-457F-BEB4-BA12C4A62B13}" type="presOf" srcId="{65427907-8223-427E-956A-36C3D08C3F7B}" destId="{035A1912-2452-403C-9AD0-8B3C3A0FB160}" srcOrd="0" destOrd="3" presId="urn:microsoft.com/office/officeart/2005/8/layout/hList1"/>
    <dgm:cxn modelId="{25AE48D4-ABCB-46C1-AC78-43F1898CC698}" srcId="{394C192F-8159-488F-93EB-9D332D8451AF}" destId="{7D3228BB-A676-4E79-B246-E776A12E88B4}" srcOrd="3" destOrd="0" parTransId="{F7C14E2A-2011-4341-8C5B-B9C05C51B7D4}" sibTransId="{6F552534-8B95-4FA0-8053-42B8899ED40A}"/>
    <dgm:cxn modelId="{62D789D7-C6B4-4B18-9FC2-3D77F2D98313}" srcId="{7150050E-96AD-4F62-9B1A-143C71699D27}" destId="{F319D4E4-B194-4425-BFBE-8362C8DE4948}" srcOrd="4" destOrd="0" parTransId="{898F5220-C3AD-41D5-A5A1-6978C5EDD825}" sibTransId="{A290956F-7073-42A1-BF13-75DD158CCD23}"/>
    <dgm:cxn modelId="{E07748DC-C852-4CFF-A4EC-0C37BDDC0BBE}" srcId="{808807D0-A1BC-48EF-AD90-27E5299A3937}" destId="{33EBCF6B-153C-4C00-933C-A88AF8D3E4E9}" srcOrd="1" destOrd="0" parTransId="{F22FA246-D822-46CB-8A23-ADA4EB5CB74E}" sibTransId="{80AE8F4E-896F-4B3C-B06F-1BF32CEB9048}"/>
    <dgm:cxn modelId="{4450C2DC-24FF-4357-B9B8-318E9C2178AB}" type="presOf" srcId="{394C192F-8159-488F-93EB-9D332D8451AF}" destId="{48785325-DF5D-4FD2-8CBD-1D2FFBCFC3F4}" srcOrd="0" destOrd="0" presId="urn:microsoft.com/office/officeart/2005/8/layout/hList1"/>
    <dgm:cxn modelId="{018DB6E2-A2DF-4C6B-BFC9-5578D6CC8D82}" srcId="{394C192F-8159-488F-93EB-9D332D8451AF}" destId="{1E76E7D7-B23B-422A-B239-7AF97B2EDAF3}" srcOrd="0" destOrd="0" parTransId="{CCA721FC-BAF7-4977-9A7F-FEC5F116E66F}" sibTransId="{D52B196D-9097-497B-A648-14B28C530D12}"/>
    <dgm:cxn modelId="{3B5EF7E3-5DB4-4A16-B4A9-BBF5C2C31F10}" srcId="{628D1B94-F9FD-4B9D-9C94-AA14D2554DA4}" destId="{04CA0F65-48C6-41D6-B617-DD9979DD0595}" srcOrd="1" destOrd="0" parTransId="{46834F94-0C11-4FD8-AC8F-00EF463D1648}" sibTransId="{7B2DB6F9-9CBD-4110-A6AA-2EBB57F80A1F}"/>
    <dgm:cxn modelId="{A57FA6EF-69A9-4615-9A17-3E79B3CA43AD}" type="presOf" srcId="{9E9B4004-7470-4983-99DC-B8572623B171}" destId="{035A1912-2452-403C-9AD0-8B3C3A0FB160}" srcOrd="0" destOrd="2" presId="urn:microsoft.com/office/officeart/2005/8/layout/hList1"/>
    <dgm:cxn modelId="{612FCEEF-FEE5-4819-B011-6FDEF727E9AA}" srcId="{7150050E-96AD-4F62-9B1A-143C71699D27}" destId="{074B56C8-F20E-49F6-AFEF-FB290DA9A411}" srcOrd="1" destOrd="0" parTransId="{0925C90B-8180-44B9-AB69-CAE6AB857F89}" sibTransId="{88BC57CB-B3DC-4E59-801B-0248B51B83C2}"/>
    <dgm:cxn modelId="{33CC74FA-1C49-49AF-8AD7-EDF2B4C2B3C3}" srcId="{628D1B94-F9FD-4B9D-9C94-AA14D2554DA4}" destId="{6722BE4F-948A-4854-A44D-ADC773FCABE2}" srcOrd="0" destOrd="0" parTransId="{000AC7C5-4E39-4A64-8B37-37ED2CE3CBA7}" sibTransId="{578F40EA-A606-4E72-B2C6-8EA25C1D66BA}"/>
    <dgm:cxn modelId="{7617CCFA-4A2E-4C2D-A92F-A816309B3D1D}" srcId="{14393C39-A2D0-4299-AD69-FA69A96E2992}" destId="{4846A8B1-6758-4526-A024-0064B714636A}" srcOrd="0" destOrd="0" parTransId="{A843D868-8C31-472F-B0DF-ED0C7C3CBF7B}" sibTransId="{6C8E2007-3787-4DAD-BAB2-181771D2657F}"/>
    <dgm:cxn modelId="{7626EAFB-7263-437F-99E6-3BEC9BA187DA}" type="presOf" srcId="{574BDF32-8ED4-46B6-A65B-08636DBE9DD0}" destId="{FBD78EA1-F6C5-4FC1-9BBC-B10134EF3BCF}" srcOrd="0" destOrd="2" presId="urn:microsoft.com/office/officeart/2005/8/layout/hList1"/>
    <dgm:cxn modelId="{DE6706FF-FDDE-4119-937F-B8A33D1B9583}" srcId="{BDB0DE52-2262-40E1-8BB0-D3D5B34FA0F1}" destId="{668841D2-E769-4590-BB65-72ABF43C434E}" srcOrd="1" destOrd="0" parTransId="{7958DF10-CE7E-471D-86A5-24CAD2AD6CCA}" sibTransId="{2B4F5A02-79A4-4721-8FED-48C254AB1A3D}"/>
    <dgm:cxn modelId="{19E06193-AC0F-4094-A99B-E4429521CFF6}" type="presParOf" srcId="{E6868610-9CA9-42E5-BCD1-042C93E774BF}" destId="{DA5F41B2-09AA-40A3-B0C8-F72632307620}" srcOrd="0" destOrd="0" presId="urn:microsoft.com/office/officeart/2005/8/layout/hList1"/>
    <dgm:cxn modelId="{BD171CF3-164A-4D59-8BD4-DB1B383EE988}" type="presParOf" srcId="{DA5F41B2-09AA-40A3-B0C8-F72632307620}" destId="{10AC379D-BE27-450E-8F8E-7C9F0AFDD83E}" srcOrd="0" destOrd="0" presId="urn:microsoft.com/office/officeart/2005/8/layout/hList1"/>
    <dgm:cxn modelId="{E57B765C-F221-43A8-AEF6-CB3EAD1A9EDE}" type="presParOf" srcId="{DA5F41B2-09AA-40A3-B0C8-F72632307620}" destId="{A3DF3EF7-119C-4513-B10E-5EE9938D4F06}" srcOrd="1" destOrd="0" presId="urn:microsoft.com/office/officeart/2005/8/layout/hList1"/>
    <dgm:cxn modelId="{D8E6B43F-2DD0-4172-9F1A-D36BD6E916DD}" type="presParOf" srcId="{E6868610-9CA9-42E5-BCD1-042C93E774BF}" destId="{B2C83F17-CD8E-4572-A618-9035851701BF}" srcOrd="1" destOrd="0" presId="urn:microsoft.com/office/officeart/2005/8/layout/hList1"/>
    <dgm:cxn modelId="{1A92FE57-4CA1-4EE8-B076-ACD13B27F9E9}" type="presParOf" srcId="{E6868610-9CA9-42E5-BCD1-042C93E774BF}" destId="{1FCD66D5-BC4A-4057-9AF0-108DD005E4FB}" srcOrd="2" destOrd="0" presId="urn:microsoft.com/office/officeart/2005/8/layout/hList1"/>
    <dgm:cxn modelId="{153C0982-D5EA-48E1-91A5-06A18FA6DDE2}" type="presParOf" srcId="{1FCD66D5-BC4A-4057-9AF0-108DD005E4FB}" destId="{25467664-AE8F-47B5-9FD2-672FF6C842FC}" srcOrd="0" destOrd="0" presId="urn:microsoft.com/office/officeart/2005/8/layout/hList1"/>
    <dgm:cxn modelId="{F713F195-59A0-428C-AC84-E8D1FA452F15}" type="presParOf" srcId="{1FCD66D5-BC4A-4057-9AF0-108DD005E4FB}" destId="{EEC53513-C16E-4B51-A076-1623A52A2402}" srcOrd="1" destOrd="0" presId="urn:microsoft.com/office/officeart/2005/8/layout/hList1"/>
    <dgm:cxn modelId="{76CBB770-1FA7-4A8E-8B67-538AA282AA26}" type="presParOf" srcId="{E6868610-9CA9-42E5-BCD1-042C93E774BF}" destId="{B9A95DD1-B491-4CBC-BD32-70D45A8672C8}" srcOrd="3" destOrd="0" presId="urn:microsoft.com/office/officeart/2005/8/layout/hList1"/>
    <dgm:cxn modelId="{2553E61C-9E70-45FC-8213-E7BE5591EC5E}" type="presParOf" srcId="{E6868610-9CA9-42E5-BCD1-042C93E774BF}" destId="{FE408C4D-47D6-4BCA-ABC9-B97DCF3795AD}" srcOrd="4" destOrd="0" presId="urn:microsoft.com/office/officeart/2005/8/layout/hList1"/>
    <dgm:cxn modelId="{AEE21B70-180E-422E-8AAE-8CD024A98838}" type="presParOf" srcId="{FE408C4D-47D6-4BCA-ABC9-B97DCF3795AD}" destId="{A94CF517-1FA4-4BC5-A747-E05B714AA6ED}" srcOrd="0" destOrd="0" presId="urn:microsoft.com/office/officeart/2005/8/layout/hList1"/>
    <dgm:cxn modelId="{E67AA2BC-48C6-40EA-BE73-3746571CF72B}" type="presParOf" srcId="{FE408C4D-47D6-4BCA-ABC9-B97DCF3795AD}" destId="{035A1912-2452-403C-9AD0-8B3C3A0FB160}" srcOrd="1" destOrd="0" presId="urn:microsoft.com/office/officeart/2005/8/layout/hList1"/>
    <dgm:cxn modelId="{B1DC81A8-231E-464A-8D41-39932993B516}" type="presParOf" srcId="{E6868610-9CA9-42E5-BCD1-042C93E774BF}" destId="{C5B84E07-1607-4B8E-A1DE-FF04BE55FBC5}" srcOrd="5" destOrd="0" presId="urn:microsoft.com/office/officeart/2005/8/layout/hList1"/>
    <dgm:cxn modelId="{4DA5D854-ED36-488D-BD54-CB0EC013417E}" type="presParOf" srcId="{E6868610-9CA9-42E5-BCD1-042C93E774BF}" destId="{C91C63EC-7468-4EA9-A17A-A167DD7C02F0}" srcOrd="6" destOrd="0" presId="urn:microsoft.com/office/officeart/2005/8/layout/hList1"/>
    <dgm:cxn modelId="{727B866B-8314-444C-8CF1-3CA613917705}" type="presParOf" srcId="{C91C63EC-7468-4EA9-A17A-A167DD7C02F0}" destId="{848786BA-2E04-4296-A06E-0ECBFFB8A5D5}" srcOrd="0" destOrd="0" presId="urn:microsoft.com/office/officeart/2005/8/layout/hList1"/>
    <dgm:cxn modelId="{654B981E-04CE-4DC2-B25B-41A8E06780BD}" type="presParOf" srcId="{C91C63EC-7468-4EA9-A17A-A167DD7C02F0}" destId="{ADA88CBD-70AB-4C8E-8D85-9F59734A2934}" srcOrd="1" destOrd="0" presId="urn:microsoft.com/office/officeart/2005/8/layout/hList1"/>
    <dgm:cxn modelId="{273B2A1B-D124-48CD-8820-4033A291D9D6}" type="presParOf" srcId="{E6868610-9CA9-42E5-BCD1-042C93E774BF}" destId="{01DC50F8-F432-4519-A94A-8EF3FF601193}" srcOrd="7" destOrd="0" presId="urn:microsoft.com/office/officeart/2005/8/layout/hList1"/>
    <dgm:cxn modelId="{25976CD8-364B-4559-B3AB-B6E6300AF2BA}" type="presParOf" srcId="{E6868610-9CA9-42E5-BCD1-042C93E774BF}" destId="{D2219419-20A5-4F69-A9BF-385201761C53}" srcOrd="8" destOrd="0" presId="urn:microsoft.com/office/officeart/2005/8/layout/hList1"/>
    <dgm:cxn modelId="{545D7C4A-1F6E-4AEB-8675-CE57C76C3A47}" type="presParOf" srcId="{D2219419-20A5-4F69-A9BF-385201761C53}" destId="{48785325-DF5D-4FD2-8CBD-1D2FFBCFC3F4}" srcOrd="0" destOrd="0" presId="urn:microsoft.com/office/officeart/2005/8/layout/hList1"/>
    <dgm:cxn modelId="{B1301641-6EA8-44A9-8E7D-1C69BCD460FC}" type="presParOf" srcId="{D2219419-20A5-4F69-A9BF-385201761C53}" destId="{FBD78EA1-F6C5-4FC1-9BBC-B10134EF3BCF}" srcOrd="1" destOrd="0" presId="urn:microsoft.com/office/officeart/2005/8/layout/hList1"/>
    <dgm:cxn modelId="{6799661A-6458-4E98-A98A-BE1179003BAD}" type="presParOf" srcId="{E6868610-9CA9-42E5-BCD1-042C93E774BF}" destId="{48C5A9B7-63D0-4ED5-AEED-CE13BD838429}" srcOrd="9" destOrd="0" presId="urn:microsoft.com/office/officeart/2005/8/layout/hList1"/>
    <dgm:cxn modelId="{20DC8AC9-5BAF-4D2E-B0D9-5BC5B36EB42B}" type="presParOf" srcId="{E6868610-9CA9-42E5-BCD1-042C93E774BF}" destId="{BEDC0A31-2F4D-4446-A3E8-CF91B6160B47}" srcOrd="10" destOrd="0" presId="urn:microsoft.com/office/officeart/2005/8/layout/hList1"/>
    <dgm:cxn modelId="{5E5E79B7-9262-47E2-8F44-A009482F59D1}" type="presParOf" srcId="{BEDC0A31-2F4D-4446-A3E8-CF91B6160B47}" destId="{C4FB98B5-29C6-4FA2-945E-8AB8584A7B86}" srcOrd="0" destOrd="0" presId="urn:microsoft.com/office/officeart/2005/8/layout/hList1"/>
    <dgm:cxn modelId="{8DCAEDF3-53EB-4D62-A094-3AEE30501285}" type="presParOf" srcId="{BEDC0A31-2F4D-4446-A3E8-CF91B6160B47}" destId="{08D9E875-C1A9-4531-9CBA-675459A1C5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10256-B069-4474-9CB1-A85EF5BEDC1E}">
      <dsp:nvSpPr>
        <dsp:cNvPr id="0" name=""/>
        <dsp:cNvSpPr/>
      </dsp:nvSpPr>
      <dsp:spPr>
        <a:xfrm>
          <a:off x="0" y="28608"/>
          <a:ext cx="2633751" cy="1382572"/>
        </a:xfrm>
        <a:prstGeom prst="rect">
          <a:avLst/>
        </a:prstGeom>
        <a:solidFill>
          <a:srgbClr val="FF0000"/>
        </a:solidFill>
        <a:ln w="28575"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5400" rIns="7112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  <a:latin typeface="Calibri" panose="020F0502020204030204" pitchFamily="34" charset="0"/>
            </a:rPr>
            <a:t>Advanced Materials and Manufacturing</a:t>
          </a:r>
        </a:p>
      </dsp:txBody>
      <dsp:txXfrm>
        <a:off x="0" y="28608"/>
        <a:ext cx="2633751" cy="1382572"/>
      </dsp:txXfrm>
    </dsp:sp>
    <dsp:sp modelId="{394D244A-4B67-41AA-AB1D-7F491A2B5D6B}">
      <dsp:nvSpPr>
        <dsp:cNvPr id="0" name=""/>
        <dsp:cNvSpPr/>
      </dsp:nvSpPr>
      <dsp:spPr>
        <a:xfrm>
          <a:off x="2633751" y="252119"/>
          <a:ext cx="526750" cy="9355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421EB-0829-46B4-BAFC-EDA8C9485A6C}">
      <dsp:nvSpPr>
        <dsp:cNvPr id="0" name=""/>
        <dsp:cNvSpPr/>
      </dsp:nvSpPr>
      <dsp:spPr>
        <a:xfrm>
          <a:off x="3371201" y="305305"/>
          <a:ext cx="7163803" cy="9355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Computational materials engineering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Composites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Enhanced materials systems (nanomaterials and nanocomposites, multifunctional materials, smart materials, metamaterials)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Biomaterials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Additive manufacturing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Manufacturing automation</a:t>
          </a:r>
        </a:p>
      </dsp:txBody>
      <dsp:txXfrm>
        <a:off x="3371201" y="305305"/>
        <a:ext cx="7163803" cy="935550"/>
      </dsp:txXfrm>
    </dsp:sp>
    <dsp:sp modelId="{E6CF1BD8-EE9D-4D5D-8B1E-63F2DAAFFEA1}">
      <dsp:nvSpPr>
        <dsp:cNvPr id="0" name=""/>
        <dsp:cNvSpPr/>
      </dsp:nvSpPr>
      <dsp:spPr>
        <a:xfrm>
          <a:off x="0" y="1545848"/>
          <a:ext cx="2636325" cy="1865036"/>
        </a:xfrm>
        <a:prstGeom prst="rect">
          <a:avLst/>
        </a:prstGeom>
        <a:solidFill>
          <a:srgbClr val="00B050"/>
        </a:solidFill>
        <a:ln w="28575"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5400" rIns="71120" bIns="2540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000" b="1" kern="1200" dirty="0">
              <a:solidFill>
                <a:schemeClr val="bg1"/>
              </a:solidFill>
              <a:latin typeface="Calibri" panose="020F0502020204030204" pitchFamily="34" charset="0"/>
            </a:rPr>
            <a:t>Robotics, Artificial Intelligence (AI) and Data Science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1000" b="1" kern="1200" dirty="0">
            <a:solidFill>
              <a:schemeClr val="bg1"/>
            </a:solidFill>
            <a:latin typeface="Calibri" panose="020F0502020204030204" pitchFamily="34" charset="0"/>
          </a:endParaRP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1000" b="1" kern="1200" dirty="0">
            <a:solidFill>
              <a:schemeClr val="bg1"/>
            </a:solidFill>
            <a:latin typeface="Calibri" panose="020F0502020204030204" pitchFamily="34" charset="0"/>
          </a:endParaRP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  <a:latin typeface="Calibri" panose="020F0502020204030204" pitchFamily="34" charset="0"/>
            </a:rPr>
            <a:t>Information and Communication Technologies (ICT)</a:t>
          </a:r>
        </a:p>
      </dsp:txBody>
      <dsp:txXfrm>
        <a:off x="0" y="1545848"/>
        <a:ext cx="2636325" cy="1865036"/>
      </dsp:txXfrm>
    </dsp:sp>
    <dsp:sp modelId="{E02CDE6C-2E03-4D53-8522-F49B5543F951}">
      <dsp:nvSpPr>
        <dsp:cNvPr id="0" name=""/>
        <dsp:cNvSpPr/>
      </dsp:nvSpPr>
      <dsp:spPr>
        <a:xfrm>
          <a:off x="2636325" y="1486780"/>
          <a:ext cx="527265" cy="1983171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8843A7-2CAC-407F-8440-1C0DE2F4F899}">
      <dsp:nvSpPr>
        <dsp:cNvPr id="0" name=""/>
        <dsp:cNvSpPr/>
      </dsp:nvSpPr>
      <dsp:spPr>
        <a:xfrm>
          <a:off x="3374496" y="1486780"/>
          <a:ext cx="7170806" cy="19831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Unmanned systems  (aerial, ground and marine)	</a:t>
          </a:r>
          <a:endParaRPr lang="en-US" sz="900" kern="1200" dirty="0">
            <a:solidFill>
              <a:srgbClr val="FF0000"/>
            </a:solidFill>
            <a:latin typeface="Calibri" panose="020F050202020403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 err="1">
              <a:latin typeface="Calibri" panose="020F0502020204030204" pitchFamily="34" charset="0"/>
            </a:rPr>
            <a:t>Biorobotics</a:t>
          </a:r>
          <a:r>
            <a:rPr lang="en-US" sz="900" kern="1200" dirty="0">
              <a:latin typeface="Calibri" panose="020F0502020204030204" pitchFamily="34" charset="0"/>
            </a:rPr>
            <a:t> (bioinspired and medical)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Autonomous manipulation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latin typeface="Calibri" panose="020F0502020204030204" pitchFamily="34" charset="0"/>
            </a:rPr>
            <a:t>Maching learning</a:t>
          </a:r>
          <a:endParaRPr lang="en-US" sz="900" kern="1200" dirty="0">
            <a:latin typeface="Calibri" panose="020F050202020403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u="none" kern="1200">
              <a:latin typeface="Calibri" panose="020F0502020204030204" pitchFamily="34" charset="0"/>
            </a:rPr>
            <a:t>Image and video analysis and processing</a:t>
          </a:r>
          <a:endParaRPr lang="en-US" sz="900" kern="1200" dirty="0">
            <a:latin typeface="Calibri" panose="020F050202020403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Data mining and big data analytics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Efficient algorithms and optimization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Biometrics and bio-imaging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>
            <a:latin typeface="Calibri" panose="020F050202020403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u="none" kern="1200" dirty="0">
              <a:latin typeface="Calibri" panose="020F0502020204030204" pitchFamily="34" charset="0"/>
            </a:rPr>
            <a:t>Next Generation Networks (NGNs) and NGN-enabled ICT applications and services</a:t>
          </a:r>
          <a:endParaRPr lang="en-US" sz="900" kern="1200" dirty="0">
            <a:latin typeface="Calibri" panose="020F050202020403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u="none" kern="1200" dirty="0">
              <a:latin typeface="Calibri" panose="020F0502020204030204" pitchFamily="34" charset="0"/>
            </a:rPr>
            <a:t>Cyber Security technologies and applications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u="none" kern="1200" dirty="0">
              <a:latin typeface="Calibri" panose="020F0502020204030204" pitchFamily="34" charset="0"/>
            </a:rPr>
            <a:t>Electronic and photonic circuits and devices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u="none" kern="1200" dirty="0">
              <a:latin typeface="Calibri" panose="020F0502020204030204" pitchFamily="34" charset="0"/>
            </a:rPr>
            <a:t>Sensors</a:t>
          </a:r>
        </a:p>
      </dsp:txBody>
      <dsp:txXfrm>
        <a:off x="3374496" y="1486780"/>
        <a:ext cx="7170806" cy="1983171"/>
      </dsp:txXfrm>
    </dsp:sp>
    <dsp:sp modelId="{FC73F7B3-54E9-4476-A02A-2CE43C19114E}">
      <dsp:nvSpPr>
        <dsp:cNvPr id="0" name=""/>
        <dsp:cNvSpPr/>
      </dsp:nvSpPr>
      <dsp:spPr>
        <a:xfrm>
          <a:off x="0" y="3545551"/>
          <a:ext cx="2636325" cy="590402"/>
        </a:xfrm>
        <a:prstGeom prst="rect">
          <a:avLst/>
        </a:prstGeom>
        <a:noFill/>
        <a:ln w="28575">
          <a:solidFill>
            <a:schemeClr val="tx1"/>
          </a:solidFill>
          <a:prstDash val="soli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5400" rIns="7112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Calibri" panose="020F0502020204030204" pitchFamily="34" charset="0"/>
            </a:rPr>
            <a:t>Security</a:t>
          </a:r>
          <a:endParaRPr lang="en-US" sz="900" b="1" kern="1200" dirty="0">
            <a:latin typeface="Calibri" panose="020F0502020204030204" pitchFamily="34" charset="0"/>
          </a:endParaRPr>
        </a:p>
      </dsp:txBody>
      <dsp:txXfrm>
        <a:off x="0" y="3545551"/>
        <a:ext cx="2636325" cy="590402"/>
      </dsp:txXfrm>
    </dsp:sp>
    <dsp:sp modelId="{686F6543-0E86-40DE-855E-EED3507B05B6}">
      <dsp:nvSpPr>
        <dsp:cNvPr id="0" name=""/>
        <dsp:cNvSpPr/>
      </dsp:nvSpPr>
      <dsp:spPr>
        <a:xfrm>
          <a:off x="2636325" y="3632853"/>
          <a:ext cx="527265" cy="4158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0113B8-F09F-49D4-971C-4C616AADEBF0}">
      <dsp:nvSpPr>
        <dsp:cNvPr id="0" name=""/>
        <dsp:cNvSpPr/>
      </dsp:nvSpPr>
      <dsp:spPr>
        <a:xfrm>
          <a:off x="3374496" y="3632853"/>
          <a:ext cx="7170806" cy="415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Security environments and security policies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Calibri" panose="020F0502020204030204" pitchFamily="34" charset="0"/>
            </a:rPr>
            <a:t>Defense science and technology</a:t>
          </a:r>
        </a:p>
      </dsp:txBody>
      <dsp:txXfrm>
        <a:off x="3374496" y="3632853"/>
        <a:ext cx="7170806" cy="415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C379D-BE27-450E-8F8E-7C9F0AFDD83E}">
      <dsp:nvSpPr>
        <dsp:cNvPr id="0" name=""/>
        <dsp:cNvSpPr/>
      </dsp:nvSpPr>
      <dsp:spPr>
        <a:xfrm>
          <a:off x="2960" y="55460"/>
          <a:ext cx="1573042" cy="36332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  <a:latin typeface="Calibri" panose="020F0502020204030204" pitchFamily="34" charset="0"/>
            </a:rPr>
            <a:t>Clean and Renewable Energy</a:t>
          </a:r>
        </a:p>
      </dsp:txBody>
      <dsp:txXfrm>
        <a:off x="2960" y="55460"/>
        <a:ext cx="1573042" cy="363326"/>
      </dsp:txXfrm>
    </dsp:sp>
    <dsp:sp modelId="{A3DF3EF7-119C-4513-B10E-5EE9938D4F06}">
      <dsp:nvSpPr>
        <dsp:cNvPr id="0" name=""/>
        <dsp:cNvSpPr/>
      </dsp:nvSpPr>
      <dsp:spPr>
        <a:xfrm>
          <a:off x="2960" y="418786"/>
          <a:ext cx="1573042" cy="198508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Solar and other renewable energy </a:t>
          </a:r>
          <a:endParaRPr lang="en-US" sz="1200" kern="1200" dirty="0"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Electrical power transmission and distribution </a:t>
          </a:r>
          <a:endParaRPr lang="en-US" sz="1200" b="1" kern="1200" dirty="0">
            <a:solidFill>
              <a:srgbClr val="FF0000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Energy storage</a:t>
          </a:r>
          <a:endParaRPr lang="en-US" sz="1200" kern="1200" dirty="0"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Energy efficient cities and buildings </a:t>
          </a:r>
          <a:endParaRPr lang="en-US" sz="1200" kern="1200" dirty="0"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0" kern="1200" dirty="0">
              <a:solidFill>
                <a:schemeClr val="tx1"/>
              </a:solidFill>
              <a:latin typeface="Calibri" panose="020F0502020204030204" pitchFamily="34" charset="0"/>
            </a:rPr>
            <a:t>Nuclear energy</a:t>
          </a:r>
        </a:p>
      </dsp:txBody>
      <dsp:txXfrm>
        <a:off x="2960" y="418786"/>
        <a:ext cx="1573042" cy="1985085"/>
      </dsp:txXfrm>
    </dsp:sp>
    <dsp:sp modelId="{25467664-AE8F-47B5-9FD2-672FF6C842FC}">
      <dsp:nvSpPr>
        <dsp:cNvPr id="0" name=""/>
        <dsp:cNvSpPr/>
      </dsp:nvSpPr>
      <dsp:spPr>
        <a:xfrm>
          <a:off x="1796228" y="55460"/>
          <a:ext cx="1573042" cy="36332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  <a:latin typeface="Calibri" panose="020F0502020204030204" pitchFamily="34" charset="0"/>
            </a:rPr>
            <a:t>Water and Environment</a:t>
          </a:r>
        </a:p>
      </dsp:txBody>
      <dsp:txXfrm>
        <a:off x="1796228" y="55460"/>
        <a:ext cx="1573042" cy="363326"/>
      </dsp:txXfrm>
    </dsp:sp>
    <dsp:sp modelId="{EEC53513-C16E-4B51-A076-1623A52A2402}">
      <dsp:nvSpPr>
        <dsp:cNvPr id="0" name=""/>
        <dsp:cNvSpPr/>
      </dsp:nvSpPr>
      <dsp:spPr>
        <a:xfrm>
          <a:off x="1796228" y="418786"/>
          <a:ext cx="1573042" cy="1985085"/>
        </a:xfrm>
        <a:prstGeom prst="rect">
          <a:avLst/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Desalination </a:t>
          </a:r>
          <a:endParaRPr lang="en-US" sz="1200" kern="1200" dirty="0"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Waste treatment and utilization (wastewater, industrial and municipal waste streams)</a:t>
          </a:r>
          <a:endParaRPr lang="en-US" sz="1200" kern="1200" dirty="0"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Environmental resource management </a:t>
          </a:r>
          <a:endParaRPr lang="en-US" sz="1200" kern="1200" dirty="0">
            <a:latin typeface="Calibri" panose="020F0502020204030204" pitchFamily="34" charset="0"/>
          </a:endParaRPr>
        </a:p>
      </dsp:txBody>
      <dsp:txXfrm>
        <a:off x="1796228" y="418786"/>
        <a:ext cx="1573042" cy="1985085"/>
      </dsp:txXfrm>
    </dsp:sp>
    <dsp:sp modelId="{A94CF517-1FA4-4BC5-A747-E05B714AA6ED}">
      <dsp:nvSpPr>
        <dsp:cNvPr id="0" name=""/>
        <dsp:cNvSpPr/>
      </dsp:nvSpPr>
      <dsp:spPr>
        <a:xfrm>
          <a:off x="3589496" y="55460"/>
          <a:ext cx="1573042" cy="363326"/>
        </a:xfrm>
        <a:prstGeom prst="rect">
          <a:avLst/>
        </a:prstGeom>
        <a:solidFill>
          <a:srgbClr val="FF9933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  <a:latin typeface="Calibri" panose="020F0502020204030204" pitchFamily="34" charset="0"/>
            </a:rPr>
            <a:t>Hydrocarbon Exploration and Production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3589496" y="55460"/>
        <a:ext cx="1573042" cy="363326"/>
      </dsp:txXfrm>
    </dsp:sp>
    <dsp:sp modelId="{035A1912-2452-403C-9AD0-8B3C3A0FB160}">
      <dsp:nvSpPr>
        <dsp:cNvPr id="0" name=""/>
        <dsp:cNvSpPr/>
      </dsp:nvSpPr>
      <dsp:spPr>
        <a:xfrm>
          <a:off x="3589496" y="418786"/>
          <a:ext cx="1573042" cy="1985085"/>
        </a:xfrm>
        <a:prstGeom prst="rect">
          <a:avLst/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>
              <a:solidFill>
                <a:schemeClr val="tx1"/>
              </a:solidFill>
              <a:latin typeface="Calibri" panose="020F0502020204030204" pitchFamily="34" charset="0"/>
            </a:rPr>
            <a:t>Reservoir characterization, evaluation and surveillance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>
              <a:solidFill>
                <a:schemeClr val="tx1"/>
              </a:solidFill>
              <a:latin typeface="Calibri" panose="020F0502020204030204" pitchFamily="34" charset="0"/>
            </a:rPr>
            <a:t>Enhanced/improved oil recovery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>
              <a:solidFill>
                <a:schemeClr val="tx1"/>
              </a:solidFill>
              <a:latin typeface="Calibri" panose="020F0502020204030204" pitchFamily="34" charset="0"/>
            </a:rPr>
            <a:t>Gas processes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>
              <a:solidFill>
                <a:schemeClr val="tx1"/>
              </a:solidFill>
              <a:latin typeface="Calibri" panose="020F0502020204030204" pitchFamily="34" charset="0"/>
            </a:rPr>
            <a:t>Asset integrity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>
              <a:solidFill>
                <a:schemeClr val="tx1"/>
              </a:solidFill>
              <a:latin typeface="Calibri" panose="020F0502020204030204" pitchFamily="34" charset="0"/>
            </a:rPr>
            <a:t>Drilling and completion</a:t>
          </a:r>
        </a:p>
      </dsp:txBody>
      <dsp:txXfrm>
        <a:off x="3589496" y="418786"/>
        <a:ext cx="1573042" cy="1985085"/>
      </dsp:txXfrm>
    </dsp:sp>
    <dsp:sp modelId="{848786BA-2E04-4296-A06E-0ECBFFB8A5D5}">
      <dsp:nvSpPr>
        <dsp:cNvPr id="0" name=""/>
        <dsp:cNvSpPr/>
      </dsp:nvSpPr>
      <dsp:spPr>
        <a:xfrm>
          <a:off x="5382764" y="55460"/>
          <a:ext cx="1573042" cy="363326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Calibri" panose="020F0502020204030204" pitchFamily="34" charset="0"/>
            </a:rPr>
            <a:t>Healthcare</a:t>
          </a:r>
          <a:endParaRPr lang="en-US" sz="900" kern="1200" dirty="0">
            <a:latin typeface="Calibri" panose="020F0502020204030204" pitchFamily="34" charset="0"/>
          </a:endParaRPr>
        </a:p>
      </dsp:txBody>
      <dsp:txXfrm>
        <a:off x="5382764" y="55460"/>
        <a:ext cx="1573042" cy="363326"/>
      </dsp:txXfrm>
    </dsp:sp>
    <dsp:sp modelId="{ADA88CBD-70AB-4C8E-8D85-9F59734A2934}">
      <dsp:nvSpPr>
        <dsp:cNvPr id="0" name=""/>
        <dsp:cNvSpPr/>
      </dsp:nvSpPr>
      <dsp:spPr>
        <a:xfrm>
          <a:off x="5382764" y="418786"/>
          <a:ext cx="1573042" cy="198508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Genomics  and Bioinformatics</a:t>
          </a:r>
          <a:endParaRPr lang="en-US" sz="1200" kern="1200" dirty="0"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Medical imaging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Biomedical robotics and devices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Bio-materials and cellular mechanics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latin typeface="Calibri" panose="020F0502020204030204" pitchFamily="34" charset="0"/>
            </a:rPr>
            <a:t>Healthcare management</a:t>
          </a:r>
        </a:p>
      </dsp:txBody>
      <dsp:txXfrm>
        <a:off x="5382764" y="418786"/>
        <a:ext cx="1573042" cy="1985085"/>
      </dsp:txXfrm>
    </dsp:sp>
    <dsp:sp modelId="{48785325-DF5D-4FD2-8CBD-1D2FFBCFC3F4}">
      <dsp:nvSpPr>
        <dsp:cNvPr id="0" name=""/>
        <dsp:cNvSpPr/>
      </dsp:nvSpPr>
      <dsp:spPr>
        <a:xfrm>
          <a:off x="7176032" y="55460"/>
          <a:ext cx="1573042" cy="363326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/>
              </a:solidFill>
              <a:latin typeface="Calibri" panose="020F0502020204030204" pitchFamily="34" charset="0"/>
            </a:rPr>
            <a:t>Aerospace (Aero/Astro)</a:t>
          </a:r>
        </a:p>
      </dsp:txBody>
      <dsp:txXfrm>
        <a:off x="7176032" y="55460"/>
        <a:ext cx="1573042" cy="363326"/>
      </dsp:txXfrm>
    </dsp:sp>
    <dsp:sp modelId="{FBD78EA1-F6C5-4FC1-9BBC-B10134EF3BCF}">
      <dsp:nvSpPr>
        <dsp:cNvPr id="0" name=""/>
        <dsp:cNvSpPr/>
      </dsp:nvSpPr>
      <dsp:spPr>
        <a:xfrm>
          <a:off x="7176032" y="418786"/>
          <a:ext cx="1573042" cy="198508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 err="1">
              <a:solidFill>
                <a:schemeClr val="tx1"/>
              </a:solidFill>
              <a:latin typeface="Calibri" panose="020F0502020204030204" pitchFamily="34" charset="0"/>
            </a:rPr>
            <a:t>Cubesats</a:t>
          </a:r>
          <a:r>
            <a:rPr lang="en-US" sz="1200" b="0" kern="1200" dirty="0">
              <a:solidFill>
                <a:schemeClr val="tx1"/>
              </a:solidFill>
              <a:latin typeface="Calibri" panose="020F0502020204030204" pitchFamily="34" charset="0"/>
            </a:rPr>
            <a:t> and nanosatellites</a:t>
          </a:r>
          <a:endParaRPr lang="en-US" sz="1200" b="1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solidFill>
                <a:schemeClr val="tx1"/>
              </a:solidFill>
              <a:latin typeface="Calibri" panose="020F0502020204030204" pitchFamily="34" charset="0"/>
            </a:rPr>
            <a:t>Remote sensing and modeling</a:t>
          </a:r>
          <a:endParaRPr lang="en-US" sz="1200" b="1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1" u="none" kern="1200" dirty="0">
              <a:solidFill>
                <a:schemeClr val="tx1"/>
              </a:solidFill>
              <a:latin typeface="Calibri" panose="020F0502020204030204" pitchFamily="34" charset="0"/>
            </a:rPr>
            <a:t>Space sciences</a:t>
          </a:r>
          <a:endParaRPr lang="en-US" sz="1200" b="1" i="1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b="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b="0" i="0" u="none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7176032" y="418786"/>
        <a:ext cx="1573042" cy="1985085"/>
      </dsp:txXfrm>
    </dsp:sp>
    <dsp:sp modelId="{C4FB98B5-29C6-4FA2-945E-8AB8584A7B86}">
      <dsp:nvSpPr>
        <dsp:cNvPr id="0" name=""/>
        <dsp:cNvSpPr/>
      </dsp:nvSpPr>
      <dsp:spPr>
        <a:xfrm>
          <a:off x="8969300" y="55460"/>
          <a:ext cx="1573042" cy="363326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/>
              </a:solidFill>
              <a:latin typeface="Calibri" panose="020F0502020204030204" pitchFamily="34" charset="0"/>
            </a:rPr>
            <a:t>Supply Chain and Logistics</a:t>
          </a:r>
        </a:p>
      </dsp:txBody>
      <dsp:txXfrm>
        <a:off x="8969300" y="55460"/>
        <a:ext cx="1573042" cy="363326"/>
      </dsp:txXfrm>
    </dsp:sp>
    <dsp:sp modelId="{08D9E875-C1A9-4531-9CBA-675459A1C50D}">
      <dsp:nvSpPr>
        <dsp:cNvPr id="0" name=""/>
        <dsp:cNvSpPr/>
      </dsp:nvSpPr>
      <dsp:spPr>
        <a:xfrm>
          <a:off x="8969300" y="418786"/>
          <a:ext cx="1573042" cy="198508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solidFill>
                <a:schemeClr val="tx1"/>
              </a:solidFill>
              <a:latin typeface="Calibri" panose="020F0502020204030204" pitchFamily="34" charset="0"/>
            </a:rPr>
            <a:t>Transportation</a:t>
          </a:r>
          <a:endParaRPr lang="en-US" sz="1200" kern="1200" dirty="0">
            <a:solidFill>
              <a:schemeClr val="bg1">
                <a:lumMod val="50000"/>
              </a:schemeClr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tx1"/>
              </a:solidFill>
              <a:latin typeface="Calibri" panose="020F0502020204030204" pitchFamily="34" charset="0"/>
            </a:rPr>
            <a:t>Manufacturing logistics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tx1"/>
              </a:solidFill>
              <a:latin typeface="Calibri" panose="020F0502020204030204" pitchFamily="34" charset="0"/>
            </a:rPr>
            <a:t>Supply-chain strategy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kern="1200" dirty="0">
              <a:solidFill>
                <a:schemeClr val="tx1"/>
              </a:solidFill>
              <a:latin typeface="Calibri" panose="020F0502020204030204" pitchFamily="34" charset="0"/>
            </a:rPr>
            <a:t>Maintenance repair and overhaul (MRO) </a:t>
          </a:r>
        </a:p>
      </dsp:txBody>
      <dsp:txXfrm>
        <a:off x="8969300" y="418786"/>
        <a:ext cx="1573042" cy="1985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0.91239</cdr:x>
      <cdr:y>0.22701</cdr:y>
    </cdr:from>
    <cdr:to>
      <cdr:x>1</cdr:x>
      <cdr:y>0.27562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0610945" y="1329342"/>
          <a:ext cx="954821" cy="28466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0" tIns="0" rIns="0" bIns="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850" b="1" dirty="0"/>
            <a:t>total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0.78453</cdr:x>
      <cdr:y>0.61885</cdr:y>
    </cdr:from>
    <cdr:to>
      <cdr:x>0.79394</cdr:x>
      <cdr:y>0.66929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796927" y="3492411"/>
          <a:ext cx="105507" cy="28469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0" tIns="0" rIns="0" bIns="0" rtlCol="0">
          <a:spAutoFit/>
        </a:bodyPr>
        <a:lstStyle xmlns:a="http://schemas.openxmlformats.org/drawingml/2006/main"/>
        <a:p xmlns:a="http://schemas.openxmlformats.org/drawingml/2006/main">
          <a:pPr algn="l"/>
          <a:endParaRPr lang="en-US" sz="1850" dirty="0"/>
        </a:p>
      </cdr:txBody>
    </cdr:sp>
  </cdr:relSizeAnchor>
  <cdr:relSizeAnchor xmlns:cdr="http://schemas.openxmlformats.org/drawingml/2006/chartDrawing">
    <cdr:from>
      <cdr:x>0.82008</cdr:x>
      <cdr:y>0.66662</cdr:y>
    </cdr:from>
    <cdr:to>
      <cdr:x>0.97063</cdr:x>
      <cdr:y>0.70927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9448149" y="4450017"/>
          <a:ext cx="1734488" cy="28469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0" tIns="0" rIns="0" bIns="0" rtlCol="0">
          <a:spAutoFit/>
        </a:bodyPr>
        <a:lstStyle xmlns:a="http://schemas.openxmlformats.org/drawingml/2006/main"/>
        <a:p xmlns:a="http://schemas.openxmlformats.org/drawingml/2006/main">
          <a:pPr algn="l"/>
          <a:r>
            <a:rPr lang="en-US" sz="1850" dirty="0">
              <a:solidFill>
                <a:schemeClr val="bg1"/>
              </a:solidFill>
            </a:rPr>
            <a:t>Personnel</a:t>
          </a:r>
        </a:p>
      </cdr:txBody>
    </cdr:sp>
  </cdr:relSizeAnchor>
  <cdr:relSizeAnchor xmlns:cdr="http://schemas.openxmlformats.org/drawingml/2006/chartDrawing">
    <cdr:from>
      <cdr:x>0.81381</cdr:x>
      <cdr:y>0.39242</cdr:y>
    </cdr:from>
    <cdr:to>
      <cdr:x>0.89799</cdr:x>
      <cdr:y>0.43507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9375912" y="2619597"/>
          <a:ext cx="969817" cy="28469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none" lIns="0" tIns="0" rIns="0" bIns="0" rtlCol="0">
          <a:spAutoFit/>
        </a:bodyPr>
        <a:lstStyle xmlns:a="http://schemas.openxmlformats.org/drawingml/2006/main"/>
        <a:p xmlns:a="http://schemas.openxmlformats.org/drawingml/2006/main">
          <a:pPr algn="l"/>
          <a:r>
            <a:rPr lang="en-US" sz="1850" dirty="0">
              <a:solidFill>
                <a:schemeClr val="bg1"/>
              </a:solidFill>
            </a:rPr>
            <a:t>Operating</a:t>
          </a:r>
        </a:p>
      </cdr:txBody>
    </cdr:sp>
  </cdr:relSizeAnchor>
  <cdr:relSizeAnchor xmlns:cdr="http://schemas.openxmlformats.org/drawingml/2006/chartDrawing">
    <cdr:from>
      <cdr:x>0.83544</cdr:x>
      <cdr:y>0.20546</cdr:y>
    </cdr:from>
    <cdr:to>
      <cdr:x>0.9012</cdr:x>
      <cdr:y>0.25591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9367694" y="1159519"/>
          <a:ext cx="737381" cy="28469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none" lIns="0" tIns="0" rIns="0" bIns="0" rtlCol="0">
          <a:spAutoFit/>
        </a:bodyPr>
        <a:lstStyle xmlns:a="http://schemas.openxmlformats.org/drawingml/2006/main"/>
        <a:p xmlns:a="http://schemas.openxmlformats.org/drawingml/2006/main">
          <a:pPr algn="l"/>
          <a:r>
            <a:rPr lang="en-US" sz="1850" dirty="0">
              <a:solidFill>
                <a:schemeClr val="bg1"/>
              </a:solidFill>
            </a:rPr>
            <a:t>Capital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28605-3F21-4EEA-A6C0-6DC2A15EEB8E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8538" y="1143000"/>
            <a:ext cx="4860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F419B-A7A0-4DF6-977B-9B5DEBEBC5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5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0850" name="Rectangle 4"/>
          <p:cNvSpPr txBox="1">
            <a:spLocks noGrp="1" noChangeArrowheads="1"/>
          </p:cNvSpPr>
          <p:nvPr/>
        </p:nvSpPr>
        <p:spPr bwMode="auto">
          <a:xfrm>
            <a:off x="7026275" y="9418638"/>
            <a:ext cx="239713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7713" indent="-2889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9350" indent="-2301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8138" indent="-2301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68513" indent="-2301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257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829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401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973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hangingPunct="0"/>
            <a:fld id="{FC5B6449-48D4-45E8-A143-8313E47FC391}" type="slidenum">
              <a:rPr lang="en-US" altLang="en-US" sz="700" b="0"/>
              <a:pPr algn="r" eaLnBrk="0" hangingPunct="0"/>
              <a:t>3</a:t>
            </a:fld>
            <a:endParaRPr lang="en-US" altLang="en-US" sz="700" b="0"/>
          </a:p>
        </p:txBody>
      </p:sp>
      <p:sp>
        <p:nvSpPr>
          <p:cNvPr id="11470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70852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022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7650" name="Rectangle 4"/>
          <p:cNvSpPr txBox="1">
            <a:spLocks noGrp="1" noChangeArrowheads="1"/>
          </p:cNvSpPr>
          <p:nvPr/>
        </p:nvSpPr>
        <p:spPr bwMode="auto">
          <a:xfrm>
            <a:off x="7026275" y="9418638"/>
            <a:ext cx="239713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7713" indent="-2889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9350" indent="-2301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8138" indent="-2301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68513" indent="-2301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257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829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401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97313" indent="-230188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hangingPunct="0"/>
            <a:fld id="{AD67CEB2-7E5A-43EE-8EDD-26BDA44E914C}" type="slidenum">
              <a:rPr lang="en-US" altLang="en-US" sz="700" b="0"/>
              <a:pPr algn="r" eaLnBrk="0" hangingPunct="0"/>
              <a:t>11</a:t>
            </a:fld>
            <a:endParaRPr lang="en-US" altLang="en-US" sz="700" b="0"/>
          </a:p>
        </p:txBody>
      </p:sp>
      <p:sp>
        <p:nvSpPr>
          <p:cNvPr id="1154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28675" y="719138"/>
            <a:ext cx="5665788" cy="3598862"/>
          </a:xfrm>
          <a:ln/>
        </p:spPr>
      </p:sp>
      <p:sp>
        <p:nvSpPr>
          <p:cNvPr id="1154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59300"/>
            <a:ext cx="5362575" cy="4322763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926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685800"/>
            <a:ext cx="540067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C7DB0-4905-4B99-9B86-E90298E4E365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350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685800"/>
            <a:ext cx="540067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C7DB0-4905-4B99-9B86-E90298E4E365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077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685800"/>
            <a:ext cx="540067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C7DB0-4905-4B99-9B86-E90298E4E365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279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685800"/>
            <a:ext cx="540067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C7DB0-4905-4B99-9B86-E90298E4E365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340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685800"/>
            <a:ext cx="540067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C7DB0-4905-4B99-9B86-E90298E4E365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526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4D663391-6081-48B1-A61E-74C95C0FF75A}" type="datetime2">
              <a:rPr lang="en-US" smtClean="0">
                <a:solidFill>
                  <a:prstClr val="black"/>
                </a:solidFill>
              </a:rPr>
              <a:pPr>
                <a:defRPr/>
              </a:pPr>
              <a:t>Thursday, October 5, 2023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533388-CE92-6D48-B331-708FC88EFFB6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7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879371"/>
            <a:fld id="{17DB73C0-F2E0-4842-8411-1093597C89BE}" type="slidenum">
              <a:rPr lang="en-US" b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defTabSz="879371"/>
              <a:t>26</a:t>
            </a:fld>
            <a:endParaRPr lang="en-US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66763" y="696913"/>
            <a:ext cx="5497512" cy="3490912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5" y="4421190"/>
            <a:ext cx="5146675" cy="4192588"/>
          </a:xfrm>
          <a:noFill/>
          <a:ln w="9525"/>
        </p:spPr>
        <p:txBody>
          <a:bodyPr/>
          <a:lstStyle/>
          <a:p>
            <a:pPr eaLnBrk="1" hangingPunct="1"/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206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4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0805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0805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0805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0805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0805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0805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0805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0805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6552A558-AB28-45FF-A52A-732E9F8CB726}" type="slidenum">
              <a:rPr lang="en-US" sz="800" smtClean="0"/>
              <a:pPr/>
              <a:t>30</a:t>
            </a:fld>
            <a:endParaRPr lang="en-US" sz="8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5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5871" y="1301889"/>
            <a:ext cx="9395222" cy="27695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5871" y="4178198"/>
            <a:ext cx="9395222" cy="192060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0C00-1CE5-4229-942D-FDD7BFE56E16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2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0D64-404B-49B1-AC24-04EAE999812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32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704" y="1983218"/>
            <a:ext cx="10804506" cy="330904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4704" y="5323565"/>
            <a:ext cx="10804506" cy="174014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B742-71A9-4D0B-A86B-4F78602AD896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3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1229" y="2117642"/>
            <a:ext cx="5323959" cy="50473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1775" y="2117642"/>
            <a:ext cx="5323959" cy="50473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0EC6-9470-482B-82EB-A9A11AB662A8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77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60" y="423529"/>
            <a:ext cx="10804506" cy="153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2862" y="1950071"/>
            <a:ext cx="5299492" cy="955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62" y="2905771"/>
            <a:ext cx="5299492" cy="42739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1775" y="1950071"/>
            <a:ext cx="5325591" cy="955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1775" y="2905771"/>
            <a:ext cx="5325591" cy="42739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7727-F921-40D7-89D8-110451952965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82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39C38-2494-4A91-99AF-2249A4ACD38A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9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2D6D2-AA56-4997-883B-2ACA1BB5DD71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2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62" y="530331"/>
            <a:ext cx="4040271" cy="18561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5591" y="1145368"/>
            <a:ext cx="6341775" cy="56531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862" y="2386489"/>
            <a:ext cx="4040271" cy="442126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6AE8-EDDA-4E40-B532-C53BA9FE62A2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295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62" y="530331"/>
            <a:ext cx="4040271" cy="18561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25591" y="1145368"/>
            <a:ext cx="6341775" cy="565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862" y="2386489"/>
            <a:ext cx="4040271" cy="442126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26F6F-6B5C-4961-9DD0-EC9B22A6C87A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93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5A94-49F3-42DD-AC23-300997EB13A4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64608" y="423529"/>
            <a:ext cx="2701126" cy="67414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1229" y="423529"/>
            <a:ext cx="7946792" cy="67414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FFC6-14F1-4E92-95A3-616747C5A742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289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580828" y="1734480"/>
            <a:ext cx="11409552" cy="3014756"/>
          </a:xfrm>
          <a:prstGeom prst="rect">
            <a:avLst/>
          </a:prstGeom>
        </p:spPr>
        <p:txBody>
          <a:bodyPr vert="horz"/>
          <a:lstStyle>
            <a:lvl1pPr marL="0" indent="0" algn="l" rtl="0" fontAlgn="base">
              <a:spcBef>
                <a:spcPts val="0"/>
              </a:spcBef>
              <a:spcAft>
                <a:spcPts val="1351"/>
              </a:spcAft>
              <a:buClr>
                <a:srgbClr val="FF6600"/>
              </a:buClr>
              <a:buFont typeface="Wingdings" charset="2"/>
              <a:buNone/>
              <a:defRPr lang="en-US" sz="17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  <a:lvl2pPr marL="200131" indent="-200131" algn="l" rtl="0" fontAlgn="base">
              <a:spcBef>
                <a:spcPts val="0"/>
              </a:spcBef>
              <a:spcAft>
                <a:spcPts val="1351"/>
              </a:spcAft>
              <a:buClr>
                <a:srgbClr val="FF6600"/>
              </a:buClr>
              <a:buFont typeface="Wingdings" charset="2"/>
              <a:buChar char="§"/>
              <a:defRPr lang="en-US" sz="17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2pPr>
            <a:lvl3pPr marL="321639" indent="-321639" algn="l" rtl="0" fontAlgn="base">
              <a:spcBef>
                <a:spcPts val="0"/>
              </a:spcBef>
              <a:spcAft>
                <a:spcPts val="1351"/>
              </a:spcAft>
              <a:buClr>
                <a:srgbClr val="FF6600"/>
              </a:buClr>
              <a:buFont typeface="Wingdings" charset="2"/>
              <a:buChar char="Ø"/>
              <a:defRPr lang="en-US" sz="17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3pPr>
            <a:lvl5pPr>
              <a:defRPr lang="en-US" sz="17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First level</a:t>
            </a:r>
          </a:p>
          <a:p>
            <a:pPr marL="700708" lvl="2" indent="-321639" algn="l" rtl="0" fontAlgn="base">
              <a:spcBef>
                <a:spcPts val="0"/>
              </a:spcBef>
              <a:spcAft>
                <a:spcPts val="1351"/>
              </a:spcAft>
              <a:buClr>
                <a:srgbClr val="FF6600"/>
              </a:buClr>
              <a:buFont typeface="Arial"/>
              <a:buChar char="•"/>
            </a:pPr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2205920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55298" y="341805"/>
            <a:ext cx="6037702" cy="65804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9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Add Title (One Line Title)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713246" y="1757941"/>
            <a:ext cx="10973998" cy="4833314"/>
          </a:xfrm>
          <a:prstGeom prst="rect">
            <a:avLst/>
          </a:prstGeom>
        </p:spPr>
        <p:txBody>
          <a:bodyPr/>
          <a:lstStyle>
            <a:lvl1pPr>
              <a:spcAft>
                <a:spcPts val="696"/>
              </a:spcAft>
              <a:buClr>
                <a:srgbClr val="E3751E"/>
              </a:buClr>
              <a:defRPr sz="2784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Aft>
                <a:spcPts val="696"/>
              </a:spcAft>
              <a:buClr>
                <a:srgbClr val="E3751E"/>
              </a:buClr>
              <a:defRPr sz="2552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spcAft>
                <a:spcPts val="696"/>
              </a:spcAft>
              <a:buClr>
                <a:srgbClr val="E3751E"/>
              </a:buClr>
              <a:defRPr sz="232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spcAft>
                <a:spcPts val="696"/>
              </a:spcAft>
              <a:buClr>
                <a:srgbClr val="E3751E"/>
              </a:buClr>
              <a:defRPr sz="2088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spcAft>
                <a:spcPts val="696"/>
              </a:spcAft>
              <a:buClr>
                <a:srgbClr val="E3751E"/>
              </a:buClr>
              <a:defRPr sz="1856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6897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25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1229" y="423529"/>
            <a:ext cx="10804506" cy="1537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229" y="2117642"/>
            <a:ext cx="10804506" cy="5047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229" y="7373073"/>
            <a:ext cx="2818567" cy="423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B119E-31DE-43F7-B7A7-0B082BDA7653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49557" y="7373073"/>
            <a:ext cx="4227850" cy="423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47167" y="7373073"/>
            <a:ext cx="2818567" cy="423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19C6-EBC1-41FE-843E-7393415A1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1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chart" Target="../charts/chart2.xml"/><Relationship Id="rId7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oleObject" Target="../embeddings/oleObject3.bin"/><Relationship Id="rId5" Type="http://schemas.openxmlformats.org/officeDocument/2006/relationships/tags" Target="../tags/tag11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notesSlide" Target="../notesSlides/notesSlide4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notesSlide" Target="../notesSlides/notesSlide5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40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notesSlide" Target="../notesSlides/notesSlide6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214" y="3414853"/>
            <a:ext cx="10647918" cy="1686842"/>
          </a:xfrm>
        </p:spPr>
        <p:txBody>
          <a:bodyPr>
            <a:normAutofit fontScale="90000"/>
          </a:bodyPr>
          <a:lstStyle/>
          <a:p>
            <a:pPr algn="l"/>
            <a:r>
              <a:rPr lang="en-US" sz="5585" dirty="0">
                <a:solidFill>
                  <a:schemeClr val="bg1"/>
                </a:solidFill>
              </a:rPr>
              <a:t>Khalifa University </a:t>
            </a:r>
            <a:br>
              <a:rPr lang="en-US" sz="5585" dirty="0">
                <a:solidFill>
                  <a:schemeClr val="bg1"/>
                </a:solidFill>
              </a:rPr>
            </a:br>
            <a:r>
              <a:rPr lang="en-US" sz="2845" dirty="0">
                <a:solidFill>
                  <a:schemeClr val="bg1"/>
                </a:solidFill>
              </a:rPr>
              <a:t>Strategic Plan (2021-2031)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sz="295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85" y="765440"/>
            <a:ext cx="2433761" cy="59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1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/>
          <p:cNvSpPr txBox="1"/>
          <p:nvPr/>
        </p:nvSpPr>
        <p:spPr>
          <a:xfrm>
            <a:off x="660139" y="691653"/>
            <a:ext cx="10987703" cy="5226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pPr algn="ctr" defTabSz="832258">
              <a:defRPr/>
            </a:pP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60139" y="1331112"/>
            <a:ext cx="7369593" cy="3163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 defTabSz="832258">
              <a:defRPr/>
            </a:pPr>
            <a:r>
              <a:rPr lang="en-US" sz="1456" b="1" dirty="0">
                <a:solidFill>
                  <a:sysClr val="windowText" lastClr="000000"/>
                </a:solidFill>
              </a:rPr>
              <a:t>Student Enrollment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0139" y="133935"/>
            <a:ext cx="1098770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 defTabSz="832258">
              <a:defRPr/>
            </a:pPr>
            <a:r>
              <a:rPr lang="en-US" sz="2400" b="1" dirty="0">
                <a:solidFill>
                  <a:schemeClr val="bg1"/>
                </a:solidFill>
              </a:rPr>
              <a:t>Khalifa</a:t>
            </a:r>
            <a:r>
              <a:rPr lang="en-US" sz="2000" b="1" dirty="0">
                <a:solidFill>
                  <a:schemeClr val="bg1"/>
                </a:solidFill>
              </a:rPr>
              <a:t> University in Numbers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632124" y="1748895"/>
            <a:ext cx="3383280" cy="15729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91" rIns="76179" bIns="38091" rtlCol="0" anchor="ctr"/>
          <a:lstStyle/>
          <a:p>
            <a:pPr algn="ctr"/>
            <a:endParaRPr lang="en-US" sz="1092" dirty="0"/>
          </a:p>
        </p:txBody>
      </p:sp>
      <p:sp>
        <p:nvSpPr>
          <p:cNvPr id="168" name="Rectangle 167"/>
          <p:cNvSpPr/>
          <p:nvPr/>
        </p:nvSpPr>
        <p:spPr>
          <a:xfrm>
            <a:off x="8176198" y="1718992"/>
            <a:ext cx="3474720" cy="3676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91" rIns="76179" bIns="38091" rtlCol="0" anchor="ctr"/>
          <a:lstStyle/>
          <a:p>
            <a:pPr algn="ctr"/>
            <a:endParaRPr lang="en-US" sz="1504" dirty="0"/>
          </a:p>
        </p:txBody>
      </p:sp>
      <p:sp>
        <p:nvSpPr>
          <p:cNvPr id="185" name="TextBox 184"/>
          <p:cNvSpPr txBox="1"/>
          <p:nvPr/>
        </p:nvSpPr>
        <p:spPr>
          <a:xfrm>
            <a:off x="660137" y="3385064"/>
            <a:ext cx="7378983" cy="3163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 defTabSz="832258">
              <a:defRPr/>
            </a:pPr>
            <a:r>
              <a:rPr lang="en-US" sz="1456" b="1" dirty="0">
                <a:solidFill>
                  <a:sysClr val="windowText" lastClr="000000"/>
                </a:solidFill>
              </a:rPr>
              <a:t>Faculty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646452" y="3760765"/>
            <a:ext cx="3383280" cy="1634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91" rIns="76179" bIns="38091" rtlCol="0" anchor="ctr"/>
          <a:lstStyle/>
          <a:p>
            <a:pPr algn="ctr"/>
            <a:endParaRPr lang="en-US" sz="1504" dirty="0"/>
          </a:p>
        </p:txBody>
      </p:sp>
      <p:sp>
        <p:nvSpPr>
          <p:cNvPr id="219" name="Rectangle 218"/>
          <p:cNvSpPr/>
          <p:nvPr/>
        </p:nvSpPr>
        <p:spPr>
          <a:xfrm>
            <a:off x="660137" y="3761039"/>
            <a:ext cx="3805581" cy="1626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91" rIns="76179" bIns="38091" rtlCol="0" anchor="ctr"/>
          <a:lstStyle/>
          <a:p>
            <a:pPr algn="ctr"/>
            <a:endParaRPr lang="en-US" sz="1504" dirty="0"/>
          </a:p>
        </p:txBody>
      </p:sp>
      <p:sp>
        <p:nvSpPr>
          <p:cNvPr id="270" name="TextBox 269"/>
          <p:cNvSpPr txBox="1"/>
          <p:nvPr/>
        </p:nvSpPr>
        <p:spPr>
          <a:xfrm>
            <a:off x="4646452" y="5525601"/>
            <a:ext cx="3383280" cy="3163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 defTabSz="832258">
              <a:defRPr/>
            </a:pPr>
            <a:r>
              <a:rPr lang="en-US" sz="1456" b="1" dirty="0">
                <a:solidFill>
                  <a:sysClr val="windowText" lastClr="000000"/>
                </a:solidFill>
              </a:rPr>
              <a:t>Research Productivity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4646452" y="5894208"/>
            <a:ext cx="3383280" cy="15340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91" rIns="76179" bIns="38091" rtlCol="0" anchor="ctr"/>
          <a:lstStyle/>
          <a:p>
            <a:pPr algn="ctr"/>
            <a:endParaRPr lang="en-US" sz="1504" dirty="0"/>
          </a:p>
        </p:txBody>
      </p:sp>
      <p:sp>
        <p:nvSpPr>
          <p:cNvPr id="283" name="Rectangle 282"/>
          <p:cNvSpPr/>
          <p:nvPr/>
        </p:nvSpPr>
        <p:spPr>
          <a:xfrm>
            <a:off x="8173122" y="5890079"/>
            <a:ext cx="3474720" cy="1538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91" rIns="76179" bIns="38091" rtlCol="0" anchor="ctr"/>
          <a:lstStyle/>
          <a:p>
            <a:pPr algn="ctr"/>
            <a:endParaRPr lang="en-US" sz="1504" dirty="0"/>
          </a:p>
        </p:txBody>
      </p:sp>
      <p:sp>
        <p:nvSpPr>
          <p:cNvPr id="288" name="TextBox 287"/>
          <p:cNvSpPr txBox="1"/>
          <p:nvPr/>
        </p:nvSpPr>
        <p:spPr>
          <a:xfrm>
            <a:off x="5735006" y="5968053"/>
            <a:ext cx="1054396" cy="200037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sz="800" b="1" dirty="0">
                <a:solidFill>
                  <a:srgbClr val="5B9BD5">
                    <a:lumMod val="50000"/>
                  </a:srgbClr>
                </a:solidFill>
              </a:rPr>
              <a:t>No. of Publications</a:t>
            </a:r>
            <a:endParaRPr lang="en-US" sz="800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6572629" y="5903102"/>
            <a:ext cx="1263288" cy="323147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sz="800" b="1" dirty="0">
                <a:solidFill>
                  <a:srgbClr val="5B9BD5">
                    <a:lumMod val="50000"/>
                  </a:srgbClr>
                </a:solidFill>
              </a:rPr>
              <a:t>% of International Collaboration</a:t>
            </a:r>
            <a:endParaRPr lang="en-US" sz="800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5846095" y="6200008"/>
            <a:ext cx="832218" cy="3670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1,322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6816712" y="6195864"/>
            <a:ext cx="872356" cy="3670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65.7%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4692898" y="6203951"/>
            <a:ext cx="977538" cy="38136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10" b="1" dirty="0">
                <a:solidFill>
                  <a:schemeClr val="bg2">
                    <a:lumMod val="50000"/>
                  </a:schemeClr>
                </a:solidFill>
              </a:rPr>
              <a:t>2018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5846095" y="6616752"/>
            <a:ext cx="832218" cy="380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1,420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816712" y="6612608"/>
            <a:ext cx="872356" cy="380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70.3%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693755" y="6626475"/>
            <a:ext cx="977538" cy="37201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10" b="1" dirty="0">
                <a:solidFill>
                  <a:schemeClr val="bg2">
                    <a:lumMod val="50000"/>
                  </a:schemeClr>
                </a:solidFill>
              </a:rPr>
              <a:t>2019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846095" y="7035713"/>
            <a:ext cx="832218" cy="3636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1,513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6816712" y="7031568"/>
            <a:ext cx="872356" cy="3636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73.8%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694594" y="7039655"/>
            <a:ext cx="977538" cy="3548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10" b="1" dirty="0">
                <a:solidFill>
                  <a:schemeClr val="bg2">
                    <a:lumMod val="50000"/>
                  </a:schemeClr>
                </a:solidFill>
              </a:rPr>
              <a:t>2020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685940" y="5891401"/>
            <a:ext cx="1028860" cy="238509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sz="1000" b="1" dirty="0">
                <a:solidFill>
                  <a:srgbClr val="5B9BD5">
                    <a:lumMod val="50000"/>
                  </a:srgbClr>
                </a:solidFill>
              </a:rPr>
              <a:t>Disclosure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378274" y="5883657"/>
            <a:ext cx="1263288" cy="249601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sz="1092" b="1" dirty="0">
                <a:solidFill>
                  <a:srgbClr val="5B9BD5">
                    <a:lumMod val="50000"/>
                  </a:srgbClr>
                </a:solidFill>
              </a:rPr>
              <a:t>Issued</a:t>
            </a:r>
            <a:endParaRPr lang="en-US" sz="1092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309" name="Rectangle 308"/>
          <p:cNvSpPr/>
          <p:nvPr/>
        </p:nvSpPr>
        <p:spPr>
          <a:xfrm>
            <a:off x="8853905" y="6164851"/>
            <a:ext cx="694615" cy="385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84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642600" y="6160707"/>
            <a:ext cx="694615" cy="385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31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852220" y="6587374"/>
            <a:ext cx="696300" cy="3703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77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9640915" y="6583229"/>
            <a:ext cx="694615" cy="3703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51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852975" y="6983743"/>
            <a:ext cx="696300" cy="369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101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641670" y="6979599"/>
            <a:ext cx="694615" cy="369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68169" y="5516909"/>
            <a:ext cx="3479674" cy="325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 defTabSz="832258">
              <a:defRPr/>
            </a:pPr>
            <a:r>
              <a:rPr lang="en-US" sz="1456" b="1" dirty="0">
                <a:solidFill>
                  <a:sysClr val="windowText" lastClr="000000"/>
                </a:solidFill>
              </a:rPr>
              <a:t>Patents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81441" y="5695157"/>
            <a:ext cx="769284" cy="178823"/>
          </a:xfrm>
          <a:prstGeom prst="rect">
            <a:avLst/>
          </a:prstGeom>
          <a:noFill/>
        </p:spPr>
        <p:txBody>
          <a:bodyPr wrap="square" lIns="91426" tIns="45713" rIns="91426" bIns="45713" rtlCol="0">
            <a:spAutoFit/>
          </a:bodyPr>
          <a:lstStyle/>
          <a:p>
            <a:r>
              <a:rPr lang="en-US" sz="547" dirty="0">
                <a:solidFill>
                  <a:schemeClr val="accent2">
                    <a:lumMod val="50000"/>
                  </a:schemeClr>
                </a:solidFill>
              </a:rPr>
              <a:t>Source: Scival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51134" y="6171076"/>
            <a:ext cx="977538" cy="38136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56" b="1" dirty="0">
                <a:solidFill>
                  <a:schemeClr val="bg2">
                    <a:lumMod val="50000"/>
                  </a:schemeClr>
                </a:solidFill>
              </a:rPr>
              <a:t>2018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51992" y="6593598"/>
            <a:ext cx="977538" cy="37201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56" b="1" dirty="0">
                <a:solidFill>
                  <a:schemeClr val="bg2">
                    <a:lumMod val="50000"/>
                  </a:schemeClr>
                </a:solidFill>
              </a:rPr>
              <a:t>2019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052832" y="7006779"/>
            <a:ext cx="977538" cy="3548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56" b="1" dirty="0">
                <a:solidFill>
                  <a:schemeClr val="bg2">
                    <a:lumMod val="50000"/>
                  </a:schemeClr>
                </a:solidFill>
              </a:rPr>
              <a:t>2020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48942" y="6019628"/>
            <a:ext cx="654463" cy="25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1" dirty="0"/>
              <a:t>Year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60139" y="5907080"/>
            <a:ext cx="3801158" cy="1521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91" rIns="76179" bIns="38091" rtlCol="0" anchor="ctr"/>
          <a:lstStyle/>
          <a:p>
            <a:pPr algn="ctr"/>
            <a:endParaRPr lang="en-US" sz="1504" dirty="0"/>
          </a:p>
        </p:txBody>
      </p:sp>
      <p:sp>
        <p:nvSpPr>
          <p:cNvPr id="144" name="TextBox 143"/>
          <p:cNvSpPr txBox="1"/>
          <p:nvPr/>
        </p:nvSpPr>
        <p:spPr>
          <a:xfrm>
            <a:off x="660139" y="5516909"/>
            <a:ext cx="3801158" cy="325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 defTabSz="895017">
              <a:defRPr/>
            </a:pPr>
            <a:r>
              <a:rPr lang="en-US" sz="1456" b="1" dirty="0">
                <a:solidFill>
                  <a:sysClr val="windowText" lastClr="000000"/>
                </a:solidFill>
              </a:rPr>
              <a:t>Accredited Programs By CAA</a:t>
            </a:r>
            <a:endParaRPr lang="en-US" sz="1456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86764" y="1351717"/>
            <a:ext cx="3471865" cy="325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 defTabSz="832258">
              <a:defRPr/>
            </a:pPr>
            <a:r>
              <a:rPr lang="en-US" sz="1456" b="1" dirty="0">
                <a:solidFill>
                  <a:sysClr val="windowText" lastClr="000000"/>
                </a:solidFill>
              </a:rPr>
              <a:t>Finance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78088" y="6133611"/>
            <a:ext cx="832218" cy="3670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951445" y="6129467"/>
            <a:ext cx="872356" cy="3670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878088" y="6550355"/>
            <a:ext cx="832218" cy="380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951445" y="6546211"/>
            <a:ext cx="872356" cy="380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878088" y="6969316"/>
            <a:ext cx="832218" cy="3636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951445" y="6965171"/>
            <a:ext cx="872356" cy="3636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1639" b="1" dirty="0">
                <a:solidFill>
                  <a:schemeClr val="accent1">
                    <a:lumMod val="50000"/>
                  </a:schemeClr>
                </a:solidFill>
              </a:rPr>
              <a:t>22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204819" y="6151676"/>
            <a:ext cx="547600" cy="38136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10" b="1" dirty="0">
                <a:solidFill>
                  <a:schemeClr val="bg2">
                    <a:lumMod val="50000"/>
                  </a:schemeClr>
                </a:solidFill>
              </a:rPr>
              <a:t>2018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04819" y="6574200"/>
            <a:ext cx="547600" cy="37201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10" b="1" dirty="0">
                <a:solidFill>
                  <a:schemeClr val="bg2">
                    <a:lumMod val="50000"/>
                  </a:schemeClr>
                </a:solidFill>
              </a:rPr>
              <a:t>2019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04819" y="6987380"/>
            <a:ext cx="547600" cy="3548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 defTabSz="832258">
              <a:defRPr/>
            </a:pPr>
            <a:r>
              <a:rPr lang="en-US" sz="910" b="1" dirty="0">
                <a:solidFill>
                  <a:schemeClr val="bg2">
                    <a:lumMod val="50000"/>
                  </a:schemeClr>
                </a:solidFill>
              </a:rPr>
              <a:t>2020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13902" y="5982333"/>
            <a:ext cx="529435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1" dirty="0"/>
              <a:t>Year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774523" y="5956980"/>
            <a:ext cx="1054396" cy="192020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sz="728" b="1" dirty="0">
                <a:solidFill>
                  <a:srgbClr val="5B9BD5">
                    <a:lumMod val="50000"/>
                  </a:srgbClr>
                </a:solidFill>
              </a:rPr>
              <a:t>Undergraduate</a:t>
            </a:r>
            <a:endParaRPr lang="en-US" sz="728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847474" y="5954304"/>
            <a:ext cx="1054396" cy="192020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sz="728" b="1" dirty="0">
                <a:solidFill>
                  <a:srgbClr val="5B9BD5">
                    <a:lumMod val="50000"/>
                  </a:srgbClr>
                </a:solidFill>
              </a:rPr>
              <a:t>Postgraduate</a:t>
            </a:r>
            <a:endParaRPr lang="en-US" sz="728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0768" y="691363"/>
            <a:ext cx="2122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College of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Engineering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232553" y="691363"/>
            <a:ext cx="1864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College of Arts and Sciences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02160" y="691363"/>
            <a:ext cx="293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College of Medicine and Health Sciences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7492028" y="799085"/>
            <a:ext cx="186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3 Institutes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409327" y="799085"/>
            <a:ext cx="186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19 Research Centers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871327" y="3814267"/>
            <a:ext cx="1026202" cy="321089"/>
          </a:xfrm>
          <a:prstGeom prst="rect">
            <a:avLst/>
          </a:prstGeom>
          <a:noFill/>
          <a:ln>
            <a:noFill/>
          </a:ln>
        </p:spPr>
        <p:txBody>
          <a:bodyPr wrap="square" lIns="74142" tIns="37072" rIns="74142" bIns="37072" rtlCol="0">
            <a:spAutoFit/>
          </a:bodyPr>
          <a:lstStyle/>
          <a:p>
            <a:pPr algn="ctr" defTabSz="809983">
              <a:defRPr/>
            </a:pPr>
            <a:r>
              <a:rPr lang="en-US" sz="800" b="1" dirty="0">
                <a:solidFill>
                  <a:srgbClr val="5B9BD5">
                    <a:lumMod val="50000"/>
                  </a:srgbClr>
                </a:solidFill>
              </a:rPr>
              <a:t>No. of Publications Per Faculty with PhD</a:t>
            </a:r>
            <a:endParaRPr lang="en-US" sz="800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6943680" y="3809307"/>
            <a:ext cx="885270" cy="321089"/>
          </a:xfrm>
          <a:prstGeom prst="rect">
            <a:avLst/>
          </a:prstGeom>
          <a:noFill/>
          <a:ln>
            <a:noFill/>
          </a:ln>
        </p:spPr>
        <p:txBody>
          <a:bodyPr wrap="square" lIns="74142" tIns="37072" rIns="74142" bIns="37072" rtlCol="0">
            <a:spAutoFit/>
          </a:bodyPr>
          <a:lstStyle/>
          <a:p>
            <a:pPr algn="ctr" defTabSz="809983">
              <a:defRPr/>
            </a:pPr>
            <a:r>
              <a:rPr lang="en-US" sz="800" b="1" dirty="0">
                <a:solidFill>
                  <a:srgbClr val="5B9BD5">
                    <a:lumMod val="50000"/>
                  </a:srgbClr>
                </a:solidFill>
              </a:rPr>
              <a:t>% of Faculty with Doctoral Degree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829836" y="3844236"/>
            <a:ext cx="636963" cy="229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6" b="1" dirty="0">
                <a:solidFill>
                  <a:schemeClr val="bg2">
                    <a:lumMod val="50000"/>
                  </a:schemeClr>
                </a:solidFill>
              </a:rPr>
              <a:t>Year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970007" y="4131781"/>
            <a:ext cx="809965" cy="3572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4.1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914671" y="4127748"/>
            <a:ext cx="849030" cy="3572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87%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677525" y="4135619"/>
            <a:ext cx="951399" cy="37116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886" b="1" dirty="0">
                <a:solidFill>
                  <a:schemeClr val="bg2">
                    <a:lumMod val="50000"/>
                  </a:schemeClr>
                </a:solidFill>
              </a:rPr>
              <a:t>2018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970007" y="4537381"/>
            <a:ext cx="809965" cy="3699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4.1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914671" y="4533348"/>
            <a:ext cx="849030" cy="3699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90%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678359" y="4546844"/>
            <a:ext cx="951399" cy="36207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886" b="1" dirty="0">
                <a:solidFill>
                  <a:schemeClr val="bg2">
                    <a:lumMod val="50000"/>
                  </a:schemeClr>
                </a:solidFill>
              </a:rPr>
              <a:t>2019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970007" y="4945139"/>
            <a:ext cx="809965" cy="3539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4.3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914671" y="4941105"/>
            <a:ext cx="849030" cy="3539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91%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679175" y="4948976"/>
            <a:ext cx="951399" cy="34532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81" tIns="44491" rIns="88981" bIns="44491" rtlCol="0" anchor="ctr"/>
          <a:lstStyle/>
          <a:p>
            <a:pPr algn="ctr" defTabSz="809983">
              <a:defRPr/>
            </a:pPr>
            <a:r>
              <a:rPr lang="en-US" sz="886" b="1" dirty="0">
                <a:solidFill>
                  <a:schemeClr val="bg2">
                    <a:lumMod val="50000"/>
                  </a:schemeClr>
                </a:solidFill>
              </a:rPr>
              <a:t>2020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1575" y="1828243"/>
            <a:ext cx="18499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09983">
              <a:defRPr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</a:rPr>
              <a:t>Postgraduate</a:t>
            </a:r>
            <a:r>
              <a:rPr lang="en-US" sz="1000" b="1" i="1" dirty="0">
                <a:solidFill>
                  <a:schemeClr val="accent1">
                    <a:lumMod val="50000"/>
                  </a:schemeClr>
                </a:solidFill>
              </a:rPr>
              <a:t> students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86764" y="5950265"/>
            <a:ext cx="654463" cy="25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1" dirty="0"/>
              <a:t>Year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9550" y="7701047"/>
            <a:ext cx="289583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** Jan-April Year 2021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65" y="7380923"/>
            <a:ext cx="1131387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* Internally generated revenue: Actual basis (cash) which is transferred to </a:t>
            </a:r>
            <a:r>
              <a:rPr lang="en-US" sz="1050" dirty="0" err="1"/>
              <a:t>DoF</a:t>
            </a:r>
            <a:r>
              <a:rPr lang="en-US" sz="1050" dirty="0"/>
              <a:t>; Externally funded projects: Accrual basis (billing only) not cash basis. Maintained in KU ledger for externally funded research sponsorship projects and other projects funded by external parties.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828923" y="6203382"/>
            <a:ext cx="724962" cy="353925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202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848602" y="7025442"/>
            <a:ext cx="724962" cy="353925"/>
          </a:xfrm>
          <a:prstGeom prst="rect">
            <a:avLst/>
          </a:prstGeom>
          <a:noFill/>
          <a:ln>
            <a:noFill/>
          </a:ln>
        </p:spPr>
        <p:txBody>
          <a:bodyPr wrap="square" lIns="76179" tIns="38091" rIns="76179" bIns="38091" rtlCol="0">
            <a:spAutoFit/>
          </a:bodyPr>
          <a:lstStyle/>
          <a:p>
            <a:pPr algn="ctr" defTabSz="832258"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478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69656" y="6006150"/>
            <a:ext cx="85632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832258">
              <a:defRPr/>
            </a:pPr>
            <a:r>
              <a:rPr lang="en-US" sz="1050" b="1" dirty="0">
                <a:solidFill>
                  <a:srgbClr val="5B9BD5">
                    <a:lumMod val="50000"/>
                  </a:srgbClr>
                </a:solidFill>
              </a:rPr>
              <a:t>Total Issued</a:t>
            </a:r>
            <a:endParaRPr lang="en-US" sz="1050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0664662" y="6616403"/>
            <a:ext cx="106631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832258">
              <a:defRPr/>
            </a:pPr>
            <a:r>
              <a:rPr lang="en-US" sz="1050" b="1" dirty="0">
                <a:solidFill>
                  <a:srgbClr val="5B9BD5">
                    <a:lumMod val="50000"/>
                  </a:srgbClr>
                </a:solidFill>
              </a:rPr>
              <a:t>Total Invention </a:t>
            </a:r>
          </a:p>
          <a:p>
            <a:pPr algn="ctr" defTabSz="832258">
              <a:defRPr/>
            </a:pPr>
            <a:r>
              <a:rPr lang="en-US" sz="1050" b="1" dirty="0">
                <a:solidFill>
                  <a:srgbClr val="5B9BD5">
                    <a:lumMod val="50000"/>
                  </a:srgbClr>
                </a:solidFill>
              </a:rPr>
              <a:t>disclosure</a:t>
            </a:r>
            <a:endParaRPr lang="en-US" sz="1050" dirty="0">
              <a:solidFill>
                <a:srgbClr val="5B9BD5">
                  <a:lumMod val="50000"/>
                </a:srgbClr>
              </a:solidFill>
            </a:endParaRPr>
          </a:p>
        </p:txBody>
      </p:sp>
      <p:graphicFrame>
        <p:nvGraphicFramePr>
          <p:cNvPr id="132" name="Chart 131"/>
          <p:cNvGraphicFramePr>
            <a:graphicFrameLocks/>
          </p:cNvGraphicFramePr>
          <p:nvPr/>
        </p:nvGraphicFramePr>
        <p:xfrm>
          <a:off x="8248633" y="1774770"/>
          <a:ext cx="3046705" cy="163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9" name="Chart 148"/>
          <p:cNvGraphicFramePr>
            <a:graphicFrameLocks/>
          </p:cNvGraphicFramePr>
          <p:nvPr/>
        </p:nvGraphicFramePr>
        <p:xfrm>
          <a:off x="8146976" y="3527584"/>
          <a:ext cx="3641019" cy="1786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11129326" y="47067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**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0389" y="1729028"/>
            <a:ext cx="3839597" cy="1558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478" tIns="33740" rIns="67478" bIns="33740" rtlCol="0" anchor="ctr"/>
          <a:lstStyle/>
          <a:p>
            <a:pPr algn="ctr"/>
            <a:endParaRPr lang="en-US" sz="1333" dirty="0"/>
          </a:p>
        </p:txBody>
      </p:sp>
      <p:pic>
        <p:nvPicPr>
          <p:cNvPr id="117" name="Picture 116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92" y="1927952"/>
            <a:ext cx="198145" cy="141631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1394271" y="1835291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3,325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023499" y="1835291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3,419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734673" y="1835291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3,820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8" name="TextBox 158"/>
          <p:cNvSpPr txBox="1"/>
          <p:nvPr/>
        </p:nvSpPr>
        <p:spPr>
          <a:xfrm>
            <a:off x="866186" y="1858982"/>
            <a:ext cx="493080" cy="30118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lIns="76179" tIns="38091" rIns="76179" bIns="38091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832258">
              <a:defRPr/>
            </a:pPr>
            <a:r>
              <a:rPr lang="en-US" sz="709" b="1" i="1" dirty="0">
                <a:solidFill>
                  <a:schemeClr val="accent1">
                    <a:lumMod val="75000"/>
                  </a:schemeClr>
                </a:solidFill>
              </a:rPr>
              <a:t>Total Number</a:t>
            </a:r>
          </a:p>
        </p:txBody>
      </p:sp>
      <p:pic>
        <p:nvPicPr>
          <p:cNvPr id="150" name="Picture 149"/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0" y="2209463"/>
            <a:ext cx="141385" cy="102917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2170340" y="2171369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19%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506604" y="2171369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18%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891961" y="2171369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22%</a:t>
            </a:r>
          </a:p>
        </p:txBody>
      </p:sp>
      <p:sp>
        <p:nvSpPr>
          <p:cNvPr id="155" name="TextBox 228"/>
          <p:cNvSpPr txBox="1"/>
          <p:nvPr/>
        </p:nvSpPr>
        <p:spPr>
          <a:xfrm>
            <a:off x="825268" y="2173237"/>
            <a:ext cx="664819" cy="178449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717489">
              <a:defRPr/>
            </a:pPr>
            <a:r>
              <a:rPr lang="en-US" sz="709" b="1" i="1" dirty="0">
                <a:solidFill>
                  <a:schemeClr val="accent1">
                    <a:lumMod val="75000"/>
                  </a:schemeClr>
                </a:solidFill>
              </a:rPr>
              <a:t>International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647893" y="1652086"/>
            <a:ext cx="809965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4,061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57" name="Chart 156"/>
          <p:cNvGraphicFramePr>
            <a:graphicFrameLocks/>
          </p:cNvGraphicFramePr>
          <p:nvPr/>
        </p:nvGraphicFramePr>
        <p:xfrm>
          <a:off x="1136406" y="2076571"/>
          <a:ext cx="3000372" cy="1223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8" name="TextBox 157"/>
          <p:cNvSpPr txBox="1"/>
          <p:nvPr/>
        </p:nvSpPr>
        <p:spPr>
          <a:xfrm>
            <a:off x="3428147" y="1833178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4,307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3496932" y="2169256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90737" y="3842934"/>
            <a:ext cx="3370941" cy="144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478" tIns="33740" rIns="67478" bIns="33740" rtlCol="0" anchor="ctr"/>
          <a:lstStyle/>
          <a:p>
            <a:pPr algn="ctr"/>
            <a:endParaRPr lang="en-US" sz="1333" dirty="0"/>
          </a:p>
        </p:txBody>
      </p:sp>
      <p:sp>
        <p:nvSpPr>
          <p:cNvPr id="162" name="TextBox 161"/>
          <p:cNvSpPr txBox="1"/>
          <p:nvPr/>
        </p:nvSpPr>
        <p:spPr>
          <a:xfrm>
            <a:off x="1468843" y="3815373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370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2159129" y="3815373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385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2795438" y="3806510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388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65" name="Picture 164" descr="faculty.png"/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2058" y="3844816"/>
            <a:ext cx="205267" cy="171932"/>
          </a:xfrm>
          <a:prstGeom prst="rect">
            <a:avLst/>
          </a:prstGeom>
        </p:spPr>
      </p:pic>
      <p:sp>
        <p:nvSpPr>
          <p:cNvPr id="166" name="TextBox 158"/>
          <p:cNvSpPr txBox="1"/>
          <p:nvPr/>
        </p:nvSpPr>
        <p:spPr>
          <a:xfrm>
            <a:off x="1038690" y="3832687"/>
            <a:ext cx="659167" cy="30215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lIns="67478" tIns="33740" rIns="67478" bIns="33740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737221">
              <a:defRPr/>
            </a:pPr>
            <a:r>
              <a:rPr lang="en-US" sz="740" b="1" i="1" dirty="0">
                <a:solidFill>
                  <a:schemeClr val="accent1">
                    <a:lumMod val="75000"/>
                  </a:schemeClr>
                </a:solidFill>
              </a:rPr>
              <a:t>Total Number</a:t>
            </a:r>
          </a:p>
        </p:txBody>
      </p:sp>
      <p:pic>
        <p:nvPicPr>
          <p:cNvPr id="169" name="Picture 168"/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77" y="4177886"/>
            <a:ext cx="141385" cy="102917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2267337" y="4098481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88%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572513" y="4098481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87%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957063" y="4089618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88%</a:t>
            </a:r>
          </a:p>
        </p:txBody>
      </p:sp>
      <p:sp>
        <p:nvSpPr>
          <p:cNvPr id="173" name="TextBox 228"/>
          <p:cNvSpPr txBox="1"/>
          <p:nvPr/>
        </p:nvSpPr>
        <p:spPr>
          <a:xfrm>
            <a:off x="1026214" y="4136577"/>
            <a:ext cx="664819" cy="178449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717489">
              <a:defRPr/>
            </a:pPr>
            <a:r>
              <a:rPr lang="en-US" sz="709" b="1" i="1" dirty="0">
                <a:solidFill>
                  <a:schemeClr val="accent1">
                    <a:lumMod val="75000"/>
                  </a:schemeClr>
                </a:solidFill>
              </a:rPr>
              <a:t>International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457798" y="3815373"/>
            <a:ext cx="642163" cy="320335"/>
          </a:xfrm>
          <a:prstGeom prst="rect">
            <a:avLst/>
          </a:prstGeom>
          <a:noFill/>
          <a:ln>
            <a:noFill/>
          </a:ln>
        </p:spPr>
        <p:txBody>
          <a:bodyPr wrap="square" lIns="67478" tIns="33740" rIns="67478" bIns="33740" rtlCol="0">
            <a:spAutoFit/>
          </a:bodyPr>
          <a:lstStyle/>
          <a:p>
            <a:pPr algn="ctr" defTabSz="737221">
              <a:defRPr/>
            </a:pPr>
            <a:r>
              <a:rPr lang="en-US" sz="1595" b="1" dirty="0">
                <a:solidFill>
                  <a:schemeClr val="accent1">
                    <a:lumMod val="50000"/>
                  </a:schemeClr>
                </a:solidFill>
              </a:rPr>
              <a:t>391</a:t>
            </a:r>
            <a:endParaRPr lang="en-US" sz="974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3571381" y="4098481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88%</a:t>
            </a:r>
          </a:p>
        </p:txBody>
      </p:sp>
      <p:graphicFrame>
        <p:nvGraphicFramePr>
          <p:cNvPr id="176" name="Chart 175"/>
          <p:cNvGraphicFramePr>
            <a:graphicFrameLocks/>
          </p:cNvGraphicFramePr>
          <p:nvPr/>
        </p:nvGraphicFramePr>
        <p:xfrm>
          <a:off x="1338463" y="3952556"/>
          <a:ext cx="2844657" cy="1417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77" name="Chart 176"/>
          <p:cNvGraphicFramePr>
            <a:graphicFrameLocks/>
          </p:cNvGraphicFramePr>
          <p:nvPr/>
        </p:nvGraphicFramePr>
        <p:xfrm>
          <a:off x="4676681" y="1934646"/>
          <a:ext cx="3216372" cy="1385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78" name="TextBox 177"/>
          <p:cNvSpPr txBox="1"/>
          <p:nvPr/>
        </p:nvSpPr>
        <p:spPr>
          <a:xfrm>
            <a:off x="3496932" y="2169256"/>
            <a:ext cx="404983" cy="206383"/>
          </a:xfrm>
          <a:prstGeom prst="rect">
            <a:avLst/>
          </a:prstGeom>
          <a:noFill/>
          <a:ln>
            <a:noFill/>
          </a:ln>
        </p:spPr>
        <p:txBody>
          <a:bodyPr wrap="square" lIns="65674" tIns="32838" rIns="65674" bIns="32838" rtlCol="0">
            <a:spAutoFit/>
          </a:bodyPr>
          <a:lstStyle/>
          <a:p>
            <a:pPr algn="ctr" defTabSz="717489">
              <a:defRPr/>
            </a:pPr>
            <a:r>
              <a:rPr lang="en-US" sz="886" dirty="0"/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67207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5397" name="Slide Number Placeholder 3"/>
          <p:cNvSpPr txBox="1">
            <a:spLocks noGrp="1"/>
          </p:cNvSpPr>
          <p:nvPr/>
        </p:nvSpPr>
        <p:spPr bwMode="auto">
          <a:xfrm>
            <a:off x="11038301" y="7623506"/>
            <a:ext cx="624243" cy="21422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hangingPunct="0"/>
            <a:fld id="{8D1F6405-165C-4990-B459-EEC2784F758B}" type="slidenum">
              <a:rPr lang="en-US" altLang="en-US" sz="1392"/>
              <a:pPr algn="r" eaLnBrk="0" hangingPunct="0"/>
              <a:t>3</a:t>
            </a:fld>
            <a:endParaRPr lang="en-US" altLang="en-US" sz="1392"/>
          </a:p>
        </p:txBody>
      </p:sp>
      <p:sp>
        <p:nvSpPr>
          <p:cNvPr id="114698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95754"/>
            <a:ext cx="9659999" cy="110237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andara" panose="020E0502030303020204" pitchFamily="34" charset="0"/>
                <a:ea typeface="+mn-ea"/>
                <a:cs typeface="+mn-cs"/>
              </a:rPr>
              <a:t>KU has built its strengths on focusing on research/academic topics that address the current and future needs of the government and industry</a:t>
            </a:r>
            <a:endParaRPr lang="en-US" altLang="en-US" sz="2400" b="1" dirty="0"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11469828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48478" y="1589571"/>
            <a:ext cx="11827676" cy="40701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lIns="104396" tIns="54286" rIns="104396" bIns="54286" anchor="ctr"/>
          <a:lstStyle>
            <a:lvl1pPr marL="166688" indent="-1666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>
              <a:buFont typeface="Wingdings" panose="05000000000000000000" pitchFamily="2" charset="2"/>
              <a:buNone/>
            </a:pPr>
            <a:r>
              <a:rPr lang="en-US" altLang="en-US" sz="2320" dirty="0" err="1"/>
              <a:t>Khalifa</a:t>
            </a:r>
            <a:r>
              <a:rPr lang="en-US" altLang="en-US" sz="2320" dirty="0"/>
              <a:t> University </a:t>
            </a:r>
          </a:p>
        </p:txBody>
      </p:sp>
      <p:graphicFrame>
        <p:nvGraphicFramePr>
          <p:cNvPr id="11469829" name="Rectangle 5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4915557" y="1806440"/>
          <a:ext cx="184143" cy="184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0" imgH="0" progId="TCLayout.ActiveDocument.1">
                  <p:embed/>
                </p:oleObj>
              </mc:Choice>
              <mc:Fallback>
                <p:oleObj name="think-cell Slide" r:id="rId8" imgW="0" imgH="0" progId="TCLayout.ActiveDocument.1">
                  <p:embed/>
                  <p:pic>
                    <p:nvPicPr>
                      <p:cNvPr id="11469829" name="Rectangle 5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557" y="1806440"/>
                        <a:ext cx="184143" cy="184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835" name="Text Box 10"/>
          <p:cNvSpPr txBox="1">
            <a:spLocks noChangeArrowheads="1"/>
          </p:cNvSpPr>
          <p:nvPr/>
        </p:nvSpPr>
        <p:spPr bwMode="auto">
          <a:xfrm>
            <a:off x="353921" y="3321436"/>
            <a:ext cx="2244699" cy="35539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 anchor="ctr"/>
          <a:lstStyle>
            <a:defPPr>
              <a:defRPr lang="en-US"/>
            </a:defPPr>
            <a:lvl1pPr algn="ctr">
              <a:buNone/>
              <a:defRPr sz="1400" b="1">
                <a:solidFill>
                  <a:srgbClr val="1947B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300" dirty="0"/>
              <a:t>Aerospace and Space</a:t>
            </a:r>
          </a:p>
        </p:txBody>
      </p:sp>
      <p:sp>
        <p:nvSpPr>
          <p:cNvPr id="11469837" name="Text Box 12"/>
          <p:cNvSpPr txBox="1">
            <a:spLocks noChangeArrowheads="1"/>
          </p:cNvSpPr>
          <p:nvPr/>
        </p:nvSpPr>
        <p:spPr bwMode="auto">
          <a:xfrm>
            <a:off x="2784604" y="3321436"/>
            <a:ext cx="2244699" cy="35539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 anchor="ctr"/>
          <a:lstStyle>
            <a:defPPr>
              <a:defRPr lang="en-US"/>
            </a:defPPr>
            <a:lvl1pPr>
              <a:buNone/>
              <a:defRPr sz="1300" b="1">
                <a:solidFill>
                  <a:srgbClr val="1947B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dirty="0"/>
              <a:t>Nuclear</a:t>
            </a:r>
          </a:p>
        </p:txBody>
      </p:sp>
      <p:sp>
        <p:nvSpPr>
          <p:cNvPr id="11469838" name="Text Box 13"/>
          <p:cNvSpPr txBox="1">
            <a:spLocks noChangeArrowheads="1"/>
          </p:cNvSpPr>
          <p:nvPr/>
        </p:nvSpPr>
        <p:spPr bwMode="auto">
          <a:xfrm>
            <a:off x="5123216" y="3326735"/>
            <a:ext cx="2244699" cy="35539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 anchor="ctr"/>
          <a:lstStyle>
            <a:defPPr>
              <a:defRPr lang="en-US"/>
            </a:defPPr>
            <a:lvl1pPr>
              <a:buNone/>
              <a:defRPr sz="1400" b="1">
                <a:solidFill>
                  <a:srgbClr val="1947B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300" dirty="0"/>
              <a:t>Health Sciences</a:t>
            </a:r>
          </a:p>
        </p:txBody>
      </p:sp>
      <p:sp>
        <p:nvSpPr>
          <p:cNvPr id="11469839" name="Text Box 14"/>
          <p:cNvSpPr txBox="1">
            <a:spLocks noChangeArrowheads="1"/>
          </p:cNvSpPr>
          <p:nvPr/>
        </p:nvSpPr>
        <p:spPr bwMode="auto">
          <a:xfrm>
            <a:off x="7465998" y="3326735"/>
            <a:ext cx="2244699" cy="35539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 anchor="ctr"/>
          <a:lstStyle>
            <a:defPPr>
              <a:defRPr lang="en-US"/>
            </a:defPPr>
            <a:lvl1pPr algn="ctr">
              <a:buNone/>
              <a:defRPr sz="1400" b="1">
                <a:solidFill>
                  <a:srgbClr val="1947B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1300" dirty="0"/>
              <a:t>Energy</a:t>
            </a:r>
          </a:p>
        </p:txBody>
      </p:sp>
      <p:sp>
        <p:nvSpPr>
          <p:cNvPr id="11469840" name="Text Box 15"/>
          <p:cNvSpPr txBox="1">
            <a:spLocks noChangeArrowheads="1"/>
          </p:cNvSpPr>
          <p:nvPr/>
        </p:nvSpPr>
        <p:spPr bwMode="auto">
          <a:xfrm>
            <a:off x="353921" y="3719220"/>
            <a:ext cx="2244699" cy="3125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>
            <a:spAutoFit/>
          </a:bodyPr>
          <a:lstStyle>
            <a:lvl1pPr marL="119063" indent="-1190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1400" dirty="0"/>
              <a:t>Aerospace research and invocation center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Khalifa University Space Technology and Innovation Center (KUSTIC)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 Space and Planetary Science Center (SPSC)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0070C0"/>
                </a:solidFill>
              </a:rPr>
              <a:t>BSc in Aerospace Engineering 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0070C0"/>
                </a:solidFill>
              </a:rPr>
              <a:t>MSc in Aerospace Engineering</a:t>
            </a:r>
          </a:p>
        </p:txBody>
      </p:sp>
      <p:sp>
        <p:nvSpPr>
          <p:cNvPr id="11469841" name="Text Box 16"/>
          <p:cNvSpPr txBox="1">
            <a:spLocks noChangeArrowheads="1"/>
          </p:cNvSpPr>
          <p:nvPr/>
        </p:nvSpPr>
        <p:spPr bwMode="auto">
          <a:xfrm>
            <a:off x="2784604" y="3719220"/>
            <a:ext cx="2244699" cy="1294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>
            <a:spAutoFit/>
          </a:bodyPr>
          <a:lstStyle>
            <a:lvl1pPr marL="119063" indent="-1190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Emirates Nuclear Technology Center (ENTC)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0070C0"/>
                </a:solidFill>
              </a:rPr>
              <a:t>MSc in Nuclear Engineering</a:t>
            </a:r>
          </a:p>
        </p:txBody>
      </p:sp>
      <p:sp>
        <p:nvSpPr>
          <p:cNvPr id="11469842" name="Text Box 17"/>
          <p:cNvSpPr txBox="1">
            <a:spLocks noChangeArrowheads="1"/>
          </p:cNvSpPr>
          <p:nvPr/>
        </p:nvSpPr>
        <p:spPr bwMode="auto">
          <a:xfrm>
            <a:off x="5122937" y="3719220"/>
            <a:ext cx="2334033" cy="247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4396" tIns="54286" rIns="104396" bIns="54286">
            <a:spAutoFit/>
          </a:bodyPr>
          <a:lstStyle>
            <a:lvl1pPr marL="119063" indent="-1190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 err="1"/>
              <a:t>Khalifa</a:t>
            </a:r>
            <a:r>
              <a:rPr lang="en-US" sz="1400" dirty="0"/>
              <a:t> University Center for Biotechnology (BTC)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Healthcare Engineering Innovation Center (HEIC)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70C0"/>
                </a:solidFill>
              </a:rPr>
              <a:t>BSc ]in Biomedical Engineering 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70C0"/>
                </a:solidFill>
              </a:rPr>
              <a:t>MSc in Biomedical Engineering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70C0"/>
                </a:solidFill>
              </a:rPr>
              <a:t>Medical Doctorate (MD)</a:t>
            </a:r>
          </a:p>
        </p:txBody>
      </p:sp>
      <p:sp>
        <p:nvSpPr>
          <p:cNvPr id="11469843" name="Text Box 18"/>
          <p:cNvSpPr txBox="1">
            <a:spLocks noChangeArrowheads="1"/>
          </p:cNvSpPr>
          <p:nvPr/>
        </p:nvSpPr>
        <p:spPr bwMode="auto">
          <a:xfrm>
            <a:off x="7367915" y="3719220"/>
            <a:ext cx="2344622" cy="269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4396" tIns="54286" rIns="104396" bIns="54286">
            <a:spAutoFit/>
          </a:bodyPr>
          <a:lstStyle>
            <a:lvl1pPr marL="119063" indent="-1190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Petroleum Institute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Research Center for Renewable Energy Mapping and Assessment (</a:t>
            </a:r>
            <a:r>
              <a:rPr lang="en-US" sz="1400" dirty="0" err="1"/>
              <a:t>ReCREMA</a:t>
            </a:r>
            <a:r>
              <a:rPr lang="en-US" sz="14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Advanced Power and Energy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Nuclear Technology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MSc in Renewable energy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75476" y="2618677"/>
            <a:ext cx="1064345" cy="574525"/>
            <a:chOff x="9966590" y="3620244"/>
            <a:chExt cx="1064345" cy="574525"/>
          </a:xfrm>
        </p:grpSpPr>
        <p:sp>
          <p:nvSpPr>
            <p:cNvPr id="11469848" name="Freeform 23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9966590" y="3620244"/>
              <a:ext cx="491660" cy="574525"/>
            </a:xfrm>
            <a:custGeom>
              <a:avLst/>
              <a:gdLst>
                <a:gd name="T0" fmla="*/ 177973474 w 131"/>
                <a:gd name="T1" fmla="*/ 188638056 h 153"/>
                <a:gd name="T2" fmla="*/ 209381310 w 131"/>
                <a:gd name="T3" fmla="*/ 0 h 153"/>
                <a:gd name="T4" fmla="*/ 198910953 w 131"/>
                <a:gd name="T5" fmla="*/ 20961223 h 153"/>
                <a:gd name="T6" fmla="*/ 146565638 w 131"/>
                <a:gd name="T7" fmla="*/ 167676839 h 153"/>
                <a:gd name="T8" fmla="*/ 0 w 131"/>
                <a:gd name="T9" fmla="*/ 251515283 h 153"/>
                <a:gd name="T10" fmla="*/ 177973474 w 131"/>
                <a:gd name="T11" fmla="*/ 188638056 h 153"/>
                <a:gd name="T12" fmla="*/ 293131276 w 131"/>
                <a:gd name="T13" fmla="*/ 314395697 h 153"/>
                <a:gd name="T14" fmla="*/ 397821905 w 131"/>
                <a:gd name="T15" fmla="*/ 52398200 h 153"/>
                <a:gd name="T16" fmla="*/ 355946948 w 131"/>
                <a:gd name="T17" fmla="*/ 52398200 h 153"/>
                <a:gd name="T18" fmla="*/ 261726675 w 131"/>
                <a:gd name="T19" fmla="*/ 282955490 h 153"/>
                <a:gd name="T20" fmla="*/ 10470360 w 131"/>
                <a:gd name="T21" fmla="*/ 398234091 h 153"/>
                <a:gd name="T22" fmla="*/ 31407849 w 131"/>
                <a:gd name="T23" fmla="*/ 429671162 h 153"/>
                <a:gd name="T24" fmla="*/ 544390829 w 131"/>
                <a:gd name="T25" fmla="*/ 20961223 h 153"/>
                <a:gd name="T26" fmla="*/ 408292262 w 131"/>
                <a:gd name="T27" fmla="*/ 377272874 h 153"/>
                <a:gd name="T28" fmla="*/ 31407849 w 131"/>
                <a:gd name="T29" fmla="*/ 544949763 h 153"/>
                <a:gd name="T30" fmla="*/ 10470360 w 131"/>
                <a:gd name="T31" fmla="*/ 565910980 h 153"/>
                <a:gd name="T32" fmla="*/ 418762620 w 131"/>
                <a:gd name="T33" fmla="*/ 419192071 h 153"/>
                <a:gd name="T34" fmla="*/ 565328308 w 131"/>
                <a:gd name="T35" fmla="*/ 41919210 h 153"/>
                <a:gd name="T36" fmla="*/ 1371442476 w 131"/>
                <a:gd name="T37" fmla="*/ 1226139345 h 153"/>
                <a:gd name="T38" fmla="*/ 1203939410 w 131"/>
                <a:gd name="T39" fmla="*/ 911743749 h 153"/>
                <a:gd name="T40" fmla="*/ 837522004 w 131"/>
                <a:gd name="T41" fmla="*/ 607830177 h 153"/>
                <a:gd name="T42" fmla="*/ 450167321 w 131"/>
                <a:gd name="T43" fmla="*/ 482072586 h 153"/>
                <a:gd name="T44" fmla="*/ 450167321 w 131"/>
                <a:gd name="T45" fmla="*/ 482072586 h 153"/>
                <a:gd name="T46" fmla="*/ 439700200 w 131"/>
                <a:gd name="T47" fmla="*/ 492551576 h 153"/>
                <a:gd name="T48" fmla="*/ 439700200 w 131"/>
                <a:gd name="T49" fmla="*/ 492551576 h 153"/>
                <a:gd name="T50" fmla="*/ 429229842 w 131"/>
                <a:gd name="T51" fmla="*/ 503030566 h 153"/>
                <a:gd name="T52" fmla="*/ 429229842 w 131"/>
                <a:gd name="T53" fmla="*/ 503030566 h 153"/>
                <a:gd name="T54" fmla="*/ 429229842 w 131"/>
                <a:gd name="T55" fmla="*/ 513509556 h 153"/>
                <a:gd name="T56" fmla="*/ 554857951 w 131"/>
                <a:gd name="T57" fmla="*/ 901264759 h 153"/>
                <a:gd name="T58" fmla="*/ 607203266 w 131"/>
                <a:gd name="T59" fmla="*/ 1362375926 h 153"/>
                <a:gd name="T60" fmla="*/ 607203266 w 131"/>
                <a:gd name="T61" fmla="*/ 1498612507 h 153"/>
                <a:gd name="T62" fmla="*/ 1371442476 w 131"/>
                <a:gd name="T63" fmla="*/ 1498612507 h 153"/>
                <a:gd name="T64" fmla="*/ 1371442476 w 131"/>
                <a:gd name="T65" fmla="*/ 1226139345 h 153"/>
                <a:gd name="T66" fmla="*/ 795647046 w 131"/>
                <a:gd name="T67" fmla="*/ 639270385 h 153"/>
                <a:gd name="T68" fmla="*/ 586265787 w 131"/>
                <a:gd name="T69" fmla="*/ 859345562 h 153"/>
                <a:gd name="T70" fmla="*/ 533920472 w 131"/>
                <a:gd name="T71" fmla="*/ 1236618335 h 153"/>
                <a:gd name="T72" fmla="*/ 617673623 w 131"/>
                <a:gd name="T73" fmla="*/ 1110860744 h 153"/>
                <a:gd name="T74" fmla="*/ 649078223 w 131"/>
                <a:gd name="T75" fmla="*/ 1131818724 h 153"/>
                <a:gd name="T76" fmla="*/ 596732908 w 131"/>
                <a:gd name="T77" fmla="*/ 922222739 h 153"/>
                <a:gd name="T78" fmla="*/ 858459685 w 131"/>
                <a:gd name="T79" fmla="*/ 660228364 h 153"/>
                <a:gd name="T80" fmla="*/ 1046903465 w 131"/>
                <a:gd name="T81" fmla="*/ 712626551 h 153"/>
                <a:gd name="T82" fmla="*/ 1057370587 w 131"/>
                <a:gd name="T83" fmla="*/ 670707354 h 153"/>
                <a:gd name="T84" fmla="*/ 1193469052 w 131"/>
                <a:gd name="T85" fmla="*/ 576389970 h 153"/>
                <a:gd name="T86" fmla="*/ 533920472 w 131"/>
                <a:gd name="T87" fmla="*/ 1236618335 h 153"/>
                <a:gd name="T88" fmla="*/ 1025965986 w 131"/>
                <a:gd name="T89" fmla="*/ 1121339734 h 153"/>
                <a:gd name="T90" fmla="*/ 1141123738 w 131"/>
                <a:gd name="T91" fmla="*/ 985103153 h 15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1"/>
                <a:gd name="T139" fmla="*/ 0 h 153"/>
                <a:gd name="T140" fmla="*/ 131 w 131"/>
                <a:gd name="T141" fmla="*/ 153 h 15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1" h="153">
                  <a:moveTo>
                    <a:pt x="17" y="18"/>
                  </a:moveTo>
                  <a:cubicBezTo>
                    <a:pt x="17" y="18"/>
                    <a:pt x="17" y="18"/>
                    <a:pt x="17" y="18"/>
                  </a:cubicBezTo>
                  <a:cubicBezTo>
                    <a:pt x="21" y="13"/>
                    <a:pt x="23" y="7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19" y="6"/>
                    <a:pt x="18" y="11"/>
                    <a:pt x="14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0" y="20"/>
                    <a:pt x="6" y="22"/>
                    <a:pt x="1" y="22"/>
                  </a:cubicBezTo>
                  <a:cubicBezTo>
                    <a:pt x="0" y="22"/>
                    <a:pt x="0" y="23"/>
                    <a:pt x="0" y="24"/>
                  </a:cubicBezTo>
                  <a:cubicBezTo>
                    <a:pt x="0" y="25"/>
                    <a:pt x="0" y="26"/>
                    <a:pt x="1" y="26"/>
                  </a:cubicBezTo>
                  <a:cubicBezTo>
                    <a:pt x="7" y="26"/>
                    <a:pt x="12" y="23"/>
                    <a:pt x="17" y="18"/>
                  </a:cubicBezTo>
                  <a:close/>
                  <a:moveTo>
                    <a:pt x="3" y="41"/>
                  </a:moveTo>
                  <a:cubicBezTo>
                    <a:pt x="12" y="41"/>
                    <a:pt x="21" y="37"/>
                    <a:pt x="28" y="30"/>
                  </a:cubicBezTo>
                  <a:cubicBezTo>
                    <a:pt x="28" y="29"/>
                    <a:pt x="29" y="29"/>
                    <a:pt x="29" y="28"/>
                  </a:cubicBezTo>
                  <a:cubicBezTo>
                    <a:pt x="35" y="22"/>
                    <a:pt x="38" y="13"/>
                    <a:pt x="38" y="5"/>
                  </a:cubicBezTo>
                  <a:cubicBezTo>
                    <a:pt x="38" y="4"/>
                    <a:pt x="37" y="3"/>
                    <a:pt x="36" y="3"/>
                  </a:cubicBezTo>
                  <a:cubicBezTo>
                    <a:pt x="35" y="3"/>
                    <a:pt x="34" y="4"/>
                    <a:pt x="34" y="5"/>
                  </a:cubicBezTo>
                  <a:cubicBezTo>
                    <a:pt x="35" y="12"/>
                    <a:pt x="32" y="20"/>
                    <a:pt x="26" y="26"/>
                  </a:cubicBezTo>
                  <a:cubicBezTo>
                    <a:pt x="26" y="27"/>
                    <a:pt x="26" y="27"/>
                    <a:pt x="25" y="27"/>
                  </a:cubicBezTo>
                  <a:cubicBezTo>
                    <a:pt x="19" y="34"/>
                    <a:pt x="11" y="37"/>
                    <a:pt x="3" y="37"/>
                  </a:cubicBezTo>
                  <a:cubicBezTo>
                    <a:pt x="2" y="37"/>
                    <a:pt x="2" y="37"/>
                    <a:pt x="1" y="38"/>
                  </a:cubicBezTo>
                  <a:cubicBezTo>
                    <a:pt x="1" y="38"/>
                    <a:pt x="1" y="38"/>
                    <a:pt x="1" y="39"/>
                  </a:cubicBezTo>
                  <a:cubicBezTo>
                    <a:pt x="1" y="40"/>
                    <a:pt x="2" y="41"/>
                    <a:pt x="3" y="41"/>
                  </a:cubicBezTo>
                  <a:close/>
                  <a:moveTo>
                    <a:pt x="54" y="4"/>
                  </a:moveTo>
                  <a:cubicBezTo>
                    <a:pt x="54" y="3"/>
                    <a:pt x="53" y="2"/>
                    <a:pt x="52" y="2"/>
                  </a:cubicBezTo>
                  <a:cubicBezTo>
                    <a:pt x="51" y="2"/>
                    <a:pt x="50" y="3"/>
                    <a:pt x="50" y="4"/>
                  </a:cubicBezTo>
                  <a:cubicBezTo>
                    <a:pt x="51" y="15"/>
                    <a:pt x="47" y="26"/>
                    <a:pt x="39" y="36"/>
                  </a:cubicBezTo>
                  <a:cubicBezTo>
                    <a:pt x="38" y="36"/>
                    <a:pt x="37" y="37"/>
                    <a:pt x="37" y="37"/>
                  </a:cubicBezTo>
                  <a:cubicBezTo>
                    <a:pt x="27" y="47"/>
                    <a:pt x="15" y="52"/>
                    <a:pt x="3" y="52"/>
                  </a:cubicBezTo>
                  <a:cubicBezTo>
                    <a:pt x="3" y="52"/>
                    <a:pt x="2" y="52"/>
                    <a:pt x="2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1" y="55"/>
                    <a:pt x="2" y="56"/>
                    <a:pt x="3" y="56"/>
                  </a:cubicBezTo>
                  <a:cubicBezTo>
                    <a:pt x="16" y="56"/>
                    <a:pt x="29" y="51"/>
                    <a:pt x="40" y="40"/>
                  </a:cubicBezTo>
                  <a:cubicBezTo>
                    <a:pt x="40" y="39"/>
                    <a:pt x="41" y="39"/>
                    <a:pt x="41" y="38"/>
                  </a:cubicBezTo>
                  <a:cubicBezTo>
                    <a:pt x="50" y="28"/>
                    <a:pt x="54" y="15"/>
                    <a:pt x="54" y="4"/>
                  </a:cubicBezTo>
                  <a:close/>
                  <a:moveTo>
                    <a:pt x="131" y="117"/>
                  </a:moveTo>
                  <a:cubicBezTo>
                    <a:pt x="131" y="117"/>
                    <a:pt x="131" y="117"/>
                    <a:pt x="131" y="117"/>
                  </a:cubicBezTo>
                  <a:cubicBezTo>
                    <a:pt x="131" y="113"/>
                    <a:pt x="124" y="110"/>
                    <a:pt x="115" y="108"/>
                  </a:cubicBezTo>
                  <a:cubicBezTo>
                    <a:pt x="115" y="87"/>
                    <a:pt x="115" y="87"/>
                    <a:pt x="115" y="87"/>
                  </a:cubicBezTo>
                  <a:cubicBezTo>
                    <a:pt x="126" y="70"/>
                    <a:pt x="130" y="55"/>
                    <a:pt x="123" y="48"/>
                  </a:cubicBezTo>
                  <a:cubicBezTo>
                    <a:pt x="115" y="40"/>
                    <a:pt x="98" y="45"/>
                    <a:pt x="80" y="58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3" y="46"/>
                    <a:pt x="43" y="46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3" y="46"/>
                    <a:pt x="42" y="46"/>
                    <a:pt x="42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8"/>
                    <a:pt x="41" y="4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53" y="86"/>
                    <a:pt x="53" y="86"/>
                    <a:pt x="53" y="86"/>
                  </a:cubicBezTo>
                  <a:cubicBezTo>
                    <a:pt x="40" y="103"/>
                    <a:pt x="36" y="120"/>
                    <a:pt x="43" y="127"/>
                  </a:cubicBezTo>
                  <a:cubicBezTo>
                    <a:pt x="47" y="130"/>
                    <a:pt x="52" y="131"/>
                    <a:pt x="58" y="130"/>
                  </a:cubicBezTo>
                  <a:cubicBezTo>
                    <a:pt x="58" y="143"/>
                    <a:pt x="58" y="143"/>
                    <a:pt x="58" y="143"/>
                  </a:cubicBezTo>
                  <a:cubicBezTo>
                    <a:pt x="58" y="143"/>
                    <a:pt x="58" y="143"/>
                    <a:pt x="58" y="143"/>
                  </a:cubicBezTo>
                  <a:cubicBezTo>
                    <a:pt x="58" y="148"/>
                    <a:pt x="75" y="153"/>
                    <a:pt x="95" y="153"/>
                  </a:cubicBezTo>
                  <a:cubicBezTo>
                    <a:pt x="115" y="153"/>
                    <a:pt x="131" y="148"/>
                    <a:pt x="131" y="143"/>
                  </a:cubicBezTo>
                  <a:cubicBezTo>
                    <a:pt x="131" y="142"/>
                    <a:pt x="131" y="142"/>
                    <a:pt x="131" y="142"/>
                  </a:cubicBezTo>
                  <a:lnTo>
                    <a:pt x="131" y="117"/>
                  </a:lnTo>
                  <a:close/>
                  <a:moveTo>
                    <a:pt x="46" y="51"/>
                  </a:moveTo>
                  <a:cubicBezTo>
                    <a:pt x="76" y="61"/>
                    <a:pt x="76" y="61"/>
                    <a:pt x="76" y="61"/>
                  </a:cubicBezTo>
                  <a:cubicBezTo>
                    <a:pt x="73" y="64"/>
                    <a:pt x="69" y="67"/>
                    <a:pt x="66" y="70"/>
                  </a:cubicBezTo>
                  <a:cubicBezTo>
                    <a:pt x="62" y="74"/>
                    <a:pt x="59" y="78"/>
                    <a:pt x="56" y="82"/>
                  </a:cubicBezTo>
                  <a:lnTo>
                    <a:pt x="46" y="51"/>
                  </a:lnTo>
                  <a:close/>
                  <a:moveTo>
                    <a:pt x="51" y="118"/>
                  </a:moveTo>
                  <a:cubicBezTo>
                    <a:pt x="46" y="113"/>
                    <a:pt x="48" y="104"/>
                    <a:pt x="55" y="93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7"/>
                    <a:pt x="60" y="108"/>
                    <a:pt x="61" y="108"/>
                  </a:cubicBezTo>
                  <a:cubicBezTo>
                    <a:pt x="61" y="108"/>
                    <a:pt x="61" y="108"/>
                    <a:pt x="62" y="108"/>
                  </a:cubicBezTo>
                  <a:cubicBezTo>
                    <a:pt x="63" y="107"/>
                    <a:pt x="63" y="106"/>
                    <a:pt x="63" y="105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61" y="83"/>
                    <a:pt x="65" y="79"/>
                    <a:pt x="69" y="74"/>
                  </a:cubicBezTo>
                  <a:cubicBezTo>
                    <a:pt x="74" y="70"/>
                    <a:pt x="78" y="66"/>
                    <a:pt x="82" y="63"/>
                  </a:cubicBezTo>
                  <a:cubicBezTo>
                    <a:pt x="100" y="68"/>
                    <a:pt x="100" y="68"/>
                    <a:pt x="100" y="68"/>
                  </a:cubicBezTo>
                  <a:cubicBezTo>
                    <a:pt x="100" y="68"/>
                    <a:pt x="100" y="68"/>
                    <a:pt x="100" y="68"/>
                  </a:cubicBezTo>
                  <a:cubicBezTo>
                    <a:pt x="101" y="68"/>
                    <a:pt x="102" y="68"/>
                    <a:pt x="102" y="67"/>
                  </a:cubicBezTo>
                  <a:cubicBezTo>
                    <a:pt x="103" y="66"/>
                    <a:pt x="102" y="65"/>
                    <a:pt x="101" y="64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8" y="53"/>
                    <a:pt x="109" y="50"/>
                    <a:pt x="114" y="55"/>
                  </a:cubicBezTo>
                  <a:cubicBezTo>
                    <a:pt x="121" y="62"/>
                    <a:pt x="112" y="82"/>
                    <a:pt x="95" y="99"/>
                  </a:cubicBezTo>
                  <a:cubicBezTo>
                    <a:pt x="78" y="117"/>
                    <a:pt x="58" y="125"/>
                    <a:pt x="51" y="118"/>
                  </a:cubicBezTo>
                  <a:close/>
                  <a:moveTo>
                    <a:pt x="109" y="107"/>
                  </a:moveTo>
                  <a:cubicBezTo>
                    <a:pt x="106" y="107"/>
                    <a:pt x="102" y="107"/>
                    <a:pt x="98" y="107"/>
                  </a:cubicBezTo>
                  <a:cubicBezTo>
                    <a:pt x="99" y="106"/>
                    <a:pt x="99" y="105"/>
                    <a:pt x="100" y="104"/>
                  </a:cubicBezTo>
                  <a:cubicBezTo>
                    <a:pt x="103" y="101"/>
                    <a:pt x="106" y="98"/>
                    <a:pt x="109" y="94"/>
                  </a:cubicBezTo>
                  <a:lnTo>
                    <a:pt x="109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endParaRPr lang="en-US" altLang="en-US" sz="1160"/>
            </a:p>
          </p:txBody>
        </p:sp>
        <p:sp>
          <p:nvSpPr>
            <p:cNvPr id="11469849" name="Freeform 2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0539274" y="3620244"/>
              <a:ext cx="491661" cy="574525"/>
            </a:xfrm>
            <a:custGeom>
              <a:avLst/>
              <a:gdLst>
                <a:gd name="T0" fmla="*/ 1371448947 w 131"/>
                <a:gd name="T1" fmla="*/ 251515283 h 153"/>
                <a:gd name="T2" fmla="*/ 1214412632 w 131"/>
                <a:gd name="T3" fmla="*/ 167676839 h 153"/>
                <a:gd name="T4" fmla="*/ 1172537576 w 131"/>
                <a:gd name="T5" fmla="*/ 20961223 h 153"/>
                <a:gd name="T6" fmla="*/ 1151596812 w 131"/>
                <a:gd name="T7" fmla="*/ 0 h 153"/>
                <a:gd name="T8" fmla="*/ 1183004722 w 131"/>
                <a:gd name="T9" fmla="*/ 188638056 h 153"/>
                <a:gd name="T10" fmla="*/ 1350511419 w 131"/>
                <a:gd name="T11" fmla="*/ 272476500 h 153"/>
                <a:gd name="T12" fmla="*/ 1350511419 w 131"/>
                <a:gd name="T13" fmla="*/ 398234091 h 153"/>
                <a:gd name="T14" fmla="*/ 1099251373 w 131"/>
                <a:gd name="T15" fmla="*/ 282955490 h 153"/>
                <a:gd name="T16" fmla="*/ 1005030879 w 131"/>
                <a:gd name="T17" fmla="*/ 52398200 h 153"/>
                <a:gd name="T18" fmla="*/ 973622969 w 131"/>
                <a:gd name="T19" fmla="*/ 52398200 h 153"/>
                <a:gd name="T20" fmla="*/ 1078313845 w 131"/>
                <a:gd name="T21" fmla="*/ 314395697 h 153"/>
                <a:gd name="T22" fmla="*/ 1350511419 w 131"/>
                <a:gd name="T23" fmla="*/ 408713081 h 153"/>
                <a:gd name="T24" fmla="*/ 952685440 w 131"/>
                <a:gd name="T25" fmla="*/ 419192071 h 153"/>
                <a:gd name="T26" fmla="*/ 1350511419 w 131"/>
                <a:gd name="T27" fmla="*/ 565910980 h 153"/>
                <a:gd name="T28" fmla="*/ 1329573890 w 131"/>
                <a:gd name="T29" fmla="*/ 544949763 h 153"/>
                <a:gd name="T30" fmla="*/ 963155822 w 131"/>
                <a:gd name="T31" fmla="*/ 377272874 h 153"/>
                <a:gd name="T32" fmla="*/ 816586451 w 131"/>
                <a:gd name="T33" fmla="*/ 20961223 h 153"/>
                <a:gd name="T34" fmla="*/ 931747912 w 131"/>
                <a:gd name="T35" fmla="*/ 398234091 h 153"/>
                <a:gd name="T36" fmla="*/ 0 w 131"/>
                <a:gd name="T37" fmla="*/ 1498612507 h 153"/>
                <a:gd name="T38" fmla="*/ 753773867 w 131"/>
                <a:gd name="T39" fmla="*/ 1498612507 h 153"/>
                <a:gd name="T40" fmla="*/ 753773867 w 131"/>
                <a:gd name="T41" fmla="*/ 1362375926 h 153"/>
                <a:gd name="T42" fmla="*/ 816586451 w 131"/>
                <a:gd name="T43" fmla="*/ 901264759 h 153"/>
                <a:gd name="T44" fmla="*/ 931747912 w 131"/>
                <a:gd name="T45" fmla="*/ 513509556 h 153"/>
                <a:gd name="T46" fmla="*/ 931747912 w 131"/>
                <a:gd name="T47" fmla="*/ 503030566 h 153"/>
                <a:gd name="T48" fmla="*/ 931747912 w 131"/>
                <a:gd name="T49" fmla="*/ 503030566 h 153"/>
                <a:gd name="T50" fmla="*/ 931747912 w 131"/>
                <a:gd name="T51" fmla="*/ 492551576 h 153"/>
                <a:gd name="T52" fmla="*/ 921277530 w 131"/>
                <a:gd name="T53" fmla="*/ 492551576 h 153"/>
                <a:gd name="T54" fmla="*/ 921277530 w 131"/>
                <a:gd name="T55" fmla="*/ 482072586 h 153"/>
                <a:gd name="T56" fmla="*/ 910810384 w 131"/>
                <a:gd name="T57" fmla="*/ 482072586 h 153"/>
                <a:gd name="T58" fmla="*/ 523454585 w 131"/>
                <a:gd name="T59" fmla="*/ 607830177 h 153"/>
                <a:gd name="T60" fmla="*/ 167506747 w 131"/>
                <a:gd name="T61" fmla="*/ 911743749 h 153"/>
                <a:gd name="T62" fmla="*/ 0 w 131"/>
                <a:gd name="T63" fmla="*/ 1226139345 h 153"/>
                <a:gd name="T64" fmla="*/ 0 w 131"/>
                <a:gd name="T65" fmla="*/ 1488133517 h 153"/>
                <a:gd name="T66" fmla="*/ 680490900 w 131"/>
                <a:gd name="T67" fmla="*/ 733587769 h 153"/>
                <a:gd name="T68" fmla="*/ 879402474 w 131"/>
                <a:gd name="T69" fmla="*/ 534470773 h 153"/>
                <a:gd name="T70" fmla="*/ 366418169 w 131"/>
                <a:gd name="T71" fmla="*/ 1037501340 h 153"/>
                <a:gd name="T72" fmla="*/ 460638765 w 131"/>
                <a:gd name="T73" fmla="*/ 628788157 h 153"/>
                <a:gd name="T74" fmla="*/ 293135203 w 131"/>
                <a:gd name="T75" fmla="*/ 702147561 h 153"/>
                <a:gd name="T76" fmla="*/ 324539877 w 131"/>
                <a:gd name="T77" fmla="*/ 712626551 h 153"/>
                <a:gd name="T78" fmla="*/ 638612608 w 131"/>
                <a:gd name="T79" fmla="*/ 775506966 h 153"/>
                <a:gd name="T80" fmla="*/ 711895575 w 131"/>
                <a:gd name="T81" fmla="*/ 1100381754 h 153"/>
                <a:gd name="T82" fmla="*/ 732836339 w 131"/>
                <a:gd name="T83" fmla="*/ 1131818724 h 153"/>
                <a:gd name="T84" fmla="*/ 795648923 w 131"/>
                <a:gd name="T85" fmla="*/ 974624163 h 153"/>
                <a:gd name="T86" fmla="*/ 366418169 w 131"/>
                <a:gd name="T87" fmla="*/ 1037501340 h 153"/>
                <a:gd name="T88" fmla="*/ 314072731 w 131"/>
                <a:gd name="T89" fmla="*/ 1089899527 h 153"/>
                <a:gd name="T90" fmla="*/ 219849001 w 131"/>
                <a:gd name="T91" fmla="*/ 1121339734 h 15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1"/>
                <a:gd name="T139" fmla="*/ 0 h 153"/>
                <a:gd name="T140" fmla="*/ 131 w 131"/>
                <a:gd name="T141" fmla="*/ 153 h 15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1" h="153">
                  <a:moveTo>
                    <a:pt x="129" y="26"/>
                  </a:moveTo>
                  <a:cubicBezTo>
                    <a:pt x="130" y="26"/>
                    <a:pt x="131" y="25"/>
                    <a:pt x="131" y="24"/>
                  </a:cubicBezTo>
                  <a:cubicBezTo>
                    <a:pt x="131" y="23"/>
                    <a:pt x="130" y="22"/>
                    <a:pt x="129" y="22"/>
                  </a:cubicBezTo>
                  <a:cubicBezTo>
                    <a:pt x="125" y="22"/>
                    <a:pt x="120" y="20"/>
                    <a:pt x="116" y="16"/>
                  </a:cubicBezTo>
                  <a:cubicBezTo>
                    <a:pt x="116" y="16"/>
                    <a:pt x="116" y="16"/>
                    <a:pt x="116" y="15"/>
                  </a:cubicBezTo>
                  <a:cubicBezTo>
                    <a:pt x="113" y="11"/>
                    <a:pt x="111" y="6"/>
                    <a:pt x="112" y="2"/>
                  </a:cubicBezTo>
                  <a:cubicBezTo>
                    <a:pt x="112" y="1"/>
                    <a:pt x="112" y="1"/>
                    <a:pt x="111" y="0"/>
                  </a:cubicBezTo>
                  <a:cubicBezTo>
                    <a:pt x="111" y="0"/>
                    <a:pt x="111" y="0"/>
                    <a:pt x="110" y="0"/>
                  </a:cubicBezTo>
                  <a:cubicBezTo>
                    <a:pt x="109" y="0"/>
                    <a:pt x="108" y="0"/>
                    <a:pt x="108" y="1"/>
                  </a:cubicBezTo>
                  <a:cubicBezTo>
                    <a:pt x="108" y="7"/>
                    <a:pt x="109" y="13"/>
                    <a:pt x="113" y="18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8" y="23"/>
                    <a:pt x="124" y="26"/>
                    <a:pt x="129" y="26"/>
                  </a:cubicBezTo>
                  <a:close/>
                  <a:moveTo>
                    <a:pt x="129" y="39"/>
                  </a:moveTo>
                  <a:cubicBezTo>
                    <a:pt x="129" y="38"/>
                    <a:pt x="129" y="38"/>
                    <a:pt x="129" y="38"/>
                  </a:cubicBezTo>
                  <a:cubicBezTo>
                    <a:pt x="129" y="37"/>
                    <a:pt x="128" y="37"/>
                    <a:pt x="128" y="37"/>
                  </a:cubicBezTo>
                  <a:cubicBezTo>
                    <a:pt x="120" y="37"/>
                    <a:pt x="112" y="34"/>
                    <a:pt x="105" y="27"/>
                  </a:cubicBezTo>
                  <a:cubicBezTo>
                    <a:pt x="105" y="27"/>
                    <a:pt x="104" y="27"/>
                    <a:pt x="104" y="26"/>
                  </a:cubicBezTo>
                  <a:cubicBezTo>
                    <a:pt x="99" y="20"/>
                    <a:pt x="96" y="12"/>
                    <a:pt x="96" y="5"/>
                  </a:cubicBezTo>
                  <a:cubicBezTo>
                    <a:pt x="96" y="4"/>
                    <a:pt x="95" y="3"/>
                    <a:pt x="94" y="3"/>
                  </a:cubicBezTo>
                  <a:cubicBezTo>
                    <a:pt x="94" y="3"/>
                    <a:pt x="93" y="4"/>
                    <a:pt x="93" y="5"/>
                  </a:cubicBezTo>
                  <a:cubicBezTo>
                    <a:pt x="92" y="13"/>
                    <a:pt x="95" y="22"/>
                    <a:pt x="101" y="28"/>
                  </a:cubicBezTo>
                  <a:cubicBezTo>
                    <a:pt x="102" y="29"/>
                    <a:pt x="102" y="29"/>
                    <a:pt x="103" y="30"/>
                  </a:cubicBezTo>
                  <a:cubicBezTo>
                    <a:pt x="110" y="37"/>
                    <a:pt x="119" y="41"/>
                    <a:pt x="128" y="41"/>
                  </a:cubicBezTo>
                  <a:cubicBezTo>
                    <a:pt x="129" y="41"/>
                    <a:pt x="129" y="40"/>
                    <a:pt x="129" y="39"/>
                  </a:cubicBezTo>
                  <a:close/>
                  <a:moveTo>
                    <a:pt x="89" y="38"/>
                  </a:moveTo>
                  <a:cubicBezTo>
                    <a:pt x="90" y="39"/>
                    <a:pt x="90" y="39"/>
                    <a:pt x="91" y="40"/>
                  </a:cubicBezTo>
                  <a:cubicBezTo>
                    <a:pt x="101" y="51"/>
                    <a:pt x="115" y="56"/>
                    <a:pt x="127" y="56"/>
                  </a:cubicBezTo>
                  <a:cubicBezTo>
                    <a:pt x="128" y="56"/>
                    <a:pt x="129" y="55"/>
                    <a:pt x="129" y="54"/>
                  </a:cubicBezTo>
                  <a:cubicBezTo>
                    <a:pt x="129" y="53"/>
                    <a:pt x="129" y="53"/>
                    <a:pt x="129" y="53"/>
                  </a:cubicBezTo>
                  <a:cubicBezTo>
                    <a:pt x="128" y="52"/>
                    <a:pt x="128" y="52"/>
                    <a:pt x="127" y="52"/>
                  </a:cubicBezTo>
                  <a:cubicBezTo>
                    <a:pt x="116" y="52"/>
                    <a:pt x="103" y="47"/>
                    <a:pt x="93" y="37"/>
                  </a:cubicBezTo>
                  <a:cubicBezTo>
                    <a:pt x="93" y="37"/>
                    <a:pt x="92" y="36"/>
                    <a:pt x="92" y="36"/>
                  </a:cubicBezTo>
                  <a:cubicBezTo>
                    <a:pt x="84" y="26"/>
                    <a:pt x="80" y="15"/>
                    <a:pt x="80" y="4"/>
                  </a:cubicBezTo>
                  <a:cubicBezTo>
                    <a:pt x="80" y="3"/>
                    <a:pt x="79" y="2"/>
                    <a:pt x="78" y="2"/>
                  </a:cubicBezTo>
                  <a:cubicBezTo>
                    <a:pt x="77" y="2"/>
                    <a:pt x="77" y="3"/>
                    <a:pt x="77" y="4"/>
                  </a:cubicBezTo>
                  <a:cubicBezTo>
                    <a:pt x="76" y="15"/>
                    <a:pt x="80" y="28"/>
                    <a:pt x="89" y="38"/>
                  </a:cubicBezTo>
                  <a:close/>
                  <a:moveTo>
                    <a:pt x="0" y="142"/>
                  </a:moveTo>
                  <a:cubicBezTo>
                    <a:pt x="0" y="142"/>
                    <a:pt x="0" y="142"/>
                    <a:pt x="0" y="143"/>
                  </a:cubicBezTo>
                  <a:cubicBezTo>
                    <a:pt x="0" y="148"/>
                    <a:pt x="16" y="153"/>
                    <a:pt x="36" y="153"/>
                  </a:cubicBezTo>
                  <a:cubicBezTo>
                    <a:pt x="56" y="153"/>
                    <a:pt x="72" y="148"/>
                    <a:pt x="72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2" y="130"/>
                    <a:pt x="72" y="130"/>
                    <a:pt x="72" y="130"/>
                  </a:cubicBezTo>
                  <a:cubicBezTo>
                    <a:pt x="78" y="131"/>
                    <a:pt x="84" y="130"/>
                    <a:pt x="87" y="127"/>
                  </a:cubicBezTo>
                  <a:cubicBezTo>
                    <a:pt x="94" y="120"/>
                    <a:pt x="90" y="103"/>
                    <a:pt x="78" y="86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9" y="49"/>
                    <a:pt x="89" y="49"/>
                    <a:pt x="89" y="48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89" y="48"/>
                    <a:pt x="89" y="47"/>
                    <a:pt x="89" y="47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8" y="46"/>
                    <a:pt x="88" y="46"/>
                    <a:pt x="87" y="46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33" y="45"/>
                    <a:pt x="15" y="40"/>
                    <a:pt x="8" y="48"/>
                  </a:cubicBezTo>
                  <a:cubicBezTo>
                    <a:pt x="1" y="55"/>
                    <a:pt x="4" y="70"/>
                    <a:pt x="16" y="87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6" y="110"/>
                    <a:pt x="0" y="113"/>
                    <a:pt x="0" y="117"/>
                  </a:cubicBezTo>
                  <a:cubicBezTo>
                    <a:pt x="0" y="117"/>
                    <a:pt x="0" y="117"/>
                    <a:pt x="0" y="117"/>
                  </a:cubicBezTo>
                  <a:lnTo>
                    <a:pt x="0" y="142"/>
                  </a:lnTo>
                  <a:close/>
                  <a:moveTo>
                    <a:pt x="75" y="82"/>
                  </a:moveTo>
                  <a:cubicBezTo>
                    <a:pt x="72" y="78"/>
                    <a:pt x="68" y="74"/>
                    <a:pt x="65" y="70"/>
                  </a:cubicBezTo>
                  <a:cubicBezTo>
                    <a:pt x="61" y="67"/>
                    <a:pt x="58" y="64"/>
                    <a:pt x="54" y="61"/>
                  </a:cubicBezTo>
                  <a:cubicBezTo>
                    <a:pt x="84" y="51"/>
                    <a:pt x="84" y="51"/>
                    <a:pt x="84" y="51"/>
                  </a:cubicBezTo>
                  <a:lnTo>
                    <a:pt x="75" y="82"/>
                  </a:lnTo>
                  <a:close/>
                  <a:moveTo>
                    <a:pt x="35" y="99"/>
                  </a:moveTo>
                  <a:cubicBezTo>
                    <a:pt x="18" y="82"/>
                    <a:pt x="10" y="62"/>
                    <a:pt x="17" y="55"/>
                  </a:cubicBezTo>
                  <a:cubicBezTo>
                    <a:pt x="22" y="50"/>
                    <a:pt x="32" y="53"/>
                    <a:pt x="44" y="60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8" y="65"/>
                    <a:pt x="28" y="66"/>
                    <a:pt x="28" y="67"/>
                  </a:cubicBezTo>
                  <a:cubicBezTo>
                    <a:pt x="28" y="68"/>
                    <a:pt x="29" y="68"/>
                    <a:pt x="30" y="68"/>
                  </a:cubicBezTo>
                  <a:cubicBezTo>
                    <a:pt x="30" y="68"/>
                    <a:pt x="30" y="68"/>
                    <a:pt x="31" y="68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52" y="66"/>
                    <a:pt x="57" y="70"/>
                    <a:pt x="61" y="74"/>
                  </a:cubicBezTo>
                  <a:cubicBezTo>
                    <a:pt x="66" y="79"/>
                    <a:pt x="70" y="83"/>
                    <a:pt x="73" y="88"/>
                  </a:cubicBezTo>
                  <a:cubicBezTo>
                    <a:pt x="68" y="105"/>
                    <a:pt x="68" y="105"/>
                    <a:pt x="68" y="105"/>
                  </a:cubicBezTo>
                  <a:cubicBezTo>
                    <a:pt x="67" y="106"/>
                    <a:pt x="68" y="107"/>
                    <a:pt x="69" y="108"/>
                  </a:cubicBezTo>
                  <a:cubicBezTo>
                    <a:pt x="69" y="108"/>
                    <a:pt x="69" y="108"/>
                    <a:pt x="70" y="108"/>
                  </a:cubicBezTo>
                  <a:cubicBezTo>
                    <a:pt x="70" y="108"/>
                    <a:pt x="71" y="107"/>
                    <a:pt x="71" y="106"/>
                  </a:cubicBezTo>
                  <a:cubicBezTo>
                    <a:pt x="76" y="93"/>
                    <a:pt x="76" y="93"/>
                    <a:pt x="76" y="93"/>
                  </a:cubicBezTo>
                  <a:cubicBezTo>
                    <a:pt x="82" y="104"/>
                    <a:pt x="84" y="113"/>
                    <a:pt x="80" y="118"/>
                  </a:cubicBezTo>
                  <a:cubicBezTo>
                    <a:pt x="73" y="125"/>
                    <a:pt x="53" y="117"/>
                    <a:pt x="35" y="99"/>
                  </a:cubicBezTo>
                  <a:close/>
                  <a:moveTo>
                    <a:pt x="21" y="94"/>
                  </a:moveTo>
                  <a:cubicBezTo>
                    <a:pt x="24" y="98"/>
                    <a:pt x="27" y="101"/>
                    <a:pt x="30" y="104"/>
                  </a:cubicBezTo>
                  <a:cubicBezTo>
                    <a:pt x="31" y="105"/>
                    <a:pt x="32" y="106"/>
                    <a:pt x="32" y="107"/>
                  </a:cubicBezTo>
                  <a:cubicBezTo>
                    <a:pt x="29" y="107"/>
                    <a:pt x="25" y="107"/>
                    <a:pt x="21" y="10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endParaRPr lang="en-US" altLang="en-US" sz="1160"/>
            </a:p>
          </p:txBody>
        </p:sp>
      </p:grpSp>
      <p:sp>
        <p:nvSpPr>
          <p:cNvPr id="31" name="AutoShape 3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370672" y="6944193"/>
            <a:ext cx="11783288" cy="37276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lIns="104396" tIns="54286" rIns="104396" bIns="54286" anchor="ctr"/>
          <a:lstStyle>
            <a:lvl1pPr marL="166688" indent="-1666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>
              <a:buFont typeface="Wingdings" panose="05000000000000000000" pitchFamily="2" charset="2"/>
              <a:buNone/>
            </a:pPr>
            <a:r>
              <a:rPr lang="en-US" altLang="en-US" sz="2320" dirty="0"/>
              <a:t>Government and Industry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9891698" y="3309395"/>
            <a:ext cx="2244699" cy="35539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300" b="1" dirty="0">
                <a:solidFill>
                  <a:srgbClr val="1947BA"/>
                </a:solidFill>
              </a:rPr>
              <a:t>Water And Environment</a:t>
            </a: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9806451" y="3719220"/>
            <a:ext cx="2244698" cy="204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>
            <a:spAutoFit/>
          </a:bodyPr>
          <a:lstStyle>
            <a:lvl1pPr marL="119063" indent="-1190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Center for Membranes &amp; Advanced Water Technology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Research and Innovation Center on CO2 and Hydrogen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MSc in Water and Environmental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16337" y="1131734"/>
            <a:ext cx="685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of KU Strengths in Research &amp; Academia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2526994" y="6575736"/>
            <a:ext cx="7470644" cy="23653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2526994" y="2130368"/>
            <a:ext cx="7470644" cy="23653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" descr="C:\Users\3apkreno\Downloads\streamline-icon-hospital-sign-circle@140x140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655389"/>
            <a:ext cx="532393" cy="501100"/>
          </a:xfrm>
          <a:prstGeom prst="rect">
            <a:avLst/>
          </a:prstGeom>
          <a:noFill/>
          <a:ln w="3175"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638" y="302197"/>
            <a:ext cx="2323548" cy="506375"/>
          </a:xfrm>
          <a:prstGeom prst="rect">
            <a:avLst/>
          </a:prstGeom>
        </p:spPr>
      </p:pic>
      <p:sp>
        <p:nvSpPr>
          <p:cNvPr id="41" name="Freeform 40">
            <a:extLst>
              <a:ext uri="{FF2B5EF4-FFF2-40B4-BE49-F238E27FC236}">
                <a16:creationId xmlns:a16="http://schemas.microsoft.com/office/drawing/2014/main" id="{561F46B8-A7A0-6743-A588-7B8150664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926" y="2621293"/>
            <a:ext cx="556155" cy="569292"/>
          </a:xfrm>
          <a:custGeom>
            <a:avLst/>
            <a:gdLst>
              <a:gd name="connsiteX0" fmla="*/ 262794 w 598738"/>
              <a:gd name="connsiteY0" fmla="*/ 389452 h 599219"/>
              <a:gd name="connsiteX1" fmla="*/ 219469 w 598738"/>
              <a:gd name="connsiteY1" fmla="*/ 464859 h 599219"/>
              <a:gd name="connsiteX2" fmla="*/ 380856 w 598738"/>
              <a:gd name="connsiteY2" fmla="*/ 464859 h 599219"/>
              <a:gd name="connsiteX3" fmla="*/ 337170 w 598738"/>
              <a:gd name="connsiteY3" fmla="*/ 389452 h 599219"/>
              <a:gd name="connsiteX4" fmla="*/ 262794 w 598738"/>
              <a:gd name="connsiteY4" fmla="*/ 389452 h 599219"/>
              <a:gd name="connsiteX5" fmla="*/ 257018 w 598738"/>
              <a:gd name="connsiteY5" fmla="*/ 368526 h 599219"/>
              <a:gd name="connsiteX6" fmla="*/ 263878 w 598738"/>
              <a:gd name="connsiteY6" fmla="*/ 369608 h 599219"/>
              <a:gd name="connsiteX7" fmla="*/ 336448 w 598738"/>
              <a:gd name="connsiteY7" fmla="*/ 369608 h 599219"/>
              <a:gd name="connsiteX8" fmla="*/ 343308 w 598738"/>
              <a:gd name="connsiteY8" fmla="*/ 368526 h 599219"/>
              <a:gd name="connsiteX9" fmla="*/ 348723 w 598738"/>
              <a:gd name="connsiteY9" fmla="*/ 372855 h 599219"/>
              <a:gd name="connsiteX10" fmla="*/ 401436 w 598738"/>
              <a:gd name="connsiteY10" fmla="*/ 463776 h 599219"/>
              <a:gd name="connsiteX11" fmla="*/ 397825 w 598738"/>
              <a:gd name="connsiteY11" fmla="*/ 476043 h 599219"/>
              <a:gd name="connsiteX12" fmla="*/ 299982 w 598738"/>
              <a:gd name="connsiteY12" fmla="*/ 502381 h 599219"/>
              <a:gd name="connsiteX13" fmla="*/ 202139 w 598738"/>
              <a:gd name="connsiteY13" fmla="*/ 476043 h 599219"/>
              <a:gd name="connsiteX14" fmla="*/ 198889 w 598738"/>
              <a:gd name="connsiteY14" fmla="*/ 463776 h 599219"/>
              <a:gd name="connsiteX15" fmla="*/ 251241 w 598738"/>
              <a:gd name="connsiteY15" fmla="*/ 372855 h 599219"/>
              <a:gd name="connsiteX16" fmla="*/ 257018 w 598738"/>
              <a:gd name="connsiteY16" fmla="*/ 368526 h 599219"/>
              <a:gd name="connsiteX17" fmla="*/ 300775 w 598738"/>
              <a:gd name="connsiteY17" fmla="*/ 284669 h 599219"/>
              <a:gd name="connsiteX18" fmla="*/ 277965 w 598738"/>
              <a:gd name="connsiteY18" fmla="*/ 307479 h 599219"/>
              <a:gd name="connsiteX19" fmla="*/ 300775 w 598738"/>
              <a:gd name="connsiteY19" fmla="*/ 330289 h 599219"/>
              <a:gd name="connsiteX20" fmla="*/ 323585 w 598738"/>
              <a:gd name="connsiteY20" fmla="*/ 307479 h 599219"/>
              <a:gd name="connsiteX21" fmla="*/ 300775 w 598738"/>
              <a:gd name="connsiteY21" fmla="*/ 284669 h 599219"/>
              <a:gd name="connsiteX22" fmla="*/ 300775 w 598738"/>
              <a:gd name="connsiteY22" fmla="*/ 266204 h 599219"/>
              <a:gd name="connsiteX23" fmla="*/ 342050 w 598738"/>
              <a:gd name="connsiteY23" fmla="*/ 307479 h 599219"/>
              <a:gd name="connsiteX24" fmla="*/ 300775 w 598738"/>
              <a:gd name="connsiteY24" fmla="*/ 348392 h 599219"/>
              <a:gd name="connsiteX25" fmla="*/ 259862 w 598738"/>
              <a:gd name="connsiteY25" fmla="*/ 307479 h 599219"/>
              <a:gd name="connsiteX26" fmla="*/ 300775 w 598738"/>
              <a:gd name="connsiteY26" fmla="*/ 266204 h 599219"/>
              <a:gd name="connsiteX27" fmla="*/ 397123 w 598738"/>
              <a:gd name="connsiteY27" fmla="*/ 157915 h 599219"/>
              <a:gd name="connsiteX28" fmla="*/ 353600 w 598738"/>
              <a:gd name="connsiteY28" fmla="*/ 232899 h 599219"/>
              <a:gd name="connsiteX29" fmla="*/ 391008 w 598738"/>
              <a:gd name="connsiteY29" fmla="*/ 297120 h 599219"/>
              <a:gd name="connsiteX30" fmla="*/ 477695 w 598738"/>
              <a:gd name="connsiteY30" fmla="*/ 297120 h 599219"/>
              <a:gd name="connsiteX31" fmla="*/ 397123 w 598738"/>
              <a:gd name="connsiteY31" fmla="*/ 157915 h 599219"/>
              <a:gd name="connsiteX32" fmla="*/ 204646 w 598738"/>
              <a:gd name="connsiteY32" fmla="*/ 157915 h 599219"/>
              <a:gd name="connsiteX33" fmla="*/ 124259 w 598738"/>
              <a:gd name="connsiteY33" fmla="*/ 297120 h 599219"/>
              <a:gd name="connsiteX34" fmla="*/ 210774 w 598738"/>
              <a:gd name="connsiteY34" fmla="*/ 297120 h 599219"/>
              <a:gd name="connsiteX35" fmla="*/ 248264 w 598738"/>
              <a:gd name="connsiteY35" fmla="*/ 232899 h 599219"/>
              <a:gd name="connsiteX36" fmla="*/ 391368 w 598738"/>
              <a:gd name="connsiteY36" fmla="*/ 136747 h 599219"/>
              <a:gd name="connsiteX37" fmla="*/ 398202 w 598738"/>
              <a:gd name="connsiteY37" fmla="*/ 137464 h 599219"/>
              <a:gd name="connsiteX38" fmla="*/ 496039 w 598738"/>
              <a:gd name="connsiteY38" fmla="*/ 306089 h 599219"/>
              <a:gd name="connsiteX39" fmla="*/ 486687 w 598738"/>
              <a:gd name="connsiteY39" fmla="*/ 315058 h 599219"/>
              <a:gd name="connsiteX40" fmla="*/ 382376 w 598738"/>
              <a:gd name="connsiteY40" fmla="*/ 315058 h 599219"/>
              <a:gd name="connsiteX41" fmla="*/ 373024 w 598738"/>
              <a:gd name="connsiteY41" fmla="*/ 306089 h 599219"/>
              <a:gd name="connsiteX42" fmla="*/ 337054 w 598738"/>
              <a:gd name="connsiteY42" fmla="*/ 243662 h 599219"/>
              <a:gd name="connsiteX43" fmla="*/ 333457 w 598738"/>
              <a:gd name="connsiteY43" fmla="*/ 231105 h 599219"/>
              <a:gd name="connsiteX44" fmla="*/ 385973 w 598738"/>
              <a:gd name="connsiteY44" fmla="*/ 140693 h 599219"/>
              <a:gd name="connsiteX45" fmla="*/ 391368 w 598738"/>
              <a:gd name="connsiteY45" fmla="*/ 136747 h 599219"/>
              <a:gd name="connsiteX46" fmla="*/ 210413 w 598738"/>
              <a:gd name="connsiteY46" fmla="*/ 136747 h 599219"/>
              <a:gd name="connsiteX47" fmla="*/ 215821 w 598738"/>
              <a:gd name="connsiteY47" fmla="*/ 140693 h 599219"/>
              <a:gd name="connsiteX48" fmla="*/ 268090 w 598738"/>
              <a:gd name="connsiteY48" fmla="*/ 231105 h 599219"/>
              <a:gd name="connsiteX49" fmla="*/ 264846 w 598738"/>
              <a:gd name="connsiteY49" fmla="*/ 243662 h 599219"/>
              <a:gd name="connsiteX50" fmla="*/ 228798 w 598738"/>
              <a:gd name="connsiteY50" fmla="*/ 306089 h 599219"/>
              <a:gd name="connsiteX51" fmla="*/ 219425 w 598738"/>
              <a:gd name="connsiteY51" fmla="*/ 315058 h 599219"/>
              <a:gd name="connsiteX52" fmla="*/ 114886 w 598738"/>
              <a:gd name="connsiteY52" fmla="*/ 315058 h 599219"/>
              <a:gd name="connsiteX53" fmla="*/ 105874 w 598738"/>
              <a:gd name="connsiteY53" fmla="*/ 306089 h 599219"/>
              <a:gd name="connsiteX54" fmla="*/ 203204 w 598738"/>
              <a:gd name="connsiteY54" fmla="*/ 137464 h 599219"/>
              <a:gd name="connsiteX55" fmla="*/ 210413 w 598738"/>
              <a:gd name="connsiteY55" fmla="*/ 136747 h 599219"/>
              <a:gd name="connsiteX56" fmla="*/ 299189 w 598738"/>
              <a:gd name="connsiteY56" fmla="*/ 18267 h 599219"/>
              <a:gd name="connsiteX57" fmla="*/ 228326 w 598738"/>
              <a:gd name="connsiteY57" fmla="*/ 47423 h 599219"/>
              <a:gd name="connsiteX58" fmla="*/ 47391 w 598738"/>
              <a:gd name="connsiteY58" fmla="*/ 228476 h 599219"/>
              <a:gd name="connsiteX59" fmla="*/ 47391 w 598738"/>
              <a:gd name="connsiteY59" fmla="*/ 370654 h 599219"/>
              <a:gd name="connsiteX60" fmla="*/ 228326 w 598738"/>
              <a:gd name="connsiteY60" fmla="*/ 551347 h 599219"/>
              <a:gd name="connsiteX61" fmla="*/ 370412 w 598738"/>
              <a:gd name="connsiteY61" fmla="*/ 551347 h 599219"/>
              <a:gd name="connsiteX62" fmla="*/ 550987 w 598738"/>
              <a:gd name="connsiteY62" fmla="*/ 370654 h 599219"/>
              <a:gd name="connsiteX63" fmla="*/ 550987 w 598738"/>
              <a:gd name="connsiteY63" fmla="*/ 228476 h 599219"/>
              <a:gd name="connsiteX64" fmla="*/ 370412 w 598738"/>
              <a:gd name="connsiteY64" fmla="*/ 47423 h 599219"/>
              <a:gd name="connsiteX65" fmla="*/ 299189 w 598738"/>
              <a:gd name="connsiteY65" fmla="*/ 18267 h 599219"/>
              <a:gd name="connsiteX66" fmla="*/ 299369 w 598738"/>
              <a:gd name="connsiteY66" fmla="*/ 0 h 599219"/>
              <a:gd name="connsiteX67" fmla="*/ 383362 w 598738"/>
              <a:gd name="connsiteY67" fmla="*/ 34825 h 599219"/>
              <a:gd name="connsiteX68" fmla="*/ 563937 w 598738"/>
              <a:gd name="connsiteY68" fmla="*/ 215518 h 599219"/>
              <a:gd name="connsiteX69" fmla="*/ 563937 w 598738"/>
              <a:gd name="connsiteY69" fmla="*/ 383252 h 599219"/>
              <a:gd name="connsiteX70" fmla="*/ 383362 w 598738"/>
              <a:gd name="connsiteY70" fmla="*/ 564305 h 599219"/>
              <a:gd name="connsiteX71" fmla="*/ 299189 w 598738"/>
              <a:gd name="connsiteY71" fmla="*/ 599219 h 599219"/>
              <a:gd name="connsiteX72" fmla="*/ 215377 w 598738"/>
              <a:gd name="connsiteY72" fmla="*/ 564305 h 599219"/>
              <a:gd name="connsiteX73" fmla="*/ 34802 w 598738"/>
              <a:gd name="connsiteY73" fmla="*/ 383252 h 599219"/>
              <a:gd name="connsiteX74" fmla="*/ 34802 w 598738"/>
              <a:gd name="connsiteY74" fmla="*/ 215518 h 599219"/>
              <a:gd name="connsiteX75" fmla="*/ 215377 w 598738"/>
              <a:gd name="connsiteY75" fmla="*/ 34825 h 599219"/>
              <a:gd name="connsiteX76" fmla="*/ 299369 w 598738"/>
              <a:gd name="connsiteY76" fmla="*/ 0 h 59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598738" h="599219">
                <a:moveTo>
                  <a:pt x="262794" y="389452"/>
                </a:moveTo>
                <a:lnTo>
                  <a:pt x="219469" y="464859"/>
                </a:lnTo>
                <a:cubicBezTo>
                  <a:pt x="269293" y="490114"/>
                  <a:pt x="331032" y="490114"/>
                  <a:pt x="380856" y="464859"/>
                </a:cubicBezTo>
                <a:lnTo>
                  <a:pt x="337170" y="389452"/>
                </a:lnTo>
                <a:cubicBezTo>
                  <a:pt x="314063" y="399915"/>
                  <a:pt x="286262" y="399915"/>
                  <a:pt x="262794" y="389452"/>
                </a:cubicBezTo>
                <a:close/>
                <a:moveTo>
                  <a:pt x="257018" y="368526"/>
                </a:moveTo>
                <a:cubicBezTo>
                  <a:pt x="259184" y="367804"/>
                  <a:pt x="261711" y="368165"/>
                  <a:pt x="263878" y="369608"/>
                </a:cubicBezTo>
                <a:cubicBezTo>
                  <a:pt x="285901" y="382236"/>
                  <a:pt x="314063" y="382236"/>
                  <a:pt x="336448" y="369608"/>
                </a:cubicBezTo>
                <a:cubicBezTo>
                  <a:pt x="338253" y="368165"/>
                  <a:pt x="340780" y="367804"/>
                  <a:pt x="343308" y="368526"/>
                </a:cubicBezTo>
                <a:cubicBezTo>
                  <a:pt x="345474" y="369247"/>
                  <a:pt x="347640" y="370691"/>
                  <a:pt x="348723" y="372855"/>
                </a:cubicBezTo>
                <a:lnTo>
                  <a:pt x="401436" y="463776"/>
                </a:lnTo>
                <a:cubicBezTo>
                  <a:pt x="403963" y="468106"/>
                  <a:pt x="402158" y="473518"/>
                  <a:pt x="397825" y="476043"/>
                </a:cubicBezTo>
                <a:cubicBezTo>
                  <a:pt x="368220" y="493001"/>
                  <a:pt x="334642" y="502381"/>
                  <a:pt x="299982" y="502381"/>
                </a:cubicBezTo>
                <a:cubicBezTo>
                  <a:pt x="265683" y="502381"/>
                  <a:pt x="232106" y="493001"/>
                  <a:pt x="202139" y="476043"/>
                </a:cubicBezTo>
                <a:cubicBezTo>
                  <a:pt x="197806" y="473518"/>
                  <a:pt x="196362" y="468106"/>
                  <a:pt x="198889" y="463776"/>
                </a:cubicBezTo>
                <a:lnTo>
                  <a:pt x="251241" y="372855"/>
                </a:lnTo>
                <a:cubicBezTo>
                  <a:pt x="252685" y="370691"/>
                  <a:pt x="254490" y="369247"/>
                  <a:pt x="257018" y="368526"/>
                </a:cubicBezTo>
                <a:close/>
                <a:moveTo>
                  <a:pt x="300775" y="284669"/>
                </a:moveTo>
                <a:cubicBezTo>
                  <a:pt x="288465" y="284669"/>
                  <a:pt x="277965" y="294807"/>
                  <a:pt x="277965" y="307479"/>
                </a:cubicBezTo>
                <a:cubicBezTo>
                  <a:pt x="277965" y="320151"/>
                  <a:pt x="288465" y="330289"/>
                  <a:pt x="300775" y="330289"/>
                </a:cubicBezTo>
                <a:cubicBezTo>
                  <a:pt x="313447" y="330289"/>
                  <a:pt x="323585" y="320151"/>
                  <a:pt x="323585" y="307479"/>
                </a:cubicBezTo>
                <a:cubicBezTo>
                  <a:pt x="323585" y="294807"/>
                  <a:pt x="313447" y="284669"/>
                  <a:pt x="300775" y="284669"/>
                </a:cubicBezTo>
                <a:close/>
                <a:moveTo>
                  <a:pt x="300775" y="266204"/>
                </a:moveTo>
                <a:cubicBezTo>
                  <a:pt x="323585" y="266204"/>
                  <a:pt x="342050" y="284669"/>
                  <a:pt x="342050" y="307479"/>
                </a:cubicBezTo>
                <a:cubicBezTo>
                  <a:pt x="342050" y="330289"/>
                  <a:pt x="323585" y="348392"/>
                  <a:pt x="300775" y="348392"/>
                </a:cubicBezTo>
                <a:cubicBezTo>
                  <a:pt x="278327" y="348392"/>
                  <a:pt x="259862" y="330289"/>
                  <a:pt x="259862" y="307479"/>
                </a:cubicBezTo>
                <a:cubicBezTo>
                  <a:pt x="259862" y="284669"/>
                  <a:pt x="278327" y="266204"/>
                  <a:pt x="300775" y="266204"/>
                </a:cubicBezTo>
                <a:close/>
                <a:moveTo>
                  <a:pt x="397123" y="157915"/>
                </a:moveTo>
                <a:lnTo>
                  <a:pt x="353600" y="232899"/>
                </a:lnTo>
                <a:cubicBezTo>
                  <a:pt x="374822" y="247967"/>
                  <a:pt x="388131" y="271647"/>
                  <a:pt x="391008" y="297120"/>
                </a:cubicBezTo>
                <a:lnTo>
                  <a:pt x="477695" y="297120"/>
                </a:lnTo>
                <a:cubicBezTo>
                  <a:pt x="474458" y="240792"/>
                  <a:pt x="444603" y="188769"/>
                  <a:pt x="397123" y="157915"/>
                </a:cubicBezTo>
                <a:close/>
                <a:moveTo>
                  <a:pt x="204646" y="157915"/>
                </a:moveTo>
                <a:cubicBezTo>
                  <a:pt x="157062" y="188769"/>
                  <a:pt x="126782" y="240792"/>
                  <a:pt x="124259" y="297120"/>
                </a:cubicBezTo>
                <a:lnTo>
                  <a:pt x="210774" y="297120"/>
                </a:lnTo>
                <a:cubicBezTo>
                  <a:pt x="213297" y="271647"/>
                  <a:pt x="226996" y="247967"/>
                  <a:pt x="248264" y="232899"/>
                </a:cubicBezTo>
                <a:close/>
                <a:moveTo>
                  <a:pt x="391368" y="136747"/>
                </a:moveTo>
                <a:cubicBezTo>
                  <a:pt x="393886" y="136029"/>
                  <a:pt x="396044" y="136388"/>
                  <a:pt x="398202" y="137464"/>
                </a:cubicBezTo>
                <a:cubicBezTo>
                  <a:pt x="458631" y="172266"/>
                  <a:pt x="496039" y="236845"/>
                  <a:pt x="496039" y="306089"/>
                </a:cubicBezTo>
                <a:cubicBezTo>
                  <a:pt x="496039" y="311112"/>
                  <a:pt x="492083" y="315058"/>
                  <a:pt x="486687" y="315058"/>
                </a:cubicBezTo>
                <a:lnTo>
                  <a:pt x="382376" y="315058"/>
                </a:lnTo>
                <a:cubicBezTo>
                  <a:pt x="376980" y="315058"/>
                  <a:pt x="373024" y="311112"/>
                  <a:pt x="373024" y="306089"/>
                </a:cubicBezTo>
                <a:cubicBezTo>
                  <a:pt x="373024" y="280616"/>
                  <a:pt x="359355" y="256578"/>
                  <a:pt x="337054" y="243662"/>
                </a:cubicBezTo>
                <a:cubicBezTo>
                  <a:pt x="332738" y="241151"/>
                  <a:pt x="331299" y="235769"/>
                  <a:pt x="333457" y="231105"/>
                </a:cubicBezTo>
                <a:lnTo>
                  <a:pt x="385973" y="140693"/>
                </a:lnTo>
                <a:cubicBezTo>
                  <a:pt x="387052" y="138899"/>
                  <a:pt x="389210" y="137106"/>
                  <a:pt x="391368" y="136747"/>
                </a:cubicBezTo>
                <a:close/>
                <a:moveTo>
                  <a:pt x="210413" y="136747"/>
                </a:moveTo>
                <a:cubicBezTo>
                  <a:pt x="212576" y="137106"/>
                  <a:pt x="214379" y="138899"/>
                  <a:pt x="215821" y="140693"/>
                </a:cubicBezTo>
                <a:lnTo>
                  <a:pt x="268090" y="231105"/>
                </a:lnTo>
                <a:cubicBezTo>
                  <a:pt x="270614" y="235769"/>
                  <a:pt x="269172" y="241151"/>
                  <a:pt x="264846" y="243662"/>
                </a:cubicBezTo>
                <a:cubicBezTo>
                  <a:pt x="242496" y="256578"/>
                  <a:pt x="228798" y="280616"/>
                  <a:pt x="228798" y="306089"/>
                </a:cubicBezTo>
                <a:cubicBezTo>
                  <a:pt x="228798" y="311112"/>
                  <a:pt x="224472" y="315058"/>
                  <a:pt x="219425" y="315058"/>
                </a:cubicBezTo>
                <a:lnTo>
                  <a:pt x="114886" y="315058"/>
                </a:lnTo>
                <a:cubicBezTo>
                  <a:pt x="109839" y="315058"/>
                  <a:pt x="105874" y="311112"/>
                  <a:pt x="105874" y="306089"/>
                </a:cubicBezTo>
                <a:cubicBezTo>
                  <a:pt x="105874" y="236845"/>
                  <a:pt x="143004" y="172266"/>
                  <a:pt x="203204" y="137464"/>
                </a:cubicBezTo>
                <a:cubicBezTo>
                  <a:pt x="205367" y="136388"/>
                  <a:pt x="207890" y="136029"/>
                  <a:pt x="210413" y="136747"/>
                </a:cubicBezTo>
                <a:close/>
                <a:moveTo>
                  <a:pt x="299189" y="18267"/>
                </a:moveTo>
                <a:cubicBezTo>
                  <a:pt x="273650" y="18267"/>
                  <a:pt x="247751" y="27986"/>
                  <a:pt x="228326" y="47423"/>
                </a:cubicBezTo>
                <a:lnTo>
                  <a:pt x="47391" y="228476"/>
                </a:lnTo>
                <a:cubicBezTo>
                  <a:pt x="8543" y="267710"/>
                  <a:pt x="8543" y="331420"/>
                  <a:pt x="47391" y="370654"/>
                </a:cubicBezTo>
                <a:lnTo>
                  <a:pt x="228326" y="551347"/>
                </a:lnTo>
                <a:cubicBezTo>
                  <a:pt x="267535" y="590581"/>
                  <a:pt x="331204" y="590581"/>
                  <a:pt x="370412" y="551347"/>
                </a:cubicBezTo>
                <a:lnTo>
                  <a:pt x="550987" y="370654"/>
                </a:lnTo>
                <a:cubicBezTo>
                  <a:pt x="590196" y="331420"/>
                  <a:pt x="590196" y="267710"/>
                  <a:pt x="550987" y="228476"/>
                </a:cubicBezTo>
                <a:lnTo>
                  <a:pt x="370412" y="47423"/>
                </a:lnTo>
                <a:cubicBezTo>
                  <a:pt x="350628" y="27986"/>
                  <a:pt x="325089" y="18267"/>
                  <a:pt x="299189" y="18267"/>
                </a:cubicBezTo>
                <a:close/>
                <a:moveTo>
                  <a:pt x="299369" y="0"/>
                </a:moveTo>
                <a:cubicBezTo>
                  <a:pt x="329765" y="0"/>
                  <a:pt x="360160" y="11608"/>
                  <a:pt x="383362" y="34825"/>
                </a:cubicBezTo>
                <a:lnTo>
                  <a:pt x="563937" y="215518"/>
                </a:lnTo>
                <a:cubicBezTo>
                  <a:pt x="610339" y="261951"/>
                  <a:pt x="610339" y="337179"/>
                  <a:pt x="563937" y="383252"/>
                </a:cubicBezTo>
                <a:lnTo>
                  <a:pt x="383362" y="564305"/>
                </a:lnTo>
                <a:cubicBezTo>
                  <a:pt x="359981" y="587341"/>
                  <a:pt x="329765" y="599219"/>
                  <a:pt x="299189" y="599219"/>
                </a:cubicBezTo>
                <a:cubicBezTo>
                  <a:pt x="268974" y="599219"/>
                  <a:pt x="238398" y="587341"/>
                  <a:pt x="215377" y="564305"/>
                </a:cubicBezTo>
                <a:lnTo>
                  <a:pt x="34802" y="383252"/>
                </a:lnTo>
                <a:cubicBezTo>
                  <a:pt x="-11601" y="337179"/>
                  <a:pt x="-11601" y="261951"/>
                  <a:pt x="34802" y="215518"/>
                </a:cubicBezTo>
                <a:lnTo>
                  <a:pt x="215377" y="34825"/>
                </a:lnTo>
                <a:cubicBezTo>
                  <a:pt x="238578" y="11608"/>
                  <a:pt x="268974" y="0"/>
                  <a:pt x="2993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AC9E0D63-B934-C54C-84CA-D52DB74D2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2018" y="2673016"/>
            <a:ext cx="652565" cy="465847"/>
          </a:xfrm>
          <a:custGeom>
            <a:avLst/>
            <a:gdLst>
              <a:gd name="connsiteX0" fmla="*/ 558629 w 599715"/>
              <a:gd name="connsiteY0" fmla="*/ 426789 h 490177"/>
              <a:gd name="connsiteX1" fmla="*/ 535923 w 599715"/>
              <a:gd name="connsiteY1" fmla="*/ 449479 h 490177"/>
              <a:gd name="connsiteX2" fmla="*/ 558629 w 599715"/>
              <a:gd name="connsiteY2" fmla="*/ 472169 h 490177"/>
              <a:gd name="connsiteX3" fmla="*/ 581334 w 599715"/>
              <a:gd name="connsiteY3" fmla="*/ 449479 h 490177"/>
              <a:gd name="connsiteX4" fmla="*/ 558629 w 599715"/>
              <a:gd name="connsiteY4" fmla="*/ 426789 h 490177"/>
              <a:gd name="connsiteX5" fmla="*/ 449786 w 599715"/>
              <a:gd name="connsiteY5" fmla="*/ 426789 h 490177"/>
              <a:gd name="connsiteX6" fmla="*/ 426720 w 599715"/>
              <a:gd name="connsiteY6" fmla="*/ 449479 h 490177"/>
              <a:gd name="connsiteX7" fmla="*/ 449786 w 599715"/>
              <a:gd name="connsiteY7" fmla="*/ 472169 h 490177"/>
              <a:gd name="connsiteX8" fmla="*/ 472492 w 599715"/>
              <a:gd name="connsiteY8" fmla="*/ 449479 h 490177"/>
              <a:gd name="connsiteX9" fmla="*/ 449786 w 599715"/>
              <a:gd name="connsiteY9" fmla="*/ 426789 h 490177"/>
              <a:gd name="connsiteX10" fmla="*/ 149568 w 599715"/>
              <a:gd name="connsiteY10" fmla="*/ 426789 h 490177"/>
              <a:gd name="connsiteX11" fmla="*/ 127223 w 599715"/>
              <a:gd name="connsiteY11" fmla="*/ 449479 h 490177"/>
              <a:gd name="connsiteX12" fmla="*/ 149568 w 599715"/>
              <a:gd name="connsiteY12" fmla="*/ 472169 h 490177"/>
              <a:gd name="connsiteX13" fmla="*/ 172634 w 599715"/>
              <a:gd name="connsiteY13" fmla="*/ 449479 h 490177"/>
              <a:gd name="connsiteX14" fmla="*/ 149568 w 599715"/>
              <a:gd name="connsiteY14" fmla="*/ 426789 h 490177"/>
              <a:gd name="connsiteX15" fmla="*/ 40726 w 599715"/>
              <a:gd name="connsiteY15" fmla="*/ 426789 h 490177"/>
              <a:gd name="connsiteX16" fmla="*/ 18020 w 599715"/>
              <a:gd name="connsiteY16" fmla="*/ 449479 h 490177"/>
              <a:gd name="connsiteX17" fmla="*/ 40726 w 599715"/>
              <a:gd name="connsiteY17" fmla="*/ 472169 h 490177"/>
              <a:gd name="connsiteX18" fmla="*/ 63431 w 599715"/>
              <a:gd name="connsiteY18" fmla="*/ 449479 h 490177"/>
              <a:gd name="connsiteX19" fmla="*/ 40726 w 599715"/>
              <a:gd name="connsiteY19" fmla="*/ 426789 h 490177"/>
              <a:gd name="connsiteX20" fmla="*/ 172634 w 599715"/>
              <a:gd name="connsiteY20" fmla="*/ 336029 h 490177"/>
              <a:gd name="connsiteX21" fmla="*/ 172634 w 599715"/>
              <a:gd name="connsiteY21" fmla="*/ 363041 h 490177"/>
              <a:gd name="connsiteX22" fmla="*/ 427081 w 599715"/>
              <a:gd name="connsiteY22" fmla="*/ 363041 h 490177"/>
              <a:gd name="connsiteX23" fmla="*/ 427081 w 599715"/>
              <a:gd name="connsiteY23" fmla="*/ 336029 h 490177"/>
              <a:gd name="connsiteX24" fmla="*/ 99472 w 599715"/>
              <a:gd name="connsiteY24" fmla="*/ 281285 h 490177"/>
              <a:gd name="connsiteX25" fmla="*/ 99472 w 599715"/>
              <a:gd name="connsiteY25" fmla="*/ 314059 h 490177"/>
              <a:gd name="connsiteX26" fmla="*/ 127223 w 599715"/>
              <a:gd name="connsiteY26" fmla="*/ 317661 h 490177"/>
              <a:gd name="connsiteX27" fmla="*/ 154614 w 599715"/>
              <a:gd name="connsiteY27" fmla="*/ 317661 h 490177"/>
              <a:gd name="connsiteX28" fmla="*/ 154614 w 599715"/>
              <a:gd name="connsiteY28" fmla="*/ 281285 h 490177"/>
              <a:gd name="connsiteX29" fmla="*/ 99472 w 599715"/>
              <a:gd name="connsiteY29" fmla="*/ 226900 h 490177"/>
              <a:gd name="connsiteX30" fmla="*/ 99472 w 599715"/>
              <a:gd name="connsiteY30" fmla="*/ 263277 h 490177"/>
              <a:gd name="connsiteX31" fmla="*/ 154614 w 599715"/>
              <a:gd name="connsiteY31" fmla="*/ 263277 h 490177"/>
              <a:gd name="connsiteX32" fmla="*/ 154614 w 599715"/>
              <a:gd name="connsiteY32" fmla="*/ 226900 h 490177"/>
              <a:gd name="connsiteX33" fmla="*/ 327072 w 599715"/>
              <a:gd name="connsiteY33" fmla="*/ 198437 h 490177"/>
              <a:gd name="connsiteX34" fmla="*/ 336186 w 599715"/>
              <a:gd name="connsiteY34" fmla="*/ 207551 h 490177"/>
              <a:gd name="connsiteX35" fmla="*/ 296815 w 599715"/>
              <a:gd name="connsiteY35" fmla="*/ 247286 h 490177"/>
              <a:gd name="connsiteX36" fmla="*/ 287337 w 599715"/>
              <a:gd name="connsiteY36" fmla="*/ 238172 h 490177"/>
              <a:gd name="connsiteX37" fmla="*/ 296815 w 599715"/>
              <a:gd name="connsiteY37" fmla="*/ 228694 h 490177"/>
              <a:gd name="connsiteX38" fmla="*/ 317959 w 599715"/>
              <a:gd name="connsiteY38" fmla="*/ 207551 h 490177"/>
              <a:gd name="connsiteX39" fmla="*/ 327072 w 599715"/>
              <a:gd name="connsiteY39" fmla="*/ 198437 h 490177"/>
              <a:gd name="connsiteX40" fmla="*/ 99472 w 599715"/>
              <a:gd name="connsiteY40" fmla="*/ 172516 h 490177"/>
              <a:gd name="connsiteX41" fmla="*/ 99472 w 599715"/>
              <a:gd name="connsiteY41" fmla="*/ 208892 h 490177"/>
              <a:gd name="connsiteX42" fmla="*/ 154614 w 599715"/>
              <a:gd name="connsiteY42" fmla="*/ 208892 h 490177"/>
              <a:gd name="connsiteX43" fmla="*/ 154614 w 599715"/>
              <a:gd name="connsiteY43" fmla="*/ 172516 h 490177"/>
              <a:gd name="connsiteX44" fmla="*/ 99472 w 599715"/>
              <a:gd name="connsiteY44" fmla="*/ 117772 h 490177"/>
              <a:gd name="connsiteX45" fmla="*/ 99472 w 599715"/>
              <a:gd name="connsiteY45" fmla="*/ 154148 h 490177"/>
              <a:gd name="connsiteX46" fmla="*/ 154614 w 599715"/>
              <a:gd name="connsiteY46" fmla="*/ 154148 h 490177"/>
              <a:gd name="connsiteX47" fmla="*/ 154614 w 599715"/>
              <a:gd name="connsiteY47" fmla="*/ 117772 h 490177"/>
              <a:gd name="connsiteX48" fmla="*/ 300037 w 599715"/>
              <a:gd name="connsiteY48" fmla="*/ 111524 h 490177"/>
              <a:gd name="connsiteX49" fmla="*/ 239062 w 599715"/>
              <a:gd name="connsiteY49" fmla="*/ 210280 h 490177"/>
              <a:gd name="connsiteX50" fmla="*/ 300037 w 599715"/>
              <a:gd name="connsiteY50" fmla="*/ 270610 h 490177"/>
              <a:gd name="connsiteX51" fmla="*/ 360651 w 599715"/>
              <a:gd name="connsiteY51" fmla="*/ 210280 h 490177"/>
              <a:gd name="connsiteX52" fmla="*/ 300037 w 599715"/>
              <a:gd name="connsiteY52" fmla="*/ 111524 h 490177"/>
              <a:gd name="connsiteX53" fmla="*/ 293543 w 599715"/>
              <a:gd name="connsiteY53" fmla="*/ 91773 h 490177"/>
              <a:gd name="connsiteX54" fmla="*/ 306171 w 599715"/>
              <a:gd name="connsiteY54" fmla="*/ 91773 h 490177"/>
              <a:gd name="connsiteX55" fmla="*/ 379051 w 599715"/>
              <a:gd name="connsiteY55" fmla="*/ 210280 h 490177"/>
              <a:gd name="connsiteX56" fmla="*/ 300037 w 599715"/>
              <a:gd name="connsiteY56" fmla="*/ 288566 h 490177"/>
              <a:gd name="connsiteX57" fmla="*/ 220662 w 599715"/>
              <a:gd name="connsiteY57" fmla="*/ 210280 h 490177"/>
              <a:gd name="connsiteX58" fmla="*/ 293543 w 599715"/>
              <a:gd name="connsiteY58" fmla="*/ 91773 h 490177"/>
              <a:gd name="connsiteX59" fmla="*/ 81091 w 599715"/>
              <a:gd name="connsiteY59" fmla="*/ 73833 h 490177"/>
              <a:gd name="connsiteX60" fmla="*/ 18020 w 599715"/>
              <a:gd name="connsiteY60" fmla="*/ 172516 h 490177"/>
              <a:gd name="connsiteX61" fmla="*/ 18020 w 599715"/>
              <a:gd name="connsiteY61" fmla="*/ 208892 h 490177"/>
              <a:gd name="connsiteX62" fmla="*/ 81091 w 599715"/>
              <a:gd name="connsiteY62" fmla="*/ 307576 h 490177"/>
              <a:gd name="connsiteX63" fmla="*/ 172634 w 599715"/>
              <a:gd name="connsiteY63" fmla="*/ 63388 h 490177"/>
              <a:gd name="connsiteX64" fmla="*/ 172634 w 599715"/>
              <a:gd name="connsiteY64" fmla="*/ 317661 h 490177"/>
              <a:gd name="connsiteX65" fmla="*/ 436091 w 599715"/>
              <a:gd name="connsiteY65" fmla="*/ 317661 h 490177"/>
              <a:gd name="connsiteX66" fmla="*/ 472492 w 599715"/>
              <a:gd name="connsiteY66" fmla="*/ 317661 h 490177"/>
              <a:gd name="connsiteX67" fmla="*/ 581334 w 599715"/>
              <a:gd name="connsiteY67" fmla="*/ 208892 h 490177"/>
              <a:gd name="connsiteX68" fmla="*/ 581334 w 599715"/>
              <a:gd name="connsiteY68" fmla="*/ 172516 h 490177"/>
              <a:gd name="connsiteX69" fmla="*/ 472492 w 599715"/>
              <a:gd name="connsiteY69" fmla="*/ 63388 h 490177"/>
              <a:gd name="connsiteX70" fmla="*/ 367614 w 599715"/>
              <a:gd name="connsiteY70" fmla="*/ 63388 h 490177"/>
              <a:gd name="connsiteX71" fmla="*/ 231740 w 599715"/>
              <a:gd name="connsiteY71" fmla="*/ 63388 h 490177"/>
              <a:gd name="connsiteX72" fmla="*/ 127223 w 599715"/>
              <a:gd name="connsiteY72" fmla="*/ 63388 h 490177"/>
              <a:gd name="connsiteX73" fmla="*/ 99472 w 599715"/>
              <a:gd name="connsiteY73" fmla="*/ 66990 h 490177"/>
              <a:gd name="connsiteX74" fmla="*/ 99472 w 599715"/>
              <a:gd name="connsiteY74" fmla="*/ 99764 h 490177"/>
              <a:gd name="connsiteX75" fmla="*/ 154614 w 599715"/>
              <a:gd name="connsiteY75" fmla="*/ 99764 h 490177"/>
              <a:gd name="connsiteX76" fmla="*/ 154614 w 599715"/>
              <a:gd name="connsiteY76" fmla="*/ 63388 h 490177"/>
              <a:gd name="connsiteX77" fmla="*/ 240751 w 599715"/>
              <a:gd name="connsiteY77" fmla="*/ 18008 h 490177"/>
              <a:gd name="connsiteX78" fmla="*/ 240751 w 599715"/>
              <a:gd name="connsiteY78" fmla="*/ 45380 h 490177"/>
              <a:gd name="connsiteX79" fmla="*/ 358964 w 599715"/>
              <a:gd name="connsiteY79" fmla="*/ 45380 h 490177"/>
              <a:gd name="connsiteX80" fmla="*/ 358964 w 599715"/>
              <a:gd name="connsiteY80" fmla="*/ 18008 h 490177"/>
              <a:gd name="connsiteX81" fmla="*/ 213360 w 599715"/>
              <a:gd name="connsiteY81" fmla="*/ 0 h 490177"/>
              <a:gd name="connsiteX82" fmla="*/ 231740 w 599715"/>
              <a:gd name="connsiteY82" fmla="*/ 0 h 490177"/>
              <a:gd name="connsiteX83" fmla="*/ 367614 w 599715"/>
              <a:gd name="connsiteY83" fmla="*/ 0 h 490177"/>
              <a:gd name="connsiteX84" fmla="*/ 385994 w 599715"/>
              <a:gd name="connsiteY84" fmla="*/ 0 h 490177"/>
              <a:gd name="connsiteX85" fmla="*/ 395005 w 599715"/>
              <a:gd name="connsiteY85" fmla="*/ 9004 h 490177"/>
              <a:gd name="connsiteX86" fmla="*/ 385994 w 599715"/>
              <a:gd name="connsiteY86" fmla="*/ 18008 h 490177"/>
              <a:gd name="connsiteX87" fmla="*/ 376984 w 599715"/>
              <a:gd name="connsiteY87" fmla="*/ 18008 h 490177"/>
              <a:gd name="connsiteX88" fmla="*/ 376984 w 599715"/>
              <a:gd name="connsiteY88" fmla="*/ 45380 h 490177"/>
              <a:gd name="connsiteX89" fmla="*/ 472492 w 599715"/>
              <a:gd name="connsiteY89" fmla="*/ 45380 h 490177"/>
              <a:gd name="connsiteX90" fmla="*/ 599715 w 599715"/>
              <a:gd name="connsiteY90" fmla="*/ 172516 h 490177"/>
              <a:gd name="connsiteX91" fmla="*/ 599715 w 599715"/>
              <a:gd name="connsiteY91" fmla="*/ 208892 h 490177"/>
              <a:gd name="connsiteX92" fmla="*/ 472492 w 599715"/>
              <a:gd name="connsiteY92" fmla="*/ 336029 h 490177"/>
              <a:gd name="connsiteX93" fmla="*/ 445101 w 599715"/>
              <a:gd name="connsiteY93" fmla="*/ 336029 h 490177"/>
              <a:gd name="connsiteX94" fmla="*/ 445101 w 599715"/>
              <a:gd name="connsiteY94" fmla="*/ 363041 h 490177"/>
              <a:gd name="connsiteX95" fmla="*/ 590344 w 599715"/>
              <a:gd name="connsiteY95" fmla="*/ 363041 h 490177"/>
              <a:gd name="connsiteX96" fmla="*/ 599715 w 599715"/>
              <a:gd name="connsiteY96" fmla="*/ 372045 h 490177"/>
              <a:gd name="connsiteX97" fmla="*/ 590344 w 599715"/>
              <a:gd name="connsiteY97" fmla="*/ 381049 h 490177"/>
              <a:gd name="connsiteX98" fmla="*/ 513218 w 599715"/>
              <a:gd name="connsiteY98" fmla="*/ 381049 h 490177"/>
              <a:gd name="connsiteX99" fmla="*/ 513218 w 599715"/>
              <a:gd name="connsiteY99" fmla="*/ 408421 h 490177"/>
              <a:gd name="connsiteX100" fmla="*/ 558629 w 599715"/>
              <a:gd name="connsiteY100" fmla="*/ 408421 h 490177"/>
              <a:gd name="connsiteX101" fmla="*/ 599715 w 599715"/>
              <a:gd name="connsiteY101" fmla="*/ 449479 h 490177"/>
              <a:gd name="connsiteX102" fmla="*/ 558629 w 599715"/>
              <a:gd name="connsiteY102" fmla="*/ 490177 h 490177"/>
              <a:gd name="connsiteX103" fmla="*/ 517903 w 599715"/>
              <a:gd name="connsiteY103" fmla="*/ 449479 h 490177"/>
              <a:gd name="connsiteX104" fmla="*/ 524750 w 599715"/>
              <a:gd name="connsiteY104" fmla="*/ 426789 h 490177"/>
              <a:gd name="connsiteX105" fmla="*/ 483664 w 599715"/>
              <a:gd name="connsiteY105" fmla="*/ 426789 h 490177"/>
              <a:gd name="connsiteX106" fmla="*/ 490512 w 599715"/>
              <a:gd name="connsiteY106" fmla="*/ 449479 h 490177"/>
              <a:gd name="connsiteX107" fmla="*/ 449786 w 599715"/>
              <a:gd name="connsiteY107" fmla="*/ 490177 h 490177"/>
              <a:gd name="connsiteX108" fmla="*/ 408700 w 599715"/>
              <a:gd name="connsiteY108" fmla="*/ 449479 h 490177"/>
              <a:gd name="connsiteX109" fmla="*/ 449786 w 599715"/>
              <a:gd name="connsiteY109" fmla="*/ 408421 h 490177"/>
              <a:gd name="connsiteX110" fmla="*/ 494837 w 599715"/>
              <a:gd name="connsiteY110" fmla="*/ 408421 h 490177"/>
              <a:gd name="connsiteX111" fmla="*/ 494837 w 599715"/>
              <a:gd name="connsiteY111" fmla="*/ 381049 h 490177"/>
              <a:gd name="connsiteX112" fmla="*/ 436091 w 599715"/>
              <a:gd name="connsiteY112" fmla="*/ 381049 h 490177"/>
              <a:gd name="connsiteX113" fmla="*/ 163624 w 599715"/>
              <a:gd name="connsiteY113" fmla="*/ 381049 h 490177"/>
              <a:gd name="connsiteX114" fmla="*/ 104517 w 599715"/>
              <a:gd name="connsiteY114" fmla="*/ 381049 h 490177"/>
              <a:gd name="connsiteX115" fmla="*/ 104517 w 599715"/>
              <a:gd name="connsiteY115" fmla="*/ 408421 h 490177"/>
              <a:gd name="connsiteX116" fmla="*/ 149568 w 599715"/>
              <a:gd name="connsiteY116" fmla="*/ 408421 h 490177"/>
              <a:gd name="connsiteX117" fmla="*/ 190654 w 599715"/>
              <a:gd name="connsiteY117" fmla="*/ 449479 h 490177"/>
              <a:gd name="connsiteX118" fmla="*/ 149568 w 599715"/>
              <a:gd name="connsiteY118" fmla="*/ 490177 h 490177"/>
              <a:gd name="connsiteX119" fmla="*/ 108842 w 599715"/>
              <a:gd name="connsiteY119" fmla="*/ 449479 h 490177"/>
              <a:gd name="connsiteX120" fmla="*/ 115690 w 599715"/>
              <a:gd name="connsiteY120" fmla="*/ 426789 h 490177"/>
              <a:gd name="connsiteX121" fmla="*/ 74964 w 599715"/>
              <a:gd name="connsiteY121" fmla="*/ 426789 h 490177"/>
              <a:gd name="connsiteX122" fmla="*/ 81812 w 599715"/>
              <a:gd name="connsiteY122" fmla="*/ 449479 h 490177"/>
              <a:gd name="connsiteX123" fmla="*/ 40726 w 599715"/>
              <a:gd name="connsiteY123" fmla="*/ 490177 h 490177"/>
              <a:gd name="connsiteX124" fmla="*/ 0 w 599715"/>
              <a:gd name="connsiteY124" fmla="*/ 449479 h 490177"/>
              <a:gd name="connsiteX125" fmla="*/ 40726 w 599715"/>
              <a:gd name="connsiteY125" fmla="*/ 408421 h 490177"/>
              <a:gd name="connsiteX126" fmla="*/ 86137 w 599715"/>
              <a:gd name="connsiteY126" fmla="*/ 408421 h 490177"/>
              <a:gd name="connsiteX127" fmla="*/ 86137 w 599715"/>
              <a:gd name="connsiteY127" fmla="*/ 381049 h 490177"/>
              <a:gd name="connsiteX128" fmla="*/ 9010 w 599715"/>
              <a:gd name="connsiteY128" fmla="*/ 381049 h 490177"/>
              <a:gd name="connsiteX129" fmla="*/ 0 w 599715"/>
              <a:gd name="connsiteY129" fmla="*/ 372045 h 490177"/>
              <a:gd name="connsiteX130" fmla="*/ 9010 w 599715"/>
              <a:gd name="connsiteY130" fmla="*/ 363041 h 490177"/>
              <a:gd name="connsiteX131" fmla="*/ 154614 w 599715"/>
              <a:gd name="connsiteY131" fmla="*/ 363041 h 490177"/>
              <a:gd name="connsiteX132" fmla="*/ 154614 w 599715"/>
              <a:gd name="connsiteY132" fmla="*/ 336029 h 490177"/>
              <a:gd name="connsiteX133" fmla="*/ 127223 w 599715"/>
              <a:gd name="connsiteY133" fmla="*/ 336029 h 490177"/>
              <a:gd name="connsiteX134" fmla="*/ 87218 w 599715"/>
              <a:gd name="connsiteY134" fmla="*/ 329546 h 490177"/>
              <a:gd name="connsiteX135" fmla="*/ 86497 w 599715"/>
              <a:gd name="connsiteY135" fmla="*/ 329186 h 490177"/>
              <a:gd name="connsiteX136" fmla="*/ 0 w 599715"/>
              <a:gd name="connsiteY136" fmla="*/ 208892 h 490177"/>
              <a:gd name="connsiteX137" fmla="*/ 0 w 599715"/>
              <a:gd name="connsiteY137" fmla="*/ 172516 h 490177"/>
              <a:gd name="connsiteX138" fmla="*/ 86497 w 599715"/>
              <a:gd name="connsiteY138" fmla="*/ 51863 h 490177"/>
              <a:gd name="connsiteX139" fmla="*/ 87218 w 599715"/>
              <a:gd name="connsiteY139" fmla="*/ 51863 h 490177"/>
              <a:gd name="connsiteX140" fmla="*/ 127223 w 599715"/>
              <a:gd name="connsiteY140" fmla="*/ 45380 h 490177"/>
              <a:gd name="connsiteX141" fmla="*/ 222370 w 599715"/>
              <a:gd name="connsiteY141" fmla="*/ 45380 h 490177"/>
              <a:gd name="connsiteX142" fmla="*/ 222370 w 599715"/>
              <a:gd name="connsiteY142" fmla="*/ 18008 h 490177"/>
              <a:gd name="connsiteX143" fmla="*/ 213360 w 599715"/>
              <a:gd name="connsiteY143" fmla="*/ 18008 h 490177"/>
              <a:gd name="connsiteX144" fmla="*/ 204350 w 599715"/>
              <a:gd name="connsiteY144" fmla="*/ 9004 h 490177"/>
              <a:gd name="connsiteX145" fmla="*/ 213360 w 599715"/>
              <a:gd name="connsiteY145" fmla="*/ 0 h 49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599715" h="490177">
                <a:moveTo>
                  <a:pt x="558629" y="426789"/>
                </a:moveTo>
                <a:cubicBezTo>
                  <a:pt x="546014" y="426789"/>
                  <a:pt x="535923" y="436873"/>
                  <a:pt x="535923" y="449479"/>
                </a:cubicBezTo>
                <a:cubicBezTo>
                  <a:pt x="535923" y="461724"/>
                  <a:pt x="546014" y="472169"/>
                  <a:pt x="558629" y="472169"/>
                </a:cubicBezTo>
                <a:cubicBezTo>
                  <a:pt x="571243" y="472169"/>
                  <a:pt x="581334" y="461724"/>
                  <a:pt x="581334" y="449479"/>
                </a:cubicBezTo>
                <a:cubicBezTo>
                  <a:pt x="581334" y="436873"/>
                  <a:pt x="571243" y="426789"/>
                  <a:pt x="558629" y="426789"/>
                </a:cubicBezTo>
                <a:close/>
                <a:moveTo>
                  <a:pt x="449786" y="426789"/>
                </a:moveTo>
                <a:cubicBezTo>
                  <a:pt x="437172" y="426789"/>
                  <a:pt x="426720" y="436873"/>
                  <a:pt x="426720" y="449479"/>
                </a:cubicBezTo>
                <a:cubicBezTo>
                  <a:pt x="426720" y="461724"/>
                  <a:pt x="437172" y="472169"/>
                  <a:pt x="449786" y="472169"/>
                </a:cubicBezTo>
                <a:cubicBezTo>
                  <a:pt x="462040" y="472169"/>
                  <a:pt x="472492" y="461724"/>
                  <a:pt x="472492" y="449479"/>
                </a:cubicBezTo>
                <a:cubicBezTo>
                  <a:pt x="472492" y="436873"/>
                  <a:pt x="462040" y="426789"/>
                  <a:pt x="449786" y="426789"/>
                </a:cubicBezTo>
                <a:close/>
                <a:moveTo>
                  <a:pt x="149568" y="426789"/>
                </a:moveTo>
                <a:cubicBezTo>
                  <a:pt x="137314" y="426789"/>
                  <a:pt x="127223" y="436873"/>
                  <a:pt x="127223" y="449479"/>
                </a:cubicBezTo>
                <a:cubicBezTo>
                  <a:pt x="127223" y="461724"/>
                  <a:pt x="137314" y="472169"/>
                  <a:pt x="149568" y="472169"/>
                </a:cubicBezTo>
                <a:cubicBezTo>
                  <a:pt x="162182" y="472169"/>
                  <a:pt x="172634" y="461724"/>
                  <a:pt x="172634" y="449479"/>
                </a:cubicBezTo>
                <a:cubicBezTo>
                  <a:pt x="172634" y="436873"/>
                  <a:pt x="162182" y="426789"/>
                  <a:pt x="149568" y="426789"/>
                </a:cubicBezTo>
                <a:close/>
                <a:moveTo>
                  <a:pt x="40726" y="426789"/>
                </a:moveTo>
                <a:cubicBezTo>
                  <a:pt x="28111" y="426789"/>
                  <a:pt x="18020" y="436873"/>
                  <a:pt x="18020" y="449479"/>
                </a:cubicBezTo>
                <a:cubicBezTo>
                  <a:pt x="18020" y="461724"/>
                  <a:pt x="28111" y="472169"/>
                  <a:pt x="40726" y="472169"/>
                </a:cubicBezTo>
                <a:cubicBezTo>
                  <a:pt x="53340" y="472169"/>
                  <a:pt x="63431" y="461724"/>
                  <a:pt x="63431" y="449479"/>
                </a:cubicBezTo>
                <a:cubicBezTo>
                  <a:pt x="63431" y="436873"/>
                  <a:pt x="53340" y="426789"/>
                  <a:pt x="40726" y="426789"/>
                </a:cubicBezTo>
                <a:close/>
                <a:moveTo>
                  <a:pt x="172634" y="336029"/>
                </a:moveTo>
                <a:lnTo>
                  <a:pt x="172634" y="363041"/>
                </a:lnTo>
                <a:lnTo>
                  <a:pt x="427081" y="363041"/>
                </a:lnTo>
                <a:lnTo>
                  <a:pt x="427081" y="336029"/>
                </a:lnTo>
                <a:close/>
                <a:moveTo>
                  <a:pt x="99472" y="281285"/>
                </a:moveTo>
                <a:lnTo>
                  <a:pt x="99472" y="314059"/>
                </a:lnTo>
                <a:cubicBezTo>
                  <a:pt x="108121" y="316220"/>
                  <a:pt x="117492" y="317661"/>
                  <a:pt x="127223" y="317661"/>
                </a:cubicBezTo>
                <a:lnTo>
                  <a:pt x="154614" y="317661"/>
                </a:lnTo>
                <a:lnTo>
                  <a:pt x="154614" y="281285"/>
                </a:lnTo>
                <a:close/>
                <a:moveTo>
                  <a:pt x="99472" y="226900"/>
                </a:moveTo>
                <a:lnTo>
                  <a:pt x="99472" y="263277"/>
                </a:lnTo>
                <a:lnTo>
                  <a:pt x="154614" y="263277"/>
                </a:lnTo>
                <a:lnTo>
                  <a:pt x="154614" y="226900"/>
                </a:lnTo>
                <a:close/>
                <a:moveTo>
                  <a:pt x="327072" y="198437"/>
                </a:moveTo>
                <a:cubicBezTo>
                  <a:pt x="332176" y="198437"/>
                  <a:pt x="336186" y="202447"/>
                  <a:pt x="336186" y="207551"/>
                </a:cubicBezTo>
                <a:cubicBezTo>
                  <a:pt x="336186" y="229423"/>
                  <a:pt x="318688" y="247286"/>
                  <a:pt x="296815" y="247286"/>
                </a:cubicBezTo>
                <a:cubicBezTo>
                  <a:pt x="291712" y="247286"/>
                  <a:pt x="287337" y="243276"/>
                  <a:pt x="287337" y="238172"/>
                </a:cubicBezTo>
                <a:cubicBezTo>
                  <a:pt x="287337" y="233068"/>
                  <a:pt x="291712" y="228694"/>
                  <a:pt x="296815" y="228694"/>
                </a:cubicBezTo>
                <a:cubicBezTo>
                  <a:pt x="308481" y="228694"/>
                  <a:pt x="317959" y="219580"/>
                  <a:pt x="317959" y="207551"/>
                </a:cubicBezTo>
                <a:cubicBezTo>
                  <a:pt x="317959" y="202447"/>
                  <a:pt x="322333" y="198437"/>
                  <a:pt x="327072" y="198437"/>
                </a:cubicBezTo>
                <a:close/>
                <a:moveTo>
                  <a:pt x="99472" y="172516"/>
                </a:moveTo>
                <a:lnTo>
                  <a:pt x="99472" y="208892"/>
                </a:lnTo>
                <a:lnTo>
                  <a:pt x="154614" y="208892"/>
                </a:lnTo>
                <a:lnTo>
                  <a:pt x="154614" y="172516"/>
                </a:lnTo>
                <a:close/>
                <a:moveTo>
                  <a:pt x="99472" y="117772"/>
                </a:moveTo>
                <a:lnTo>
                  <a:pt x="99472" y="154148"/>
                </a:lnTo>
                <a:lnTo>
                  <a:pt x="154614" y="154148"/>
                </a:lnTo>
                <a:lnTo>
                  <a:pt x="154614" y="117772"/>
                </a:lnTo>
                <a:close/>
                <a:moveTo>
                  <a:pt x="300037" y="111524"/>
                </a:moveTo>
                <a:cubicBezTo>
                  <a:pt x="278389" y="133071"/>
                  <a:pt x="239062" y="179396"/>
                  <a:pt x="239062" y="210280"/>
                </a:cubicBezTo>
                <a:cubicBezTo>
                  <a:pt x="239062" y="243318"/>
                  <a:pt x="266122" y="270610"/>
                  <a:pt x="300037" y="270610"/>
                </a:cubicBezTo>
                <a:cubicBezTo>
                  <a:pt x="333591" y="270610"/>
                  <a:pt x="360651" y="243318"/>
                  <a:pt x="360651" y="210280"/>
                </a:cubicBezTo>
                <a:cubicBezTo>
                  <a:pt x="360651" y="179396"/>
                  <a:pt x="321324" y="133071"/>
                  <a:pt x="300037" y="111524"/>
                </a:cubicBezTo>
                <a:close/>
                <a:moveTo>
                  <a:pt x="293543" y="91773"/>
                </a:moveTo>
                <a:cubicBezTo>
                  <a:pt x="297151" y="88900"/>
                  <a:pt x="302563" y="88900"/>
                  <a:pt x="306171" y="91773"/>
                </a:cubicBezTo>
                <a:cubicBezTo>
                  <a:pt x="309057" y="94646"/>
                  <a:pt x="379051" y="161081"/>
                  <a:pt x="379051" y="210280"/>
                </a:cubicBezTo>
                <a:cubicBezTo>
                  <a:pt x="379051" y="253373"/>
                  <a:pt x="343333" y="288566"/>
                  <a:pt x="300037" y="288566"/>
                </a:cubicBezTo>
                <a:cubicBezTo>
                  <a:pt x="256381" y="288566"/>
                  <a:pt x="220662" y="253373"/>
                  <a:pt x="220662" y="210280"/>
                </a:cubicBezTo>
                <a:cubicBezTo>
                  <a:pt x="220662" y="161440"/>
                  <a:pt x="290657" y="95005"/>
                  <a:pt x="293543" y="91773"/>
                </a:cubicBezTo>
                <a:close/>
                <a:moveTo>
                  <a:pt x="81091" y="73833"/>
                </a:moveTo>
                <a:cubicBezTo>
                  <a:pt x="43969" y="91120"/>
                  <a:pt x="18020" y="128577"/>
                  <a:pt x="18020" y="172516"/>
                </a:cubicBezTo>
                <a:lnTo>
                  <a:pt x="18020" y="208892"/>
                </a:lnTo>
                <a:cubicBezTo>
                  <a:pt x="18020" y="252472"/>
                  <a:pt x="43969" y="289928"/>
                  <a:pt x="81091" y="307576"/>
                </a:cubicBezTo>
                <a:close/>
                <a:moveTo>
                  <a:pt x="172634" y="63388"/>
                </a:moveTo>
                <a:lnTo>
                  <a:pt x="172634" y="317661"/>
                </a:lnTo>
                <a:lnTo>
                  <a:pt x="436091" y="317661"/>
                </a:lnTo>
                <a:lnTo>
                  <a:pt x="472492" y="317661"/>
                </a:lnTo>
                <a:cubicBezTo>
                  <a:pt x="532319" y="317661"/>
                  <a:pt x="581334" y="268679"/>
                  <a:pt x="581334" y="208892"/>
                </a:cubicBezTo>
                <a:lnTo>
                  <a:pt x="581334" y="172516"/>
                </a:lnTo>
                <a:cubicBezTo>
                  <a:pt x="581334" y="112370"/>
                  <a:pt x="532319" y="63388"/>
                  <a:pt x="472492" y="63388"/>
                </a:cubicBezTo>
                <a:lnTo>
                  <a:pt x="367614" y="63388"/>
                </a:lnTo>
                <a:lnTo>
                  <a:pt x="231740" y="63388"/>
                </a:lnTo>
                <a:close/>
                <a:moveTo>
                  <a:pt x="127223" y="63388"/>
                </a:moveTo>
                <a:cubicBezTo>
                  <a:pt x="117492" y="63388"/>
                  <a:pt x="108121" y="64829"/>
                  <a:pt x="99472" y="66990"/>
                </a:cubicBezTo>
                <a:lnTo>
                  <a:pt x="99472" y="99764"/>
                </a:lnTo>
                <a:lnTo>
                  <a:pt x="154614" y="99764"/>
                </a:lnTo>
                <a:lnTo>
                  <a:pt x="154614" y="63388"/>
                </a:lnTo>
                <a:close/>
                <a:moveTo>
                  <a:pt x="240751" y="18008"/>
                </a:moveTo>
                <a:lnTo>
                  <a:pt x="240751" y="45380"/>
                </a:lnTo>
                <a:lnTo>
                  <a:pt x="358964" y="45380"/>
                </a:lnTo>
                <a:lnTo>
                  <a:pt x="358964" y="18008"/>
                </a:lnTo>
                <a:close/>
                <a:moveTo>
                  <a:pt x="213360" y="0"/>
                </a:moveTo>
                <a:lnTo>
                  <a:pt x="231740" y="0"/>
                </a:lnTo>
                <a:lnTo>
                  <a:pt x="367614" y="0"/>
                </a:lnTo>
                <a:lnTo>
                  <a:pt x="385994" y="0"/>
                </a:lnTo>
                <a:cubicBezTo>
                  <a:pt x="391040" y="0"/>
                  <a:pt x="395005" y="3962"/>
                  <a:pt x="395005" y="9004"/>
                </a:cubicBezTo>
                <a:cubicBezTo>
                  <a:pt x="395005" y="14046"/>
                  <a:pt x="391040" y="18008"/>
                  <a:pt x="385994" y="18008"/>
                </a:cubicBezTo>
                <a:lnTo>
                  <a:pt x="376984" y="18008"/>
                </a:lnTo>
                <a:lnTo>
                  <a:pt x="376984" y="45380"/>
                </a:lnTo>
                <a:lnTo>
                  <a:pt x="472492" y="45380"/>
                </a:lnTo>
                <a:cubicBezTo>
                  <a:pt x="542410" y="45380"/>
                  <a:pt x="599715" y="102285"/>
                  <a:pt x="599715" y="172516"/>
                </a:cubicBezTo>
                <a:lnTo>
                  <a:pt x="599715" y="208892"/>
                </a:lnTo>
                <a:cubicBezTo>
                  <a:pt x="599715" y="278763"/>
                  <a:pt x="542410" y="336029"/>
                  <a:pt x="472492" y="336029"/>
                </a:cubicBezTo>
                <a:lnTo>
                  <a:pt x="445101" y="336029"/>
                </a:lnTo>
                <a:lnTo>
                  <a:pt x="445101" y="363041"/>
                </a:lnTo>
                <a:lnTo>
                  <a:pt x="590344" y="363041"/>
                </a:lnTo>
                <a:cubicBezTo>
                  <a:pt x="595390" y="363041"/>
                  <a:pt x="599715" y="367363"/>
                  <a:pt x="599715" y="372045"/>
                </a:cubicBezTo>
                <a:cubicBezTo>
                  <a:pt x="599715" y="377087"/>
                  <a:pt x="595390" y="381049"/>
                  <a:pt x="590344" y="381049"/>
                </a:cubicBezTo>
                <a:lnTo>
                  <a:pt x="513218" y="381049"/>
                </a:lnTo>
                <a:lnTo>
                  <a:pt x="513218" y="408421"/>
                </a:lnTo>
                <a:lnTo>
                  <a:pt x="558629" y="408421"/>
                </a:lnTo>
                <a:cubicBezTo>
                  <a:pt x="581334" y="408421"/>
                  <a:pt x="599715" y="426789"/>
                  <a:pt x="599715" y="449479"/>
                </a:cubicBezTo>
                <a:cubicBezTo>
                  <a:pt x="599715" y="471809"/>
                  <a:pt x="581334" y="490177"/>
                  <a:pt x="558629" y="490177"/>
                </a:cubicBezTo>
                <a:cubicBezTo>
                  <a:pt x="535923" y="490177"/>
                  <a:pt x="517903" y="471809"/>
                  <a:pt x="517903" y="449479"/>
                </a:cubicBezTo>
                <a:cubicBezTo>
                  <a:pt x="517903" y="440835"/>
                  <a:pt x="520426" y="433272"/>
                  <a:pt x="524750" y="426789"/>
                </a:cubicBezTo>
                <a:lnTo>
                  <a:pt x="483664" y="426789"/>
                </a:lnTo>
                <a:cubicBezTo>
                  <a:pt x="487989" y="433272"/>
                  <a:pt x="490512" y="440835"/>
                  <a:pt x="490512" y="449479"/>
                </a:cubicBezTo>
                <a:cubicBezTo>
                  <a:pt x="490512" y="471809"/>
                  <a:pt x="472131" y="490177"/>
                  <a:pt x="449786" y="490177"/>
                </a:cubicBezTo>
                <a:cubicBezTo>
                  <a:pt x="427081" y="490177"/>
                  <a:pt x="408700" y="471809"/>
                  <a:pt x="408700" y="449479"/>
                </a:cubicBezTo>
                <a:cubicBezTo>
                  <a:pt x="408700" y="426789"/>
                  <a:pt x="427081" y="408421"/>
                  <a:pt x="449786" y="408421"/>
                </a:cubicBezTo>
                <a:lnTo>
                  <a:pt x="494837" y="408421"/>
                </a:lnTo>
                <a:lnTo>
                  <a:pt x="494837" y="381049"/>
                </a:lnTo>
                <a:lnTo>
                  <a:pt x="436091" y="381049"/>
                </a:lnTo>
                <a:lnTo>
                  <a:pt x="163624" y="381049"/>
                </a:lnTo>
                <a:lnTo>
                  <a:pt x="104517" y="381049"/>
                </a:lnTo>
                <a:lnTo>
                  <a:pt x="104517" y="408421"/>
                </a:lnTo>
                <a:lnTo>
                  <a:pt x="149568" y="408421"/>
                </a:lnTo>
                <a:cubicBezTo>
                  <a:pt x="172274" y="408421"/>
                  <a:pt x="190654" y="426789"/>
                  <a:pt x="190654" y="449479"/>
                </a:cubicBezTo>
                <a:cubicBezTo>
                  <a:pt x="190654" y="471809"/>
                  <a:pt x="172274" y="490177"/>
                  <a:pt x="149568" y="490177"/>
                </a:cubicBezTo>
                <a:cubicBezTo>
                  <a:pt x="127223" y="490177"/>
                  <a:pt x="108842" y="471809"/>
                  <a:pt x="108842" y="449479"/>
                </a:cubicBezTo>
                <a:cubicBezTo>
                  <a:pt x="108842" y="440835"/>
                  <a:pt x="111365" y="433272"/>
                  <a:pt x="115690" y="426789"/>
                </a:cubicBezTo>
                <a:lnTo>
                  <a:pt x="74964" y="426789"/>
                </a:lnTo>
                <a:cubicBezTo>
                  <a:pt x="78929" y="433272"/>
                  <a:pt x="81812" y="440835"/>
                  <a:pt x="81812" y="449479"/>
                </a:cubicBezTo>
                <a:cubicBezTo>
                  <a:pt x="81812" y="471809"/>
                  <a:pt x="63431" y="490177"/>
                  <a:pt x="40726" y="490177"/>
                </a:cubicBezTo>
                <a:cubicBezTo>
                  <a:pt x="18380" y="490177"/>
                  <a:pt x="0" y="471809"/>
                  <a:pt x="0" y="449479"/>
                </a:cubicBezTo>
                <a:cubicBezTo>
                  <a:pt x="0" y="426789"/>
                  <a:pt x="18380" y="408421"/>
                  <a:pt x="40726" y="408421"/>
                </a:cubicBezTo>
                <a:lnTo>
                  <a:pt x="86137" y="408421"/>
                </a:lnTo>
                <a:lnTo>
                  <a:pt x="86137" y="381049"/>
                </a:lnTo>
                <a:lnTo>
                  <a:pt x="9010" y="381049"/>
                </a:lnTo>
                <a:cubicBezTo>
                  <a:pt x="3964" y="381049"/>
                  <a:pt x="0" y="377087"/>
                  <a:pt x="0" y="372045"/>
                </a:cubicBezTo>
                <a:cubicBezTo>
                  <a:pt x="0" y="367363"/>
                  <a:pt x="3964" y="363041"/>
                  <a:pt x="9010" y="363041"/>
                </a:cubicBezTo>
                <a:lnTo>
                  <a:pt x="154614" y="363041"/>
                </a:lnTo>
                <a:lnTo>
                  <a:pt x="154614" y="336029"/>
                </a:lnTo>
                <a:lnTo>
                  <a:pt x="127223" y="336029"/>
                </a:lnTo>
                <a:cubicBezTo>
                  <a:pt x="113167" y="336029"/>
                  <a:pt x="99472" y="333508"/>
                  <a:pt x="87218" y="329546"/>
                </a:cubicBezTo>
                <a:cubicBezTo>
                  <a:pt x="86857" y="329186"/>
                  <a:pt x="86857" y="329186"/>
                  <a:pt x="86497" y="329186"/>
                </a:cubicBezTo>
                <a:cubicBezTo>
                  <a:pt x="36401" y="312258"/>
                  <a:pt x="0" y="264717"/>
                  <a:pt x="0" y="208892"/>
                </a:cubicBezTo>
                <a:lnTo>
                  <a:pt x="0" y="172516"/>
                </a:lnTo>
                <a:cubicBezTo>
                  <a:pt x="0" y="116331"/>
                  <a:pt x="36401" y="68790"/>
                  <a:pt x="86497" y="51863"/>
                </a:cubicBezTo>
                <a:cubicBezTo>
                  <a:pt x="86857" y="51863"/>
                  <a:pt x="86857" y="51863"/>
                  <a:pt x="87218" y="51863"/>
                </a:cubicBezTo>
                <a:cubicBezTo>
                  <a:pt x="99472" y="47541"/>
                  <a:pt x="113167" y="45380"/>
                  <a:pt x="127223" y="45380"/>
                </a:cubicBezTo>
                <a:lnTo>
                  <a:pt x="222370" y="45380"/>
                </a:lnTo>
                <a:lnTo>
                  <a:pt x="222370" y="18008"/>
                </a:lnTo>
                <a:lnTo>
                  <a:pt x="213360" y="18008"/>
                </a:lnTo>
                <a:cubicBezTo>
                  <a:pt x="208314" y="18008"/>
                  <a:pt x="204350" y="14046"/>
                  <a:pt x="204350" y="9004"/>
                </a:cubicBezTo>
                <a:cubicBezTo>
                  <a:pt x="204350" y="3962"/>
                  <a:pt x="208314" y="0"/>
                  <a:pt x="2133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29" name="Freeform 202">
            <a:extLst>
              <a:ext uri="{FF2B5EF4-FFF2-40B4-BE49-F238E27FC236}">
                <a16:creationId xmlns:a16="http://schemas.microsoft.com/office/drawing/2014/main" id="{791D2EBD-2843-CC47-85E5-B5167F4DC7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54347" y="2711144"/>
            <a:ext cx="468000" cy="451823"/>
          </a:xfrm>
          <a:custGeom>
            <a:avLst/>
            <a:gdLst>
              <a:gd name="T0" fmla="*/ 2147483646 w 842"/>
              <a:gd name="T1" fmla="*/ 2147483646 h 812"/>
              <a:gd name="T2" fmla="*/ 2147483646 w 842"/>
              <a:gd name="T3" fmla="*/ 2147483646 h 812"/>
              <a:gd name="T4" fmla="*/ 2147483646 w 842"/>
              <a:gd name="T5" fmla="*/ 2147483646 h 812"/>
              <a:gd name="T6" fmla="*/ 2147483646 w 842"/>
              <a:gd name="T7" fmla="*/ 2147483646 h 812"/>
              <a:gd name="T8" fmla="*/ 2147483646 w 842"/>
              <a:gd name="T9" fmla="*/ 2147483646 h 812"/>
              <a:gd name="T10" fmla="*/ 2147483646 w 842"/>
              <a:gd name="T11" fmla="*/ 2147483646 h 812"/>
              <a:gd name="T12" fmla="*/ 2147483646 w 842"/>
              <a:gd name="T13" fmla="*/ 2147483646 h 812"/>
              <a:gd name="T14" fmla="*/ 2147483646 w 842"/>
              <a:gd name="T15" fmla="*/ 2147483646 h 812"/>
              <a:gd name="T16" fmla="*/ 2147483646 w 842"/>
              <a:gd name="T17" fmla="*/ 2147483646 h 812"/>
              <a:gd name="T18" fmla="*/ 2147483646 w 842"/>
              <a:gd name="T19" fmla="*/ 2147483646 h 812"/>
              <a:gd name="T20" fmla="*/ 2147483646 w 842"/>
              <a:gd name="T21" fmla="*/ 2147483646 h 812"/>
              <a:gd name="T22" fmla="*/ 2147483646 w 842"/>
              <a:gd name="T23" fmla="*/ 2147483646 h 812"/>
              <a:gd name="T24" fmla="*/ 2147483646 w 842"/>
              <a:gd name="T25" fmla="*/ 2147483646 h 812"/>
              <a:gd name="T26" fmla="*/ 2147483646 w 842"/>
              <a:gd name="T27" fmla="*/ 2147483646 h 812"/>
              <a:gd name="T28" fmla="*/ 2147483646 w 842"/>
              <a:gd name="T29" fmla="*/ 2147483646 h 812"/>
              <a:gd name="T30" fmla="*/ 2147483646 w 842"/>
              <a:gd name="T31" fmla="*/ 2147483646 h 812"/>
              <a:gd name="T32" fmla="*/ 2147483646 w 842"/>
              <a:gd name="T33" fmla="*/ 2147483646 h 812"/>
              <a:gd name="T34" fmla="*/ 2147483646 w 842"/>
              <a:gd name="T35" fmla="*/ 2147483646 h 812"/>
              <a:gd name="T36" fmla="*/ 2147483646 w 842"/>
              <a:gd name="T37" fmla="*/ 2147483646 h 812"/>
              <a:gd name="T38" fmla="*/ 2147483646 w 842"/>
              <a:gd name="T39" fmla="*/ 2147483646 h 812"/>
              <a:gd name="T40" fmla="*/ 2147483646 w 842"/>
              <a:gd name="T41" fmla="*/ 2147483646 h 812"/>
              <a:gd name="T42" fmla="*/ 2147483646 w 842"/>
              <a:gd name="T43" fmla="*/ 2147483646 h 812"/>
              <a:gd name="T44" fmla="*/ 2147483646 w 842"/>
              <a:gd name="T45" fmla="*/ 2147483646 h 812"/>
              <a:gd name="T46" fmla="*/ 2147483646 w 842"/>
              <a:gd name="T47" fmla="*/ 2147483646 h 812"/>
              <a:gd name="T48" fmla="*/ 2147483646 w 842"/>
              <a:gd name="T49" fmla="*/ 2147483646 h 812"/>
              <a:gd name="T50" fmla="*/ 2147483646 w 842"/>
              <a:gd name="T51" fmla="*/ 2147483646 h 812"/>
              <a:gd name="T52" fmla="*/ 2147483646 w 842"/>
              <a:gd name="T53" fmla="*/ 2147483646 h 812"/>
              <a:gd name="T54" fmla="*/ 2147483646 w 842"/>
              <a:gd name="T55" fmla="*/ 2147483646 h 812"/>
              <a:gd name="T56" fmla="*/ 2147483646 w 842"/>
              <a:gd name="T57" fmla="*/ 2147483646 h 812"/>
              <a:gd name="T58" fmla="*/ 2147483646 w 842"/>
              <a:gd name="T59" fmla="*/ 2147483646 h 812"/>
              <a:gd name="T60" fmla="*/ 2147483646 w 842"/>
              <a:gd name="T61" fmla="*/ 2147483646 h 812"/>
              <a:gd name="T62" fmla="*/ 2147483646 w 842"/>
              <a:gd name="T63" fmla="*/ 2147483646 h 812"/>
              <a:gd name="T64" fmla="*/ 2147483646 w 842"/>
              <a:gd name="T65" fmla="*/ 2147483646 h 812"/>
              <a:gd name="T66" fmla="*/ 2147483646 w 842"/>
              <a:gd name="T67" fmla="*/ 2147483646 h 812"/>
              <a:gd name="T68" fmla="*/ 2147483646 w 842"/>
              <a:gd name="T69" fmla="*/ 2147483646 h 812"/>
              <a:gd name="T70" fmla="*/ 2147483646 w 842"/>
              <a:gd name="T71" fmla="*/ 2147483646 h 812"/>
              <a:gd name="T72" fmla="*/ 2147483646 w 842"/>
              <a:gd name="T73" fmla="*/ 2147483646 h 812"/>
              <a:gd name="T74" fmla="*/ 2147483646 w 842"/>
              <a:gd name="T75" fmla="*/ 2147483646 h 812"/>
              <a:gd name="T76" fmla="*/ 2147483646 w 842"/>
              <a:gd name="T77" fmla="*/ 2147483646 h 812"/>
              <a:gd name="T78" fmla="*/ 2147483646 w 842"/>
              <a:gd name="T79" fmla="*/ 2147483646 h 812"/>
              <a:gd name="T80" fmla="*/ 2147483646 w 842"/>
              <a:gd name="T81" fmla="*/ 2147483646 h 812"/>
              <a:gd name="T82" fmla="*/ 2147483646 w 842"/>
              <a:gd name="T83" fmla="*/ 2147483646 h 812"/>
              <a:gd name="T84" fmla="*/ 2147483646 w 842"/>
              <a:gd name="T85" fmla="*/ 2147483646 h 812"/>
              <a:gd name="T86" fmla="*/ 2147483646 w 842"/>
              <a:gd name="T87" fmla="*/ 2147483646 h 812"/>
              <a:gd name="T88" fmla="*/ 2147483646 w 842"/>
              <a:gd name="T89" fmla="*/ 2147483646 h 812"/>
              <a:gd name="T90" fmla="*/ 2147483646 w 842"/>
              <a:gd name="T91" fmla="*/ 2147483646 h 812"/>
              <a:gd name="T92" fmla="*/ 2147483646 w 842"/>
              <a:gd name="T93" fmla="*/ 2147483646 h 812"/>
              <a:gd name="T94" fmla="*/ 2147483646 w 842"/>
              <a:gd name="T95" fmla="*/ 2147483646 h 812"/>
              <a:gd name="T96" fmla="*/ 2147483646 w 842"/>
              <a:gd name="T97" fmla="*/ 2147483646 h 812"/>
              <a:gd name="T98" fmla="*/ 2147483646 w 842"/>
              <a:gd name="T99" fmla="*/ 2147483646 h 812"/>
              <a:gd name="T100" fmla="*/ 2147483646 w 842"/>
              <a:gd name="T101" fmla="*/ 2147483646 h 812"/>
              <a:gd name="T102" fmla="*/ 2147483646 w 842"/>
              <a:gd name="T103" fmla="*/ 2147483646 h 812"/>
              <a:gd name="T104" fmla="*/ 2147483646 w 842"/>
              <a:gd name="T105" fmla="*/ 2147483646 h 812"/>
              <a:gd name="T106" fmla="*/ 2147483646 w 842"/>
              <a:gd name="T107" fmla="*/ 2147483646 h 812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842" h="812">
                <a:moveTo>
                  <a:pt x="799" y="529"/>
                </a:moveTo>
                <a:lnTo>
                  <a:pt x="799" y="529"/>
                </a:lnTo>
                <a:cubicBezTo>
                  <a:pt x="795" y="538"/>
                  <a:pt x="761" y="544"/>
                  <a:pt x="667" y="514"/>
                </a:cubicBezTo>
                <a:cubicBezTo>
                  <a:pt x="662" y="512"/>
                  <a:pt x="656" y="510"/>
                  <a:pt x="652" y="508"/>
                </a:cubicBezTo>
                <a:cubicBezTo>
                  <a:pt x="677" y="479"/>
                  <a:pt x="696" y="446"/>
                  <a:pt x="709" y="410"/>
                </a:cubicBezTo>
                <a:cubicBezTo>
                  <a:pt x="793" y="481"/>
                  <a:pt x="806" y="518"/>
                  <a:pt x="799" y="529"/>
                </a:cubicBezTo>
                <a:close/>
                <a:moveTo>
                  <a:pt x="626" y="499"/>
                </a:moveTo>
                <a:lnTo>
                  <a:pt x="626" y="499"/>
                </a:lnTo>
                <a:cubicBezTo>
                  <a:pt x="572" y="478"/>
                  <a:pt x="509" y="449"/>
                  <a:pt x="445" y="415"/>
                </a:cubicBezTo>
                <a:cubicBezTo>
                  <a:pt x="454" y="411"/>
                  <a:pt x="463" y="405"/>
                  <a:pt x="472" y="400"/>
                </a:cubicBezTo>
                <a:cubicBezTo>
                  <a:pt x="544" y="359"/>
                  <a:pt x="628" y="303"/>
                  <a:pt x="696" y="249"/>
                </a:cubicBezTo>
                <a:cubicBezTo>
                  <a:pt x="701" y="268"/>
                  <a:pt x="703" y="288"/>
                  <a:pt x="703" y="307"/>
                </a:cubicBezTo>
                <a:cubicBezTo>
                  <a:pt x="703" y="379"/>
                  <a:pt x="676" y="447"/>
                  <a:pt x="626" y="499"/>
                </a:cubicBezTo>
                <a:close/>
                <a:moveTo>
                  <a:pt x="578" y="585"/>
                </a:moveTo>
                <a:lnTo>
                  <a:pt x="263" y="585"/>
                </a:lnTo>
                <a:cubicBezTo>
                  <a:pt x="257" y="560"/>
                  <a:pt x="246" y="538"/>
                  <a:pt x="230" y="518"/>
                </a:cubicBezTo>
                <a:cubicBezTo>
                  <a:pt x="288" y="496"/>
                  <a:pt x="353" y="465"/>
                  <a:pt x="420" y="429"/>
                </a:cubicBezTo>
                <a:cubicBezTo>
                  <a:pt x="487" y="465"/>
                  <a:pt x="551" y="496"/>
                  <a:pt x="610" y="518"/>
                </a:cubicBezTo>
                <a:cubicBezTo>
                  <a:pt x="594" y="539"/>
                  <a:pt x="584" y="560"/>
                  <a:pt x="578" y="585"/>
                </a:cubicBezTo>
                <a:close/>
                <a:moveTo>
                  <a:pt x="573" y="627"/>
                </a:moveTo>
                <a:lnTo>
                  <a:pt x="573" y="652"/>
                </a:lnTo>
                <a:lnTo>
                  <a:pt x="323" y="652"/>
                </a:lnTo>
                <a:cubicBezTo>
                  <a:pt x="316" y="652"/>
                  <a:pt x="310" y="658"/>
                  <a:pt x="310" y="664"/>
                </a:cubicBezTo>
                <a:cubicBezTo>
                  <a:pt x="310" y="671"/>
                  <a:pt x="316" y="677"/>
                  <a:pt x="323" y="677"/>
                </a:cubicBezTo>
                <a:lnTo>
                  <a:pt x="573" y="677"/>
                </a:lnTo>
                <a:lnTo>
                  <a:pt x="573" y="714"/>
                </a:lnTo>
                <a:cubicBezTo>
                  <a:pt x="573" y="716"/>
                  <a:pt x="570" y="718"/>
                  <a:pt x="568" y="718"/>
                </a:cubicBezTo>
                <a:lnTo>
                  <a:pt x="273" y="718"/>
                </a:lnTo>
                <a:cubicBezTo>
                  <a:pt x="271" y="718"/>
                  <a:pt x="269" y="716"/>
                  <a:pt x="269" y="714"/>
                </a:cubicBezTo>
                <a:lnTo>
                  <a:pt x="269" y="629"/>
                </a:lnTo>
                <a:cubicBezTo>
                  <a:pt x="269" y="622"/>
                  <a:pt x="268" y="616"/>
                  <a:pt x="267" y="609"/>
                </a:cubicBezTo>
                <a:lnTo>
                  <a:pt x="574" y="609"/>
                </a:lnTo>
                <a:cubicBezTo>
                  <a:pt x="573" y="615"/>
                  <a:pt x="573" y="621"/>
                  <a:pt x="573" y="627"/>
                </a:cubicBezTo>
                <a:lnTo>
                  <a:pt x="483" y="787"/>
                </a:lnTo>
                <a:lnTo>
                  <a:pt x="358" y="787"/>
                </a:lnTo>
                <a:cubicBezTo>
                  <a:pt x="332" y="787"/>
                  <a:pt x="309" y="768"/>
                  <a:pt x="303" y="742"/>
                </a:cubicBezTo>
                <a:lnTo>
                  <a:pt x="539" y="742"/>
                </a:lnTo>
                <a:cubicBezTo>
                  <a:pt x="533" y="768"/>
                  <a:pt x="510" y="787"/>
                  <a:pt x="483" y="787"/>
                </a:cubicBezTo>
                <a:lnTo>
                  <a:pt x="573" y="627"/>
                </a:lnTo>
                <a:close/>
                <a:moveTo>
                  <a:pt x="137" y="307"/>
                </a:moveTo>
                <a:lnTo>
                  <a:pt x="137" y="307"/>
                </a:lnTo>
                <a:cubicBezTo>
                  <a:pt x="137" y="288"/>
                  <a:pt x="139" y="268"/>
                  <a:pt x="143" y="249"/>
                </a:cubicBezTo>
                <a:cubicBezTo>
                  <a:pt x="204" y="299"/>
                  <a:pt x="282" y="351"/>
                  <a:pt x="367" y="400"/>
                </a:cubicBezTo>
                <a:cubicBezTo>
                  <a:pt x="376" y="405"/>
                  <a:pt x="385" y="411"/>
                  <a:pt x="394" y="415"/>
                </a:cubicBezTo>
                <a:cubicBezTo>
                  <a:pt x="329" y="449"/>
                  <a:pt x="267" y="478"/>
                  <a:pt x="213" y="499"/>
                </a:cubicBezTo>
                <a:cubicBezTo>
                  <a:pt x="164" y="447"/>
                  <a:pt x="137" y="379"/>
                  <a:pt x="137" y="307"/>
                </a:cubicBezTo>
                <a:close/>
                <a:moveTo>
                  <a:pt x="173" y="514"/>
                </a:moveTo>
                <a:lnTo>
                  <a:pt x="173" y="514"/>
                </a:lnTo>
                <a:cubicBezTo>
                  <a:pt x="79" y="544"/>
                  <a:pt x="45" y="538"/>
                  <a:pt x="40" y="529"/>
                </a:cubicBezTo>
                <a:cubicBezTo>
                  <a:pt x="34" y="518"/>
                  <a:pt x="48" y="481"/>
                  <a:pt x="130" y="410"/>
                </a:cubicBezTo>
                <a:cubicBezTo>
                  <a:pt x="143" y="446"/>
                  <a:pt x="162" y="479"/>
                  <a:pt x="188" y="508"/>
                </a:cubicBezTo>
                <a:cubicBezTo>
                  <a:pt x="182" y="510"/>
                  <a:pt x="178" y="512"/>
                  <a:pt x="173" y="514"/>
                </a:cubicBezTo>
                <a:close/>
                <a:moveTo>
                  <a:pt x="119" y="197"/>
                </a:moveTo>
                <a:lnTo>
                  <a:pt x="119" y="197"/>
                </a:lnTo>
                <a:cubicBezTo>
                  <a:pt x="45" y="131"/>
                  <a:pt x="34" y="99"/>
                  <a:pt x="40" y="89"/>
                </a:cubicBezTo>
                <a:cubicBezTo>
                  <a:pt x="45" y="79"/>
                  <a:pt x="83" y="73"/>
                  <a:pt x="186" y="108"/>
                </a:cubicBezTo>
                <a:cubicBezTo>
                  <a:pt x="162" y="137"/>
                  <a:pt x="142" y="171"/>
                  <a:pt x="129" y="206"/>
                </a:cubicBezTo>
                <a:cubicBezTo>
                  <a:pt x="126" y="204"/>
                  <a:pt x="122" y="200"/>
                  <a:pt x="119" y="197"/>
                </a:cubicBezTo>
                <a:close/>
                <a:moveTo>
                  <a:pt x="420" y="24"/>
                </a:moveTo>
                <a:lnTo>
                  <a:pt x="420" y="24"/>
                </a:lnTo>
                <a:cubicBezTo>
                  <a:pt x="546" y="24"/>
                  <a:pt x="654" y="109"/>
                  <a:pt x="689" y="223"/>
                </a:cubicBezTo>
                <a:cubicBezTo>
                  <a:pt x="634" y="269"/>
                  <a:pt x="557" y="324"/>
                  <a:pt x="461" y="378"/>
                </a:cubicBezTo>
                <a:cubicBezTo>
                  <a:pt x="446" y="386"/>
                  <a:pt x="434" y="394"/>
                  <a:pt x="420" y="402"/>
                </a:cubicBezTo>
                <a:cubicBezTo>
                  <a:pt x="406" y="394"/>
                  <a:pt x="393" y="386"/>
                  <a:pt x="379" y="378"/>
                </a:cubicBezTo>
                <a:cubicBezTo>
                  <a:pt x="291" y="328"/>
                  <a:pt x="211" y="274"/>
                  <a:pt x="150" y="223"/>
                </a:cubicBezTo>
                <a:cubicBezTo>
                  <a:pt x="186" y="108"/>
                  <a:pt x="293" y="24"/>
                  <a:pt x="420" y="24"/>
                </a:cubicBezTo>
                <a:close/>
                <a:moveTo>
                  <a:pt x="799" y="89"/>
                </a:moveTo>
                <a:lnTo>
                  <a:pt x="799" y="89"/>
                </a:lnTo>
                <a:cubicBezTo>
                  <a:pt x="808" y="105"/>
                  <a:pt x="778" y="148"/>
                  <a:pt x="710" y="207"/>
                </a:cubicBezTo>
                <a:cubicBezTo>
                  <a:pt x="697" y="171"/>
                  <a:pt x="678" y="137"/>
                  <a:pt x="653" y="108"/>
                </a:cubicBezTo>
                <a:cubicBezTo>
                  <a:pt x="756" y="73"/>
                  <a:pt x="795" y="79"/>
                  <a:pt x="799" y="89"/>
                </a:cubicBezTo>
                <a:close/>
                <a:moveTo>
                  <a:pt x="716" y="384"/>
                </a:moveTo>
                <a:lnTo>
                  <a:pt x="716" y="384"/>
                </a:lnTo>
                <a:cubicBezTo>
                  <a:pt x="723" y="359"/>
                  <a:pt x="727" y="334"/>
                  <a:pt x="727" y="307"/>
                </a:cubicBezTo>
                <a:cubicBezTo>
                  <a:pt x="727" y="281"/>
                  <a:pt x="723" y="256"/>
                  <a:pt x="718" y="232"/>
                </a:cubicBezTo>
                <a:cubicBezTo>
                  <a:pt x="791" y="171"/>
                  <a:pt x="841" y="111"/>
                  <a:pt x="821" y="77"/>
                </a:cubicBezTo>
                <a:cubicBezTo>
                  <a:pt x="804" y="46"/>
                  <a:pt x="740" y="50"/>
                  <a:pt x="635" y="88"/>
                </a:cubicBezTo>
                <a:cubicBezTo>
                  <a:pt x="580" y="34"/>
                  <a:pt x="504" y="0"/>
                  <a:pt x="420" y="0"/>
                </a:cubicBezTo>
                <a:cubicBezTo>
                  <a:pt x="335" y="0"/>
                  <a:pt x="259" y="34"/>
                  <a:pt x="204" y="88"/>
                </a:cubicBezTo>
                <a:cubicBezTo>
                  <a:pt x="99" y="50"/>
                  <a:pt x="36" y="46"/>
                  <a:pt x="18" y="77"/>
                </a:cubicBezTo>
                <a:cubicBezTo>
                  <a:pt x="2" y="104"/>
                  <a:pt x="31" y="151"/>
                  <a:pt x="102" y="215"/>
                </a:cubicBezTo>
                <a:cubicBezTo>
                  <a:pt x="108" y="221"/>
                  <a:pt x="114" y="226"/>
                  <a:pt x="122" y="232"/>
                </a:cubicBezTo>
                <a:cubicBezTo>
                  <a:pt x="116" y="256"/>
                  <a:pt x="112" y="281"/>
                  <a:pt x="112" y="307"/>
                </a:cubicBezTo>
                <a:cubicBezTo>
                  <a:pt x="112" y="334"/>
                  <a:pt x="117" y="359"/>
                  <a:pt x="122" y="384"/>
                </a:cubicBezTo>
                <a:cubicBezTo>
                  <a:pt x="36" y="457"/>
                  <a:pt x="0" y="509"/>
                  <a:pt x="18" y="540"/>
                </a:cubicBezTo>
                <a:cubicBezTo>
                  <a:pt x="26" y="553"/>
                  <a:pt x="42" y="560"/>
                  <a:pt x="68" y="560"/>
                </a:cubicBezTo>
                <a:cubicBezTo>
                  <a:pt x="95" y="560"/>
                  <a:pt x="133" y="552"/>
                  <a:pt x="180" y="536"/>
                </a:cubicBezTo>
                <a:cubicBezTo>
                  <a:pt x="189" y="534"/>
                  <a:pt x="197" y="531"/>
                  <a:pt x="205" y="529"/>
                </a:cubicBezTo>
                <a:cubicBezTo>
                  <a:pt x="231" y="556"/>
                  <a:pt x="245" y="591"/>
                  <a:pt x="245" y="629"/>
                </a:cubicBezTo>
                <a:lnTo>
                  <a:pt x="245" y="714"/>
                </a:lnTo>
                <a:cubicBezTo>
                  <a:pt x="245" y="730"/>
                  <a:pt x="258" y="742"/>
                  <a:pt x="273" y="742"/>
                </a:cubicBezTo>
                <a:lnTo>
                  <a:pt x="279" y="742"/>
                </a:lnTo>
                <a:cubicBezTo>
                  <a:pt x="284" y="781"/>
                  <a:pt x="317" y="811"/>
                  <a:pt x="358" y="811"/>
                </a:cubicBezTo>
                <a:lnTo>
                  <a:pt x="483" y="811"/>
                </a:lnTo>
                <a:cubicBezTo>
                  <a:pt x="523" y="811"/>
                  <a:pt x="557" y="781"/>
                  <a:pt x="563" y="742"/>
                </a:cubicBezTo>
                <a:lnTo>
                  <a:pt x="568" y="742"/>
                </a:lnTo>
                <a:cubicBezTo>
                  <a:pt x="584" y="742"/>
                  <a:pt x="598" y="730"/>
                  <a:pt x="598" y="714"/>
                </a:cubicBezTo>
                <a:lnTo>
                  <a:pt x="598" y="627"/>
                </a:lnTo>
                <a:cubicBezTo>
                  <a:pt x="598" y="591"/>
                  <a:pt x="610" y="555"/>
                  <a:pt x="634" y="529"/>
                </a:cubicBezTo>
                <a:cubicBezTo>
                  <a:pt x="643" y="531"/>
                  <a:pt x="651" y="534"/>
                  <a:pt x="659" y="536"/>
                </a:cubicBezTo>
                <a:cubicBezTo>
                  <a:pt x="706" y="552"/>
                  <a:pt x="745" y="560"/>
                  <a:pt x="772" y="560"/>
                </a:cubicBezTo>
                <a:cubicBezTo>
                  <a:pt x="797" y="560"/>
                  <a:pt x="814" y="553"/>
                  <a:pt x="821" y="540"/>
                </a:cubicBezTo>
                <a:cubicBezTo>
                  <a:pt x="839" y="509"/>
                  <a:pt x="804" y="457"/>
                  <a:pt x="716" y="38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56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88760" y="1278894"/>
            <a:ext cx="1582994" cy="616477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60602" y="341822"/>
            <a:ext cx="10404000" cy="600900"/>
          </a:xfrm>
        </p:spPr>
        <p:txBody>
          <a:bodyPr vert="horz" lIns="111037" tIns="55518" rIns="111037" bIns="55518" rtlCol="0" anchor="ctr">
            <a:normAutofit/>
          </a:bodyPr>
          <a:lstStyle/>
          <a:p>
            <a:pPr marL="0" defTabSz="1053663">
              <a:spcBef>
                <a:spcPct val="0"/>
              </a:spcBef>
              <a:buNone/>
            </a:pPr>
            <a:r>
              <a:rPr lang="en-US" sz="2400" b="1" dirty="0">
                <a:latin typeface="Candara" panose="020E0502030303020204" pitchFamily="34" charset="0"/>
              </a:rPr>
              <a:t>Strategy map for Khalifa University of Science and Technology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417352"/>
              </p:ext>
            </p:extLst>
          </p:nvPr>
        </p:nvGraphicFramePr>
        <p:xfrm>
          <a:off x="85725" y="1277938"/>
          <a:ext cx="10679113" cy="613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4878061" imgH="7562729" progId="Excel.Sheet.12">
                  <p:embed/>
                </p:oleObj>
              </mc:Choice>
              <mc:Fallback>
                <p:oleObj name="Worksheet" r:id="rId2" imgW="14878061" imgH="7562729" progId="Excel.Sheet.12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" y="1277938"/>
                        <a:ext cx="10679113" cy="6132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89512" y="6028056"/>
            <a:ext cx="1124215" cy="80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37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6279" y="6838908"/>
            <a:ext cx="1750684" cy="238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48" dirty="0"/>
              <a:t>Key Strategic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9663" y="2322807"/>
            <a:ext cx="1043914" cy="80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37" dirty="0">
                <a:solidFill>
                  <a:schemeClr val="tx2"/>
                </a:solidFill>
              </a:rPr>
              <a:t>3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65515" y="3043657"/>
            <a:ext cx="1429480" cy="238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48" dirty="0"/>
              <a:t>Strategic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9512" y="4972742"/>
            <a:ext cx="1124215" cy="80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37" dirty="0">
                <a:solidFill>
                  <a:schemeClr val="tx2"/>
                </a:solidFill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8759" y="5681953"/>
            <a:ext cx="1582994" cy="238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48" dirty="0"/>
              <a:t>Objectives/Targets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9663" y="3668688"/>
            <a:ext cx="1043914" cy="80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37" dirty="0">
                <a:solidFill>
                  <a:schemeClr val="tx2"/>
                </a:solidFill>
              </a:rPr>
              <a:t>7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3067" y="4374882"/>
            <a:ext cx="1177853" cy="238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48" dirty="0"/>
              <a:t>Initiatives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2694" y="1439496"/>
            <a:ext cx="1177853" cy="38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7" dirty="0"/>
              <a:t>Summary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406960"/>
            <a:ext cx="2323548" cy="5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5640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 5">
            <a:extLst>
              <a:ext uri="{FF2B5EF4-FFF2-40B4-BE49-F238E27FC236}">
                <a16:creationId xmlns:a16="http://schemas.microsoft.com/office/drawing/2014/main" id="{2D2C292F-DD4E-4142-95E0-BD2936BF1AA8}"/>
              </a:ext>
            </a:extLst>
          </p:cNvPr>
          <p:cNvSpPr>
            <a:spLocks noEditPoints="1"/>
          </p:cNvSpPr>
          <p:nvPr/>
        </p:nvSpPr>
        <p:spPr bwMode="auto">
          <a:xfrm>
            <a:off x="592457" y="1700485"/>
            <a:ext cx="1896875" cy="1896875"/>
          </a:xfrm>
          <a:custGeom>
            <a:avLst/>
            <a:gdLst>
              <a:gd name="T0" fmla="*/ 548 w 567"/>
              <a:gd name="T1" fmla="*/ 239 h 571"/>
              <a:gd name="T2" fmla="*/ 495 w 567"/>
              <a:gd name="T3" fmla="*/ 210 h 571"/>
              <a:gd name="T4" fmla="*/ 485 w 567"/>
              <a:gd name="T5" fmla="*/ 162 h 571"/>
              <a:gd name="T6" fmla="*/ 506 w 567"/>
              <a:gd name="T7" fmla="*/ 119 h 571"/>
              <a:gd name="T8" fmla="*/ 465 w 567"/>
              <a:gd name="T9" fmla="*/ 66 h 571"/>
              <a:gd name="T10" fmla="*/ 409 w 567"/>
              <a:gd name="T11" fmla="*/ 79 h 571"/>
              <a:gd name="T12" fmla="*/ 355 w 567"/>
              <a:gd name="T13" fmla="*/ 71 h 571"/>
              <a:gd name="T14" fmla="*/ 330 w 567"/>
              <a:gd name="T15" fmla="*/ 19 h 571"/>
              <a:gd name="T16" fmla="*/ 258 w 567"/>
              <a:gd name="T17" fmla="*/ 1 h 571"/>
              <a:gd name="T18" fmla="*/ 227 w 567"/>
              <a:gd name="T19" fmla="*/ 53 h 571"/>
              <a:gd name="T20" fmla="*/ 186 w 567"/>
              <a:gd name="T21" fmla="*/ 83 h 571"/>
              <a:gd name="T22" fmla="*/ 128 w 567"/>
              <a:gd name="T23" fmla="*/ 64 h 571"/>
              <a:gd name="T24" fmla="*/ 66 w 567"/>
              <a:gd name="T25" fmla="*/ 104 h 571"/>
              <a:gd name="T26" fmla="*/ 81 w 567"/>
              <a:gd name="T27" fmla="*/ 159 h 571"/>
              <a:gd name="T28" fmla="*/ 71 w 567"/>
              <a:gd name="T29" fmla="*/ 214 h 571"/>
              <a:gd name="T30" fmla="*/ 20 w 567"/>
              <a:gd name="T31" fmla="*/ 239 h 571"/>
              <a:gd name="T32" fmla="*/ 2 w 567"/>
              <a:gd name="T33" fmla="*/ 312 h 571"/>
              <a:gd name="T34" fmla="*/ 50 w 567"/>
              <a:gd name="T35" fmla="*/ 341 h 571"/>
              <a:gd name="T36" fmla="*/ 82 w 567"/>
              <a:gd name="T37" fmla="*/ 387 h 571"/>
              <a:gd name="T38" fmla="*/ 82 w 567"/>
              <a:gd name="T39" fmla="*/ 408 h 571"/>
              <a:gd name="T40" fmla="*/ 68 w 567"/>
              <a:gd name="T41" fmla="*/ 470 h 571"/>
              <a:gd name="T42" fmla="*/ 103 w 567"/>
              <a:gd name="T43" fmla="*/ 505 h 571"/>
              <a:gd name="T44" fmla="*/ 153 w 567"/>
              <a:gd name="T45" fmla="*/ 494 h 571"/>
              <a:gd name="T46" fmla="*/ 210 w 567"/>
              <a:gd name="T47" fmla="*/ 500 h 571"/>
              <a:gd name="T48" fmla="*/ 238 w 567"/>
              <a:gd name="T49" fmla="*/ 551 h 571"/>
              <a:gd name="T50" fmla="*/ 273 w 567"/>
              <a:gd name="T51" fmla="*/ 571 h 571"/>
              <a:gd name="T52" fmla="*/ 330 w 567"/>
              <a:gd name="T53" fmla="*/ 551 h 571"/>
              <a:gd name="T54" fmla="*/ 356 w 567"/>
              <a:gd name="T55" fmla="*/ 501 h 571"/>
              <a:gd name="T56" fmla="*/ 405 w 567"/>
              <a:gd name="T57" fmla="*/ 489 h 571"/>
              <a:gd name="T58" fmla="*/ 452 w 567"/>
              <a:gd name="T59" fmla="*/ 509 h 571"/>
              <a:gd name="T60" fmla="*/ 501 w 567"/>
              <a:gd name="T61" fmla="*/ 468 h 571"/>
              <a:gd name="T62" fmla="*/ 490 w 567"/>
              <a:gd name="T63" fmla="*/ 417 h 571"/>
              <a:gd name="T64" fmla="*/ 495 w 567"/>
              <a:gd name="T65" fmla="*/ 364 h 571"/>
              <a:gd name="T66" fmla="*/ 548 w 567"/>
              <a:gd name="T67" fmla="*/ 331 h 571"/>
              <a:gd name="T68" fmla="*/ 567 w 567"/>
              <a:gd name="T69" fmla="*/ 275 h 571"/>
              <a:gd name="T70" fmla="*/ 285 w 567"/>
              <a:gd name="T71" fmla="*/ 355 h 571"/>
              <a:gd name="T72" fmla="*/ 285 w 567"/>
              <a:gd name="T73" fmla="*/ 215 h 571"/>
              <a:gd name="T74" fmla="*/ 285 w 567"/>
              <a:gd name="T75" fmla="*/ 355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67" h="571">
                <a:moveTo>
                  <a:pt x="565" y="260"/>
                </a:moveTo>
                <a:cubicBezTo>
                  <a:pt x="566" y="250"/>
                  <a:pt x="557" y="241"/>
                  <a:pt x="548" y="239"/>
                </a:cubicBezTo>
                <a:cubicBezTo>
                  <a:pt x="537" y="236"/>
                  <a:pt x="526" y="232"/>
                  <a:pt x="515" y="229"/>
                </a:cubicBezTo>
                <a:cubicBezTo>
                  <a:pt x="506" y="227"/>
                  <a:pt x="499" y="219"/>
                  <a:pt x="495" y="210"/>
                </a:cubicBezTo>
                <a:cubicBezTo>
                  <a:pt x="492" y="202"/>
                  <a:pt x="489" y="193"/>
                  <a:pt x="486" y="186"/>
                </a:cubicBezTo>
                <a:cubicBezTo>
                  <a:pt x="480" y="177"/>
                  <a:pt x="480" y="170"/>
                  <a:pt x="485" y="162"/>
                </a:cubicBezTo>
                <a:cubicBezTo>
                  <a:pt x="490" y="153"/>
                  <a:pt x="495" y="145"/>
                  <a:pt x="499" y="137"/>
                </a:cubicBezTo>
                <a:cubicBezTo>
                  <a:pt x="502" y="131"/>
                  <a:pt x="506" y="126"/>
                  <a:pt x="506" y="119"/>
                </a:cubicBezTo>
                <a:cubicBezTo>
                  <a:pt x="507" y="106"/>
                  <a:pt x="499" y="98"/>
                  <a:pt x="492" y="91"/>
                </a:cubicBezTo>
                <a:cubicBezTo>
                  <a:pt x="484" y="82"/>
                  <a:pt x="474" y="74"/>
                  <a:pt x="465" y="66"/>
                </a:cubicBezTo>
                <a:cubicBezTo>
                  <a:pt x="457" y="60"/>
                  <a:pt x="449" y="59"/>
                  <a:pt x="440" y="63"/>
                </a:cubicBezTo>
                <a:cubicBezTo>
                  <a:pt x="430" y="68"/>
                  <a:pt x="420" y="74"/>
                  <a:pt x="409" y="79"/>
                </a:cubicBezTo>
                <a:cubicBezTo>
                  <a:pt x="401" y="84"/>
                  <a:pt x="392" y="86"/>
                  <a:pt x="383" y="83"/>
                </a:cubicBezTo>
                <a:cubicBezTo>
                  <a:pt x="373" y="79"/>
                  <a:pt x="363" y="75"/>
                  <a:pt x="355" y="71"/>
                </a:cubicBezTo>
                <a:cubicBezTo>
                  <a:pt x="348" y="67"/>
                  <a:pt x="342" y="61"/>
                  <a:pt x="340" y="54"/>
                </a:cubicBezTo>
                <a:cubicBezTo>
                  <a:pt x="336" y="42"/>
                  <a:pt x="333" y="30"/>
                  <a:pt x="330" y="19"/>
                </a:cubicBezTo>
                <a:cubicBezTo>
                  <a:pt x="327" y="11"/>
                  <a:pt x="318" y="2"/>
                  <a:pt x="310" y="1"/>
                </a:cubicBezTo>
                <a:cubicBezTo>
                  <a:pt x="293" y="0"/>
                  <a:pt x="276" y="0"/>
                  <a:pt x="258" y="1"/>
                </a:cubicBezTo>
                <a:cubicBezTo>
                  <a:pt x="249" y="2"/>
                  <a:pt x="240" y="9"/>
                  <a:pt x="238" y="18"/>
                </a:cubicBezTo>
                <a:cubicBezTo>
                  <a:pt x="234" y="30"/>
                  <a:pt x="231" y="42"/>
                  <a:pt x="227" y="53"/>
                </a:cubicBezTo>
                <a:cubicBezTo>
                  <a:pt x="225" y="61"/>
                  <a:pt x="219" y="68"/>
                  <a:pt x="212" y="71"/>
                </a:cubicBezTo>
                <a:cubicBezTo>
                  <a:pt x="204" y="75"/>
                  <a:pt x="195" y="79"/>
                  <a:pt x="186" y="83"/>
                </a:cubicBezTo>
                <a:cubicBezTo>
                  <a:pt x="177" y="86"/>
                  <a:pt x="167" y="85"/>
                  <a:pt x="159" y="81"/>
                </a:cubicBezTo>
                <a:cubicBezTo>
                  <a:pt x="149" y="76"/>
                  <a:pt x="138" y="69"/>
                  <a:pt x="128" y="64"/>
                </a:cubicBezTo>
                <a:cubicBezTo>
                  <a:pt x="120" y="60"/>
                  <a:pt x="110" y="60"/>
                  <a:pt x="103" y="66"/>
                </a:cubicBezTo>
                <a:cubicBezTo>
                  <a:pt x="89" y="77"/>
                  <a:pt x="76" y="89"/>
                  <a:pt x="66" y="104"/>
                </a:cubicBezTo>
                <a:cubicBezTo>
                  <a:pt x="60" y="111"/>
                  <a:pt x="60" y="120"/>
                  <a:pt x="64" y="129"/>
                </a:cubicBezTo>
                <a:cubicBezTo>
                  <a:pt x="69" y="139"/>
                  <a:pt x="75" y="149"/>
                  <a:pt x="81" y="159"/>
                </a:cubicBezTo>
                <a:cubicBezTo>
                  <a:pt x="85" y="167"/>
                  <a:pt x="86" y="176"/>
                  <a:pt x="83" y="184"/>
                </a:cubicBezTo>
                <a:cubicBezTo>
                  <a:pt x="79" y="193"/>
                  <a:pt x="75" y="204"/>
                  <a:pt x="71" y="214"/>
                </a:cubicBezTo>
                <a:cubicBezTo>
                  <a:pt x="67" y="221"/>
                  <a:pt x="62" y="226"/>
                  <a:pt x="54" y="229"/>
                </a:cubicBezTo>
                <a:cubicBezTo>
                  <a:pt x="43" y="233"/>
                  <a:pt x="32" y="236"/>
                  <a:pt x="20" y="239"/>
                </a:cubicBezTo>
                <a:cubicBezTo>
                  <a:pt x="11" y="241"/>
                  <a:pt x="3" y="249"/>
                  <a:pt x="1" y="260"/>
                </a:cubicBezTo>
                <a:cubicBezTo>
                  <a:pt x="0" y="277"/>
                  <a:pt x="1" y="295"/>
                  <a:pt x="2" y="312"/>
                </a:cubicBezTo>
                <a:cubicBezTo>
                  <a:pt x="3" y="322"/>
                  <a:pt x="10" y="328"/>
                  <a:pt x="18" y="331"/>
                </a:cubicBezTo>
                <a:cubicBezTo>
                  <a:pt x="29" y="335"/>
                  <a:pt x="39" y="338"/>
                  <a:pt x="50" y="341"/>
                </a:cubicBezTo>
                <a:cubicBezTo>
                  <a:pt x="60" y="344"/>
                  <a:pt x="67" y="350"/>
                  <a:pt x="71" y="360"/>
                </a:cubicBezTo>
                <a:cubicBezTo>
                  <a:pt x="75" y="369"/>
                  <a:pt x="79" y="378"/>
                  <a:pt x="82" y="387"/>
                </a:cubicBezTo>
                <a:cubicBezTo>
                  <a:pt x="84" y="391"/>
                  <a:pt x="88" y="395"/>
                  <a:pt x="85" y="400"/>
                </a:cubicBezTo>
                <a:cubicBezTo>
                  <a:pt x="85" y="403"/>
                  <a:pt x="84" y="405"/>
                  <a:pt x="82" y="408"/>
                </a:cubicBezTo>
                <a:cubicBezTo>
                  <a:pt x="77" y="419"/>
                  <a:pt x="71" y="429"/>
                  <a:pt x="65" y="440"/>
                </a:cubicBezTo>
                <a:cubicBezTo>
                  <a:pt x="60" y="452"/>
                  <a:pt x="60" y="461"/>
                  <a:pt x="68" y="470"/>
                </a:cubicBezTo>
                <a:cubicBezTo>
                  <a:pt x="75" y="477"/>
                  <a:pt x="81" y="484"/>
                  <a:pt x="87" y="490"/>
                </a:cubicBezTo>
                <a:cubicBezTo>
                  <a:pt x="93" y="495"/>
                  <a:pt x="97" y="500"/>
                  <a:pt x="103" y="505"/>
                </a:cubicBezTo>
                <a:cubicBezTo>
                  <a:pt x="110" y="512"/>
                  <a:pt x="119" y="511"/>
                  <a:pt x="127" y="508"/>
                </a:cubicBezTo>
                <a:cubicBezTo>
                  <a:pt x="136" y="503"/>
                  <a:pt x="145" y="498"/>
                  <a:pt x="153" y="494"/>
                </a:cubicBezTo>
                <a:cubicBezTo>
                  <a:pt x="163" y="487"/>
                  <a:pt x="173" y="485"/>
                  <a:pt x="184" y="489"/>
                </a:cubicBezTo>
                <a:cubicBezTo>
                  <a:pt x="193" y="493"/>
                  <a:pt x="201" y="496"/>
                  <a:pt x="210" y="500"/>
                </a:cubicBezTo>
                <a:cubicBezTo>
                  <a:pt x="218" y="503"/>
                  <a:pt x="225" y="509"/>
                  <a:pt x="229" y="518"/>
                </a:cubicBezTo>
                <a:cubicBezTo>
                  <a:pt x="232" y="529"/>
                  <a:pt x="235" y="540"/>
                  <a:pt x="238" y="551"/>
                </a:cubicBezTo>
                <a:cubicBezTo>
                  <a:pt x="240" y="559"/>
                  <a:pt x="244" y="565"/>
                  <a:pt x="252" y="568"/>
                </a:cubicBezTo>
                <a:cubicBezTo>
                  <a:pt x="259" y="570"/>
                  <a:pt x="266" y="570"/>
                  <a:pt x="273" y="571"/>
                </a:cubicBezTo>
                <a:cubicBezTo>
                  <a:pt x="285" y="571"/>
                  <a:pt x="298" y="569"/>
                  <a:pt x="310" y="569"/>
                </a:cubicBezTo>
                <a:cubicBezTo>
                  <a:pt x="319" y="569"/>
                  <a:pt x="328" y="559"/>
                  <a:pt x="330" y="551"/>
                </a:cubicBezTo>
                <a:cubicBezTo>
                  <a:pt x="332" y="541"/>
                  <a:pt x="336" y="530"/>
                  <a:pt x="339" y="520"/>
                </a:cubicBezTo>
                <a:cubicBezTo>
                  <a:pt x="342" y="512"/>
                  <a:pt x="348" y="505"/>
                  <a:pt x="356" y="501"/>
                </a:cubicBezTo>
                <a:cubicBezTo>
                  <a:pt x="365" y="497"/>
                  <a:pt x="374" y="494"/>
                  <a:pt x="383" y="490"/>
                </a:cubicBezTo>
                <a:cubicBezTo>
                  <a:pt x="390" y="486"/>
                  <a:pt x="398" y="486"/>
                  <a:pt x="405" y="489"/>
                </a:cubicBezTo>
                <a:cubicBezTo>
                  <a:pt x="414" y="493"/>
                  <a:pt x="422" y="498"/>
                  <a:pt x="430" y="502"/>
                </a:cubicBezTo>
                <a:cubicBezTo>
                  <a:pt x="437" y="505"/>
                  <a:pt x="444" y="511"/>
                  <a:pt x="452" y="509"/>
                </a:cubicBezTo>
                <a:cubicBezTo>
                  <a:pt x="457" y="509"/>
                  <a:pt x="462" y="507"/>
                  <a:pt x="466" y="504"/>
                </a:cubicBezTo>
                <a:cubicBezTo>
                  <a:pt x="479" y="493"/>
                  <a:pt x="490" y="481"/>
                  <a:pt x="501" y="468"/>
                </a:cubicBezTo>
                <a:cubicBezTo>
                  <a:pt x="508" y="460"/>
                  <a:pt x="508" y="452"/>
                  <a:pt x="504" y="442"/>
                </a:cubicBezTo>
                <a:cubicBezTo>
                  <a:pt x="499" y="434"/>
                  <a:pt x="495" y="425"/>
                  <a:pt x="490" y="417"/>
                </a:cubicBezTo>
                <a:cubicBezTo>
                  <a:pt x="483" y="405"/>
                  <a:pt x="482" y="393"/>
                  <a:pt x="488" y="380"/>
                </a:cubicBezTo>
                <a:cubicBezTo>
                  <a:pt x="490" y="376"/>
                  <a:pt x="493" y="371"/>
                  <a:pt x="495" y="364"/>
                </a:cubicBezTo>
                <a:cubicBezTo>
                  <a:pt x="499" y="354"/>
                  <a:pt x="504" y="345"/>
                  <a:pt x="515" y="341"/>
                </a:cubicBezTo>
                <a:cubicBezTo>
                  <a:pt x="526" y="338"/>
                  <a:pt x="537" y="334"/>
                  <a:pt x="548" y="331"/>
                </a:cubicBezTo>
                <a:cubicBezTo>
                  <a:pt x="556" y="329"/>
                  <a:pt x="565" y="320"/>
                  <a:pt x="565" y="312"/>
                </a:cubicBezTo>
                <a:cubicBezTo>
                  <a:pt x="566" y="300"/>
                  <a:pt x="567" y="287"/>
                  <a:pt x="567" y="275"/>
                </a:cubicBezTo>
                <a:cubicBezTo>
                  <a:pt x="567" y="269"/>
                  <a:pt x="565" y="264"/>
                  <a:pt x="565" y="260"/>
                </a:cubicBezTo>
                <a:close/>
                <a:moveTo>
                  <a:pt x="285" y="355"/>
                </a:moveTo>
                <a:cubicBezTo>
                  <a:pt x="246" y="355"/>
                  <a:pt x="215" y="324"/>
                  <a:pt x="215" y="285"/>
                </a:cubicBezTo>
                <a:cubicBezTo>
                  <a:pt x="215" y="246"/>
                  <a:pt x="246" y="215"/>
                  <a:pt x="285" y="215"/>
                </a:cubicBezTo>
                <a:cubicBezTo>
                  <a:pt x="324" y="215"/>
                  <a:pt x="355" y="246"/>
                  <a:pt x="355" y="285"/>
                </a:cubicBezTo>
                <a:cubicBezTo>
                  <a:pt x="355" y="324"/>
                  <a:pt x="324" y="355"/>
                  <a:pt x="285" y="35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txBody>
          <a:bodyPr vert="horz" wrap="square" lIns="96361" tIns="48181" rIns="96361" bIns="48181" numCol="1" anchor="t" anchorCtr="0" compatLnSpc="1">
            <a:prstTxWarp prst="textNoShape">
              <a:avLst/>
            </a:prstTxWarp>
          </a:bodyPr>
          <a:lstStyle/>
          <a:p>
            <a:pPr defTabSz="963595">
              <a:defRPr/>
            </a:pPr>
            <a:endParaRPr lang="en-US" sz="1897" dirty="0">
              <a:solidFill>
                <a:srgbClr val="282F39"/>
              </a:solidFill>
              <a:latin typeface="Calibri" panose="020F0502020204030204"/>
            </a:endParaRPr>
          </a:p>
        </p:txBody>
      </p:sp>
      <p:sp>
        <p:nvSpPr>
          <p:cNvPr id="65" name="Freeform 5">
            <a:extLst>
              <a:ext uri="{FF2B5EF4-FFF2-40B4-BE49-F238E27FC236}">
                <a16:creationId xmlns:a16="http://schemas.microsoft.com/office/drawing/2014/main" id="{97C57519-1F9A-419A-A338-2652037A2847}"/>
              </a:ext>
            </a:extLst>
          </p:cNvPr>
          <p:cNvSpPr>
            <a:spLocks noEditPoints="1"/>
          </p:cNvSpPr>
          <p:nvPr/>
        </p:nvSpPr>
        <p:spPr bwMode="auto">
          <a:xfrm rot="20237348">
            <a:off x="2543039" y="1700485"/>
            <a:ext cx="1896875" cy="1896875"/>
          </a:xfrm>
          <a:custGeom>
            <a:avLst/>
            <a:gdLst>
              <a:gd name="T0" fmla="*/ 548 w 567"/>
              <a:gd name="T1" fmla="*/ 239 h 571"/>
              <a:gd name="T2" fmla="*/ 495 w 567"/>
              <a:gd name="T3" fmla="*/ 210 h 571"/>
              <a:gd name="T4" fmla="*/ 485 w 567"/>
              <a:gd name="T5" fmla="*/ 162 h 571"/>
              <a:gd name="T6" fmla="*/ 506 w 567"/>
              <a:gd name="T7" fmla="*/ 119 h 571"/>
              <a:gd name="T8" fmla="*/ 465 w 567"/>
              <a:gd name="T9" fmla="*/ 66 h 571"/>
              <a:gd name="T10" fmla="*/ 409 w 567"/>
              <a:gd name="T11" fmla="*/ 79 h 571"/>
              <a:gd name="T12" fmla="*/ 355 w 567"/>
              <a:gd name="T13" fmla="*/ 71 h 571"/>
              <a:gd name="T14" fmla="*/ 330 w 567"/>
              <a:gd name="T15" fmla="*/ 19 h 571"/>
              <a:gd name="T16" fmla="*/ 258 w 567"/>
              <a:gd name="T17" fmla="*/ 1 h 571"/>
              <a:gd name="T18" fmla="*/ 227 w 567"/>
              <a:gd name="T19" fmla="*/ 53 h 571"/>
              <a:gd name="T20" fmla="*/ 186 w 567"/>
              <a:gd name="T21" fmla="*/ 83 h 571"/>
              <a:gd name="T22" fmla="*/ 128 w 567"/>
              <a:gd name="T23" fmla="*/ 64 h 571"/>
              <a:gd name="T24" fmla="*/ 66 w 567"/>
              <a:gd name="T25" fmla="*/ 104 h 571"/>
              <a:gd name="T26" fmla="*/ 81 w 567"/>
              <a:gd name="T27" fmla="*/ 159 h 571"/>
              <a:gd name="T28" fmla="*/ 71 w 567"/>
              <a:gd name="T29" fmla="*/ 214 h 571"/>
              <a:gd name="T30" fmla="*/ 20 w 567"/>
              <a:gd name="T31" fmla="*/ 239 h 571"/>
              <a:gd name="T32" fmla="*/ 2 w 567"/>
              <a:gd name="T33" fmla="*/ 312 h 571"/>
              <a:gd name="T34" fmla="*/ 50 w 567"/>
              <a:gd name="T35" fmla="*/ 341 h 571"/>
              <a:gd name="T36" fmla="*/ 82 w 567"/>
              <a:gd name="T37" fmla="*/ 387 h 571"/>
              <a:gd name="T38" fmla="*/ 82 w 567"/>
              <a:gd name="T39" fmla="*/ 408 h 571"/>
              <a:gd name="T40" fmla="*/ 68 w 567"/>
              <a:gd name="T41" fmla="*/ 470 h 571"/>
              <a:gd name="T42" fmla="*/ 103 w 567"/>
              <a:gd name="T43" fmla="*/ 505 h 571"/>
              <a:gd name="T44" fmla="*/ 153 w 567"/>
              <a:gd name="T45" fmla="*/ 494 h 571"/>
              <a:gd name="T46" fmla="*/ 210 w 567"/>
              <a:gd name="T47" fmla="*/ 500 h 571"/>
              <a:gd name="T48" fmla="*/ 238 w 567"/>
              <a:gd name="T49" fmla="*/ 551 h 571"/>
              <a:gd name="T50" fmla="*/ 273 w 567"/>
              <a:gd name="T51" fmla="*/ 571 h 571"/>
              <a:gd name="T52" fmla="*/ 330 w 567"/>
              <a:gd name="T53" fmla="*/ 551 h 571"/>
              <a:gd name="T54" fmla="*/ 356 w 567"/>
              <a:gd name="T55" fmla="*/ 501 h 571"/>
              <a:gd name="T56" fmla="*/ 405 w 567"/>
              <a:gd name="T57" fmla="*/ 489 h 571"/>
              <a:gd name="T58" fmla="*/ 452 w 567"/>
              <a:gd name="T59" fmla="*/ 509 h 571"/>
              <a:gd name="T60" fmla="*/ 501 w 567"/>
              <a:gd name="T61" fmla="*/ 468 h 571"/>
              <a:gd name="T62" fmla="*/ 490 w 567"/>
              <a:gd name="T63" fmla="*/ 417 h 571"/>
              <a:gd name="T64" fmla="*/ 495 w 567"/>
              <a:gd name="T65" fmla="*/ 364 h 571"/>
              <a:gd name="T66" fmla="*/ 548 w 567"/>
              <a:gd name="T67" fmla="*/ 331 h 571"/>
              <a:gd name="T68" fmla="*/ 567 w 567"/>
              <a:gd name="T69" fmla="*/ 275 h 571"/>
              <a:gd name="T70" fmla="*/ 285 w 567"/>
              <a:gd name="T71" fmla="*/ 355 h 571"/>
              <a:gd name="T72" fmla="*/ 285 w 567"/>
              <a:gd name="T73" fmla="*/ 215 h 571"/>
              <a:gd name="T74" fmla="*/ 285 w 567"/>
              <a:gd name="T75" fmla="*/ 355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67" h="571">
                <a:moveTo>
                  <a:pt x="565" y="260"/>
                </a:moveTo>
                <a:cubicBezTo>
                  <a:pt x="566" y="250"/>
                  <a:pt x="557" y="241"/>
                  <a:pt x="548" y="239"/>
                </a:cubicBezTo>
                <a:cubicBezTo>
                  <a:pt x="537" y="236"/>
                  <a:pt x="526" y="232"/>
                  <a:pt x="515" y="229"/>
                </a:cubicBezTo>
                <a:cubicBezTo>
                  <a:pt x="506" y="227"/>
                  <a:pt x="499" y="219"/>
                  <a:pt x="495" y="210"/>
                </a:cubicBezTo>
                <a:cubicBezTo>
                  <a:pt x="492" y="202"/>
                  <a:pt x="489" y="193"/>
                  <a:pt x="486" y="186"/>
                </a:cubicBezTo>
                <a:cubicBezTo>
                  <a:pt x="480" y="177"/>
                  <a:pt x="480" y="170"/>
                  <a:pt x="485" y="162"/>
                </a:cubicBezTo>
                <a:cubicBezTo>
                  <a:pt x="490" y="153"/>
                  <a:pt x="495" y="145"/>
                  <a:pt x="499" y="137"/>
                </a:cubicBezTo>
                <a:cubicBezTo>
                  <a:pt x="502" y="131"/>
                  <a:pt x="506" y="126"/>
                  <a:pt x="506" y="119"/>
                </a:cubicBezTo>
                <a:cubicBezTo>
                  <a:pt x="507" y="106"/>
                  <a:pt x="499" y="98"/>
                  <a:pt x="492" y="91"/>
                </a:cubicBezTo>
                <a:cubicBezTo>
                  <a:pt x="484" y="82"/>
                  <a:pt x="474" y="74"/>
                  <a:pt x="465" y="66"/>
                </a:cubicBezTo>
                <a:cubicBezTo>
                  <a:pt x="457" y="60"/>
                  <a:pt x="449" y="59"/>
                  <a:pt x="440" y="63"/>
                </a:cubicBezTo>
                <a:cubicBezTo>
                  <a:pt x="430" y="68"/>
                  <a:pt x="420" y="74"/>
                  <a:pt x="409" y="79"/>
                </a:cubicBezTo>
                <a:cubicBezTo>
                  <a:pt x="401" y="84"/>
                  <a:pt x="392" y="86"/>
                  <a:pt x="383" y="83"/>
                </a:cubicBezTo>
                <a:cubicBezTo>
                  <a:pt x="373" y="79"/>
                  <a:pt x="363" y="75"/>
                  <a:pt x="355" y="71"/>
                </a:cubicBezTo>
                <a:cubicBezTo>
                  <a:pt x="348" y="67"/>
                  <a:pt x="342" y="61"/>
                  <a:pt x="340" y="54"/>
                </a:cubicBezTo>
                <a:cubicBezTo>
                  <a:pt x="336" y="42"/>
                  <a:pt x="333" y="30"/>
                  <a:pt x="330" y="19"/>
                </a:cubicBezTo>
                <a:cubicBezTo>
                  <a:pt x="327" y="11"/>
                  <a:pt x="318" y="2"/>
                  <a:pt x="310" y="1"/>
                </a:cubicBezTo>
                <a:cubicBezTo>
                  <a:pt x="293" y="0"/>
                  <a:pt x="276" y="0"/>
                  <a:pt x="258" y="1"/>
                </a:cubicBezTo>
                <a:cubicBezTo>
                  <a:pt x="249" y="2"/>
                  <a:pt x="240" y="9"/>
                  <a:pt x="238" y="18"/>
                </a:cubicBezTo>
                <a:cubicBezTo>
                  <a:pt x="234" y="30"/>
                  <a:pt x="231" y="42"/>
                  <a:pt x="227" y="53"/>
                </a:cubicBezTo>
                <a:cubicBezTo>
                  <a:pt x="225" y="61"/>
                  <a:pt x="219" y="68"/>
                  <a:pt x="212" y="71"/>
                </a:cubicBezTo>
                <a:cubicBezTo>
                  <a:pt x="204" y="75"/>
                  <a:pt x="195" y="79"/>
                  <a:pt x="186" y="83"/>
                </a:cubicBezTo>
                <a:cubicBezTo>
                  <a:pt x="177" y="86"/>
                  <a:pt x="167" y="85"/>
                  <a:pt x="159" y="81"/>
                </a:cubicBezTo>
                <a:cubicBezTo>
                  <a:pt x="149" y="76"/>
                  <a:pt x="138" y="69"/>
                  <a:pt x="128" y="64"/>
                </a:cubicBezTo>
                <a:cubicBezTo>
                  <a:pt x="120" y="60"/>
                  <a:pt x="110" y="60"/>
                  <a:pt x="103" y="66"/>
                </a:cubicBezTo>
                <a:cubicBezTo>
                  <a:pt x="89" y="77"/>
                  <a:pt x="76" y="89"/>
                  <a:pt x="66" y="104"/>
                </a:cubicBezTo>
                <a:cubicBezTo>
                  <a:pt x="60" y="111"/>
                  <a:pt x="60" y="120"/>
                  <a:pt x="64" y="129"/>
                </a:cubicBezTo>
                <a:cubicBezTo>
                  <a:pt x="69" y="139"/>
                  <a:pt x="75" y="149"/>
                  <a:pt x="81" y="159"/>
                </a:cubicBezTo>
                <a:cubicBezTo>
                  <a:pt x="85" y="167"/>
                  <a:pt x="86" y="176"/>
                  <a:pt x="83" y="184"/>
                </a:cubicBezTo>
                <a:cubicBezTo>
                  <a:pt x="79" y="193"/>
                  <a:pt x="75" y="204"/>
                  <a:pt x="71" y="214"/>
                </a:cubicBezTo>
                <a:cubicBezTo>
                  <a:pt x="67" y="221"/>
                  <a:pt x="62" y="226"/>
                  <a:pt x="54" y="229"/>
                </a:cubicBezTo>
                <a:cubicBezTo>
                  <a:pt x="43" y="233"/>
                  <a:pt x="32" y="236"/>
                  <a:pt x="20" y="239"/>
                </a:cubicBezTo>
                <a:cubicBezTo>
                  <a:pt x="11" y="241"/>
                  <a:pt x="3" y="249"/>
                  <a:pt x="1" y="260"/>
                </a:cubicBezTo>
                <a:cubicBezTo>
                  <a:pt x="0" y="277"/>
                  <a:pt x="1" y="295"/>
                  <a:pt x="2" y="312"/>
                </a:cubicBezTo>
                <a:cubicBezTo>
                  <a:pt x="3" y="322"/>
                  <a:pt x="10" y="328"/>
                  <a:pt x="18" y="331"/>
                </a:cubicBezTo>
                <a:cubicBezTo>
                  <a:pt x="29" y="335"/>
                  <a:pt x="39" y="338"/>
                  <a:pt x="50" y="341"/>
                </a:cubicBezTo>
                <a:cubicBezTo>
                  <a:pt x="60" y="344"/>
                  <a:pt x="67" y="350"/>
                  <a:pt x="71" y="360"/>
                </a:cubicBezTo>
                <a:cubicBezTo>
                  <a:pt x="75" y="369"/>
                  <a:pt x="79" y="378"/>
                  <a:pt x="82" y="387"/>
                </a:cubicBezTo>
                <a:cubicBezTo>
                  <a:pt x="84" y="391"/>
                  <a:pt x="88" y="395"/>
                  <a:pt x="85" y="400"/>
                </a:cubicBezTo>
                <a:cubicBezTo>
                  <a:pt x="85" y="403"/>
                  <a:pt x="84" y="405"/>
                  <a:pt x="82" y="408"/>
                </a:cubicBezTo>
                <a:cubicBezTo>
                  <a:pt x="77" y="419"/>
                  <a:pt x="71" y="429"/>
                  <a:pt x="65" y="440"/>
                </a:cubicBezTo>
                <a:cubicBezTo>
                  <a:pt x="60" y="452"/>
                  <a:pt x="60" y="461"/>
                  <a:pt x="68" y="470"/>
                </a:cubicBezTo>
                <a:cubicBezTo>
                  <a:pt x="75" y="477"/>
                  <a:pt x="81" y="484"/>
                  <a:pt x="87" y="490"/>
                </a:cubicBezTo>
                <a:cubicBezTo>
                  <a:pt x="93" y="495"/>
                  <a:pt x="97" y="500"/>
                  <a:pt x="103" y="505"/>
                </a:cubicBezTo>
                <a:cubicBezTo>
                  <a:pt x="110" y="512"/>
                  <a:pt x="119" y="511"/>
                  <a:pt x="127" y="508"/>
                </a:cubicBezTo>
                <a:cubicBezTo>
                  <a:pt x="136" y="503"/>
                  <a:pt x="145" y="498"/>
                  <a:pt x="153" y="494"/>
                </a:cubicBezTo>
                <a:cubicBezTo>
                  <a:pt x="163" y="487"/>
                  <a:pt x="173" y="485"/>
                  <a:pt x="184" y="489"/>
                </a:cubicBezTo>
                <a:cubicBezTo>
                  <a:pt x="193" y="493"/>
                  <a:pt x="201" y="496"/>
                  <a:pt x="210" y="500"/>
                </a:cubicBezTo>
                <a:cubicBezTo>
                  <a:pt x="218" y="503"/>
                  <a:pt x="225" y="509"/>
                  <a:pt x="229" y="518"/>
                </a:cubicBezTo>
                <a:cubicBezTo>
                  <a:pt x="232" y="529"/>
                  <a:pt x="235" y="540"/>
                  <a:pt x="238" y="551"/>
                </a:cubicBezTo>
                <a:cubicBezTo>
                  <a:pt x="240" y="559"/>
                  <a:pt x="244" y="565"/>
                  <a:pt x="252" y="568"/>
                </a:cubicBezTo>
                <a:cubicBezTo>
                  <a:pt x="259" y="570"/>
                  <a:pt x="266" y="570"/>
                  <a:pt x="273" y="571"/>
                </a:cubicBezTo>
                <a:cubicBezTo>
                  <a:pt x="285" y="571"/>
                  <a:pt x="298" y="569"/>
                  <a:pt x="310" y="569"/>
                </a:cubicBezTo>
                <a:cubicBezTo>
                  <a:pt x="319" y="569"/>
                  <a:pt x="328" y="559"/>
                  <a:pt x="330" y="551"/>
                </a:cubicBezTo>
                <a:cubicBezTo>
                  <a:pt x="332" y="541"/>
                  <a:pt x="336" y="530"/>
                  <a:pt x="339" y="520"/>
                </a:cubicBezTo>
                <a:cubicBezTo>
                  <a:pt x="342" y="512"/>
                  <a:pt x="348" y="505"/>
                  <a:pt x="356" y="501"/>
                </a:cubicBezTo>
                <a:cubicBezTo>
                  <a:pt x="365" y="497"/>
                  <a:pt x="374" y="494"/>
                  <a:pt x="383" y="490"/>
                </a:cubicBezTo>
                <a:cubicBezTo>
                  <a:pt x="390" y="486"/>
                  <a:pt x="398" y="486"/>
                  <a:pt x="405" y="489"/>
                </a:cubicBezTo>
                <a:cubicBezTo>
                  <a:pt x="414" y="493"/>
                  <a:pt x="422" y="498"/>
                  <a:pt x="430" y="502"/>
                </a:cubicBezTo>
                <a:cubicBezTo>
                  <a:pt x="437" y="505"/>
                  <a:pt x="444" y="511"/>
                  <a:pt x="452" y="509"/>
                </a:cubicBezTo>
                <a:cubicBezTo>
                  <a:pt x="457" y="509"/>
                  <a:pt x="462" y="507"/>
                  <a:pt x="466" y="504"/>
                </a:cubicBezTo>
                <a:cubicBezTo>
                  <a:pt x="479" y="493"/>
                  <a:pt x="490" y="481"/>
                  <a:pt x="501" y="468"/>
                </a:cubicBezTo>
                <a:cubicBezTo>
                  <a:pt x="508" y="460"/>
                  <a:pt x="508" y="452"/>
                  <a:pt x="504" y="442"/>
                </a:cubicBezTo>
                <a:cubicBezTo>
                  <a:pt x="499" y="434"/>
                  <a:pt x="495" y="425"/>
                  <a:pt x="490" y="417"/>
                </a:cubicBezTo>
                <a:cubicBezTo>
                  <a:pt x="483" y="405"/>
                  <a:pt x="482" y="393"/>
                  <a:pt x="488" y="380"/>
                </a:cubicBezTo>
                <a:cubicBezTo>
                  <a:pt x="490" y="376"/>
                  <a:pt x="493" y="371"/>
                  <a:pt x="495" y="364"/>
                </a:cubicBezTo>
                <a:cubicBezTo>
                  <a:pt x="499" y="354"/>
                  <a:pt x="504" y="345"/>
                  <a:pt x="515" y="341"/>
                </a:cubicBezTo>
                <a:cubicBezTo>
                  <a:pt x="526" y="338"/>
                  <a:pt x="537" y="334"/>
                  <a:pt x="548" y="331"/>
                </a:cubicBezTo>
                <a:cubicBezTo>
                  <a:pt x="556" y="329"/>
                  <a:pt x="565" y="320"/>
                  <a:pt x="565" y="312"/>
                </a:cubicBezTo>
                <a:cubicBezTo>
                  <a:pt x="566" y="300"/>
                  <a:pt x="567" y="287"/>
                  <a:pt x="567" y="275"/>
                </a:cubicBezTo>
                <a:cubicBezTo>
                  <a:pt x="567" y="269"/>
                  <a:pt x="565" y="264"/>
                  <a:pt x="565" y="260"/>
                </a:cubicBezTo>
                <a:close/>
                <a:moveTo>
                  <a:pt x="285" y="355"/>
                </a:moveTo>
                <a:cubicBezTo>
                  <a:pt x="246" y="355"/>
                  <a:pt x="215" y="324"/>
                  <a:pt x="215" y="285"/>
                </a:cubicBezTo>
                <a:cubicBezTo>
                  <a:pt x="215" y="246"/>
                  <a:pt x="246" y="215"/>
                  <a:pt x="285" y="215"/>
                </a:cubicBezTo>
                <a:cubicBezTo>
                  <a:pt x="324" y="215"/>
                  <a:pt x="355" y="246"/>
                  <a:pt x="355" y="285"/>
                </a:cubicBezTo>
                <a:cubicBezTo>
                  <a:pt x="355" y="324"/>
                  <a:pt x="324" y="355"/>
                  <a:pt x="285" y="35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6361" tIns="48181" rIns="96361" bIns="48181" numCol="1" anchor="t" anchorCtr="0" compatLnSpc="1">
            <a:prstTxWarp prst="textNoShape">
              <a:avLst/>
            </a:prstTxWarp>
          </a:bodyPr>
          <a:lstStyle/>
          <a:p>
            <a:pPr defTabSz="963595">
              <a:defRPr/>
            </a:pPr>
            <a:endParaRPr lang="en-US" sz="1897">
              <a:solidFill>
                <a:srgbClr val="282F39"/>
              </a:solidFill>
              <a:latin typeface="Calibri" panose="020F0502020204030204"/>
            </a:endParaRPr>
          </a:p>
        </p:txBody>
      </p:sp>
      <p:sp>
        <p:nvSpPr>
          <p:cNvPr id="66" name="Freeform 5">
            <a:extLst>
              <a:ext uri="{FF2B5EF4-FFF2-40B4-BE49-F238E27FC236}">
                <a16:creationId xmlns:a16="http://schemas.microsoft.com/office/drawing/2014/main" id="{C1DFA070-2123-4CE1-B6F4-3FFC83001961}"/>
              </a:ext>
            </a:extLst>
          </p:cNvPr>
          <p:cNvSpPr>
            <a:spLocks noEditPoints="1"/>
          </p:cNvSpPr>
          <p:nvPr/>
        </p:nvSpPr>
        <p:spPr bwMode="auto">
          <a:xfrm>
            <a:off x="4493621" y="1700485"/>
            <a:ext cx="1896875" cy="1896875"/>
          </a:xfrm>
          <a:custGeom>
            <a:avLst/>
            <a:gdLst>
              <a:gd name="T0" fmla="*/ 548 w 567"/>
              <a:gd name="T1" fmla="*/ 239 h 571"/>
              <a:gd name="T2" fmla="*/ 495 w 567"/>
              <a:gd name="T3" fmla="*/ 210 h 571"/>
              <a:gd name="T4" fmla="*/ 485 w 567"/>
              <a:gd name="T5" fmla="*/ 162 h 571"/>
              <a:gd name="T6" fmla="*/ 506 w 567"/>
              <a:gd name="T7" fmla="*/ 119 h 571"/>
              <a:gd name="T8" fmla="*/ 465 w 567"/>
              <a:gd name="T9" fmla="*/ 66 h 571"/>
              <a:gd name="T10" fmla="*/ 409 w 567"/>
              <a:gd name="T11" fmla="*/ 79 h 571"/>
              <a:gd name="T12" fmla="*/ 355 w 567"/>
              <a:gd name="T13" fmla="*/ 71 h 571"/>
              <a:gd name="T14" fmla="*/ 330 w 567"/>
              <a:gd name="T15" fmla="*/ 19 h 571"/>
              <a:gd name="T16" fmla="*/ 258 w 567"/>
              <a:gd name="T17" fmla="*/ 1 h 571"/>
              <a:gd name="T18" fmla="*/ 227 w 567"/>
              <a:gd name="T19" fmla="*/ 53 h 571"/>
              <a:gd name="T20" fmla="*/ 186 w 567"/>
              <a:gd name="T21" fmla="*/ 83 h 571"/>
              <a:gd name="T22" fmla="*/ 128 w 567"/>
              <a:gd name="T23" fmla="*/ 64 h 571"/>
              <a:gd name="T24" fmla="*/ 66 w 567"/>
              <a:gd name="T25" fmla="*/ 104 h 571"/>
              <a:gd name="T26" fmla="*/ 81 w 567"/>
              <a:gd name="T27" fmla="*/ 159 h 571"/>
              <a:gd name="T28" fmla="*/ 71 w 567"/>
              <a:gd name="T29" fmla="*/ 214 h 571"/>
              <a:gd name="T30" fmla="*/ 20 w 567"/>
              <a:gd name="T31" fmla="*/ 239 h 571"/>
              <a:gd name="T32" fmla="*/ 2 w 567"/>
              <a:gd name="T33" fmla="*/ 312 h 571"/>
              <a:gd name="T34" fmla="*/ 50 w 567"/>
              <a:gd name="T35" fmla="*/ 341 h 571"/>
              <a:gd name="T36" fmla="*/ 82 w 567"/>
              <a:gd name="T37" fmla="*/ 387 h 571"/>
              <a:gd name="T38" fmla="*/ 82 w 567"/>
              <a:gd name="T39" fmla="*/ 408 h 571"/>
              <a:gd name="T40" fmla="*/ 68 w 567"/>
              <a:gd name="T41" fmla="*/ 470 h 571"/>
              <a:gd name="T42" fmla="*/ 103 w 567"/>
              <a:gd name="T43" fmla="*/ 505 h 571"/>
              <a:gd name="T44" fmla="*/ 153 w 567"/>
              <a:gd name="T45" fmla="*/ 494 h 571"/>
              <a:gd name="T46" fmla="*/ 210 w 567"/>
              <a:gd name="T47" fmla="*/ 500 h 571"/>
              <a:gd name="T48" fmla="*/ 238 w 567"/>
              <a:gd name="T49" fmla="*/ 551 h 571"/>
              <a:gd name="T50" fmla="*/ 273 w 567"/>
              <a:gd name="T51" fmla="*/ 571 h 571"/>
              <a:gd name="T52" fmla="*/ 330 w 567"/>
              <a:gd name="T53" fmla="*/ 551 h 571"/>
              <a:gd name="T54" fmla="*/ 356 w 567"/>
              <a:gd name="T55" fmla="*/ 501 h 571"/>
              <a:gd name="T56" fmla="*/ 405 w 567"/>
              <a:gd name="T57" fmla="*/ 489 h 571"/>
              <a:gd name="T58" fmla="*/ 452 w 567"/>
              <a:gd name="T59" fmla="*/ 509 h 571"/>
              <a:gd name="T60" fmla="*/ 501 w 567"/>
              <a:gd name="T61" fmla="*/ 468 h 571"/>
              <a:gd name="T62" fmla="*/ 490 w 567"/>
              <a:gd name="T63" fmla="*/ 417 h 571"/>
              <a:gd name="T64" fmla="*/ 495 w 567"/>
              <a:gd name="T65" fmla="*/ 364 h 571"/>
              <a:gd name="T66" fmla="*/ 548 w 567"/>
              <a:gd name="T67" fmla="*/ 331 h 571"/>
              <a:gd name="T68" fmla="*/ 567 w 567"/>
              <a:gd name="T69" fmla="*/ 275 h 571"/>
              <a:gd name="T70" fmla="*/ 285 w 567"/>
              <a:gd name="T71" fmla="*/ 355 h 571"/>
              <a:gd name="T72" fmla="*/ 285 w 567"/>
              <a:gd name="T73" fmla="*/ 215 h 571"/>
              <a:gd name="T74" fmla="*/ 285 w 567"/>
              <a:gd name="T75" fmla="*/ 355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67" h="571">
                <a:moveTo>
                  <a:pt x="565" y="260"/>
                </a:moveTo>
                <a:cubicBezTo>
                  <a:pt x="566" y="250"/>
                  <a:pt x="557" y="241"/>
                  <a:pt x="548" y="239"/>
                </a:cubicBezTo>
                <a:cubicBezTo>
                  <a:pt x="537" y="236"/>
                  <a:pt x="526" y="232"/>
                  <a:pt x="515" y="229"/>
                </a:cubicBezTo>
                <a:cubicBezTo>
                  <a:pt x="506" y="227"/>
                  <a:pt x="499" y="219"/>
                  <a:pt x="495" y="210"/>
                </a:cubicBezTo>
                <a:cubicBezTo>
                  <a:pt x="492" y="202"/>
                  <a:pt x="489" y="193"/>
                  <a:pt x="486" y="186"/>
                </a:cubicBezTo>
                <a:cubicBezTo>
                  <a:pt x="480" y="177"/>
                  <a:pt x="480" y="170"/>
                  <a:pt x="485" y="162"/>
                </a:cubicBezTo>
                <a:cubicBezTo>
                  <a:pt x="490" y="153"/>
                  <a:pt x="495" y="145"/>
                  <a:pt x="499" y="137"/>
                </a:cubicBezTo>
                <a:cubicBezTo>
                  <a:pt x="502" y="131"/>
                  <a:pt x="506" y="126"/>
                  <a:pt x="506" y="119"/>
                </a:cubicBezTo>
                <a:cubicBezTo>
                  <a:pt x="507" y="106"/>
                  <a:pt x="499" y="98"/>
                  <a:pt x="492" y="91"/>
                </a:cubicBezTo>
                <a:cubicBezTo>
                  <a:pt x="484" y="82"/>
                  <a:pt x="474" y="74"/>
                  <a:pt x="465" y="66"/>
                </a:cubicBezTo>
                <a:cubicBezTo>
                  <a:pt x="457" y="60"/>
                  <a:pt x="449" y="59"/>
                  <a:pt x="440" y="63"/>
                </a:cubicBezTo>
                <a:cubicBezTo>
                  <a:pt x="430" y="68"/>
                  <a:pt x="420" y="74"/>
                  <a:pt x="409" y="79"/>
                </a:cubicBezTo>
                <a:cubicBezTo>
                  <a:pt x="401" y="84"/>
                  <a:pt x="392" y="86"/>
                  <a:pt x="383" y="83"/>
                </a:cubicBezTo>
                <a:cubicBezTo>
                  <a:pt x="373" y="79"/>
                  <a:pt x="363" y="75"/>
                  <a:pt x="355" y="71"/>
                </a:cubicBezTo>
                <a:cubicBezTo>
                  <a:pt x="348" y="67"/>
                  <a:pt x="342" y="61"/>
                  <a:pt x="340" y="54"/>
                </a:cubicBezTo>
                <a:cubicBezTo>
                  <a:pt x="336" y="42"/>
                  <a:pt x="333" y="30"/>
                  <a:pt x="330" y="19"/>
                </a:cubicBezTo>
                <a:cubicBezTo>
                  <a:pt x="327" y="11"/>
                  <a:pt x="318" y="2"/>
                  <a:pt x="310" y="1"/>
                </a:cubicBezTo>
                <a:cubicBezTo>
                  <a:pt x="293" y="0"/>
                  <a:pt x="276" y="0"/>
                  <a:pt x="258" y="1"/>
                </a:cubicBezTo>
                <a:cubicBezTo>
                  <a:pt x="249" y="2"/>
                  <a:pt x="240" y="9"/>
                  <a:pt x="238" y="18"/>
                </a:cubicBezTo>
                <a:cubicBezTo>
                  <a:pt x="234" y="30"/>
                  <a:pt x="231" y="42"/>
                  <a:pt x="227" y="53"/>
                </a:cubicBezTo>
                <a:cubicBezTo>
                  <a:pt x="225" y="61"/>
                  <a:pt x="219" y="68"/>
                  <a:pt x="212" y="71"/>
                </a:cubicBezTo>
                <a:cubicBezTo>
                  <a:pt x="204" y="75"/>
                  <a:pt x="195" y="79"/>
                  <a:pt x="186" y="83"/>
                </a:cubicBezTo>
                <a:cubicBezTo>
                  <a:pt x="177" y="86"/>
                  <a:pt x="167" y="85"/>
                  <a:pt x="159" y="81"/>
                </a:cubicBezTo>
                <a:cubicBezTo>
                  <a:pt x="149" y="76"/>
                  <a:pt x="138" y="69"/>
                  <a:pt x="128" y="64"/>
                </a:cubicBezTo>
                <a:cubicBezTo>
                  <a:pt x="120" y="60"/>
                  <a:pt x="110" y="60"/>
                  <a:pt x="103" y="66"/>
                </a:cubicBezTo>
                <a:cubicBezTo>
                  <a:pt x="89" y="77"/>
                  <a:pt x="76" y="89"/>
                  <a:pt x="66" y="104"/>
                </a:cubicBezTo>
                <a:cubicBezTo>
                  <a:pt x="60" y="111"/>
                  <a:pt x="60" y="120"/>
                  <a:pt x="64" y="129"/>
                </a:cubicBezTo>
                <a:cubicBezTo>
                  <a:pt x="69" y="139"/>
                  <a:pt x="75" y="149"/>
                  <a:pt x="81" y="159"/>
                </a:cubicBezTo>
                <a:cubicBezTo>
                  <a:pt x="85" y="167"/>
                  <a:pt x="86" y="176"/>
                  <a:pt x="83" y="184"/>
                </a:cubicBezTo>
                <a:cubicBezTo>
                  <a:pt x="79" y="193"/>
                  <a:pt x="75" y="204"/>
                  <a:pt x="71" y="214"/>
                </a:cubicBezTo>
                <a:cubicBezTo>
                  <a:pt x="67" y="221"/>
                  <a:pt x="62" y="226"/>
                  <a:pt x="54" y="229"/>
                </a:cubicBezTo>
                <a:cubicBezTo>
                  <a:pt x="43" y="233"/>
                  <a:pt x="32" y="236"/>
                  <a:pt x="20" y="239"/>
                </a:cubicBezTo>
                <a:cubicBezTo>
                  <a:pt x="11" y="241"/>
                  <a:pt x="3" y="249"/>
                  <a:pt x="1" y="260"/>
                </a:cubicBezTo>
                <a:cubicBezTo>
                  <a:pt x="0" y="277"/>
                  <a:pt x="1" y="295"/>
                  <a:pt x="2" y="312"/>
                </a:cubicBezTo>
                <a:cubicBezTo>
                  <a:pt x="3" y="322"/>
                  <a:pt x="10" y="328"/>
                  <a:pt x="18" y="331"/>
                </a:cubicBezTo>
                <a:cubicBezTo>
                  <a:pt x="29" y="335"/>
                  <a:pt x="39" y="338"/>
                  <a:pt x="50" y="341"/>
                </a:cubicBezTo>
                <a:cubicBezTo>
                  <a:pt x="60" y="344"/>
                  <a:pt x="67" y="350"/>
                  <a:pt x="71" y="360"/>
                </a:cubicBezTo>
                <a:cubicBezTo>
                  <a:pt x="75" y="369"/>
                  <a:pt x="79" y="378"/>
                  <a:pt x="82" y="387"/>
                </a:cubicBezTo>
                <a:cubicBezTo>
                  <a:pt x="84" y="391"/>
                  <a:pt x="88" y="395"/>
                  <a:pt x="85" y="400"/>
                </a:cubicBezTo>
                <a:cubicBezTo>
                  <a:pt x="85" y="403"/>
                  <a:pt x="84" y="405"/>
                  <a:pt x="82" y="408"/>
                </a:cubicBezTo>
                <a:cubicBezTo>
                  <a:pt x="77" y="419"/>
                  <a:pt x="71" y="429"/>
                  <a:pt x="65" y="440"/>
                </a:cubicBezTo>
                <a:cubicBezTo>
                  <a:pt x="60" y="452"/>
                  <a:pt x="60" y="461"/>
                  <a:pt x="68" y="470"/>
                </a:cubicBezTo>
                <a:cubicBezTo>
                  <a:pt x="75" y="477"/>
                  <a:pt x="81" y="484"/>
                  <a:pt x="87" y="490"/>
                </a:cubicBezTo>
                <a:cubicBezTo>
                  <a:pt x="93" y="495"/>
                  <a:pt x="97" y="500"/>
                  <a:pt x="103" y="505"/>
                </a:cubicBezTo>
                <a:cubicBezTo>
                  <a:pt x="110" y="512"/>
                  <a:pt x="119" y="511"/>
                  <a:pt x="127" y="508"/>
                </a:cubicBezTo>
                <a:cubicBezTo>
                  <a:pt x="136" y="503"/>
                  <a:pt x="145" y="498"/>
                  <a:pt x="153" y="494"/>
                </a:cubicBezTo>
                <a:cubicBezTo>
                  <a:pt x="163" y="487"/>
                  <a:pt x="173" y="485"/>
                  <a:pt x="184" y="489"/>
                </a:cubicBezTo>
                <a:cubicBezTo>
                  <a:pt x="193" y="493"/>
                  <a:pt x="201" y="496"/>
                  <a:pt x="210" y="500"/>
                </a:cubicBezTo>
                <a:cubicBezTo>
                  <a:pt x="218" y="503"/>
                  <a:pt x="225" y="509"/>
                  <a:pt x="229" y="518"/>
                </a:cubicBezTo>
                <a:cubicBezTo>
                  <a:pt x="232" y="529"/>
                  <a:pt x="235" y="540"/>
                  <a:pt x="238" y="551"/>
                </a:cubicBezTo>
                <a:cubicBezTo>
                  <a:pt x="240" y="559"/>
                  <a:pt x="244" y="565"/>
                  <a:pt x="252" y="568"/>
                </a:cubicBezTo>
                <a:cubicBezTo>
                  <a:pt x="259" y="570"/>
                  <a:pt x="266" y="570"/>
                  <a:pt x="273" y="571"/>
                </a:cubicBezTo>
                <a:cubicBezTo>
                  <a:pt x="285" y="571"/>
                  <a:pt x="298" y="569"/>
                  <a:pt x="310" y="569"/>
                </a:cubicBezTo>
                <a:cubicBezTo>
                  <a:pt x="319" y="569"/>
                  <a:pt x="328" y="559"/>
                  <a:pt x="330" y="551"/>
                </a:cubicBezTo>
                <a:cubicBezTo>
                  <a:pt x="332" y="541"/>
                  <a:pt x="336" y="530"/>
                  <a:pt x="339" y="520"/>
                </a:cubicBezTo>
                <a:cubicBezTo>
                  <a:pt x="342" y="512"/>
                  <a:pt x="348" y="505"/>
                  <a:pt x="356" y="501"/>
                </a:cubicBezTo>
                <a:cubicBezTo>
                  <a:pt x="365" y="497"/>
                  <a:pt x="374" y="494"/>
                  <a:pt x="383" y="490"/>
                </a:cubicBezTo>
                <a:cubicBezTo>
                  <a:pt x="390" y="486"/>
                  <a:pt x="398" y="486"/>
                  <a:pt x="405" y="489"/>
                </a:cubicBezTo>
                <a:cubicBezTo>
                  <a:pt x="414" y="493"/>
                  <a:pt x="422" y="498"/>
                  <a:pt x="430" y="502"/>
                </a:cubicBezTo>
                <a:cubicBezTo>
                  <a:pt x="437" y="505"/>
                  <a:pt x="444" y="511"/>
                  <a:pt x="452" y="509"/>
                </a:cubicBezTo>
                <a:cubicBezTo>
                  <a:pt x="457" y="509"/>
                  <a:pt x="462" y="507"/>
                  <a:pt x="466" y="504"/>
                </a:cubicBezTo>
                <a:cubicBezTo>
                  <a:pt x="479" y="493"/>
                  <a:pt x="490" y="481"/>
                  <a:pt x="501" y="468"/>
                </a:cubicBezTo>
                <a:cubicBezTo>
                  <a:pt x="508" y="460"/>
                  <a:pt x="508" y="452"/>
                  <a:pt x="504" y="442"/>
                </a:cubicBezTo>
                <a:cubicBezTo>
                  <a:pt x="499" y="434"/>
                  <a:pt x="495" y="425"/>
                  <a:pt x="490" y="417"/>
                </a:cubicBezTo>
                <a:cubicBezTo>
                  <a:pt x="483" y="405"/>
                  <a:pt x="482" y="393"/>
                  <a:pt x="488" y="380"/>
                </a:cubicBezTo>
                <a:cubicBezTo>
                  <a:pt x="490" y="376"/>
                  <a:pt x="493" y="371"/>
                  <a:pt x="495" y="364"/>
                </a:cubicBezTo>
                <a:cubicBezTo>
                  <a:pt x="499" y="354"/>
                  <a:pt x="504" y="345"/>
                  <a:pt x="515" y="341"/>
                </a:cubicBezTo>
                <a:cubicBezTo>
                  <a:pt x="526" y="338"/>
                  <a:pt x="537" y="334"/>
                  <a:pt x="548" y="331"/>
                </a:cubicBezTo>
                <a:cubicBezTo>
                  <a:pt x="556" y="329"/>
                  <a:pt x="565" y="320"/>
                  <a:pt x="565" y="312"/>
                </a:cubicBezTo>
                <a:cubicBezTo>
                  <a:pt x="566" y="300"/>
                  <a:pt x="567" y="287"/>
                  <a:pt x="567" y="275"/>
                </a:cubicBezTo>
                <a:cubicBezTo>
                  <a:pt x="567" y="269"/>
                  <a:pt x="565" y="264"/>
                  <a:pt x="565" y="260"/>
                </a:cubicBezTo>
                <a:close/>
                <a:moveTo>
                  <a:pt x="285" y="355"/>
                </a:moveTo>
                <a:cubicBezTo>
                  <a:pt x="246" y="355"/>
                  <a:pt x="215" y="324"/>
                  <a:pt x="215" y="285"/>
                </a:cubicBezTo>
                <a:cubicBezTo>
                  <a:pt x="215" y="246"/>
                  <a:pt x="246" y="215"/>
                  <a:pt x="285" y="215"/>
                </a:cubicBezTo>
                <a:cubicBezTo>
                  <a:pt x="324" y="215"/>
                  <a:pt x="355" y="246"/>
                  <a:pt x="355" y="285"/>
                </a:cubicBezTo>
                <a:cubicBezTo>
                  <a:pt x="355" y="324"/>
                  <a:pt x="324" y="355"/>
                  <a:pt x="285" y="35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txBody>
          <a:bodyPr vert="horz" wrap="square" lIns="96361" tIns="48181" rIns="96361" bIns="48181" numCol="1" anchor="t" anchorCtr="0" compatLnSpc="1">
            <a:prstTxWarp prst="textNoShape">
              <a:avLst/>
            </a:prstTxWarp>
          </a:bodyPr>
          <a:lstStyle/>
          <a:p>
            <a:pPr defTabSz="963595"/>
            <a:endParaRPr lang="en-US" sz="1897">
              <a:solidFill>
                <a:srgbClr val="282F39"/>
              </a:solidFill>
              <a:latin typeface="Calibri" panose="020F0502020204030204"/>
            </a:endParaRPr>
          </a:p>
        </p:txBody>
      </p:sp>
      <p:sp>
        <p:nvSpPr>
          <p:cNvPr id="67" name="Freeform 5">
            <a:extLst>
              <a:ext uri="{FF2B5EF4-FFF2-40B4-BE49-F238E27FC236}">
                <a16:creationId xmlns:a16="http://schemas.microsoft.com/office/drawing/2014/main" id="{896C5B4B-46ED-43F9-B6FC-E0BB63FAD63B}"/>
              </a:ext>
            </a:extLst>
          </p:cNvPr>
          <p:cNvSpPr>
            <a:spLocks noEditPoints="1"/>
          </p:cNvSpPr>
          <p:nvPr/>
        </p:nvSpPr>
        <p:spPr bwMode="auto">
          <a:xfrm rot="20289857">
            <a:off x="6444203" y="1700485"/>
            <a:ext cx="1896875" cy="1896875"/>
          </a:xfrm>
          <a:custGeom>
            <a:avLst/>
            <a:gdLst>
              <a:gd name="T0" fmla="*/ 548 w 567"/>
              <a:gd name="T1" fmla="*/ 239 h 571"/>
              <a:gd name="T2" fmla="*/ 495 w 567"/>
              <a:gd name="T3" fmla="*/ 210 h 571"/>
              <a:gd name="T4" fmla="*/ 485 w 567"/>
              <a:gd name="T5" fmla="*/ 162 h 571"/>
              <a:gd name="T6" fmla="*/ 506 w 567"/>
              <a:gd name="T7" fmla="*/ 119 h 571"/>
              <a:gd name="T8" fmla="*/ 465 w 567"/>
              <a:gd name="T9" fmla="*/ 66 h 571"/>
              <a:gd name="T10" fmla="*/ 409 w 567"/>
              <a:gd name="T11" fmla="*/ 79 h 571"/>
              <a:gd name="T12" fmla="*/ 355 w 567"/>
              <a:gd name="T13" fmla="*/ 71 h 571"/>
              <a:gd name="T14" fmla="*/ 330 w 567"/>
              <a:gd name="T15" fmla="*/ 19 h 571"/>
              <a:gd name="T16" fmla="*/ 258 w 567"/>
              <a:gd name="T17" fmla="*/ 1 h 571"/>
              <a:gd name="T18" fmla="*/ 227 w 567"/>
              <a:gd name="T19" fmla="*/ 53 h 571"/>
              <a:gd name="T20" fmla="*/ 186 w 567"/>
              <a:gd name="T21" fmla="*/ 83 h 571"/>
              <a:gd name="T22" fmla="*/ 128 w 567"/>
              <a:gd name="T23" fmla="*/ 64 h 571"/>
              <a:gd name="T24" fmla="*/ 66 w 567"/>
              <a:gd name="T25" fmla="*/ 104 h 571"/>
              <a:gd name="T26" fmla="*/ 81 w 567"/>
              <a:gd name="T27" fmla="*/ 159 h 571"/>
              <a:gd name="T28" fmla="*/ 71 w 567"/>
              <a:gd name="T29" fmla="*/ 214 h 571"/>
              <a:gd name="T30" fmla="*/ 20 w 567"/>
              <a:gd name="T31" fmla="*/ 239 h 571"/>
              <a:gd name="T32" fmla="*/ 2 w 567"/>
              <a:gd name="T33" fmla="*/ 312 h 571"/>
              <a:gd name="T34" fmla="*/ 50 w 567"/>
              <a:gd name="T35" fmla="*/ 341 h 571"/>
              <a:gd name="T36" fmla="*/ 82 w 567"/>
              <a:gd name="T37" fmla="*/ 387 h 571"/>
              <a:gd name="T38" fmla="*/ 82 w 567"/>
              <a:gd name="T39" fmla="*/ 408 h 571"/>
              <a:gd name="T40" fmla="*/ 68 w 567"/>
              <a:gd name="T41" fmla="*/ 470 h 571"/>
              <a:gd name="T42" fmla="*/ 103 w 567"/>
              <a:gd name="T43" fmla="*/ 505 h 571"/>
              <a:gd name="T44" fmla="*/ 153 w 567"/>
              <a:gd name="T45" fmla="*/ 494 h 571"/>
              <a:gd name="T46" fmla="*/ 210 w 567"/>
              <a:gd name="T47" fmla="*/ 500 h 571"/>
              <a:gd name="T48" fmla="*/ 238 w 567"/>
              <a:gd name="T49" fmla="*/ 551 h 571"/>
              <a:gd name="T50" fmla="*/ 273 w 567"/>
              <a:gd name="T51" fmla="*/ 571 h 571"/>
              <a:gd name="T52" fmla="*/ 330 w 567"/>
              <a:gd name="T53" fmla="*/ 551 h 571"/>
              <a:gd name="T54" fmla="*/ 356 w 567"/>
              <a:gd name="T55" fmla="*/ 501 h 571"/>
              <a:gd name="T56" fmla="*/ 405 w 567"/>
              <a:gd name="T57" fmla="*/ 489 h 571"/>
              <a:gd name="T58" fmla="*/ 452 w 567"/>
              <a:gd name="T59" fmla="*/ 509 h 571"/>
              <a:gd name="T60" fmla="*/ 501 w 567"/>
              <a:gd name="T61" fmla="*/ 468 h 571"/>
              <a:gd name="T62" fmla="*/ 490 w 567"/>
              <a:gd name="T63" fmla="*/ 417 h 571"/>
              <a:gd name="T64" fmla="*/ 495 w 567"/>
              <a:gd name="T65" fmla="*/ 364 h 571"/>
              <a:gd name="T66" fmla="*/ 548 w 567"/>
              <a:gd name="T67" fmla="*/ 331 h 571"/>
              <a:gd name="T68" fmla="*/ 567 w 567"/>
              <a:gd name="T69" fmla="*/ 275 h 571"/>
              <a:gd name="T70" fmla="*/ 285 w 567"/>
              <a:gd name="T71" fmla="*/ 355 h 571"/>
              <a:gd name="T72" fmla="*/ 285 w 567"/>
              <a:gd name="T73" fmla="*/ 215 h 571"/>
              <a:gd name="T74" fmla="*/ 285 w 567"/>
              <a:gd name="T75" fmla="*/ 355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67" h="571">
                <a:moveTo>
                  <a:pt x="565" y="260"/>
                </a:moveTo>
                <a:cubicBezTo>
                  <a:pt x="566" y="250"/>
                  <a:pt x="557" y="241"/>
                  <a:pt x="548" y="239"/>
                </a:cubicBezTo>
                <a:cubicBezTo>
                  <a:pt x="537" y="236"/>
                  <a:pt x="526" y="232"/>
                  <a:pt x="515" y="229"/>
                </a:cubicBezTo>
                <a:cubicBezTo>
                  <a:pt x="506" y="227"/>
                  <a:pt x="499" y="219"/>
                  <a:pt x="495" y="210"/>
                </a:cubicBezTo>
                <a:cubicBezTo>
                  <a:pt x="492" y="202"/>
                  <a:pt x="489" y="193"/>
                  <a:pt x="486" y="186"/>
                </a:cubicBezTo>
                <a:cubicBezTo>
                  <a:pt x="480" y="177"/>
                  <a:pt x="480" y="170"/>
                  <a:pt x="485" y="162"/>
                </a:cubicBezTo>
                <a:cubicBezTo>
                  <a:pt x="490" y="153"/>
                  <a:pt x="495" y="145"/>
                  <a:pt x="499" y="137"/>
                </a:cubicBezTo>
                <a:cubicBezTo>
                  <a:pt x="502" y="131"/>
                  <a:pt x="506" y="126"/>
                  <a:pt x="506" y="119"/>
                </a:cubicBezTo>
                <a:cubicBezTo>
                  <a:pt x="507" y="106"/>
                  <a:pt x="499" y="98"/>
                  <a:pt x="492" y="91"/>
                </a:cubicBezTo>
                <a:cubicBezTo>
                  <a:pt x="484" y="82"/>
                  <a:pt x="474" y="74"/>
                  <a:pt x="465" y="66"/>
                </a:cubicBezTo>
                <a:cubicBezTo>
                  <a:pt x="457" y="60"/>
                  <a:pt x="449" y="59"/>
                  <a:pt x="440" y="63"/>
                </a:cubicBezTo>
                <a:cubicBezTo>
                  <a:pt x="430" y="68"/>
                  <a:pt x="420" y="74"/>
                  <a:pt x="409" y="79"/>
                </a:cubicBezTo>
                <a:cubicBezTo>
                  <a:pt x="401" y="84"/>
                  <a:pt x="392" y="86"/>
                  <a:pt x="383" y="83"/>
                </a:cubicBezTo>
                <a:cubicBezTo>
                  <a:pt x="373" y="79"/>
                  <a:pt x="363" y="75"/>
                  <a:pt x="355" y="71"/>
                </a:cubicBezTo>
                <a:cubicBezTo>
                  <a:pt x="348" y="67"/>
                  <a:pt x="342" y="61"/>
                  <a:pt x="340" y="54"/>
                </a:cubicBezTo>
                <a:cubicBezTo>
                  <a:pt x="336" y="42"/>
                  <a:pt x="333" y="30"/>
                  <a:pt x="330" y="19"/>
                </a:cubicBezTo>
                <a:cubicBezTo>
                  <a:pt x="327" y="11"/>
                  <a:pt x="318" y="2"/>
                  <a:pt x="310" y="1"/>
                </a:cubicBezTo>
                <a:cubicBezTo>
                  <a:pt x="293" y="0"/>
                  <a:pt x="276" y="0"/>
                  <a:pt x="258" y="1"/>
                </a:cubicBezTo>
                <a:cubicBezTo>
                  <a:pt x="249" y="2"/>
                  <a:pt x="240" y="9"/>
                  <a:pt x="238" y="18"/>
                </a:cubicBezTo>
                <a:cubicBezTo>
                  <a:pt x="234" y="30"/>
                  <a:pt x="231" y="42"/>
                  <a:pt x="227" y="53"/>
                </a:cubicBezTo>
                <a:cubicBezTo>
                  <a:pt x="225" y="61"/>
                  <a:pt x="219" y="68"/>
                  <a:pt x="212" y="71"/>
                </a:cubicBezTo>
                <a:cubicBezTo>
                  <a:pt x="204" y="75"/>
                  <a:pt x="195" y="79"/>
                  <a:pt x="186" y="83"/>
                </a:cubicBezTo>
                <a:cubicBezTo>
                  <a:pt x="177" y="86"/>
                  <a:pt x="167" y="85"/>
                  <a:pt x="159" y="81"/>
                </a:cubicBezTo>
                <a:cubicBezTo>
                  <a:pt x="149" y="76"/>
                  <a:pt x="138" y="69"/>
                  <a:pt x="128" y="64"/>
                </a:cubicBezTo>
                <a:cubicBezTo>
                  <a:pt x="120" y="60"/>
                  <a:pt x="110" y="60"/>
                  <a:pt x="103" y="66"/>
                </a:cubicBezTo>
                <a:cubicBezTo>
                  <a:pt x="89" y="77"/>
                  <a:pt x="76" y="89"/>
                  <a:pt x="66" y="104"/>
                </a:cubicBezTo>
                <a:cubicBezTo>
                  <a:pt x="60" y="111"/>
                  <a:pt x="60" y="120"/>
                  <a:pt x="64" y="129"/>
                </a:cubicBezTo>
                <a:cubicBezTo>
                  <a:pt x="69" y="139"/>
                  <a:pt x="75" y="149"/>
                  <a:pt x="81" y="159"/>
                </a:cubicBezTo>
                <a:cubicBezTo>
                  <a:pt x="85" y="167"/>
                  <a:pt x="86" y="176"/>
                  <a:pt x="83" y="184"/>
                </a:cubicBezTo>
                <a:cubicBezTo>
                  <a:pt x="79" y="193"/>
                  <a:pt x="75" y="204"/>
                  <a:pt x="71" y="214"/>
                </a:cubicBezTo>
                <a:cubicBezTo>
                  <a:pt x="67" y="221"/>
                  <a:pt x="62" y="226"/>
                  <a:pt x="54" y="229"/>
                </a:cubicBezTo>
                <a:cubicBezTo>
                  <a:pt x="43" y="233"/>
                  <a:pt x="32" y="236"/>
                  <a:pt x="20" y="239"/>
                </a:cubicBezTo>
                <a:cubicBezTo>
                  <a:pt x="11" y="241"/>
                  <a:pt x="3" y="249"/>
                  <a:pt x="1" y="260"/>
                </a:cubicBezTo>
                <a:cubicBezTo>
                  <a:pt x="0" y="277"/>
                  <a:pt x="1" y="295"/>
                  <a:pt x="2" y="312"/>
                </a:cubicBezTo>
                <a:cubicBezTo>
                  <a:pt x="3" y="322"/>
                  <a:pt x="10" y="328"/>
                  <a:pt x="18" y="331"/>
                </a:cubicBezTo>
                <a:cubicBezTo>
                  <a:pt x="29" y="335"/>
                  <a:pt x="39" y="338"/>
                  <a:pt x="50" y="341"/>
                </a:cubicBezTo>
                <a:cubicBezTo>
                  <a:pt x="60" y="344"/>
                  <a:pt x="67" y="350"/>
                  <a:pt x="71" y="360"/>
                </a:cubicBezTo>
                <a:cubicBezTo>
                  <a:pt x="75" y="369"/>
                  <a:pt x="79" y="378"/>
                  <a:pt x="82" y="387"/>
                </a:cubicBezTo>
                <a:cubicBezTo>
                  <a:pt x="84" y="391"/>
                  <a:pt x="88" y="395"/>
                  <a:pt x="85" y="400"/>
                </a:cubicBezTo>
                <a:cubicBezTo>
                  <a:pt x="85" y="403"/>
                  <a:pt x="84" y="405"/>
                  <a:pt x="82" y="408"/>
                </a:cubicBezTo>
                <a:cubicBezTo>
                  <a:pt x="77" y="419"/>
                  <a:pt x="71" y="429"/>
                  <a:pt x="65" y="440"/>
                </a:cubicBezTo>
                <a:cubicBezTo>
                  <a:pt x="60" y="452"/>
                  <a:pt x="60" y="461"/>
                  <a:pt x="68" y="470"/>
                </a:cubicBezTo>
                <a:cubicBezTo>
                  <a:pt x="75" y="477"/>
                  <a:pt x="81" y="484"/>
                  <a:pt x="87" y="490"/>
                </a:cubicBezTo>
                <a:cubicBezTo>
                  <a:pt x="93" y="495"/>
                  <a:pt x="97" y="500"/>
                  <a:pt x="103" y="505"/>
                </a:cubicBezTo>
                <a:cubicBezTo>
                  <a:pt x="110" y="512"/>
                  <a:pt x="119" y="511"/>
                  <a:pt x="127" y="508"/>
                </a:cubicBezTo>
                <a:cubicBezTo>
                  <a:pt x="136" y="503"/>
                  <a:pt x="145" y="498"/>
                  <a:pt x="153" y="494"/>
                </a:cubicBezTo>
                <a:cubicBezTo>
                  <a:pt x="163" y="487"/>
                  <a:pt x="173" y="485"/>
                  <a:pt x="184" y="489"/>
                </a:cubicBezTo>
                <a:cubicBezTo>
                  <a:pt x="193" y="493"/>
                  <a:pt x="201" y="496"/>
                  <a:pt x="210" y="500"/>
                </a:cubicBezTo>
                <a:cubicBezTo>
                  <a:pt x="218" y="503"/>
                  <a:pt x="225" y="509"/>
                  <a:pt x="229" y="518"/>
                </a:cubicBezTo>
                <a:cubicBezTo>
                  <a:pt x="232" y="529"/>
                  <a:pt x="235" y="540"/>
                  <a:pt x="238" y="551"/>
                </a:cubicBezTo>
                <a:cubicBezTo>
                  <a:pt x="240" y="559"/>
                  <a:pt x="244" y="565"/>
                  <a:pt x="252" y="568"/>
                </a:cubicBezTo>
                <a:cubicBezTo>
                  <a:pt x="259" y="570"/>
                  <a:pt x="266" y="570"/>
                  <a:pt x="273" y="571"/>
                </a:cubicBezTo>
                <a:cubicBezTo>
                  <a:pt x="285" y="571"/>
                  <a:pt x="298" y="569"/>
                  <a:pt x="310" y="569"/>
                </a:cubicBezTo>
                <a:cubicBezTo>
                  <a:pt x="319" y="569"/>
                  <a:pt x="328" y="559"/>
                  <a:pt x="330" y="551"/>
                </a:cubicBezTo>
                <a:cubicBezTo>
                  <a:pt x="332" y="541"/>
                  <a:pt x="336" y="530"/>
                  <a:pt x="339" y="520"/>
                </a:cubicBezTo>
                <a:cubicBezTo>
                  <a:pt x="342" y="512"/>
                  <a:pt x="348" y="505"/>
                  <a:pt x="356" y="501"/>
                </a:cubicBezTo>
                <a:cubicBezTo>
                  <a:pt x="365" y="497"/>
                  <a:pt x="374" y="494"/>
                  <a:pt x="383" y="490"/>
                </a:cubicBezTo>
                <a:cubicBezTo>
                  <a:pt x="390" y="486"/>
                  <a:pt x="398" y="486"/>
                  <a:pt x="405" y="489"/>
                </a:cubicBezTo>
                <a:cubicBezTo>
                  <a:pt x="414" y="493"/>
                  <a:pt x="422" y="498"/>
                  <a:pt x="430" y="502"/>
                </a:cubicBezTo>
                <a:cubicBezTo>
                  <a:pt x="437" y="505"/>
                  <a:pt x="444" y="511"/>
                  <a:pt x="452" y="509"/>
                </a:cubicBezTo>
                <a:cubicBezTo>
                  <a:pt x="457" y="509"/>
                  <a:pt x="462" y="507"/>
                  <a:pt x="466" y="504"/>
                </a:cubicBezTo>
                <a:cubicBezTo>
                  <a:pt x="479" y="493"/>
                  <a:pt x="490" y="481"/>
                  <a:pt x="501" y="468"/>
                </a:cubicBezTo>
                <a:cubicBezTo>
                  <a:pt x="508" y="460"/>
                  <a:pt x="508" y="452"/>
                  <a:pt x="504" y="442"/>
                </a:cubicBezTo>
                <a:cubicBezTo>
                  <a:pt x="499" y="434"/>
                  <a:pt x="495" y="425"/>
                  <a:pt x="490" y="417"/>
                </a:cubicBezTo>
                <a:cubicBezTo>
                  <a:pt x="483" y="405"/>
                  <a:pt x="482" y="393"/>
                  <a:pt x="488" y="380"/>
                </a:cubicBezTo>
                <a:cubicBezTo>
                  <a:pt x="490" y="376"/>
                  <a:pt x="493" y="371"/>
                  <a:pt x="495" y="364"/>
                </a:cubicBezTo>
                <a:cubicBezTo>
                  <a:pt x="499" y="354"/>
                  <a:pt x="504" y="345"/>
                  <a:pt x="515" y="341"/>
                </a:cubicBezTo>
                <a:cubicBezTo>
                  <a:pt x="526" y="338"/>
                  <a:pt x="537" y="334"/>
                  <a:pt x="548" y="331"/>
                </a:cubicBezTo>
                <a:cubicBezTo>
                  <a:pt x="556" y="329"/>
                  <a:pt x="565" y="320"/>
                  <a:pt x="565" y="312"/>
                </a:cubicBezTo>
                <a:cubicBezTo>
                  <a:pt x="566" y="300"/>
                  <a:pt x="567" y="287"/>
                  <a:pt x="567" y="275"/>
                </a:cubicBezTo>
                <a:cubicBezTo>
                  <a:pt x="567" y="269"/>
                  <a:pt x="565" y="264"/>
                  <a:pt x="565" y="260"/>
                </a:cubicBezTo>
                <a:close/>
                <a:moveTo>
                  <a:pt x="285" y="355"/>
                </a:moveTo>
                <a:cubicBezTo>
                  <a:pt x="246" y="355"/>
                  <a:pt x="215" y="324"/>
                  <a:pt x="215" y="285"/>
                </a:cubicBezTo>
                <a:cubicBezTo>
                  <a:pt x="215" y="246"/>
                  <a:pt x="246" y="215"/>
                  <a:pt x="285" y="215"/>
                </a:cubicBezTo>
                <a:cubicBezTo>
                  <a:pt x="324" y="215"/>
                  <a:pt x="355" y="246"/>
                  <a:pt x="355" y="285"/>
                </a:cubicBezTo>
                <a:cubicBezTo>
                  <a:pt x="355" y="324"/>
                  <a:pt x="324" y="355"/>
                  <a:pt x="285" y="35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6361" tIns="48181" rIns="96361" bIns="48181" numCol="1" anchor="t" anchorCtr="0" compatLnSpc="1">
            <a:prstTxWarp prst="textNoShape">
              <a:avLst/>
            </a:prstTxWarp>
          </a:bodyPr>
          <a:lstStyle/>
          <a:p>
            <a:pPr defTabSz="963595">
              <a:defRPr/>
            </a:pPr>
            <a:endParaRPr lang="en-US" sz="1897">
              <a:solidFill>
                <a:srgbClr val="282F39"/>
              </a:solidFill>
              <a:latin typeface="Calibri" panose="020F0502020204030204"/>
            </a:endParaRPr>
          </a:p>
        </p:txBody>
      </p:sp>
      <p:sp>
        <p:nvSpPr>
          <p:cNvPr id="68" name="Freeform 5">
            <a:extLst>
              <a:ext uri="{FF2B5EF4-FFF2-40B4-BE49-F238E27FC236}">
                <a16:creationId xmlns:a16="http://schemas.microsoft.com/office/drawing/2014/main" id="{45FFE857-8B55-4D76-A91A-B0047BA20F6D}"/>
              </a:ext>
            </a:extLst>
          </p:cNvPr>
          <p:cNvSpPr>
            <a:spLocks noEditPoints="1"/>
          </p:cNvSpPr>
          <p:nvPr/>
        </p:nvSpPr>
        <p:spPr bwMode="auto">
          <a:xfrm>
            <a:off x="8394784" y="1700485"/>
            <a:ext cx="1896875" cy="1896875"/>
          </a:xfrm>
          <a:custGeom>
            <a:avLst/>
            <a:gdLst>
              <a:gd name="T0" fmla="*/ 548 w 567"/>
              <a:gd name="T1" fmla="*/ 239 h 571"/>
              <a:gd name="T2" fmla="*/ 495 w 567"/>
              <a:gd name="T3" fmla="*/ 210 h 571"/>
              <a:gd name="T4" fmla="*/ 485 w 567"/>
              <a:gd name="T5" fmla="*/ 162 h 571"/>
              <a:gd name="T6" fmla="*/ 506 w 567"/>
              <a:gd name="T7" fmla="*/ 119 h 571"/>
              <a:gd name="T8" fmla="*/ 465 w 567"/>
              <a:gd name="T9" fmla="*/ 66 h 571"/>
              <a:gd name="T10" fmla="*/ 409 w 567"/>
              <a:gd name="T11" fmla="*/ 79 h 571"/>
              <a:gd name="T12" fmla="*/ 355 w 567"/>
              <a:gd name="T13" fmla="*/ 71 h 571"/>
              <a:gd name="T14" fmla="*/ 330 w 567"/>
              <a:gd name="T15" fmla="*/ 19 h 571"/>
              <a:gd name="T16" fmla="*/ 258 w 567"/>
              <a:gd name="T17" fmla="*/ 1 h 571"/>
              <a:gd name="T18" fmla="*/ 227 w 567"/>
              <a:gd name="T19" fmla="*/ 53 h 571"/>
              <a:gd name="T20" fmla="*/ 186 w 567"/>
              <a:gd name="T21" fmla="*/ 83 h 571"/>
              <a:gd name="T22" fmla="*/ 128 w 567"/>
              <a:gd name="T23" fmla="*/ 64 h 571"/>
              <a:gd name="T24" fmla="*/ 66 w 567"/>
              <a:gd name="T25" fmla="*/ 104 h 571"/>
              <a:gd name="T26" fmla="*/ 81 w 567"/>
              <a:gd name="T27" fmla="*/ 159 h 571"/>
              <a:gd name="T28" fmla="*/ 71 w 567"/>
              <a:gd name="T29" fmla="*/ 214 h 571"/>
              <a:gd name="T30" fmla="*/ 20 w 567"/>
              <a:gd name="T31" fmla="*/ 239 h 571"/>
              <a:gd name="T32" fmla="*/ 2 w 567"/>
              <a:gd name="T33" fmla="*/ 312 h 571"/>
              <a:gd name="T34" fmla="*/ 50 w 567"/>
              <a:gd name="T35" fmla="*/ 341 h 571"/>
              <a:gd name="T36" fmla="*/ 82 w 567"/>
              <a:gd name="T37" fmla="*/ 387 h 571"/>
              <a:gd name="T38" fmla="*/ 82 w 567"/>
              <a:gd name="T39" fmla="*/ 408 h 571"/>
              <a:gd name="T40" fmla="*/ 68 w 567"/>
              <a:gd name="T41" fmla="*/ 470 h 571"/>
              <a:gd name="T42" fmla="*/ 103 w 567"/>
              <a:gd name="T43" fmla="*/ 505 h 571"/>
              <a:gd name="T44" fmla="*/ 153 w 567"/>
              <a:gd name="T45" fmla="*/ 494 h 571"/>
              <a:gd name="T46" fmla="*/ 210 w 567"/>
              <a:gd name="T47" fmla="*/ 500 h 571"/>
              <a:gd name="T48" fmla="*/ 238 w 567"/>
              <a:gd name="T49" fmla="*/ 551 h 571"/>
              <a:gd name="T50" fmla="*/ 273 w 567"/>
              <a:gd name="T51" fmla="*/ 571 h 571"/>
              <a:gd name="T52" fmla="*/ 330 w 567"/>
              <a:gd name="T53" fmla="*/ 551 h 571"/>
              <a:gd name="T54" fmla="*/ 356 w 567"/>
              <a:gd name="T55" fmla="*/ 501 h 571"/>
              <a:gd name="T56" fmla="*/ 405 w 567"/>
              <a:gd name="T57" fmla="*/ 489 h 571"/>
              <a:gd name="T58" fmla="*/ 452 w 567"/>
              <a:gd name="T59" fmla="*/ 509 h 571"/>
              <a:gd name="T60" fmla="*/ 501 w 567"/>
              <a:gd name="T61" fmla="*/ 468 h 571"/>
              <a:gd name="T62" fmla="*/ 490 w 567"/>
              <a:gd name="T63" fmla="*/ 417 h 571"/>
              <a:gd name="T64" fmla="*/ 495 w 567"/>
              <a:gd name="T65" fmla="*/ 364 h 571"/>
              <a:gd name="T66" fmla="*/ 548 w 567"/>
              <a:gd name="T67" fmla="*/ 331 h 571"/>
              <a:gd name="T68" fmla="*/ 567 w 567"/>
              <a:gd name="T69" fmla="*/ 275 h 571"/>
              <a:gd name="T70" fmla="*/ 285 w 567"/>
              <a:gd name="T71" fmla="*/ 355 h 571"/>
              <a:gd name="T72" fmla="*/ 285 w 567"/>
              <a:gd name="T73" fmla="*/ 215 h 571"/>
              <a:gd name="T74" fmla="*/ 285 w 567"/>
              <a:gd name="T75" fmla="*/ 355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67" h="571">
                <a:moveTo>
                  <a:pt x="565" y="260"/>
                </a:moveTo>
                <a:cubicBezTo>
                  <a:pt x="566" y="250"/>
                  <a:pt x="557" y="241"/>
                  <a:pt x="548" y="239"/>
                </a:cubicBezTo>
                <a:cubicBezTo>
                  <a:pt x="537" y="236"/>
                  <a:pt x="526" y="232"/>
                  <a:pt x="515" y="229"/>
                </a:cubicBezTo>
                <a:cubicBezTo>
                  <a:pt x="506" y="227"/>
                  <a:pt x="499" y="219"/>
                  <a:pt x="495" y="210"/>
                </a:cubicBezTo>
                <a:cubicBezTo>
                  <a:pt x="492" y="202"/>
                  <a:pt x="489" y="193"/>
                  <a:pt x="486" y="186"/>
                </a:cubicBezTo>
                <a:cubicBezTo>
                  <a:pt x="480" y="177"/>
                  <a:pt x="480" y="170"/>
                  <a:pt x="485" y="162"/>
                </a:cubicBezTo>
                <a:cubicBezTo>
                  <a:pt x="490" y="153"/>
                  <a:pt x="495" y="145"/>
                  <a:pt x="499" y="137"/>
                </a:cubicBezTo>
                <a:cubicBezTo>
                  <a:pt x="502" y="131"/>
                  <a:pt x="506" y="126"/>
                  <a:pt x="506" y="119"/>
                </a:cubicBezTo>
                <a:cubicBezTo>
                  <a:pt x="507" y="106"/>
                  <a:pt x="499" y="98"/>
                  <a:pt x="492" y="91"/>
                </a:cubicBezTo>
                <a:cubicBezTo>
                  <a:pt x="484" y="82"/>
                  <a:pt x="474" y="74"/>
                  <a:pt x="465" y="66"/>
                </a:cubicBezTo>
                <a:cubicBezTo>
                  <a:pt x="457" y="60"/>
                  <a:pt x="449" y="59"/>
                  <a:pt x="440" y="63"/>
                </a:cubicBezTo>
                <a:cubicBezTo>
                  <a:pt x="430" y="68"/>
                  <a:pt x="420" y="74"/>
                  <a:pt x="409" y="79"/>
                </a:cubicBezTo>
                <a:cubicBezTo>
                  <a:pt x="401" y="84"/>
                  <a:pt x="392" y="86"/>
                  <a:pt x="383" y="83"/>
                </a:cubicBezTo>
                <a:cubicBezTo>
                  <a:pt x="373" y="79"/>
                  <a:pt x="363" y="75"/>
                  <a:pt x="355" y="71"/>
                </a:cubicBezTo>
                <a:cubicBezTo>
                  <a:pt x="348" y="67"/>
                  <a:pt x="342" y="61"/>
                  <a:pt x="340" y="54"/>
                </a:cubicBezTo>
                <a:cubicBezTo>
                  <a:pt x="336" y="42"/>
                  <a:pt x="333" y="30"/>
                  <a:pt x="330" y="19"/>
                </a:cubicBezTo>
                <a:cubicBezTo>
                  <a:pt x="327" y="11"/>
                  <a:pt x="318" y="2"/>
                  <a:pt x="310" y="1"/>
                </a:cubicBezTo>
                <a:cubicBezTo>
                  <a:pt x="293" y="0"/>
                  <a:pt x="276" y="0"/>
                  <a:pt x="258" y="1"/>
                </a:cubicBezTo>
                <a:cubicBezTo>
                  <a:pt x="249" y="2"/>
                  <a:pt x="240" y="9"/>
                  <a:pt x="238" y="18"/>
                </a:cubicBezTo>
                <a:cubicBezTo>
                  <a:pt x="234" y="30"/>
                  <a:pt x="231" y="42"/>
                  <a:pt x="227" y="53"/>
                </a:cubicBezTo>
                <a:cubicBezTo>
                  <a:pt x="225" y="61"/>
                  <a:pt x="219" y="68"/>
                  <a:pt x="212" y="71"/>
                </a:cubicBezTo>
                <a:cubicBezTo>
                  <a:pt x="204" y="75"/>
                  <a:pt x="195" y="79"/>
                  <a:pt x="186" y="83"/>
                </a:cubicBezTo>
                <a:cubicBezTo>
                  <a:pt x="177" y="86"/>
                  <a:pt x="167" y="85"/>
                  <a:pt x="159" y="81"/>
                </a:cubicBezTo>
                <a:cubicBezTo>
                  <a:pt x="149" y="76"/>
                  <a:pt x="138" y="69"/>
                  <a:pt x="128" y="64"/>
                </a:cubicBezTo>
                <a:cubicBezTo>
                  <a:pt x="120" y="60"/>
                  <a:pt x="110" y="60"/>
                  <a:pt x="103" y="66"/>
                </a:cubicBezTo>
                <a:cubicBezTo>
                  <a:pt x="89" y="77"/>
                  <a:pt x="76" y="89"/>
                  <a:pt x="66" y="104"/>
                </a:cubicBezTo>
                <a:cubicBezTo>
                  <a:pt x="60" y="111"/>
                  <a:pt x="60" y="120"/>
                  <a:pt x="64" y="129"/>
                </a:cubicBezTo>
                <a:cubicBezTo>
                  <a:pt x="69" y="139"/>
                  <a:pt x="75" y="149"/>
                  <a:pt x="81" y="159"/>
                </a:cubicBezTo>
                <a:cubicBezTo>
                  <a:pt x="85" y="167"/>
                  <a:pt x="86" y="176"/>
                  <a:pt x="83" y="184"/>
                </a:cubicBezTo>
                <a:cubicBezTo>
                  <a:pt x="79" y="193"/>
                  <a:pt x="75" y="204"/>
                  <a:pt x="71" y="214"/>
                </a:cubicBezTo>
                <a:cubicBezTo>
                  <a:pt x="67" y="221"/>
                  <a:pt x="62" y="226"/>
                  <a:pt x="54" y="229"/>
                </a:cubicBezTo>
                <a:cubicBezTo>
                  <a:pt x="43" y="233"/>
                  <a:pt x="32" y="236"/>
                  <a:pt x="20" y="239"/>
                </a:cubicBezTo>
                <a:cubicBezTo>
                  <a:pt x="11" y="241"/>
                  <a:pt x="3" y="249"/>
                  <a:pt x="1" y="260"/>
                </a:cubicBezTo>
                <a:cubicBezTo>
                  <a:pt x="0" y="277"/>
                  <a:pt x="1" y="295"/>
                  <a:pt x="2" y="312"/>
                </a:cubicBezTo>
                <a:cubicBezTo>
                  <a:pt x="3" y="322"/>
                  <a:pt x="10" y="328"/>
                  <a:pt x="18" y="331"/>
                </a:cubicBezTo>
                <a:cubicBezTo>
                  <a:pt x="29" y="335"/>
                  <a:pt x="39" y="338"/>
                  <a:pt x="50" y="341"/>
                </a:cubicBezTo>
                <a:cubicBezTo>
                  <a:pt x="60" y="344"/>
                  <a:pt x="67" y="350"/>
                  <a:pt x="71" y="360"/>
                </a:cubicBezTo>
                <a:cubicBezTo>
                  <a:pt x="75" y="369"/>
                  <a:pt x="79" y="378"/>
                  <a:pt x="82" y="387"/>
                </a:cubicBezTo>
                <a:cubicBezTo>
                  <a:pt x="84" y="391"/>
                  <a:pt x="88" y="395"/>
                  <a:pt x="85" y="400"/>
                </a:cubicBezTo>
                <a:cubicBezTo>
                  <a:pt x="85" y="403"/>
                  <a:pt x="84" y="405"/>
                  <a:pt x="82" y="408"/>
                </a:cubicBezTo>
                <a:cubicBezTo>
                  <a:pt x="77" y="419"/>
                  <a:pt x="71" y="429"/>
                  <a:pt x="65" y="440"/>
                </a:cubicBezTo>
                <a:cubicBezTo>
                  <a:pt x="60" y="452"/>
                  <a:pt x="60" y="461"/>
                  <a:pt x="68" y="470"/>
                </a:cubicBezTo>
                <a:cubicBezTo>
                  <a:pt x="75" y="477"/>
                  <a:pt x="81" y="484"/>
                  <a:pt x="87" y="490"/>
                </a:cubicBezTo>
                <a:cubicBezTo>
                  <a:pt x="93" y="495"/>
                  <a:pt x="97" y="500"/>
                  <a:pt x="103" y="505"/>
                </a:cubicBezTo>
                <a:cubicBezTo>
                  <a:pt x="110" y="512"/>
                  <a:pt x="119" y="511"/>
                  <a:pt x="127" y="508"/>
                </a:cubicBezTo>
                <a:cubicBezTo>
                  <a:pt x="136" y="503"/>
                  <a:pt x="145" y="498"/>
                  <a:pt x="153" y="494"/>
                </a:cubicBezTo>
                <a:cubicBezTo>
                  <a:pt x="163" y="487"/>
                  <a:pt x="173" y="485"/>
                  <a:pt x="184" y="489"/>
                </a:cubicBezTo>
                <a:cubicBezTo>
                  <a:pt x="193" y="493"/>
                  <a:pt x="201" y="496"/>
                  <a:pt x="210" y="500"/>
                </a:cubicBezTo>
                <a:cubicBezTo>
                  <a:pt x="218" y="503"/>
                  <a:pt x="225" y="509"/>
                  <a:pt x="229" y="518"/>
                </a:cubicBezTo>
                <a:cubicBezTo>
                  <a:pt x="232" y="529"/>
                  <a:pt x="235" y="540"/>
                  <a:pt x="238" y="551"/>
                </a:cubicBezTo>
                <a:cubicBezTo>
                  <a:pt x="240" y="559"/>
                  <a:pt x="244" y="565"/>
                  <a:pt x="252" y="568"/>
                </a:cubicBezTo>
                <a:cubicBezTo>
                  <a:pt x="259" y="570"/>
                  <a:pt x="266" y="570"/>
                  <a:pt x="273" y="571"/>
                </a:cubicBezTo>
                <a:cubicBezTo>
                  <a:pt x="285" y="571"/>
                  <a:pt x="298" y="569"/>
                  <a:pt x="310" y="569"/>
                </a:cubicBezTo>
                <a:cubicBezTo>
                  <a:pt x="319" y="569"/>
                  <a:pt x="328" y="559"/>
                  <a:pt x="330" y="551"/>
                </a:cubicBezTo>
                <a:cubicBezTo>
                  <a:pt x="332" y="541"/>
                  <a:pt x="336" y="530"/>
                  <a:pt x="339" y="520"/>
                </a:cubicBezTo>
                <a:cubicBezTo>
                  <a:pt x="342" y="512"/>
                  <a:pt x="348" y="505"/>
                  <a:pt x="356" y="501"/>
                </a:cubicBezTo>
                <a:cubicBezTo>
                  <a:pt x="365" y="497"/>
                  <a:pt x="374" y="494"/>
                  <a:pt x="383" y="490"/>
                </a:cubicBezTo>
                <a:cubicBezTo>
                  <a:pt x="390" y="486"/>
                  <a:pt x="398" y="486"/>
                  <a:pt x="405" y="489"/>
                </a:cubicBezTo>
                <a:cubicBezTo>
                  <a:pt x="414" y="493"/>
                  <a:pt x="422" y="498"/>
                  <a:pt x="430" y="502"/>
                </a:cubicBezTo>
                <a:cubicBezTo>
                  <a:pt x="437" y="505"/>
                  <a:pt x="444" y="511"/>
                  <a:pt x="452" y="509"/>
                </a:cubicBezTo>
                <a:cubicBezTo>
                  <a:pt x="457" y="509"/>
                  <a:pt x="462" y="507"/>
                  <a:pt x="466" y="504"/>
                </a:cubicBezTo>
                <a:cubicBezTo>
                  <a:pt x="479" y="493"/>
                  <a:pt x="490" y="481"/>
                  <a:pt x="501" y="468"/>
                </a:cubicBezTo>
                <a:cubicBezTo>
                  <a:pt x="508" y="460"/>
                  <a:pt x="508" y="452"/>
                  <a:pt x="504" y="442"/>
                </a:cubicBezTo>
                <a:cubicBezTo>
                  <a:pt x="499" y="434"/>
                  <a:pt x="495" y="425"/>
                  <a:pt x="490" y="417"/>
                </a:cubicBezTo>
                <a:cubicBezTo>
                  <a:pt x="483" y="405"/>
                  <a:pt x="482" y="393"/>
                  <a:pt x="488" y="380"/>
                </a:cubicBezTo>
                <a:cubicBezTo>
                  <a:pt x="490" y="376"/>
                  <a:pt x="493" y="371"/>
                  <a:pt x="495" y="364"/>
                </a:cubicBezTo>
                <a:cubicBezTo>
                  <a:pt x="499" y="354"/>
                  <a:pt x="504" y="345"/>
                  <a:pt x="515" y="341"/>
                </a:cubicBezTo>
                <a:cubicBezTo>
                  <a:pt x="526" y="338"/>
                  <a:pt x="537" y="334"/>
                  <a:pt x="548" y="331"/>
                </a:cubicBezTo>
                <a:cubicBezTo>
                  <a:pt x="556" y="329"/>
                  <a:pt x="565" y="320"/>
                  <a:pt x="565" y="312"/>
                </a:cubicBezTo>
                <a:cubicBezTo>
                  <a:pt x="566" y="300"/>
                  <a:pt x="567" y="287"/>
                  <a:pt x="567" y="275"/>
                </a:cubicBezTo>
                <a:cubicBezTo>
                  <a:pt x="567" y="269"/>
                  <a:pt x="565" y="264"/>
                  <a:pt x="565" y="260"/>
                </a:cubicBezTo>
                <a:close/>
                <a:moveTo>
                  <a:pt x="285" y="355"/>
                </a:moveTo>
                <a:cubicBezTo>
                  <a:pt x="246" y="355"/>
                  <a:pt x="215" y="324"/>
                  <a:pt x="215" y="285"/>
                </a:cubicBezTo>
                <a:cubicBezTo>
                  <a:pt x="215" y="246"/>
                  <a:pt x="246" y="215"/>
                  <a:pt x="285" y="215"/>
                </a:cubicBezTo>
                <a:cubicBezTo>
                  <a:pt x="324" y="215"/>
                  <a:pt x="355" y="246"/>
                  <a:pt x="355" y="285"/>
                </a:cubicBezTo>
                <a:cubicBezTo>
                  <a:pt x="355" y="324"/>
                  <a:pt x="324" y="355"/>
                  <a:pt x="285" y="35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txBody>
          <a:bodyPr vert="horz" wrap="square" lIns="96361" tIns="48181" rIns="96361" bIns="48181" numCol="1" anchor="t" anchorCtr="0" compatLnSpc="1">
            <a:prstTxWarp prst="textNoShape">
              <a:avLst/>
            </a:prstTxWarp>
          </a:bodyPr>
          <a:lstStyle/>
          <a:p>
            <a:pPr defTabSz="963595"/>
            <a:endParaRPr lang="en-US" sz="1897">
              <a:solidFill>
                <a:srgbClr val="282F39"/>
              </a:solidFill>
              <a:latin typeface="Calibri" panose="020F0502020204030204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59C43FD-5D7D-4B1B-A099-DB2928B922CD}"/>
              </a:ext>
            </a:extLst>
          </p:cNvPr>
          <p:cNvSpPr/>
          <p:nvPr/>
        </p:nvSpPr>
        <p:spPr>
          <a:xfrm>
            <a:off x="2528311" y="4795689"/>
            <a:ext cx="1865996" cy="2008125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/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CF65E2-489E-4D2C-9DAE-AB53FFDD8282}"/>
              </a:ext>
            </a:extLst>
          </p:cNvPr>
          <p:cNvSpPr/>
          <p:nvPr/>
        </p:nvSpPr>
        <p:spPr>
          <a:xfrm>
            <a:off x="4576991" y="4795689"/>
            <a:ext cx="1865996" cy="200812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8A36AE-4BCC-4F90-A64D-D1EC7661E0CF}"/>
              </a:ext>
            </a:extLst>
          </p:cNvPr>
          <p:cNvSpPr/>
          <p:nvPr/>
        </p:nvSpPr>
        <p:spPr>
          <a:xfrm>
            <a:off x="6603925" y="4795689"/>
            <a:ext cx="1865996" cy="2008125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1D85F1A-629A-4588-93C7-508C2E82B766}"/>
              </a:ext>
            </a:extLst>
          </p:cNvPr>
          <p:cNvSpPr/>
          <p:nvPr/>
        </p:nvSpPr>
        <p:spPr>
          <a:xfrm>
            <a:off x="8622155" y="4795689"/>
            <a:ext cx="1817493" cy="200812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C74D0FE-89E8-4E4B-862A-4555CC1B6A1D}"/>
              </a:ext>
            </a:extLst>
          </p:cNvPr>
          <p:cNvSpPr/>
          <p:nvPr/>
        </p:nvSpPr>
        <p:spPr>
          <a:xfrm>
            <a:off x="475281" y="4795689"/>
            <a:ext cx="1865996" cy="200812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EB04C6-8E06-4B02-BE1C-447704975924}"/>
              </a:ext>
            </a:extLst>
          </p:cNvPr>
          <p:cNvSpPr txBox="1"/>
          <p:nvPr/>
        </p:nvSpPr>
        <p:spPr>
          <a:xfrm>
            <a:off x="504415" y="4856665"/>
            <a:ext cx="1775097" cy="19319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65" dirty="0"/>
              <a:t>Set new standards in education, research and scholarship that will benefit the UAE and the world.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44F5C55-553F-4E21-86A9-5CB3E121499B}"/>
              </a:ext>
            </a:extLst>
          </p:cNvPr>
          <p:cNvSpPr txBox="1"/>
          <p:nvPr/>
        </p:nvSpPr>
        <p:spPr>
          <a:xfrm>
            <a:off x="2570490" y="4856665"/>
            <a:ext cx="1775097" cy="1931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65" dirty="0"/>
              <a:t>Drive Abu Dhabi and the UAE as a knowledge destination and engine for socioeconomic growth through active translation of research into the nation’s economy.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90C7D0-292D-439E-A8E6-47FC22CB5E9D}"/>
              </a:ext>
            </a:extLst>
          </p:cNvPr>
          <p:cNvSpPr txBox="1"/>
          <p:nvPr/>
        </p:nvSpPr>
        <p:spPr>
          <a:xfrm>
            <a:off x="4584374" y="4856664"/>
            <a:ext cx="1775097" cy="19319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65" dirty="0"/>
              <a:t>Seamlessly integrate research and education to produce world leaders and critical thinkers in applied science, engineering, management and medicine.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028A27-7A05-4AC9-B7C1-8C816CE70A1E}"/>
              </a:ext>
            </a:extLst>
          </p:cNvPr>
          <p:cNvSpPr txBox="1"/>
          <p:nvPr/>
        </p:nvSpPr>
        <p:spPr>
          <a:xfrm>
            <a:off x="6620006" y="4856664"/>
            <a:ext cx="1775097" cy="1947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65" dirty="0"/>
              <a:t>Continuously innovate and integrate the global standard in methods of learning and discovery.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16919E-468D-4BC4-90DA-46D23E4F0997}"/>
              </a:ext>
            </a:extLst>
          </p:cNvPr>
          <p:cNvSpPr txBox="1"/>
          <p:nvPr/>
        </p:nvSpPr>
        <p:spPr>
          <a:xfrm>
            <a:off x="8629539" y="4856664"/>
            <a:ext cx="1775097" cy="1947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65" dirty="0"/>
              <a:t>Build a diverse community of service-oriented, ambitious and talented individuals, through an environment that encourages and nurtures creative inquiry, critical thinking, and human values.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42484EA-78A8-4EAF-9C96-4D70F3DDF77F}"/>
              </a:ext>
            </a:extLst>
          </p:cNvPr>
          <p:cNvSpPr/>
          <p:nvPr/>
        </p:nvSpPr>
        <p:spPr>
          <a:xfrm>
            <a:off x="401505" y="4795689"/>
            <a:ext cx="48180" cy="2008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E411C2F-7E6E-4744-9471-62EA05CD05C8}"/>
              </a:ext>
            </a:extLst>
          </p:cNvPr>
          <p:cNvSpPr/>
          <p:nvPr/>
        </p:nvSpPr>
        <p:spPr>
          <a:xfrm>
            <a:off x="2454535" y="4795689"/>
            <a:ext cx="48180" cy="2008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3612C9D-4474-493E-BF15-939461D5C9DE}"/>
              </a:ext>
            </a:extLst>
          </p:cNvPr>
          <p:cNvSpPr/>
          <p:nvPr/>
        </p:nvSpPr>
        <p:spPr>
          <a:xfrm>
            <a:off x="4503215" y="4795689"/>
            <a:ext cx="48180" cy="2008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8E9E3DD-F481-4FB1-94C4-A4922A1A3266}"/>
              </a:ext>
            </a:extLst>
          </p:cNvPr>
          <p:cNvSpPr/>
          <p:nvPr/>
        </p:nvSpPr>
        <p:spPr>
          <a:xfrm>
            <a:off x="6530149" y="4795689"/>
            <a:ext cx="48180" cy="2008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9D6159C-1156-4401-A5C6-B4CC200A5D7B}"/>
              </a:ext>
            </a:extLst>
          </p:cNvPr>
          <p:cNvSpPr/>
          <p:nvPr/>
        </p:nvSpPr>
        <p:spPr>
          <a:xfrm>
            <a:off x="8548380" y="4795689"/>
            <a:ext cx="48180" cy="2008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896C5B4B-46ED-43F9-B6FC-E0BB63FAD63B}"/>
              </a:ext>
            </a:extLst>
          </p:cNvPr>
          <p:cNvSpPr>
            <a:spLocks noEditPoints="1"/>
          </p:cNvSpPr>
          <p:nvPr/>
        </p:nvSpPr>
        <p:spPr bwMode="auto">
          <a:xfrm rot="20289857">
            <a:off x="10345365" y="1700485"/>
            <a:ext cx="1896875" cy="1896875"/>
          </a:xfrm>
          <a:custGeom>
            <a:avLst/>
            <a:gdLst>
              <a:gd name="T0" fmla="*/ 548 w 567"/>
              <a:gd name="T1" fmla="*/ 239 h 571"/>
              <a:gd name="T2" fmla="*/ 495 w 567"/>
              <a:gd name="T3" fmla="*/ 210 h 571"/>
              <a:gd name="T4" fmla="*/ 485 w 567"/>
              <a:gd name="T5" fmla="*/ 162 h 571"/>
              <a:gd name="T6" fmla="*/ 506 w 567"/>
              <a:gd name="T7" fmla="*/ 119 h 571"/>
              <a:gd name="T8" fmla="*/ 465 w 567"/>
              <a:gd name="T9" fmla="*/ 66 h 571"/>
              <a:gd name="T10" fmla="*/ 409 w 567"/>
              <a:gd name="T11" fmla="*/ 79 h 571"/>
              <a:gd name="T12" fmla="*/ 355 w 567"/>
              <a:gd name="T13" fmla="*/ 71 h 571"/>
              <a:gd name="T14" fmla="*/ 330 w 567"/>
              <a:gd name="T15" fmla="*/ 19 h 571"/>
              <a:gd name="T16" fmla="*/ 258 w 567"/>
              <a:gd name="T17" fmla="*/ 1 h 571"/>
              <a:gd name="T18" fmla="*/ 227 w 567"/>
              <a:gd name="T19" fmla="*/ 53 h 571"/>
              <a:gd name="T20" fmla="*/ 186 w 567"/>
              <a:gd name="T21" fmla="*/ 83 h 571"/>
              <a:gd name="T22" fmla="*/ 128 w 567"/>
              <a:gd name="T23" fmla="*/ 64 h 571"/>
              <a:gd name="T24" fmla="*/ 66 w 567"/>
              <a:gd name="T25" fmla="*/ 104 h 571"/>
              <a:gd name="T26" fmla="*/ 81 w 567"/>
              <a:gd name="T27" fmla="*/ 159 h 571"/>
              <a:gd name="T28" fmla="*/ 71 w 567"/>
              <a:gd name="T29" fmla="*/ 214 h 571"/>
              <a:gd name="T30" fmla="*/ 20 w 567"/>
              <a:gd name="T31" fmla="*/ 239 h 571"/>
              <a:gd name="T32" fmla="*/ 2 w 567"/>
              <a:gd name="T33" fmla="*/ 312 h 571"/>
              <a:gd name="T34" fmla="*/ 50 w 567"/>
              <a:gd name="T35" fmla="*/ 341 h 571"/>
              <a:gd name="T36" fmla="*/ 82 w 567"/>
              <a:gd name="T37" fmla="*/ 387 h 571"/>
              <a:gd name="T38" fmla="*/ 82 w 567"/>
              <a:gd name="T39" fmla="*/ 408 h 571"/>
              <a:gd name="T40" fmla="*/ 68 w 567"/>
              <a:gd name="T41" fmla="*/ 470 h 571"/>
              <a:gd name="T42" fmla="*/ 103 w 567"/>
              <a:gd name="T43" fmla="*/ 505 h 571"/>
              <a:gd name="T44" fmla="*/ 153 w 567"/>
              <a:gd name="T45" fmla="*/ 494 h 571"/>
              <a:gd name="T46" fmla="*/ 210 w 567"/>
              <a:gd name="T47" fmla="*/ 500 h 571"/>
              <a:gd name="T48" fmla="*/ 238 w 567"/>
              <a:gd name="T49" fmla="*/ 551 h 571"/>
              <a:gd name="T50" fmla="*/ 273 w 567"/>
              <a:gd name="T51" fmla="*/ 571 h 571"/>
              <a:gd name="T52" fmla="*/ 330 w 567"/>
              <a:gd name="T53" fmla="*/ 551 h 571"/>
              <a:gd name="T54" fmla="*/ 356 w 567"/>
              <a:gd name="T55" fmla="*/ 501 h 571"/>
              <a:gd name="T56" fmla="*/ 405 w 567"/>
              <a:gd name="T57" fmla="*/ 489 h 571"/>
              <a:gd name="T58" fmla="*/ 452 w 567"/>
              <a:gd name="T59" fmla="*/ 509 h 571"/>
              <a:gd name="T60" fmla="*/ 501 w 567"/>
              <a:gd name="T61" fmla="*/ 468 h 571"/>
              <a:gd name="T62" fmla="*/ 490 w 567"/>
              <a:gd name="T63" fmla="*/ 417 h 571"/>
              <a:gd name="T64" fmla="*/ 495 w 567"/>
              <a:gd name="T65" fmla="*/ 364 h 571"/>
              <a:gd name="T66" fmla="*/ 548 w 567"/>
              <a:gd name="T67" fmla="*/ 331 h 571"/>
              <a:gd name="T68" fmla="*/ 567 w 567"/>
              <a:gd name="T69" fmla="*/ 275 h 571"/>
              <a:gd name="T70" fmla="*/ 285 w 567"/>
              <a:gd name="T71" fmla="*/ 355 h 571"/>
              <a:gd name="T72" fmla="*/ 285 w 567"/>
              <a:gd name="T73" fmla="*/ 215 h 571"/>
              <a:gd name="T74" fmla="*/ 285 w 567"/>
              <a:gd name="T75" fmla="*/ 355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67" h="571">
                <a:moveTo>
                  <a:pt x="565" y="260"/>
                </a:moveTo>
                <a:cubicBezTo>
                  <a:pt x="566" y="250"/>
                  <a:pt x="557" y="241"/>
                  <a:pt x="548" y="239"/>
                </a:cubicBezTo>
                <a:cubicBezTo>
                  <a:pt x="537" y="236"/>
                  <a:pt x="526" y="232"/>
                  <a:pt x="515" y="229"/>
                </a:cubicBezTo>
                <a:cubicBezTo>
                  <a:pt x="506" y="227"/>
                  <a:pt x="499" y="219"/>
                  <a:pt x="495" y="210"/>
                </a:cubicBezTo>
                <a:cubicBezTo>
                  <a:pt x="492" y="202"/>
                  <a:pt x="489" y="193"/>
                  <a:pt x="486" y="186"/>
                </a:cubicBezTo>
                <a:cubicBezTo>
                  <a:pt x="480" y="177"/>
                  <a:pt x="480" y="170"/>
                  <a:pt x="485" y="162"/>
                </a:cubicBezTo>
                <a:cubicBezTo>
                  <a:pt x="490" y="153"/>
                  <a:pt x="495" y="145"/>
                  <a:pt x="499" y="137"/>
                </a:cubicBezTo>
                <a:cubicBezTo>
                  <a:pt x="502" y="131"/>
                  <a:pt x="506" y="126"/>
                  <a:pt x="506" y="119"/>
                </a:cubicBezTo>
                <a:cubicBezTo>
                  <a:pt x="507" y="106"/>
                  <a:pt x="499" y="98"/>
                  <a:pt x="492" y="91"/>
                </a:cubicBezTo>
                <a:cubicBezTo>
                  <a:pt x="484" y="82"/>
                  <a:pt x="474" y="74"/>
                  <a:pt x="465" y="66"/>
                </a:cubicBezTo>
                <a:cubicBezTo>
                  <a:pt x="457" y="60"/>
                  <a:pt x="449" y="59"/>
                  <a:pt x="440" y="63"/>
                </a:cubicBezTo>
                <a:cubicBezTo>
                  <a:pt x="430" y="68"/>
                  <a:pt x="420" y="74"/>
                  <a:pt x="409" y="79"/>
                </a:cubicBezTo>
                <a:cubicBezTo>
                  <a:pt x="401" y="84"/>
                  <a:pt x="392" y="86"/>
                  <a:pt x="383" y="83"/>
                </a:cubicBezTo>
                <a:cubicBezTo>
                  <a:pt x="373" y="79"/>
                  <a:pt x="363" y="75"/>
                  <a:pt x="355" y="71"/>
                </a:cubicBezTo>
                <a:cubicBezTo>
                  <a:pt x="348" y="67"/>
                  <a:pt x="342" y="61"/>
                  <a:pt x="340" y="54"/>
                </a:cubicBezTo>
                <a:cubicBezTo>
                  <a:pt x="336" y="42"/>
                  <a:pt x="333" y="30"/>
                  <a:pt x="330" y="19"/>
                </a:cubicBezTo>
                <a:cubicBezTo>
                  <a:pt x="327" y="11"/>
                  <a:pt x="318" y="2"/>
                  <a:pt x="310" y="1"/>
                </a:cubicBezTo>
                <a:cubicBezTo>
                  <a:pt x="293" y="0"/>
                  <a:pt x="276" y="0"/>
                  <a:pt x="258" y="1"/>
                </a:cubicBezTo>
                <a:cubicBezTo>
                  <a:pt x="249" y="2"/>
                  <a:pt x="240" y="9"/>
                  <a:pt x="238" y="18"/>
                </a:cubicBezTo>
                <a:cubicBezTo>
                  <a:pt x="234" y="30"/>
                  <a:pt x="231" y="42"/>
                  <a:pt x="227" y="53"/>
                </a:cubicBezTo>
                <a:cubicBezTo>
                  <a:pt x="225" y="61"/>
                  <a:pt x="219" y="68"/>
                  <a:pt x="212" y="71"/>
                </a:cubicBezTo>
                <a:cubicBezTo>
                  <a:pt x="204" y="75"/>
                  <a:pt x="195" y="79"/>
                  <a:pt x="186" y="83"/>
                </a:cubicBezTo>
                <a:cubicBezTo>
                  <a:pt x="177" y="86"/>
                  <a:pt x="167" y="85"/>
                  <a:pt x="159" y="81"/>
                </a:cubicBezTo>
                <a:cubicBezTo>
                  <a:pt x="149" y="76"/>
                  <a:pt x="138" y="69"/>
                  <a:pt x="128" y="64"/>
                </a:cubicBezTo>
                <a:cubicBezTo>
                  <a:pt x="120" y="60"/>
                  <a:pt x="110" y="60"/>
                  <a:pt x="103" y="66"/>
                </a:cubicBezTo>
                <a:cubicBezTo>
                  <a:pt x="89" y="77"/>
                  <a:pt x="76" y="89"/>
                  <a:pt x="66" y="104"/>
                </a:cubicBezTo>
                <a:cubicBezTo>
                  <a:pt x="60" y="111"/>
                  <a:pt x="60" y="120"/>
                  <a:pt x="64" y="129"/>
                </a:cubicBezTo>
                <a:cubicBezTo>
                  <a:pt x="69" y="139"/>
                  <a:pt x="75" y="149"/>
                  <a:pt x="81" y="159"/>
                </a:cubicBezTo>
                <a:cubicBezTo>
                  <a:pt x="85" y="167"/>
                  <a:pt x="86" y="176"/>
                  <a:pt x="83" y="184"/>
                </a:cubicBezTo>
                <a:cubicBezTo>
                  <a:pt x="79" y="193"/>
                  <a:pt x="75" y="204"/>
                  <a:pt x="71" y="214"/>
                </a:cubicBezTo>
                <a:cubicBezTo>
                  <a:pt x="67" y="221"/>
                  <a:pt x="62" y="226"/>
                  <a:pt x="54" y="229"/>
                </a:cubicBezTo>
                <a:cubicBezTo>
                  <a:pt x="43" y="233"/>
                  <a:pt x="32" y="236"/>
                  <a:pt x="20" y="239"/>
                </a:cubicBezTo>
                <a:cubicBezTo>
                  <a:pt x="11" y="241"/>
                  <a:pt x="3" y="249"/>
                  <a:pt x="1" y="260"/>
                </a:cubicBezTo>
                <a:cubicBezTo>
                  <a:pt x="0" y="277"/>
                  <a:pt x="1" y="295"/>
                  <a:pt x="2" y="312"/>
                </a:cubicBezTo>
                <a:cubicBezTo>
                  <a:pt x="3" y="322"/>
                  <a:pt x="10" y="328"/>
                  <a:pt x="18" y="331"/>
                </a:cubicBezTo>
                <a:cubicBezTo>
                  <a:pt x="29" y="335"/>
                  <a:pt x="39" y="338"/>
                  <a:pt x="50" y="341"/>
                </a:cubicBezTo>
                <a:cubicBezTo>
                  <a:pt x="60" y="344"/>
                  <a:pt x="67" y="350"/>
                  <a:pt x="71" y="360"/>
                </a:cubicBezTo>
                <a:cubicBezTo>
                  <a:pt x="75" y="369"/>
                  <a:pt x="79" y="378"/>
                  <a:pt x="82" y="387"/>
                </a:cubicBezTo>
                <a:cubicBezTo>
                  <a:pt x="84" y="391"/>
                  <a:pt x="88" y="395"/>
                  <a:pt x="85" y="400"/>
                </a:cubicBezTo>
                <a:cubicBezTo>
                  <a:pt x="85" y="403"/>
                  <a:pt x="84" y="405"/>
                  <a:pt x="82" y="408"/>
                </a:cubicBezTo>
                <a:cubicBezTo>
                  <a:pt x="77" y="419"/>
                  <a:pt x="71" y="429"/>
                  <a:pt x="65" y="440"/>
                </a:cubicBezTo>
                <a:cubicBezTo>
                  <a:pt x="60" y="452"/>
                  <a:pt x="60" y="461"/>
                  <a:pt x="68" y="470"/>
                </a:cubicBezTo>
                <a:cubicBezTo>
                  <a:pt x="75" y="477"/>
                  <a:pt x="81" y="484"/>
                  <a:pt x="87" y="490"/>
                </a:cubicBezTo>
                <a:cubicBezTo>
                  <a:pt x="93" y="495"/>
                  <a:pt x="97" y="500"/>
                  <a:pt x="103" y="505"/>
                </a:cubicBezTo>
                <a:cubicBezTo>
                  <a:pt x="110" y="512"/>
                  <a:pt x="119" y="511"/>
                  <a:pt x="127" y="508"/>
                </a:cubicBezTo>
                <a:cubicBezTo>
                  <a:pt x="136" y="503"/>
                  <a:pt x="145" y="498"/>
                  <a:pt x="153" y="494"/>
                </a:cubicBezTo>
                <a:cubicBezTo>
                  <a:pt x="163" y="487"/>
                  <a:pt x="173" y="485"/>
                  <a:pt x="184" y="489"/>
                </a:cubicBezTo>
                <a:cubicBezTo>
                  <a:pt x="193" y="493"/>
                  <a:pt x="201" y="496"/>
                  <a:pt x="210" y="500"/>
                </a:cubicBezTo>
                <a:cubicBezTo>
                  <a:pt x="218" y="503"/>
                  <a:pt x="225" y="509"/>
                  <a:pt x="229" y="518"/>
                </a:cubicBezTo>
                <a:cubicBezTo>
                  <a:pt x="232" y="529"/>
                  <a:pt x="235" y="540"/>
                  <a:pt x="238" y="551"/>
                </a:cubicBezTo>
                <a:cubicBezTo>
                  <a:pt x="240" y="559"/>
                  <a:pt x="244" y="565"/>
                  <a:pt x="252" y="568"/>
                </a:cubicBezTo>
                <a:cubicBezTo>
                  <a:pt x="259" y="570"/>
                  <a:pt x="266" y="570"/>
                  <a:pt x="273" y="571"/>
                </a:cubicBezTo>
                <a:cubicBezTo>
                  <a:pt x="285" y="571"/>
                  <a:pt x="298" y="569"/>
                  <a:pt x="310" y="569"/>
                </a:cubicBezTo>
                <a:cubicBezTo>
                  <a:pt x="319" y="569"/>
                  <a:pt x="328" y="559"/>
                  <a:pt x="330" y="551"/>
                </a:cubicBezTo>
                <a:cubicBezTo>
                  <a:pt x="332" y="541"/>
                  <a:pt x="336" y="530"/>
                  <a:pt x="339" y="520"/>
                </a:cubicBezTo>
                <a:cubicBezTo>
                  <a:pt x="342" y="512"/>
                  <a:pt x="348" y="505"/>
                  <a:pt x="356" y="501"/>
                </a:cubicBezTo>
                <a:cubicBezTo>
                  <a:pt x="365" y="497"/>
                  <a:pt x="374" y="494"/>
                  <a:pt x="383" y="490"/>
                </a:cubicBezTo>
                <a:cubicBezTo>
                  <a:pt x="390" y="486"/>
                  <a:pt x="398" y="486"/>
                  <a:pt x="405" y="489"/>
                </a:cubicBezTo>
                <a:cubicBezTo>
                  <a:pt x="414" y="493"/>
                  <a:pt x="422" y="498"/>
                  <a:pt x="430" y="502"/>
                </a:cubicBezTo>
                <a:cubicBezTo>
                  <a:pt x="437" y="505"/>
                  <a:pt x="444" y="511"/>
                  <a:pt x="452" y="509"/>
                </a:cubicBezTo>
                <a:cubicBezTo>
                  <a:pt x="457" y="509"/>
                  <a:pt x="462" y="507"/>
                  <a:pt x="466" y="504"/>
                </a:cubicBezTo>
                <a:cubicBezTo>
                  <a:pt x="479" y="493"/>
                  <a:pt x="490" y="481"/>
                  <a:pt x="501" y="468"/>
                </a:cubicBezTo>
                <a:cubicBezTo>
                  <a:pt x="508" y="460"/>
                  <a:pt x="508" y="452"/>
                  <a:pt x="504" y="442"/>
                </a:cubicBezTo>
                <a:cubicBezTo>
                  <a:pt x="499" y="434"/>
                  <a:pt x="495" y="425"/>
                  <a:pt x="490" y="417"/>
                </a:cubicBezTo>
                <a:cubicBezTo>
                  <a:pt x="483" y="405"/>
                  <a:pt x="482" y="393"/>
                  <a:pt x="488" y="380"/>
                </a:cubicBezTo>
                <a:cubicBezTo>
                  <a:pt x="490" y="376"/>
                  <a:pt x="493" y="371"/>
                  <a:pt x="495" y="364"/>
                </a:cubicBezTo>
                <a:cubicBezTo>
                  <a:pt x="499" y="354"/>
                  <a:pt x="504" y="345"/>
                  <a:pt x="515" y="341"/>
                </a:cubicBezTo>
                <a:cubicBezTo>
                  <a:pt x="526" y="338"/>
                  <a:pt x="537" y="334"/>
                  <a:pt x="548" y="331"/>
                </a:cubicBezTo>
                <a:cubicBezTo>
                  <a:pt x="556" y="329"/>
                  <a:pt x="565" y="320"/>
                  <a:pt x="565" y="312"/>
                </a:cubicBezTo>
                <a:cubicBezTo>
                  <a:pt x="566" y="300"/>
                  <a:pt x="567" y="287"/>
                  <a:pt x="567" y="275"/>
                </a:cubicBezTo>
                <a:cubicBezTo>
                  <a:pt x="567" y="269"/>
                  <a:pt x="565" y="264"/>
                  <a:pt x="565" y="260"/>
                </a:cubicBezTo>
                <a:close/>
                <a:moveTo>
                  <a:pt x="285" y="355"/>
                </a:moveTo>
                <a:cubicBezTo>
                  <a:pt x="246" y="355"/>
                  <a:pt x="215" y="324"/>
                  <a:pt x="215" y="285"/>
                </a:cubicBezTo>
                <a:cubicBezTo>
                  <a:pt x="215" y="246"/>
                  <a:pt x="246" y="215"/>
                  <a:pt x="285" y="215"/>
                </a:cubicBezTo>
                <a:cubicBezTo>
                  <a:pt x="324" y="215"/>
                  <a:pt x="355" y="246"/>
                  <a:pt x="355" y="285"/>
                </a:cubicBezTo>
                <a:cubicBezTo>
                  <a:pt x="355" y="324"/>
                  <a:pt x="324" y="355"/>
                  <a:pt x="285" y="35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6361" tIns="48181" rIns="96361" bIns="48181" numCol="1" anchor="t" anchorCtr="0" compatLnSpc="1">
            <a:prstTxWarp prst="textNoShape">
              <a:avLst/>
            </a:prstTxWarp>
          </a:bodyPr>
          <a:lstStyle/>
          <a:p>
            <a:pPr defTabSz="963595">
              <a:defRPr/>
            </a:pPr>
            <a:endParaRPr lang="en-US" sz="1897">
              <a:solidFill>
                <a:srgbClr val="282F39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D85F1A-629A-4588-93C7-508C2E82B766}"/>
              </a:ext>
            </a:extLst>
          </p:cNvPr>
          <p:cNvSpPr/>
          <p:nvPr/>
        </p:nvSpPr>
        <p:spPr>
          <a:xfrm>
            <a:off x="10597575" y="4780491"/>
            <a:ext cx="1817493" cy="2008125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16919E-468D-4BC4-90DA-46D23E4F0997}"/>
              </a:ext>
            </a:extLst>
          </p:cNvPr>
          <p:cNvSpPr txBox="1"/>
          <p:nvPr/>
        </p:nvSpPr>
        <p:spPr>
          <a:xfrm>
            <a:off x="10604958" y="4841466"/>
            <a:ext cx="1775097" cy="1947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65" dirty="0"/>
              <a:t>Empower the community with practical and social skills, business acumen and a capability for lifetime learning that will enrich the workforce of the country.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D6159C-1156-4401-A5C6-B4CC200A5D7B}"/>
              </a:ext>
            </a:extLst>
          </p:cNvPr>
          <p:cNvSpPr/>
          <p:nvPr/>
        </p:nvSpPr>
        <p:spPr>
          <a:xfrm>
            <a:off x="10523799" y="4780491"/>
            <a:ext cx="48180" cy="2008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63595">
              <a:defRPr/>
            </a:pPr>
            <a:endParaRPr lang="en-US" sz="1897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Rectangle 4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227112" y="283245"/>
            <a:ext cx="9833532" cy="754496"/>
          </a:xfrm>
          <a:prstGeom prst="rect">
            <a:avLst/>
          </a:prstGeom>
        </p:spPr>
        <p:txBody>
          <a:bodyPr vert="horz" lIns="111037" tIns="55518" rIns="111037" bIns="55518" rtlCol="0" anchor="ctr">
            <a:normAutofit/>
          </a:bodyPr>
          <a:lstStyle>
            <a:lvl1pPr algn="ctr" defTabSz="1053663" rtl="0" eaLnBrk="1" latinLnBrk="0" hangingPunct="1">
              <a:spcBef>
                <a:spcPct val="0"/>
              </a:spcBef>
              <a:buNone/>
              <a:defRPr sz="5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b="1" dirty="0">
                <a:latin typeface="Candara" panose="020E0502030303020204" pitchFamily="34" charset="0"/>
                <a:ea typeface="+mn-ea"/>
                <a:cs typeface="+mn-cs"/>
              </a:rPr>
              <a:t>Khalifa University of Science and Technology mission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70147" y="3989777"/>
            <a:ext cx="11978647" cy="38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97" dirty="0"/>
              <a:t>As a world-class, research-intensive institution, </a:t>
            </a:r>
            <a:r>
              <a:rPr lang="en-US" sz="1897" dirty="0" err="1"/>
              <a:t>Khalifa</a:t>
            </a:r>
            <a:r>
              <a:rPr lang="en-US" sz="1897" dirty="0"/>
              <a:t> University of Science and Technology will: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470024"/>
            <a:ext cx="2323548" cy="5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107" y="3254771"/>
            <a:ext cx="11274266" cy="13115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Strategic objectives and targets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14" y="1006343"/>
            <a:ext cx="2433761" cy="59465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4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>
            <a:stCxn id="110" idx="6"/>
          </p:cNvCxnSpPr>
          <p:nvPr/>
        </p:nvCxnSpPr>
        <p:spPr>
          <a:xfrm flipV="1">
            <a:off x="6903191" y="3502425"/>
            <a:ext cx="1201230" cy="84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7E5FBF5-5CC1-4FB7-B3B8-D5AC8C8CCA90}"/>
              </a:ext>
            </a:extLst>
          </p:cNvPr>
          <p:cNvSpPr txBox="1"/>
          <p:nvPr/>
        </p:nvSpPr>
        <p:spPr>
          <a:xfrm>
            <a:off x="125793" y="347499"/>
            <a:ext cx="8300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2400" b="1" dirty="0">
                <a:latin typeface="Candara" panose="020E0502030303020204" pitchFamily="34" charset="0"/>
                <a:ea typeface="+mj-ea"/>
                <a:cs typeface="+mj-cs"/>
              </a:rPr>
              <a:t>KU has set 5 Key strategic targets to be achieved by 2031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8FA59E-360D-4871-9B4E-1463308E6A2D}"/>
              </a:ext>
            </a:extLst>
          </p:cNvPr>
          <p:cNvSpPr txBox="1"/>
          <p:nvPr/>
        </p:nvSpPr>
        <p:spPr>
          <a:xfrm>
            <a:off x="509455" y="1938356"/>
            <a:ext cx="2603110" cy="546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39505">
              <a:defRPr/>
            </a:pPr>
            <a:r>
              <a:rPr lang="en-US" sz="2951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80%-90%</a:t>
            </a:r>
            <a:r>
              <a:rPr lang="en-US" sz="2529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" panose="020B0606030504020204" pitchFamily="34" charset="0"/>
              </a:rPr>
              <a:t> </a:t>
            </a:r>
            <a:endParaRPr lang="en-GB" sz="2529" dirty="0">
              <a:solidFill>
                <a:schemeClr val="accent1">
                  <a:lumMod val="60000"/>
                  <a:lumOff val="40000"/>
                </a:schemeClr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94150B-ED28-4091-88A8-6946358F949B}"/>
              </a:ext>
            </a:extLst>
          </p:cNvPr>
          <p:cNvSpPr txBox="1"/>
          <p:nvPr/>
        </p:nvSpPr>
        <p:spPr>
          <a:xfrm>
            <a:off x="0" y="1503351"/>
            <a:ext cx="3564793" cy="38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897" b="1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Graduates Employment Rate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8D011E9-9C14-4169-BE50-52AF12C2F65D}"/>
              </a:ext>
            </a:extLst>
          </p:cNvPr>
          <p:cNvSpPr txBox="1"/>
          <p:nvPr/>
        </p:nvSpPr>
        <p:spPr>
          <a:xfrm>
            <a:off x="830997" y="5389906"/>
            <a:ext cx="2043151" cy="546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891540">
              <a:defRPr sz="2800" b="1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 sz="295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12-15%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2643BC-5680-4F87-AE04-D1ADAE61BB7E}"/>
              </a:ext>
            </a:extLst>
          </p:cNvPr>
          <p:cNvSpPr txBox="1"/>
          <p:nvPr/>
        </p:nvSpPr>
        <p:spPr>
          <a:xfrm>
            <a:off x="8760877" y="1963015"/>
            <a:ext cx="2594988" cy="546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39505">
              <a:defRPr/>
            </a:pPr>
            <a:r>
              <a:rPr lang="en-US" sz="2951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Top 80-100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21D93E-3C92-4CD9-A6EC-C6153ABD90F1}"/>
              </a:ext>
            </a:extLst>
          </p:cNvPr>
          <p:cNvSpPr txBox="1"/>
          <p:nvPr/>
        </p:nvSpPr>
        <p:spPr>
          <a:xfrm>
            <a:off x="8596706" y="1570130"/>
            <a:ext cx="3000061" cy="32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1897" b="1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International Ranking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CB54C5-71B0-4DAB-A013-7F68B28EBA19}"/>
              </a:ext>
            </a:extLst>
          </p:cNvPr>
          <p:cNvSpPr txBox="1"/>
          <p:nvPr/>
        </p:nvSpPr>
        <p:spPr>
          <a:xfrm>
            <a:off x="8680575" y="3479819"/>
            <a:ext cx="2603110" cy="546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39505">
              <a:defRPr/>
            </a:pPr>
            <a:r>
              <a:rPr lang="en-US" sz="2951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14-20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8A54DC-C52C-41BA-9C9D-396336C8BFFE}"/>
              </a:ext>
            </a:extLst>
          </p:cNvPr>
          <p:cNvSpPr txBox="1"/>
          <p:nvPr/>
        </p:nvSpPr>
        <p:spPr>
          <a:xfrm>
            <a:off x="8822085" y="3121661"/>
            <a:ext cx="2877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Number of Start ups **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571275" y="1447103"/>
            <a:ext cx="0" cy="47042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421114" y="1447103"/>
            <a:ext cx="0" cy="47042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3848566" y="2150182"/>
            <a:ext cx="63649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474913" y="2053820"/>
            <a:ext cx="192723" cy="192723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57" name="Oval 56"/>
          <p:cNvSpPr/>
          <p:nvPr/>
        </p:nvSpPr>
        <p:spPr>
          <a:xfrm>
            <a:off x="4524299" y="2102001"/>
            <a:ext cx="93952" cy="963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361" tIns="48181" rIns="96361" bIns="48181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159"/>
          </a:p>
        </p:txBody>
      </p:sp>
      <p:sp>
        <p:nvSpPr>
          <p:cNvPr id="11" name="Oval 10"/>
          <p:cNvSpPr/>
          <p:nvPr/>
        </p:nvSpPr>
        <p:spPr>
          <a:xfrm>
            <a:off x="3388071" y="1914643"/>
            <a:ext cx="455250" cy="455250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13" name="TextBox 12"/>
          <p:cNvSpPr txBox="1"/>
          <p:nvPr/>
        </p:nvSpPr>
        <p:spPr>
          <a:xfrm>
            <a:off x="3409049" y="1952746"/>
            <a:ext cx="400218" cy="38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97" dirty="0"/>
              <a:t>1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3824638" y="4760239"/>
            <a:ext cx="63649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4450985" y="4663877"/>
            <a:ext cx="192723" cy="192723"/>
            <a:chOff x="3956785" y="2372168"/>
            <a:chExt cx="182880" cy="182880"/>
          </a:xfrm>
        </p:grpSpPr>
        <p:sp>
          <p:nvSpPr>
            <p:cNvPr id="71" name="Oval 70"/>
            <p:cNvSpPr/>
            <p:nvPr/>
          </p:nvSpPr>
          <p:spPr>
            <a:xfrm>
              <a:off x="3956785" y="2372168"/>
              <a:ext cx="182880" cy="182880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97"/>
            </a:p>
          </p:txBody>
        </p:sp>
        <p:sp>
          <p:nvSpPr>
            <p:cNvPr id="72" name="Oval 71"/>
            <p:cNvSpPr/>
            <p:nvPr/>
          </p:nvSpPr>
          <p:spPr>
            <a:xfrm>
              <a:off x="4003648" y="2417888"/>
              <a:ext cx="89154" cy="914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6361" tIns="48181" rIns="96361" bIns="4818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159"/>
            </a:p>
          </p:txBody>
        </p:sp>
      </p:grpSp>
      <p:sp>
        <p:nvSpPr>
          <p:cNvPr id="73" name="Oval 72"/>
          <p:cNvSpPr/>
          <p:nvPr/>
        </p:nvSpPr>
        <p:spPr>
          <a:xfrm>
            <a:off x="3364143" y="4524700"/>
            <a:ext cx="481806" cy="48180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74" name="TextBox 73"/>
          <p:cNvSpPr txBox="1"/>
          <p:nvPr/>
        </p:nvSpPr>
        <p:spPr>
          <a:xfrm>
            <a:off x="3373164" y="4565247"/>
            <a:ext cx="455250" cy="38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97" dirty="0"/>
              <a:t>2</a:t>
            </a:r>
          </a:p>
        </p:txBody>
      </p:sp>
      <p:grpSp>
        <p:nvGrpSpPr>
          <p:cNvPr id="14" name="Group 13"/>
          <p:cNvGrpSpPr/>
          <p:nvPr/>
        </p:nvGrpSpPr>
        <p:grpSpPr>
          <a:xfrm rot="10800000">
            <a:off x="7312870" y="1989941"/>
            <a:ext cx="819071" cy="192723"/>
            <a:chOff x="8690052" y="3649309"/>
            <a:chExt cx="777240" cy="182880"/>
          </a:xfrm>
        </p:grpSpPr>
        <p:cxnSp>
          <p:nvCxnSpPr>
            <p:cNvPr id="75" name="Straight Connector 74"/>
            <p:cNvCxnSpPr/>
            <p:nvPr/>
          </p:nvCxnSpPr>
          <p:spPr>
            <a:xfrm>
              <a:off x="8690052" y="3740749"/>
              <a:ext cx="603985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9284412" y="3649309"/>
              <a:ext cx="182880" cy="182880"/>
              <a:chOff x="3956785" y="2372168"/>
              <a:chExt cx="182880" cy="182880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3956785" y="2372168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97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4003648" y="2417888"/>
                <a:ext cx="89154" cy="9144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361" tIns="48181" rIns="96361" bIns="4818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159"/>
              </a:p>
            </p:txBody>
          </p:sp>
        </p:grpSp>
      </p:grpSp>
      <p:sp>
        <p:nvSpPr>
          <p:cNvPr id="79" name="Oval 78"/>
          <p:cNvSpPr/>
          <p:nvPr/>
        </p:nvSpPr>
        <p:spPr>
          <a:xfrm>
            <a:off x="8092336" y="1830304"/>
            <a:ext cx="455250" cy="455250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80" name="TextBox 79"/>
          <p:cNvSpPr txBox="1"/>
          <p:nvPr/>
        </p:nvSpPr>
        <p:spPr>
          <a:xfrm>
            <a:off x="8114279" y="1886195"/>
            <a:ext cx="400218" cy="38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97" dirty="0"/>
              <a:t>3</a:t>
            </a:r>
          </a:p>
        </p:txBody>
      </p:sp>
      <p:grpSp>
        <p:nvGrpSpPr>
          <p:cNvPr id="91" name="Group 90"/>
          <p:cNvGrpSpPr/>
          <p:nvPr/>
        </p:nvGrpSpPr>
        <p:grpSpPr>
          <a:xfrm rot="10800000">
            <a:off x="7344511" y="3398405"/>
            <a:ext cx="819071" cy="192723"/>
            <a:chOff x="8690052" y="3649309"/>
            <a:chExt cx="777240" cy="182880"/>
          </a:xfrm>
        </p:grpSpPr>
        <p:cxnSp>
          <p:nvCxnSpPr>
            <p:cNvPr id="92" name="Straight Connector 91"/>
            <p:cNvCxnSpPr/>
            <p:nvPr/>
          </p:nvCxnSpPr>
          <p:spPr>
            <a:xfrm>
              <a:off x="8690052" y="3740749"/>
              <a:ext cx="603985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Group 92"/>
            <p:cNvGrpSpPr/>
            <p:nvPr/>
          </p:nvGrpSpPr>
          <p:grpSpPr>
            <a:xfrm>
              <a:off x="9284412" y="3649309"/>
              <a:ext cx="182880" cy="182880"/>
              <a:chOff x="3956785" y="2372168"/>
              <a:chExt cx="182880" cy="182880"/>
            </a:xfrm>
          </p:grpSpPr>
          <p:sp>
            <p:nvSpPr>
              <p:cNvPr id="94" name="Oval 93"/>
              <p:cNvSpPr/>
              <p:nvPr/>
            </p:nvSpPr>
            <p:spPr>
              <a:xfrm>
                <a:off x="3956785" y="2372168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97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4003648" y="2417888"/>
                <a:ext cx="89154" cy="9144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361" tIns="48181" rIns="96361" bIns="4818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159"/>
              </a:p>
            </p:txBody>
          </p:sp>
        </p:grpSp>
      </p:grpSp>
      <p:sp>
        <p:nvSpPr>
          <p:cNvPr id="96" name="Oval 95"/>
          <p:cNvSpPr/>
          <p:nvPr/>
        </p:nvSpPr>
        <p:spPr>
          <a:xfrm>
            <a:off x="8140528" y="3238767"/>
            <a:ext cx="455250" cy="455250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97" name="TextBox 96"/>
          <p:cNvSpPr txBox="1"/>
          <p:nvPr/>
        </p:nvSpPr>
        <p:spPr>
          <a:xfrm>
            <a:off x="8157713" y="3290269"/>
            <a:ext cx="400218" cy="38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97" dirty="0"/>
              <a:t>4</a:t>
            </a:r>
          </a:p>
        </p:txBody>
      </p:sp>
      <p:cxnSp>
        <p:nvCxnSpPr>
          <p:cNvPr id="98" name="Straight Connector 97"/>
          <p:cNvCxnSpPr>
            <a:endCxn id="107" idx="2"/>
          </p:cNvCxnSpPr>
          <p:nvPr/>
        </p:nvCxnSpPr>
        <p:spPr>
          <a:xfrm flipV="1">
            <a:off x="4594322" y="3501797"/>
            <a:ext cx="674294" cy="90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7276" y="4297394"/>
            <a:ext cx="2615732" cy="968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97" b="1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Publications are in the top 5% cited papers per year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268616" y="2768208"/>
            <a:ext cx="1634575" cy="1445419"/>
            <a:chOff x="5253877" y="3050071"/>
            <a:chExt cx="1551096" cy="1371600"/>
          </a:xfrm>
        </p:grpSpPr>
        <p:sp>
          <p:nvSpPr>
            <p:cNvPr id="100" name="Oval 99"/>
            <p:cNvSpPr/>
            <p:nvPr/>
          </p:nvSpPr>
          <p:spPr>
            <a:xfrm>
              <a:off x="5343625" y="3050071"/>
              <a:ext cx="1371600" cy="1371600"/>
            </a:xfrm>
            <a:prstGeom prst="ellips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97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31484CE0-1C44-41A1-A9D1-38272912D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5135" y="3187231"/>
              <a:ext cx="1097280" cy="1097280"/>
            </a:xfrm>
            <a:custGeom>
              <a:avLst/>
              <a:gdLst>
                <a:gd name="T0" fmla="*/ 707 w 771"/>
                <a:gd name="T1" fmla="*/ 219 h 812"/>
                <a:gd name="T2" fmla="*/ 760 w 771"/>
                <a:gd name="T3" fmla="*/ 369 h 812"/>
                <a:gd name="T4" fmla="*/ 685 w 771"/>
                <a:gd name="T5" fmla="*/ 634 h 812"/>
                <a:gd name="T6" fmla="*/ 197 w 771"/>
                <a:gd name="T7" fmla="*/ 707 h 812"/>
                <a:gd name="T8" fmla="*/ 97 w 771"/>
                <a:gd name="T9" fmla="*/ 220 h 812"/>
                <a:gd name="T10" fmla="*/ 594 w 771"/>
                <a:gd name="T11" fmla="*/ 106 h 812"/>
                <a:gd name="T12" fmla="*/ 552 w 771"/>
                <a:gd name="T13" fmla="*/ 147 h 812"/>
                <a:gd name="T14" fmla="*/ 509 w 771"/>
                <a:gd name="T15" fmla="*/ 128 h 812"/>
                <a:gd name="T16" fmla="*/ 454 w 771"/>
                <a:gd name="T17" fmla="*/ 113 h 812"/>
                <a:gd name="T18" fmla="*/ 372 w 771"/>
                <a:gd name="T19" fmla="*/ 110 h 812"/>
                <a:gd name="T20" fmla="*/ 241 w 771"/>
                <a:gd name="T21" fmla="*/ 155 h 812"/>
                <a:gd name="T22" fmla="*/ 147 w 771"/>
                <a:gd name="T23" fmla="*/ 249 h 812"/>
                <a:gd name="T24" fmla="*/ 115 w 771"/>
                <a:gd name="T25" fmla="*/ 317 h 812"/>
                <a:gd name="T26" fmla="*/ 103 w 771"/>
                <a:gd name="T27" fmla="*/ 366 h 812"/>
                <a:gd name="T28" fmla="*/ 102 w 771"/>
                <a:gd name="T29" fmla="*/ 450 h 812"/>
                <a:gd name="T30" fmla="*/ 124 w 771"/>
                <a:gd name="T31" fmla="*/ 528 h 812"/>
                <a:gd name="T32" fmla="*/ 209 w 771"/>
                <a:gd name="T33" fmla="*/ 643 h 812"/>
                <a:gd name="T34" fmla="*/ 295 w 771"/>
                <a:gd name="T35" fmla="*/ 694 h 812"/>
                <a:gd name="T36" fmla="*/ 357 w 771"/>
                <a:gd name="T37" fmla="*/ 710 h 812"/>
                <a:gd name="T38" fmla="*/ 439 w 771"/>
                <a:gd name="T39" fmla="*/ 711 h 812"/>
                <a:gd name="T40" fmla="*/ 512 w 771"/>
                <a:gd name="T41" fmla="*/ 693 h 812"/>
                <a:gd name="T42" fmla="*/ 585 w 771"/>
                <a:gd name="T43" fmla="*/ 652 h 812"/>
                <a:gd name="T44" fmla="*/ 644 w 771"/>
                <a:gd name="T45" fmla="*/ 592 h 812"/>
                <a:gd name="T46" fmla="*/ 677 w 771"/>
                <a:gd name="T47" fmla="*/ 536 h 812"/>
                <a:gd name="T48" fmla="*/ 696 w 771"/>
                <a:gd name="T49" fmla="*/ 482 h 812"/>
                <a:gd name="T50" fmla="*/ 704 w 771"/>
                <a:gd name="T51" fmla="*/ 432 h 812"/>
                <a:gd name="T52" fmla="*/ 702 w 771"/>
                <a:gd name="T53" fmla="*/ 374 h 812"/>
                <a:gd name="T54" fmla="*/ 695 w 771"/>
                <a:gd name="T55" fmla="*/ 334 h 812"/>
                <a:gd name="T56" fmla="*/ 666 w 771"/>
                <a:gd name="T57" fmla="*/ 264 h 812"/>
                <a:gd name="T58" fmla="*/ 667 w 771"/>
                <a:gd name="T59" fmla="*/ 258 h 812"/>
                <a:gd name="T60" fmla="*/ 703 w 771"/>
                <a:gd name="T61" fmla="*/ 222 h 812"/>
                <a:gd name="T62" fmla="*/ 707 w 771"/>
                <a:gd name="T63" fmla="*/ 219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1" h="812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3952" tIns="46976" rIns="93952" bIns="46976" numCol="1" anchor="t" anchorCtr="0" compatLnSpc="1">
              <a:prstTxWarp prst="textNoShape">
                <a:avLst/>
              </a:prstTxWarp>
            </a:bodyPr>
            <a:lstStyle/>
            <a:p>
              <a:endParaRPr lang="en-US" sz="2158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B6438075-26BA-4B27-B44F-4B9F44B46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7585" y="3423517"/>
              <a:ext cx="647877" cy="608553"/>
            </a:xfrm>
            <a:custGeom>
              <a:avLst/>
              <a:gdLst>
                <a:gd name="T0" fmla="*/ 350 w 455"/>
                <a:gd name="T1" fmla="*/ 54 h 450"/>
                <a:gd name="T2" fmla="*/ 311 w 455"/>
                <a:gd name="T3" fmla="*/ 93 h 450"/>
                <a:gd name="T4" fmla="*/ 305 w 455"/>
                <a:gd name="T5" fmla="*/ 94 h 450"/>
                <a:gd name="T6" fmla="*/ 262 w 455"/>
                <a:gd name="T7" fmla="*/ 81 h 450"/>
                <a:gd name="T8" fmla="*/ 210 w 455"/>
                <a:gd name="T9" fmla="*/ 82 h 450"/>
                <a:gd name="T10" fmla="*/ 148 w 455"/>
                <a:gd name="T11" fmla="*/ 109 h 450"/>
                <a:gd name="T12" fmla="*/ 103 w 455"/>
                <a:gd name="T13" fmla="*/ 160 h 450"/>
                <a:gd name="T14" fmla="*/ 84 w 455"/>
                <a:gd name="T15" fmla="*/ 216 h 450"/>
                <a:gd name="T16" fmla="*/ 90 w 455"/>
                <a:gd name="T17" fmla="*/ 283 h 450"/>
                <a:gd name="T18" fmla="*/ 154 w 455"/>
                <a:gd name="T19" fmla="*/ 367 h 450"/>
                <a:gd name="T20" fmla="*/ 225 w 455"/>
                <a:gd name="T21" fmla="*/ 392 h 450"/>
                <a:gd name="T22" fmla="*/ 302 w 455"/>
                <a:gd name="T23" fmla="*/ 379 h 450"/>
                <a:gd name="T24" fmla="*/ 364 w 455"/>
                <a:gd name="T25" fmla="*/ 330 h 450"/>
                <a:gd name="T26" fmla="*/ 391 w 455"/>
                <a:gd name="T27" fmla="*/ 273 h 450"/>
                <a:gd name="T28" fmla="*/ 395 w 455"/>
                <a:gd name="T29" fmla="*/ 223 h 450"/>
                <a:gd name="T30" fmla="*/ 380 w 455"/>
                <a:gd name="T31" fmla="*/ 167 h 450"/>
                <a:gd name="T32" fmla="*/ 422 w 455"/>
                <a:gd name="T33" fmla="*/ 125 h 450"/>
                <a:gd name="T34" fmla="*/ 453 w 455"/>
                <a:gd name="T35" fmla="*/ 242 h 450"/>
                <a:gd name="T36" fmla="*/ 418 w 455"/>
                <a:gd name="T37" fmla="*/ 354 h 450"/>
                <a:gd name="T38" fmla="*/ 235 w 455"/>
                <a:gd name="T39" fmla="*/ 450 h 450"/>
                <a:gd name="T40" fmla="*/ 85 w 455"/>
                <a:gd name="T41" fmla="*/ 385 h 450"/>
                <a:gd name="T42" fmla="*/ 95 w 455"/>
                <a:gd name="T43" fmla="*/ 78 h 450"/>
                <a:gd name="T44" fmla="*/ 350 w 455"/>
                <a:gd name="T45" fmla="*/ 5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5" h="45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3952" tIns="46976" rIns="93952" bIns="46976" numCol="1" anchor="t" anchorCtr="0" compatLnSpc="1">
              <a:prstTxWarp prst="textNoShape">
                <a:avLst/>
              </a:prstTxWarp>
            </a:bodyPr>
            <a:lstStyle/>
            <a:p>
              <a:endParaRPr lang="en-US" sz="2158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DB958A23-314C-428D-9A61-FF56AAFC9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2210" y="3255895"/>
              <a:ext cx="616688" cy="587011"/>
            </a:xfrm>
            <a:custGeom>
              <a:avLst/>
              <a:gdLst>
                <a:gd name="T0" fmla="*/ 363 w 433"/>
                <a:gd name="T1" fmla="*/ 0 h 434"/>
                <a:gd name="T2" fmla="*/ 363 w 433"/>
                <a:gd name="T3" fmla="*/ 71 h 434"/>
                <a:gd name="T4" fmla="*/ 432 w 433"/>
                <a:gd name="T5" fmla="*/ 71 h 434"/>
                <a:gd name="T6" fmla="*/ 433 w 433"/>
                <a:gd name="T7" fmla="*/ 73 h 434"/>
                <a:gd name="T8" fmla="*/ 408 w 433"/>
                <a:gd name="T9" fmla="*/ 98 h 434"/>
                <a:gd name="T10" fmla="*/ 303 w 433"/>
                <a:gd name="T11" fmla="*/ 203 h 434"/>
                <a:gd name="T12" fmla="*/ 292 w 433"/>
                <a:gd name="T13" fmla="*/ 207 h 434"/>
                <a:gd name="T14" fmla="*/ 262 w 433"/>
                <a:gd name="T15" fmla="*/ 208 h 434"/>
                <a:gd name="T16" fmla="*/ 255 w 433"/>
                <a:gd name="T17" fmla="*/ 210 h 434"/>
                <a:gd name="T18" fmla="*/ 176 w 433"/>
                <a:gd name="T19" fmla="*/ 289 h 434"/>
                <a:gd name="T20" fmla="*/ 141 w 433"/>
                <a:gd name="T21" fmla="*/ 325 h 434"/>
                <a:gd name="T22" fmla="*/ 140 w 433"/>
                <a:gd name="T23" fmla="*/ 330 h 434"/>
                <a:gd name="T24" fmla="*/ 146 w 433"/>
                <a:gd name="T25" fmla="*/ 354 h 434"/>
                <a:gd name="T26" fmla="*/ 121 w 433"/>
                <a:gd name="T27" fmla="*/ 415 h 434"/>
                <a:gd name="T28" fmla="*/ 67 w 433"/>
                <a:gd name="T29" fmla="*/ 432 h 434"/>
                <a:gd name="T30" fmla="*/ 12 w 433"/>
                <a:gd name="T31" fmla="*/ 397 h 434"/>
                <a:gd name="T32" fmla="*/ 4 w 433"/>
                <a:gd name="T33" fmla="*/ 342 h 434"/>
                <a:gd name="T34" fmla="*/ 46 w 433"/>
                <a:gd name="T35" fmla="*/ 294 h 434"/>
                <a:gd name="T36" fmla="*/ 105 w 433"/>
                <a:gd name="T37" fmla="*/ 295 h 434"/>
                <a:gd name="T38" fmla="*/ 110 w 433"/>
                <a:gd name="T39" fmla="*/ 293 h 434"/>
                <a:gd name="T40" fmla="*/ 191 w 433"/>
                <a:gd name="T41" fmla="*/ 213 h 434"/>
                <a:gd name="T42" fmla="*/ 223 w 433"/>
                <a:gd name="T43" fmla="*/ 181 h 434"/>
                <a:gd name="T44" fmla="*/ 227 w 433"/>
                <a:gd name="T45" fmla="*/ 171 h 434"/>
                <a:gd name="T46" fmla="*/ 227 w 433"/>
                <a:gd name="T47" fmla="*/ 143 h 434"/>
                <a:gd name="T48" fmla="*/ 231 w 433"/>
                <a:gd name="T49" fmla="*/ 131 h 434"/>
                <a:gd name="T50" fmla="*/ 360 w 433"/>
                <a:gd name="T51" fmla="*/ 3 h 434"/>
                <a:gd name="T52" fmla="*/ 363 w 433"/>
                <a:gd name="T53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3" h="434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3952" tIns="46976" rIns="93952" bIns="46976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5253877" y="3654754"/>
              <a:ext cx="182880" cy="182880"/>
              <a:chOff x="3956785" y="2372168"/>
              <a:chExt cx="182880" cy="182880"/>
            </a:xfrm>
          </p:grpSpPr>
          <p:sp>
            <p:nvSpPr>
              <p:cNvPr id="107" name="Oval 106"/>
              <p:cNvSpPr/>
              <p:nvPr/>
            </p:nvSpPr>
            <p:spPr>
              <a:xfrm>
                <a:off x="3956785" y="2372168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97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4003648" y="2417888"/>
                <a:ext cx="89154" cy="9144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361" tIns="48181" rIns="96361" bIns="4818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159"/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6622093" y="3663365"/>
              <a:ext cx="182880" cy="182880"/>
              <a:chOff x="3956785" y="2372168"/>
              <a:chExt cx="182880" cy="182880"/>
            </a:xfrm>
          </p:grpSpPr>
          <p:sp>
            <p:nvSpPr>
              <p:cNvPr id="110" name="Oval 109"/>
              <p:cNvSpPr/>
              <p:nvPr/>
            </p:nvSpPr>
            <p:spPr>
              <a:xfrm>
                <a:off x="3956785" y="2372168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97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4003648" y="2417888"/>
                <a:ext cx="89154" cy="9144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361" tIns="48181" rIns="96361" bIns="4818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159"/>
              </a:p>
            </p:txBody>
          </p:sp>
        </p:grp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AB8A54DC-C52C-41BA-9C9D-396336C8BFFE}"/>
              </a:ext>
            </a:extLst>
          </p:cNvPr>
          <p:cNvSpPr txBox="1"/>
          <p:nvPr/>
        </p:nvSpPr>
        <p:spPr>
          <a:xfrm>
            <a:off x="8798678" y="4646823"/>
            <a:ext cx="2519384" cy="559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defRPr/>
            </a:pPr>
            <a:r>
              <a:rPr lang="en-US" sz="1897" b="1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Diversified Funding Sources</a:t>
            </a:r>
            <a:endParaRPr lang="en-GB" sz="1897" b="1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114" name="Group 113"/>
          <p:cNvGrpSpPr/>
          <p:nvPr/>
        </p:nvGrpSpPr>
        <p:grpSpPr>
          <a:xfrm rot="10800000">
            <a:off x="7321385" y="4774424"/>
            <a:ext cx="819071" cy="192723"/>
            <a:chOff x="8690052" y="3649309"/>
            <a:chExt cx="777240" cy="182880"/>
          </a:xfrm>
        </p:grpSpPr>
        <p:cxnSp>
          <p:nvCxnSpPr>
            <p:cNvPr id="115" name="Straight Connector 114"/>
            <p:cNvCxnSpPr/>
            <p:nvPr/>
          </p:nvCxnSpPr>
          <p:spPr>
            <a:xfrm>
              <a:off x="8690052" y="3740749"/>
              <a:ext cx="603985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/>
            <p:cNvGrpSpPr/>
            <p:nvPr/>
          </p:nvGrpSpPr>
          <p:grpSpPr>
            <a:xfrm>
              <a:off x="9284412" y="3649309"/>
              <a:ext cx="182880" cy="182880"/>
              <a:chOff x="3956785" y="2372168"/>
              <a:chExt cx="182880" cy="182880"/>
            </a:xfrm>
          </p:grpSpPr>
          <p:sp>
            <p:nvSpPr>
              <p:cNvPr id="117" name="Oval 116"/>
              <p:cNvSpPr/>
              <p:nvPr/>
            </p:nvSpPr>
            <p:spPr>
              <a:xfrm>
                <a:off x="3956785" y="2372168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97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4003648" y="2417888"/>
                <a:ext cx="89154" cy="9144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361" tIns="48181" rIns="96361" bIns="4818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159"/>
              </a:p>
            </p:txBody>
          </p:sp>
        </p:grpSp>
      </p:grpSp>
      <p:sp>
        <p:nvSpPr>
          <p:cNvPr id="119" name="Oval 118"/>
          <p:cNvSpPr/>
          <p:nvPr/>
        </p:nvSpPr>
        <p:spPr>
          <a:xfrm>
            <a:off x="8117402" y="4614786"/>
            <a:ext cx="455250" cy="455250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120" name="TextBox 119"/>
          <p:cNvSpPr txBox="1"/>
          <p:nvPr/>
        </p:nvSpPr>
        <p:spPr>
          <a:xfrm>
            <a:off x="8154100" y="4652741"/>
            <a:ext cx="400218" cy="38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97" dirty="0"/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013" y="2514395"/>
            <a:ext cx="2141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63570">
              <a:defRPr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2017/18         2018/19      2019/20</a:t>
            </a:r>
          </a:p>
          <a:p>
            <a:pPr algn="ctr" defTabSz="963570">
              <a:defRPr/>
            </a:pPr>
            <a:r>
              <a:rPr lang="en-US" sz="10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77%                76%              68%*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5945" y="5992710"/>
            <a:ext cx="2447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63570">
              <a:defRPr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2018       2019           2020</a:t>
            </a:r>
          </a:p>
          <a:p>
            <a:pPr algn="ctr" defTabSz="963570">
              <a:defRPr/>
            </a:pPr>
            <a:r>
              <a:rPr lang="en-US" sz="10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8.1%      10.8%        11.4%  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64617" y="4001229"/>
            <a:ext cx="684803" cy="514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63595">
              <a:defRPr/>
            </a:pPr>
            <a:r>
              <a:rPr lang="en-US" sz="1000" b="1" dirty="0">
                <a:solidFill>
                  <a:srgbClr val="44546A"/>
                </a:solidFill>
                <a:latin typeface="Arial"/>
              </a:rPr>
              <a:t>2017</a:t>
            </a:r>
          </a:p>
          <a:p>
            <a:pPr algn="ctr" defTabSz="963595">
              <a:defRPr/>
            </a:pPr>
            <a:endParaRPr lang="en-US" sz="871" b="1" dirty="0">
              <a:solidFill>
                <a:srgbClr val="44546A"/>
              </a:solidFill>
              <a:latin typeface="Arial"/>
            </a:endParaRPr>
          </a:p>
          <a:p>
            <a:pPr algn="ctr" defTabSz="963595">
              <a:defRPr/>
            </a:pPr>
            <a:r>
              <a:rPr lang="en-US" sz="871" dirty="0">
                <a:solidFill>
                  <a:srgbClr val="44546A"/>
                </a:solidFill>
                <a:latin typeface="Arial"/>
              </a:rPr>
              <a:t>1 Start Up</a:t>
            </a:r>
            <a:endParaRPr lang="en-US" sz="189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9248931" y="2607996"/>
            <a:ext cx="763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62841">
              <a:defRPr/>
            </a:pPr>
            <a:r>
              <a:rPr lang="en-US" sz="1000" b="1" dirty="0">
                <a:solidFill>
                  <a:srgbClr val="44546A"/>
                </a:solidFill>
                <a:latin typeface="Arial"/>
              </a:rPr>
              <a:t>2019</a:t>
            </a:r>
            <a:endParaRPr lang="en-GB" sz="1000" b="1" dirty="0">
              <a:solidFill>
                <a:srgbClr val="44546A"/>
              </a:solidFill>
              <a:latin typeface="Arial"/>
            </a:endParaRPr>
          </a:p>
          <a:p>
            <a:pPr algn="ctr" defTabSz="862841">
              <a:defRPr/>
            </a:pPr>
            <a:r>
              <a:rPr lang="en-US" sz="1000" dirty="0">
                <a:solidFill>
                  <a:srgbClr val="44546A"/>
                </a:solidFill>
                <a:latin typeface="Arial"/>
              </a:rPr>
              <a:t>QS 315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893605" y="2607996"/>
            <a:ext cx="763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62841">
              <a:defRPr/>
            </a:pPr>
            <a:r>
              <a:rPr lang="en-US" sz="1000" b="1" dirty="0">
                <a:solidFill>
                  <a:srgbClr val="44546A"/>
                </a:solidFill>
                <a:latin typeface="Arial"/>
              </a:rPr>
              <a:t>2020</a:t>
            </a:r>
            <a:endParaRPr lang="en-GB" sz="1000" b="1" dirty="0">
              <a:solidFill>
                <a:srgbClr val="44546A"/>
              </a:solidFill>
              <a:latin typeface="Arial"/>
            </a:endParaRPr>
          </a:p>
          <a:p>
            <a:pPr algn="ctr" defTabSz="862841">
              <a:defRPr/>
            </a:pPr>
            <a:r>
              <a:rPr lang="en-US" sz="1000" dirty="0">
                <a:solidFill>
                  <a:srgbClr val="44546A"/>
                </a:solidFill>
                <a:latin typeface="Arial"/>
              </a:rPr>
              <a:t>QS 268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31034" y="2607996"/>
            <a:ext cx="877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62841">
              <a:defRPr/>
            </a:pPr>
            <a:r>
              <a:rPr lang="en-US" sz="1000" b="1" dirty="0">
                <a:solidFill>
                  <a:srgbClr val="44546A"/>
                </a:solidFill>
                <a:latin typeface="Arial"/>
              </a:rPr>
              <a:t>2018</a:t>
            </a:r>
            <a:endParaRPr lang="en-GB" sz="1000" b="1" dirty="0">
              <a:solidFill>
                <a:srgbClr val="44546A"/>
              </a:solidFill>
              <a:latin typeface="Arial"/>
            </a:endParaRPr>
          </a:p>
          <a:p>
            <a:pPr algn="ctr" defTabSz="862841">
              <a:defRPr/>
            </a:pPr>
            <a:r>
              <a:rPr lang="en-US" sz="1000" dirty="0">
                <a:solidFill>
                  <a:srgbClr val="44546A"/>
                </a:solidFill>
                <a:latin typeface="Arial"/>
              </a:rPr>
              <a:t>QS 451-460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446321" y="2607996"/>
            <a:ext cx="763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62841">
              <a:defRPr/>
            </a:pPr>
            <a:r>
              <a:rPr lang="en-US" sz="1000" b="1" dirty="0">
                <a:solidFill>
                  <a:srgbClr val="44546A"/>
                </a:solidFill>
                <a:latin typeface="Arial"/>
              </a:rPr>
              <a:t>2021</a:t>
            </a:r>
            <a:endParaRPr lang="en-GB" sz="1000" b="1" dirty="0">
              <a:solidFill>
                <a:srgbClr val="44546A"/>
              </a:solidFill>
              <a:latin typeface="Arial"/>
            </a:endParaRPr>
          </a:p>
          <a:p>
            <a:pPr algn="ctr" defTabSz="862841">
              <a:defRPr/>
            </a:pPr>
            <a:r>
              <a:rPr lang="en-US" sz="1000" dirty="0">
                <a:solidFill>
                  <a:srgbClr val="44546A"/>
                </a:solidFill>
                <a:latin typeface="Arial"/>
              </a:rPr>
              <a:t>QS 211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786232" y="3980279"/>
            <a:ext cx="2810536" cy="53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48" b="1" dirty="0">
                <a:solidFill>
                  <a:schemeClr val="accent1">
                    <a:lumMod val="50000"/>
                  </a:schemeClr>
                </a:solidFill>
              </a:rPr>
              <a:t>                                       </a:t>
            </a:r>
            <a:r>
              <a:rPr lang="ar-EG" sz="1000" b="1" dirty="0">
                <a:solidFill>
                  <a:schemeClr val="accent1">
                    <a:lumMod val="50000"/>
                  </a:schemeClr>
                </a:solidFill>
              </a:rPr>
              <a:t>2020</a:t>
            </a:r>
            <a:endParaRPr lang="ar-EG" sz="948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sz="948" dirty="0">
                <a:solidFill>
                  <a:schemeClr val="accent1">
                    <a:lumMod val="50000"/>
                  </a:schemeClr>
                </a:solidFill>
              </a:rPr>
              <a:t>2 Start ups using KU licensed IPs</a:t>
            </a:r>
          </a:p>
          <a:p>
            <a:pPr algn="ctr"/>
            <a:r>
              <a:rPr lang="en-US" sz="948" dirty="0">
                <a:solidFill>
                  <a:schemeClr val="accent1">
                    <a:lumMod val="50000"/>
                  </a:schemeClr>
                </a:solidFill>
              </a:rPr>
              <a:t>2 Start ups currently in the Catalyst Incubator</a:t>
            </a:r>
            <a:endParaRPr lang="ar-EG" sz="948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6780" y="7150586"/>
            <a:ext cx="9223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</a:t>
            </a:r>
            <a:r>
              <a:rPr lang="en-US" sz="1200" dirty="0" err="1"/>
              <a:t>COVID</a:t>
            </a:r>
            <a:r>
              <a:rPr lang="en-US" sz="1200" dirty="0"/>
              <a:t> – 19 and the reduction of the number of students who are externally sponsored by industry have impacted the employment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2888" y="6396406"/>
            <a:ext cx="244858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% of the university revenue from external funding sources from total revenue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40759" y="5998277"/>
            <a:ext cx="2511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63570">
              <a:defRPr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2018               2019              2020</a:t>
            </a:r>
          </a:p>
          <a:p>
            <a:pPr algn="ctr" defTabSz="963570">
              <a:defRPr/>
            </a:pPr>
            <a:r>
              <a:rPr lang="en-US" sz="10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10.5%                8%              10.2%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D011E9-9C14-4169-BE50-52AF12C2F65D}"/>
              </a:ext>
            </a:extLst>
          </p:cNvPr>
          <p:cNvSpPr txBox="1"/>
          <p:nvPr/>
        </p:nvSpPr>
        <p:spPr>
          <a:xfrm>
            <a:off x="9036795" y="5389906"/>
            <a:ext cx="2043151" cy="546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891540">
              <a:defRPr sz="2800" b="1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 sz="295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20-25%</a:t>
            </a:r>
          </a:p>
        </p:txBody>
      </p:sp>
      <p:sp>
        <p:nvSpPr>
          <p:cNvPr id="89" name="Oval 88"/>
          <p:cNvSpPr/>
          <p:nvPr/>
        </p:nvSpPr>
        <p:spPr>
          <a:xfrm>
            <a:off x="4469653" y="3420202"/>
            <a:ext cx="192723" cy="192723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/>
          </a:p>
        </p:txBody>
      </p:sp>
      <p:sp>
        <p:nvSpPr>
          <p:cNvPr id="90" name="Oval 89"/>
          <p:cNvSpPr/>
          <p:nvPr/>
        </p:nvSpPr>
        <p:spPr>
          <a:xfrm>
            <a:off x="4519039" y="3468383"/>
            <a:ext cx="93952" cy="963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361" tIns="48181" rIns="96361" bIns="48181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159"/>
          </a:p>
        </p:txBody>
      </p:sp>
      <p:sp>
        <p:nvSpPr>
          <p:cNvPr id="99" name="TextBox 98"/>
          <p:cNvSpPr txBox="1"/>
          <p:nvPr/>
        </p:nvSpPr>
        <p:spPr>
          <a:xfrm>
            <a:off x="96781" y="7371363"/>
            <a:ext cx="9223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** Start-ups target: 3-5 Start-ups (Valuation ~AED 5 M), 3-5 Start-ups (Valuation ~AED 2.5 M), 8 - 10 Start-ups (Valuation ~AED 1 M)  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43699" y="2598646"/>
            <a:ext cx="763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62841">
              <a:defRPr/>
            </a:pPr>
            <a:r>
              <a:rPr lang="en-US" sz="1000" b="1" dirty="0">
                <a:solidFill>
                  <a:srgbClr val="44546A"/>
                </a:solidFill>
                <a:latin typeface="Arial"/>
              </a:rPr>
              <a:t>2022</a:t>
            </a:r>
            <a:endParaRPr lang="en-GB" sz="1000" b="1" dirty="0">
              <a:solidFill>
                <a:srgbClr val="44546A"/>
              </a:solidFill>
              <a:latin typeface="Arial"/>
            </a:endParaRPr>
          </a:p>
          <a:p>
            <a:pPr algn="ctr" defTabSz="862841">
              <a:defRPr/>
            </a:pPr>
            <a:r>
              <a:rPr lang="en-US" sz="1000" dirty="0">
                <a:solidFill>
                  <a:srgbClr val="44546A"/>
                </a:solidFill>
                <a:latin typeface="Arial"/>
              </a:rPr>
              <a:t>QS 183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548854"/>
            <a:ext cx="2323548" cy="506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427" y="3111375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Nationals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5793" y="2540419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Total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4504" y="3066953"/>
            <a:ext cx="2141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63570">
              <a:defRPr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2017/18         2018/19      2019/20</a:t>
            </a:r>
          </a:p>
          <a:p>
            <a:pPr algn="ctr" defTabSz="963570">
              <a:defRPr/>
            </a:pPr>
            <a:r>
              <a:rPr lang="en-US" sz="10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77%               81%             66%*</a:t>
            </a:r>
          </a:p>
        </p:txBody>
      </p:sp>
    </p:spTree>
    <p:extLst>
      <p:ext uri="{BB962C8B-B14F-4D97-AF65-F5344CB8AC3E}">
        <p14:creationId xmlns:p14="http://schemas.microsoft.com/office/powerpoint/2010/main" val="278559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010" y="2853266"/>
            <a:ext cx="11274266" cy="13115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Strategic Enablers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09" y="732203"/>
            <a:ext cx="2433761" cy="59465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23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39907" y="236049"/>
            <a:ext cx="974869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ar-EG" sz="2400" b="1" dirty="0">
                <a:latin typeface="Candara" panose="020E0502030303020204" pitchFamily="34" charset="0"/>
                <a:ea typeface="+mj-ea"/>
                <a:cs typeface="+mj-cs"/>
              </a:rPr>
              <a:t>KU seeks the government support  in adopting a set of strategic enablers to boost KU position as world-class university</a:t>
            </a:r>
            <a:endParaRPr lang="ar-EG" sz="2400" b="1" dirty="0">
              <a:latin typeface="Candara" panose="020E0502030303020204" pitchFamily="34" charset="0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257723"/>
            <a:ext cx="2323548" cy="506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5265" y="2023480"/>
            <a:ext cx="3474720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/>
            <a:r>
              <a:rPr lang="en-US" sz="1600" dirty="0"/>
              <a:t>Financial autonomy</a:t>
            </a:r>
          </a:p>
        </p:txBody>
      </p:sp>
      <p:sp>
        <p:nvSpPr>
          <p:cNvPr id="13" name="Freeform 971">
            <a:extLst>
              <a:ext uri="{FF2B5EF4-FFF2-40B4-BE49-F238E27FC236}">
                <a16:creationId xmlns:a16="http://schemas.microsoft.com/office/drawing/2014/main" id="{E7A7CA11-7C1D-A84B-9572-F09E35D5A7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88114" y="2224591"/>
            <a:ext cx="446693" cy="490294"/>
          </a:xfrm>
          <a:custGeom>
            <a:avLst/>
            <a:gdLst>
              <a:gd name="T0" fmla="*/ 29598 w 286434"/>
              <a:gd name="T1" fmla="*/ 922423 h 285210"/>
              <a:gd name="T2" fmla="*/ 938853 w 286434"/>
              <a:gd name="T3" fmla="*/ 837196 h 285210"/>
              <a:gd name="T4" fmla="*/ 616982 w 286434"/>
              <a:gd name="T5" fmla="*/ 539445 h 285210"/>
              <a:gd name="T6" fmla="*/ 616982 w 286434"/>
              <a:gd name="T7" fmla="*/ 569943 h 285210"/>
              <a:gd name="T8" fmla="*/ 616982 w 286434"/>
              <a:gd name="T9" fmla="*/ 539445 h 285210"/>
              <a:gd name="T10" fmla="*/ 362830 w 286434"/>
              <a:gd name="T11" fmla="*/ 554694 h 285210"/>
              <a:gd name="T12" fmla="*/ 331857 w 286434"/>
              <a:gd name="T13" fmla="*/ 554694 h 285210"/>
              <a:gd name="T14" fmla="*/ 480932 w 286434"/>
              <a:gd name="T15" fmla="*/ 364723 h 285210"/>
              <a:gd name="T16" fmla="*/ 495528 w 286434"/>
              <a:gd name="T17" fmla="*/ 403155 h 285210"/>
              <a:gd name="T18" fmla="*/ 557581 w 286434"/>
              <a:gd name="T19" fmla="*/ 472809 h 285210"/>
              <a:gd name="T20" fmla="*/ 480932 w 286434"/>
              <a:gd name="T21" fmla="*/ 430779 h 285210"/>
              <a:gd name="T22" fmla="*/ 480932 w 286434"/>
              <a:gd name="T23" fmla="*/ 537668 h 285210"/>
              <a:gd name="T24" fmla="*/ 495528 w 286434"/>
              <a:gd name="T25" fmla="*/ 701008 h 285210"/>
              <a:gd name="T26" fmla="*/ 480932 w 286434"/>
              <a:gd name="T27" fmla="*/ 739440 h 285210"/>
              <a:gd name="T28" fmla="*/ 467548 w 286434"/>
              <a:gd name="T29" fmla="*/ 702207 h 285210"/>
              <a:gd name="T30" fmla="*/ 404289 w 286434"/>
              <a:gd name="T31" fmla="*/ 631347 h 285210"/>
              <a:gd name="T32" fmla="*/ 480932 w 286434"/>
              <a:gd name="T33" fmla="*/ 673381 h 285210"/>
              <a:gd name="T34" fmla="*/ 480932 w 286434"/>
              <a:gd name="T35" fmla="*/ 566496 h 285210"/>
              <a:gd name="T36" fmla="*/ 467548 w 286434"/>
              <a:gd name="T37" fmla="*/ 403155 h 285210"/>
              <a:gd name="T38" fmla="*/ 480932 w 286434"/>
              <a:gd name="T39" fmla="*/ 364723 h 285210"/>
              <a:gd name="T40" fmla="*/ 710627 w 286434"/>
              <a:gd name="T41" fmla="*/ 363088 h 285210"/>
              <a:gd name="T42" fmla="*/ 714285 w 286434"/>
              <a:gd name="T43" fmla="*/ 735174 h 285210"/>
              <a:gd name="T44" fmla="*/ 667914 w 286434"/>
              <a:gd name="T45" fmla="*/ 808392 h 285210"/>
              <a:gd name="T46" fmla="*/ 804602 w 286434"/>
              <a:gd name="T47" fmla="*/ 743575 h 285210"/>
              <a:gd name="T48" fmla="*/ 800944 w 286434"/>
              <a:gd name="T49" fmla="*/ 370286 h 285210"/>
              <a:gd name="T50" fmla="*/ 848543 w 286434"/>
              <a:gd name="T51" fmla="*/ 298270 h 285210"/>
              <a:gd name="T52" fmla="*/ 335931 w 286434"/>
              <a:gd name="T53" fmla="*/ 298270 h 285210"/>
              <a:gd name="T54" fmla="*/ 283453 w 286434"/>
              <a:gd name="T55" fmla="*/ 731570 h 285210"/>
              <a:gd name="T56" fmla="*/ 632514 w 286434"/>
              <a:gd name="T57" fmla="*/ 808392 h 285210"/>
              <a:gd name="T58" fmla="*/ 685001 w 286434"/>
              <a:gd name="T59" fmla="*/ 375087 h 285210"/>
              <a:gd name="T60" fmla="*/ 335931 w 286434"/>
              <a:gd name="T61" fmla="*/ 298270 h 285210"/>
              <a:gd name="T62" fmla="*/ 163850 w 286434"/>
              <a:gd name="T63" fmla="*/ 363088 h 285210"/>
              <a:gd name="T64" fmla="*/ 166291 w 286434"/>
              <a:gd name="T65" fmla="*/ 735174 h 285210"/>
              <a:gd name="T66" fmla="*/ 119913 w 286434"/>
              <a:gd name="T67" fmla="*/ 808392 h 285210"/>
              <a:gd name="T68" fmla="*/ 256605 w 286434"/>
              <a:gd name="T69" fmla="*/ 743575 h 285210"/>
              <a:gd name="T70" fmla="*/ 254163 w 286434"/>
              <a:gd name="T71" fmla="*/ 370286 h 285210"/>
              <a:gd name="T72" fmla="*/ 300544 w 286434"/>
              <a:gd name="T73" fmla="*/ 298270 h 285210"/>
              <a:gd name="T74" fmla="*/ 480943 w 286434"/>
              <a:gd name="T75" fmla="*/ 131460 h 285210"/>
              <a:gd name="T76" fmla="*/ 593336 w 286434"/>
              <a:gd name="T77" fmla="*/ 196809 h 285210"/>
              <a:gd name="T78" fmla="*/ 473693 w 286434"/>
              <a:gd name="T79" fmla="*/ 101208 h 285210"/>
              <a:gd name="T80" fmla="*/ 654982 w 286434"/>
              <a:gd name="T81" fmla="*/ 199229 h 285210"/>
              <a:gd name="T82" fmla="*/ 647732 w 286434"/>
              <a:gd name="T83" fmla="*/ 225850 h 285210"/>
              <a:gd name="T84" fmla="*/ 302077 w 286434"/>
              <a:gd name="T85" fmla="*/ 216173 h 285210"/>
              <a:gd name="T86" fmla="*/ 473693 w 286434"/>
              <a:gd name="T87" fmla="*/ 101208 h 285210"/>
              <a:gd name="T88" fmla="*/ 68650 w 286434"/>
              <a:gd name="T89" fmla="*/ 269461 h 285210"/>
              <a:gd name="T90" fmla="*/ 483614 w 286434"/>
              <a:gd name="T91" fmla="*/ 30604 h 285210"/>
              <a:gd name="T92" fmla="*/ 490939 w 286434"/>
              <a:gd name="T93" fmla="*/ 1800 h 285210"/>
              <a:gd name="T94" fmla="*/ 968146 w 286434"/>
              <a:gd name="T95" fmla="*/ 287469 h 285210"/>
              <a:gd name="T96" fmla="*/ 882713 w 286434"/>
              <a:gd name="T97" fmla="*/ 298270 h 285210"/>
              <a:gd name="T98" fmla="*/ 831456 w 286434"/>
              <a:gd name="T99" fmla="*/ 731570 h 285210"/>
              <a:gd name="T100" fmla="*/ 953502 w 286434"/>
              <a:gd name="T101" fmla="*/ 808392 h 285210"/>
              <a:gd name="T102" fmla="*/ 968146 w 286434"/>
              <a:gd name="T103" fmla="*/ 938030 h 285210"/>
              <a:gd name="T104" fmla="*/ 14947 w 286434"/>
              <a:gd name="T105" fmla="*/ 951220 h 285210"/>
              <a:gd name="T106" fmla="*/ 299 w 286434"/>
              <a:gd name="T107" fmla="*/ 821587 h 285210"/>
              <a:gd name="T108" fmla="*/ 85735 w 286434"/>
              <a:gd name="T109" fmla="*/ 808392 h 285210"/>
              <a:gd name="T110" fmla="*/ 136998 w 286434"/>
              <a:gd name="T111" fmla="*/ 375087 h 285210"/>
              <a:gd name="T112" fmla="*/ 14947 w 286434"/>
              <a:gd name="T113" fmla="*/ 298270 h 285210"/>
              <a:gd name="T114" fmla="*/ 7624 w 286434"/>
              <a:gd name="T115" fmla="*/ 271865 h 285210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286434" h="285210">
                <a:moveTo>
                  <a:pt x="8753" y="251021"/>
                </a:moveTo>
                <a:lnTo>
                  <a:pt x="8753" y="276573"/>
                </a:lnTo>
                <a:lnTo>
                  <a:pt x="277681" y="276573"/>
                </a:lnTo>
                <a:lnTo>
                  <a:pt x="277681" y="251021"/>
                </a:lnTo>
                <a:lnTo>
                  <a:pt x="8753" y="251021"/>
                </a:lnTo>
                <a:close/>
                <a:moveTo>
                  <a:pt x="182482" y="161745"/>
                </a:moveTo>
                <a:cubicBezTo>
                  <a:pt x="184768" y="161745"/>
                  <a:pt x="186673" y="164031"/>
                  <a:pt x="186673" y="166317"/>
                </a:cubicBezTo>
                <a:cubicBezTo>
                  <a:pt x="186673" y="168984"/>
                  <a:pt x="184768" y="170889"/>
                  <a:pt x="182482" y="170889"/>
                </a:cubicBezTo>
                <a:cubicBezTo>
                  <a:pt x="179815" y="170889"/>
                  <a:pt x="177529" y="168984"/>
                  <a:pt x="177529" y="166317"/>
                </a:cubicBezTo>
                <a:cubicBezTo>
                  <a:pt x="177529" y="164031"/>
                  <a:pt x="179815" y="161745"/>
                  <a:pt x="182482" y="161745"/>
                </a:cubicBezTo>
                <a:close/>
                <a:moveTo>
                  <a:pt x="102550" y="161745"/>
                </a:moveTo>
                <a:cubicBezTo>
                  <a:pt x="104748" y="161745"/>
                  <a:pt x="107312" y="164031"/>
                  <a:pt x="107312" y="166317"/>
                </a:cubicBezTo>
                <a:cubicBezTo>
                  <a:pt x="107312" y="168984"/>
                  <a:pt x="104748" y="170889"/>
                  <a:pt x="102550" y="170889"/>
                </a:cubicBezTo>
                <a:cubicBezTo>
                  <a:pt x="100352" y="170889"/>
                  <a:pt x="98154" y="168984"/>
                  <a:pt x="98154" y="166317"/>
                </a:cubicBezTo>
                <a:cubicBezTo>
                  <a:pt x="98154" y="164031"/>
                  <a:pt x="100352" y="161745"/>
                  <a:pt x="102550" y="161745"/>
                </a:cubicBezTo>
                <a:close/>
                <a:moveTo>
                  <a:pt x="142243" y="109357"/>
                </a:moveTo>
                <a:cubicBezTo>
                  <a:pt x="144762" y="109357"/>
                  <a:pt x="146561" y="111157"/>
                  <a:pt x="146561" y="113678"/>
                </a:cubicBezTo>
                <a:lnTo>
                  <a:pt x="146561" y="120880"/>
                </a:lnTo>
                <a:cubicBezTo>
                  <a:pt x="155917" y="122321"/>
                  <a:pt x="163833" y="127722"/>
                  <a:pt x="167432" y="136365"/>
                </a:cubicBezTo>
                <a:cubicBezTo>
                  <a:pt x="168151" y="138525"/>
                  <a:pt x="167072" y="141046"/>
                  <a:pt x="164913" y="141766"/>
                </a:cubicBezTo>
                <a:cubicBezTo>
                  <a:pt x="162754" y="142847"/>
                  <a:pt x="160235" y="141766"/>
                  <a:pt x="159156" y="139606"/>
                </a:cubicBezTo>
                <a:cubicBezTo>
                  <a:pt x="156637" y="133484"/>
                  <a:pt x="149800" y="129163"/>
                  <a:pt x="142243" y="129163"/>
                </a:cubicBezTo>
                <a:cubicBezTo>
                  <a:pt x="132528" y="129163"/>
                  <a:pt x="124252" y="136365"/>
                  <a:pt x="124252" y="145367"/>
                </a:cubicBezTo>
                <a:cubicBezTo>
                  <a:pt x="124252" y="152570"/>
                  <a:pt x="127490" y="161212"/>
                  <a:pt x="142243" y="161212"/>
                </a:cubicBezTo>
                <a:cubicBezTo>
                  <a:pt x="162034" y="161212"/>
                  <a:pt x="169231" y="174176"/>
                  <a:pt x="169231" y="185699"/>
                </a:cubicBezTo>
                <a:cubicBezTo>
                  <a:pt x="169231" y="198303"/>
                  <a:pt x="159515" y="208386"/>
                  <a:pt x="146561" y="210187"/>
                </a:cubicBezTo>
                <a:lnTo>
                  <a:pt x="146561" y="217749"/>
                </a:lnTo>
                <a:cubicBezTo>
                  <a:pt x="146561" y="219909"/>
                  <a:pt x="144762" y="221710"/>
                  <a:pt x="142243" y="221710"/>
                </a:cubicBezTo>
                <a:cubicBezTo>
                  <a:pt x="140084" y="221710"/>
                  <a:pt x="138285" y="219909"/>
                  <a:pt x="138285" y="217749"/>
                </a:cubicBezTo>
                <a:lnTo>
                  <a:pt x="138285" y="210547"/>
                </a:lnTo>
                <a:cubicBezTo>
                  <a:pt x="128930" y="208746"/>
                  <a:pt x="121013" y="203345"/>
                  <a:pt x="117415" y="195062"/>
                </a:cubicBezTo>
                <a:cubicBezTo>
                  <a:pt x="116695" y="192541"/>
                  <a:pt x="117775" y="190021"/>
                  <a:pt x="119574" y="189301"/>
                </a:cubicBezTo>
                <a:cubicBezTo>
                  <a:pt x="122093" y="188580"/>
                  <a:pt x="124612" y="189301"/>
                  <a:pt x="125331" y="191461"/>
                </a:cubicBezTo>
                <a:cubicBezTo>
                  <a:pt x="128210" y="197583"/>
                  <a:pt x="135047" y="201904"/>
                  <a:pt x="142243" y="201904"/>
                </a:cubicBezTo>
                <a:cubicBezTo>
                  <a:pt x="152319" y="201904"/>
                  <a:pt x="160595" y="194702"/>
                  <a:pt x="160595" y="185699"/>
                </a:cubicBezTo>
                <a:cubicBezTo>
                  <a:pt x="160595" y="178497"/>
                  <a:pt x="157356" y="169855"/>
                  <a:pt x="142243" y="169855"/>
                </a:cubicBezTo>
                <a:cubicBezTo>
                  <a:pt x="122812" y="169855"/>
                  <a:pt x="115616" y="156891"/>
                  <a:pt x="115616" y="145367"/>
                </a:cubicBezTo>
                <a:cubicBezTo>
                  <a:pt x="115616" y="133124"/>
                  <a:pt x="125331" y="122681"/>
                  <a:pt x="138285" y="120880"/>
                </a:cubicBezTo>
                <a:lnTo>
                  <a:pt x="138285" y="113678"/>
                </a:lnTo>
                <a:cubicBezTo>
                  <a:pt x="138285" y="111157"/>
                  <a:pt x="140084" y="109357"/>
                  <a:pt x="142243" y="109357"/>
                </a:cubicBezTo>
                <a:close/>
                <a:moveTo>
                  <a:pt x="197544" y="89432"/>
                </a:moveTo>
                <a:lnTo>
                  <a:pt x="210178" y="108866"/>
                </a:lnTo>
                <a:cubicBezTo>
                  <a:pt x="210900" y="109225"/>
                  <a:pt x="211261" y="109945"/>
                  <a:pt x="211261" y="111025"/>
                </a:cubicBezTo>
                <a:lnTo>
                  <a:pt x="211261" y="220431"/>
                </a:lnTo>
                <a:cubicBezTo>
                  <a:pt x="211261" y="221510"/>
                  <a:pt x="210900" y="222230"/>
                  <a:pt x="210178" y="222950"/>
                </a:cubicBezTo>
                <a:lnTo>
                  <a:pt x="197544" y="242384"/>
                </a:lnTo>
                <a:lnTo>
                  <a:pt x="250969" y="242384"/>
                </a:lnTo>
                <a:lnTo>
                  <a:pt x="237973" y="222950"/>
                </a:lnTo>
                <a:cubicBezTo>
                  <a:pt x="237613" y="222230"/>
                  <a:pt x="236891" y="221510"/>
                  <a:pt x="236891" y="220431"/>
                </a:cubicBezTo>
                <a:lnTo>
                  <a:pt x="236891" y="111025"/>
                </a:lnTo>
                <a:cubicBezTo>
                  <a:pt x="236891" y="109945"/>
                  <a:pt x="237613" y="109225"/>
                  <a:pt x="237973" y="108866"/>
                </a:cubicBezTo>
                <a:lnTo>
                  <a:pt x="250969" y="89432"/>
                </a:lnTo>
                <a:lnTo>
                  <a:pt x="197544" y="89432"/>
                </a:lnTo>
                <a:close/>
                <a:moveTo>
                  <a:pt x="99358" y="89432"/>
                </a:moveTo>
                <a:lnTo>
                  <a:pt x="83836" y="112464"/>
                </a:lnTo>
                <a:lnTo>
                  <a:pt x="83836" y="219351"/>
                </a:lnTo>
                <a:lnTo>
                  <a:pt x="99358" y="242384"/>
                </a:lnTo>
                <a:lnTo>
                  <a:pt x="187076" y="242384"/>
                </a:lnTo>
                <a:lnTo>
                  <a:pt x="202598" y="219351"/>
                </a:lnTo>
                <a:lnTo>
                  <a:pt x="202598" y="112464"/>
                </a:lnTo>
                <a:lnTo>
                  <a:pt x="187076" y="89432"/>
                </a:lnTo>
                <a:lnTo>
                  <a:pt x="99358" y="89432"/>
                </a:lnTo>
                <a:close/>
                <a:moveTo>
                  <a:pt x="35465" y="89432"/>
                </a:moveTo>
                <a:lnTo>
                  <a:pt x="48461" y="108866"/>
                </a:lnTo>
                <a:cubicBezTo>
                  <a:pt x="49182" y="109225"/>
                  <a:pt x="49182" y="109945"/>
                  <a:pt x="49182" y="111025"/>
                </a:cubicBezTo>
                <a:lnTo>
                  <a:pt x="49182" y="220431"/>
                </a:lnTo>
                <a:cubicBezTo>
                  <a:pt x="49182" y="221510"/>
                  <a:pt x="49182" y="222230"/>
                  <a:pt x="48461" y="222950"/>
                </a:cubicBezTo>
                <a:lnTo>
                  <a:pt x="35465" y="242384"/>
                </a:lnTo>
                <a:lnTo>
                  <a:pt x="88890" y="242384"/>
                </a:lnTo>
                <a:lnTo>
                  <a:pt x="75895" y="222950"/>
                </a:lnTo>
                <a:cubicBezTo>
                  <a:pt x="75534" y="222230"/>
                  <a:pt x="75173" y="221510"/>
                  <a:pt x="75173" y="220431"/>
                </a:cubicBezTo>
                <a:lnTo>
                  <a:pt x="75173" y="111025"/>
                </a:lnTo>
                <a:cubicBezTo>
                  <a:pt x="75173" y="109945"/>
                  <a:pt x="75534" y="109225"/>
                  <a:pt x="75895" y="108866"/>
                </a:cubicBezTo>
                <a:lnTo>
                  <a:pt x="88890" y="89432"/>
                </a:lnTo>
                <a:lnTo>
                  <a:pt x="35465" y="89432"/>
                </a:lnTo>
                <a:close/>
                <a:moveTo>
                  <a:pt x="142246" y="39416"/>
                </a:moveTo>
                <a:lnTo>
                  <a:pt x="109361" y="59010"/>
                </a:lnTo>
                <a:lnTo>
                  <a:pt x="175489" y="59010"/>
                </a:lnTo>
                <a:lnTo>
                  <a:pt x="142246" y="39416"/>
                </a:lnTo>
                <a:close/>
                <a:moveTo>
                  <a:pt x="140102" y="30345"/>
                </a:moveTo>
                <a:cubicBezTo>
                  <a:pt x="141531" y="29982"/>
                  <a:pt x="143319" y="29982"/>
                  <a:pt x="144391" y="30345"/>
                </a:cubicBezTo>
                <a:lnTo>
                  <a:pt x="193720" y="59736"/>
                </a:lnTo>
                <a:cubicBezTo>
                  <a:pt x="195149" y="60462"/>
                  <a:pt x="196222" y="62639"/>
                  <a:pt x="195507" y="64816"/>
                </a:cubicBezTo>
                <a:cubicBezTo>
                  <a:pt x="195149" y="66630"/>
                  <a:pt x="193362" y="67719"/>
                  <a:pt x="191575" y="67719"/>
                </a:cubicBezTo>
                <a:lnTo>
                  <a:pt x="93276" y="67719"/>
                </a:lnTo>
                <a:cubicBezTo>
                  <a:pt x="91488" y="67719"/>
                  <a:pt x="89701" y="66630"/>
                  <a:pt x="89344" y="64816"/>
                </a:cubicBezTo>
                <a:cubicBezTo>
                  <a:pt x="88629" y="62639"/>
                  <a:pt x="89344" y="60462"/>
                  <a:pt x="91131" y="59736"/>
                </a:cubicBezTo>
                <a:lnTo>
                  <a:pt x="140102" y="30345"/>
                </a:lnTo>
                <a:close/>
                <a:moveTo>
                  <a:pt x="143036" y="9177"/>
                </a:moveTo>
                <a:lnTo>
                  <a:pt x="20304" y="80794"/>
                </a:lnTo>
                <a:lnTo>
                  <a:pt x="265769" y="80794"/>
                </a:lnTo>
                <a:lnTo>
                  <a:pt x="143036" y="9177"/>
                </a:lnTo>
                <a:close/>
                <a:moveTo>
                  <a:pt x="140870" y="540"/>
                </a:moveTo>
                <a:cubicBezTo>
                  <a:pt x="142314" y="-180"/>
                  <a:pt x="144119" y="-180"/>
                  <a:pt x="145202" y="540"/>
                </a:cubicBezTo>
                <a:lnTo>
                  <a:pt x="284178" y="81514"/>
                </a:lnTo>
                <a:cubicBezTo>
                  <a:pt x="285983" y="82234"/>
                  <a:pt x="286705" y="84393"/>
                  <a:pt x="286344" y="86193"/>
                </a:cubicBezTo>
                <a:cubicBezTo>
                  <a:pt x="285622" y="87992"/>
                  <a:pt x="283817" y="89432"/>
                  <a:pt x="282013" y="89432"/>
                </a:cubicBezTo>
                <a:lnTo>
                  <a:pt x="261076" y="89432"/>
                </a:lnTo>
                <a:lnTo>
                  <a:pt x="245915" y="112464"/>
                </a:lnTo>
                <a:lnTo>
                  <a:pt x="245915" y="219351"/>
                </a:lnTo>
                <a:lnTo>
                  <a:pt x="261076" y="242384"/>
                </a:lnTo>
                <a:lnTo>
                  <a:pt x="282013" y="242384"/>
                </a:lnTo>
                <a:cubicBezTo>
                  <a:pt x="284178" y="242384"/>
                  <a:pt x="286344" y="244183"/>
                  <a:pt x="286344" y="246342"/>
                </a:cubicBezTo>
                <a:lnTo>
                  <a:pt x="286344" y="281252"/>
                </a:lnTo>
                <a:cubicBezTo>
                  <a:pt x="286344" y="283411"/>
                  <a:pt x="284178" y="285210"/>
                  <a:pt x="282013" y="285210"/>
                </a:cubicBezTo>
                <a:lnTo>
                  <a:pt x="4421" y="285210"/>
                </a:lnTo>
                <a:cubicBezTo>
                  <a:pt x="1895" y="285210"/>
                  <a:pt x="90" y="283411"/>
                  <a:pt x="90" y="281252"/>
                </a:cubicBezTo>
                <a:lnTo>
                  <a:pt x="90" y="246342"/>
                </a:lnTo>
                <a:cubicBezTo>
                  <a:pt x="90" y="244183"/>
                  <a:pt x="1895" y="242384"/>
                  <a:pt x="4421" y="242384"/>
                </a:cubicBezTo>
                <a:lnTo>
                  <a:pt x="25358" y="242384"/>
                </a:lnTo>
                <a:lnTo>
                  <a:pt x="40519" y="219351"/>
                </a:lnTo>
                <a:lnTo>
                  <a:pt x="40519" y="112464"/>
                </a:lnTo>
                <a:lnTo>
                  <a:pt x="25358" y="89432"/>
                </a:lnTo>
                <a:lnTo>
                  <a:pt x="4421" y="89432"/>
                </a:lnTo>
                <a:cubicBezTo>
                  <a:pt x="2256" y="89432"/>
                  <a:pt x="812" y="87992"/>
                  <a:pt x="90" y="86193"/>
                </a:cubicBezTo>
                <a:cubicBezTo>
                  <a:pt x="-271" y="84393"/>
                  <a:pt x="451" y="82234"/>
                  <a:pt x="2256" y="81514"/>
                </a:cubicBezTo>
                <a:lnTo>
                  <a:pt x="140870" y="5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4" name="Oval 20"/>
          <p:cNvSpPr>
            <a:spLocks noChangeArrowheads="1"/>
          </p:cNvSpPr>
          <p:nvPr/>
        </p:nvSpPr>
        <p:spPr bwMode="gray">
          <a:xfrm>
            <a:off x="1874647" y="2240507"/>
            <a:ext cx="324000" cy="324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5265" y="3248448"/>
            <a:ext cx="3474720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/>
            <a:r>
              <a:rPr lang="en-US" sz="1600" dirty="0"/>
              <a:t>Flexible legal </a:t>
            </a:r>
          </a:p>
          <a:p>
            <a:pPr algn="ctr" fontAlgn="ctr"/>
            <a:r>
              <a:rPr lang="en-US" sz="1600" dirty="0"/>
              <a:t>framework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7" name="Freeform 956">
            <a:extLst>
              <a:ext uri="{FF2B5EF4-FFF2-40B4-BE49-F238E27FC236}">
                <a16:creationId xmlns:a16="http://schemas.microsoft.com/office/drawing/2014/main" id="{99C2E814-C22C-7547-8BC2-00E2941B6AEB}"/>
              </a:ext>
            </a:extLst>
          </p:cNvPr>
          <p:cNvSpPr>
            <a:spLocks noChangeAspect="1"/>
          </p:cNvSpPr>
          <p:nvPr/>
        </p:nvSpPr>
        <p:spPr bwMode="auto">
          <a:xfrm>
            <a:off x="1281221" y="3404798"/>
            <a:ext cx="460479" cy="510725"/>
          </a:xfrm>
          <a:custGeom>
            <a:avLst/>
            <a:gdLst>
              <a:gd name="T0" fmla="*/ 8926945 w 293328"/>
              <a:gd name="T1" fmla="*/ 10112717 h 293333"/>
              <a:gd name="T2" fmla="*/ 6459814 w 293328"/>
              <a:gd name="T3" fmla="*/ 10112717 h 293333"/>
              <a:gd name="T4" fmla="*/ 5770846 w 293328"/>
              <a:gd name="T5" fmla="*/ 9942264 h 293333"/>
              <a:gd name="T6" fmla="*/ 2752239 w 293328"/>
              <a:gd name="T7" fmla="*/ 10270047 h 293333"/>
              <a:gd name="T8" fmla="*/ 323019 w 293328"/>
              <a:gd name="T9" fmla="*/ 9237790 h 293333"/>
              <a:gd name="T10" fmla="*/ 1279018 w 293328"/>
              <a:gd name="T11" fmla="*/ 9237790 h 293333"/>
              <a:gd name="T12" fmla="*/ 7040697 w 293328"/>
              <a:gd name="T13" fmla="*/ 8919620 h 293333"/>
              <a:gd name="T14" fmla="*/ 5013752 w 293328"/>
              <a:gd name="T15" fmla="*/ 9247386 h 293333"/>
              <a:gd name="T16" fmla="*/ 2751565 w 293328"/>
              <a:gd name="T17" fmla="*/ 8919620 h 293333"/>
              <a:gd name="T18" fmla="*/ 4156611 w 293328"/>
              <a:gd name="T19" fmla="*/ 9247386 h 293333"/>
              <a:gd name="T20" fmla="*/ 2751565 w 293328"/>
              <a:gd name="T21" fmla="*/ 8919620 h 293333"/>
              <a:gd name="T22" fmla="*/ 1602035 w 293328"/>
              <a:gd name="T23" fmla="*/ 9085085 h 293333"/>
              <a:gd name="T24" fmla="*/ 154993 w 293328"/>
              <a:gd name="T25" fmla="*/ 10497680 h 293333"/>
              <a:gd name="T26" fmla="*/ 154993 w 293328"/>
              <a:gd name="T27" fmla="*/ 8919620 h 293333"/>
              <a:gd name="T28" fmla="*/ 9791855 w 293328"/>
              <a:gd name="T29" fmla="*/ 7372605 h 293333"/>
              <a:gd name="T30" fmla="*/ 7728692 w 293328"/>
              <a:gd name="T31" fmla="*/ 7372605 h 293333"/>
              <a:gd name="T32" fmla="*/ 7039724 w 293328"/>
              <a:gd name="T33" fmla="*/ 7215230 h 293333"/>
              <a:gd name="T34" fmla="*/ 4726364 w 293328"/>
              <a:gd name="T35" fmla="*/ 7543041 h 293333"/>
              <a:gd name="T36" fmla="*/ 2749934 w 293328"/>
              <a:gd name="T37" fmla="*/ 7215230 h 293333"/>
              <a:gd name="T38" fmla="*/ 3857143 w 293328"/>
              <a:gd name="T39" fmla="*/ 7543041 h 293333"/>
              <a:gd name="T40" fmla="*/ 2749934 w 293328"/>
              <a:gd name="T41" fmla="*/ 7215230 h 293333"/>
              <a:gd name="T42" fmla="*/ 1279018 w 293328"/>
              <a:gd name="T43" fmla="*/ 7393010 h 293333"/>
              <a:gd name="T44" fmla="*/ 2751168 w 293328"/>
              <a:gd name="T45" fmla="*/ 6135782 h 293333"/>
              <a:gd name="T46" fmla="*/ 5541332 w 293328"/>
              <a:gd name="T47" fmla="*/ 6463057 h 293333"/>
              <a:gd name="T48" fmla="*/ 2751168 w 293328"/>
              <a:gd name="T49" fmla="*/ 6135782 h 293333"/>
              <a:gd name="T50" fmla="*/ 1602035 w 293328"/>
              <a:gd name="T51" fmla="*/ 6289749 h 293333"/>
              <a:gd name="T52" fmla="*/ 154993 w 293328"/>
              <a:gd name="T53" fmla="*/ 7713699 h 293333"/>
              <a:gd name="T54" fmla="*/ 154993 w 293328"/>
              <a:gd name="T55" fmla="*/ 6135782 h 293333"/>
              <a:gd name="T56" fmla="*/ 8753726 w 293328"/>
              <a:gd name="T57" fmla="*/ 4588702 h 293333"/>
              <a:gd name="T58" fmla="*/ 5710028 w 293328"/>
              <a:gd name="T59" fmla="*/ 4588702 h 293333"/>
              <a:gd name="T60" fmla="*/ 5021328 w 293328"/>
              <a:gd name="T61" fmla="*/ 4431387 h 293333"/>
              <a:gd name="T62" fmla="*/ 2751969 w 293328"/>
              <a:gd name="T63" fmla="*/ 4759153 h 293333"/>
              <a:gd name="T64" fmla="*/ 323019 w 293328"/>
              <a:gd name="T65" fmla="*/ 3726897 h 293333"/>
              <a:gd name="T66" fmla="*/ 1279018 w 293328"/>
              <a:gd name="T67" fmla="*/ 3726897 h 293333"/>
              <a:gd name="T68" fmla="*/ 6176042 w 293328"/>
              <a:gd name="T69" fmla="*/ 3408769 h 293333"/>
              <a:gd name="T70" fmla="*/ 4724867 w 293328"/>
              <a:gd name="T71" fmla="*/ 3736570 h 293333"/>
              <a:gd name="T72" fmla="*/ 2751343 w 293328"/>
              <a:gd name="T73" fmla="*/ 3408769 h 293333"/>
              <a:gd name="T74" fmla="*/ 3855527 w 293328"/>
              <a:gd name="T75" fmla="*/ 3736570 h 293333"/>
              <a:gd name="T76" fmla="*/ 2751343 w 293328"/>
              <a:gd name="T77" fmla="*/ 3408769 h 293333"/>
              <a:gd name="T78" fmla="*/ 1602035 w 293328"/>
              <a:gd name="T79" fmla="*/ 3574205 h 293333"/>
              <a:gd name="T80" fmla="*/ 154993 w 293328"/>
              <a:gd name="T81" fmla="*/ 4986838 h 293333"/>
              <a:gd name="T82" fmla="*/ 154993 w 293328"/>
              <a:gd name="T83" fmla="*/ 3408769 h 293333"/>
              <a:gd name="T84" fmla="*/ 10656915 w 293328"/>
              <a:gd name="T85" fmla="*/ 10329713 h 293333"/>
              <a:gd name="T86" fmla="*/ 10324156 w 293328"/>
              <a:gd name="T87" fmla="*/ 2894819 h 293333"/>
              <a:gd name="T88" fmla="*/ 3231223 w 293328"/>
              <a:gd name="T89" fmla="*/ 965900 h 293333"/>
              <a:gd name="T90" fmla="*/ 1196702 w 293328"/>
              <a:gd name="T91" fmla="*/ 1293110 h 293333"/>
              <a:gd name="T92" fmla="*/ 8724256 w 293328"/>
              <a:gd name="T93" fmla="*/ 305572 h 293333"/>
              <a:gd name="T94" fmla="*/ 10330664 w 293328"/>
              <a:gd name="T95" fmla="*/ 305572 h 293333"/>
              <a:gd name="T96" fmla="*/ 326516 w 293328"/>
              <a:gd name="T97" fmla="*/ 1884678 h 293333"/>
              <a:gd name="T98" fmla="*/ 326516 w 293328"/>
              <a:gd name="T99" fmla="*/ 305572 h 293333"/>
              <a:gd name="T100" fmla="*/ 10657173 w 293328"/>
              <a:gd name="T101" fmla="*/ 152785 h 293333"/>
              <a:gd name="T102" fmla="*/ 156677 w 293328"/>
              <a:gd name="T103" fmla="*/ 2203022 h 293333"/>
              <a:gd name="T104" fmla="*/ 156677 w 293328"/>
              <a:gd name="T105" fmla="*/ 0 h 293333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293328" h="293333">
                <a:moveTo>
                  <a:pt x="182446" y="277813"/>
                </a:moveTo>
                <a:lnTo>
                  <a:pt x="241416" y="277813"/>
                </a:lnTo>
                <a:cubicBezTo>
                  <a:pt x="243918" y="277813"/>
                  <a:pt x="245705" y="280011"/>
                  <a:pt x="245705" y="282576"/>
                </a:cubicBezTo>
                <a:cubicBezTo>
                  <a:pt x="245705" y="285140"/>
                  <a:pt x="243918" y="286972"/>
                  <a:pt x="241416" y="286972"/>
                </a:cubicBezTo>
                <a:lnTo>
                  <a:pt x="182446" y="286972"/>
                </a:lnTo>
                <a:cubicBezTo>
                  <a:pt x="179944" y="286972"/>
                  <a:pt x="177800" y="285140"/>
                  <a:pt x="177800" y="282576"/>
                </a:cubicBezTo>
                <a:cubicBezTo>
                  <a:pt x="177800" y="280011"/>
                  <a:pt x="179944" y="277813"/>
                  <a:pt x="182446" y="277813"/>
                </a:cubicBezTo>
                <a:close/>
                <a:moveTo>
                  <a:pt x="75753" y="277813"/>
                </a:moveTo>
                <a:lnTo>
                  <a:pt x="158836" y="277813"/>
                </a:lnTo>
                <a:cubicBezTo>
                  <a:pt x="161354" y="277813"/>
                  <a:pt x="163152" y="280011"/>
                  <a:pt x="163152" y="282576"/>
                </a:cubicBezTo>
                <a:cubicBezTo>
                  <a:pt x="163152" y="285140"/>
                  <a:pt x="161354" y="286972"/>
                  <a:pt x="158836" y="286972"/>
                </a:cubicBezTo>
                <a:lnTo>
                  <a:pt x="75753" y="286972"/>
                </a:lnTo>
                <a:cubicBezTo>
                  <a:pt x="73235" y="286972"/>
                  <a:pt x="71437" y="285140"/>
                  <a:pt x="71437" y="282576"/>
                </a:cubicBezTo>
                <a:cubicBezTo>
                  <a:pt x="71437" y="280011"/>
                  <a:pt x="73235" y="277813"/>
                  <a:pt x="75753" y="277813"/>
                </a:cubicBezTo>
                <a:close/>
                <a:moveTo>
                  <a:pt x="8890" y="258128"/>
                </a:moveTo>
                <a:lnTo>
                  <a:pt x="8890" y="284443"/>
                </a:lnTo>
                <a:lnTo>
                  <a:pt x="35205" y="284443"/>
                </a:lnTo>
                <a:lnTo>
                  <a:pt x="35205" y="258128"/>
                </a:lnTo>
                <a:lnTo>
                  <a:pt x="8890" y="258128"/>
                </a:lnTo>
                <a:close/>
                <a:moveTo>
                  <a:pt x="137999" y="249238"/>
                </a:moveTo>
                <a:lnTo>
                  <a:pt x="193788" y="249238"/>
                </a:lnTo>
                <a:cubicBezTo>
                  <a:pt x="196291" y="249238"/>
                  <a:pt x="198080" y="251070"/>
                  <a:pt x="198080" y="254001"/>
                </a:cubicBezTo>
                <a:cubicBezTo>
                  <a:pt x="198080" y="256199"/>
                  <a:pt x="196291" y="258397"/>
                  <a:pt x="193788" y="258397"/>
                </a:cubicBezTo>
                <a:lnTo>
                  <a:pt x="137999" y="258397"/>
                </a:lnTo>
                <a:cubicBezTo>
                  <a:pt x="135138" y="258397"/>
                  <a:pt x="133350" y="256199"/>
                  <a:pt x="133350" y="254001"/>
                </a:cubicBezTo>
                <a:cubicBezTo>
                  <a:pt x="133350" y="251070"/>
                  <a:pt x="135138" y="249238"/>
                  <a:pt x="137999" y="249238"/>
                </a:cubicBezTo>
                <a:close/>
                <a:moveTo>
                  <a:pt x="75734" y="249238"/>
                </a:moveTo>
                <a:lnTo>
                  <a:pt x="114407" y="249238"/>
                </a:lnTo>
                <a:cubicBezTo>
                  <a:pt x="116556" y="249238"/>
                  <a:pt x="118704" y="251070"/>
                  <a:pt x="118704" y="254001"/>
                </a:cubicBezTo>
                <a:cubicBezTo>
                  <a:pt x="118704" y="256199"/>
                  <a:pt x="116556" y="258397"/>
                  <a:pt x="114407" y="258397"/>
                </a:cubicBezTo>
                <a:lnTo>
                  <a:pt x="75734" y="258397"/>
                </a:lnTo>
                <a:cubicBezTo>
                  <a:pt x="73228" y="258397"/>
                  <a:pt x="71437" y="256199"/>
                  <a:pt x="71437" y="254001"/>
                </a:cubicBezTo>
                <a:cubicBezTo>
                  <a:pt x="71437" y="251070"/>
                  <a:pt x="73228" y="249238"/>
                  <a:pt x="75734" y="249238"/>
                </a:cubicBezTo>
                <a:close/>
                <a:moveTo>
                  <a:pt x="4267" y="249238"/>
                </a:moveTo>
                <a:lnTo>
                  <a:pt x="39827" y="249238"/>
                </a:lnTo>
                <a:cubicBezTo>
                  <a:pt x="41961" y="249238"/>
                  <a:pt x="44095" y="251016"/>
                  <a:pt x="44095" y="253861"/>
                </a:cubicBezTo>
                <a:lnTo>
                  <a:pt x="44095" y="288710"/>
                </a:lnTo>
                <a:cubicBezTo>
                  <a:pt x="44095" y="291199"/>
                  <a:pt x="41961" y="293333"/>
                  <a:pt x="39827" y="293333"/>
                </a:cubicBezTo>
                <a:lnTo>
                  <a:pt x="4267" y="293333"/>
                </a:lnTo>
                <a:cubicBezTo>
                  <a:pt x="2133" y="293333"/>
                  <a:pt x="0" y="291199"/>
                  <a:pt x="0" y="288710"/>
                </a:cubicBezTo>
                <a:lnTo>
                  <a:pt x="0" y="253861"/>
                </a:lnTo>
                <a:cubicBezTo>
                  <a:pt x="0" y="251016"/>
                  <a:pt x="2133" y="249238"/>
                  <a:pt x="4267" y="249238"/>
                </a:cubicBezTo>
                <a:close/>
                <a:moveTo>
                  <a:pt x="217093" y="201613"/>
                </a:moveTo>
                <a:lnTo>
                  <a:pt x="265143" y="201613"/>
                </a:lnTo>
                <a:cubicBezTo>
                  <a:pt x="267691" y="201613"/>
                  <a:pt x="269511" y="203811"/>
                  <a:pt x="269511" y="206009"/>
                </a:cubicBezTo>
                <a:cubicBezTo>
                  <a:pt x="269511" y="208574"/>
                  <a:pt x="267691" y="210772"/>
                  <a:pt x="265143" y="210772"/>
                </a:cubicBezTo>
                <a:lnTo>
                  <a:pt x="217093" y="210772"/>
                </a:lnTo>
                <a:cubicBezTo>
                  <a:pt x="214545" y="210772"/>
                  <a:pt x="212725" y="208574"/>
                  <a:pt x="212725" y="206009"/>
                </a:cubicBezTo>
                <a:cubicBezTo>
                  <a:pt x="212725" y="203811"/>
                  <a:pt x="214545" y="201613"/>
                  <a:pt x="217093" y="201613"/>
                </a:cubicBezTo>
                <a:close/>
                <a:moveTo>
                  <a:pt x="130089" y="201613"/>
                </a:moveTo>
                <a:lnTo>
                  <a:pt x="193761" y="201613"/>
                </a:lnTo>
                <a:cubicBezTo>
                  <a:pt x="196279" y="201613"/>
                  <a:pt x="198077" y="203811"/>
                  <a:pt x="198077" y="206009"/>
                </a:cubicBezTo>
                <a:cubicBezTo>
                  <a:pt x="198077" y="208574"/>
                  <a:pt x="196279" y="210772"/>
                  <a:pt x="193761" y="210772"/>
                </a:cubicBezTo>
                <a:lnTo>
                  <a:pt x="130089" y="210772"/>
                </a:lnTo>
                <a:cubicBezTo>
                  <a:pt x="127570" y="210772"/>
                  <a:pt x="125412" y="208574"/>
                  <a:pt x="125412" y="206009"/>
                </a:cubicBezTo>
                <a:cubicBezTo>
                  <a:pt x="125412" y="203811"/>
                  <a:pt x="127570" y="201613"/>
                  <a:pt x="130089" y="201613"/>
                </a:cubicBezTo>
                <a:close/>
                <a:moveTo>
                  <a:pt x="75689" y="201613"/>
                </a:moveTo>
                <a:lnTo>
                  <a:pt x="106164" y="201613"/>
                </a:lnTo>
                <a:cubicBezTo>
                  <a:pt x="108999" y="201613"/>
                  <a:pt x="110771" y="203811"/>
                  <a:pt x="110771" y="206009"/>
                </a:cubicBezTo>
                <a:cubicBezTo>
                  <a:pt x="110771" y="208574"/>
                  <a:pt x="108999" y="210772"/>
                  <a:pt x="106164" y="210772"/>
                </a:cubicBezTo>
                <a:lnTo>
                  <a:pt x="75689" y="210772"/>
                </a:lnTo>
                <a:cubicBezTo>
                  <a:pt x="73209" y="210772"/>
                  <a:pt x="71437" y="208574"/>
                  <a:pt x="71437" y="206009"/>
                </a:cubicBezTo>
                <a:cubicBezTo>
                  <a:pt x="71437" y="203811"/>
                  <a:pt x="73209" y="201613"/>
                  <a:pt x="75689" y="201613"/>
                </a:cubicBezTo>
                <a:close/>
                <a:moveTo>
                  <a:pt x="8890" y="180053"/>
                </a:moveTo>
                <a:lnTo>
                  <a:pt x="8890" y="206580"/>
                </a:lnTo>
                <a:lnTo>
                  <a:pt x="35205" y="206580"/>
                </a:lnTo>
                <a:lnTo>
                  <a:pt x="35205" y="180053"/>
                </a:lnTo>
                <a:lnTo>
                  <a:pt x="8890" y="180053"/>
                </a:lnTo>
                <a:close/>
                <a:moveTo>
                  <a:pt x="75723" y="171450"/>
                </a:moveTo>
                <a:lnTo>
                  <a:pt x="152519" y="171450"/>
                </a:lnTo>
                <a:cubicBezTo>
                  <a:pt x="155019" y="171450"/>
                  <a:pt x="156805" y="173355"/>
                  <a:pt x="156805" y="176022"/>
                </a:cubicBezTo>
                <a:cubicBezTo>
                  <a:pt x="156805" y="178689"/>
                  <a:pt x="155019" y="180594"/>
                  <a:pt x="152519" y="180594"/>
                </a:cubicBezTo>
                <a:lnTo>
                  <a:pt x="75723" y="180594"/>
                </a:lnTo>
                <a:cubicBezTo>
                  <a:pt x="73223" y="180594"/>
                  <a:pt x="71437" y="178689"/>
                  <a:pt x="71437" y="176022"/>
                </a:cubicBezTo>
                <a:cubicBezTo>
                  <a:pt x="71437" y="173355"/>
                  <a:pt x="73223" y="171450"/>
                  <a:pt x="75723" y="171450"/>
                </a:cubicBezTo>
                <a:close/>
                <a:moveTo>
                  <a:pt x="4267" y="171450"/>
                </a:moveTo>
                <a:lnTo>
                  <a:pt x="39827" y="171450"/>
                </a:lnTo>
                <a:cubicBezTo>
                  <a:pt x="41961" y="171450"/>
                  <a:pt x="44095" y="173242"/>
                  <a:pt x="44095" y="175752"/>
                </a:cubicBezTo>
                <a:lnTo>
                  <a:pt x="44095" y="211240"/>
                </a:lnTo>
                <a:cubicBezTo>
                  <a:pt x="44095" y="213749"/>
                  <a:pt x="41961" y="215542"/>
                  <a:pt x="39827" y="215542"/>
                </a:cubicBezTo>
                <a:lnTo>
                  <a:pt x="4267" y="215542"/>
                </a:lnTo>
                <a:cubicBezTo>
                  <a:pt x="2133" y="215542"/>
                  <a:pt x="0" y="213749"/>
                  <a:pt x="0" y="211240"/>
                </a:cubicBezTo>
                <a:lnTo>
                  <a:pt x="0" y="175752"/>
                </a:lnTo>
                <a:cubicBezTo>
                  <a:pt x="0" y="173242"/>
                  <a:pt x="2133" y="171450"/>
                  <a:pt x="4267" y="171450"/>
                </a:cubicBezTo>
                <a:close/>
                <a:moveTo>
                  <a:pt x="161514" y="123825"/>
                </a:moveTo>
                <a:lnTo>
                  <a:pt x="236223" y="123825"/>
                </a:lnTo>
                <a:cubicBezTo>
                  <a:pt x="238761" y="123825"/>
                  <a:pt x="240937" y="125657"/>
                  <a:pt x="240937" y="128221"/>
                </a:cubicBezTo>
                <a:cubicBezTo>
                  <a:pt x="240937" y="130786"/>
                  <a:pt x="238761" y="132984"/>
                  <a:pt x="236223" y="132984"/>
                </a:cubicBezTo>
                <a:lnTo>
                  <a:pt x="161514" y="132984"/>
                </a:lnTo>
                <a:cubicBezTo>
                  <a:pt x="158975" y="132984"/>
                  <a:pt x="157162" y="130786"/>
                  <a:pt x="157162" y="128221"/>
                </a:cubicBezTo>
                <a:cubicBezTo>
                  <a:pt x="157162" y="125657"/>
                  <a:pt x="158975" y="123825"/>
                  <a:pt x="161514" y="123825"/>
                </a:cubicBezTo>
                <a:close/>
                <a:moveTo>
                  <a:pt x="75745" y="123825"/>
                </a:moveTo>
                <a:lnTo>
                  <a:pt x="138208" y="123825"/>
                </a:lnTo>
                <a:cubicBezTo>
                  <a:pt x="140362" y="123825"/>
                  <a:pt x="142516" y="125657"/>
                  <a:pt x="142516" y="128221"/>
                </a:cubicBezTo>
                <a:cubicBezTo>
                  <a:pt x="142516" y="130786"/>
                  <a:pt x="140362" y="132984"/>
                  <a:pt x="138208" y="132984"/>
                </a:cubicBezTo>
                <a:lnTo>
                  <a:pt x="75745" y="132984"/>
                </a:lnTo>
                <a:cubicBezTo>
                  <a:pt x="73232" y="132984"/>
                  <a:pt x="71437" y="130786"/>
                  <a:pt x="71437" y="128221"/>
                </a:cubicBezTo>
                <a:cubicBezTo>
                  <a:pt x="71437" y="125657"/>
                  <a:pt x="73232" y="123825"/>
                  <a:pt x="75745" y="123825"/>
                </a:cubicBezTo>
                <a:close/>
                <a:moveTo>
                  <a:pt x="8890" y="104140"/>
                </a:moveTo>
                <a:lnTo>
                  <a:pt x="8890" y="130455"/>
                </a:lnTo>
                <a:lnTo>
                  <a:pt x="35205" y="130455"/>
                </a:lnTo>
                <a:lnTo>
                  <a:pt x="35205" y="104140"/>
                </a:lnTo>
                <a:lnTo>
                  <a:pt x="8890" y="104140"/>
                </a:lnTo>
                <a:close/>
                <a:moveTo>
                  <a:pt x="130048" y="95250"/>
                </a:moveTo>
                <a:lnTo>
                  <a:pt x="169989" y="95250"/>
                </a:lnTo>
                <a:cubicBezTo>
                  <a:pt x="172485" y="95250"/>
                  <a:pt x="174269" y="97448"/>
                  <a:pt x="174269" y="100013"/>
                </a:cubicBezTo>
                <a:cubicBezTo>
                  <a:pt x="174269" y="102577"/>
                  <a:pt x="172485" y="104409"/>
                  <a:pt x="169989" y="104409"/>
                </a:cubicBezTo>
                <a:lnTo>
                  <a:pt x="130048" y="104409"/>
                </a:lnTo>
                <a:cubicBezTo>
                  <a:pt x="127552" y="104409"/>
                  <a:pt x="125412" y="102577"/>
                  <a:pt x="125412" y="100013"/>
                </a:cubicBezTo>
                <a:cubicBezTo>
                  <a:pt x="125412" y="97448"/>
                  <a:pt x="127552" y="95250"/>
                  <a:pt x="130048" y="95250"/>
                </a:cubicBezTo>
                <a:close/>
                <a:moveTo>
                  <a:pt x="75728" y="95250"/>
                </a:moveTo>
                <a:lnTo>
                  <a:pt x="106119" y="95250"/>
                </a:lnTo>
                <a:cubicBezTo>
                  <a:pt x="108622" y="95250"/>
                  <a:pt x="110768" y="97448"/>
                  <a:pt x="110768" y="100013"/>
                </a:cubicBezTo>
                <a:cubicBezTo>
                  <a:pt x="110768" y="102577"/>
                  <a:pt x="108622" y="104409"/>
                  <a:pt x="106119" y="104409"/>
                </a:cubicBezTo>
                <a:lnTo>
                  <a:pt x="75728" y="104409"/>
                </a:lnTo>
                <a:cubicBezTo>
                  <a:pt x="73225" y="104409"/>
                  <a:pt x="71437" y="102577"/>
                  <a:pt x="71437" y="100013"/>
                </a:cubicBezTo>
                <a:cubicBezTo>
                  <a:pt x="71437" y="97448"/>
                  <a:pt x="73225" y="95250"/>
                  <a:pt x="75728" y="95250"/>
                </a:cubicBezTo>
                <a:close/>
                <a:moveTo>
                  <a:pt x="4267" y="95250"/>
                </a:moveTo>
                <a:lnTo>
                  <a:pt x="39827" y="95250"/>
                </a:lnTo>
                <a:cubicBezTo>
                  <a:pt x="41961" y="95250"/>
                  <a:pt x="44095" y="97384"/>
                  <a:pt x="44095" y="99873"/>
                </a:cubicBezTo>
                <a:lnTo>
                  <a:pt x="44095" y="135077"/>
                </a:lnTo>
                <a:cubicBezTo>
                  <a:pt x="44095" y="137211"/>
                  <a:pt x="41961" y="139345"/>
                  <a:pt x="39827" y="139345"/>
                </a:cubicBezTo>
                <a:lnTo>
                  <a:pt x="4267" y="139345"/>
                </a:lnTo>
                <a:cubicBezTo>
                  <a:pt x="2133" y="139345"/>
                  <a:pt x="0" y="137211"/>
                  <a:pt x="0" y="135077"/>
                </a:cubicBezTo>
                <a:lnTo>
                  <a:pt x="0" y="99873"/>
                </a:lnTo>
                <a:cubicBezTo>
                  <a:pt x="0" y="97384"/>
                  <a:pt x="2133" y="95250"/>
                  <a:pt x="4267" y="95250"/>
                </a:cubicBezTo>
                <a:close/>
                <a:moveTo>
                  <a:pt x="288558" y="76200"/>
                </a:moveTo>
                <a:cubicBezTo>
                  <a:pt x="291489" y="76200"/>
                  <a:pt x="293321" y="78004"/>
                  <a:pt x="293321" y="80889"/>
                </a:cubicBezTo>
                <a:lnTo>
                  <a:pt x="293321" y="288639"/>
                </a:lnTo>
                <a:cubicBezTo>
                  <a:pt x="293321" y="291163"/>
                  <a:pt x="291489" y="293327"/>
                  <a:pt x="288558" y="293327"/>
                </a:cubicBezTo>
                <a:cubicBezTo>
                  <a:pt x="286360" y="293327"/>
                  <a:pt x="284162" y="291163"/>
                  <a:pt x="284162" y="288639"/>
                </a:cubicBezTo>
                <a:lnTo>
                  <a:pt x="284162" y="80889"/>
                </a:lnTo>
                <a:cubicBezTo>
                  <a:pt x="284162" y="78004"/>
                  <a:pt x="286360" y="76200"/>
                  <a:pt x="288558" y="76200"/>
                </a:cubicBezTo>
                <a:close/>
                <a:moveTo>
                  <a:pt x="32938" y="26988"/>
                </a:moveTo>
                <a:lnTo>
                  <a:pt x="88935" y="26988"/>
                </a:lnTo>
                <a:cubicBezTo>
                  <a:pt x="91117" y="26988"/>
                  <a:pt x="93299" y="28893"/>
                  <a:pt x="93299" y="31560"/>
                </a:cubicBezTo>
                <a:cubicBezTo>
                  <a:pt x="93299" y="34227"/>
                  <a:pt x="91117" y="36132"/>
                  <a:pt x="88935" y="36132"/>
                </a:cubicBezTo>
                <a:lnTo>
                  <a:pt x="32938" y="36132"/>
                </a:lnTo>
                <a:cubicBezTo>
                  <a:pt x="30393" y="36132"/>
                  <a:pt x="28575" y="34227"/>
                  <a:pt x="28575" y="31560"/>
                </a:cubicBezTo>
                <a:cubicBezTo>
                  <a:pt x="28575" y="28893"/>
                  <a:pt x="30393" y="26988"/>
                  <a:pt x="32938" y="26988"/>
                </a:cubicBezTo>
                <a:close/>
                <a:moveTo>
                  <a:pt x="240126" y="8540"/>
                </a:moveTo>
                <a:lnTo>
                  <a:pt x="240126" y="52662"/>
                </a:lnTo>
                <a:lnTo>
                  <a:pt x="284341" y="52662"/>
                </a:lnTo>
                <a:lnTo>
                  <a:pt x="284341" y="8540"/>
                </a:lnTo>
                <a:lnTo>
                  <a:pt x="240126" y="8540"/>
                </a:lnTo>
                <a:close/>
                <a:moveTo>
                  <a:pt x="8987" y="8540"/>
                </a:moveTo>
                <a:lnTo>
                  <a:pt x="8987" y="52662"/>
                </a:lnTo>
                <a:lnTo>
                  <a:pt x="231139" y="52662"/>
                </a:lnTo>
                <a:lnTo>
                  <a:pt x="231139" y="8540"/>
                </a:lnTo>
                <a:lnTo>
                  <a:pt x="8987" y="8540"/>
                </a:lnTo>
                <a:close/>
                <a:moveTo>
                  <a:pt x="4314" y="0"/>
                </a:moveTo>
                <a:lnTo>
                  <a:pt x="288655" y="0"/>
                </a:lnTo>
                <a:cubicBezTo>
                  <a:pt x="291530" y="0"/>
                  <a:pt x="293328" y="1779"/>
                  <a:pt x="293328" y="4270"/>
                </a:cubicBezTo>
                <a:lnTo>
                  <a:pt x="293328" y="56932"/>
                </a:lnTo>
                <a:cubicBezTo>
                  <a:pt x="293328" y="59422"/>
                  <a:pt x="291530" y="61557"/>
                  <a:pt x="288655" y="61557"/>
                </a:cubicBezTo>
                <a:lnTo>
                  <a:pt x="4314" y="61557"/>
                </a:lnTo>
                <a:cubicBezTo>
                  <a:pt x="2157" y="61557"/>
                  <a:pt x="0" y="59422"/>
                  <a:pt x="0" y="56932"/>
                </a:cubicBezTo>
                <a:lnTo>
                  <a:pt x="0" y="4270"/>
                </a:lnTo>
                <a:cubicBezTo>
                  <a:pt x="0" y="1779"/>
                  <a:pt x="2157" y="0"/>
                  <a:pt x="431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gray">
          <a:xfrm>
            <a:off x="1874647" y="3486759"/>
            <a:ext cx="324000" cy="324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3906" y="4594289"/>
            <a:ext cx="3474720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/>
            <a:r>
              <a:rPr lang="en-US" sz="1600" dirty="0"/>
              <a:t>Endowment Top up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1" name="Freeform 931">
            <a:extLst>
              <a:ext uri="{FF2B5EF4-FFF2-40B4-BE49-F238E27FC236}">
                <a16:creationId xmlns:a16="http://schemas.microsoft.com/office/drawing/2014/main" id="{6D800047-BC34-7C44-857B-3076FF3B2D58}"/>
              </a:ext>
            </a:extLst>
          </p:cNvPr>
          <p:cNvSpPr>
            <a:spLocks noChangeAspect="1"/>
          </p:cNvSpPr>
          <p:nvPr/>
        </p:nvSpPr>
        <p:spPr bwMode="auto">
          <a:xfrm>
            <a:off x="1199276" y="4770049"/>
            <a:ext cx="561650" cy="440479"/>
          </a:xfrm>
          <a:custGeom>
            <a:avLst/>
            <a:gdLst>
              <a:gd name="T0" fmla="*/ 7859658 w 293328"/>
              <a:gd name="T1" fmla="*/ 8127578 h 293326"/>
              <a:gd name="T2" fmla="*/ 4110621 w 293328"/>
              <a:gd name="T3" fmla="*/ 7487107 h 293326"/>
              <a:gd name="T4" fmla="*/ 4442221 w 293328"/>
              <a:gd name="T5" fmla="*/ 7813878 h 293326"/>
              <a:gd name="T6" fmla="*/ 8522949 w 293328"/>
              <a:gd name="T7" fmla="*/ 7813878 h 293326"/>
              <a:gd name="T8" fmla="*/ 7859658 w 293328"/>
              <a:gd name="T9" fmla="*/ 7160373 h 293326"/>
              <a:gd name="T10" fmla="*/ 4110621 w 293328"/>
              <a:gd name="T11" fmla="*/ 8454348 h 293326"/>
              <a:gd name="T12" fmla="*/ 5991851 w 293328"/>
              <a:gd name="T13" fmla="*/ 6478409 h 293326"/>
              <a:gd name="T14" fmla="*/ 6624621 w 293328"/>
              <a:gd name="T15" fmla="*/ 7123578 h 293326"/>
              <a:gd name="T16" fmla="*/ 5991851 w 293328"/>
              <a:gd name="T17" fmla="*/ 7046188 h 293326"/>
              <a:gd name="T18" fmla="*/ 6677367 w 293328"/>
              <a:gd name="T19" fmla="*/ 8259035 h 293326"/>
              <a:gd name="T20" fmla="*/ 5991851 w 293328"/>
              <a:gd name="T21" fmla="*/ 9136437 h 293326"/>
              <a:gd name="T22" fmla="*/ 5358978 w 293328"/>
              <a:gd name="T23" fmla="*/ 8491269 h 293326"/>
              <a:gd name="T24" fmla="*/ 5991851 w 293328"/>
              <a:gd name="T25" fmla="*/ 8555819 h 293326"/>
              <a:gd name="T26" fmla="*/ 5306272 w 293328"/>
              <a:gd name="T27" fmla="*/ 7342911 h 293326"/>
              <a:gd name="T28" fmla="*/ 5991851 w 293328"/>
              <a:gd name="T29" fmla="*/ 6478409 h 293326"/>
              <a:gd name="T30" fmla="*/ 2563300 w 293328"/>
              <a:gd name="T31" fmla="*/ 8592102 h 293326"/>
              <a:gd name="T32" fmla="*/ 9362842 w 293328"/>
              <a:gd name="T33" fmla="*/ 8592102 h 293326"/>
              <a:gd name="T34" fmla="*/ 3190900 w 293328"/>
              <a:gd name="T35" fmla="*/ 6346447 h 293326"/>
              <a:gd name="T36" fmla="*/ 9035975 w 293328"/>
              <a:gd name="T37" fmla="*/ 6178653 h 293326"/>
              <a:gd name="T38" fmla="*/ 9676671 w 293328"/>
              <a:gd name="T39" fmla="*/ 8734099 h 293326"/>
              <a:gd name="T40" fmla="*/ 8879035 w 293328"/>
              <a:gd name="T41" fmla="*/ 9534286 h 293326"/>
              <a:gd name="T42" fmla="*/ 2406263 w 293328"/>
              <a:gd name="T43" fmla="*/ 8888979 h 293326"/>
              <a:gd name="T44" fmla="*/ 2406263 w 293328"/>
              <a:gd name="T45" fmla="*/ 6656187 h 293326"/>
              <a:gd name="T46" fmla="*/ 1596249 w 293328"/>
              <a:gd name="T47" fmla="*/ 5393866 h 293326"/>
              <a:gd name="T48" fmla="*/ 10342888 w 293328"/>
              <a:gd name="T49" fmla="*/ 5393866 h 293326"/>
              <a:gd name="T50" fmla="*/ 10500047 w 293328"/>
              <a:gd name="T51" fmla="*/ 5057672 h 293326"/>
              <a:gd name="T52" fmla="*/ 10500047 w 293328"/>
              <a:gd name="T53" fmla="*/ 10500283 h 293326"/>
              <a:gd name="T54" fmla="*/ 1268902 w 293328"/>
              <a:gd name="T55" fmla="*/ 5225783 h 293326"/>
              <a:gd name="T56" fmla="*/ 6335547 w 293328"/>
              <a:gd name="T57" fmla="*/ 4148488 h 293326"/>
              <a:gd name="T58" fmla="*/ 3904986 w 293328"/>
              <a:gd name="T59" fmla="*/ 4476308 h 293326"/>
              <a:gd name="T60" fmla="*/ 1194807 w 293328"/>
              <a:gd name="T61" fmla="*/ 4148488 h 293326"/>
              <a:gd name="T62" fmla="*/ 2944820 w 293328"/>
              <a:gd name="T63" fmla="*/ 4476308 h 293326"/>
              <a:gd name="T64" fmla="*/ 1194807 w 293328"/>
              <a:gd name="T65" fmla="*/ 4148488 h 293326"/>
              <a:gd name="T66" fmla="*/ 7427260 w 293328"/>
              <a:gd name="T67" fmla="*/ 3396588 h 293326"/>
              <a:gd name="T68" fmla="*/ 6171464 w 293328"/>
              <a:gd name="T69" fmla="*/ 3396588 h 293326"/>
              <a:gd name="T70" fmla="*/ 5539982 w 293328"/>
              <a:gd name="T71" fmla="*/ 3239199 h 293326"/>
              <a:gd name="T72" fmla="*/ 4611211 w 293328"/>
              <a:gd name="T73" fmla="*/ 3567085 h 293326"/>
              <a:gd name="T74" fmla="*/ 2925452 w 293328"/>
              <a:gd name="T75" fmla="*/ 3239199 h 293326"/>
              <a:gd name="T76" fmla="*/ 3854194 w 293328"/>
              <a:gd name="T77" fmla="*/ 3567085 h 293326"/>
              <a:gd name="T78" fmla="*/ 2925452 w 293328"/>
              <a:gd name="T79" fmla="*/ 3239199 h 293326"/>
              <a:gd name="T80" fmla="*/ 2293890 w 293328"/>
              <a:gd name="T81" fmla="*/ 3396588 h 293326"/>
              <a:gd name="T82" fmla="*/ 1038174 w 293328"/>
              <a:gd name="T83" fmla="*/ 3396588 h 293326"/>
              <a:gd name="T84" fmla="*/ 6475814 w 293328"/>
              <a:gd name="T85" fmla="*/ 1452999 h 293326"/>
              <a:gd name="T86" fmla="*/ 6736524 w 293328"/>
              <a:gd name="T87" fmla="*/ 2104707 h 293326"/>
              <a:gd name="T88" fmla="*/ 5837123 w 293328"/>
              <a:gd name="T89" fmla="*/ 1348718 h 293326"/>
              <a:gd name="T90" fmla="*/ 6215092 w 293328"/>
              <a:gd name="T91" fmla="*/ 1726732 h 293326"/>
              <a:gd name="T92" fmla="*/ 1365399 w 293328"/>
              <a:gd name="T93" fmla="*/ 1400867 h 293326"/>
              <a:gd name="T94" fmla="*/ 2491089 w 293328"/>
              <a:gd name="T95" fmla="*/ 2104707 h 293326"/>
              <a:gd name="T96" fmla="*/ 2491089 w 293328"/>
              <a:gd name="T97" fmla="*/ 1348718 h 293326"/>
              <a:gd name="T98" fmla="*/ 6280294 w 293328"/>
              <a:gd name="T99" fmla="*/ 1192301 h 293326"/>
              <a:gd name="T100" fmla="*/ 6736524 w 293328"/>
              <a:gd name="T101" fmla="*/ 2430592 h 293326"/>
              <a:gd name="T102" fmla="*/ 5133300 w 293328"/>
              <a:gd name="T103" fmla="*/ 1726732 h 293326"/>
              <a:gd name="T104" fmla="*/ 2491089 w 293328"/>
              <a:gd name="T105" fmla="*/ 1022852 h 293326"/>
              <a:gd name="T106" fmla="*/ 2491089 w 293328"/>
              <a:gd name="T107" fmla="*/ 2430592 h 293326"/>
              <a:gd name="T108" fmla="*/ 1038174 w 293328"/>
              <a:gd name="T109" fmla="*/ 1400867 h 293326"/>
              <a:gd name="T110" fmla="*/ 7920889 w 293328"/>
              <a:gd name="T111" fmla="*/ 0 h 293326"/>
              <a:gd name="T112" fmla="*/ 8352914 w 293328"/>
              <a:gd name="T113" fmla="*/ 4760749 h 293326"/>
              <a:gd name="T114" fmla="*/ 7920889 w 293328"/>
              <a:gd name="T115" fmla="*/ 320804 h 293326"/>
              <a:gd name="T116" fmla="*/ 314256 w 293328"/>
              <a:gd name="T117" fmla="*/ 5761657 h 293326"/>
              <a:gd name="T118" fmla="*/ 955691 w 293328"/>
              <a:gd name="T119" fmla="*/ 6185102 h 293326"/>
              <a:gd name="T120" fmla="*/ 0 w 293328"/>
              <a:gd name="T121" fmla="*/ 5761657 h 29332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93328" h="293326">
                <a:moveTo>
                  <a:pt x="216329" y="209153"/>
                </a:moveTo>
                <a:cubicBezTo>
                  <a:pt x="211582" y="209153"/>
                  <a:pt x="207566" y="213169"/>
                  <a:pt x="207566" y="218281"/>
                </a:cubicBezTo>
                <a:cubicBezTo>
                  <a:pt x="207566" y="223028"/>
                  <a:pt x="211582" y="227044"/>
                  <a:pt x="216329" y="227044"/>
                </a:cubicBezTo>
                <a:cubicBezTo>
                  <a:pt x="221441" y="227044"/>
                  <a:pt x="225457" y="223028"/>
                  <a:pt x="225457" y="218281"/>
                </a:cubicBezTo>
                <a:cubicBezTo>
                  <a:pt x="225457" y="213169"/>
                  <a:pt x="221441" y="209153"/>
                  <a:pt x="216329" y="209153"/>
                </a:cubicBezTo>
                <a:close/>
                <a:moveTo>
                  <a:pt x="113141" y="209153"/>
                </a:moveTo>
                <a:cubicBezTo>
                  <a:pt x="108395" y="209153"/>
                  <a:pt x="104013" y="213169"/>
                  <a:pt x="104013" y="218281"/>
                </a:cubicBezTo>
                <a:cubicBezTo>
                  <a:pt x="104013" y="223028"/>
                  <a:pt x="108395" y="227044"/>
                  <a:pt x="113141" y="227044"/>
                </a:cubicBezTo>
                <a:cubicBezTo>
                  <a:pt x="118253" y="227044"/>
                  <a:pt x="122269" y="223028"/>
                  <a:pt x="122269" y="218281"/>
                </a:cubicBezTo>
                <a:cubicBezTo>
                  <a:pt x="122269" y="213169"/>
                  <a:pt x="118253" y="209153"/>
                  <a:pt x="113141" y="209153"/>
                </a:cubicBezTo>
                <a:close/>
                <a:moveTo>
                  <a:pt x="216329" y="200025"/>
                </a:moveTo>
                <a:cubicBezTo>
                  <a:pt x="226552" y="200025"/>
                  <a:pt x="234585" y="208423"/>
                  <a:pt x="234585" y="218281"/>
                </a:cubicBezTo>
                <a:cubicBezTo>
                  <a:pt x="234585" y="228139"/>
                  <a:pt x="226552" y="236172"/>
                  <a:pt x="216329" y="236172"/>
                </a:cubicBezTo>
                <a:cubicBezTo>
                  <a:pt x="206836" y="236172"/>
                  <a:pt x="198438" y="228139"/>
                  <a:pt x="198438" y="218281"/>
                </a:cubicBezTo>
                <a:cubicBezTo>
                  <a:pt x="198438" y="208423"/>
                  <a:pt x="206836" y="200025"/>
                  <a:pt x="216329" y="200025"/>
                </a:cubicBezTo>
                <a:close/>
                <a:moveTo>
                  <a:pt x="113141" y="200025"/>
                </a:moveTo>
                <a:cubicBezTo>
                  <a:pt x="123000" y="200025"/>
                  <a:pt x="131398" y="208423"/>
                  <a:pt x="131398" y="218281"/>
                </a:cubicBezTo>
                <a:cubicBezTo>
                  <a:pt x="131398" y="228139"/>
                  <a:pt x="123000" y="236172"/>
                  <a:pt x="113141" y="236172"/>
                </a:cubicBezTo>
                <a:cubicBezTo>
                  <a:pt x="103283" y="236172"/>
                  <a:pt x="95250" y="228139"/>
                  <a:pt x="95250" y="218281"/>
                </a:cubicBezTo>
                <a:cubicBezTo>
                  <a:pt x="95250" y="208423"/>
                  <a:pt x="103283" y="200025"/>
                  <a:pt x="113141" y="200025"/>
                </a:cubicBezTo>
                <a:close/>
                <a:moveTo>
                  <a:pt x="164919" y="180975"/>
                </a:moveTo>
                <a:cubicBezTo>
                  <a:pt x="167096" y="180975"/>
                  <a:pt x="169273" y="182777"/>
                  <a:pt x="169273" y="185300"/>
                </a:cubicBezTo>
                <a:lnTo>
                  <a:pt x="169273" y="188544"/>
                </a:lnTo>
                <a:cubicBezTo>
                  <a:pt x="175079" y="189986"/>
                  <a:pt x="180159" y="193591"/>
                  <a:pt x="182336" y="198997"/>
                </a:cubicBezTo>
                <a:cubicBezTo>
                  <a:pt x="183062" y="201160"/>
                  <a:pt x="182336" y="203683"/>
                  <a:pt x="179796" y="204764"/>
                </a:cubicBezTo>
                <a:cubicBezTo>
                  <a:pt x="177256" y="205846"/>
                  <a:pt x="175079" y="204764"/>
                  <a:pt x="173990" y="202241"/>
                </a:cubicBezTo>
                <a:cubicBezTo>
                  <a:pt x="172539" y="198997"/>
                  <a:pt x="168910" y="196835"/>
                  <a:pt x="164919" y="196835"/>
                </a:cubicBezTo>
                <a:cubicBezTo>
                  <a:pt x="159476" y="196835"/>
                  <a:pt x="155122" y="200800"/>
                  <a:pt x="155122" y="205125"/>
                </a:cubicBezTo>
                <a:cubicBezTo>
                  <a:pt x="155122" y="210892"/>
                  <a:pt x="158387" y="213415"/>
                  <a:pt x="164919" y="213415"/>
                </a:cubicBezTo>
                <a:cubicBezTo>
                  <a:pt x="176167" y="213415"/>
                  <a:pt x="183787" y="220264"/>
                  <a:pt x="183787" y="230716"/>
                </a:cubicBezTo>
                <a:cubicBezTo>
                  <a:pt x="183787" y="239007"/>
                  <a:pt x="177256" y="245495"/>
                  <a:pt x="169273" y="247657"/>
                </a:cubicBezTo>
                <a:lnTo>
                  <a:pt x="169273" y="250901"/>
                </a:lnTo>
                <a:cubicBezTo>
                  <a:pt x="169273" y="253064"/>
                  <a:pt x="167096" y="255227"/>
                  <a:pt x="164919" y="255227"/>
                </a:cubicBezTo>
                <a:cubicBezTo>
                  <a:pt x="162379" y="255227"/>
                  <a:pt x="160564" y="253064"/>
                  <a:pt x="160564" y="250901"/>
                </a:cubicBezTo>
                <a:lnTo>
                  <a:pt x="160564" y="247657"/>
                </a:lnTo>
                <a:cubicBezTo>
                  <a:pt x="154759" y="246216"/>
                  <a:pt x="149679" y="242611"/>
                  <a:pt x="147502" y="237204"/>
                </a:cubicBezTo>
                <a:cubicBezTo>
                  <a:pt x="146413" y="235042"/>
                  <a:pt x="147502" y="232519"/>
                  <a:pt x="150042" y="231437"/>
                </a:cubicBezTo>
                <a:cubicBezTo>
                  <a:pt x="152219" y="230356"/>
                  <a:pt x="154759" y="231437"/>
                  <a:pt x="155847" y="233600"/>
                </a:cubicBezTo>
                <a:cubicBezTo>
                  <a:pt x="157299" y="237204"/>
                  <a:pt x="160927" y="239007"/>
                  <a:pt x="164919" y="239007"/>
                </a:cubicBezTo>
                <a:cubicBezTo>
                  <a:pt x="170362" y="239007"/>
                  <a:pt x="174716" y="235402"/>
                  <a:pt x="174716" y="230716"/>
                </a:cubicBezTo>
                <a:cubicBezTo>
                  <a:pt x="174716" y="225310"/>
                  <a:pt x="171450" y="222426"/>
                  <a:pt x="164919" y="222426"/>
                </a:cubicBezTo>
                <a:cubicBezTo>
                  <a:pt x="151130" y="222426"/>
                  <a:pt x="146050" y="213415"/>
                  <a:pt x="146050" y="205125"/>
                </a:cubicBezTo>
                <a:cubicBezTo>
                  <a:pt x="146050" y="197195"/>
                  <a:pt x="152219" y="190347"/>
                  <a:pt x="160564" y="188544"/>
                </a:cubicBezTo>
                <a:lnTo>
                  <a:pt x="160564" y="185300"/>
                </a:lnTo>
                <a:cubicBezTo>
                  <a:pt x="160564" y="182777"/>
                  <a:pt x="162379" y="180975"/>
                  <a:pt x="164919" y="180975"/>
                </a:cubicBezTo>
                <a:close/>
                <a:moveTo>
                  <a:pt x="87826" y="177288"/>
                </a:moveTo>
                <a:cubicBezTo>
                  <a:pt x="86387" y="185941"/>
                  <a:pt x="79548" y="192791"/>
                  <a:pt x="70551" y="194594"/>
                </a:cubicBezTo>
                <a:lnTo>
                  <a:pt x="70551" y="240021"/>
                </a:lnTo>
                <a:cubicBezTo>
                  <a:pt x="79548" y="241823"/>
                  <a:pt x="86387" y="248674"/>
                  <a:pt x="87826" y="257326"/>
                </a:cubicBezTo>
                <a:lnTo>
                  <a:pt x="240067" y="257326"/>
                </a:lnTo>
                <a:cubicBezTo>
                  <a:pt x="241867" y="248674"/>
                  <a:pt x="248705" y="241823"/>
                  <a:pt x="257702" y="240021"/>
                </a:cubicBezTo>
                <a:lnTo>
                  <a:pt x="257702" y="194594"/>
                </a:lnTo>
                <a:cubicBezTo>
                  <a:pt x="248705" y="192791"/>
                  <a:pt x="241867" y="185941"/>
                  <a:pt x="240067" y="177288"/>
                </a:cubicBezTo>
                <a:lnTo>
                  <a:pt x="87826" y="177288"/>
                </a:lnTo>
                <a:close/>
                <a:moveTo>
                  <a:pt x="83867" y="168275"/>
                </a:moveTo>
                <a:lnTo>
                  <a:pt x="244386" y="168275"/>
                </a:lnTo>
                <a:cubicBezTo>
                  <a:pt x="246545" y="168275"/>
                  <a:pt x="248705" y="170078"/>
                  <a:pt x="248705" y="172601"/>
                </a:cubicBezTo>
                <a:cubicBezTo>
                  <a:pt x="248705" y="180172"/>
                  <a:pt x="254463" y="185941"/>
                  <a:pt x="262021" y="185941"/>
                </a:cubicBezTo>
                <a:cubicBezTo>
                  <a:pt x="264541" y="185941"/>
                  <a:pt x="266340" y="188104"/>
                  <a:pt x="266340" y="190628"/>
                </a:cubicBezTo>
                <a:lnTo>
                  <a:pt x="266340" y="243987"/>
                </a:lnTo>
                <a:cubicBezTo>
                  <a:pt x="266340" y="246510"/>
                  <a:pt x="264541" y="248313"/>
                  <a:pt x="262021" y="248313"/>
                </a:cubicBezTo>
                <a:cubicBezTo>
                  <a:pt x="254463" y="248313"/>
                  <a:pt x="248705" y="254442"/>
                  <a:pt x="248705" y="262013"/>
                </a:cubicBezTo>
                <a:cubicBezTo>
                  <a:pt x="248705" y="264176"/>
                  <a:pt x="246545" y="266340"/>
                  <a:pt x="244386" y="266340"/>
                </a:cubicBezTo>
                <a:lnTo>
                  <a:pt x="83867" y="266340"/>
                </a:lnTo>
                <a:cubicBezTo>
                  <a:pt x="81348" y="266340"/>
                  <a:pt x="79548" y="264176"/>
                  <a:pt x="79548" y="262013"/>
                </a:cubicBezTo>
                <a:cubicBezTo>
                  <a:pt x="79548" y="254442"/>
                  <a:pt x="73790" y="248313"/>
                  <a:pt x="66232" y="248313"/>
                </a:cubicBezTo>
                <a:cubicBezTo>
                  <a:pt x="63712" y="248313"/>
                  <a:pt x="61913" y="246510"/>
                  <a:pt x="61913" y="243987"/>
                </a:cubicBezTo>
                <a:lnTo>
                  <a:pt x="61913" y="190628"/>
                </a:lnTo>
                <a:cubicBezTo>
                  <a:pt x="61913" y="188104"/>
                  <a:pt x="63712" y="185941"/>
                  <a:pt x="66232" y="185941"/>
                </a:cubicBezTo>
                <a:cubicBezTo>
                  <a:pt x="73790" y="185941"/>
                  <a:pt x="79548" y="180172"/>
                  <a:pt x="79548" y="172601"/>
                </a:cubicBezTo>
                <a:cubicBezTo>
                  <a:pt x="79548" y="170078"/>
                  <a:pt x="81348" y="168275"/>
                  <a:pt x="83867" y="168275"/>
                </a:cubicBezTo>
                <a:close/>
                <a:moveTo>
                  <a:pt x="43935" y="150677"/>
                </a:moveTo>
                <a:lnTo>
                  <a:pt x="43935" y="284297"/>
                </a:lnTo>
                <a:lnTo>
                  <a:pt x="284678" y="284297"/>
                </a:lnTo>
                <a:lnTo>
                  <a:pt x="284678" y="150677"/>
                </a:lnTo>
                <a:lnTo>
                  <a:pt x="43935" y="150677"/>
                </a:lnTo>
                <a:close/>
                <a:moveTo>
                  <a:pt x="39610" y="141287"/>
                </a:moveTo>
                <a:lnTo>
                  <a:pt x="289003" y="141287"/>
                </a:lnTo>
                <a:cubicBezTo>
                  <a:pt x="291526" y="141287"/>
                  <a:pt x="293328" y="143454"/>
                  <a:pt x="293328" y="145982"/>
                </a:cubicBezTo>
                <a:lnTo>
                  <a:pt x="293328" y="288992"/>
                </a:lnTo>
                <a:cubicBezTo>
                  <a:pt x="293328" y="291520"/>
                  <a:pt x="291526" y="293326"/>
                  <a:pt x="289003" y="293326"/>
                </a:cubicBezTo>
                <a:lnTo>
                  <a:pt x="39610" y="293326"/>
                </a:lnTo>
                <a:cubicBezTo>
                  <a:pt x="37087" y="293326"/>
                  <a:pt x="34925" y="291520"/>
                  <a:pt x="34925" y="288992"/>
                </a:cubicBezTo>
                <a:lnTo>
                  <a:pt x="34925" y="145982"/>
                </a:lnTo>
                <a:cubicBezTo>
                  <a:pt x="34925" y="143454"/>
                  <a:pt x="37087" y="141287"/>
                  <a:pt x="39610" y="141287"/>
                </a:cubicBezTo>
                <a:close/>
                <a:moveTo>
                  <a:pt x="107481" y="115887"/>
                </a:moveTo>
                <a:lnTo>
                  <a:pt x="174380" y="115887"/>
                </a:lnTo>
                <a:cubicBezTo>
                  <a:pt x="177242" y="115887"/>
                  <a:pt x="179030" y="118085"/>
                  <a:pt x="179030" y="120283"/>
                </a:cubicBezTo>
                <a:cubicBezTo>
                  <a:pt x="179030" y="122848"/>
                  <a:pt x="177242" y="125046"/>
                  <a:pt x="174380" y="125046"/>
                </a:cubicBezTo>
                <a:lnTo>
                  <a:pt x="107481" y="125046"/>
                </a:lnTo>
                <a:cubicBezTo>
                  <a:pt x="104977" y="125046"/>
                  <a:pt x="103188" y="122848"/>
                  <a:pt x="103188" y="120283"/>
                </a:cubicBezTo>
                <a:cubicBezTo>
                  <a:pt x="103188" y="118085"/>
                  <a:pt x="104977" y="115887"/>
                  <a:pt x="107481" y="115887"/>
                </a:cubicBezTo>
                <a:close/>
                <a:moveTo>
                  <a:pt x="32888" y="115887"/>
                </a:moveTo>
                <a:lnTo>
                  <a:pt x="81052" y="115887"/>
                </a:lnTo>
                <a:cubicBezTo>
                  <a:pt x="83568" y="115887"/>
                  <a:pt x="85365" y="118085"/>
                  <a:pt x="85365" y="120283"/>
                </a:cubicBezTo>
                <a:cubicBezTo>
                  <a:pt x="85365" y="122848"/>
                  <a:pt x="83568" y="125046"/>
                  <a:pt x="81052" y="125046"/>
                </a:cubicBezTo>
                <a:lnTo>
                  <a:pt x="32888" y="125046"/>
                </a:lnTo>
                <a:cubicBezTo>
                  <a:pt x="30372" y="125046"/>
                  <a:pt x="28575" y="122848"/>
                  <a:pt x="28575" y="120283"/>
                </a:cubicBezTo>
                <a:cubicBezTo>
                  <a:pt x="28575" y="118085"/>
                  <a:pt x="30372" y="115887"/>
                  <a:pt x="32888" y="115887"/>
                </a:cubicBezTo>
                <a:close/>
                <a:moveTo>
                  <a:pt x="174544" y="90487"/>
                </a:moveTo>
                <a:lnTo>
                  <a:pt x="200107" y="90487"/>
                </a:lnTo>
                <a:cubicBezTo>
                  <a:pt x="202628" y="90487"/>
                  <a:pt x="204428" y="92685"/>
                  <a:pt x="204428" y="94883"/>
                </a:cubicBezTo>
                <a:cubicBezTo>
                  <a:pt x="204428" y="97448"/>
                  <a:pt x="202628" y="99646"/>
                  <a:pt x="200107" y="99646"/>
                </a:cubicBezTo>
                <a:lnTo>
                  <a:pt x="174544" y="99646"/>
                </a:lnTo>
                <a:cubicBezTo>
                  <a:pt x="172023" y="99646"/>
                  <a:pt x="169863" y="97448"/>
                  <a:pt x="169863" y="94883"/>
                </a:cubicBezTo>
                <a:cubicBezTo>
                  <a:pt x="169863" y="92685"/>
                  <a:pt x="172023" y="90487"/>
                  <a:pt x="174544" y="90487"/>
                </a:cubicBezTo>
                <a:close/>
                <a:moveTo>
                  <a:pt x="126919" y="90487"/>
                </a:moveTo>
                <a:lnTo>
                  <a:pt x="152482" y="90487"/>
                </a:lnTo>
                <a:cubicBezTo>
                  <a:pt x="154643" y="90487"/>
                  <a:pt x="156803" y="92685"/>
                  <a:pt x="156803" y="94883"/>
                </a:cubicBezTo>
                <a:cubicBezTo>
                  <a:pt x="156803" y="97448"/>
                  <a:pt x="154643" y="99646"/>
                  <a:pt x="152482" y="99646"/>
                </a:cubicBezTo>
                <a:lnTo>
                  <a:pt x="126919" y="99646"/>
                </a:lnTo>
                <a:cubicBezTo>
                  <a:pt x="124398" y="99646"/>
                  <a:pt x="122238" y="97448"/>
                  <a:pt x="122238" y="94883"/>
                </a:cubicBezTo>
                <a:cubicBezTo>
                  <a:pt x="122238" y="92685"/>
                  <a:pt x="124398" y="90487"/>
                  <a:pt x="126919" y="90487"/>
                </a:cubicBezTo>
                <a:close/>
                <a:moveTo>
                  <a:pt x="80520" y="90487"/>
                </a:moveTo>
                <a:lnTo>
                  <a:pt x="106084" y="90487"/>
                </a:lnTo>
                <a:cubicBezTo>
                  <a:pt x="108965" y="90487"/>
                  <a:pt x="110765" y="92685"/>
                  <a:pt x="110765" y="94883"/>
                </a:cubicBezTo>
                <a:cubicBezTo>
                  <a:pt x="110765" y="97448"/>
                  <a:pt x="108965" y="99646"/>
                  <a:pt x="106084" y="99646"/>
                </a:cubicBezTo>
                <a:lnTo>
                  <a:pt x="80520" y="99646"/>
                </a:lnTo>
                <a:cubicBezTo>
                  <a:pt x="78000" y="99646"/>
                  <a:pt x="76200" y="97448"/>
                  <a:pt x="76200" y="94883"/>
                </a:cubicBezTo>
                <a:cubicBezTo>
                  <a:pt x="76200" y="92685"/>
                  <a:pt x="78000" y="90487"/>
                  <a:pt x="80520" y="90487"/>
                </a:cubicBezTo>
                <a:close/>
                <a:moveTo>
                  <a:pt x="32940" y="90487"/>
                </a:moveTo>
                <a:lnTo>
                  <a:pt x="58770" y="90487"/>
                </a:lnTo>
                <a:cubicBezTo>
                  <a:pt x="61317" y="90487"/>
                  <a:pt x="63136" y="92685"/>
                  <a:pt x="63136" y="94883"/>
                </a:cubicBezTo>
                <a:cubicBezTo>
                  <a:pt x="63136" y="97448"/>
                  <a:pt x="61317" y="99646"/>
                  <a:pt x="58770" y="99646"/>
                </a:cubicBezTo>
                <a:lnTo>
                  <a:pt x="32940" y="99646"/>
                </a:lnTo>
                <a:cubicBezTo>
                  <a:pt x="30394" y="99646"/>
                  <a:pt x="28575" y="97448"/>
                  <a:pt x="28575" y="94883"/>
                </a:cubicBezTo>
                <a:cubicBezTo>
                  <a:pt x="28575" y="92685"/>
                  <a:pt x="30394" y="90487"/>
                  <a:pt x="32940" y="90487"/>
                </a:cubicBezTo>
                <a:close/>
                <a:moveTo>
                  <a:pt x="185415" y="37677"/>
                </a:moveTo>
                <a:cubicBezTo>
                  <a:pt x="182545" y="37677"/>
                  <a:pt x="180034" y="38770"/>
                  <a:pt x="178240" y="40590"/>
                </a:cubicBezTo>
                <a:cubicBezTo>
                  <a:pt x="179316" y="42775"/>
                  <a:pt x="179675" y="45688"/>
                  <a:pt x="179675" y="48236"/>
                </a:cubicBezTo>
                <a:cubicBezTo>
                  <a:pt x="179675" y="50785"/>
                  <a:pt x="179316" y="53698"/>
                  <a:pt x="178240" y="56247"/>
                </a:cubicBezTo>
                <a:cubicBezTo>
                  <a:pt x="180034" y="57703"/>
                  <a:pt x="182545" y="58795"/>
                  <a:pt x="185415" y="58795"/>
                </a:cubicBezTo>
                <a:cubicBezTo>
                  <a:pt x="190797" y="58795"/>
                  <a:pt x="195460" y="54062"/>
                  <a:pt x="195460" y="48236"/>
                </a:cubicBezTo>
                <a:cubicBezTo>
                  <a:pt x="195460" y="42411"/>
                  <a:pt x="190797" y="37677"/>
                  <a:pt x="185415" y="37677"/>
                </a:cubicBezTo>
                <a:close/>
                <a:moveTo>
                  <a:pt x="160661" y="37677"/>
                </a:moveTo>
                <a:cubicBezTo>
                  <a:pt x="154921" y="37677"/>
                  <a:pt x="150257" y="42411"/>
                  <a:pt x="150257" y="48236"/>
                </a:cubicBezTo>
                <a:cubicBezTo>
                  <a:pt x="150257" y="54062"/>
                  <a:pt x="154921" y="58795"/>
                  <a:pt x="160661" y="58795"/>
                </a:cubicBezTo>
                <a:cubicBezTo>
                  <a:pt x="166401" y="58795"/>
                  <a:pt x="171065" y="54062"/>
                  <a:pt x="171065" y="48236"/>
                </a:cubicBezTo>
                <a:cubicBezTo>
                  <a:pt x="171065" y="42411"/>
                  <a:pt x="166401" y="37677"/>
                  <a:pt x="160661" y="37677"/>
                </a:cubicBezTo>
                <a:close/>
                <a:moveTo>
                  <a:pt x="39023" y="37677"/>
                </a:moveTo>
                <a:cubicBezTo>
                  <a:pt x="38303" y="37677"/>
                  <a:pt x="37582" y="38406"/>
                  <a:pt x="37582" y="39134"/>
                </a:cubicBezTo>
                <a:lnTo>
                  <a:pt x="37582" y="57339"/>
                </a:lnTo>
                <a:cubicBezTo>
                  <a:pt x="37582" y="58067"/>
                  <a:pt x="38303" y="58795"/>
                  <a:pt x="39023" y="58795"/>
                </a:cubicBezTo>
                <a:lnTo>
                  <a:pt x="68566" y="58795"/>
                </a:lnTo>
                <a:cubicBezTo>
                  <a:pt x="69647" y="58795"/>
                  <a:pt x="70007" y="58067"/>
                  <a:pt x="70007" y="57339"/>
                </a:cubicBezTo>
                <a:lnTo>
                  <a:pt x="70007" y="39134"/>
                </a:lnTo>
                <a:cubicBezTo>
                  <a:pt x="70007" y="38406"/>
                  <a:pt x="69647" y="37677"/>
                  <a:pt x="68566" y="37677"/>
                </a:cubicBezTo>
                <a:lnTo>
                  <a:pt x="39023" y="37677"/>
                </a:lnTo>
                <a:close/>
                <a:moveTo>
                  <a:pt x="160661" y="28575"/>
                </a:moveTo>
                <a:cubicBezTo>
                  <a:pt x="165325" y="28575"/>
                  <a:pt x="169630" y="30760"/>
                  <a:pt x="172859" y="33308"/>
                </a:cubicBezTo>
                <a:cubicBezTo>
                  <a:pt x="176446" y="30395"/>
                  <a:pt x="180393" y="28575"/>
                  <a:pt x="185415" y="28575"/>
                </a:cubicBezTo>
                <a:cubicBezTo>
                  <a:pt x="195819" y="28575"/>
                  <a:pt x="204429" y="37313"/>
                  <a:pt x="204429" y="48236"/>
                </a:cubicBezTo>
                <a:cubicBezTo>
                  <a:pt x="204429" y="59159"/>
                  <a:pt x="195819" y="67898"/>
                  <a:pt x="185415" y="67898"/>
                </a:cubicBezTo>
                <a:cubicBezTo>
                  <a:pt x="180393" y="67898"/>
                  <a:pt x="176446" y="66077"/>
                  <a:pt x="172859" y="63165"/>
                </a:cubicBezTo>
                <a:cubicBezTo>
                  <a:pt x="169630" y="66077"/>
                  <a:pt x="165325" y="67898"/>
                  <a:pt x="160661" y="67898"/>
                </a:cubicBezTo>
                <a:cubicBezTo>
                  <a:pt x="149898" y="67898"/>
                  <a:pt x="141288" y="59159"/>
                  <a:pt x="141288" y="48236"/>
                </a:cubicBezTo>
                <a:cubicBezTo>
                  <a:pt x="141288" y="37313"/>
                  <a:pt x="149898" y="28575"/>
                  <a:pt x="160661" y="28575"/>
                </a:cubicBezTo>
                <a:close/>
                <a:moveTo>
                  <a:pt x="39023" y="28575"/>
                </a:moveTo>
                <a:lnTo>
                  <a:pt x="68566" y="28575"/>
                </a:lnTo>
                <a:cubicBezTo>
                  <a:pt x="74331" y="28575"/>
                  <a:pt x="79015" y="33308"/>
                  <a:pt x="79015" y="39134"/>
                </a:cubicBezTo>
                <a:lnTo>
                  <a:pt x="79015" y="57339"/>
                </a:lnTo>
                <a:cubicBezTo>
                  <a:pt x="79015" y="63165"/>
                  <a:pt x="74331" y="67898"/>
                  <a:pt x="68566" y="67898"/>
                </a:cubicBezTo>
                <a:lnTo>
                  <a:pt x="39023" y="67898"/>
                </a:lnTo>
                <a:cubicBezTo>
                  <a:pt x="32898" y="67898"/>
                  <a:pt x="28575" y="63165"/>
                  <a:pt x="28575" y="57339"/>
                </a:cubicBezTo>
                <a:lnTo>
                  <a:pt x="28575" y="39134"/>
                </a:lnTo>
                <a:cubicBezTo>
                  <a:pt x="28575" y="33308"/>
                  <a:pt x="32898" y="28575"/>
                  <a:pt x="39023" y="28575"/>
                </a:cubicBezTo>
                <a:close/>
                <a:moveTo>
                  <a:pt x="16216" y="0"/>
                </a:moveTo>
                <a:lnTo>
                  <a:pt x="218014" y="0"/>
                </a:lnTo>
                <a:cubicBezTo>
                  <a:pt x="227022" y="0"/>
                  <a:pt x="234590" y="7169"/>
                  <a:pt x="234590" y="16131"/>
                </a:cubicBezTo>
                <a:lnTo>
                  <a:pt x="234590" y="128331"/>
                </a:lnTo>
                <a:cubicBezTo>
                  <a:pt x="234590" y="130841"/>
                  <a:pt x="232428" y="132991"/>
                  <a:pt x="229905" y="132991"/>
                </a:cubicBezTo>
                <a:cubicBezTo>
                  <a:pt x="227383" y="132991"/>
                  <a:pt x="225581" y="130841"/>
                  <a:pt x="225581" y="128331"/>
                </a:cubicBezTo>
                <a:lnTo>
                  <a:pt x="225581" y="16131"/>
                </a:lnTo>
                <a:cubicBezTo>
                  <a:pt x="225581" y="12188"/>
                  <a:pt x="222338" y="8962"/>
                  <a:pt x="218014" y="8962"/>
                </a:cubicBezTo>
                <a:lnTo>
                  <a:pt x="16216" y="8962"/>
                </a:lnTo>
                <a:cubicBezTo>
                  <a:pt x="11892" y="8962"/>
                  <a:pt x="8648" y="12188"/>
                  <a:pt x="8648" y="16131"/>
                </a:cubicBezTo>
                <a:lnTo>
                  <a:pt x="8648" y="160952"/>
                </a:lnTo>
                <a:cubicBezTo>
                  <a:pt x="8648" y="165254"/>
                  <a:pt x="11892" y="168480"/>
                  <a:pt x="16216" y="168480"/>
                </a:cubicBezTo>
                <a:lnTo>
                  <a:pt x="21981" y="168480"/>
                </a:lnTo>
                <a:cubicBezTo>
                  <a:pt x="24504" y="168480"/>
                  <a:pt x="26306" y="170272"/>
                  <a:pt x="26306" y="172781"/>
                </a:cubicBezTo>
                <a:cubicBezTo>
                  <a:pt x="26306" y="175291"/>
                  <a:pt x="24504" y="177441"/>
                  <a:pt x="21981" y="177441"/>
                </a:cubicBezTo>
                <a:lnTo>
                  <a:pt x="16216" y="177441"/>
                </a:lnTo>
                <a:cubicBezTo>
                  <a:pt x="7207" y="177441"/>
                  <a:pt x="0" y="169914"/>
                  <a:pt x="0" y="160952"/>
                </a:cubicBezTo>
                <a:lnTo>
                  <a:pt x="0" y="16131"/>
                </a:lnTo>
                <a:cubicBezTo>
                  <a:pt x="0" y="7169"/>
                  <a:pt x="7207" y="0"/>
                  <a:pt x="1621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2" name="Oval 20"/>
          <p:cNvSpPr>
            <a:spLocks noChangeArrowheads="1"/>
          </p:cNvSpPr>
          <p:nvPr/>
        </p:nvSpPr>
        <p:spPr bwMode="gray">
          <a:xfrm>
            <a:off x="1843288" y="4859144"/>
            <a:ext cx="324000" cy="3084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5265" y="5922846"/>
            <a:ext cx="3474720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/>
            <a:r>
              <a:rPr lang="en-US" sz="1600" dirty="0"/>
              <a:t>University- industry partnerships Funds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5" name="Freeform 199">
            <a:extLst>
              <a:ext uri="{FF2B5EF4-FFF2-40B4-BE49-F238E27FC236}">
                <a16:creationId xmlns:a16="http://schemas.microsoft.com/office/drawing/2014/main" id="{ECC1FC47-078E-E747-8D27-66A4C1266AD9}"/>
              </a:ext>
            </a:extLst>
          </p:cNvPr>
          <p:cNvSpPr>
            <a:spLocks noChangeAspect="1"/>
          </p:cNvSpPr>
          <p:nvPr/>
        </p:nvSpPr>
        <p:spPr bwMode="auto">
          <a:xfrm>
            <a:off x="1288114" y="6141503"/>
            <a:ext cx="446693" cy="435197"/>
          </a:xfrm>
          <a:custGeom>
            <a:avLst/>
            <a:gdLst>
              <a:gd name="T0" fmla="*/ 2147483646 w 844"/>
              <a:gd name="T1" fmla="*/ 2147483646 h 836"/>
              <a:gd name="T2" fmla="*/ 2147483646 w 844"/>
              <a:gd name="T3" fmla="*/ 2147483646 h 836"/>
              <a:gd name="T4" fmla="*/ 2147483646 w 844"/>
              <a:gd name="T5" fmla="*/ 2147483646 h 836"/>
              <a:gd name="T6" fmla="*/ 2147483646 w 844"/>
              <a:gd name="T7" fmla="*/ 2147483646 h 836"/>
              <a:gd name="T8" fmla="*/ 2147483646 w 844"/>
              <a:gd name="T9" fmla="*/ 2147483646 h 836"/>
              <a:gd name="T10" fmla="*/ 2147483646 w 844"/>
              <a:gd name="T11" fmla="*/ 2147483646 h 836"/>
              <a:gd name="T12" fmla="*/ 2147483646 w 844"/>
              <a:gd name="T13" fmla="*/ 2147483646 h 836"/>
              <a:gd name="T14" fmla="*/ 2147483646 w 844"/>
              <a:gd name="T15" fmla="*/ 2147483646 h 836"/>
              <a:gd name="T16" fmla="*/ 2147483646 w 844"/>
              <a:gd name="T17" fmla="*/ 2147483646 h 836"/>
              <a:gd name="T18" fmla="*/ 2147483646 w 844"/>
              <a:gd name="T19" fmla="*/ 2147483646 h 836"/>
              <a:gd name="T20" fmla="*/ 2147483646 w 844"/>
              <a:gd name="T21" fmla="*/ 2147483646 h 836"/>
              <a:gd name="T22" fmla="*/ 2147483646 w 844"/>
              <a:gd name="T23" fmla="*/ 2147483646 h 836"/>
              <a:gd name="T24" fmla="*/ 2147483646 w 844"/>
              <a:gd name="T25" fmla="*/ 2147483646 h 836"/>
              <a:gd name="T26" fmla="*/ 2147483646 w 844"/>
              <a:gd name="T27" fmla="*/ 2147483646 h 836"/>
              <a:gd name="T28" fmla="*/ 2147483646 w 844"/>
              <a:gd name="T29" fmla="*/ 2147483646 h 836"/>
              <a:gd name="T30" fmla="*/ 2147483646 w 844"/>
              <a:gd name="T31" fmla="*/ 2147483646 h 836"/>
              <a:gd name="T32" fmla="*/ 2147483646 w 844"/>
              <a:gd name="T33" fmla="*/ 2147483646 h 836"/>
              <a:gd name="T34" fmla="*/ 2147483646 w 844"/>
              <a:gd name="T35" fmla="*/ 2147483646 h 836"/>
              <a:gd name="T36" fmla="*/ 2147483646 w 844"/>
              <a:gd name="T37" fmla="*/ 2147483646 h 836"/>
              <a:gd name="T38" fmla="*/ 2147483646 w 844"/>
              <a:gd name="T39" fmla="*/ 2147483646 h 836"/>
              <a:gd name="T40" fmla="*/ 2147483646 w 844"/>
              <a:gd name="T41" fmla="*/ 2147483646 h 836"/>
              <a:gd name="T42" fmla="*/ 2147483646 w 844"/>
              <a:gd name="T43" fmla="*/ 2147483646 h 836"/>
              <a:gd name="T44" fmla="*/ 2147483646 w 844"/>
              <a:gd name="T45" fmla="*/ 2147483646 h 836"/>
              <a:gd name="T46" fmla="*/ 2147483646 w 844"/>
              <a:gd name="T47" fmla="*/ 2147483646 h 836"/>
              <a:gd name="T48" fmla="*/ 2147483646 w 844"/>
              <a:gd name="T49" fmla="*/ 2147483646 h 836"/>
              <a:gd name="T50" fmla="*/ 2147483646 w 844"/>
              <a:gd name="T51" fmla="*/ 2147483646 h 836"/>
              <a:gd name="T52" fmla="*/ 2147483646 w 844"/>
              <a:gd name="T53" fmla="*/ 2147483646 h 836"/>
              <a:gd name="T54" fmla="*/ 2147483646 w 844"/>
              <a:gd name="T55" fmla="*/ 2147483646 h 836"/>
              <a:gd name="T56" fmla="*/ 2147483646 w 844"/>
              <a:gd name="T57" fmla="*/ 2147483646 h 836"/>
              <a:gd name="T58" fmla="*/ 2147483646 w 844"/>
              <a:gd name="T59" fmla="*/ 2147483646 h 836"/>
              <a:gd name="T60" fmla="*/ 2147483646 w 844"/>
              <a:gd name="T61" fmla="*/ 2147483646 h 836"/>
              <a:gd name="T62" fmla="*/ 2147483646 w 844"/>
              <a:gd name="T63" fmla="*/ 2147483646 h 836"/>
              <a:gd name="T64" fmla="*/ 2147483646 w 844"/>
              <a:gd name="T65" fmla="*/ 2147483646 h 836"/>
              <a:gd name="T66" fmla="*/ 2147483646 w 844"/>
              <a:gd name="T67" fmla="*/ 2147483646 h 836"/>
              <a:gd name="T68" fmla="*/ 2147483646 w 844"/>
              <a:gd name="T69" fmla="*/ 2147483646 h 836"/>
              <a:gd name="T70" fmla="*/ 2147483646 w 844"/>
              <a:gd name="T71" fmla="*/ 2147483646 h 836"/>
              <a:gd name="T72" fmla="*/ 2147483646 w 844"/>
              <a:gd name="T73" fmla="*/ 2147483646 h 836"/>
              <a:gd name="T74" fmla="*/ 2147483646 w 844"/>
              <a:gd name="T75" fmla="*/ 2147483646 h 836"/>
              <a:gd name="T76" fmla="*/ 2147483646 w 844"/>
              <a:gd name="T77" fmla="*/ 2147483646 h 836"/>
              <a:gd name="T78" fmla="*/ 2147483646 w 844"/>
              <a:gd name="T79" fmla="*/ 2147483646 h 836"/>
              <a:gd name="T80" fmla="*/ 2147483646 w 844"/>
              <a:gd name="T81" fmla="*/ 2147483646 h 836"/>
              <a:gd name="T82" fmla="*/ 2147483646 w 844"/>
              <a:gd name="T83" fmla="*/ 2147483646 h 836"/>
              <a:gd name="T84" fmla="*/ 2147483646 w 844"/>
              <a:gd name="T85" fmla="*/ 2147483646 h 836"/>
              <a:gd name="T86" fmla="*/ 2147483646 w 844"/>
              <a:gd name="T87" fmla="*/ 2147483646 h 836"/>
              <a:gd name="T88" fmla="*/ 2147483646 w 844"/>
              <a:gd name="T89" fmla="*/ 2147483646 h 836"/>
              <a:gd name="T90" fmla="*/ 2147483646 w 844"/>
              <a:gd name="T91" fmla="*/ 2147483646 h 836"/>
              <a:gd name="T92" fmla="*/ 2147483646 w 844"/>
              <a:gd name="T93" fmla="*/ 2147483646 h 836"/>
              <a:gd name="T94" fmla="*/ 2147483646 w 844"/>
              <a:gd name="T95" fmla="*/ 2147483646 h 8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844" h="836">
                <a:moveTo>
                  <a:pt x="791" y="791"/>
                </a:moveTo>
                <a:lnTo>
                  <a:pt x="791" y="791"/>
                </a:lnTo>
                <a:cubicBezTo>
                  <a:pt x="779" y="803"/>
                  <a:pt x="763" y="809"/>
                  <a:pt x="747" y="809"/>
                </a:cubicBezTo>
                <a:cubicBezTo>
                  <a:pt x="730" y="809"/>
                  <a:pt x="714" y="803"/>
                  <a:pt x="702" y="791"/>
                </a:cubicBezTo>
                <a:lnTo>
                  <a:pt x="458" y="546"/>
                </a:lnTo>
                <a:lnTo>
                  <a:pt x="547" y="456"/>
                </a:lnTo>
                <a:lnTo>
                  <a:pt x="791" y="701"/>
                </a:lnTo>
                <a:cubicBezTo>
                  <a:pt x="816" y="726"/>
                  <a:pt x="816" y="767"/>
                  <a:pt x="791" y="791"/>
                </a:cubicBezTo>
                <a:close/>
                <a:moveTo>
                  <a:pt x="239" y="729"/>
                </a:moveTo>
                <a:lnTo>
                  <a:pt x="186" y="677"/>
                </a:lnTo>
                <a:lnTo>
                  <a:pt x="697" y="166"/>
                </a:lnTo>
                <a:lnTo>
                  <a:pt x="750" y="219"/>
                </a:lnTo>
                <a:lnTo>
                  <a:pt x="239" y="729"/>
                </a:lnTo>
                <a:close/>
                <a:moveTo>
                  <a:pt x="168" y="800"/>
                </a:moveTo>
                <a:lnTo>
                  <a:pt x="168" y="800"/>
                </a:lnTo>
                <a:cubicBezTo>
                  <a:pt x="155" y="812"/>
                  <a:pt x="135" y="812"/>
                  <a:pt x="123" y="800"/>
                </a:cubicBezTo>
                <a:lnTo>
                  <a:pt x="46" y="723"/>
                </a:lnTo>
                <a:cubicBezTo>
                  <a:pt x="40" y="717"/>
                  <a:pt x="37" y="709"/>
                  <a:pt x="37" y="701"/>
                </a:cubicBezTo>
                <a:cubicBezTo>
                  <a:pt x="37" y="693"/>
                  <a:pt x="40" y="684"/>
                  <a:pt x="46" y="678"/>
                </a:cubicBezTo>
                <a:lnTo>
                  <a:pt x="99" y="625"/>
                </a:lnTo>
                <a:lnTo>
                  <a:pt x="221" y="747"/>
                </a:lnTo>
                <a:lnTo>
                  <a:pt x="168" y="800"/>
                </a:lnTo>
                <a:close/>
                <a:moveTo>
                  <a:pt x="628" y="96"/>
                </a:moveTo>
                <a:lnTo>
                  <a:pt x="680" y="149"/>
                </a:lnTo>
                <a:lnTo>
                  <a:pt x="169" y="659"/>
                </a:lnTo>
                <a:lnTo>
                  <a:pt x="117" y="607"/>
                </a:lnTo>
                <a:lnTo>
                  <a:pt x="628" y="96"/>
                </a:lnTo>
                <a:close/>
                <a:moveTo>
                  <a:pt x="223" y="310"/>
                </a:moveTo>
                <a:lnTo>
                  <a:pt x="223" y="310"/>
                </a:lnTo>
                <a:cubicBezTo>
                  <a:pt x="221" y="307"/>
                  <a:pt x="217" y="305"/>
                  <a:pt x="214" y="305"/>
                </a:cubicBezTo>
                <a:cubicBezTo>
                  <a:pt x="211" y="305"/>
                  <a:pt x="208" y="307"/>
                  <a:pt x="205" y="310"/>
                </a:cubicBezTo>
                <a:lnTo>
                  <a:pt x="178" y="336"/>
                </a:lnTo>
                <a:cubicBezTo>
                  <a:pt x="161" y="354"/>
                  <a:pt x="138" y="363"/>
                  <a:pt x="114" y="363"/>
                </a:cubicBezTo>
                <a:cubicBezTo>
                  <a:pt x="93" y="363"/>
                  <a:pt x="74" y="356"/>
                  <a:pt x="58" y="344"/>
                </a:cubicBezTo>
                <a:lnTo>
                  <a:pt x="246" y="155"/>
                </a:lnTo>
                <a:cubicBezTo>
                  <a:pt x="251" y="150"/>
                  <a:pt x="251" y="143"/>
                  <a:pt x="246" y="138"/>
                </a:cubicBezTo>
                <a:lnTo>
                  <a:pt x="148" y="39"/>
                </a:lnTo>
                <a:cubicBezTo>
                  <a:pt x="192" y="30"/>
                  <a:pt x="239" y="44"/>
                  <a:pt x="272" y="77"/>
                </a:cubicBezTo>
                <a:cubicBezTo>
                  <a:pt x="306" y="111"/>
                  <a:pt x="320" y="159"/>
                  <a:pt x="309" y="206"/>
                </a:cubicBezTo>
                <a:cubicBezTo>
                  <a:pt x="308" y="208"/>
                  <a:pt x="308" y="209"/>
                  <a:pt x="308" y="211"/>
                </a:cubicBezTo>
                <a:cubicBezTo>
                  <a:pt x="308" y="214"/>
                  <a:pt x="309" y="217"/>
                  <a:pt x="312" y="220"/>
                </a:cubicBezTo>
                <a:lnTo>
                  <a:pt x="390" y="299"/>
                </a:lnTo>
                <a:lnTo>
                  <a:pt x="301" y="388"/>
                </a:lnTo>
                <a:lnTo>
                  <a:pt x="223" y="310"/>
                </a:lnTo>
                <a:close/>
                <a:moveTo>
                  <a:pt x="39" y="148"/>
                </a:moveTo>
                <a:lnTo>
                  <a:pt x="128" y="238"/>
                </a:lnTo>
                <a:lnTo>
                  <a:pt x="85" y="281"/>
                </a:lnTo>
                <a:cubicBezTo>
                  <a:pt x="82" y="279"/>
                  <a:pt x="80" y="276"/>
                  <a:pt x="77" y="273"/>
                </a:cubicBezTo>
                <a:cubicBezTo>
                  <a:pt x="44" y="240"/>
                  <a:pt x="30" y="193"/>
                  <a:pt x="39" y="148"/>
                </a:cubicBezTo>
                <a:close/>
                <a:moveTo>
                  <a:pt x="761" y="194"/>
                </a:moveTo>
                <a:lnTo>
                  <a:pt x="652" y="85"/>
                </a:lnTo>
                <a:lnTo>
                  <a:pt x="804" y="42"/>
                </a:lnTo>
                <a:lnTo>
                  <a:pt x="761" y="194"/>
                </a:lnTo>
                <a:close/>
                <a:moveTo>
                  <a:pt x="809" y="684"/>
                </a:moveTo>
                <a:lnTo>
                  <a:pt x="565" y="439"/>
                </a:lnTo>
                <a:lnTo>
                  <a:pt x="776" y="227"/>
                </a:lnTo>
                <a:cubicBezTo>
                  <a:pt x="777" y="226"/>
                  <a:pt x="779" y="224"/>
                  <a:pt x="779" y="221"/>
                </a:cubicBezTo>
                <a:lnTo>
                  <a:pt x="834" y="27"/>
                </a:lnTo>
                <a:cubicBezTo>
                  <a:pt x="835" y="23"/>
                  <a:pt x="834" y="18"/>
                  <a:pt x="831" y="15"/>
                </a:cubicBezTo>
                <a:cubicBezTo>
                  <a:pt x="828" y="12"/>
                  <a:pt x="823" y="11"/>
                  <a:pt x="819" y="12"/>
                </a:cubicBezTo>
                <a:lnTo>
                  <a:pt x="624" y="67"/>
                </a:lnTo>
                <a:cubicBezTo>
                  <a:pt x="622" y="68"/>
                  <a:pt x="620" y="69"/>
                  <a:pt x="619" y="70"/>
                </a:cubicBezTo>
                <a:lnTo>
                  <a:pt x="408" y="281"/>
                </a:lnTo>
                <a:lnTo>
                  <a:pt x="334" y="207"/>
                </a:lnTo>
                <a:cubicBezTo>
                  <a:pt x="345" y="153"/>
                  <a:pt x="329" y="98"/>
                  <a:pt x="290" y="59"/>
                </a:cubicBezTo>
                <a:cubicBezTo>
                  <a:pt x="246" y="15"/>
                  <a:pt x="179" y="0"/>
                  <a:pt x="120" y="21"/>
                </a:cubicBezTo>
                <a:cubicBezTo>
                  <a:pt x="115" y="22"/>
                  <a:pt x="112" y="26"/>
                  <a:pt x="112" y="30"/>
                </a:cubicBezTo>
                <a:cubicBezTo>
                  <a:pt x="111" y="34"/>
                  <a:pt x="112" y="39"/>
                  <a:pt x="115" y="42"/>
                </a:cubicBezTo>
                <a:lnTo>
                  <a:pt x="219" y="146"/>
                </a:lnTo>
                <a:lnTo>
                  <a:pt x="146" y="220"/>
                </a:lnTo>
                <a:lnTo>
                  <a:pt x="41" y="115"/>
                </a:lnTo>
                <a:cubicBezTo>
                  <a:pt x="39" y="112"/>
                  <a:pt x="34" y="111"/>
                  <a:pt x="30" y="112"/>
                </a:cubicBezTo>
                <a:cubicBezTo>
                  <a:pt x="26" y="113"/>
                  <a:pt x="23" y="116"/>
                  <a:pt x="21" y="120"/>
                </a:cubicBezTo>
                <a:cubicBezTo>
                  <a:pt x="0" y="179"/>
                  <a:pt x="15" y="247"/>
                  <a:pt x="59" y="291"/>
                </a:cubicBezTo>
                <a:cubicBezTo>
                  <a:pt x="62" y="294"/>
                  <a:pt x="65" y="296"/>
                  <a:pt x="68" y="298"/>
                </a:cubicBezTo>
                <a:lnTo>
                  <a:pt x="31" y="336"/>
                </a:lnTo>
                <a:cubicBezTo>
                  <a:pt x="26" y="341"/>
                  <a:pt x="26" y="349"/>
                  <a:pt x="31" y="354"/>
                </a:cubicBezTo>
                <a:cubicBezTo>
                  <a:pt x="52" y="376"/>
                  <a:pt x="82" y="388"/>
                  <a:pt x="114" y="388"/>
                </a:cubicBezTo>
                <a:cubicBezTo>
                  <a:pt x="145" y="388"/>
                  <a:pt x="174" y="376"/>
                  <a:pt x="196" y="354"/>
                </a:cubicBezTo>
                <a:lnTo>
                  <a:pt x="214" y="336"/>
                </a:lnTo>
                <a:lnTo>
                  <a:pt x="283" y="405"/>
                </a:lnTo>
                <a:lnTo>
                  <a:pt x="99" y="590"/>
                </a:lnTo>
                <a:lnTo>
                  <a:pt x="92" y="583"/>
                </a:lnTo>
                <a:cubicBezTo>
                  <a:pt x="87" y="577"/>
                  <a:pt x="79" y="577"/>
                  <a:pt x="74" y="583"/>
                </a:cubicBezTo>
                <a:cubicBezTo>
                  <a:pt x="69" y="587"/>
                  <a:pt x="69" y="595"/>
                  <a:pt x="74" y="600"/>
                </a:cubicBezTo>
                <a:lnTo>
                  <a:pt x="81" y="607"/>
                </a:lnTo>
                <a:lnTo>
                  <a:pt x="28" y="661"/>
                </a:lnTo>
                <a:cubicBezTo>
                  <a:pt x="17" y="671"/>
                  <a:pt x="11" y="686"/>
                  <a:pt x="11" y="701"/>
                </a:cubicBezTo>
                <a:cubicBezTo>
                  <a:pt x="11" y="716"/>
                  <a:pt x="17" y="730"/>
                  <a:pt x="28" y="741"/>
                </a:cubicBezTo>
                <a:lnTo>
                  <a:pt x="105" y="818"/>
                </a:lnTo>
                <a:cubicBezTo>
                  <a:pt x="117" y="829"/>
                  <a:pt x="131" y="835"/>
                  <a:pt x="145" y="835"/>
                </a:cubicBezTo>
                <a:cubicBezTo>
                  <a:pt x="160" y="835"/>
                  <a:pt x="174" y="829"/>
                  <a:pt x="185" y="818"/>
                </a:cubicBezTo>
                <a:lnTo>
                  <a:pt x="239" y="765"/>
                </a:lnTo>
                <a:lnTo>
                  <a:pt x="245" y="771"/>
                </a:lnTo>
                <a:cubicBezTo>
                  <a:pt x="248" y="774"/>
                  <a:pt x="251" y="775"/>
                  <a:pt x="254" y="775"/>
                </a:cubicBezTo>
                <a:cubicBezTo>
                  <a:pt x="258" y="775"/>
                  <a:pt x="261" y="774"/>
                  <a:pt x="263" y="771"/>
                </a:cubicBezTo>
                <a:cubicBezTo>
                  <a:pt x="267" y="766"/>
                  <a:pt x="267" y="758"/>
                  <a:pt x="263" y="754"/>
                </a:cubicBezTo>
                <a:lnTo>
                  <a:pt x="256" y="747"/>
                </a:lnTo>
                <a:lnTo>
                  <a:pt x="440" y="563"/>
                </a:lnTo>
                <a:lnTo>
                  <a:pt x="685" y="809"/>
                </a:lnTo>
                <a:cubicBezTo>
                  <a:pt x="701" y="825"/>
                  <a:pt x="723" y="835"/>
                  <a:pt x="747" y="835"/>
                </a:cubicBezTo>
                <a:cubicBezTo>
                  <a:pt x="770" y="835"/>
                  <a:pt x="792" y="825"/>
                  <a:pt x="809" y="809"/>
                </a:cubicBezTo>
                <a:cubicBezTo>
                  <a:pt x="843" y="774"/>
                  <a:pt x="843" y="718"/>
                  <a:pt x="809" y="68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20"/>
          <p:cNvSpPr>
            <a:spLocks noChangeArrowheads="1"/>
          </p:cNvSpPr>
          <p:nvPr/>
        </p:nvSpPr>
        <p:spPr bwMode="gray">
          <a:xfrm>
            <a:off x="1874647" y="6184729"/>
            <a:ext cx="324000" cy="3084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4329" y="2023479"/>
            <a:ext cx="3474720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>
              <a:defRPr/>
            </a:pPr>
            <a:r>
              <a:rPr lang="en-US" sz="1600" dirty="0"/>
              <a:t>Global research hub for Medicine and Health Sciences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8" name="Picture 3" descr="C:\Users\3apkreno\Downloads\streamline-icon-hospital-sign-circle@140x14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026" y="2206999"/>
            <a:ext cx="466115" cy="501100"/>
          </a:xfrm>
          <a:prstGeom prst="rect">
            <a:avLst/>
          </a:prstGeom>
          <a:noFill/>
          <a:ln w="3175">
            <a:noFill/>
          </a:ln>
        </p:spPr>
      </p:pic>
      <p:sp>
        <p:nvSpPr>
          <p:cNvPr id="29" name="Oval 20"/>
          <p:cNvSpPr>
            <a:spLocks noChangeArrowheads="1"/>
          </p:cNvSpPr>
          <p:nvPr/>
        </p:nvSpPr>
        <p:spPr bwMode="gray">
          <a:xfrm>
            <a:off x="7486928" y="2317716"/>
            <a:ext cx="324000" cy="324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30" name="Picture 7" descr="C:\Users\3apkreno\Downloads\streamline-icon-building-nature@140x14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447" y="3533670"/>
            <a:ext cx="427272" cy="459342"/>
          </a:xfrm>
          <a:prstGeom prst="rect">
            <a:avLst/>
          </a:prstGeom>
          <a:noFill/>
          <a:ln w="3175"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7714329" y="3224720"/>
            <a:ext cx="3474720" cy="1029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/>
            <a:r>
              <a:rPr lang="en-US" sz="1600" dirty="0"/>
              <a:t>Renovating dorms and amenities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36630" y="4594289"/>
            <a:ext cx="3474720" cy="10058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>
              <a:defRPr/>
            </a:pPr>
            <a:r>
              <a:rPr lang="en-US" sz="1600" dirty="0"/>
              <a:t>World class Universities</a:t>
            </a:r>
          </a:p>
          <a:p>
            <a:pPr algn="ctr" fontAlgn="ctr">
              <a:defRPr/>
            </a:pPr>
            <a:r>
              <a:rPr lang="en-US" sz="1600" dirty="0"/>
              <a:t> Partnerships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6F5E1BB0-72A6-1745-81D7-9C86445FC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509" y="4798592"/>
            <a:ext cx="504000" cy="504000"/>
          </a:xfrm>
          <a:custGeom>
            <a:avLst/>
            <a:gdLst>
              <a:gd name="connsiteX0" fmla="*/ 710158 w 1646671"/>
              <a:gd name="connsiteY0" fmla="*/ 1300672 h 1407638"/>
              <a:gd name="connsiteX1" fmla="*/ 702696 w 1646671"/>
              <a:gd name="connsiteY1" fmla="*/ 1305647 h 1407638"/>
              <a:gd name="connsiteX2" fmla="*/ 702696 w 1646671"/>
              <a:gd name="connsiteY2" fmla="*/ 1335498 h 1407638"/>
              <a:gd name="connsiteX3" fmla="*/ 707671 w 1646671"/>
              <a:gd name="connsiteY3" fmla="*/ 1342961 h 1407638"/>
              <a:gd name="connsiteX4" fmla="*/ 736276 w 1646671"/>
              <a:gd name="connsiteY4" fmla="*/ 1349180 h 1407638"/>
              <a:gd name="connsiteX5" fmla="*/ 748713 w 1646671"/>
              <a:gd name="connsiteY5" fmla="*/ 1340473 h 1407638"/>
              <a:gd name="connsiteX6" fmla="*/ 713889 w 1646671"/>
              <a:gd name="connsiteY6" fmla="*/ 1305647 h 1407638"/>
              <a:gd name="connsiteX7" fmla="*/ 641754 w 1646671"/>
              <a:gd name="connsiteY7" fmla="*/ 1233507 h 1407638"/>
              <a:gd name="connsiteX8" fmla="*/ 625586 w 1646671"/>
              <a:gd name="connsiteY8" fmla="*/ 1247188 h 1407638"/>
              <a:gd name="connsiteX9" fmla="*/ 619367 w 1646671"/>
              <a:gd name="connsiteY9" fmla="*/ 1258383 h 1407638"/>
              <a:gd name="connsiteX10" fmla="*/ 625586 w 1646671"/>
              <a:gd name="connsiteY10" fmla="*/ 1277040 h 1407638"/>
              <a:gd name="connsiteX11" fmla="*/ 628073 w 1646671"/>
              <a:gd name="connsiteY11" fmla="*/ 1282015 h 1407638"/>
              <a:gd name="connsiteX12" fmla="*/ 644241 w 1646671"/>
              <a:gd name="connsiteY12" fmla="*/ 1291965 h 1407638"/>
              <a:gd name="connsiteX13" fmla="*/ 657922 w 1646671"/>
              <a:gd name="connsiteY13" fmla="*/ 1289478 h 1407638"/>
              <a:gd name="connsiteX14" fmla="*/ 679065 w 1646671"/>
              <a:gd name="connsiteY14" fmla="*/ 1273308 h 1407638"/>
              <a:gd name="connsiteX15" fmla="*/ 680309 w 1646671"/>
              <a:gd name="connsiteY15" fmla="*/ 1272064 h 1407638"/>
              <a:gd name="connsiteX16" fmla="*/ 574594 w 1646671"/>
              <a:gd name="connsiteY16" fmla="*/ 1165098 h 1407638"/>
              <a:gd name="connsiteX17" fmla="*/ 553451 w 1646671"/>
              <a:gd name="connsiteY17" fmla="*/ 1181267 h 1407638"/>
              <a:gd name="connsiteX18" fmla="*/ 544745 w 1646671"/>
              <a:gd name="connsiteY18" fmla="*/ 1196193 h 1407638"/>
              <a:gd name="connsiteX19" fmla="*/ 549720 w 1646671"/>
              <a:gd name="connsiteY19" fmla="*/ 1214850 h 1407638"/>
              <a:gd name="connsiteX20" fmla="*/ 553451 w 1646671"/>
              <a:gd name="connsiteY20" fmla="*/ 1218581 h 1407638"/>
              <a:gd name="connsiteX21" fmla="*/ 569619 w 1646671"/>
              <a:gd name="connsiteY21" fmla="*/ 1228531 h 1407638"/>
              <a:gd name="connsiteX22" fmla="*/ 587031 w 1646671"/>
              <a:gd name="connsiteY22" fmla="*/ 1224800 h 1407638"/>
              <a:gd name="connsiteX23" fmla="*/ 613149 w 1646671"/>
              <a:gd name="connsiteY23" fmla="*/ 1203655 h 1407638"/>
              <a:gd name="connsiteX24" fmla="*/ 522358 w 1646671"/>
              <a:gd name="connsiteY24" fmla="*/ 1114102 h 1407638"/>
              <a:gd name="connsiteX25" fmla="*/ 523602 w 1646671"/>
              <a:gd name="connsiteY25" fmla="*/ 1115346 h 1407638"/>
              <a:gd name="connsiteX26" fmla="*/ 526089 w 1646671"/>
              <a:gd name="connsiteY26" fmla="*/ 1119077 h 1407638"/>
              <a:gd name="connsiteX27" fmla="*/ 537283 w 1646671"/>
              <a:gd name="connsiteY27" fmla="*/ 1127784 h 1407638"/>
              <a:gd name="connsiteX28" fmla="*/ 621233 w 1646671"/>
              <a:gd name="connsiteY28" fmla="*/ 675197 h 1407638"/>
              <a:gd name="connsiteX29" fmla="*/ 584543 w 1646671"/>
              <a:gd name="connsiteY29" fmla="*/ 686235 h 1407638"/>
              <a:gd name="connsiteX30" fmla="*/ 420374 w 1646671"/>
              <a:gd name="connsiteY30" fmla="*/ 850417 h 1407638"/>
              <a:gd name="connsiteX31" fmla="*/ 430323 w 1646671"/>
              <a:gd name="connsiteY31" fmla="*/ 963602 h 1407638"/>
              <a:gd name="connsiteX32" fmla="*/ 665385 w 1646671"/>
              <a:gd name="connsiteY32" fmla="*/ 1198680 h 1407638"/>
              <a:gd name="connsiteX33" fmla="*/ 743738 w 1646671"/>
              <a:gd name="connsiteY33" fmla="*/ 1277040 h 1407638"/>
              <a:gd name="connsiteX34" fmla="*/ 824579 w 1646671"/>
              <a:gd name="connsiteY34" fmla="*/ 1357886 h 1407638"/>
              <a:gd name="connsiteX35" fmla="*/ 866865 w 1646671"/>
              <a:gd name="connsiteY35" fmla="*/ 1357886 h 1407638"/>
              <a:gd name="connsiteX36" fmla="*/ 874328 w 1646671"/>
              <a:gd name="connsiteY36" fmla="*/ 1350424 h 1407638"/>
              <a:gd name="connsiteX37" fmla="*/ 883034 w 1646671"/>
              <a:gd name="connsiteY37" fmla="*/ 1330523 h 1407638"/>
              <a:gd name="connsiteX38" fmla="*/ 874328 w 1646671"/>
              <a:gd name="connsiteY38" fmla="*/ 1309378 h 1407638"/>
              <a:gd name="connsiteX39" fmla="*/ 713889 w 1646671"/>
              <a:gd name="connsiteY39" fmla="*/ 1150172 h 1407638"/>
              <a:gd name="connsiteX40" fmla="*/ 713889 w 1646671"/>
              <a:gd name="connsiteY40" fmla="*/ 1120321 h 1407638"/>
              <a:gd name="connsiteX41" fmla="*/ 743738 w 1646671"/>
              <a:gd name="connsiteY41" fmla="*/ 1120321 h 1407638"/>
              <a:gd name="connsiteX42" fmla="*/ 940244 w 1646671"/>
              <a:gd name="connsiteY42" fmla="*/ 1318085 h 1407638"/>
              <a:gd name="connsiteX43" fmla="*/ 985018 w 1646671"/>
              <a:gd name="connsiteY43" fmla="*/ 1318085 h 1407638"/>
              <a:gd name="connsiteX44" fmla="*/ 988749 w 1646671"/>
              <a:gd name="connsiteY44" fmla="*/ 1313110 h 1407638"/>
              <a:gd name="connsiteX45" fmla="*/ 998699 w 1646671"/>
              <a:gd name="connsiteY45" fmla="*/ 1290721 h 1407638"/>
              <a:gd name="connsiteX46" fmla="*/ 988749 w 1646671"/>
              <a:gd name="connsiteY46" fmla="*/ 1268333 h 1407638"/>
              <a:gd name="connsiteX47" fmla="*/ 792243 w 1646671"/>
              <a:gd name="connsiteY47" fmla="*/ 1071813 h 1407638"/>
              <a:gd name="connsiteX48" fmla="*/ 792243 w 1646671"/>
              <a:gd name="connsiteY48" fmla="*/ 1041962 h 1407638"/>
              <a:gd name="connsiteX49" fmla="*/ 820848 w 1646671"/>
              <a:gd name="connsiteY49" fmla="*/ 1041962 h 1407638"/>
              <a:gd name="connsiteX50" fmla="*/ 1017354 w 1646671"/>
              <a:gd name="connsiteY50" fmla="*/ 1239726 h 1407638"/>
              <a:gd name="connsiteX51" fmla="*/ 1050935 w 1646671"/>
              <a:gd name="connsiteY51" fmla="*/ 1272064 h 1407638"/>
              <a:gd name="connsiteX52" fmla="*/ 1101927 w 1646671"/>
              <a:gd name="connsiteY52" fmla="*/ 1278283 h 1407638"/>
              <a:gd name="connsiteX53" fmla="*/ 1105658 w 1646671"/>
              <a:gd name="connsiteY53" fmla="*/ 1274552 h 1407638"/>
              <a:gd name="connsiteX54" fmla="*/ 1099439 w 1646671"/>
              <a:gd name="connsiteY54" fmla="*/ 1223556 h 1407638"/>
              <a:gd name="connsiteX55" fmla="*/ 870597 w 1646671"/>
              <a:gd name="connsiteY55" fmla="*/ 993454 h 1407638"/>
              <a:gd name="connsiteX56" fmla="*/ 870597 w 1646671"/>
              <a:gd name="connsiteY56" fmla="*/ 964846 h 1407638"/>
              <a:gd name="connsiteX57" fmla="*/ 899202 w 1646671"/>
              <a:gd name="connsiteY57" fmla="*/ 964846 h 1407638"/>
              <a:gd name="connsiteX58" fmla="*/ 1095708 w 1646671"/>
              <a:gd name="connsiteY58" fmla="*/ 1162610 h 1407638"/>
              <a:gd name="connsiteX59" fmla="*/ 1141725 w 1646671"/>
              <a:gd name="connsiteY59" fmla="*/ 1162610 h 1407638"/>
              <a:gd name="connsiteX60" fmla="*/ 1144213 w 1646671"/>
              <a:gd name="connsiteY60" fmla="*/ 1157635 h 1407638"/>
              <a:gd name="connsiteX61" fmla="*/ 1154162 w 1646671"/>
              <a:gd name="connsiteY61" fmla="*/ 1135247 h 1407638"/>
              <a:gd name="connsiteX62" fmla="*/ 1144213 w 1646671"/>
              <a:gd name="connsiteY62" fmla="*/ 1112858 h 1407638"/>
              <a:gd name="connsiteX63" fmla="*/ 1026060 w 1646671"/>
              <a:gd name="connsiteY63" fmla="*/ 993454 h 1407638"/>
              <a:gd name="connsiteX64" fmla="*/ 1004917 w 1646671"/>
              <a:gd name="connsiteY64" fmla="*/ 971065 h 1407638"/>
              <a:gd name="connsiteX65" fmla="*/ 989993 w 1646671"/>
              <a:gd name="connsiteY65" fmla="*/ 958627 h 1407638"/>
              <a:gd name="connsiteX66" fmla="*/ 803436 w 1646671"/>
              <a:gd name="connsiteY66" fmla="*/ 880268 h 1407638"/>
              <a:gd name="connsiteX67" fmla="*/ 798461 w 1646671"/>
              <a:gd name="connsiteY67" fmla="*/ 879024 h 1407638"/>
              <a:gd name="connsiteX68" fmla="*/ 743738 w 1646671"/>
              <a:gd name="connsiteY68" fmla="*/ 943702 h 1407638"/>
              <a:gd name="connsiteX69" fmla="*/ 661653 w 1646671"/>
              <a:gd name="connsiteY69" fmla="*/ 1002160 h 1407638"/>
              <a:gd name="connsiteX70" fmla="*/ 631804 w 1646671"/>
              <a:gd name="connsiteY70" fmla="*/ 997185 h 1407638"/>
              <a:gd name="connsiteX71" fmla="*/ 590762 w 1646671"/>
              <a:gd name="connsiteY71" fmla="*/ 968578 h 1407638"/>
              <a:gd name="connsiteX72" fmla="*/ 577081 w 1646671"/>
              <a:gd name="connsiteY72" fmla="*/ 885243 h 1407638"/>
              <a:gd name="connsiteX73" fmla="*/ 698965 w 1646671"/>
              <a:gd name="connsiteY73" fmla="*/ 717330 h 1407638"/>
              <a:gd name="connsiteX74" fmla="*/ 657922 w 1646671"/>
              <a:gd name="connsiteY74" fmla="*/ 687479 h 1407638"/>
              <a:gd name="connsiteX75" fmla="*/ 621233 w 1646671"/>
              <a:gd name="connsiteY75" fmla="*/ 675197 h 1407638"/>
              <a:gd name="connsiteX76" fmla="*/ 906399 w 1646671"/>
              <a:gd name="connsiteY76" fmla="*/ 644695 h 1407638"/>
              <a:gd name="connsiteX77" fmla="*/ 795974 w 1646671"/>
              <a:gd name="connsiteY77" fmla="*/ 686235 h 1407638"/>
              <a:gd name="connsiteX78" fmla="*/ 792243 w 1646671"/>
              <a:gd name="connsiteY78" fmla="*/ 687479 h 1407638"/>
              <a:gd name="connsiteX79" fmla="*/ 790999 w 1646671"/>
              <a:gd name="connsiteY79" fmla="*/ 688723 h 1407638"/>
              <a:gd name="connsiteX80" fmla="*/ 615636 w 1646671"/>
              <a:gd name="connsiteY80" fmla="*/ 898925 h 1407638"/>
              <a:gd name="connsiteX81" fmla="*/ 623098 w 1646671"/>
              <a:gd name="connsiteY81" fmla="*/ 942458 h 1407638"/>
              <a:gd name="connsiteX82" fmla="*/ 645485 w 1646671"/>
              <a:gd name="connsiteY82" fmla="*/ 958627 h 1407638"/>
              <a:gd name="connsiteX83" fmla="*/ 706427 w 1646671"/>
              <a:gd name="connsiteY83" fmla="*/ 930020 h 1407638"/>
              <a:gd name="connsiteX84" fmla="*/ 774831 w 1646671"/>
              <a:gd name="connsiteY84" fmla="*/ 846685 h 1407638"/>
              <a:gd name="connsiteX85" fmla="*/ 833285 w 1646671"/>
              <a:gd name="connsiteY85" fmla="*/ 852904 h 1407638"/>
              <a:gd name="connsiteX86" fmla="*/ 1104414 w 1646671"/>
              <a:gd name="connsiteY86" fmla="*/ 876537 h 1407638"/>
              <a:gd name="connsiteX87" fmla="*/ 1133019 w 1646671"/>
              <a:gd name="connsiteY87" fmla="*/ 880268 h 1407638"/>
              <a:gd name="connsiteX88" fmla="*/ 1129288 w 1646671"/>
              <a:gd name="connsiteY88" fmla="*/ 907632 h 1407638"/>
              <a:gd name="connsiteX89" fmla="*/ 1040985 w 1646671"/>
              <a:gd name="connsiteY89" fmla="*/ 951164 h 1407638"/>
              <a:gd name="connsiteX90" fmla="*/ 1134263 w 1646671"/>
              <a:gd name="connsiteY90" fmla="*/ 1044449 h 1407638"/>
              <a:gd name="connsiteX91" fmla="*/ 1227541 w 1646671"/>
              <a:gd name="connsiteY91" fmla="*/ 974797 h 1407638"/>
              <a:gd name="connsiteX92" fmla="*/ 1239978 w 1646671"/>
              <a:gd name="connsiteY92" fmla="*/ 949921 h 1407638"/>
              <a:gd name="connsiteX93" fmla="*/ 1233760 w 1646671"/>
              <a:gd name="connsiteY93" fmla="*/ 925045 h 1407638"/>
              <a:gd name="connsiteX94" fmla="*/ 1090733 w 1646671"/>
              <a:gd name="connsiteY94" fmla="*/ 739719 h 1407638"/>
              <a:gd name="connsiteX95" fmla="*/ 1085758 w 1646671"/>
              <a:gd name="connsiteY95" fmla="*/ 733500 h 1407638"/>
              <a:gd name="connsiteX96" fmla="*/ 1079540 w 1646671"/>
              <a:gd name="connsiteY96" fmla="*/ 724793 h 1407638"/>
              <a:gd name="connsiteX97" fmla="*/ 1078296 w 1646671"/>
              <a:gd name="connsiteY97" fmla="*/ 723549 h 1407638"/>
              <a:gd name="connsiteX98" fmla="*/ 906399 w 1646671"/>
              <a:gd name="connsiteY98" fmla="*/ 644695 h 1407638"/>
              <a:gd name="connsiteX99" fmla="*/ 1210542 w 1646671"/>
              <a:gd name="connsiteY99" fmla="*/ 641454 h 1407638"/>
              <a:gd name="connsiteX100" fmla="*/ 1217358 w 1646671"/>
              <a:gd name="connsiteY100" fmla="*/ 644972 h 1407638"/>
              <a:gd name="connsiteX101" fmla="*/ 1258555 w 1646671"/>
              <a:gd name="connsiteY101" fmla="*/ 697420 h 1407638"/>
              <a:gd name="connsiteX102" fmla="*/ 1257344 w 1646671"/>
              <a:gd name="connsiteY102" fmla="*/ 712771 h 1407638"/>
              <a:gd name="connsiteX103" fmla="*/ 1240380 w 1646671"/>
              <a:gd name="connsiteY103" fmla="*/ 728121 h 1407638"/>
              <a:gd name="connsiteX104" fmla="*/ 1225840 w 1646671"/>
              <a:gd name="connsiteY104" fmla="*/ 725563 h 1407638"/>
              <a:gd name="connsiteX105" fmla="*/ 1184642 w 1646671"/>
              <a:gd name="connsiteY105" fmla="*/ 673115 h 1407638"/>
              <a:gd name="connsiteX106" fmla="*/ 1185854 w 1646671"/>
              <a:gd name="connsiteY106" fmla="*/ 659044 h 1407638"/>
              <a:gd name="connsiteX107" fmla="*/ 1202817 w 1646671"/>
              <a:gd name="connsiteY107" fmla="*/ 643693 h 1407638"/>
              <a:gd name="connsiteX108" fmla="*/ 1210542 w 1646671"/>
              <a:gd name="connsiteY108" fmla="*/ 641454 h 1407638"/>
              <a:gd name="connsiteX109" fmla="*/ 520428 w 1646671"/>
              <a:gd name="connsiteY109" fmla="*/ 580687 h 1407638"/>
              <a:gd name="connsiteX110" fmla="*/ 527961 w 1646671"/>
              <a:gd name="connsiteY110" fmla="*/ 584454 h 1407638"/>
              <a:gd name="connsiteX111" fmla="*/ 544283 w 1646671"/>
              <a:gd name="connsiteY111" fmla="*/ 600776 h 1407638"/>
              <a:gd name="connsiteX112" fmla="*/ 544283 w 1646671"/>
              <a:gd name="connsiteY112" fmla="*/ 614587 h 1407638"/>
              <a:gd name="connsiteX113" fmla="*/ 496572 w 1646671"/>
              <a:gd name="connsiteY113" fmla="*/ 661043 h 1407638"/>
              <a:gd name="connsiteX114" fmla="*/ 482760 w 1646671"/>
              <a:gd name="connsiteY114" fmla="*/ 661043 h 1407638"/>
              <a:gd name="connsiteX115" fmla="*/ 466438 w 1646671"/>
              <a:gd name="connsiteY115" fmla="*/ 645977 h 1407638"/>
              <a:gd name="connsiteX116" fmla="*/ 466438 w 1646671"/>
              <a:gd name="connsiteY116" fmla="*/ 630910 h 1407638"/>
              <a:gd name="connsiteX117" fmla="*/ 512894 w 1646671"/>
              <a:gd name="connsiteY117" fmla="*/ 584454 h 1407638"/>
              <a:gd name="connsiteX118" fmla="*/ 520428 w 1646671"/>
              <a:gd name="connsiteY118" fmla="*/ 580687 h 1407638"/>
              <a:gd name="connsiteX119" fmla="*/ 1147582 w 1646671"/>
              <a:gd name="connsiteY119" fmla="*/ 576510 h 1407638"/>
              <a:gd name="connsiteX120" fmla="*/ 1157868 w 1646671"/>
              <a:gd name="connsiteY120" fmla="*/ 577796 h 1407638"/>
              <a:gd name="connsiteX121" fmla="*/ 1175866 w 1646671"/>
              <a:gd name="connsiteY121" fmla="*/ 600937 h 1407638"/>
              <a:gd name="connsiteX122" fmla="*/ 1175866 w 1646671"/>
              <a:gd name="connsiteY122" fmla="*/ 609937 h 1407638"/>
              <a:gd name="connsiteX123" fmla="*/ 1152725 w 1646671"/>
              <a:gd name="connsiteY123" fmla="*/ 630507 h 1407638"/>
              <a:gd name="connsiteX124" fmla="*/ 1142440 w 1646671"/>
              <a:gd name="connsiteY124" fmla="*/ 629221 h 1407638"/>
              <a:gd name="connsiteX125" fmla="*/ 1123155 w 1646671"/>
              <a:gd name="connsiteY125" fmla="*/ 606080 h 1407638"/>
              <a:gd name="connsiteX126" fmla="*/ 1124441 w 1646671"/>
              <a:gd name="connsiteY126" fmla="*/ 595795 h 1407638"/>
              <a:gd name="connsiteX127" fmla="*/ 516139 w 1646671"/>
              <a:gd name="connsiteY127" fmla="*/ 509616 h 1407638"/>
              <a:gd name="connsiteX128" fmla="*/ 207699 w 1646671"/>
              <a:gd name="connsiteY128" fmla="*/ 818078 h 1407638"/>
              <a:gd name="connsiteX129" fmla="*/ 267398 w 1646671"/>
              <a:gd name="connsiteY129" fmla="*/ 876537 h 1407638"/>
              <a:gd name="connsiteX130" fmla="*/ 335802 w 1646671"/>
              <a:gd name="connsiteY130" fmla="*/ 876537 h 1407638"/>
              <a:gd name="connsiteX131" fmla="*/ 389281 w 1646671"/>
              <a:gd name="connsiteY131" fmla="*/ 824297 h 1407638"/>
              <a:gd name="connsiteX132" fmla="*/ 400474 w 1646671"/>
              <a:gd name="connsiteY132" fmla="*/ 809371 h 1407638"/>
              <a:gd name="connsiteX133" fmla="*/ 545988 w 1646671"/>
              <a:gd name="connsiteY133" fmla="*/ 665091 h 1407638"/>
              <a:gd name="connsiteX134" fmla="*/ 559669 w 1646671"/>
              <a:gd name="connsiteY134" fmla="*/ 653897 h 1407638"/>
              <a:gd name="connsiteX135" fmla="*/ 601955 w 1646671"/>
              <a:gd name="connsiteY135" fmla="*/ 610363 h 1407638"/>
              <a:gd name="connsiteX136" fmla="*/ 601955 w 1646671"/>
              <a:gd name="connsiteY136" fmla="*/ 595438 h 1407638"/>
              <a:gd name="connsiteX137" fmla="*/ 1155406 w 1646671"/>
              <a:gd name="connsiteY137" fmla="*/ 505884 h 1407638"/>
              <a:gd name="connsiteX138" fmla="*/ 1062128 w 1646671"/>
              <a:gd name="connsiteY138" fmla="*/ 583000 h 1407638"/>
              <a:gd name="connsiteX139" fmla="*/ 1057153 w 1646671"/>
              <a:gd name="connsiteY139" fmla="*/ 590463 h 1407638"/>
              <a:gd name="connsiteX140" fmla="*/ 1060884 w 1646671"/>
              <a:gd name="connsiteY140" fmla="*/ 597925 h 1407638"/>
              <a:gd name="connsiteX141" fmla="*/ 1299676 w 1646671"/>
              <a:gd name="connsiteY141" fmla="*/ 887731 h 1407638"/>
              <a:gd name="connsiteX142" fmla="*/ 1333257 w 1646671"/>
              <a:gd name="connsiteY142" fmla="*/ 906388 h 1407638"/>
              <a:gd name="connsiteX143" fmla="*/ 1368080 w 1646671"/>
              <a:gd name="connsiteY143" fmla="*/ 895194 h 1407638"/>
              <a:gd name="connsiteX144" fmla="*/ 1432753 w 1646671"/>
              <a:gd name="connsiteY144" fmla="*/ 841710 h 1407638"/>
              <a:gd name="connsiteX145" fmla="*/ 1605629 w 1646671"/>
              <a:gd name="connsiteY145" fmla="*/ 45679 h 1407638"/>
              <a:gd name="connsiteX146" fmla="*/ 1169087 w 1646671"/>
              <a:gd name="connsiteY146" fmla="*/ 438719 h 1407638"/>
              <a:gd name="connsiteX147" fmla="*/ 1166599 w 1646671"/>
              <a:gd name="connsiteY147" fmla="*/ 454889 h 1407638"/>
              <a:gd name="connsiteX148" fmla="*/ 1325794 w 1646671"/>
              <a:gd name="connsiteY148" fmla="*/ 647678 h 1407638"/>
              <a:gd name="connsiteX149" fmla="*/ 1484989 w 1646671"/>
              <a:gd name="connsiteY149" fmla="*/ 840466 h 1407638"/>
              <a:gd name="connsiteX150" fmla="*/ 1492451 w 1646671"/>
              <a:gd name="connsiteY150" fmla="*/ 845442 h 1407638"/>
              <a:gd name="connsiteX151" fmla="*/ 1499914 w 1646671"/>
              <a:gd name="connsiteY151" fmla="*/ 842954 h 1407638"/>
              <a:gd name="connsiteX152" fmla="*/ 1572049 w 1646671"/>
              <a:gd name="connsiteY152" fmla="*/ 759620 h 1407638"/>
              <a:gd name="connsiteX153" fmla="*/ 1605629 w 1646671"/>
              <a:gd name="connsiteY153" fmla="*/ 688723 h 1407638"/>
              <a:gd name="connsiteX154" fmla="*/ 41042 w 1646671"/>
              <a:gd name="connsiteY154" fmla="*/ 41948 h 1407638"/>
              <a:gd name="connsiteX155" fmla="*/ 41042 w 1646671"/>
              <a:gd name="connsiteY155" fmla="*/ 646434 h 1407638"/>
              <a:gd name="connsiteX156" fmla="*/ 67160 w 1646671"/>
              <a:gd name="connsiteY156" fmla="*/ 719818 h 1407638"/>
              <a:gd name="connsiteX157" fmla="*/ 140539 w 1646671"/>
              <a:gd name="connsiteY157" fmla="*/ 811859 h 1407638"/>
              <a:gd name="connsiteX158" fmla="*/ 156707 w 1646671"/>
              <a:gd name="connsiteY158" fmla="*/ 811859 h 1407638"/>
              <a:gd name="connsiteX159" fmla="*/ 511165 w 1646671"/>
              <a:gd name="connsiteY159" fmla="*/ 457376 h 1407638"/>
              <a:gd name="connsiteX160" fmla="*/ 513652 w 1646671"/>
              <a:gd name="connsiteY160" fmla="*/ 448670 h 1407638"/>
              <a:gd name="connsiteX161" fmla="*/ 511165 w 1646671"/>
              <a:gd name="connsiteY161" fmla="*/ 442451 h 1407638"/>
              <a:gd name="connsiteX162" fmla="*/ 46328 w 1646671"/>
              <a:gd name="connsiteY162" fmla="*/ 436 h 1407638"/>
              <a:gd name="connsiteX163" fmla="*/ 67160 w 1646671"/>
              <a:gd name="connsiteY163" fmla="*/ 9609 h 1407638"/>
              <a:gd name="connsiteX164" fmla="*/ 539770 w 1646671"/>
              <a:gd name="connsiteY164" fmla="*/ 412599 h 1407638"/>
              <a:gd name="connsiteX165" fmla="*/ 554694 w 1646671"/>
              <a:gd name="connsiteY165" fmla="*/ 448670 h 1407638"/>
              <a:gd name="connsiteX166" fmla="*/ 543501 w 1646671"/>
              <a:gd name="connsiteY166" fmla="*/ 479764 h 1407638"/>
              <a:gd name="connsiteX167" fmla="*/ 631804 w 1646671"/>
              <a:gd name="connsiteY167" fmla="*/ 566830 h 1407638"/>
              <a:gd name="connsiteX168" fmla="*/ 634292 w 1646671"/>
              <a:gd name="connsiteY168" fmla="*/ 635239 h 1407638"/>
              <a:gd name="connsiteX169" fmla="*/ 681553 w 1646671"/>
              <a:gd name="connsiteY169" fmla="*/ 655140 h 1407638"/>
              <a:gd name="connsiteX170" fmla="*/ 728814 w 1646671"/>
              <a:gd name="connsiteY170" fmla="*/ 689967 h 1407638"/>
              <a:gd name="connsiteX171" fmla="*/ 764881 w 1646671"/>
              <a:gd name="connsiteY171" fmla="*/ 657628 h 1407638"/>
              <a:gd name="connsiteX172" fmla="*/ 768612 w 1646671"/>
              <a:gd name="connsiteY172" fmla="*/ 655140 h 1407638"/>
              <a:gd name="connsiteX173" fmla="*/ 771100 w 1646671"/>
              <a:gd name="connsiteY173" fmla="*/ 653897 h 1407638"/>
              <a:gd name="connsiteX174" fmla="*/ 1037254 w 1646671"/>
              <a:gd name="connsiteY174" fmla="*/ 635239 h 1407638"/>
              <a:gd name="connsiteX175" fmla="*/ 1028548 w 1646671"/>
              <a:gd name="connsiteY175" fmla="*/ 624045 h 1407638"/>
              <a:gd name="connsiteX176" fmla="*/ 1017354 w 1646671"/>
              <a:gd name="connsiteY176" fmla="*/ 585487 h 1407638"/>
              <a:gd name="connsiteX177" fmla="*/ 1034766 w 1646671"/>
              <a:gd name="connsiteY177" fmla="*/ 550661 h 1407638"/>
              <a:gd name="connsiteX178" fmla="*/ 1130532 w 1646671"/>
              <a:gd name="connsiteY178" fmla="*/ 473545 h 1407638"/>
              <a:gd name="connsiteX179" fmla="*/ 1141725 w 1646671"/>
              <a:gd name="connsiteY179" fmla="*/ 407624 h 1407638"/>
              <a:gd name="connsiteX180" fmla="*/ 1581998 w 1646671"/>
              <a:gd name="connsiteY180" fmla="*/ 12096 h 1407638"/>
              <a:gd name="connsiteX181" fmla="*/ 1625528 w 1646671"/>
              <a:gd name="connsiteY181" fmla="*/ 10853 h 1407638"/>
              <a:gd name="connsiteX182" fmla="*/ 1645428 w 1646671"/>
              <a:gd name="connsiteY182" fmla="*/ 48167 h 1407638"/>
              <a:gd name="connsiteX183" fmla="*/ 1646671 w 1646671"/>
              <a:gd name="connsiteY183" fmla="*/ 689967 h 1407638"/>
              <a:gd name="connsiteX184" fmla="*/ 1645428 w 1646671"/>
              <a:gd name="connsiteY184" fmla="*/ 691211 h 1407638"/>
              <a:gd name="connsiteX185" fmla="*/ 1600654 w 1646671"/>
              <a:gd name="connsiteY185" fmla="*/ 786983 h 1407638"/>
              <a:gd name="connsiteX186" fmla="*/ 1527275 w 1646671"/>
              <a:gd name="connsiteY186" fmla="*/ 874049 h 1407638"/>
              <a:gd name="connsiteX187" fmla="*/ 1493695 w 1646671"/>
              <a:gd name="connsiteY187" fmla="*/ 885243 h 1407638"/>
              <a:gd name="connsiteX188" fmla="*/ 1488720 w 1646671"/>
              <a:gd name="connsiteY188" fmla="*/ 885243 h 1407638"/>
              <a:gd name="connsiteX189" fmla="*/ 1460115 w 1646671"/>
              <a:gd name="connsiteY189" fmla="*/ 872805 h 1407638"/>
              <a:gd name="connsiteX190" fmla="*/ 1394198 w 1646671"/>
              <a:gd name="connsiteY190" fmla="*/ 926289 h 1407638"/>
              <a:gd name="connsiteX191" fmla="*/ 1338231 w 1646671"/>
              <a:gd name="connsiteY191" fmla="*/ 947433 h 1407638"/>
              <a:gd name="connsiteX192" fmla="*/ 1328282 w 1646671"/>
              <a:gd name="connsiteY192" fmla="*/ 947433 h 1407638"/>
              <a:gd name="connsiteX193" fmla="*/ 1277290 w 1646671"/>
              <a:gd name="connsiteY193" fmla="*/ 922557 h 1407638"/>
              <a:gd name="connsiteX194" fmla="*/ 1279777 w 1646671"/>
              <a:gd name="connsiteY194" fmla="*/ 956140 h 1407638"/>
              <a:gd name="connsiteX195" fmla="*/ 1251172 w 1646671"/>
              <a:gd name="connsiteY195" fmla="*/ 1005892 h 1407638"/>
              <a:gd name="connsiteX196" fmla="*/ 1162868 w 1646671"/>
              <a:gd name="connsiteY196" fmla="*/ 1074300 h 1407638"/>
              <a:gd name="connsiteX197" fmla="*/ 1174062 w 1646671"/>
              <a:gd name="connsiteY197" fmla="*/ 1084251 h 1407638"/>
              <a:gd name="connsiteX198" fmla="*/ 1174062 w 1646671"/>
              <a:gd name="connsiteY198" fmla="*/ 1186242 h 1407638"/>
              <a:gd name="connsiteX199" fmla="*/ 1170331 w 1646671"/>
              <a:gd name="connsiteY199" fmla="*/ 1191217 h 1407638"/>
              <a:gd name="connsiteX200" fmla="*/ 1139238 w 1646671"/>
              <a:gd name="connsiteY200" fmla="*/ 1208631 h 1407638"/>
              <a:gd name="connsiteX201" fmla="*/ 1154162 w 1646671"/>
              <a:gd name="connsiteY201" fmla="*/ 1248432 h 1407638"/>
              <a:gd name="connsiteX202" fmla="*/ 1135507 w 1646671"/>
              <a:gd name="connsiteY202" fmla="*/ 1303159 h 1407638"/>
              <a:gd name="connsiteX203" fmla="*/ 1130532 w 1646671"/>
              <a:gd name="connsiteY203" fmla="*/ 1306891 h 1407638"/>
              <a:gd name="connsiteX204" fmla="*/ 1082027 w 1646671"/>
              <a:gd name="connsiteY204" fmla="*/ 1326792 h 1407638"/>
              <a:gd name="connsiteX205" fmla="*/ 1075809 w 1646671"/>
              <a:gd name="connsiteY205" fmla="*/ 1326792 h 1407638"/>
              <a:gd name="connsiteX206" fmla="*/ 1034766 w 1646671"/>
              <a:gd name="connsiteY206" fmla="*/ 1313110 h 1407638"/>
              <a:gd name="connsiteX207" fmla="*/ 1017354 w 1646671"/>
              <a:gd name="connsiteY207" fmla="*/ 1341717 h 1407638"/>
              <a:gd name="connsiteX208" fmla="*/ 1013623 w 1646671"/>
              <a:gd name="connsiteY208" fmla="*/ 1346692 h 1407638"/>
              <a:gd name="connsiteX209" fmla="*/ 962631 w 1646671"/>
              <a:gd name="connsiteY209" fmla="*/ 1367837 h 1407638"/>
              <a:gd name="connsiteX210" fmla="*/ 919101 w 1646671"/>
              <a:gd name="connsiteY210" fmla="*/ 1352911 h 1407638"/>
              <a:gd name="connsiteX211" fmla="*/ 901689 w 1646671"/>
              <a:gd name="connsiteY211" fmla="*/ 1379031 h 1407638"/>
              <a:gd name="connsiteX212" fmla="*/ 895471 w 1646671"/>
              <a:gd name="connsiteY212" fmla="*/ 1386494 h 1407638"/>
              <a:gd name="connsiteX213" fmla="*/ 845722 w 1646671"/>
              <a:gd name="connsiteY213" fmla="*/ 1407638 h 1407638"/>
              <a:gd name="connsiteX214" fmla="*/ 795974 w 1646671"/>
              <a:gd name="connsiteY214" fmla="*/ 1386494 h 1407638"/>
              <a:gd name="connsiteX215" fmla="*/ 777318 w 1646671"/>
              <a:gd name="connsiteY215" fmla="*/ 1369081 h 1407638"/>
              <a:gd name="connsiteX216" fmla="*/ 761150 w 1646671"/>
              <a:gd name="connsiteY216" fmla="*/ 1381519 h 1407638"/>
              <a:gd name="connsiteX217" fmla="*/ 726326 w 1646671"/>
              <a:gd name="connsiteY217" fmla="*/ 1392713 h 1407638"/>
              <a:gd name="connsiteX218" fmla="*/ 675334 w 1646671"/>
              <a:gd name="connsiteY218" fmla="*/ 1367837 h 1407638"/>
              <a:gd name="connsiteX219" fmla="*/ 669116 w 1646671"/>
              <a:gd name="connsiteY219" fmla="*/ 1360374 h 1407638"/>
              <a:gd name="connsiteX220" fmla="*/ 656679 w 1646671"/>
              <a:gd name="connsiteY220" fmla="*/ 1333010 h 1407638"/>
              <a:gd name="connsiteX221" fmla="*/ 649216 w 1646671"/>
              <a:gd name="connsiteY221" fmla="*/ 1333010 h 1407638"/>
              <a:gd name="connsiteX222" fmla="*/ 636779 w 1646671"/>
              <a:gd name="connsiteY222" fmla="*/ 1331767 h 1407638"/>
              <a:gd name="connsiteX223" fmla="*/ 595737 w 1646671"/>
              <a:gd name="connsiteY223" fmla="*/ 1305647 h 1407638"/>
              <a:gd name="connsiteX224" fmla="*/ 593249 w 1646671"/>
              <a:gd name="connsiteY224" fmla="*/ 1301916 h 1407638"/>
              <a:gd name="connsiteX225" fmla="*/ 578325 w 1646671"/>
              <a:gd name="connsiteY225" fmla="*/ 1269577 h 1407638"/>
              <a:gd name="connsiteX226" fmla="*/ 573350 w 1646671"/>
              <a:gd name="connsiteY226" fmla="*/ 1269577 h 1407638"/>
              <a:gd name="connsiteX227" fmla="*/ 563400 w 1646671"/>
              <a:gd name="connsiteY227" fmla="*/ 1268333 h 1407638"/>
              <a:gd name="connsiteX228" fmla="*/ 521114 w 1646671"/>
              <a:gd name="connsiteY228" fmla="*/ 1243457 h 1407638"/>
              <a:gd name="connsiteX229" fmla="*/ 518627 w 1646671"/>
              <a:gd name="connsiteY229" fmla="*/ 1239726 h 1407638"/>
              <a:gd name="connsiteX230" fmla="*/ 504946 w 1646671"/>
              <a:gd name="connsiteY230" fmla="*/ 1191217 h 1407638"/>
              <a:gd name="connsiteX231" fmla="*/ 516139 w 1646671"/>
              <a:gd name="connsiteY231" fmla="*/ 1162610 h 1407638"/>
              <a:gd name="connsiteX232" fmla="*/ 494996 w 1646671"/>
              <a:gd name="connsiteY232" fmla="*/ 1143953 h 1407638"/>
              <a:gd name="connsiteX233" fmla="*/ 491265 w 1646671"/>
              <a:gd name="connsiteY233" fmla="*/ 1140222 h 1407638"/>
              <a:gd name="connsiteX234" fmla="*/ 476341 w 1646671"/>
              <a:gd name="connsiteY234" fmla="*/ 1095445 h 1407638"/>
              <a:gd name="connsiteX235" fmla="*/ 481316 w 1646671"/>
              <a:gd name="connsiteY235" fmla="*/ 1073057 h 1407638"/>
              <a:gd name="connsiteX236" fmla="*/ 400474 w 1646671"/>
              <a:gd name="connsiteY236" fmla="*/ 992210 h 1407638"/>
              <a:gd name="connsiteX237" fmla="*/ 363163 w 1646671"/>
              <a:gd name="connsiteY237" fmla="*/ 907632 h 1407638"/>
              <a:gd name="connsiteX238" fmla="*/ 300978 w 1646671"/>
              <a:gd name="connsiteY238" fmla="*/ 932507 h 1407638"/>
              <a:gd name="connsiteX239" fmla="*/ 237549 w 1646671"/>
              <a:gd name="connsiteY239" fmla="*/ 905144 h 1407638"/>
              <a:gd name="connsiteX240" fmla="*/ 177850 w 1646671"/>
              <a:gd name="connsiteY240" fmla="*/ 845442 h 1407638"/>
              <a:gd name="connsiteX241" fmla="*/ 148001 w 1646671"/>
              <a:gd name="connsiteY241" fmla="*/ 855392 h 1407638"/>
              <a:gd name="connsiteX242" fmla="*/ 111934 w 1646671"/>
              <a:gd name="connsiteY242" fmla="*/ 840466 h 1407638"/>
              <a:gd name="connsiteX243" fmla="*/ 110690 w 1646671"/>
              <a:gd name="connsiteY243" fmla="*/ 839223 h 1407638"/>
              <a:gd name="connsiteX244" fmla="*/ 34824 w 1646671"/>
              <a:gd name="connsiteY244" fmla="*/ 745938 h 1407638"/>
              <a:gd name="connsiteX245" fmla="*/ 0 w 1646671"/>
              <a:gd name="connsiteY245" fmla="*/ 646434 h 1407638"/>
              <a:gd name="connsiteX246" fmla="*/ 0 w 1646671"/>
              <a:gd name="connsiteY246" fmla="*/ 39460 h 1407638"/>
              <a:gd name="connsiteX247" fmla="*/ 23630 w 1646671"/>
              <a:gd name="connsiteY247" fmla="*/ 3390 h 1407638"/>
              <a:gd name="connsiteX248" fmla="*/ 46328 w 1646671"/>
              <a:gd name="connsiteY248" fmla="*/ 436 h 1407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646671" h="1407638">
                <a:moveTo>
                  <a:pt x="710158" y="1300672"/>
                </a:moveTo>
                <a:lnTo>
                  <a:pt x="702696" y="1305647"/>
                </a:lnTo>
                <a:cubicBezTo>
                  <a:pt x="693990" y="1313110"/>
                  <a:pt x="693990" y="1325548"/>
                  <a:pt x="702696" y="1335498"/>
                </a:cubicBezTo>
                <a:lnTo>
                  <a:pt x="707671" y="1342961"/>
                </a:lnTo>
                <a:cubicBezTo>
                  <a:pt x="715133" y="1352911"/>
                  <a:pt x="727570" y="1355399"/>
                  <a:pt x="736276" y="1349180"/>
                </a:cubicBezTo>
                <a:lnTo>
                  <a:pt x="748713" y="1340473"/>
                </a:lnTo>
                <a:lnTo>
                  <a:pt x="713889" y="1305647"/>
                </a:lnTo>
                <a:close/>
                <a:moveTo>
                  <a:pt x="641754" y="1233507"/>
                </a:moveTo>
                <a:lnTo>
                  <a:pt x="625586" y="1247188"/>
                </a:lnTo>
                <a:cubicBezTo>
                  <a:pt x="620611" y="1249676"/>
                  <a:pt x="619367" y="1255895"/>
                  <a:pt x="619367" y="1258383"/>
                </a:cubicBezTo>
                <a:cubicBezTo>
                  <a:pt x="618124" y="1264602"/>
                  <a:pt x="620611" y="1270821"/>
                  <a:pt x="625586" y="1277040"/>
                </a:cubicBezTo>
                <a:lnTo>
                  <a:pt x="628073" y="1282015"/>
                </a:lnTo>
                <a:cubicBezTo>
                  <a:pt x="631804" y="1286990"/>
                  <a:pt x="638023" y="1290721"/>
                  <a:pt x="644241" y="1291965"/>
                </a:cubicBezTo>
                <a:cubicBezTo>
                  <a:pt x="647973" y="1291965"/>
                  <a:pt x="654191" y="1293209"/>
                  <a:pt x="657922" y="1289478"/>
                </a:cubicBezTo>
                <a:lnTo>
                  <a:pt x="679065" y="1273308"/>
                </a:lnTo>
                <a:lnTo>
                  <a:pt x="680309" y="1272064"/>
                </a:lnTo>
                <a:close/>
                <a:moveTo>
                  <a:pt x="574594" y="1165098"/>
                </a:moveTo>
                <a:lnTo>
                  <a:pt x="553451" y="1181267"/>
                </a:lnTo>
                <a:cubicBezTo>
                  <a:pt x="548476" y="1184999"/>
                  <a:pt x="545988" y="1189974"/>
                  <a:pt x="544745" y="1196193"/>
                </a:cubicBezTo>
                <a:cubicBezTo>
                  <a:pt x="543501" y="1203655"/>
                  <a:pt x="545988" y="1208631"/>
                  <a:pt x="549720" y="1214850"/>
                </a:cubicBezTo>
                <a:lnTo>
                  <a:pt x="553451" y="1218581"/>
                </a:lnTo>
                <a:cubicBezTo>
                  <a:pt x="557182" y="1224800"/>
                  <a:pt x="563400" y="1227288"/>
                  <a:pt x="569619" y="1228531"/>
                </a:cubicBezTo>
                <a:cubicBezTo>
                  <a:pt x="575837" y="1229775"/>
                  <a:pt x="582056" y="1228531"/>
                  <a:pt x="587031" y="1224800"/>
                </a:cubicBezTo>
                <a:lnTo>
                  <a:pt x="613149" y="1203655"/>
                </a:lnTo>
                <a:close/>
                <a:moveTo>
                  <a:pt x="522358" y="1114102"/>
                </a:moveTo>
                <a:cubicBezTo>
                  <a:pt x="522358" y="1114102"/>
                  <a:pt x="523602" y="1114102"/>
                  <a:pt x="523602" y="1115346"/>
                </a:cubicBezTo>
                <a:lnTo>
                  <a:pt x="526089" y="1119077"/>
                </a:lnTo>
                <a:cubicBezTo>
                  <a:pt x="529820" y="1122809"/>
                  <a:pt x="533551" y="1126540"/>
                  <a:pt x="537283" y="1127784"/>
                </a:cubicBezTo>
                <a:close/>
                <a:moveTo>
                  <a:pt x="621233" y="675197"/>
                </a:moveTo>
                <a:cubicBezTo>
                  <a:pt x="608485" y="675041"/>
                  <a:pt x="595737" y="678773"/>
                  <a:pt x="584543" y="686235"/>
                </a:cubicBezTo>
                <a:lnTo>
                  <a:pt x="420374" y="850417"/>
                </a:lnTo>
                <a:cubicBezTo>
                  <a:pt x="395500" y="885243"/>
                  <a:pt x="399231" y="932507"/>
                  <a:pt x="430323" y="963602"/>
                </a:cubicBezTo>
                <a:lnTo>
                  <a:pt x="665385" y="1198680"/>
                </a:lnTo>
                <a:lnTo>
                  <a:pt x="743738" y="1277040"/>
                </a:lnTo>
                <a:lnTo>
                  <a:pt x="824579" y="1357886"/>
                </a:lnTo>
                <a:cubicBezTo>
                  <a:pt x="835773" y="1369081"/>
                  <a:pt x="855672" y="1369081"/>
                  <a:pt x="866865" y="1357886"/>
                </a:cubicBezTo>
                <a:lnTo>
                  <a:pt x="874328" y="1350424"/>
                </a:lnTo>
                <a:cubicBezTo>
                  <a:pt x="879303" y="1345448"/>
                  <a:pt x="883034" y="1337986"/>
                  <a:pt x="883034" y="1330523"/>
                </a:cubicBezTo>
                <a:cubicBezTo>
                  <a:pt x="883034" y="1321816"/>
                  <a:pt x="879303" y="1314354"/>
                  <a:pt x="874328" y="1309378"/>
                </a:cubicBezTo>
                <a:lnTo>
                  <a:pt x="713889" y="1150172"/>
                </a:lnTo>
                <a:cubicBezTo>
                  <a:pt x="706427" y="1141466"/>
                  <a:pt x="706427" y="1127784"/>
                  <a:pt x="713889" y="1120321"/>
                </a:cubicBezTo>
                <a:cubicBezTo>
                  <a:pt x="721351" y="1112858"/>
                  <a:pt x="735032" y="1112858"/>
                  <a:pt x="743738" y="1120321"/>
                </a:cubicBezTo>
                <a:lnTo>
                  <a:pt x="940244" y="1318085"/>
                </a:lnTo>
                <a:cubicBezTo>
                  <a:pt x="951438" y="1330523"/>
                  <a:pt x="972581" y="1330523"/>
                  <a:pt x="985018" y="1318085"/>
                </a:cubicBezTo>
                <a:lnTo>
                  <a:pt x="988749" y="1313110"/>
                </a:lnTo>
                <a:cubicBezTo>
                  <a:pt x="994968" y="1306891"/>
                  <a:pt x="998699" y="1299428"/>
                  <a:pt x="998699" y="1290721"/>
                </a:cubicBezTo>
                <a:cubicBezTo>
                  <a:pt x="998699" y="1282015"/>
                  <a:pt x="994968" y="1274552"/>
                  <a:pt x="988749" y="1268333"/>
                </a:cubicBezTo>
                <a:lnTo>
                  <a:pt x="792243" y="1071813"/>
                </a:lnTo>
                <a:cubicBezTo>
                  <a:pt x="784781" y="1064350"/>
                  <a:pt x="784781" y="1050668"/>
                  <a:pt x="792243" y="1041962"/>
                </a:cubicBezTo>
                <a:cubicBezTo>
                  <a:pt x="799705" y="1034499"/>
                  <a:pt x="813386" y="1034499"/>
                  <a:pt x="820848" y="1041962"/>
                </a:cubicBezTo>
                <a:lnTo>
                  <a:pt x="1017354" y="1239726"/>
                </a:lnTo>
                <a:lnTo>
                  <a:pt x="1050935" y="1272064"/>
                </a:lnTo>
                <a:cubicBezTo>
                  <a:pt x="1067103" y="1288234"/>
                  <a:pt x="1089489" y="1290721"/>
                  <a:pt x="1101927" y="1278283"/>
                </a:cubicBezTo>
                <a:lnTo>
                  <a:pt x="1105658" y="1274552"/>
                </a:lnTo>
                <a:cubicBezTo>
                  <a:pt x="1118095" y="1262114"/>
                  <a:pt x="1115607" y="1238482"/>
                  <a:pt x="1099439" y="1223556"/>
                </a:cubicBezTo>
                <a:lnTo>
                  <a:pt x="870597" y="993454"/>
                </a:lnTo>
                <a:cubicBezTo>
                  <a:pt x="861891" y="985991"/>
                  <a:pt x="861891" y="972309"/>
                  <a:pt x="870597" y="964846"/>
                </a:cubicBezTo>
                <a:cubicBezTo>
                  <a:pt x="878059" y="956140"/>
                  <a:pt x="890496" y="956140"/>
                  <a:pt x="899202" y="964846"/>
                </a:cubicBezTo>
                <a:lnTo>
                  <a:pt x="1095708" y="1162610"/>
                </a:lnTo>
                <a:cubicBezTo>
                  <a:pt x="1106901" y="1173804"/>
                  <a:pt x="1129288" y="1173804"/>
                  <a:pt x="1141725" y="1162610"/>
                </a:cubicBezTo>
                <a:lnTo>
                  <a:pt x="1144213" y="1157635"/>
                </a:lnTo>
                <a:cubicBezTo>
                  <a:pt x="1150431" y="1151416"/>
                  <a:pt x="1154162" y="1143953"/>
                  <a:pt x="1154162" y="1135247"/>
                </a:cubicBezTo>
                <a:cubicBezTo>
                  <a:pt x="1154162" y="1126540"/>
                  <a:pt x="1150431" y="1119077"/>
                  <a:pt x="1144213" y="1112858"/>
                </a:cubicBezTo>
                <a:lnTo>
                  <a:pt x="1026060" y="993454"/>
                </a:lnTo>
                <a:lnTo>
                  <a:pt x="1004917" y="971065"/>
                </a:lnTo>
                <a:lnTo>
                  <a:pt x="989993" y="958627"/>
                </a:lnTo>
                <a:cubicBezTo>
                  <a:pt x="921589" y="961115"/>
                  <a:pt x="853185" y="934995"/>
                  <a:pt x="803436" y="880268"/>
                </a:cubicBezTo>
                <a:cubicBezTo>
                  <a:pt x="802193" y="877780"/>
                  <a:pt x="799705" y="877780"/>
                  <a:pt x="798461" y="879024"/>
                </a:cubicBezTo>
                <a:cubicBezTo>
                  <a:pt x="783537" y="890218"/>
                  <a:pt x="754932" y="912607"/>
                  <a:pt x="743738" y="943702"/>
                </a:cubicBezTo>
                <a:cubicBezTo>
                  <a:pt x="731301" y="979772"/>
                  <a:pt x="696477" y="1002160"/>
                  <a:pt x="661653" y="1002160"/>
                </a:cubicBezTo>
                <a:cubicBezTo>
                  <a:pt x="650460" y="1002160"/>
                  <a:pt x="641754" y="1000916"/>
                  <a:pt x="631804" y="997185"/>
                </a:cubicBezTo>
                <a:cubicBezTo>
                  <a:pt x="615636" y="990966"/>
                  <a:pt x="601955" y="982259"/>
                  <a:pt x="590762" y="968578"/>
                </a:cubicBezTo>
                <a:cubicBezTo>
                  <a:pt x="573350" y="944945"/>
                  <a:pt x="567131" y="912607"/>
                  <a:pt x="577081" y="885243"/>
                </a:cubicBezTo>
                <a:cubicBezTo>
                  <a:pt x="598224" y="825541"/>
                  <a:pt x="654191" y="763351"/>
                  <a:pt x="698965" y="717330"/>
                </a:cubicBezTo>
                <a:lnTo>
                  <a:pt x="657922" y="687479"/>
                </a:lnTo>
                <a:cubicBezTo>
                  <a:pt x="646729" y="679395"/>
                  <a:pt x="633981" y="675352"/>
                  <a:pt x="621233" y="675197"/>
                </a:cubicBezTo>
                <a:close/>
                <a:moveTo>
                  <a:pt x="906399" y="644695"/>
                </a:moveTo>
                <a:cubicBezTo>
                  <a:pt x="867623" y="646998"/>
                  <a:pt x="829088" y="660582"/>
                  <a:pt x="795974" y="686235"/>
                </a:cubicBezTo>
                <a:cubicBezTo>
                  <a:pt x="794730" y="686235"/>
                  <a:pt x="793487" y="686235"/>
                  <a:pt x="792243" y="687479"/>
                </a:cubicBezTo>
                <a:cubicBezTo>
                  <a:pt x="792243" y="688723"/>
                  <a:pt x="792243" y="688723"/>
                  <a:pt x="790999" y="688723"/>
                </a:cubicBezTo>
                <a:cubicBezTo>
                  <a:pt x="767369" y="708624"/>
                  <a:pt x="646729" y="811859"/>
                  <a:pt x="615636" y="898925"/>
                </a:cubicBezTo>
                <a:cubicBezTo>
                  <a:pt x="610661" y="912607"/>
                  <a:pt x="613149" y="930020"/>
                  <a:pt x="623098" y="942458"/>
                </a:cubicBezTo>
                <a:cubicBezTo>
                  <a:pt x="629317" y="949921"/>
                  <a:pt x="636779" y="956140"/>
                  <a:pt x="645485" y="958627"/>
                </a:cubicBezTo>
                <a:cubicBezTo>
                  <a:pt x="670359" y="967334"/>
                  <a:pt x="696477" y="954896"/>
                  <a:pt x="706427" y="930020"/>
                </a:cubicBezTo>
                <a:cubicBezTo>
                  <a:pt x="720108" y="891462"/>
                  <a:pt x="751201" y="862855"/>
                  <a:pt x="774831" y="846685"/>
                </a:cubicBezTo>
                <a:cubicBezTo>
                  <a:pt x="792243" y="833004"/>
                  <a:pt x="818361" y="835491"/>
                  <a:pt x="833285" y="852904"/>
                </a:cubicBezTo>
                <a:cubicBezTo>
                  <a:pt x="902933" y="928776"/>
                  <a:pt x="1022329" y="938726"/>
                  <a:pt x="1104414" y="876537"/>
                </a:cubicBezTo>
                <a:cubicBezTo>
                  <a:pt x="1113120" y="869074"/>
                  <a:pt x="1126801" y="870318"/>
                  <a:pt x="1133019" y="880268"/>
                </a:cubicBezTo>
                <a:cubicBezTo>
                  <a:pt x="1140481" y="888975"/>
                  <a:pt x="1139238" y="901413"/>
                  <a:pt x="1129288" y="907632"/>
                </a:cubicBezTo>
                <a:cubicBezTo>
                  <a:pt x="1101927" y="928776"/>
                  <a:pt x="1072077" y="942458"/>
                  <a:pt x="1040985" y="951164"/>
                </a:cubicBezTo>
                <a:lnTo>
                  <a:pt x="1134263" y="1044449"/>
                </a:lnTo>
                <a:lnTo>
                  <a:pt x="1227541" y="974797"/>
                </a:lnTo>
                <a:cubicBezTo>
                  <a:pt x="1233760" y="968578"/>
                  <a:pt x="1238735" y="961115"/>
                  <a:pt x="1239978" y="949921"/>
                </a:cubicBezTo>
                <a:cubicBezTo>
                  <a:pt x="1241222" y="941214"/>
                  <a:pt x="1238735" y="932507"/>
                  <a:pt x="1233760" y="925045"/>
                </a:cubicBezTo>
                <a:lnTo>
                  <a:pt x="1090733" y="739719"/>
                </a:lnTo>
                <a:cubicBezTo>
                  <a:pt x="1089489" y="737231"/>
                  <a:pt x="1088246" y="734744"/>
                  <a:pt x="1085758" y="733500"/>
                </a:cubicBezTo>
                <a:cubicBezTo>
                  <a:pt x="1084515" y="731012"/>
                  <a:pt x="1082027" y="727281"/>
                  <a:pt x="1079540" y="724793"/>
                </a:cubicBezTo>
                <a:cubicBezTo>
                  <a:pt x="1079540" y="723549"/>
                  <a:pt x="1078296" y="723549"/>
                  <a:pt x="1078296" y="723549"/>
                </a:cubicBezTo>
                <a:cubicBezTo>
                  <a:pt x="1036321" y="668356"/>
                  <a:pt x="971026" y="640856"/>
                  <a:pt x="906399" y="644695"/>
                </a:cubicBezTo>
                <a:close/>
                <a:moveTo>
                  <a:pt x="1210542" y="641454"/>
                </a:moveTo>
                <a:cubicBezTo>
                  <a:pt x="1213117" y="641774"/>
                  <a:pt x="1215541" y="643053"/>
                  <a:pt x="1217358" y="644972"/>
                </a:cubicBezTo>
                <a:lnTo>
                  <a:pt x="1258555" y="697420"/>
                </a:lnTo>
                <a:cubicBezTo>
                  <a:pt x="1262190" y="702537"/>
                  <a:pt x="1260979" y="708933"/>
                  <a:pt x="1257344" y="712771"/>
                </a:cubicBezTo>
                <a:lnTo>
                  <a:pt x="1240380" y="728121"/>
                </a:lnTo>
                <a:cubicBezTo>
                  <a:pt x="1235533" y="731959"/>
                  <a:pt x="1229475" y="730680"/>
                  <a:pt x="1225840" y="725563"/>
                </a:cubicBezTo>
                <a:lnTo>
                  <a:pt x="1184642" y="673115"/>
                </a:lnTo>
                <a:cubicBezTo>
                  <a:pt x="1181007" y="669277"/>
                  <a:pt x="1181007" y="662881"/>
                  <a:pt x="1185854" y="659044"/>
                </a:cubicBezTo>
                <a:lnTo>
                  <a:pt x="1202817" y="643693"/>
                </a:lnTo>
                <a:cubicBezTo>
                  <a:pt x="1205240" y="641774"/>
                  <a:pt x="1207967" y="641134"/>
                  <a:pt x="1210542" y="641454"/>
                </a:cubicBezTo>
                <a:close/>
                <a:moveTo>
                  <a:pt x="520428" y="580687"/>
                </a:moveTo>
                <a:cubicBezTo>
                  <a:pt x="523253" y="580687"/>
                  <a:pt x="526078" y="581943"/>
                  <a:pt x="527961" y="584454"/>
                </a:cubicBezTo>
                <a:lnTo>
                  <a:pt x="544283" y="600776"/>
                </a:lnTo>
                <a:cubicBezTo>
                  <a:pt x="548049" y="603287"/>
                  <a:pt x="548049" y="610821"/>
                  <a:pt x="544283" y="614587"/>
                </a:cubicBezTo>
                <a:lnTo>
                  <a:pt x="496572" y="661043"/>
                </a:lnTo>
                <a:cubicBezTo>
                  <a:pt x="492805" y="666066"/>
                  <a:pt x="486527" y="666066"/>
                  <a:pt x="482760" y="661043"/>
                </a:cubicBezTo>
                <a:lnTo>
                  <a:pt x="466438" y="645977"/>
                </a:lnTo>
                <a:cubicBezTo>
                  <a:pt x="461416" y="642210"/>
                  <a:pt x="461416" y="634676"/>
                  <a:pt x="466438" y="630910"/>
                </a:cubicBezTo>
                <a:lnTo>
                  <a:pt x="512894" y="584454"/>
                </a:lnTo>
                <a:cubicBezTo>
                  <a:pt x="514778" y="581943"/>
                  <a:pt x="517603" y="580687"/>
                  <a:pt x="520428" y="580687"/>
                </a:cubicBezTo>
                <a:close/>
                <a:moveTo>
                  <a:pt x="1147582" y="576510"/>
                </a:moveTo>
                <a:cubicBezTo>
                  <a:pt x="1151439" y="573939"/>
                  <a:pt x="1155296" y="573939"/>
                  <a:pt x="1157868" y="577796"/>
                </a:cubicBezTo>
                <a:lnTo>
                  <a:pt x="1175866" y="600937"/>
                </a:lnTo>
                <a:cubicBezTo>
                  <a:pt x="1179723" y="603508"/>
                  <a:pt x="1178438" y="608651"/>
                  <a:pt x="1175866" y="609937"/>
                </a:cubicBezTo>
                <a:lnTo>
                  <a:pt x="1152725" y="630507"/>
                </a:lnTo>
                <a:cubicBezTo>
                  <a:pt x="1150154" y="633078"/>
                  <a:pt x="1145011" y="631792"/>
                  <a:pt x="1142440" y="629221"/>
                </a:cubicBezTo>
                <a:lnTo>
                  <a:pt x="1123155" y="606080"/>
                </a:lnTo>
                <a:cubicBezTo>
                  <a:pt x="1120584" y="602223"/>
                  <a:pt x="1121870" y="598366"/>
                  <a:pt x="1124441" y="595795"/>
                </a:cubicBezTo>
                <a:close/>
                <a:moveTo>
                  <a:pt x="516139" y="509616"/>
                </a:moveTo>
                <a:lnTo>
                  <a:pt x="207699" y="818078"/>
                </a:lnTo>
                <a:lnTo>
                  <a:pt x="267398" y="876537"/>
                </a:lnTo>
                <a:cubicBezTo>
                  <a:pt x="286053" y="896437"/>
                  <a:pt x="317146" y="896437"/>
                  <a:pt x="335802" y="876537"/>
                </a:cubicBezTo>
                <a:lnTo>
                  <a:pt x="389281" y="824297"/>
                </a:lnTo>
                <a:cubicBezTo>
                  <a:pt x="393012" y="819322"/>
                  <a:pt x="396743" y="814347"/>
                  <a:pt x="400474" y="809371"/>
                </a:cubicBezTo>
                <a:lnTo>
                  <a:pt x="545988" y="665091"/>
                </a:lnTo>
                <a:cubicBezTo>
                  <a:pt x="549720" y="661359"/>
                  <a:pt x="554694" y="657628"/>
                  <a:pt x="559669" y="653897"/>
                </a:cubicBezTo>
                <a:lnTo>
                  <a:pt x="601955" y="610363"/>
                </a:lnTo>
                <a:cubicBezTo>
                  <a:pt x="606930" y="606632"/>
                  <a:pt x="606930" y="599169"/>
                  <a:pt x="601955" y="595438"/>
                </a:cubicBezTo>
                <a:close/>
                <a:moveTo>
                  <a:pt x="1155406" y="505884"/>
                </a:moveTo>
                <a:lnTo>
                  <a:pt x="1062128" y="583000"/>
                </a:lnTo>
                <a:cubicBezTo>
                  <a:pt x="1059641" y="584244"/>
                  <a:pt x="1058397" y="587975"/>
                  <a:pt x="1057153" y="590463"/>
                </a:cubicBezTo>
                <a:cubicBezTo>
                  <a:pt x="1057153" y="592950"/>
                  <a:pt x="1058397" y="596682"/>
                  <a:pt x="1060884" y="597925"/>
                </a:cubicBezTo>
                <a:lnTo>
                  <a:pt x="1299676" y="887731"/>
                </a:lnTo>
                <a:cubicBezTo>
                  <a:pt x="1308382" y="898925"/>
                  <a:pt x="1319576" y="905144"/>
                  <a:pt x="1333257" y="906388"/>
                </a:cubicBezTo>
                <a:cubicBezTo>
                  <a:pt x="1345694" y="907632"/>
                  <a:pt x="1358131" y="903900"/>
                  <a:pt x="1368080" y="895194"/>
                </a:cubicBezTo>
                <a:lnTo>
                  <a:pt x="1432753" y="841710"/>
                </a:lnTo>
                <a:close/>
                <a:moveTo>
                  <a:pt x="1605629" y="45679"/>
                </a:moveTo>
                <a:lnTo>
                  <a:pt x="1169087" y="438719"/>
                </a:lnTo>
                <a:cubicBezTo>
                  <a:pt x="1162868" y="442451"/>
                  <a:pt x="1162868" y="449913"/>
                  <a:pt x="1166599" y="454889"/>
                </a:cubicBezTo>
                <a:lnTo>
                  <a:pt x="1325794" y="647678"/>
                </a:lnTo>
                <a:lnTo>
                  <a:pt x="1484989" y="840466"/>
                </a:lnTo>
                <a:cubicBezTo>
                  <a:pt x="1487477" y="842954"/>
                  <a:pt x="1489964" y="845442"/>
                  <a:pt x="1492451" y="845442"/>
                </a:cubicBezTo>
                <a:cubicBezTo>
                  <a:pt x="1494939" y="845442"/>
                  <a:pt x="1497426" y="845442"/>
                  <a:pt x="1499914" y="842954"/>
                </a:cubicBezTo>
                <a:lnTo>
                  <a:pt x="1572049" y="759620"/>
                </a:lnTo>
                <a:cubicBezTo>
                  <a:pt x="1590704" y="739719"/>
                  <a:pt x="1601898" y="714843"/>
                  <a:pt x="1605629" y="688723"/>
                </a:cubicBezTo>
                <a:close/>
                <a:moveTo>
                  <a:pt x="41042" y="41948"/>
                </a:moveTo>
                <a:lnTo>
                  <a:pt x="41042" y="646434"/>
                </a:lnTo>
                <a:cubicBezTo>
                  <a:pt x="41042" y="672554"/>
                  <a:pt x="49748" y="699917"/>
                  <a:pt x="67160" y="719818"/>
                </a:cubicBezTo>
                <a:lnTo>
                  <a:pt x="140539" y="811859"/>
                </a:lnTo>
                <a:cubicBezTo>
                  <a:pt x="145514" y="815590"/>
                  <a:pt x="151733" y="815590"/>
                  <a:pt x="156707" y="811859"/>
                </a:cubicBezTo>
                <a:lnTo>
                  <a:pt x="511165" y="457376"/>
                </a:lnTo>
                <a:cubicBezTo>
                  <a:pt x="512408" y="454889"/>
                  <a:pt x="513652" y="452401"/>
                  <a:pt x="513652" y="448670"/>
                </a:cubicBezTo>
                <a:cubicBezTo>
                  <a:pt x="513652" y="447426"/>
                  <a:pt x="512408" y="443694"/>
                  <a:pt x="511165" y="442451"/>
                </a:cubicBezTo>
                <a:close/>
                <a:moveTo>
                  <a:pt x="46328" y="436"/>
                </a:moveTo>
                <a:cubicBezTo>
                  <a:pt x="53790" y="1524"/>
                  <a:pt x="60942" y="4634"/>
                  <a:pt x="67160" y="9609"/>
                </a:cubicBezTo>
                <a:lnTo>
                  <a:pt x="539770" y="412599"/>
                </a:lnTo>
                <a:cubicBezTo>
                  <a:pt x="548476" y="422550"/>
                  <a:pt x="554694" y="434988"/>
                  <a:pt x="554694" y="448670"/>
                </a:cubicBezTo>
                <a:cubicBezTo>
                  <a:pt x="554694" y="461108"/>
                  <a:pt x="550963" y="471058"/>
                  <a:pt x="543501" y="479764"/>
                </a:cubicBezTo>
                <a:lnTo>
                  <a:pt x="631804" y="566830"/>
                </a:lnTo>
                <a:cubicBezTo>
                  <a:pt x="649216" y="585487"/>
                  <a:pt x="650460" y="615339"/>
                  <a:pt x="634292" y="635239"/>
                </a:cubicBezTo>
                <a:cubicBezTo>
                  <a:pt x="650460" y="637727"/>
                  <a:pt x="666628" y="643946"/>
                  <a:pt x="681553" y="655140"/>
                </a:cubicBezTo>
                <a:lnTo>
                  <a:pt x="728814" y="689967"/>
                </a:lnTo>
                <a:cubicBezTo>
                  <a:pt x="744982" y="673797"/>
                  <a:pt x="758663" y="662603"/>
                  <a:pt x="764881" y="657628"/>
                </a:cubicBezTo>
                <a:cubicBezTo>
                  <a:pt x="766125" y="656384"/>
                  <a:pt x="767369" y="656384"/>
                  <a:pt x="768612" y="655140"/>
                </a:cubicBezTo>
                <a:cubicBezTo>
                  <a:pt x="769856" y="655140"/>
                  <a:pt x="769856" y="653897"/>
                  <a:pt x="771100" y="653897"/>
                </a:cubicBezTo>
                <a:cubicBezTo>
                  <a:pt x="850697" y="591706"/>
                  <a:pt x="955169" y="589219"/>
                  <a:pt x="1037254" y="635239"/>
                </a:cubicBezTo>
                <a:lnTo>
                  <a:pt x="1028548" y="624045"/>
                </a:lnTo>
                <a:cubicBezTo>
                  <a:pt x="1019842" y="612851"/>
                  <a:pt x="1014867" y="599169"/>
                  <a:pt x="1017354" y="585487"/>
                </a:cubicBezTo>
                <a:cubicBezTo>
                  <a:pt x="1018598" y="573049"/>
                  <a:pt x="1026060" y="560611"/>
                  <a:pt x="1034766" y="550661"/>
                </a:cubicBezTo>
                <a:lnTo>
                  <a:pt x="1130532" y="473545"/>
                </a:lnTo>
                <a:cubicBezTo>
                  <a:pt x="1118095" y="451157"/>
                  <a:pt x="1121826" y="423794"/>
                  <a:pt x="1141725" y="407624"/>
                </a:cubicBezTo>
                <a:lnTo>
                  <a:pt x="1581998" y="12096"/>
                </a:lnTo>
                <a:cubicBezTo>
                  <a:pt x="1595679" y="3390"/>
                  <a:pt x="1611847" y="2146"/>
                  <a:pt x="1625528" y="10853"/>
                </a:cubicBezTo>
                <a:cubicBezTo>
                  <a:pt x="1639209" y="18315"/>
                  <a:pt x="1646671" y="31997"/>
                  <a:pt x="1645428" y="48167"/>
                </a:cubicBezTo>
                <a:lnTo>
                  <a:pt x="1646671" y="689967"/>
                </a:lnTo>
                <a:lnTo>
                  <a:pt x="1645428" y="691211"/>
                </a:lnTo>
                <a:cubicBezTo>
                  <a:pt x="1641697" y="727281"/>
                  <a:pt x="1626772" y="760863"/>
                  <a:pt x="1600654" y="786983"/>
                </a:cubicBezTo>
                <a:lnTo>
                  <a:pt x="1527275" y="874049"/>
                </a:lnTo>
                <a:cubicBezTo>
                  <a:pt x="1517325" y="881512"/>
                  <a:pt x="1506132" y="885243"/>
                  <a:pt x="1493695" y="885243"/>
                </a:cubicBezTo>
                <a:cubicBezTo>
                  <a:pt x="1492451" y="885243"/>
                  <a:pt x="1491208" y="885243"/>
                  <a:pt x="1488720" y="885243"/>
                </a:cubicBezTo>
                <a:cubicBezTo>
                  <a:pt x="1477527" y="883999"/>
                  <a:pt x="1468821" y="880268"/>
                  <a:pt x="1460115" y="872805"/>
                </a:cubicBezTo>
                <a:lnTo>
                  <a:pt x="1394198" y="926289"/>
                </a:lnTo>
                <a:cubicBezTo>
                  <a:pt x="1378030" y="939970"/>
                  <a:pt x="1358131" y="947433"/>
                  <a:pt x="1338231" y="947433"/>
                </a:cubicBezTo>
                <a:cubicBezTo>
                  <a:pt x="1334500" y="947433"/>
                  <a:pt x="1332013" y="947433"/>
                  <a:pt x="1328282" y="947433"/>
                </a:cubicBezTo>
                <a:cubicBezTo>
                  <a:pt x="1309626" y="944945"/>
                  <a:pt x="1292214" y="936239"/>
                  <a:pt x="1277290" y="922557"/>
                </a:cubicBezTo>
                <a:cubicBezTo>
                  <a:pt x="1279777" y="933751"/>
                  <a:pt x="1282264" y="944945"/>
                  <a:pt x="1279777" y="956140"/>
                </a:cubicBezTo>
                <a:cubicBezTo>
                  <a:pt x="1278533" y="976040"/>
                  <a:pt x="1267340" y="993454"/>
                  <a:pt x="1251172" y="1005892"/>
                </a:cubicBezTo>
                <a:lnTo>
                  <a:pt x="1162868" y="1074300"/>
                </a:lnTo>
                <a:lnTo>
                  <a:pt x="1174062" y="1084251"/>
                </a:lnTo>
                <a:cubicBezTo>
                  <a:pt x="1201423" y="1111614"/>
                  <a:pt x="1201423" y="1157635"/>
                  <a:pt x="1174062" y="1186242"/>
                </a:cubicBezTo>
                <a:lnTo>
                  <a:pt x="1170331" y="1191217"/>
                </a:lnTo>
                <a:cubicBezTo>
                  <a:pt x="1160381" y="1198680"/>
                  <a:pt x="1150431" y="1204899"/>
                  <a:pt x="1139238" y="1208631"/>
                </a:cubicBezTo>
                <a:cubicBezTo>
                  <a:pt x="1147944" y="1221069"/>
                  <a:pt x="1152919" y="1234750"/>
                  <a:pt x="1154162" y="1248432"/>
                </a:cubicBezTo>
                <a:cubicBezTo>
                  <a:pt x="1155406" y="1269577"/>
                  <a:pt x="1149187" y="1289478"/>
                  <a:pt x="1135507" y="1303159"/>
                </a:cubicBezTo>
                <a:lnTo>
                  <a:pt x="1130532" y="1306891"/>
                </a:lnTo>
                <a:cubicBezTo>
                  <a:pt x="1118095" y="1320573"/>
                  <a:pt x="1100683" y="1326792"/>
                  <a:pt x="1082027" y="1326792"/>
                </a:cubicBezTo>
                <a:cubicBezTo>
                  <a:pt x="1079540" y="1326792"/>
                  <a:pt x="1078296" y="1326792"/>
                  <a:pt x="1075809" y="1326792"/>
                </a:cubicBezTo>
                <a:cubicBezTo>
                  <a:pt x="1062128" y="1325548"/>
                  <a:pt x="1047203" y="1320573"/>
                  <a:pt x="1034766" y="1313110"/>
                </a:cubicBezTo>
                <a:cubicBezTo>
                  <a:pt x="1032279" y="1323060"/>
                  <a:pt x="1026060" y="1334254"/>
                  <a:pt x="1017354" y="1341717"/>
                </a:cubicBezTo>
                <a:lnTo>
                  <a:pt x="1013623" y="1346692"/>
                </a:lnTo>
                <a:cubicBezTo>
                  <a:pt x="999942" y="1360374"/>
                  <a:pt x="981287" y="1367837"/>
                  <a:pt x="962631" y="1367837"/>
                </a:cubicBezTo>
                <a:cubicBezTo>
                  <a:pt x="947707" y="1367837"/>
                  <a:pt x="931538" y="1362862"/>
                  <a:pt x="919101" y="1352911"/>
                </a:cubicBezTo>
                <a:cubicBezTo>
                  <a:pt x="915370" y="1362862"/>
                  <a:pt x="910395" y="1371568"/>
                  <a:pt x="901689" y="1379031"/>
                </a:cubicBezTo>
                <a:lnTo>
                  <a:pt x="895471" y="1386494"/>
                </a:lnTo>
                <a:cubicBezTo>
                  <a:pt x="881790" y="1400176"/>
                  <a:pt x="863134" y="1407638"/>
                  <a:pt x="845722" y="1407638"/>
                </a:cubicBezTo>
                <a:cubicBezTo>
                  <a:pt x="828311" y="1407638"/>
                  <a:pt x="809655" y="1400176"/>
                  <a:pt x="795974" y="1386494"/>
                </a:cubicBezTo>
                <a:lnTo>
                  <a:pt x="777318" y="1369081"/>
                </a:lnTo>
                <a:lnTo>
                  <a:pt x="761150" y="1381519"/>
                </a:lnTo>
                <a:cubicBezTo>
                  <a:pt x="751201" y="1388981"/>
                  <a:pt x="737520" y="1392713"/>
                  <a:pt x="726326" y="1392713"/>
                </a:cubicBezTo>
                <a:cubicBezTo>
                  <a:pt x="706427" y="1392713"/>
                  <a:pt x="687771" y="1384006"/>
                  <a:pt x="675334" y="1367837"/>
                </a:cubicBezTo>
                <a:lnTo>
                  <a:pt x="669116" y="1360374"/>
                </a:lnTo>
                <a:cubicBezTo>
                  <a:pt x="662897" y="1351667"/>
                  <a:pt x="659166" y="1341717"/>
                  <a:pt x="656679" y="1333010"/>
                </a:cubicBezTo>
                <a:cubicBezTo>
                  <a:pt x="654191" y="1333010"/>
                  <a:pt x="650460" y="1333010"/>
                  <a:pt x="649216" y="1333010"/>
                </a:cubicBezTo>
                <a:cubicBezTo>
                  <a:pt x="644241" y="1333010"/>
                  <a:pt x="640510" y="1333010"/>
                  <a:pt x="636779" y="1331767"/>
                </a:cubicBezTo>
                <a:cubicBezTo>
                  <a:pt x="620611" y="1328035"/>
                  <a:pt x="606930" y="1319329"/>
                  <a:pt x="595737" y="1305647"/>
                </a:cubicBezTo>
                <a:lnTo>
                  <a:pt x="593249" y="1301916"/>
                </a:lnTo>
                <a:cubicBezTo>
                  <a:pt x="585787" y="1291965"/>
                  <a:pt x="580812" y="1280771"/>
                  <a:pt x="578325" y="1269577"/>
                </a:cubicBezTo>
                <a:cubicBezTo>
                  <a:pt x="577081" y="1269577"/>
                  <a:pt x="575837" y="1269577"/>
                  <a:pt x="573350" y="1269577"/>
                </a:cubicBezTo>
                <a:cubicBezTo>
                  <a:pt x="569619" y="1269577"/>
                  <a:pt x="567131" y="1269577"/>
                  <a:pt x="563400" y="1268333"/>
                </a:cubicBezTo>
                <a:cubicBezTo>
                  <a:pt x="545988" y="1265845"/>
                  <a:pt x="532308" y="1257139"/>
                  <a:pt x="521114" y="1243457"/>
                </a:cubicBezTo>
                <a:lnTo>
                  <a:pt x="518627" y="1239726"/>
                </a:lnTo>
                <a:cubicBezTo>
                  <a:pt x="507433" y="1226044"/>
                  <a:pt x="502459" y="1208631"/>
                  <a:pt x="504946" y="1191217"/>
                </a:cubicBezTo>
                <a:cubicBezTo>
                  <a:pt x="506190" y="1181267"/>
                  <a:pt x="509921" y="1171317"/>
                  <a:pt x="516139" y="1162610"/>
                </a:cubicBezTo>
                <a:cubicBezTo>
                  <a:pt x="507433" y="1157635"/>
                  <a:pt x="499971" y="1152660"/>
                  <a:pt x="494996" y="1143953"/>
                </a:cubicBezTo>
                <a:lnTo>
                  <a:pt x="491265" y="1140222"/>
                </a:lnTo>
                <a:cubicBezTo>
                  <a:pt x="481316" y="1126540"/>
                  <a:pt x="475097" y="1111614"/>
                  <a:pt x="476341" y="1095445"/>
                </a:cubicBezTo>
                <a:cubicBezTo>
                  <a:pt x="477584" y="1087982"/>
                  <a:pt x="478828" y="1079276"/>
                  <a:pt x="481316" y="1073057"/>
                </a:cubicBezTo>
                <a:lnTo>
                  <a:pt x="400474" y="992210"/>
                </a:lnTo>
                <a:cubicBezTo>
                  <a:pt x="378088" y="968578"/>
                  <a:pt x="365651" y="938726"/>
                  <a:pt x="363163" y="907632"/>
                </a:cubicBezTo>
                <a:cubicBezTo>
                  <a:pt x="346995" y="922557"/>
                  <a:pt x="324608" y="932507"/>
                  <a:pt x="300978" y="932507"/>
                </a:cubicBezTo>
                <a:cubicBezTo>
                  <a:pt x="277347" y="932507"/>
                  <a:pt x="254960" y="922557"/>
                  <a:pt x="237549" y="905144"/>
                </a:cubicBezTo>
                <a:lnTo>
                  <a:pt x="177850" y="845442"/>
                </a:lnTo>
                <a:cubicBezTo>
                  <a:pt x="169144" y="852904"/>
                  <a:pt x="159195" y="855392"/>
                  <a:pt x="148001" y="855392"/>
                </a:cubicBezTo>
                <a:cubicBezTo>
                  <a:pt x="134321" y="855392"/>
                  <a:pt x="121884" y="850417"/>
                  <a:pt x="111934" y="840466"/>
                </a:cubicBezTo>
                <a:lnTo>
                  <a:pt x="110690" y="839223"/>
                </a:lnTo>
                <a:lnTo>
                  <a:pt x="34824" y="745938"/>
                </a:lnTo>
                <a:cubicBezTo>
                  <a:pt x="13681" y="717330"/>
                  <a:pt x="0" y="682504"/>
                  <a:pt x="0" y="646434"/>
                </a:cubicBezTo>
                <a:lnTo>
                  <a:pt x="0" y="39460"/>
                </a:lnTo>
                <a:cubicBezTo>
                  <a:pt x="0" y="24534"/>
                  <a:pt x="8706" y="10853"/>
                  <a:pt x="23630" y="3390"/>
                </a:cubicBezTo>
                <a:cubicBezTo>
                  <a:pt x="31093" y="280"/>
                  <a:pt x="38866" y="-652"/>
                  <a:pt x="46328" y="43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34" name="Oval 20"/>
          <p:cNvSpPr>
            <a:spLocks noChangeArrowheads="1"/>
          </p:cNvSpPr>
          <p:nvPr/>
        </p:nvSpPr>
        <p:spPr bwMode="gray">
          <a:xfrm>
            <a:off x="7486928" y="3604564"/>
            <a:ext cx="324000" cy="324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5" name="Oval 20"/>
          <p:cNvSpPr>
            <a:spLocks noChangeArrowheads="1"/>
          </p:cNvSpPr>
          <p:nvPr/>
        </p:nvSpPr>
        <p:spPr bwMode="gray">
          <a:xfrm>
            <a:off x="7509229" y="4925635"/>
            <a:ext cx="324000" cy="324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6630" y="5920982"/>
            <a:ext cx="3474720" cy="1007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17034" tIns="58517" rIns="117034" bIns="58517" rtlCol="1" anchor="ctr">
            <a:noAutofit/>
          </a:bodyPr>
          <a:lstStyle/>
          <a:p>
            <a:pPr algn="ctr" fontAlgn="ctr"/>
            <a:r>
              <a:rPr lang="en-US" sz="1600" dirty="0"/>
              <a:t>Student incentives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7" name="Freeform 795">
            <a:extLst>
              <a:ext uri="{FF2B5EF4-FFF2-40B4-BE49-F238E27FC236}">
                <a16:creationId xmlns:a16="http://schemas.microsoft.com/office/drawing/2014/main" id="{B554FE1A-1094-944B-BC09-D8AA5A928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384" y="6151385"/>
            <a:ext cx="468000" cy="468000"/>
          </a:xfrm>
          <a:custGeom>
            <a:avLst/>
            <a:gdLst>
              <a:gd name="T0" fmla="*/ 468565 w 304441"/>
              <a:gd name="T1" fmla="*/ 1775791 h 306027"/>
              <a:gd name="T2" fmla="*/ 1351954 w 304441"/>
              <a:gd name="T3" fmla="*/ 1525192 h 306027"/>
              <a:gd name="T4" fmla="*/ 843478 w 304441"/>
              <a:gd name="T5" fmla="*/ 325522 h 306027"/>
              <a:gd name="T6" fmla="*/ 785152 w 304441"/>
              <a:gd name="T7" fmla="*/ 409525 h 306027"/>
              <a:gd name="T8" fmla="*/ 720348 w 304441"/>
              <a:gd name="T9" fmla="*/ 499997 h 306027"/>
              <a:gd name="T10" fmla="*/ 657695 w 304441"/>
              <a:gd name="T11" fmla="*/ 579698 h 306027"/>
              <a:gd name="T12" fmla="*/ 720348 w 304441"/>
              <a:gd name="T13" fmla="*/ 659398 h 306027"/>
              <a:gd name="T14" fmla="*/ 785152 w 304441"/>
              <a:gd name="T15" fmla="*/ 752025 h 306027"/>
              <a:gd name="T16" fmla="*/ 843478 w 304441"/>
              <a:gd name="T17" fmla="*/ 833876 h 306027"/>
              <a:gd name="T18" fmla="*/ 925570 w 304441"/>
              <a:gd name="T19" fmla="*/ 797259 h 306027"/>
              <a:gd name="T20" fmla="*/ 1007663 w 304441"/>
              <a:gd name="T21" fmla="*/ 833876 h 306027"/>
              <a:gd name="T22" fmla="*/ 1063824 w 304441"/>
              <a:gd name="T23" fmla="*/ 752025 h 306027"/>
              <a:gd name="T24" fmla="*/ 1130795 w 304441"/>
              <a:gd name="T25" fmla="*/ 659398 h 306027"/>
              <a:gd name="T26" fmla="*/ 1193445 w 304441"/>
              <a:gd name="T27" fmla="*/ 579698 h 306027"/>
              <a:gd name="T28" fmla="*/ 1130795 w 304441"/>
              <a:gd name="T29" fmla="*/ 499997 h 306027"/>
              <a:gd name="T30" fmla="*/ 1063824 w 304441"/>
              <a:gd name="T31" fmla="*/ 409525 h 306027"/>
              <a:gd name="T32" fmla="*/ 1007663 w 304441"/>
              <a:gd name="T33" fmla="*/ 325522 h 306027"/>
              <a:gd name="T34" fmla="*/ 912607 w 304441"/>
              <a:gd name="T35" fmla="*/ 359984 h 306027"/>
              <a:gd name="T36" fmla="*/ 843478 w 304441"/>
              <a:gd name="T37" fmla="*/ 265204 h 306027"/>
              <a:gd name="T38" fmla="*/ 1007663 w 304441"/>
              <a:gd name="T39" fmla="*/ 265204 h 306027"/>
              <a:gd name="T40" fmla="*/ 1087588 w 304441"/>
              <a:gd name="T41" fmla="*/ 357827 h 306027"/>
              <a:gd name="T42" fmla="*/ 1199925 w 304441"/>
              <a:gd name="T43" fmla="*/ 405224 h 306027"/>
              <a:gd name="T44" fmla="*/ 1251773 w 304441"/>
              <a:gd name="T45" fmla="*/ 560315 h 306027"/>
              <a:gd name="T46" fmla="*/ 1186962 w 304441"/>
              <a:gd name="T47" fmla="*/ 665860 h 306027"/>
              <a:gd name="T48" fmla="*/ 1178322 w 304441"/>
              <a:gd name="T49" fmla="*/ 786489 h 306027"/>
              <a:gd name="T50" fmla="*/ 1044385 w 304441"/>
              <a:gd name="T51" fmla="*/ 883424 h 306027"/>
              <a:gd name="T52" fmla="*/ 1007663 w 304441"/>
              <a:gd name="T53" fmla="*/ 894194 h 306027"/>
              <a:gd name="T54" fmla="*/ 843478 w 304441"/>
              <a:gd name="T55" fmla="*/ 894194 h 306027"/>
              <a:gd name="T56" fmla="*/ 763552 w 304441"/>
              <a:gd name="T57" fmla="*/ 803722 h 306027"/>
              <a:gd name="T58" fmla="*/ 649056 w 304441"/>
              <a:gd name="T59" fmla="*/ 756330 h 306027"/>
              <a:gd name="T60" fmla="*/ 599369 w 304441"/>
              <a:gd name="T61" fmla="*/ 599087 h 306027"/>
              <a:gd name="T62" fmla="*/ 662020 w 304441"/>
              <a:gd name="T63" fmla="*/ 495694 h 306027"/>
              <a:gd name="T64" fmla="*/ 672820 w 304441"/>
              <a:gd name="T65" fmla="*/ 372909 h 306027"/>
              <a:gd name="T66" fmla="*/ 806757 w 304441"/>
              <a:gd name="T67" fmla="*/ 275978 h 306027"/>
              <a:gd name="T68" fmla="*/ 1407834 w 304441"/>
              <a:gd name="T69" fmla="*/ 194426 h 306027"/>
              <a:gd name="T70" fmla="*/ 1360552 w 304441"/>
              <a:gd name="T71" fmla="*/ 950545 h 306027"/>
              <a:gd name="T72" fmla="*/ 1534650 w 304441"/>
              <a:gd name="T73" fmla="*/ 194426 h 306027"/>
              <a:gd name="T74" fmla="*/ 285867 w 304441"/>
              <a:gd name="T75" fmla="*/ 194426 h 306027"/>
              <a:gd name="T76" fmla="*/ 459967 w 304441"/>
              <a:gd name="T77" fmla="*/ 950545 h 306027"/>
              <a:gd name="T78" fmla="*/ 412678 w 304441"/>
              <a:gd name="T79" fmla="*/ 194426 h 306027"/>
              <a:gd name="T80" fmla="*/ 496501 w 304441"/>
              <a:gd name="T81" fmla="*/ 56168 h 306027"/>
              <a:gd name="T82" fmla="*/ 468565 w 304441"/>
              <a:gd name="T83" fmla="*/ 736677 h 306027"/>
              <a:gd name="T84" fmla="*/ 763026 w 304441"/>
              <a:gd name="T85" fmla="*/ 1278916 h 306027"/>
              <a:gd name="T86" fmla="*/ 1143466 w 304441"/>
              <a:gd name="T87" fmla="*/ 1471183 h 306027"/>
              <a:gd name="T88" fmla="*/ 1111222 w 304441"/>
              <a:gd name="T89" fmla="*/ 1134177 h 306027"/>
              <a:gd name="T90" fmla="*/ 1351954 w 304441"/>
              <a:gd name="T91" fmla="*/ 82091 h 306027"/>
              <a:gd name="T92" fmla="*/ 496501 w 304441"/>
              <a:gd name="T93" fmla="*/ 56168 h 306027"/>
              <a:gd name="T94" fmla="*/ 1326162 w 304441"/>
              <a:gd name="T95" fmla="*/ 0 h 306027"/>
              <a:gd name="T96" fmla="*/ 1407834 w 304441"/>
              <a:gd name="T97" fmla="*/ 138259 h 306027"/>
              <a:gd name="T98" fmla="*/ 1820517 w 304441"/>
              <a:gd name="T99" fmla="*/ 427748 h 306027"/>
              <a:gd name="T100" fmla="*/ 1134865 w 304441"/>
              <a:gd name="T101" fmla="*/ 1181701 h 306027"/>
              <a:gd name="T102" fmla="*/ 1203647 w 304441"/>
              <a:gd name="T103" fmla="*/ 1471183 h 306027"/>
              <a:gd name="T104" fmla="*/ 1407834 w 304441"/>
              <a:gd name="T105" fmla="*/ 1499273 h 306027"/>
              <a:gd name="T106" fmla="*/ 1379897 w 304441"/>
              <a:gd name="T107" fmla="*/ 1831959 h 306027"/>
              <a:gd name="T108" fmla="*/ 412678 w 304441"/>
              <a:gd name="T109" fmla="*/ 1803877 h 306027"/>
              <a:gd name="T110" fmla="*/ 440621 w 304441"/>
              <a:gd name="T111" fmla="*/ 1471183 h 306027"/>
              <a:gd name="T112" fmla="*/ 711443 w 304441"/>
              <a:gd name="T113" fmla="*/ 1255153 h 306027"/>
              <a:gd name="T114" fmla="*/ 496501 w 304441"/>
              <a:gd name="T115" fmla="*/ 1015353 h 306027"/>
              <a:gd name="T116" fmla="*/ 285867 w 304441"/>
              <a:gd name="T117" fmla="*/ 138259 h 306027"/>
              <a:gd name="T118" fmla="*/ 412678 w 304441"/>
              <a:gd name="T119" fmla="*/ 82091 h 30602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04441" h="306027">
                <a:moveTo>
                  <a:pt x="78357" y="254782"/>
                </a:moveTo>
                <a:lnTo>
                  <a:pt x="78357" y="296644"/>
                </a:lnTo>
                <a:lnTo>
                  <a:pt x="226084" y="296644"/>
                </a:lnTo>
                <a:lnTo>
                  <a:pt x="226084" y="254782"/>
                </a:lnTo>
                <a:lnTo>
                  <a:pt x="78357" y="254782"/>
                </a:lnTo>
                <a:close/>
                <a:moveTo>
                  <a:pt x="141053" y="54378"/>
                </a:moveTo>
                <a:lnTo>
                  <a:pt x="134912" y="65892"/>
                </a:lnTo>
                <a:cubicBezTo>
                  <a:pt x="134189" y="67332"/>
                  <a:pt x="132744" y="68051"/>
                  <a:pt x="131299" y="68411"/>
                </a:cubicBezTo>
                <a:lnTo>
                  <a:pt x="118294" y="70570"/>
                </a:lnTo>
                <a:lnTo>
                  <a:pt x="120462" y="83524"/>
                </a:lnTo>
                <a:cubicBezTo>
                  <a:pt x="120462" y="84964"/>
                  <a:pt x="120100" y="86403"/>
                  <a:pt x="119017" y="87482"/>
                </a:cubicBezTo>
                <a:lnTo>
                  <a:pt x="109985" y="96838"/>
                </a:lnTo>
                <a:lnTo>
                  <a:pt x="119017" y="106194"/>
                </a:lnTo>
                <a:cubicBezTo>
                  <a:pt x="120100" y="107273"/>
                  <a:pt x="120462" y="108713"/>
                  <a:pt x="120462" y="110152"/>
                </a:cubicBezTo>
                <a:lnTo>
                  <a:pt x="118294" y="123106"/>
                </a:lnTo>
                <a:lnTo>
                  <a:pt x="131299" y="125625"/>
                </a:lnTo>
                <a:cubicBezTo>
                  <a:pt x="132744" y="125625"/>
                  <a:pt x="134189" y="126344"/>
                  <a:pt x="134912" y="127784"/>
                </a:cubicBezTo>
                <a:lnTo>
                  <a:pt x="141053" y="139298"/>
                </a:lnTo>
                <a:lnTo>
                  <a:pt x="152613" y="133541"/>
                </a:lnTo>
                <a:cubicBezTo>
                  <a:pt x="153336" y="133181"/>
                  <a:pt x="154058" y="133181"/>
                  <a:pt x="154781" y="133181"/>
                </a:cubicBezTo>
                <a:cubicBezTo>
                  <a:pt x="155142" y="133181"/>
                  <a:pt x="156226" y="133181"/>
                  <a:pt x="156949" y="133541"/>
                </a:cubicBezTo>
                <a:lnTo>
                  <a:pt x="168509" y="139298"/>
                </a:lnTo>
                <a:lnTo>
                  <a:pt x="174650" y="127784"/>
                </a:lnTo>
                <a:cubicBezTo>
                  <a:pt x="175373" y="126344"/>
                  <a:pt x="176456" y="125625"/>
                  <a:pt x="177901" y="125625"/>
                </a:cubicBezTo>
                <a:lnTo>
                  <a:pt x="190907" y="123106"/>
                </a:lnTo>
                <a:lnTo>
                  <a:pt x="189100" y="110152"/>
                </a:lnTo>
                <a:cubicBezTo>
                  <a:pt x="188739" y="108713"/>
                  <a:pt x="189462" y="107273"/>
                  <a:pt x="190545" y="106194"/>
                </a:cubicBezTo>
                <a:lnTo>
                  <a:pt x="199577" y="96838"/>
                </a:lnTo>
                <a:lnTo>
                  <a:pt x="190545" y="87482"/>
                </a:lnTo>
                <a:cubicBezTo>
                  <a:pt x="189462" y="86403"/>
                  <a:pt x="188739" y="84964"/>
                  <a:pt x="189100" y="83524"/>
                </a:cubicBezTo>
                <a:lnTo>
                  <a:pt x="190907" y="70570"/>
                </a:lnTo>
                <a:lnTo>
                  <a:pt x="177901" y="68411"/>
                </a:lnTo>
                <a:cubicBezTo>
                  <a:pt x="176456" y="68051"/>
                  <a:pt x="175373" y="67332"/>
                  <a:pt x="174650" y="65892"/>
                </a:cubicBezTo>
                <a:lnTo>
                  <a:pt x="168509" y="54378"/>
                </a:lnTo>
                <a:lnTo>
                  <a:pt x="156949" y="60135"/>
                </a:lnTo>
                <a:cubicBezTo>
                  <a:pt x="155504" y="60855"/>
                  <a:pt x="153697" y="60855"/>
                  <a:pt x="152613" y="60135"/>
                </a:cubicBezTo>
                <a:lnTo>
                  <a:pt x="141053" y="54378"/>
                </a:lnTo>
                <a:close/>
                <a:moveTo>
                  <a:pt x="141053" y="44302"/>
                </a:moveTo>
                <a:lnTo>
                  <a:pt x="154781" y="50779"/>
                </a:lnTo>
                <a:lnTo>
                  <a:pt x="168509" y="44302"/>
                </a:lnTo>
                <a:cubicBezTo>
                  <a:pt x="170676" y="42863"/>
                  <a:pt x="173205" y="43943"/>
                  <a:pt x="174650" y="46102"/>
                </a:cubicBezTo>
                <a:lnTo>
                  <a:pt x="181875" y="59775"/>
                </a:lnTo>
                <a:lnTo>
                  <a:pt x="197048" y="62294"/>
                </a:lnTo>
                <a:cubicBezTo>
                  <a:pt x="199577" y="62654"/>
                  <a:pt x="201022" y="65173"/>
                  <a:pt x="200661" y="67692"/>
                </a:cubicBezTo>
                <a:lnTo>
                  <a:pt x="198493" y="82805"/>
                </a:lnTo>
                <a:lnTo>
                  <a:pt x="209331" y="93600"/>
                </a:lnTo>
                <a:cubicBezTo>
                  <a:pt x="210776" y="95399"/>
                  <a:pt x="210776" y="98277"/>
                  <a:pt x="209331" y="100077"/>
                </a:cubicBezTo>
                <a:lnTo>
                  <a:pt x="198493" y="111231"/>
                </a:lnTo>
                <a:lnTo>
                  <a:pt x="200661" y="126344"/>
                </a:lnTo>
                <a:cubicBezTo>
                  <a:pt x="201022" y="128503"/>
                  <a:pt x="199577" y="131022"/>
                  <a:pt x="197048" y="131382"/>
                </a:cubicBezTo>
                <a:lnTo>
                  <a:pt x="181875" y="134261"/>
                </a:lnTo>
                <a:lnTo>
                  <a:pt x="174650" y="147575"/>
                </a:lnTo>
                <a:cubicBezTo>
                  <a:pt x="173928" y="149014"/>
                  <a:pt x="172483" y="150093"/>
                  <a:pt x="170676" y="150093"/>
                </a:cubicBezTo>
                <a:cubicBezTo>
                  <a:pt x="169593" y="150093"/>
                  <a:pt x="169231" y="150093"/>
                  <a:pt x="168509" y="149374"/>
                </a:cubicBezTo>
                <a:lnTo>
                  <a:pt x="154781" y="142897"/>
                </a:lnTo>
                <a:lnTo>
                  <a:pt x="141053" y="149374"/>
                </a:lnTo>
                <a:cubicBezTo>
                  <a:pt x="138524" y="150453"/>
                  <a:pt x="135996" y="149734"/>
                  <a:pt x="134912" y="147575"/>
                </a:cubicBezTo>
                <a:lnTo>
                  <a:pt x="127687" y="134261"/>
                </a:lnTo>
                <a:lnTo>
                  <a:pt x="112514" y="131382"/>
                </a:lnTo>
                <a:cubicBezTo>
                  <a:pt x="109985" y="131022"/>
                  <a:pt x="108179" y="128503"/>
                  <a:pt x="108540" y="126344"/>
                </a:cubicBezTo>
                <a:lnTo>
                  <a:pt x="110708" y="111231"/>
                </a:lnTo>
                <a:lnTo>
                  <a:pt x="100231" y="100077"/>
                </a:lnTo>
                <a:cubicBezTo>
                  <a:pt x="98425" y="98277"/>
                  <a:pt x="98425" y="95399"/>
                  <a:pt x="100231" y="93600"/>
                </a:cubicBezTo>
                <a:lnTo>
                  <a:pt x="110708" y="82805"/>
                </a:lnTo>
                <a:lnTo>
                  <a:pt x="108540" y="67692"/>
                </a:lnTo>
                <a:cubicBezTo>
                  <a:pt x="108179" y="65173"/>
                  <a:pt x="109985" y="62654"/>
                  <a:pt x="112514" y="62294"/>
                </a:cubicBezTo>
                <a:lnTo>
                  <a:pt x="127687" y="59775"/>
                </a:lnTo>
                <a:lnTo>
                  <a:pt x="134912" y="46102"/>
                </a:lnTo>
                <a:cubicBezTo>
                  <a:pt x="135996" y="43943"/>
                  <a:pt x="138524" y="42863"/>
                  <a:pt x="141053" y="44302"/>
                </a:cubicBezTo>
                <a:close/>
                <a:moveTo>
                  <a:pt x="235429" y="32479"/>
                </a:moveTo>
                <a:lnTo>
                  <a:pt x="235429" y="123061"/>
                </a:lnTo>
                <a:cubicBezTo>
                  <a:pt x="235429" y="135691"/>
                  <a:pt x="232554" y="147961"/>
                  <a:pt x="227522" y="158788"/>
                </a:cubicBezTo>
                <a:cubicBezTo>
                  <a:pt x="266341" y="149044"/>
                  <a:pt x="295455" y="113317"/>
                  <a:pt x="295455" y="71455"/>
                </a:cubicBezTo>
                <a:cubicBezTo>
                  <a:pt x="295455" y="49802"/>
                  <a:pt x="277842" y="32479"/>
                  <a:pt x="256636" y="32479"/>
                </a:cubicBezTo>
                <a:lnTo>
                  <a:pt x="235429" y="32479"/>
                </a:lnTo>
                <a:close/>
                <a:moveTo>
                  <a:pt x="47805" y="32479"/>
                </a:moveTo>
                <a:cubicBezTo>
                  <a:pt x="26598" y="32479"/>
                  <a:pt x="8986" y="49802"/>
                  <a:pt x="8986" y="71455"/>
                </a:cubicBezTo>
                <a:cubicBezTo>
                  <a:pt x="8986" y="113317"/>
                  <a:pt x="38100" y="149044"/>
                  <a:pt x="76919" y="158788"/>
                </a:cubicBezTo>
                <a:cubicBezTo>
                  <a:pt x="71887" y="147961"/>
                  <a:pt x="69011" y="135691"/>
                  <a:pt x="69011" y="123061"/>
                </a:cubicBezTo>
                <a:lnTo>
                  <a:pt x="69011" y="32479"/>
                </a:lnTo>
                <a:lnTo>
                  <a:pt x="47805" y="32479"/>
                </a:lnTo>
                <a:close/>
                <a:moveTo>
                  <a:pt x="83029" y="9383"/>
                </a:moveTo>
                <a:cubicBezTo>
                  <a:pt x="80513" y="9383"/>
                  <a:pt x="78357" y="11187"/>
                  <a:pt x="78357" y="13713"/>
                </a:cubicBezTo>
                <a:lnTo>
                  <a:pt x="78357" y="123061"/>
                </a:lnTo>
                <a:cubicBezTo>
                  <a:pt x="78357" y="151209"/>
                  <a:pt x="93812" y="176832"/>
                  <a:pt x="118973" y="189463"/>
                </a:cubicBezTo>
                <a:cubicBezTo>
                  <a:pt x="127599" y="194154"/>
                  <a:pt x="131553" y="204620"/>
                  <a:pt x="127599" y="213642"/>
                </a:cubicBezTo>
                <a:lnTo>
                  <a:pt x="113222" y="245760"/>
                </a:lnTo>
                <a:lnTo>
                  <a:pt x="191219" y="245760"/>
                </a:lnTo>
                <a:lnTo>
                  <a:pt x="177201" y="213642"/>
                </a:lnTo>
                <a:cubicBezTo>
                  <a:pt x="172888" y="204620"/>
                  <a:pt x="176842" y="194154"/>
                  <a:pt x="185827" y="189463"/>
                </a:cubicBezTo>
                <a:cubicBezTo>
                  <a:pt x="210628" y="176832"/>
                  <a:pt x="226084" y="151570"/>
                  <a:pt x="226084" y="123061"/>
                </a:cubicBezTo>
                <a:lnTo>
                  <a:pt x="226084" y="13713"/>
                </a:lnTo>
                <a:cubicBezTo>
                  <a:pt x="226084" y="11187"/>
                  <a:pt x="224287" y="9383"/>
                  <a:pt x="221771" y="9383"/>
                </a:cubicBezTo>
                <a:lnTo>
                  <a:pt x="83029" y="9383"/>
                </a:lnTo>
                <a:close/>
                <a:moveTo>
                  <a:pt x="83029" y="0"/>
                </a:moveTo>
                <a:lnTo>
                  <a:pt x="221771" y="0"/>
                </a:lnTo>
                <a:cubicBezTo>
                  <a:pt x="229319" y="0"/>
                  <a:pt x="235429" y="6135"/>
                  <a:pt x="235429" y="13713"/>
                </a:cubicBezTo>
                <a:lnTo>
                  <a:pt x="235429" y="23096"/>
                </a:lnTo>
                <a:lnTo>
                  <a:pt x="256636" y="23096"/>
                </a:lnTo>
                <a:cubicBezTo>
                  <a:pt x="283234" y="23096"/>
                  <a:pt x="304441" y="44749"/>
                  <a:pt x="304441" y="71455"/>
                </a:cubicBezTo>
                <a:cubicBezTo>
                  <a:pt x="304441" y="120534"/>
                  <a:pt x="268497" y="161675"/>
                  <a:pt x="221411" y="169614"/>
                </a:cubicBezTo>
                <a:cubicBezTo>
                  <a:pt x="213863" y="181162"/>
                  <a:pt x="203080" y="190906"/>
                  <a:pt x="189781" y="197402"/>
                </a:cubicBezTo>
                <a:cubicBezTo>
                  <a:pt x="185468" y="199928"/>
                  <a:pt x="183311" y="205341"/>
                  <a:pt x="185468" y="209672"/>
                </a:cubicBezTo>
                <a:lnTo>
                  <a:pt x="201283" y="245760"/>
                </a:lnTo>
                <a:lnTo>
                  <a:pt x="230757" y="245760"/>
                </a:lnTo>
                <a:cubicBezTo>
                  <a:pt x="233273" y="245760"/>
                  <a:pt x="235429" y="247925"/>
                  <a:pt x="235429" y="250452"/>
                </a:cubicBezTo>
                <a:lnTo>
                  <a:pt x="235429" y="301336"/>
                </a:lnTo>
                <a:cubicBezTo>
                  <a:pt x="235429" y="303862"/>
                  <a:pt x="233273" y="306027"/>
                  <a:pt x="230757" y="306027"/>
                </a:cubicBezTo>
                <a:lnTo>
                  <a:pt x="73684" y="306027"/>
                </a:lnTo>
                <a:cubicBezTo>
                  <a:pt x="71168" y="306027"/>
                  <a:pt x="69011" y="303862"/>
                  <a:pt x="69011" y="301336"/>
                </a:cubicBezTo>
                <a:lnTo>
                  <a:pt x="69011" y="250452"/>
                </a:lnTo>
                <a:cubicBezTo>
                  <a:pt x="69011" y="247925"/>
                  <a:pt x="71168" y="245760"/>
                  <a:pt x="73684" y="245760"/>
                </a:cubicBezTo>
                <a:lnTo>
                  <a:pt x="103158" y="245760"/>
                </a:lnTo>
                <a:lnTo>
                  <a:pt x="118973" y="209672"/>
                </a:lnTo>
                <a:cubicBezTo>
                  <a:pt x="121129" y="205341"/>
                  <a:pt x="119332" y="199928"/>
                  <a:pt x="114659" y="197402"/>
                </a:cubicBezTo>
                <a:cubicBezTo>
                  <a:pt x="101720" y="190906"/>
                  <a:pt x="90937" y="181162"/>
                  <a:pt x="83029" y="169614"/>
                </a:cubicBezTo>
                <a:cubicBezTo>
                  <a:pt x="35943" y="161675"/>
                  <a:pt x="0" y="120534"/>
                  <a:pt x="0" y="71455"/>
                </a:cubicBezTo>
                <a:cubicBezTo>
                  <a:pt x="0" y="44749"/>
                  <a:pt x="21566" y="23096"/>
                  <a:pt x="47805" y="23096"/>
                </a:cubicBezTo>
                <a:lnTo>
                  <a:pt x="69011" y="23096"/>
                </a:lnTo>
                <a:lnTo>
                  <a:pt x="69011" y="13713"/>
                </a:lnTo>
                <a:cubicBezTo>
                  <a:pt x="69011" y="6135"/>
                  <a:pt x="75481" y="0"/>
                  <a:pt x="830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8" name="Oval 20"/>
          <p:cNvSpPr>
            <a:spLocks noChangeArrowheads="1"/>
          </p:cNvSpPr>
          <p:nvPr/>
        </p:nvSpPr>
        <p:spPr bwMode="gray">
          <a:xfrm>
            <a:off x="7509229" y="6213328"/>
            <a:ext cx="324000" cy="324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/>
            <a:r>
              <a:rPr lang="en-US" altLang="ar-EG" sz="14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3806" y="1268632"/>
            <a:ext cx="3008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Strategic Enablers 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5464100" y="1637964"/>
            <a:ext cx="2078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408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18" y="3087727"/>
            <a:ext cx="11274266" cy="13115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KU Accountability Framework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09" y="732203"/>
            <a:ext cx="2433761" cy="59465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23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6628" name="Rectangle 3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410295" y="188463"/>
            <a:ext cx="9189960" cy="1076773"/>
          </a:xfrm>
        </p:spPr>
        <p:txBody>
          <a:bodyPr>
            <a:noAutofit/>
          </a:bodyPr>
          <a:lstStyle/>
          <a:p>
            <a:r>
              <a:rPr lang="en-US" altLang="en-US" sz="2400" b="1" dirty="0">
                <a:latin typeface="Candara" panose="020E0502030303020204" pitchFamily="34" charset="0"/>
              </a:rPr>
              <a:t>To ensure accountability, Khalifa University can be monitored across three different pillars</a:t>
            </a:r>
          </a:p>
        </p:txBody>
      </p:sp>
      <p:graphicFrame>
        <p:nvGraphicFramePr>
          <p:cNvPr id="11546627" name="Rectangle 3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518230" y="0"/>
          <a:ext cx="184143" cy="184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TCLayout.ActiveDocument.1">
                  <p:embed/>
                </p:oleObj>
              </mc:Choice>
              <mc:Fallback>
                <p:oleObj name="think-cell Slide" r:id="rId11" imgW="0" imgH="0" progId="TCLayout.ActiveDocument.1">
                  <p:embed/>
                  <p:pic>
                    <p:nvPicPr>
                      <p:cNvPr id="11546627" name="Rectangle 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30" y="0"/>
                        <a:ext cx="184143" cy="184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46630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5359216" y="1591708"/>
            <a:ext cx="2243949" cy="24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1624" dirty="0"/>
              <a:t>KU Accountability Model</a:t>
            </a:r>
          </a:p>
        </p:txBody>
      </p:sp>
      <p:sp>
        <p:nvSpPr>
          <p:cNvPr id="11546631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3115" y="2568329"/>
            <a:ext cx="6571681" cy="64634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66BB0"/>
            </a:solidFill>
            <a:miter lim="800000"/>
            <a:headEnd/>
            <a:tailEnd/>
          </a:ln>
        </p:spPr>
        <p:txBody>
          <a:bodyPr lIns="104396" tIns="54286" rIns="104396" bIns="54286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1276" i="1" dirty="0"/>
              <a:t>The government can regulate KU accountability by setting objectives across three different pillars</a:t>
            </a:r>
          </a:p>
        </p:txBody>
      </p:sp>
      <p:sp>
        <p:nvSpPr>
          <p:cNvPr id="11546632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2315339" y="2441693"/>
            <a:ext cx="3043877" cy="20071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104396" tIns="54286" rIns="104396" bIns="54286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1392" i="1" dirty="0">
                <a:solidFill>
                  <a:schemeClr val="folHlink"/>
                </a:solidFill>
              </a:rPr>
              <a:t>The Government</a:t>
            </a:r>
          </a:p>
        </p:txBody>
      </p:sp>
      <p:sp>
        <p:nvSpPr>
          <p:cNvPr id="11546641" name="Text Box 16"/>
          <p:cNvSpPr txBox="1">
            <a:spLocks noChangeArrowheads="1"/>
          </p:cNvSpPr>
          <p:nvPr/>
        </p:nvSpPr>
        <p:spPr bwMode="auto">
          <a:xfrm>
            <a:off x="935856" y="3475236"/>
            <a:ext cx="1260806" cy="323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4396" tIns="54286" rIns="104396" bIns="54286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altLang="en-US" sz="1392" i="1" dirty="0">
                <a:solidFill>
                  <a:schemeClr val="folHlink"/>
                </a:solidFill>
              </a:rPr>
              <a:t>Pillar</a:t>
            </a:r>
          </a:p>
        </p:txBody>
      </p:sp>
      <p:sp>
        <p:nvSpPr>
          <p:cNvPr id="11546649" name="Rectangle 2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6200000">
            <a:off x="1229614" y="3540717"/>
            <a:ext cx="946823" cy="1738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vert="eaVert" lIns="104396" tIns="54286" rIns="104396" bIns="54286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en-US" sz="1392" dirty="0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</a:p>
        </p:txBody>
      </p:sp>
      <p:sp>
        <p:nvSpPr>
          <p:cNvPr id="11546650" name="Rectangle 25"/>
          <p:cNvSpPr>
            <a:spLocks noChangeArrowheads="1"/>
          </p:cNvSpPr>
          <p:nvPr/>
        </p:nvSpPr>
        <p:spPr bwMode="auto">
          <a:xfrm>
            <a:off x="2607597" y="3938808"/>
            <a:ext cx="4799041" cy="94682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39393"/>
            </a:solidFill>
            <a:miter lim="800000"/>
            <a:headEnd/>
            <a:tailEnd/>
          </a:ln>
        </p:spPr>
        <p:txBody>
          <a:bodyPr lIns="104396" tIns="54286" rIns="104396" bIns="54286" anchor="ctr"/>
          <a:lstStyle>
            <a:lvl1pPr marL="117475" indent="-1174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Monitor research funds and research productivity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Assess the research outcomes and its contribution to the Knowledge economy of Abu Dhabi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Assess the Emiratization of the Research Personnel</a:t>
            </a:r>
          </a:p>
        </p:txBody>
      </p:sp>
      <p:sp>
        <p:nvSpPr>
          <p:cNvPr id="11546652" name="Rectangle 2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6200000">
            <a:off x="1204976" y="5686689"/>
            <a:ext cx="992415" cy="1738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vert="eaVert" lIns="104396" tIns="54286" rIns="104396" bIns="54286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en-US" sz="1392" dirty="0"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</a:p>
        </p:txBody>
      </p:sp>
      <p:sp>
        <p:nvSpPr>
          <p:cNvPr id="11546653" name="Rectangle 28"/>
          <p:cNvSpPr>
            <a:spLocks noChangeArrowheads="1"/>
          </p:cNvSpPr>
          <p:nvPr/>
        </p:nvSpPr>
        <p:spPr bwMode="auto">
          <a:xfrm>
            <a:off x="2605755" y="6062088"/>
            <a:ext cx="4799041" cy="99241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39393"/>
            </a:solidFill>
            <a:miter lim="800000"/>
            <a:headEnd/>
            <a:tailEnd/>
          </a:ln>
        </p:spPr>
        <p:txBody>
          <a:bodyPr lIns="104396" tIns="54286" rIns="104396" bIns="54286" anchor="ctr"/>
          <a:lstStyle>
            <a:lvl1pPr marL="117475" indent="-1174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Review funding policies, evaluate budget, and monitor development expenditure; 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Oversee scholarships and aid policies</a:t>
            </a:r>
          </a:p>
        </p:txBody>
      </p:sp>
      <p:sp>
        <p:nvSpPr>
          <p:cNvPr id="47" name="Text Box 16"/>
          <p:cNvSpPr txBox="1">
            <a:spLocks noChangeArrowheads="1"/>
          </p:cNvSpPr>
          <p:nvPr/>
        </p:nvSpPr>
        <p:spPr bwMode="auto">
          <a:xfrm>
            <a:off x="3226934" y="3477019"/>
            <a:ext cx="2384648" cy="323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altLang="en-US" sz="1392" i="1" dirty="0">
                <a:solidFill>
                  <a:schemeClr val="folHlink"/>
                </a:solidFill>
              </a:rPr>
              <a:t>Scope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527" y="439829"/>
            <a:ext cx="2323548" cy="506375"/>
          </a:xfrm>
          <a:prstGeom prst="rect">
            <a:avLst/>
          </a:prstGeom>
        </p:spPr>
      </p:pic>
      <p:sp>
        <p:nvSpPr>
          <p:cNvPr id="50" name="Rectangle 3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6200000">
            <a:off x="1189034" y="4613950"/>
            <a:ext cx="1024299" cy="1738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vert="eaVert" lIns="104396" tIns="54286" rIns="104396" bIns="54286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en-US" sz="1392" dirty="0">
                <a:latin typeface="Arial" panose="020B0604020202020204" pitchFamily="34" charset="0"/>
                <a:cs typeface="Arial" panose="020B0604020202020204" pitchFamily="34" charset="0"/>
              </a:rPr>
              <a:t>Academic Program</a:t>
            </a:r>
          </a:p>
        </p:txBody>
      </p:sp>
      <p:sp>
        <p:nvSpPr>
          <p:cNvPr id="51" name="Rectangle 31"/>
          <p:cNvSpPr>
            <a:spLocks noChangeArrowheads="1"/>
          </p:cNvSpPr>
          <p:nvPr/>
        </p:nvSpPr>
        <p:spPr bwMode="auto">
          <a:xfrm>
            <a:off x="2605755" y="4973479"/>
            <a:ext cx="4799041" cy="1024299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39393"/>
            </a:solidFill>
            <a:miter lim="800000"/>
            <a:headEnd/>
            <a:tailEnd/>
          </a:ln>
        </p:spPr>
        <p:txBody>
          <a:bodyPr lIns="104396" tIns="54286" rIns="104396" bIns="54286" anchor="ctr"/>
          <a:lstStyle>
            <a:lvl1pPr marL="117475" indent="-1174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Oversee the quality assurance and program accreditations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Evaluate the program outcomes and graduates quality/employment</a:t>
            </a:r>
          </a:p>
          <a:p>
            <a:pPr eaLnBrk="0" hangingPunct="0">
              <a:buFont typeface="Wingdings" panose="05000000000000000000" pitchFamily="2" charset="2"/>
              <a:buChar char="§"/>
            </a:pPr>
            <a:r>
              <a:rPr lang="en-US" altLang="en-US" sz="1160" dirty="0"/>
              <a:t>Assess the Emiratization of the Academic Personnel</a:t>
            </a:r>
          </a:p>
        </p:txBody>
      </p:sp>
      <p:sp>
        <p:nvSpPr>
          <p:cNvPr id="2" name="Rectangle 1"/>
          <p:cNvSpPr/>
          <p:nvPr/>
        </p:nvSpPr>
        <p:spPr>
          <a:xfrm>
            <a:off x="8815955" y="3936656"/>
            <a:ext cx="2627595" cy="311559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en-US" dirty="0"/>
              <a:t>Funding allocation based on Performance &amp; Government Objectives Achievements</a:t>
            </a:r>
          </a:p>
        </p:txBody>
      </p:sp>
      <p:sp>
        <p:nvSpPr>
          <p:cNvPr id="3" name="Isosceles Triangle 2"/>
          <p:cNvSpPr/>
          <p:nvPr/>
        </p:nvSpPr>
        <p:spPr>
          <a:xfrm rot="5400000">
            <a:off x="6519826" y="5341632"/>
            <a:ext cx="3015228" cy="20528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869324" y="1941565"/>
            <a:ext cx="68737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8847167" y="3475236"/>
            <a:ext cx="2384648" cy="323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96" tIns="54286" rIns="104396" bIns="54286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altLang="en-US" sz="1392" i="1" dirty="0">
                <a:solidFill>
                  <a:schemeClr val="folHlink"/>
                </a:solidFill>
              </a:rPr>
              <a:t>Implications on KU</a:t>
            </a:r>
          </a:p>
        </p:txBody>
      </p:sp>
    </p:spTree>
    <p:extLst>
      <p:ext uri="{BB962C8B-B14F-4D97-AF65-F5344CB8AC3E}">
        <p14:creationId xmlns:p14="http://schemas.microsoft.com/office/powerpoint/2010/main" val="1841259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214" y="3414853"/>
            <a:ext cx="10647918" cy="1686842"/>
          </a:xfrm>
        </p:spPr>
        <p:txBody>
          <a:bodyPr>
            <a:normAutofit fontScale="90000"/>
          </a:bodyPr>
          <a:lstStyle/>
          <a:p>
            <a:pPr algn="l"/>
            <a:r>
              <a:rPr lang="en-US" sz="4215" dirty="0">
                <a:solidFill>
                  <a:schemeClr val="bg1"/>
                </a:solidFill>
              </a:rPr>
              <a:t>KU: Initiatives, Objectives and Targets</a:t>
            </a:r>
            <a:br>
              <a:rPr lang="en-US" sz="4215" dirty="0">
                <a:solidFill>
                  <a:schemeClr val="bg1"/>
                </a:solidFill>
              </a:rPr>
            </a:br>
            <a:r>
              <a:rPr lang="en-US" sz="4215" dirty="0">
                <a:solidFill>
                  <a:schemeClr val="bg1"/>
                </a:solidFill>
              </a:rPr>
              <a:t>2021-2031</a:t>
            </a:r>
            <a:br>
              <a:rPr lang="en-US" sz="4215" dirty="0">
                <a:solidFill>
                  <a:schemeClr val="bg1"/>
                </a:solidFill>
              </a:rPr>
            </a:br>
            <a:br>
              <a:rPr lang="en-US" sz="4215" dirty="0">
                <a:solidFill>
                  <a:schemeClr val="bg1"/>
                </a:solidFill>
              </a:rPr>
            </a:br>
            <a:endParaRPr lang="en-US" sz="2108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85" y="765440"/>
            <a:ext cx="2433761" cy="59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05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441" y="1633664"/>
            <a:ext cx="1597365" cy="8180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59" dirty="0">
                <a:solidFill>
                  <a:prstClr val="white"/>
                </a:solidFill>
              </a:rPr>
              <a:t>Promote educational excellence in all programs</a:t>
            </a:r>
            <a:endParaRPr lang="en-US" sz="1159" b="1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41" y="5050968"/>
            <a:ext cx="1599597" cy="7751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59" dirty="0">
                <a:solidFill>
                  <a:prstClr val="white"/>
                </a:solidFill>
              </a:rPr>
              <a:t>Work with a student-centric focus </a:t>
            </a:r>
          </a:p>
        </p:txBody>
      </p:sp>
      <p:sp>
        <p:nvSpPr>
          <p:cNvPr id="106" name="Title 1"/>
          <p:cNvSpPr txBox="1">
            <a:spLocks/>
          </p:cNvSpPr>
          <p:nvPr/>
        </p:nvSpPr>
        <p:spPr>
          <a:xfrm>
            <a:off x="393066" y="93002"/>
            <a:ext cx="11418072" cy="861143"/>
          </a:xfrm>
          <a:prstGeom prst="rect">
            <a:avLst/>
          </a:prstGeom>
        </p:spPr>
        <p:txBody>
          <a:bodyPr lIns="111037" tIns="55518" rIns="111037" bIns="55518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35" b="1" dirty="0">
                <a:solidFill>
                  <a:srgbClr val="FF0000"/>
                </a:solidFill>
              </a:rPr>
              <a:t>Priority 1: </a:t>
            </a:r>
            <a:r>
              <a:rPr lang="en-US" sz="2635" b="1" dirty="0">
                <a:solidFill>
                  <a:prstClr val="black"/>
                </a:solidFill>
              </a:rPr>
              <a:t>Prepare future leaders to an internationally recognized standard</a:t>
            </a:r>
          </a:p>
        </p:txBody>
      </p:sp>
      <p:sp>
        <p:nvSpPr>
          <p:cNvPr id="77" name="Oval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32659" y="1391913"/>
            <a:ext cx="318675" cy="28916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eaLnBrk="0" hangingPunct="0">
              <a:spcBef>
                <a:spcPts val="728"/>
              </a:spcBef>
            </a:pPr>
            <a:r>
              <a:rPr lang="en-US" sz="1265" dirty="0">
                <a:solidFill>
                  <a:prstClr val="white"/>
                </a:solidFill>
              </a:rPr>
              <a:t>I1</a:t>
            </a:r>
          </a:p>
        </p:txBody>
      </p:sp>
      <p:sp>
        <p:nvSpPr>
          <p:cNvPr id="78" name="Oval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-3544" y="4806748"/>
            <a:ext cx="318675" cy="28916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eaLnBrk="0" hangingPunct="0">
              <a:spcBef>
                <a:spcPts val="728"/>
              </a:spcBef>
            </a:pPr>
            <a:r>
              <a:rPr lang="en-US" sz="1265" dirty="0">
                <a:solidFill>
                  <a:prstClr val="white"/>
                </a:solidFill>
              </a:rPr>
              <a:t>I2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8396" y="2970721"/>
            <a:ext cx="2543937" cy="5621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Develop a new learning outcomes assessment framework at the course, programs, and institutional levels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8396" y="5070229"/>
            <a:ext cx="2543937" cy="558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Develop the university innovation and entrepreneurship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8396" y="5739706"/>
            <a:ext cx="2543937" cy="558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r>
              <a:rPr lang="en-US" sz="1106" dirty="0"/>
              <a:t>Develop a life-long culture of community service beyond the classroom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8396" y="4278254"/>
            <a:ext cx="2543937" cy="558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sz="1106" dirty="0"/>
              <a:t>Develop a career guidance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8396" y="3625855"/>
            <a:ext cx="2543937" cy="558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sz="1106" dirty="0"/>
              <a:t>Develop holistic experiential learning  programs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6909" y="2972326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% of assessed programs learning outcomes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6909" y="3625855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just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Number of experiential learning programs a student should attend before graduating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6909" y="5076098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Completion percentage of the innovation and entrepreneurship ecosystem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6909" y="5744928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Number of community services activities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96909" y="4278254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just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sz="1200" dirty="0">
                <a:solidFill>
                  <a:schemeClr val="tx1"/>
                </a:solidFill>
              </a:rPr>
              <a:t>% of students who are engaged in institutionalized career guidance sessions</a:t>
            </a:r>
          </a:p>
        </p:txBody>
      </p:sp>
      <p:cxnSp>
        <p:nvCxnSpPr>
          <p:cNvPr id="66" name="Straight Connector 65"/>
          <p:cNvCxnSpPr/>
          <p:nvPr/>
        </p:nvCxnSpPr>
        <p:spPr>
          <a:xfrm flipH="1">
            <a:off x="321204" y="4941094"/>
            <a:ext cx="1040627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08156" y="2972326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59" dirty="0">
                <a:solidFill>
                  <a:schemeClr val="bg1"/>
                </a:solidFill>
              </a:rPr>
              <a:t>90%-100%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8156" y="3625855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1-2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8156" y="4278254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59" dirty="0">
                <a:solidFill>
                  <a:schemeClr val="bg1"/>
                </a:solidFill>
              </a:rPr>
              <a:t>70%-90%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8156" y="5062318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80%-100%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8156" y="5731795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pPr algn="ctr"/>
            <a:r>
              <a:rPr lang="en-US" sz="1106" dirty="0">
                <a:solidFill>
                  <a:schemeClr val="bg1"/>
                </a:solidFill>
              </a:rPr>
              <a:t>350-400</a:t>
            </a:r>
            <a:endParaRPr lang="en-US" sz="1054" dirty="0">
              <a:solidFill>
                <a:schemeClr val="bg1"/>
              </a:solidFill>
            </a:endParaRPr>
          </a:p>
        </p:txBody>
      </p:sp>
      <p:sp>
        <p:nvSpPr>
          <p:cNvPr id="80" name="Rectangle 6"/>
          <p:cNvSpPr/>
          <p:nvPr>
            <p:custDataLst>
              <p:tags r:id="rId3"/>
            </p:custDataLst>
          </p:nvPr>
        </p:nvSpPr>
        <p:spPr bwMode="auto">
          <a:xfrm flipH="1">
            <a:off x="11201538" y="4050785"/>
            <a:ext cx="1155459" cy="78488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103274" tIns="53703" rIns="103274" bIns="53703" anchor="ctr"/>
          <a:lstStyle/>
          <a:p>
            <a:pPr algn="ctr">
              <a:lnSpc>
                <a:spcPct val="80000"/>
              </a:lnSpc>
            </a:pPr>
            <a:r>
              <a:rPr lang="en-US" sz="1148" b="1" dirty="0">
                <a:solidFill>
                  <a:schemeClr val="bg1"/>
                </a:solidFill>
                <a:latin typeface="Arial"/>
              </a:rPr>
              <a:t>80% -90% employment rate</a:t>
            </a:r>
          </a:p>
        </p:txBody>
      </p:sp>
      <p:sp>
        <p:nvSpPr>
          <p:cNvPr id="81" name="Rectangle 2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327472" y="1126296"/>
            <a:ext cx="2693563" cy="6223829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4844" tIns="49319" rIns="94844" bIns="49319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054" b="0" dirty="0"/>
          </a:p>
        </p:txBody>
      </p:sp>
      <p:sp>
        <p:nvSpPr>
          <p:cNvPr id="64" name="TextBox 63"/>
          <p:cNvSpPr txBox="1"/>
          <p:nvPr/>
        </p:nvSpPr>
        <p:spPr>
          <a:xfrm>
            <a:off x="9810487" y="2972326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59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10487" y="3625855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10487" y="4278254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59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10487" y="5070739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10487" y="5740217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pPr algn="ctr"/>
            <a:r>
              <a:rPr lang="en-US" sz="1106" dirty="0">
                <a:solidFill>
                  <a:srgbClr val="FF0000"/>
                </a:solidFill>
              </a:rPr>
              <a:t>2031</a:t>
            </a:r>
            <a:endParaRPr lang="en-US" sz="1054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>
            <a:spLocks/>
          </p:cNvSpPr>
          <p:nvPr/>
        </p:nvSpPr>
        <p:spPr>
          <a:xfrm>
            <a:off x="1738396" y="6433777"/>
            <a:ext cx="2543937" cy="558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r>
              <a:rPr lang="en-US" sz="1106" dirty="0"/>
              <a:t>Establish a mobility program for students, faculty, researchers and staff</a:t>
            </a:r>
          </a:p>
        </p:txBody>
      </p:sp>
      <p:sp>
        <p:nvSpPr>
          <p:cNvPr id="65" name="TextBox 64"/>
          <p:cNvSpPr txBox="1">
            <a:spLocks/>
          </p:cNvSpPr>
          <p:nvPr/>
        </p:nvSpPr>
        <p:spPr>
          <a:xfrm>
            <a:off x="4396909" y="6433777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06" dirty="0"/>
              <a:t>% of the students and % of the faculty participate in exchange programs annually</a:t>
            </a:r>
          </a:p>
        </p:txBody>
      </p:sp>
      <p:sp>
        <p:nvSpPr>
          <p:cNvPr id="93" name="TextBox 92"/>
          <p:cNvSpPr txBox="1">
            <a:spLocks/>
          </p:cNvSpPr>
          <p:nvPr/>
        </p:nvSpPr>
        <p:spPr>
          <a:xfrm>
            <a:off x="8508156" y="6433777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5%-5%</a:t>
            </a:r>
          </a:p>
        </p:txBody>
      </p:sp>
      <p:sp>
        <p:nvSpPr>
          <p:cNvPr id="95" name="TextBox 94"/>
          <p:cNvSpPr txBox="1">
            <a:spLocks/>
          </p:cNvSpPr>
          <p:nvPr/>
        </p:nvSpPr>
        <p:spPr>
          <a:xfrm>
            <a:off x="9810487" y="6433777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309076" y="3527336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 2031</a:t>
            </a:r>
          </a:p>
        </p:txBody>
      </p:sp>
      <p:sp>
        <p:nvSpPr>
          <p:cNvPr id="97" name="Isosceles Triangle 96"/>
          <p:cNvSpPr/>
          <p:nvPr/>
        </p:nvSpPr>
        <p:spPr>
          <a:xfrm rot="5400000">
            <a:off x="8732761" y="4366918"/>
            <a:ext cx="4528979" cy="1526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 dirty="0"/>
          </a:p>
        </p:txBody>
      </p:sp>
      <p:sp>
        <p:nvSpPr>
          <p:cNvPr id="73" name="TextBox 72"/>
          <p:cNvSpPr txBox="1"/>
          <p:nvPr/>
        </p:nvSpPr>
        <p:spPr>
          <a:xfrm>
            <a:off x="1738396" y="1691705"/>
            <a:ext cx="2543937" cy="5621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Widen access to students with outstanding academic potential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96909" y="1693311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/>
            <a:r>
              <a:rPr lang="en-US" sz="1106" dirty="0"/>
              <a:t>Total students enrolment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08156" y="1693311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59" dirty="0">
                <a:solidFill>
                  <a:schemeClr val="bg1"/>
                </a:solidFill>
              </a:rPr>
              <a:t>4500-5000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10487" y="1693311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59" dirty="0">
                <a:solidFill>
                  <a:srgbClr val="FF0000"/>
                </a:solidFill>
              </a:rPr>
              <a:t>2031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-80301" y="1229771"/>
            <a:ext cx="1913841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Strategic Initiatives</a:t>
            </a:r>
          </a:p>
        </p:txBody>
      </p:sp>
      <p:cxnSp>
        <p:nvCxnSpPr>
          <p:cNvPr id="107" name="Straight Connector 106"/>
          <p:cNvCxnSpPr/>
          <p:nvPr>
            <p:custDataLst>
              <p:tags r:id="rId5"/>
            </p:custDataLst>
          </p:nvPr>
        </p:nvCxnSpPr>
        <p:spPr bwMode="auto">
          <a:xfrm>
            <a:off x="155793" y="1586291"/>
            <a:ext cx="1461479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TextBox 107"/>
          <p:cNvSpPr txBox="1"/>
          <p:nvPr/>
        </p:nvSpPr>
        <p:spPr>
          <a:xfrm>
            <a:off x="1699467" y="1229771"/>
            <a:ext cx="2871202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Objectives</a:t>
            </a:r>
          </a:p>
        </p:txBody>
      </p:sp>
      <p:cxnSp>
        <p:nvCxnSpPr>
          <p:cNvPr id="109" name="Straight Connector 108"/>
          <p:cNvCxnSpPr/>
          <p:nvPr>
            <p:custDataLst>
              <p:tags r:id="rId6"/>
            </p:custDataLst>
          </p:nvPr>
        </p:nvCxnSpPr>
        <p:spPr bwMode="auto">
          <a:xfrm>
            <a:off x="1719542" y="1586291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TextBox 109"/>
          <p:cNvSpPr txBox="1"/>
          <p:nvPr/>
        </p:nvSpPr>
        <p:spPr>
          <a:xfrm>
            <a:off x="4556008" y="1229771"/>
            <a:ext cx="2137344" cy="306789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Key Performance Indicators</a:t>
            </a:r>
          </a:p>
        </p:txBody>
      </p:sp>
      <p:cxnSp>
        <p:nvCxnSpPr>
          <p:cNvPr id="111" name="Straight Connector 110"/>
          <p:cNvCxnSpPr/>
          <p:nvPr>
            <p:custDataLst>
              <p:tags r:id="rId7"/>
            </p:custDataLst>
          </p:nvPr>
        </p:nvCxnSpPr>
        <p:spPr bwMode="auto">
          <a:xfrm>
            <a:off x="4380352" y="1586291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4" name="TextBox 113"/>
          <p:cNvSpPr txBox="1"/>
          <p:nvPr/>
        </p:nvSpPr>
        <p:spPr>
          <a:xfrm>
            <a:off x="8592212" y="1166945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Targets</a:t>
            </a:r>
            <a:endParaRPr lang="en-US" sz="1265" b="1" dirty="0">
              <a:solidFill>
                <a:srgbClr val="FF0000"/>
              </a:solidFill>
            </a:endParaRPr>
          </a:p>
        </p:txBody>
      </p:sp>
      <p:cxnSp>
        <p:nvCxnSpPr>
          <p:cNvPr id="115" name="Straight Connector 114"/>
          <p:cNvCxnSpPr/>
          <p:nvPr>
            <p:custDataLst>
              <p:tags r:id="rId8"/>
            </p:custDataLst>
          </p:nvPr>
        </p:nvCxnSpPr>
        <p:spPr bwMode="auto">
          <a:xfrm>
            <a:off x="8672512" y="1581212"/>
            <a:ext cx="9105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6" name="TextBox 115"/>
          <p:cNvSpPr txBox="1"/>
          <p:nvPr/>
        </p:nvSpPr>
        <p:spPr>
          <a:xfrm>
            <a:off x="9796727" y="1187093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</a:t>
            </a:r>
          </a:p>
        </p:txBody>
      </p:sp>
      <p:cxnSp>
        <p:nvCxnSpPr>
          <p:cNvPr id="117" name="Straight Connector 116"/>
          <p:cNvCxnSpPr/>
          <p:nvPr>
            <p:custDataLst>
              <p:tags r:id="rId9"/>
            </p:custDataLst>
          </p:nvPr>
        </p:nvCxnSpPr>
        <p:spPr bwMode="auto">
          <a:xfrm>
            <a:off x="9873709" y="1574919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8" name="TextBox 117"/>
          <p:cNvSpPr txBox="1"/>
          <p:nvPr/>
        </p:nvSpPr>
        <p:spPr>
          <a:xfrm>
            <a:off x="11081543" y="991960"/>
            <a:ext cx="1251938" cy="51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77" b="1" dirty="0"/>
              <a:t>Strategic Plan Key Targets</a:t>
            </a:r>
          </a:p>
        </p:txBody>
      </p:sp>
      <p:cxnSp>
        <p:nvCxnSpPr>
          <p:cNvPr id="119" name="Straight Connector 118"/>
          <p:cNvCxnSpPr/>
          <p:nvPr>
            <p:custDataLst>
              <p:tags r:id="rId10"/>
            </p:custDataLst>
          </p:nvPr>
        </p:nvCxnSpPr>
        <p:spPr bwMode="auto">
          <a:xfrm>
            <a:off x="11138450" y="1537453"/>
            <a:ext cx="1138125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5" name="TextBox 124"/>
          <p:cNvSpPr txBox="1"/>
          <p:nvPr/>
        </p:nvSpPr>
        <p:spPr>
          <a:xfrm>
            <a:off x="1738396" y="2342695"/>
            <a:ext cx="2543937" cy="558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Align academic programs with the local and global labor market needs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96909" y="2342695"/>
            <a:ext cx="2543937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% of new established programs aligned to the global and local market needs starting from 2021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08156" y="2342695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100%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10487" y="2342695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48016" y="2970910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50%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48016" y="3624439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/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48016" y="4276838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100" dirty="0"/>
              <a:t>61%**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48016" y="5726816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pPr algn="ctr"/>
            <a:r>
              <a:rPr lang="en-US" sz="1054" dirty="0">
                <a:solidFill>
                  <a:schemeClr val="tx1"/>
                </a:solidFill>
              </a:rPr>
              <a:t>377</a:t>
            </a:r>
          </a:p>
        </p:txBody>
      </p:sp>
      <p:sp>
        <p:nvSpPr>
          <p:cNvPr id="102" name="TextBox 101"/>
          <p:cNvSpPr txBox="1">
            <a:spLocks/>
          </p:cNvSpPr>
          <p:nvPr/>
        </p:nvSpPr>
        <p:spPr>
          <a:xfrm>
            <a:off x="7148016" y="6432361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0.79 - 0 %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46792" y="1693310"/>
            <a:ext cx="1214000" cy="5978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/>
              <a:t>3820*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48016" y="2341279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100%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46792" y="5057338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US" sz="948" dirty="0"/>
              <a:t>KIC and embedded entrepreneurship and innovation courses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46793" y="1048979"/>
            <a:ext cx="1186083" cy="501458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Baseline Data</a:t>
            </a:r>
          </a:p>
          <a:p>
            <a:pPr algn="ctr"/>
            <a:r>
              <a:rPr lang="en-US" sz="1265" b="1" dirty="0">
                <a:solidFill>
                  <a:prstClr val="black"/>
                </a:solidFill>
              </a:rPr>
              <a:t>2020</a:t>
            </a:r>
          </a:p>
        </p:txBody>
      </p:sp>
      <p:cxnSp>
        <p:nvCxnSpPr>
          <p:cNvPr id="122" name="Straight Connector 121"/>
          <p:cNvCxnSpPr/>
          <p:nvPr>
            <p:custDataLst>
              <p:tags r:id="rId11"/>
            </p:custDataLst>
          </p:nvPr>
        </p:nvCxnSpPr>
        <p:spPr bwMode="auto">
          <a:xfrm>
            <a:off x="7271354" y="1597215"/>
            <a:ext cx="1061522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315131" y="7334482"/>
            <a:ext cx="1518409" cy="28700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65" dirty="0"/>
              <a:t>* Fall 2020</a:t>
            </a:r>
            <a:endParaRPr lang="ar-EG" sz="126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5131" y="7512153"/>
            <a:ext cx="62611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** Includes career guidance sessions in Summer 2021 as of June 24, 2021 </a:t>
            </a:r>
          </a:p>
        </p:txBody>
      </p:sp>
    </p:spTree>
    <p:extLst>
      <p:ext uri="{BB962C8B-B14F-4D97-AF65-F5344CB8AC3E}">
        <p14:creationId xmlns:p14="http://schemas.microsoft.com/office/powerpoint/2010/main" val="147142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868" y="1796221"/>
            <a:ext cx="1599597" cy="6919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59" dirty="0">
                <a:solidFill>
                  <a:prstClr val="white"/>
                </a:solidFill>
              </a:rPr>
              <a:t>Cultivate a vibrant environment for research and innovation </a:t>
            </a:r>
          </a:p>
        </p:txBody>
      </p:sp>
      <p:sp>
        <p:nvSpPr>
          <p:cNvPr id="77" name="Oval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6734" y="1544084"/>
            <a:ext cx="318675" cy="28916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eaLnBrk="0" hangingPunct="0">
              <a:spcBef>
                <a:spcPts val="728"/>
              </a:spcBef>
            </a:pPr>
            <a:r>
              <a:rPr lang="en-US" sz="1265" dirty="0">
                <a:solidFill>
                  <a:prstClr val="white"/>
                </a:solidFill>
              </a:rPr>
              <a:t>I3</a:t>
            </a:r>
          </a:p>
        </p:txBody>
      </p:sp>
      <p:sp>
        <p:nvSpPr>
          <p:cNvPr id="106" name="Title 1"/>
          <p:cNvSpPr txBox="1">
            <a:spLocks/>
          </p:cNvSpPr>
          <p:nvPr/>
        </p:nvSpPr>
        <p:spPr>
          <a:xfrm>
            <a:off x="393066" y="157242"/>
            <a:ext cx="11418072" cy="861143"/>
          </a:xfrm>
          <a:prstGeom prst="rect">
            <a:avLst/>
          </a:prstGeom>
        </p:spPr>
        <p:txBody>
          <a:bodyPr lIns="111037" tIns="55518" rIns="111037" bIns="55518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35" b="1" dirty="0">
                <a:solidFill>
                  <a:srgbClr val="FF0000"/>
                </a:solidFill>
              </a:rPr>
              <a:t>Priority 2: </a:t>
            </a:r>
            <a:r>
              <a:rPr lang="en-US" sz="2635" b="1" dirty="0"/>
              <a:t>Produce world-class research with local relevance and international impact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1731776" y="1884098"/>
            <a:ext cx="2553573" cy="558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Align the postgraduates programs with the research strategy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1731776" y="3223030"/>
            <a:ext cx="2553573" cy="558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06" dirty="0"/>
              <a:t>Diversify and increase external research funds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1731776" y="2552519"/>
            <a:ext cx="2553573" cy="558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Develop a comprehensive competitive internal research funding program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1731776" y="3888564"/>
            <a:ext cx="2553573" cy="558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06" dirty="0"/>
              <a:t>Strengthen research ethical culture framework across the university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1731776" y="4564969"/>
            <a:ext cx="2553573" cy="558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sz="1106" dirty="0"/>
              <a:t>Review and revise as needed the research strategic plan</a:t>
            </a:r>
          </a:p>
        </p:txBody>
      </p:sp>
      <p:sp>
        <p:nvSpPr>
          <p:cNvPr id="45" name="TextBox 44"/>
          <p:cNvSpPr txBox="1">
            <a:spLocks/>
          </p:cNvSpPr>
          <p:nvPr/>
        </p:nvSpPr>
        <p:spPr>
          <a:xfrm>
            <a:off x="1722287" y="5258973"/>
            <a:ext cx="2553573" cy="558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Attract and organize international conferences and summits</a:t>
            </a:r>
          </a:p>
        </p:txBody>
      </p:sp>
      <p:sp>
        <p:nvSpPr>
          <p:cNvPr id="59" name="TextBox 58"/>
          <p:cNvSpPr txBox="1">
            <a:spLocks/>
          </p:cNvSpPr>
          <p:nvPr/>
        </p:nvSpPr>
        <p:spPr>
          <a:xfrm>
            <a:off x="4468869" y="1884098"/>
            <a:ext cx="2553573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pPr algn="just"/>
            <a:r>
              <a:rPr lang="en-US" sz="1106" dirty="0"/>
              <a:t>% of aligned postgraduate programs and research strategy</a:t>
            </a:r>
          </a:p>
        </p:txBody>
      </p:sp>
      <p:sp>
        <p:nvSpPr>
          <p:cNvPr id="60" name="TextBox 59"/>
          <p:cNvSpPr txBox="1">
            <a:spLocks/>
          </p:cNvSpPr>
          <p:nvPr/>
        </p:nvSpPr>
        <p:spPr>
          <a:xfrm>
            <a:off x="4468869" y="3223030"/>
            <a:ext cx="2553573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just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% of the external research expenditure from total expenditure on research</a:t>
            </a:r>
          </a:p>
        </p:txBody>
      </p:sp>
      <p:sp>
        <p:nvSpPr>
          <p:cNvPr id="61" name="TextBox 60"/>
          <p:cNvSpPr txBox="1">
            <a:spLocks/>
          </p:cNvSpPr>
          <p:nvPr/>
        </p:nvSpPr>
        <p:spPr>
          <a:xfrm>
            <a:off x="4468869" y="2552519"/>
            <a:ext cx="2553573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just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% of faculty received internal research funds</a:t>
            </a:r>
          </a:p>
        </p:txBody>
      </p:sp>
      <p:sp>
        <p:nvSpPr>
          <p:cNvPr id="62" name="TextBox 61"/>
          <p:cNvSpPr txBox="1">
            <a:spLocks/>
          </p:cNvSpPr>
          <p:nvPr/>
        </p:nvSpPr>
        <p:spPr>
          <a:xfrm>
            <a:off x="4468869" y="3888564"/>
            <a:ext cx="2553573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06" dirty="0"/>
              <a:t>% of the university staff attended training programs on research ethics</a:t>
            </a:r>
          </a:p>
        </p:txBody>
      </p:sp>
      <p:sp>
        <p:nvSpPr>
          <p:cNvPr id="63" name="TextBox 62"/>
          <p:cNvSpPr txBox="1">
            <a:spLocks/>
          </p:cNvSpPr>
          <p:nvPr/>
        </p:nvSpPr>
        <p:spPr>
          <a:xfrm>
            <a:off x="4468869" y="4564969"/>
            <a:ext cx="2553573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Completion percentage of implementing the updated research strategic plan</a:t>
            </a:r>
          </a:p>
        </p:txBody>
      </p:sp>
      <p:sp>
        <p:nvSpPr>
          <p:cNvPr id="67" name="TextBox 66"/>
          <p:cNvSpPr txBox="1">
            <a:spLocks/>
          </p:cNvSpPr>
          <p:nvPr/>
        </p:nvSpPr>
        <p:spPr>
          <a:xfrm>
            <a:off x="4468869" y="5258973"/>
            <a:ext cx="2553573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Number of conferences/summits per year</a:t>
            </a:r>
          </a:p>
        </p:txBody>
      </p:sp>
      <p:sp>
        <p:nvSpPr>
          <p:cNvPr id="70" name="TextBox 69"/>
          <p:cNvSpPr txBox="1">
            <a:spLocks/>
          </p:cNvSpPr>
          <p:nvPr/>
        </p:nvSpPr>
        <p:spPr>
          <a:xfrm>
            <a:off x="8511910" y="1866931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pPr algn="ctr"/>
            <a:r>
              <a:rPr lang="en-US" sz="1106" dirty="0">
                <a:solidFill>
                  <a:schemeClr val="bg1"/>
                </a:solidFill>
              </a:rPr>
              <a:t>70%-90%</a:t>
            </a: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>
            <a:off x="8511910" y="3223030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1106" dirty="0"/>
              <a:t>40%-60%</a:t>
            </a:r>
          </a:p>
        </p:txBody>
      </p:sp>
      <p:sp>
        <p:nvSpPr>
          <p:cNvPr id="72" name="TextBox 71"/>
          <p:cNvSpPr txBox="1">
            <a:spLocks/>
          </p:cNvSpPr>
          <p:nvPr/>
        </p:nvSpPr>
        <p:spPr>
          <a:xfrm>
            <a:off x="8511910" y="2535351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70%-90%</a:t>
            </a:r>
          </a:p>
        </p:txBody>
      </p:sp>
      <p:sp>
        <p:nvSpPr>
          <p:cNvPr id="73" name="TextBox 72"/>
          <p:cNvSpPr txBox="1">
            <a:spLocks/>
          </p:cNvSpPr>
          <p:nvPr/>
        </p:nvSpPr>
        <p:spPr>
          <a:xfrm>
            <a:off x="8511910" y="3888564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sz="1106" dirty="0">
                <a:solidFill>
                  <a:schemeClr val="bg1"/>
                </a:solidFill>
              </a:rPr>
              <a:t>90%-100%</a:t>
            </a:r>
          </a:p>
        </p:txBody>
      </p:sp>
      <p:sp>
        <p:nvSpPr>
          <p:cNvPr id="74" name="TextBox 73"/>
          <p:cNvSpPr txBox="1">
            <a:spLocks/>
          </p:cNvSpPr>
          <p:nvPr/>
        </p:nvSpPr>
        <p:spPr>
          <a:xfrm>
            <a:off x="8511910" y="4564969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80%-100%</a:t>
            </a:r>
          </a:p>
        </p:txBody>
      </p:sp>
      <p:sp>
        <p:nvSpPr>
          <p:cNvPr id="76" name="TextBox 75"/>
          <p:cNvSpPr txBox="1">
            <a:spLocks/>
          </p:cNvSpPr>
          <p:nvPr/>
        </p:nvSpPr>
        <p:spPr>
          <a:xfrm>
            <a:off x="8511910" y="5241805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4-5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0" y="1324455"/>
            <a:ext cx="1913841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Strategic Initiatives</a:t>
            </a:r>
          </a:p>
        </p:txBody>
      </p:sp>
      <p:cxnSp>
        <p:nvCxnSpPr>
          <p:cNvPr id="79" name="Straight Connector 78"/>
          <p:cNvCxnSpPr/>
          <p:nvPr>
            <p:custDataLst>
              <p:tags r:id="rId2"/>
            </p:custDataLst>
          </p:nvPr>
        </p:nvCxnSpPr>
        <p:spPr bwMode="auto">
          <a:xfrm>
            <a:off x="393067" y="1680974"/>
            <a:ext cx="1224206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0" name="TextBox 79"/>
          <p:cNvSpPr txBox="1"/>
          <p:nvPr/>
        </p:nvSpPr>
        <p:spPr>
          <a:xfrm>
            <a:off x="1699467" y="1324455"/>
            <a:ext cx="2871202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Objectives</a:t>
            </a:r>
          </a:p>
        </p:txBody>
      </p:sp>
      <p:cxnSp>
        <p:nvCxnSpPr>
          <p:cNvPr id="81" name="Straight Connector 80"/>
          <p:cNvCxnSpPr/>
          <p:nvPr>
            <p:custDataLst>
              <p:tags r:id="rId3"/>
            </p:custDataLst>
          </p:nvPr>
        </p:nvCxnSpPr>
        <p:spPr bwMode="auto">
          <a:xfrm>
            <a:off x="1719542" y="1680974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" name="TextBox 81"/>
          <p:cNvSpPr txBox="1"/>
          <p:nvPr/>
        </p:nvSpPr>
        <p:spPr>
          <a:xfrm>
            <a:off x="4620142" y="1324455"/>
            <a:ext cx="2137344" cy="306789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Key Performance Indicators</a:t>
            </a:r>
          </a:p>
        </p:txBody>
      </p:sp>
      <p:cxnSp>
        <p:nvCxnSpPr>
          <p:cNvPr id="83" name="Straight Connector 82"/>
          <p:cNvCxnSpPr/>
          <p:nvPr>
            <p:custDataLst>
              <p:tags r:id="rId4"/>
            </p:custDataLst>
          </p:nvPr>
        </p:nvCxnSpPr>
        <p:spPr bwMode="auto">
          <a:xfrm>
            <a:off x="4444486" y="1680974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Rectangle 6"/>
          <p:cNvSpPr/>
          <p:nvPr>
            <p:custDataLst>
              <p:tags r:id="rId5"/>
            </p:custDataLst>
          </p:nvPr>
        </p:nvSpPr>
        <p:spPr bwMode="auto">
          <a:xfrm flipH="1">
            <a:off x="11179845" y="3692858"/>
            <a:ext cx="1239292" cy="92257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103274" tIns="53703" rIns="103274" bIns="53703" anchor="ctr"/>
          <a:lstStyle/>
          <a:p>
            <a:pPr algn="ctr">
              <a:lnSpc>
                <a:spcPct val="80000"/>
              </a:lnSpc>
            </a:pPr>
            <a:r>
              <a:rPr lang="en-US" sz="1054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12%-15% of the publications are in the top 5% cited papers</a:t>
            </a:r>
          </a:p>
        </p:txBody>
      </p:sp>
      <p:sp>
        <p:nvSpPr>
          <p:cNvPr id="89" name="Rectangle 2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90393" y="1247246"/>
            <a:ext cx="2693563" cy="5460471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4844" tIns="49319" rIns="94844" bIns="49319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054" b="0" dirty="0"/>
          </a:p>
        </p:txBody>
      </p:sp>
      <p:sp>
        <p:nvSpPr>
          <p:cNvPr id="91" name="TextBox 90"/>
          <p:cNvSpPr txBox="1">
            <a:spLocks/>
          </p:cNvSpPr>
          <p:nvPr/>
        </p:nvSpPr>
        <p:spPr>
          <a:xfrm>
            <a:off x="9833620" y="1863642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pPr algn="ctr"/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92" name="TextBox 91"/>
          <p:cNvSpPr txBox="1">
            <a:spLocks/>
          </p:cNvSpPr>
          <p:nvPr/>
        </p:nvSpPr>
        <p:spPr>
          <a:xfrm>
            <a:off x="9833620" y="3223030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106" dirty="0">
                <a:solidFill>
                  <a:srgbClr val="FF0000"/>
                </a:solidFill>
              </a:rPr>
              <a:t>2025</a:t>
            </a:r>
          </a:p>
        </p:txBody>
      </p:sp>
      <p:sp>
        <p:nvSpPr>
          <p:cNvPr id="93" name="TextBox 92"/>
          <p:cNvSpPr txBox="1">
            <a:spLocks/>
          </p:cNvSpPr>
          <p:nvPr/>
        </p:nvSpPr>
        <p:spPr>
          <a:xfrm>
            <a:off x="9833620" y="2532062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94" name="TextBox 93"/>
          <p:cNvSpPr txBox="1">
            <a:spLocks/>
          </p:cNvSpPr>
          <p:nvPr/>
        </p:nvSpPr>
        <p:spPr>
          <a:xfrm>
            <a:off x="9833620" y="3888564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sz="1106" dirty="0">
                <a:solidFill>
                  <a:srgbClr val="FF0000"/>
                </a:solidFill>
              </a:rPr>
              <a:t>2022</a:t>
            </a:r>
          </a:p>
        </p:txBody>
      </p:sp>
      <p:sp>
        <p:nvSpPr>
          <p:cNvPr id="95" name="TextBox 94"/>
          <p:cNvSpPr txBox="1">
            <a:spLocks/>
          </p:cNvSpPr>
          <p:nvPr/>
        </p:nvSpPr>
        <p:spPr>
          <a:xfrm>
            <a:off x="9833620" y="4564969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US" sz="1106" dirty="0"/>
              <a:t>2024</a:t>
            </a:r>
          </a:p>
        </p:txBody>
      </p:sp>
      <p:sp>
        <p:nvSpPr>
          <p:cNvPr id="96" name="TextBox 95"/>
          <p:cNvSpPr txBox="1">
            <a:spLocks/>
          </p:cNvSpPr>
          <p:nvPr/>
        </p:nvSpPr>
        <p:spPr>
          <a:xfrm>
            <a:off x="9833620" y="5238516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10899" y="3254772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 2031</a:t>
            </a:r>
          </a:p>
        </p:txBody>
      </p:sp>
      <p:sp>
        <p:nvSpPr>
          <p:cNvPr id="66" name="Isosceles Triangle 65"/>
          <p:cNvSpPr/>
          <p:nvPr/>
        </p:nvSpPr>
        <p:spPr>
          <a:xfrm rot="5400000">
            <a:off x="8751334" y="4077834"/>
            <a:ext cx="4528979" cy="1526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 dirty="0"/>
          </a:p>
        </p:txBody>
      </p:sp>
      <p:sp>
        <p:nvSpPr>
          <p:cNvPr id="64" name="TextBox 63"/>
          <p:cNvSpPr txBox="1">
            <a:spLocks/>
          </p:cNvSpPr>
          <p:nvPr/>
        </p:nvSpPr>
        <p:spPr>
          <a:xfrm>
            <a:off x="1724962" y="5925163"/>
            <a:ext cx="2553573" cy="558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Increase number of postgraduate students</a:t>
            </a:r>
          </a:p>
        </p:txBody>
      </p:sp>
      <p:sp>
        <p:nvSpPr>
          <p:cNvPr id="69" name="TextBox 68"/>
          <p:cNvSpPr txBox="1">
            <a:spLocks/>
          </p:cNvSpPr>
          <p:nvPr/>
        </p:nvSpPr>
        <p:spPr>
          <a:xfrm>
            <a:off x="4471543" y="5925163"/>
            <a:ext cx="2553573" cy="558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% of postgraduate students from the total student enrolment</a:t>
            </a:r>
          </a:p>
        </p:txBody>
      </p:sp>
      <p:sp>
        <p:nvSpPr>
          <p:cNvPr id="75" name="TextBox 74"/>
          <p:cNvSpPr txBox="1">
            <a:spLocks/>
          </p:cNvSpPr>
          <p:nvPr/>
        </p:nvSpPr>
        <p:spPr>
          <a:xfrm>
            <a:off x="8514585" y="5907995"/>
            <a:ext cx="1214000" cy="5588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25%</a:t>
            </a:r>
          </a:p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12.5% MSc</a:t>
            </a:r>
          </a:p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12.5% PhD</a:t>
            </a:r>
          </a:p>
        </p:txBody>
      </p:sp>
      <p:sp>
        <p:nvSpPr>
          <p:cNvPr id="84" name="TextBox 83"/>
          <p:cNvSpPr txBox="1">
            <a:spLocks/>
          </p:cNvSpPr>
          <p:nvPr/>
        </p:nvSpPr>
        <p:spPr>
          <a:xfrm>
            <a:off x="9833620" y="5904706"/>
            <a:ext cx="948438" cy="5588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US" sz="1106" dirty="0"/>
              <a:t>2031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81543" y="1006343"/>
            <a:ext cx="1251938" cy="51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77" b="1" dirty="0"/>
              <a:t>Strategic Plan Key Targets</a:t>
            </a:r>
          </a:p>
        </p:txBody>
      </p:sp>
      <p:cxnSp>
        <p:nvCxnSpPr>
          <p:cNvPr id="107" name="Straight Connector 106"/>
          <p:cNvCxnSpPr/>
          <p:nvPr>
            <p:custDataLst>
              <p:tags r:id="rId7"/>
            </p:custDataLst>
          </p:nvPr>
        </p:nvCxnSpPr>
        <p:spPr bwMode="auto">
          <a:xfrm>
            <a:off x="11138450" y="1581212"/>
            <a:ext cx="1138125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TextBox 107"/>
          <p:cNvSpPr txBox="1"/>
          <p:nvPr/>
        </p:nvSpPr>
        <p:spPr>
          <a:xfrm>
            <a:off x="7146793" y="1089790"/>
            <a:ext cx="1186083" cy="501458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Baseline Data</a:t>
            </a:r>
          </a:p>
          <a:p>
            <a:pPr algn="ctr"/>
            <a:r>
              <a:rPr lang="en-US" sz="1265" b="1" dirty="0">
                <a:solidFill>
                  <a:prstClr val="black"/>
                </a:solidFill>
              </a:rPr>
              <a:t>2020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608165" y="1187093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Targets</a:t>
            </a:r>
            <a:endParaRPr lang="en-US" sz="1265" b="1" dirty="0">
              <a:solidFill>
                <a:srgbClr val="FF0000"/>
              </a:solidFill>
            </a:endParaRPr>
          </a:p>
        </p:txBody>
      </p:sp>
      <p:cxnSp>
        <p:nvCxnSpPr>
          <p:cNvPr id="111" name="Straight Connector 110"/>
          <p:cNvCxnSpPr/>
          <p:nvPr>
            <p:custDataLst>
              <p:tags r:id="rId8"/>
            </p:custDataLst>
          </p:nvPr>
        </p:nvCxnSpPr>
        <p:spPr bwMode="auto">
          <a:xfrm>
            <a:off x="8688141" y="1581212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TextBox 111"/>
          <p:cNvSpPr txBox="1"/>
          <p:nvPr/>
        </p:nvSpPr>
        <p:spPr>
          <a:xfrm>
            <a:off x="9819247" y="1187093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</a:t>
            </a:r>
          </a:p>
        </p:txBody>
      </p:sp>
      <p:cxnSp>
        <p:nvCxnSpPr>
          <p:cNvPr id="113" name="Straight Connector 112"/>
          <p:cNvCxnSpPr/>
          <p:nvPr>
            <p:custDataLst>
              <p:tags r:id="rId9"/>
            </p:custDataLst>
          </p:nvPr>
        </p:nvCxnSpPr>
        <p:spPr bwMode="auto">
          <a:xfrm>
            <a:off x="9928464" y="1581212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TextBox 85"/>
          <p:cNvSpPr txBox="1"/>
          <p:nvPr/>
        </p:nvSpPr>
        <p:spPr>
          <a:xfrm>
            <a:off x="7149279" y="3223030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sz="1054" dirty="0"/>
              <a:t>38%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49279" y="3888564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dk1"/>
                </a:solidFill>
              </a:defRPr>
            </a:lvl1pPr>
          </a:lstStyle>
          <a:p>
            <a:r>
              <a:rPr lang="en-US" sz="1054" dirty="0"/>
              <a:t>89%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58779" y="5238042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pPr algn="ctr"/>
            <a:r>
              <a:rPr lang="en-US" sz="1054" dirty="0"/>
              <a:t>3</a:t>
            </a:r>
          </a:p>
        </p:txBody>
      </p:sp>
      <p:sp>
        <p:nvSpPr>
          <p:cNvPr id="103" name="TextBox 102"/>
          <p:cNvSpPr txBox="1">
            <a:spLocks/>
          </p:cNvSpPr>
          <p:nvPr/>
        </p:nvSpPr>
        <p:spPr>
          <a:xfrm>
            <a:off x="7158843" y="5900548"/>
            <a:ext cx="1214000" cy="5835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/>
              <a:t>21.2%</a:t>
            </a:r>
          </a:p>
          <a:p>
            <a:pPr algn="ctr">
              <a:defRPr/>
            </a:pPr>
            <a:r>
              <a:rPr lang="en-US" sz="1054" dirty="0"/>
              <a:t>14.7% MSc</a:t>
            </a:r>
          </a:p>
          <a:p>
            <a:pPr algn="ctr">
              <a:defRPr/>
            </a:pPr>
            <a:r>
              <a:rPr lang="en-US" sz="1054" dirty="0"/>
              <a:t>6.6% PhD</a:t>
            </a:r>
          </a:p>
          <a:p>
            <a:pPr algn="ctr">
              <a:defRPr/>
            </a:pPr>
            <a:r>
              <a:rPr lang="en-US" sz="843" dirty="0"/>
              <a:t>(excluding Prep)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26875" y="1863642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dk1"/>
                </a:solidFill>
              </a:defRPr>
            </a:lvl1pPr>
          </a:lstStyle>
          <a:p>
            <a:r>
              <a:rPr lang="en-US" sz="1054" dirty="0"/>
              <a:t>70%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38361" y="2549039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70%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48056" y="4564969"/>
            <a:ext cx="1214000" cy="55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948" dirty="0"/>
              <a:t>The strategy</a:t>
            </a:r>
          </a:p>
          <a:p>
            <a:r>
              <a:rPr lang="en-US" sz="948" dirty="0"/>
              <a:t>Developed and approved</a:t>
            </a:r>
          </a:p>
        </p:txBody>
      </p:sp>
      <p:cxnSp>
        <p:nvCxnSpPr>
          <p:cNvPr id="117" name="Straight Connector 116"/>
          <p:cNvCxnSpPr/>
          <p:nvPr>
            <p:custDataLst>
              <p:tags r:id="rId10"/>
            </p:custDataLst>
          </p:nvPr>
        </p:nvCxnSpPr>
        <p:spPr bwMode="auto">
          <a:xfrm>
            <a:off x="7217846" y="1581212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56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4394" y="1732583"/>
            <a:ext cx="1599597" cy="7751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59" dirty="0">
                <a:solidFill>
                  <a:prstClr val="white"/>
                </a:solidFill>
              </a:rPr>
              <a:t>Enhance the university reputation both locally and internationally</a:t>
            </a:r>
          </a:p>
        </p:txBody>
      </p:sp>
      <p:sp>
        <p:nvSpPr>
          <p:cNvPr id="106" name="Title 1"/>
          <p:cNvSpPr txBox="1">
            <a:spLocks/>
          </p:cNvSpPr>
          <p:nvPr/>
        </p:nvSpPr>
        <p:spPr>
          <a:xfrm>
            <a:off x="393066" y="157242"/>
            <a:ext cx="11418072" cy="861143"/>
          </a:xfrm>
          <a:prstGeom prst="rect">
            <a:avLst/>
          </a:prstGeom>
        </p:spPr>
        <p:txBody>
          <a:bodyPr lIns="111037" tIns="55518" rIns="111037" bIns="55518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35" b="1" dirty="0">
                <a:solidFill>
                  <a:srgbClr val="FF0000"/>
                </a:solidFill>
              </a:rPr>
              <a:t>Priority 2: </a:t>
            </a:r>
            <a:r>
              <a:rPr lang="en-US" sz="2635" b="1" dirty="0"/>
              <a:t>Produce world-class research with local relevance and international impact</a:t>
            </a:r>
          </a:p>
        </p:txBody>
      </p:sp>
      <p:sp>
        <p:nvSpPr>
          <p:cNvPr id="78" name="Oval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323" y="1520185"/>
            <a:ext cx="318675" cy="28916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eaLnBrk="0" hangingPunct="0">
              <a:spcBef>
                <a:spcPts val="728"/>
              </a:spcBef>
            </a:pPr>
            <a:r>
              <a:rPr lang="en-US" sz="1265" dirty="0">
                <a:solidFill>
                  <a:prstClr val="white"/>
                </a:solidFill>
              </a:rPr>
              <a:t>I4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45271" y="1762316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/>
            <a:r>
              <a:rPr lang="en-US" sz="1106" dirty="0"/>
              <a:t>Develop a multidimensional program to attract and retain diverse outstanding students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5271" y="2513224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/>
            <a:r>
              <a:rPr lang="en-US" sz="1106" dirty="0"/>
              <a:t>Recruit and retain high caliber faculty, researchers and staff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5271" y="3280526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Realize a sustainable , healthy and safe campus environment for all community members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45271" y="4044075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Enhance the communication plan and outreach activities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5271" y="4802736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Increase publications in journals with high impact factor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7370" y="1762316"/>
            <a:ext cx="2473867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/>
            <a:r>
              <a:rPr lang="en-US" sz="1106" dirty="0"/>
              <a:t>% international students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7370" y="2513224"/>
            <a:ext cx="2473867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just">
              <a:defRPr sz="105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1106" dirty="0">
                <a:solidFill>
                  <a:schemeClr val="tx1"/>
                </a:solidFill>
              </a:rPr>
              <a:t>% of the newly recruited faculty with h-5 index &gt;=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7370" y="3280526"/>
            <a:ext cx="2473867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% compatibility with the national standards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7370" y="4044075"/>
            <a:ext cx="2473867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Completion percentage of the updated and enhanced communication and marketing plan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7370" y="4802736"/>
            <a:ext cx="2473867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Average number of publications indexed in Scopus per faculty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45271" y="5567343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Increase filed and issued patents in USPTO and PCT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37370" y="5567343"/>
            <a:ext cx="2473867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just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Number of annual registered patents</a:t>
            </a:r>
          </a:p>
        </p:txBody>
      </p:sp>
      <p:sp>
        <p:nvSpPr>
          <p:cNvPr id="60" name="TextBox 59"/>
          <p:cNvSpPr txBox="1">
            <a:spLocks/>
          </p:cNvSpPr>
          <p:nvPr/>
        </p:nvSpPr>
        <p:spPr>
          <a:xfrm>
            <a:off x="1845271" y="6328030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06" dirty="0"/>
              <a:t>Build partnerships with local and international universities</a:t>
            </a:r>
          </a:p>
        </p:txBody>
      </p:sp>
      <p:sp>
        <p:nvSpPr>
          <p:cNvPr id="61" name="TextBox 60"/>
          <p:cNvSpPr txBox="1">
            <a:spLocks/>
          </p:cNvSpPr>
          <p:nvPr/>
        </p:nvSpPr>
        <p:spPr>
          <a:xfrm>
            <a:off x="4540171" y="6328030"/>
            <a:ext cx="2473867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06" dirty="0"/>
              <a:t>Number of new strategic partnerships with international universities/per year*</a:t>
            </a:r>
          </a:p>
        </p:txBody>
      </p:sp>
      <p:sp>
        <p:nvSpPr>
          <p:cNvPr id="73" name="Rectangle 6"/>
          <p:cNvSpPr/>
          <p:nvPr>
            <p:custDataLst>
              <p:tags r:id="rId2"/>
            </p:custDataLst>
          </p:nvPr>
        </p:nvSpPr>
        <p:spPr bwMode="auto">
          <a:xfrm flipH="1">
            <a:off x="11322446" y="3863418"/>
            <a:ext cx="1143015" cy="78488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103274" tIns="53703" rIns="103274" bIns="53703" anchor="ctr"/>
          <a:lstStyle/>
          <a:p>
            <a:pPr algn="ctr">
              <a:lnSpc>
                <a:spcPct val="80000"/>
              </a:lnSpc>
            </a:pPr>
            <a:r>
              <a:rPr lang="en-US" sz="1148" b="1" dirty="0">
                <a:solidFill>
                  <a:schemeClr val="bg1"/>
                </a:solidFill>
                <a:latin typeface="Arial"/>
              </a:rPr>
              <a:t>Top 80-100</a:t>
            </a:r>
          </a:p>
          <a:p>
            <a:pPr algn="ctr">
              <a:lnSpc>
                <a:spcPct val="80000"/>
              </a:lnSpc>
            </a:pPr>
            <a:r>
              <a:rPr lang="en-US" sz="1148" b="1" dirty="0">
                <a:solidFill>
                  <a:schemeClr val="bg1"/>
                </a:solidFill>
                <a:latin typeface="Arial"/>
              </a:rPr>
              <a:t>ranked universities</a:t>
            </a:r>
          </a:p>
        </p:txBody>
      </p:sp>
      <p:sp>
        <p:nvSpPr>
          <p:cNvPr id="2" name="Rectangle 1"/>
          <p:cNvSpPr/>
          <p:nvPr/>
        </p:nvSpPr>
        <p:spPr>
          <a:xfrm>
            <a:off x="481806" y="7362421"/>
            <a:ext cx="6611703" cy="238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48" dirty="0"/>
              <a:t>* Active partnerships may result in joint research projects and minds exchange</a:t>
            </a:r>
            <a:endParaRPr lang="en-US" sz="948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7" name="TextBox 106"/>
          <p:cNvSpPr txBox="1">
            <a:spLocks/>
          </p:cNvSpPr>
          <p:nvPr/>
        </p:nvSpPr>
        <p:spPr>
          <a:xfrm>
            <a:off x="8752813" y="2513224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80%-90%</a:t>
            </a:r>
          </a:p>
        </p:txBody>
      </p:sp>
      <p:sp>
        <p:nvSpPr>
          <p:cNvPr id="108" name="TextBox 107"/>
          <p:cNvSpPr txBox="1">
            <a:spLocks/>
          </p:cNvSpPr>
          <p:nvPr/>
        </p:nvSpPr>
        <p:spPr>
          <a:xfrm>
            <a:off x="8752813" y="1762316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30%-35%</a:t>
            </a:r>
          </a:p>
        </p:txBody>
      </p:sp>
      <p:sp>
        <p:nvSpPr>
          <p:cNvPr id="109" name="TextBox 108"/>
          <p:cNvSpPr txBox="1">
            <a:spLocks/>
          </p:cNvSpPr>
          <p:nvPr/>
        </p:nvSpPr>
        <p:spPr>
          <a:xfrm>
            <a:off x="8752813" y="3280526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106" dirty="0">
                <a:solidFill>
                  <a:schemeClr val="bg1"/>
                </a:solidFill>
              </a:rPr>
              <a:t>80% -90%</a:t>
            </a:r>
          </a:p>
        </p:txBody>
      </p:sp>
      <p:sp>
        <p:nvSpPr>
          <p:cNvPr id="110" name="TextBox 109"/>
          <p:cNvSpPr txBox="1">
            <a:spLocks/>
          </p:cNvSpPr>
          <p:nvPr/>
        </p:nvSpPr>
        <p:spPr>
          <a:xfrm>
            <a:off x="8752813" y="4044075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80%-100%</a:t>
            </a:r>
          </a:p>
        </p:txBody>
      </p:sp>
      <p:sp>
        <p:nvSpPr>
          <p:cNvPr id="112" name="TextBox 111"/>
          <p:cNvSpPr txBox="1">
            <a:spLocks/>
          </p:cNvSpPr>
          <p:nvPr/>
        </p:nvSpPr>
        <p:spPr>
          <a:xfrm>
            <a:off x="8752813" y="4805800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4-5</a:t>
            </a:r>
          </a:p>
        </p:txBody>
      </p:sp>
      <p:sp>
        <p:nvSpPr>
          <p:cNvPr id="113" name="TextBox 112"/>
          <p:cNvSpPr txBox="1">
            <a:spLocks/>
          </p:cNvSpPr>
          <p:nvPr/>
        </p:nvSpPr>
        <p:spPr>
          <a:xfrm>
            <a:off x="8752813" y="5570407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30 - 40 </a:t>
            </a:r>
          </a:p>
        </p:txBody>
      </p:sp>
      <p:sp>
        <p:nvSpPr>
          <p:cNvPr id="114" name="TextBox 113"/>
          <p:cNvSpPr txBox="1">
            <a:spLocks/>
          </p:cNvSpPr>
          <p:nvPr/>
        </p:nvSpPr>
        <p:spPr>
          <a:xfrm>
            <a:off x="8752813" y="6331094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2 - 4</a:t>
            </a:r>
          </a:p>
        </p:txBody>
      </p:sp>
      <p:cxnSp>
        <p:nvCxnSpPr>
          <p:cNvPr id="115" name="Straight Connector 114"/>
          <p:cNvCxnSpPr/>
          <p:nvPr>
            <p:custDataLst>
              <p:tags r:id="rId3"/>
            </p:custDataLst>
          </p:nvPr>
        </p:nvCxnSpPr>
        <p:spPr bwMode="auto">
          <a:xfrm>
            <a:off x="393067" y="1680974"/>
            <a:ext cx="1224206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6" name="TextBox 115"/>
          <p:cNvSpPr txBox="1"/>
          <p:nvPr/>
        </p:nvSpPr>
        <p:spPr>
          <a:xfrm>
            <a:off x="1630279" y="1324455"/>
            <a:ext cx="2871202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Objectives</a:t>
            </a:r>
          </a:p>
        </p:txBody>
      </p:sp>
      <p:cxnSp>
        <p:nvCxnSpPr>
          <p:cNvPr id="117" name="Straight Connector 116"/>
          <p:cNvCxnSpPr/>
          <p:nvPr>
            <p:custDataLst>
              <p:tags r:id="rId4"/>
            </p:custDataLst>
          </p:nvPr>
        </p:nvCxnSpPr>
        <p:spPr bwMode="auto">
          <a:xfrm>
            <a:off x="1882408" y="1680974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8" name="TextBox 117"/>
          <p:cNvSpPr txBox="1"/>
          <p:nvPr/>
        </p:nvSpPr>
        <p:spPr>
          <a:xfrm>
            <a:off x="4739520" y="1324455"/>
            <a:ext cx="2137344" cy="306789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Key Performance Indicators</a:t>
            </a:r>
          </a:p>
        </p:txBody>
      </p:sp>
      <p:cxnSp>
        <p:nvCxnSpPr>
          <p:cNvPr id="119" name="Straight Connector 118"/>
          <p:cNvCxnSpPr/>
          <p:nvPr>
            <p:custDataLst>
              <p:tags r:id="rId5"/>
            </p:custDataLst>
          </p:nvPr>
        </p:nvCxnSpPr>
        <p:spPr bwMode="auto">
          <a:xfrm>
            <a:off x="4427243" y="1680974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TextBox 123"/>
          <p:cNvSpPr txBox="1"/>
          <p:nvPr/>
        </p:nvSpPr>
        <p:spPr>
          <a:xfrm>
            <a:off x="-322" y="1314511"/>
            <a:ext cx="1913841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Strategic Initiatives</a:t>
            </a:r>
          </a:p>
        </p:txBody>
      </p:sp>
      <p:sp>
        <p:nvSpPr>
          <p:cNvPr id="126" name="Rectangle 2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01480" y="1205349"/>
            <a:ext cx="2547758" cy="5934379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4844" tIns="49319" rIns="94844" bIns="49319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054" b="0" dirty="0"/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10129832" y="2513224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rgbClr val="FF0000"/>
                </a:solidFill>
              </a:defRPr>
            </a:lvl1pPr>
          </a:lstStyle>
          <a:p>
            <a:r>
              <a:rPr lang="en-US" sz="1054" dirty="0"/>
              <a:t>2024</a:t>
            </a:r>
          </a:p>
        </p:txBody>
      </p:sp>
      <p:sp>
        <p:nvSpPr>
          <p:cNvPr id="52" name="TextBox 51"/>
          <p:cNvSpPr txBox="1">
            <a:spLocks/>
          </p:cNvSpPr>
          <p:nvPr/>
        </p:nvSpPr>
        <p:spPr>
          <a:xfrm>
            <a:off x="10129832" y="1762316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>
                <a:solidFill>
                  <a:srgbClr val="FF0000"/>
                </a:solidFill>
              </a:rPr>
              <a:t>2031</a:t>
            </a:r>
          </a:p>
        </p:txBody>
      </p:sp>
      <p:sp>
        <p:nvSpPr>
          <p:cNvPr id="54" name="TextBox 53"/>
          <p:cNvSpPr txBox="1">
            <a:spLocks/>
          </p:cNvSpPr>
          <p:nvPr/>
        </p:nvSpPr>
        <p:spPr>
          <a:xfrm>
            <a:off x="10129832" y="3280526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55" name="TextBox 54"/>
          <p:cNvSpPr txBox="1">
            <a:spLocks/>
          </p:cNvSpPr>
          <p:nvPr/>
        </p:nvSpPr>
        <p:spPr>
          <a:xfrm>
            <a:off x="10129832" y="4044075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56" name="TextBox 55"/>
          <p:cNvSpPr txBox="1">
            <a:spLocks/>
          </p:cNvSpPr>
          <p:nvPr/>
        </p:nvSpPr>
        <p:spPr>
          <a:xfrm>
            <a:off x="10129832" y="4805800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59" name="TextBox 58"/>
          <p:cNvSpPr txBox="1">
            <a:spLocks/>
          </p:cNvSpPr>
          <p:nvPr/>
        </p:nvSpPr>
        <p:spPr>
          <a:xfrm>
            <a:off x="10129832" y="5570407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62" name="TextBox 61"/>
          <p:cNvSpPr txBox="1">
            <a:spLocks/>
          </p:cNvSpPr>
          <p:nvPr/>
        </p:nvSpPr>
        <p:spPr>
          <a:xfrm>
            <a:off x="10129832" y="6331094"/>
            <a:ext cx="948438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44567" y="1006343"/>
            <a:ext cx="1251938" cy="51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77" b="1" dirty="0"/>
              <a:t>Strategic Plan Key Targets</a:t>
            </a:r>
          </a:p>
        </p:txBody>
      </p:sp>
      <p:cxnSp>
        <p:nvCxnSpPr>
          <p:cNvPr id="70" name="Straight Connector 69"/>
          <p:cNvCxnSpPr/>
          <p:nvPr>
            <p:custDataLst>
              <p:tags r:id="rId7"/>
            </p:custDataLst>
          </p:nvPr>
        </p:nvCxnSpPr>
        <p:spPr bwMode="auto">
          <a:xfrm>
            <a:off x="11301474" y="1551835"/>
            <a:ext cx="1138125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" name="TextBox 70"/>
          <p:cNvSpPr txBox="1"/>
          <p:nvPr/>
        </p:nvSpPr>
        <p:spPr>
          <a:xfrm>
            <a:off x="11405363" y="3527336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 2031</a:t>
            </a:r>
          </a:p>
        </p:txBody>
      </p:sp>
      <p:sp>
        <p:nvSpPr>
          <p:cNvPr id="72" name="Isosceles Triangle 71"/>
          <p:cNvSpPr/>
          <p:nvPr/>
        </p:nvSpPr>
        <p:spPr>
          <a:xfrm rot="5400000">
            <a:off x="8952883" y="4179551"/>
            <a:ext cx="4528979" cy="1526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 dirty="0"/>
          </a:p>
        </p:txBody>
      </p:sp>
      <p:sp>
        <p:nvSpPr>
          <p:cNvPr id="76" name="TextBox 75"/>
          <p:cNvSpPr txBox="1"/>
          <p:nvPr/>
        </p:nvSpPr>
        <p:spPr>
          <a:xfrm>
            <a:off x="8822919" y="1187093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Targets</a:t>
            </a:r>
            <a:endParaRPr lang="en-US" sz="1265" b="1" dirty="0">
              <a:solidFill>
                <a:srgbClr val="FF0000"/>
              </a:solidFill>
            </a:endParaRPr>
          </a:p>
        </p:txBody>
      </p:sp>
      <p:cxnSp>
        <p:nvCxnSpPr>
          <p:cNvPr id="77" name="Straight Connector 76"/>
          <p:cNvCxnSpPr/>
          <p:nvPr>
            <p:custDataLst>
              <p:tags r:id="rId8"/>
            </p:custDataLst>
          </p:nvPr>
        </p:nvCxnSpPr>
        <p:spPr bwMode="auto">
          <a:xfrm>
            <a:off x="8902895" y="1581212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TextBox 78"/>
          <p:cNvSpPr txBox="1"/>
          <p:nvPr/>
        </p:nvSpPr>
        <p:spPr>
          <a:xfrm>
            <a:off x="10184660" y="1187093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</a:t>
            </a:r>
          </a:p>
        </p:txBody>
      </p:sp>
      <p:cxnSp>
        <p:nvCxnSpPr>
          <p:cNvPr id="80" name="Straight Connector 79"/>
          <p:cNvCxnSpPr/>
          <p:nvPr>
            <p:custDataLst>
              <p:tags r:id="rId9"/>
            </p:custDataLst>
          </p:nvPr>
        </p:nvCxnSpPr>
        <p:spPr bwMode="auto">
          <a:xfrm>
            <a:off x="10261642" y="1574919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" name="TextBox 86"/>
          <p:cNvSpPr txBox="1"/>
          <p:nvPr/>
        </p:nvSpPr>
        <p:spPr>
          <a:xfrm>
            <a:off x="7307395" y="1104544"/>
            <a:ext cx="1186083" cy="501458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Baseline Data</a:t>
            </a:r>
          </a:p>
          <a:p>
            <a:pPr algn="ctr"/>
            <a:r>
              <a:rPr lang="en-US" sz="1265" b="1" dirty="0">
                <a:solidFill>
                  <a:prstClr val="black"/>
                </a:solidFill>
              </a:rPr>
              <a:t>2020</a:t>
            </a:r>
          </a:p>
        </p:txBody>
      </p:sp>
      <p:cxnSp>
        <p:nvCxnSpPr>
          <p:cNvPr id="88" name="Straight Connector 87"/>
          <p:cNvCxnSpPr/>
          <p:nvPr>
            <p:custDataLst>
              <p:tags r:id="rId10"/>
            </p:custDataLst>
          </p:nvPr>
        </p:nvCxnSpPr>
        <p:spPr bwMode="auto">
          <a:xfrm>
            <a:off x="7467997" y="1595965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TextBox 88"/>
          <p:cNvSpPr txBox="1">
            <a:spLocks/>
          </p:cNvSpPr>
          <p:nvPr/>
        </p:nvSpPr>
        <p:spPr>
          <a:xfrm>
            <a:off x="7282608" y="2513224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/>
              <a:t>64%</a:t>
            </a:r>
          </a:p>
        </p:txBody>
      </p:sp>
      <p:sp>
        <p:nvSpPr>
          <p:cNvPr id="90" name="TextBox 89"/>
          <p:cNvSpPr txBox="1">
            <a:spLocks/>
          </p:cNvSpPr>
          <p:nvPr/>
        </p:nvSpPr>
        <p:spPr>
          <a:xfrm>
            <a:off x="7282608" y="1762316"/>
            <a:ext cx="1214000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/>
              <a:t>25%</a:t>
            </a:r>
          </a:p>
          <a:p>
            <a:pPr algn="ctr">
              <a:defRPr/>
            </a:pPr>
            <a:r>
              <a:rPr lang="en-US" sz="843" dirty="0"/>
              <a:t>(excluding PP students)</a:t>
            </a:r>
          </a:p>
        </p:txBody>
      </p:sp>
      <p:sp>
        <p:nvSpPr>
          <p:cNvPr id="91" name="TextBox 90"/>
          <p:cNvSpPr txBox="1">
            <a:spLocks/>
          </p:cNvSpPr>
          <p:nvPr/>
        </p:nvSpPr>
        <p:spPr>
          <a:xfrm>
            <a:off x="7282608" y="3280526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054" dirty="0">
                <a:solidFill>
                  <a:schemeClr val="tx1">
                    <a:lumMod val="95000"/>
                    <a:lumOff val="5000"/>
                  </a:schemeClr>
                </a:solidFill>
              </a:rPr>
              <a:t>90%</a:t>
            </a:r>
          </a:p>
        </p:txBody>
      </p:sp>
      <p:sp>
        <p:nvSpPr>
          <p:cNvPr id="92" name="TextBox 91"/>
          <p:cNvSpPr txBox="1">
            <a:spLocks/>
          </p:cNvSpPr>
          <p:nvPr/>
        </p:nvSpPr>
        <p:spPr>
          <a:xfrm>
            <a:off x="7282608" y="4044075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>
                <a:solidFill>
                  <a:schemeClr val="tx1"/>
                </a:solidFill>
              </a:rPr>
              <a:t>Communication and Marketing Plan </a:t>
            </a:r>
          </a:p>
        </p:txBody>
      </p:sp>
      <p:sp>
        <p:nvSpPr>
          <p:cNvPr id="93" name="TextBox 92"/>
          <p:cNvSpPr txBox="1">
            <a:spLocks/>
          </p:cNvSpPr>
          <p:nvPr/>
        </p:nvSpPr>
        <p:spPr>
          <a:xfrm>
            <a:off x="7282608" y="4805800"/>
            <a:ext cx="1214000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3.9</a:t>
            </a:r>
          </a:p>
        </p:txBody>
      </p:sp>
      <p:sp>
        <p:nvSpPr>
          <p:cNvPr id="94" name="TextBox 93"/>
          <p:cNvSpPr txBox="1">
            <a:spLocks/>
          </p:cNvSpPr>
          <p:nvPr/>
        </p:nvSpPr>
        <p:spPr>
          <a:xfrm>
            <a:off x="7282608" y="5570407"/>
            <a:ext cx="1214000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/>
              <a:t>32</a:t>
            </a:r>
          </a:p>
        </p:txBody>
      </p:sp>
      <p:sp>
        <p:nvSpPr>
          <p:cNvPr id="95" name="TextBox 94"/>
          <p:cNvSpPr txBox="1">
            <a:spLocks/>
          </p:cNvSpPr>
          <p:nvPr/>
        </p:nvSpPr>
        <p:spPr>
          <a:xfrm>
            <a:off x="7282608" y="6331094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/>
              <a:t>31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636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547" y="1682629"/>
            <a:ext cx="1599597" cy="6919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r>
              <a:rPr lang="en-US" sz="1159" dirty="0">
                <a:solidFill>
                  <a:prstClr val="white"/>
                </a:solidFill>
              </a:rPr>
              <a:t>Diversify financial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47" y="5659231"/>
            <a:ext cx="1599597" cy="7751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59" dirty="0">
                <a:solidFill>
                  <a:prstClr val="white"/>
                </a:solidFill>
              </a:rPr>
              <a:t>Foster engagement and satisfaction in the university</a:t>
            </a:r>
          </a:p>
        </p:txBody>
      </p:sp>
      <p:sp>
        <p:nvSpPr>
          <p:cNvPr id="106" name="Title 1"/>
          <p:cNvSpPr txBox="1">
            <a:spLocks/>
          </p:cNvSpPr>
          <p:nvPr/>
        </p:nvSpPr>
        <p:spPr>
          <a:xfrm>
            <a:off x="393066" y="157242"/>
            <a:ext cx="11418072" cy="861143"/>
          </a:xfrm>
          <a:prstGeom prst="rect">
            <a:avLst/>
          </a:prstGeom>
        </p:spPr>
        <p:txBody>
          <a:bodyPr lIns="111037" tIns="55518" rIns="111037" bIns="55518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35" b="1" dirty="0">
                <a:solidFill>
                  <a:srgbClr val="FF0000"/>
                </a:solidFill>
              </a:rPr>
              <a:t>Priority 3: </a:t>
            </a:r>
            <a:r>
              <a:rPr lang="en-US" sz="2635" b="1" dirty="0"/>
              <a:t>Enrich the national economy through innovation and research commercialization</a:t>
            </a:r>
          </a:p>
        </p:txBody>
      </p:sp>
      <p:sp>
        <p:nvSpPr>
          <p:cNvPr id="77" name="Oval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929" y="1515490"/>
            <a:ext cx="318675" cy="28916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eaLnBrk="0" hangingPunct="0">
              <a:spcBef>
                <a:spcPts val="728"/>
              </a:spcBef>
            </a:pPr>
            <a:r>
              <a:rPr lang="en-US" sz="1265" dirty="0">
                <a:solidFill>
                  <a:prstClr val="white"/>
                </a:solidFill>
              </a:rPr>
              <a:t>I5</a:t>
            </a:r>
          </a:p>
        </p:txBody>
      </p:sp>
      <p:sp>
        <p:nvSpPr>
          <p:cNvPr id="78" name="Oval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-14383" y="5462699"/>
            <a:ext cx="318675" cy="28916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eaLnBrk="0" hangingPunct="0">
              <a:spcBef>
                <a:spcPts val="728"/>
              </a:spcBef>
            </a:pPr>
            <a:r>
              <a:rPr lang="en-US" sz="1265" dirty="0">
                <a:solidFill>
                  <a:prstClr val="white"/>
                </a:solidFill>
              </a:rPr>
              <a:t>I6</a:t>
            </a:r>
          </a:p>
        </p:txBody>
      </p:sp>
      <p:cxnSp>
        <p:nvCxnSpPr>
          <p:cNvPr id="91" name="Straight Connector 90"/>
          <p:cNvCxnSpPr/>
          <p:nvPr/>
        </p:nvCxnSpPr>
        <p:spPr>
          <a:xfrm flipH="1">
            <a:off x="259381" y="5342599"/>
            <a:ext cx="107649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708627" y="1706919"/>
            <a:ext cx="2553573" cy="8672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>
                <a:solidFill>
                  <a:schemeClr val="dk1"/>
                </a:solidFill>
              </a:rPr>
              <a:t>Develop competitive fellowship programs for students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8627" y="5670741"/>
            <a:ext cx="2553573" cy="8672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Design and implement professional development programs for researchers, faculty, and  staff to contribute to the university strategic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08627" y="4064721"/>
            <a:ext cx="2553573" cy="8672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Create diversified financial resources for self sustaining university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8627" y="2872978"/>
            <a:ext cx="2553573" cy="8672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defTabSz="555176">
              <a:defRPr/>
            </a:pPr>
            <a:r>
              <a:rPr lang="en-US" sz="1106" dirty="0"/>
              <a:t>Establish and manage start-up companies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38949" y="1706919"/>
            <a:ext cx="2553573" cy="867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% of sponsored students by external entities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38949" y="2872978"/>
            <a:ext cx="2553573" cy="867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Total number of start-up companies that have spun out of KU projects/research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38949" y="4064721"/>
            <a:ext cx="2553573" cy="867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just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% of the university revenue from external funding sources from total revenue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38949" y="5670741"/>
            <a:ext cx="2553573" cy="867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just">
              <a:defRPr/>
            </a:pPr>
            <a:r>
              <a:rPr lang="en-US" sz="1106" dirty="0"/>
              <a:t>% of the university human capital who received documented and structured training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72512" y="1716040"/>
            <a:ext cx="1214000" cy="8672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25% - 30%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72512" y="5679863"/>
            <a:ext cx="1214000" cy="8672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80%-100%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72512" y="4073842"/>
            <a:ext cx="1214000" cy="8672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20% - 25%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72512" y="2882100"/>
            <a:ext cx="1214000" cy="8672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 defTabSz="555176">
              <a:defRPr/>
            </a:pPr>
            <a:r>
              <a:rPr lang="en-US" sz="1106" dirty="0">
                <a:solidFill>
                  <a:schemeClr val="bg1"/>
                </a:solidFill>
              </a:rPr>
              <a:t>15 - 20</a:t>
            </a:r>
          </a:p>
        </p:txBody>
      </p:sp>
      <p:cxnSp>
        <p:nvCxnSpPr>
          <p:cNvPr id="70" name="Straight Connector 69"/>
          <p:cNvCxnSpPr/>
          <p:nvPr>
            <p:custDataLst>
              <p:tags r:id="rId3"/>
            </p:custDataLst>
          </p:nvPr>
        </p:nvCxnSpPr>
        <p:spPr bwMode="auto">
          <a:xfrm>
            <a:off x="171183" y="1563193"/>
            <a:ext cx="1461479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" name="TextBox 70"/>
          <p:cNvSpPr txBox="1"/>
          <p:nvPr/>
        </p:nvSpPr>
        <p:spPr>
          <a:xfrm>
            <a:off x="1529367" y="1206674"/>
            <a:ext cx="2871202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Objectives</a:t>
            </a:r>
          </a:p>
        </p:txBody>
      </p:sp>
      <p:cxnSp>
        <p:nvCxnSpPr>
          <p:cNvPr id="72" name="Straight Connector 71"/>
          <p:cNvCxnSpPr/>
          <p:nvPr>
            <p:custDataLst>
              <p:tags r:id="rId4"/>
            </p:custDataLst>
          </p:nvPr>
        </p:nvCxnSpPr>
        <p:spPr bwMode="auto">
          <a:xfrm>
            <a:off x="1781496" y="1563193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" name="TextBox 72"/>
          <p:cNvSpPr txBox="1"/>
          <p:nvPr/>
        </p:nvSpPr>
        <p:spPr>
          <a:xfrm>
            <a:off x="4571153" y="1206674"/>
            <a:ext cx="2137344" cy="306789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Key Performance Indicators</a:t>
            </a:r>
          </a:p>
        </p:txBody>
      </p:sp>
      <p:cxnSp>
        <p:nvCxnSpPr>
          <p:cNvPr id="74" name="Straight Connector 73"/>
          <p:cNvCxnSpPr/>
          <p:nvPr>
            <p:custDataLst>
              <p:tags r:id="rId5"/>
            </p:custDataLst>
          </p:nvPr>
        </p:nvCxnSpPr>
        <p:spPr bwMode="auto">
          <a:xfrm>
            <a:off x="4387129" y="1563193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" name="TextBox 81"/>
          <p:cNvSpPr txBox="1"/>
          <p:nvPr/>
        </p:nvSpPr>
        <p:spPr>
          <a:xfrm>
            <a:off x="-33364" y="1229833"/>
            <a:ext cx="1913841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Strategic Initiatives</a:t>
            </a:r>
          </a:p>
        </p:txBody>
      </p:sp>
      <p:sp>
        <p:nvSpPr>
          <p:cNvPr id="83" name="Rectangle 2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295603" y="1124205"/>
            <a:ext cx="2669854" cy="5583512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4844" tIns="49319" rIns="94844" bIns="49319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054" b="0" dirty="0"/>
          </a:p>
        </p:txBody>
      </p:sp>
      <p:sp>
        <p:nvSpPr>
          <p:cNvPr id="44" name="TextBox 43"/>
          <p:cNvSpPr txBox="1"/>
          <p:nvPr/>
        </p:nvSpPr>
        <p:spPr>
          <a:xfrm>
            <a:off x="10075862" y="1715480"/>
            <a:ext cx="948438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106" dirty="0">
                <a:solidFill>
                  <a:srgbClr val="FF0000"/>
                </a:solidFill>
              </a:rPr>
              <a:t>2031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5862" y="5679303"/>
            <a:ext cx="948438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5862" y="4073282"/>
            <a:ext cx="948438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106" dirty="0">
                <a:solidFill>
                  <a:srgbClr val="FF0000"/>
                </a:solidFill>
              </a:rPr>
              <a:t>2031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75862" y="2881539"/>
            <a:ext cx="948438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/>
            <a:r>
              <a:rPr lang="en-US" sz="1106" dirty="0">
                <a:solidFill>
                  <a:srgbClr val="FF0000"/>
                </a:solidFill>
              </a:rPr>
              <a:t>2031</a:t>
            </a:r>
          </a:p>
        </p:txBody>
      </p:sp>
      <p:sp>
        <p:nvSpPr>
          <p:cNvPr id="80" name="Rectangle 6"/>
          <p:cNvSpPr/>
          <p:nvPr>
            <p:custDataLst>
              <p:tags r:id="rId7"/>
            </p:custDataLst>
          </p:nvPr>
        </p:nvSpPr>
        <p:spPr bwMode="auto">
          <a:xfrm flipH="1">
            <a:off x="11367187" y="3863418"/>
            <a:ext cx="1108239" cy="78488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103274" tIns="53703" rIns="103274" bIns="53703" anchor="ctr"/>
          <a:lstStyle/>
          <a:p>
            <a:pPr algn="ctr">
              <a:lnSpc>
                <a:spcPct val="80000"/>
              </a:lnSpc>
            </a:pPr>
            <a:r>
              <a:rPr lang="en-US" sz="1148" b="1" dirty="0">
                <a:solidFill>
                  <a:schemeClr val="bg1"/>
                </a:solidFill>
                <a:latin typeface="Arial"/>
              </a:rPr>
              <a:t>15- 20</a:t>
            </a:r>
          </a:p>
          <a:p>
            <a:pPr algn="ctr">
              <a:lnSpc>
                <a:spcPct val="80000"/>
              </a:lnSpc>
            </a:pPr>
            <a:r>
              <a:rPr lang="en-US" sz="1148" b="1" dirty="0">
                <a:solidFill>
                  <a:schemeClr val="bg1"/>
                </a:solidFill>
                <a:latin typeface="Arial"/>
              </a:rPr>
              <a:t> startups</a:t>
            </a:r>
          </a:p>
        </p:txBody>
      </p:sp>
      <p:sp>
        <p:nvSpPr>
          <p:cNvPr id="87" name="Isosceles Triangle 86"/>
          <p:cNvSpPr/>
          <p:nvPr/>
        </p:nvSpPr>
        <p:spPr>
          <a:xfrm rot="5400000">
            <a:off x="8948419" y="4158135"/>
            <a:ext cx="4528979" cy="1526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 dirty="0"/>
          </a:p>
        </p:txBody>
      </p:sp>
      <p:sp>
        <p:nvSpPr>
          <p:cNvPr id="54" name="TextBox 53"/>
          <p:cNvSpPr txBox="1"/>
          <p:nvPr/>
        </p:nvSpPr>
        <p:spPr>
          <a:xfrm>
            <a:off x="11432715" y="3255407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 2031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30267" y="1006343"/>
            <a:ext cx="1251938" cy="51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77" b="1" dirty="0"/>
              <a:t>Strategic Plan Key Targets</a:t>
            </a:r>
          </a:p>
        </p:txBody>
      </p:sp>
      <p:cxnSp>
        <p:nvCxnSpPr>
          <p:cNvPr id="81" name="Straight Connector 80"/>
          <p:cNvCxnSpPr/>
          <p:nvPr>
            <p:custDataLst>
              <p:tags r:id="rId8"/>
            </p:custDataLst>
          </p:nvPr>
        </p:nvCxnSpPr>
        <p:spPr bwMode="auto">
          <a:xfrm>
            <a:off x="11287173" y="1581212"/>
            <a:ext cx="1138125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" name="TextBox 89"/>
          <p:cNvSpPr txBox="1"/>
          <p:nvPr/>
        </p:nvSpPr>
        <p:spPr>
          <a:xfrm>
            <a:off x="8790921" y="1187093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Targets</a:t>
            </a:r>
            <a:endParaRPr lang="en-US" sz="1265" b="1" dirty="0">
              <a:solidFill>
                <a:srgbClr val="FF0000"/>
              </a:solidFill>
            </a:endParaRPr>
          </a:p>
        </p:txBody>
      </p:sp>
      <p:cxnSp>
        <p:nvCxnSpPr>
          <p:cNvPr id="92" name="Straight Connector 91"/>
          <p:cNvCxnSpPr/>
          <p:nvPr>
            <p:custDataLst>
              <p:tags r:id="rId9"/>
            </p:custDataLst>
          </p:nvPr>
        </p:nvCxnSpPr>
        <p:spPr bwMode="auto">
          <a:xfrm>
            <a:off x="8900137" y="1581212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TextBox 92"/>
          <p:cNvSpPr txBox="1"/>
          <p:nvPr/>
        </p:nvSpPr>
        <p:spPr>
          <a:xfrm>
            <a:off x="10037630" y="1187093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</a:t>
            </a:r>
          </a:p>
        </p:txBody>
      </p:sp>
      <p:cxnSp>
        <p:nvCxnSpPr>
          <p:cNvPr id="94" name="Straight Connector 93"/>
          <p:cNvCxnSpPr/>
          <p:nvPr>
            <p:custDataLst>
              <p:tags r:id="rId10"/>
            </p:custDataLst>
          </p:nvPr>
        </p:nvCxnSpPr>
        <p:spPr bwMode="auto">
          <a:xfrm>
            <a:off x="10157354" y="1581212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TextBox 78"/>
          <p:cNvSpPr txBox="1"/>
          <p:nvPr/>
        </p:nvSpPr>
        <p:spPr>
          <a:xfrm>
            <a:off x="7164397" y="1687207"/>
            <a:ext cx="1214000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>
                <a:solidFill>
                  <a:schemeClr val="dk1"/>
                </a:solidFill>
              </a:rPr>
              <a:t>23%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4397" y="5673968"/>
            <a:ext cx="1214000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40%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64397" y="4045009"/>
            <a:ext cx="1214000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10.2%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64397" y="2853267"/>
            <a:ext cx="1214000" cy="8672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2 Start ups using KU licensed IPs</a:t>
            </a:r>
          </a:p>
          <a:p>
            <a:r>
              <a:rPr lang="en-US" sz="1054" dirty="0"/>
              <a:t>2 Start ups currently in the Catalyst Incubator</a:t>
            </a:r>
            <a:endParaRPr lang="ar-EG" sz="1054" dirty="0"/>
          </a:p>
        </p:txBody>
      </p:sp>
      <p:cxnSp>
        <p:nvCxnSpPr>
          <p:cNvPr id="96" name="Straight Connector 95"/>
          <p:cNvCxnSpPr/>
          <p:nvPr>
            <p:custDataLst>
              <p:tags r:id="rId11"/>
            </p:custDataLst>
          </p:nvPr>
        </p:nvCxnSpPr>
        <p:spPr bwMode="auto">
          <a:xfrm>
            <a:off x="7392022" y="1561500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7" name="TextBox 96"/>
          <p:cNvSpPr txBox="1"/>
          <p:nvPr/>
        </p:nvSpPr>
        <p:spPr>
          <a:xfrm>
            <a:off x="7178356" y="1086644"/>
            <a:ext cx="1186083" cy="501458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Baseline Data</a:t>
            </a:r>
          </a:p>
          <a:p>
            <a:pPr algn="ctr"/>
            <a:r>
              <a:rPr lang="en-US" sz="1265" b="1" dirty="0">
                <a:solidFill>
                  <a:prstClr val="black"/>
                </a:solidFill>
              </a:rPr>
              <a:t>2020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028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1599597" y="7181033"/>
            <a:ext cx="10278533" cy="38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48" dirty="0">
                <a:solidFill>
                  <a:schemeClr val="dk1"/>
                </a:solidFill>
              </a:rPr>
              <a:t>* Includes faculty and admin staff</a:t>
            </a:r>
          </a:p>
          <a:p>
            <a:pPr>
              <a:defRPr/>
            </a:pPr>
            <a:r>
              <a:rPr lang="en-US" sz="948" dirty="0">
                <a:solidFill>
                  <a:schemeClr val="dk1"/>
                </a:solidFill>
              </a:rPr>
              <a:t>** ~60% of the university data is currently available in the 3 management information systems</a:t>
            </a:r>
          </a:p>
        </p:txBody>
      </p:sp>
      <p:sp>
        <p:nvSpPr>
          <p:cNvPr id="106" name="Title 1"/>
          <p:cNvSpPr txBox="1">
            <a:spLocks/>
          </p:cNvSpPr>
          <p:nvPr/>
        </p:nvSpPr>
        <p:spPr>
          <a:xfrm>
            <a:off x="393066" y="157242"/>
            <a:ext cx="11418072" cy="861143"/>
          </a:xfrm>
          <a:prstGeom prst="rect">
            <a:avLst/>
          </a:prstGeom>
        </p:spPr>
        <p:txBody>
          <a:bodyPr lIns="111037" tIns="55518" rIns="111037" bIns="55518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35" b="1" dirty="0">
                <a:solidFill>
                  <a:srgbClr val="FF0000"/>
                </a:solidFill>
              </a:rPr>
              <a:t>Priority 3: </a:t>
            </a:r>
            <a:r>
              <a:rPr lang="en-US" sz="2635" b="1" dirty="0"/>
              <a:t>Enrich the national economy through innovation and research commercialization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1930582"/>
            <a:ext cx="1599597" cy="7751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265" dirty="0">
                <a:solidFill>
                  <a:prstClr val="white"/>
                </a:solidFill>
              </a:rPr>
              <a:t>Optimize efficiency and effectiveness of processes</a:t>
            </a:r>
          </a:p>
        </p:txBody>
      </p:sp>
      <p:sp>
        <p:nvSpPr>
          <p:cNvPr id="38" name="Oval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751045"/>
            <a:ext cx="318675" cy="28916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eaLnBrk="0" hangingPunct="0">
              <a:spcBef>
                <a:spcPts val="728"/>
              </a:spcBef>
            </a:pPr>
            <a:r>
              <a:rPr lang="en-US" sz="1265" dirty="0">
                <a:solidFill>
                  <a:prstClr val="white"/>
                </a:solidFill>
              </a:rPr>
              <a:t>I7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0185" y="2977746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>
                <a:solidFill>
                  <a:schemeClr val="dk1"/>
                </a:solidFill>
              </a:rPr>
              <a:t>Utilize state-of-the-art technologies and facilities in an optimal and efficient manner</a:t>
            </a:r>
            <a:endParaRPr lang="en-US" sz="1106" dirty="0"/>
          </a:p>
        </p:txBody>
      </p:sp>
      <p:sp>
        <p:nvSpPr>
          <p:cNvPr id="27" name="TextBox 26"/>
          <p:cNvSpPr txBox="1"/>
          <p:nvPr/>
        </p:nvSpPr>
        <p:spPr>
          <a:xfrm>
            <a:off x="1790185" y="4011089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Promote a working culture of excellence and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0185" y="5002709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Provide reliable, accurate and timely reports to different stakeholders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0185" y="6033188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Develop and implement of performance management system across the university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162" y="2977746"/>
            <a:ext cx="2553573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Utilization  rate of the university facilities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162" y="4011089"/>
            <a:ext cx="2553573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>
              <a:defRPr sz="1050">
                <a:solidFill>
                  <a:schemeClr val="dk1"/>
                </a:solidFill>
              </a:defRPr>
            </a:lvl1pPr>
          </a:lstStyle>
          <a:p>
            <a:r>
              <a:rPr lang="en-US" sz="1106" dirty="0">
                <a:solidFill>
                  <a:schemeClr val="tx1"/>
                </a:solidFill>
              </a:rPr>
              <a:t>Completion percentage of the Process excellence framework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162" y="5002709"/>
            <a:ext cx="2553573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Completion percentage of the holistic university information system**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9162" y="6033188"/>
            <a:ext cx="2553573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Completion percentage of the automated performance management system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74017" y="2970844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80%-90%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74017" y="4004188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80%-100%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74017" y="4995808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80%-100%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74017" y="6026286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chemeClr val="bg1"/>
                </a:solidFill>
              </a:rPr>
              <a:t>80%-100%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70977" y="2970844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70977" y="4004188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70977" y="4995808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70977" y="6026286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2022</a:t>
            </a:r>
          </a:p>
        </p:txBody>
      </p:sp>
      <p:cxnSp>
        <p:nvCxnSpPr>
          <p:cNvPr id="86" name="Straight Connector 85"/>
          <p:cNvCxnSpPr/>
          <p:nvPr>
            <p:custDataLst>
              <p:tags r:id="rId2"/>
            </p:custDataLst>
          </p:nvPr>
        </p:nvCxnSpPr>
        <p:spPr bwMode="auto">
          <a:xfrm>
            <a:off x="111399" y="1723795"/>
            <a:ext cx="1461479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" name="TextBox 86"/>
          <p:cNvSpPr txBox="1"/>
          <p:nvPr/>
        </p:nvSpPr>
        <p:spPr>
          <a:xfrm>
            <a:off x="1585885" y="1347411"/>
            <a:ext cx="2871202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Objectives</a:t>
            </a:r>
          </a:p>
        </p:txBody>
      </p:sp>
      <p:cxnSp>
        <p:nvCxnSpPr>
          <p:cNvPr id="88" name="Straight Connector 87"/>
          <p:cNvCxnSpPr/>
          <p:nvPr>
            <p:custDataLst>
              <p:tags r:id="rId3"/>
            </p:custDataLst>
          </p:nvPr>
        </p:nvCxnSpPr>
        <p:spPr bwMode="auto">
          <a:xfrm>
            <a:off x="1838013" y="1766943"/>
            <a:ext cx="2505393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TextBox 88"/>
          <p:cNvSpPr txBox="1"/>
          <p:nvPr/>
        </p:nvSpPr>
        <p:spPr>
          <a:xfrm>
            <a:off x="4697277" y="1347411"/>
            <a:ext cx="2137344" cy="306789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Key Performance Indicators</a:t>
            </a:r>
          </a:p>
        </p:txBody>
      </p:sp>
      <p:cxnSp>
        <p:nvCxnSpPr>
          <p:cNvPr id="90" name="Straight Connector 89"/>
          <p:cNvCxnSpPr/>
          <p:nvPr>
            <p:custDataLst>
              <p:tags r:id="rId4"/>
            </p:custDataLst>
          </p:nvPr>
        </p:nvCxnSpPr>
        <p:spPr bwMode="auto">
          <a:xfrm>
            <a:off x="4628634" y="1766943"/>
            <a:ext cx="2274632" cy="525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TextBox 94"/>
          <p:cNvSpPr txBox="1"/>
          <p:nvPr/>
        </p:nvSpPr>
        <p:spPr>
          <a:xfrm>
            <a:off x="-160602" y="1347411"/>
            <a:ext cx="1913841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Strategic Initiatives</a:t>
            </a:r>
          </a:p>
        </p:txBody>
      </p:sp>
      <p:sp>
        <p:nvSpPr>
          <p:cNvPr id="60" name="Rectangle 6"/>
          <p:cNvSpPr/>
          <p:nvPr>
            <p:custDataLst>
              <p:tags r:id="rId5"/>
            </p:custDataLst>
          </p:nvPr>
        </p:nvSpPr>
        <p:spPr bwMode="auto">
          <a:xfrm flipH="1">
            <a:off x="11375179" y="3880457"/>
            <a:ext cx="1108239" cy="78488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103274" tIns="53703" rIns="103274" bIns="53703" anchor="ctr"/>
          <a:lstStyle/>
          <a:p>
            <a:pPr lvl="0" algn="ctr">
              <a:lnSpc>
                <a:spcPct val="80000"/>
              </a:lnSpc>
              <a:defRPr/>
            </a:pPr>
            <a:r>
              <a:rPr lang="en-US" sz="1159" b="1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Diversified Funding Sources</a:t>
            </a:r>
          </a:p>
          <a:p>
            <a:pPr lvl="0" algn="ctr">
              <a:lnSpc>
                <a:spcPct val="80000"/>
              </a:lnSpc>
              <a:defRPr/>
            </a:pPr>
            <a:r>
              <a:rPr lang="en-US" sz="1159" b="1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20%-25%</a:t>
            </a:r>
            <a:endParaRPr lang="en-GB" sz="1159" b="1" dirty="0">
              <a:solidFill>
                <a:schemeClr val="bg1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506234" y="3379521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 2031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8981656" y="4180906"/>
            <a:ext cx="4528979" cy="1526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7" dirty="0"/>
          </a:p>
        </p:txBody>
      </p:sp>
      <p:sp>
        <p:nvSpPr>
          <p:cNvPr id="64" name="TextBox 63"/>
          <p:cNvSpPr txBox="1"/>
          <p:nvPr/>
        </p:nvSpPr>
        <p:spPr>
          <a:xfrm>
            <a:off x="1789634" y="1945697"/>
            <a:ext cx="2553573" cy="6745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>
                <a:solidFill>
                  <a:schemeClr val="dk1"/>
                </a:solidFill>
              </a:rPr>
              <a:t>Ensure the university sustainability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8611" y="1945697"/>
            <a:ext cx="2553573" cy="674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>
              <a:defRPr/>
            </a:pPr>
            <a:r>
              <a:rPr lang="en-US" sz="1106" dirty="0"/>
              <a:t>% of employed nationals out of the total number of employees*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74017" y="1938796"/>
            <a:ext cx="1214000" cy="674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50"/>
            </a:lvl1pPr>
          </a:lstStyle>
          <a:p>
            <a:r>
              <a:rPr lang="en-US" sz="1106" dirty="0">
                <a:solidFill>
                  <a:schemeClr val="bg1"/>
                </a:solidFill>
              </a:rPr>
              <a:t>30%-35%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70426" y="1938796"/>
            <a:ext cx="948438" cy="674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106" dirty="0">
                <a:solidFill>
                  <a:srgbClr val="FF0000"/>
                </a:solidFill>
              </a:rPr>
              <a:t>2031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6723" y="1166945"/>
            <a:ext cx="1251938" cy="51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77" b="1" dirty="0"/>
              <a:t>Strategic Plan Key Targets</a:t>
            </a:r>
          </a:p>
        </p:txBody>
      </p:sp>
      <p:cxnSp>
        <p:nvCxnSpPr>
          <p:cNvPr id="62" name="Straight Connector 61"/>
          <p:cNvCxnSpPr/>
          <p:nvPr>
            <p:custDataLst>
              <p:tags r:id="rId6"/>
            </p:custDataLst>
          </p:nvPr>
        </p:nvCxnSpPr>
        <p:spPr bwMode="auto">
          <a:xfrm>
            <a:off x="11243629" y="1741814"/>
            <a:ext cx="1138125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" name="TextBox 84"/>
          <p:cNvSpPr txBox="1"/>
          <p:nvPr/>
        </p:nvSpPr>
        <p:spPr>
          <a:xfrm>
            <a:off x="8792426" y="1347695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Targets</a:t>
            </a:r>
            <a:endParaRPr lang="en-US" sz="1265" b="1" dirty="0">
              <a:solidFill>
                <a:srgbClr val="FF0000"/>
              </a:solidFill>
            </a:endParaRPr>
          </a:p>
        </p:txBody>
      </p:sp>
      <p:cxnSp>
        <p:nvCxnSpPr>
          <p:cNvPr id="96" name="Straight Connector 95"/>
          <p:cNvCxnSpPr/>
          <p:nvPr>
            <p:custDataLst>
              <p:tags r:id="rId7"/>
            </p:custDataLst>
          </p:nvPr>
        </p:nvCxnSpPr>
        <p:spPr bwMode="auto">
          <a:xfrm>
            <a:off x="8901642" y="1741814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9" name="TextBox 98"/>
          <p:cNvSpPr txBox="1"/>
          <p:nvPr/>
        </p:nvSpPr>
        <p:spPr>
          <a:xfrm>
            <a:off x="10163887" y="1347695"/>
            <a:ext cx="977185" cy="317267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srgbClr val="FF0000"/>
                </a:solidFill>
              </a:rPr>
              <a:t>Year</a:t>
            </a:r>
          </a:p>
        </p:txBody>
      </p:sp>
      <p:cxnSp>
        <p:nvCxnSpPr>
          <p:cNvPr id="101" name="Straight Connector 100"/>
          <p:cNvCxnSpPr/>
          <p:nvPr>
            <p:custDataLst>
              <p:tags r:id="rId8"/>
            </p:custDataLst>
          </p:nvPr>
        </p:nvCxnSpPr>
        <p:spPr bwMode="auto">
          <a:xfrm>
            <a:off x="10283611" y="1741814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TextBox 91"/>
          <p:cNvSpPr txBox="1"/>
          <p:nvPr/>
        </p:nvSpPr>
        <p:spPr>
          <a:xfrm>
            <a:off x="7160079" y="2962631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dk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80%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60079" y="3995974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50%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60079" y="4987594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70%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60079" y="6018073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54" dirty="0"/>
              <a:t>70%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60079" y="1930582"/>
            <a:ext cx="1214000" cy="674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11037" tIns="55518" rIns="111037" bIns="55518" rtlCol="0" anchor="ctr">
            <a:noAutofit/>
          </a:bodyPr>
          <a:lstStyle/>
          <a:p>
            <a:pPr algn="ctr">
              <a:defRPr/>
            </a:pPr>
            <a:r>
              <a:rPr lang="en-US" sz="1054" dirty="0">
                <a:solidFill>
                  <a:schemeClr val="dk1"/>
                </a:solidFill>
              </a:rPr>
              <a:t>24%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74039" y="1235277"/>
            <a:ext cx="1186083" cy="501458"/>
          </a:xfrm>
          <a:prstGeom prst="rect">
            <a:avLst/>
          </a:prstGeom>
          <a:noFill/>
        </p:spPr>
        <p:txBody>
          <a:bodyPr wrap="square" lIns="111037" tIns="55518" rIns="111037" bIns="55518" rtlCol="0">
            <a:spAutoFit/>
          </a:bodyPr>
          <a:lstStyle/>
          <a:p>
            <a:pPr algn="ctr"/>
            <a:r>
              <a:rPr lang="en-US" sz="1265" b="1" dirty="0">
                <a:solidFill>
                  <a:prstClr val="black"/>
                </a:solidFill>
              </a:rPr>
              <a:t>Baseline data</a:t>
            </a:r>
          </a:p>
          <a:p>
            <a:pPr algn="ctr"/>
            <a:r>
              <a:rPr lang="en-US" sz="1265" b="1" dirty="0">
                <a:solidFill>
                  <a:prstClr val="black"/>
                </a:solidFill>
              </a:rPr>
              <a:t>2020</a:t>
            </a:r>
          </a:p>
        </p:txBody>
      </p:sp>
      <p:cxnSp>
        <p:nvCxnSpPr>
          <p:cNvPr id="108" name="Straight Connector 107"/>
          <p:cNvCxnSpPr/>
          <p:nvPr>
            <p:custDataLst>
              <p:tags r:id="rId9"/>
            </p:custDataLst>
          </p:nvPr>
        </p:nvCxnSpPr>
        <p:spPr bwMode="auto">
          <a:xfrm>
            <a:off x="7387704" y="1726699"/>
            <a:ext cx="7587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Rectangle 2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416557" y="1181735"/>
            <a:ext cx="2669854" cy="5934379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4844" tIns="49319" rIns="94844" bIns="49319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054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917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13" y="926042"/>
            <a:ext cx="2433761" cy="5946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5414" y="3259015"/>
            <a:ext cx="9705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KU Projected Budget and Revenue </a:t>
            </a:r>
          </a:p>
          <a:p>
            <a:r>
              <a:rPr lang="en-US" sz="4800" dirty="0">
                <a:solidFill>
                  <a:schemeClr val="bg1"/>
                </a:solidFill>
              </a:rPr>
              <a:t>2022-2031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374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3905273"/>
              </p:ext>
            </p:extLst>
          </p:nvPr>
        </p:nvGraphicFramePr>
        <p:xfrm>
          <a:off x="349309" y="1612669"/>
          <a:ext cx="11531731" cy="5866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223201" y="328560"/>
            <a:ext cx="75235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8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budget including revenue (projection)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406960"/>
            <a:ext cx="2323548" cy="5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63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0188411"/>
              </p:ext>
            </p:extLst>
          </p:nvPr>
        </p:nvGraphicFramePr>
        <p:xfrm>
          <a:off x="554079" y="1562793"/>
          <a:ext cx="11865231" cy="6065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21334" y="433683"/>
            <a:ext cx="56807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Revenue projection for 10 years </a:t>
            </a:r>
            <a:endParaRPr lang="ar-EG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406960"/>
            <a:ext cx="2323548" cy="5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6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7602555"/>
              </p:ext>
            </p:extLst>
          </p:nvPr>
        </p:nvGraphicFramePr>
        <p:xfrm>
          <a:off x="465016" y="1163782"/>
          <a:ext cx="11521009" cy="63152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149629" y="133873"/>
            <a:ext cx="92770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High level Projection for total budget between chapters over 10 years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406960"/>
            <a:ext cx="2323548" cy="5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5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13" y="926042"/>
            <a:ext cx="2433761" cy="5946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5415" y="3259015"/>
            <a:ext cx="7549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Research Priorities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658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975272" y="237363"/>
            <a:ext cx="10437843" cy="1002387"/>
          </a:xfrm>
        </p:spPr>
        <p:txBody>
          <a:bodyPr vert="horz">
            <a:normAutofit/>
          </a:bodyPr>
          <a:lstStyle/>
          <a:p>
            <a:r>
              <a:rPr lang="en-US" sz="3248" dirty="0">
                <a:solidFill>
                  <a:schemeClr val="tx1"/>
                </a:solidFill>
              </a:rPr>
              <a:t>Research - </a:t>
            </a:r>
            <a:r>
              <a:rPr lang="en-US" sz="2784" b="0" dirty="0">
                <a:solidFill>
                  <a:schemeClr val="tx1"/>
                </a:solidFill>
              </a:rPr>
              <a:t>Focus topics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6758101"/>
              </p:ext>
            </p:extLst>
          </p:nvPr>
        </p:nvGraphicFramePr>
        <p:xfrm>
          <a:off x="527612" y="3507117"/>
          <a:ext cx="10545303" cy="416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721098159"/>
              </p:ext>
            </p:extLst>
          </p:nvPr>
        </p:nvGraphicFramePr>
        <p:xfrm>
          <a:off x="527613" y="1028438"/>
          <a:ext cx="10545303" cy="2459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359662"/>
            <a:ext cx="2323548" cy="5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5682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439" y="2552725"/>
            <a:ext cx="11489696" cy="2838425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Appendix</a:t>
            </a:r>
            <a:br>
              <a:rPr lang="en-US" sz="7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Benchmarks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13" y="926042"/>
            <a:ext cx="2433761" cy="59465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096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439" y="2552725"/>
            <a:ext cx="11489696" cy="2838425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b="1" dirty="0"/>
              <a:t>World-Class Universities</a:t>
            </a:r>
            <a:endParaRPr lang="en-US" sz="7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274" y="302673"/>
            <a:ext cx="2917861" cy="6322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29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Rectangle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174403" y="454273"/>
          <a:ext cx="163111" cy="163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3074" name="Rectangle 2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403" y="454273"/>
                        <a:ext cx="163111" cy="1631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AutoShape 6"/>
          <p:cNvSpPr>
            <a:spLocks noChangeArrowheads="1"/>
          </p:cNvSpPr>
          <p:nvPr/>
        </p:nvSpPr>
        <p:spPr bwMode="gray">
          <a:xfrm>
            <a:off x="2797105" y="2506882"/>
            <a:ext cx="4886821" cy="999873"/>
          </a:xfrm>
          <a:prstGeom prst="triangle">
            <a:avLst>
              <a:gd name="adj" fmla="val 50000"/>
            </a:avLst>
          </a:prstGeom>
          <a:solidFill>
            <a:srgbClr val="969696"/>
          </a:solidFill>
          <a:ln w="6350">
            <a:solidFill>
              <a:srgbClr val="DDDDDD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en-GB" sz="1028" dirty="0">
              <a:solidFill>
                <a:srgbClr val="000000"/>
              </a:solidFill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gray">
          <a:xfrm>
            <a:off x="3020583" y="3532824"/>
            <a:ext cx="4439895" cy="195734"/>
          </a:xfrm>
          <a:prstGeom prst="rect">
            <a:avLst/>
          </a:prstGeom>
          <a:solidFill>
            <a:srgbClr val="969696"/>
          </a:solidFill>
          <a:ln w="6350">
            <a:solidFill>
              <a:srgbClr val="DDDDDD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en-GB" sz="1850" b="1" dirty="0">
              <a:solidFill>
                <a:srgbClr val="000000"/>
              </a:solidFill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gray">
          <a:xfrm>
            <a:off x="2893356" y="6354654"/>
            <a:ext cx="4694349" cy="236512"/>
          </a:xfrm>
          <a:prstGeom prst="rect">
            <a:avLst/>
          </a:prstGeom>
          <a:solidFill>
            <a:srgbClr val="969696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endParaRPr lang="en-US" sz="1028" b="1" dirty="0">
              <a:solidFill>
                <a:srgbClr val="000000"/>
              </a:solidFill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2764481" y="6641729"/>
            <a:ext cx="4934123" cy="184316"/>
          </a:xfrm>
          <a:prstGeom prst="rect">
            <a:avLst/>
          </a:prstGeom>
          <a:solidFill>
            <a:srgbClr val="969696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endParaRPr lang="en-US" sz="1028" b="1" dirty="0">
              <a:solidFill>
                <a:srgbClr val="000000"/>
              </a:solidFill>
            </a:endParaRPr>
          </a:p>
        </p:txBody>
      </p:sp>
      <p:sp>
        <p:nvSpPr>
          <p:cNvPr id="3085" name="Freeform 13"/>
          <p:cNvSpPr>
            <a:spLocks/>
          </p:cNvSpPr>
          <p:nvPr/>
        </p:nvSpPr>
        <p:spPr bwMode="gray">
          <a:xfrm>
            <a:off x="4805653" y="3761178"/>
            <a:ext cx="751618" cy="2562481"/>
          </a:xfrm>
          <a:custGeom>
            <a:avLst/>
            <a:gdLst>
              <a:gd name="T0" fmla="*/ 2147483647 w 1312"/>
              <a:gd name="T1" fmla="*/ 0 h 1760"/>
              <a:gd name="T2" fmla="*/ 2147483647 w 1312"/>
              <a:gd name="T3" fmla="*/ 0 h 1760"/>
              <a:gd name="T4" fmla="*/ 2147483647 w 1312"/>
              <a:gd name="T5" fmla="*/ 2147483647 h 1760"/>
              <a:gd name="T6" fmla="*/ 2147483647 w 1312"/>
              <a:gd name="T7" fmla="*/ 2147483647 h 1760"/>
              <a:gd name="T8" fmla="*/ 2147483647 w 1312"/>
              <a:gd name="T9" fmla="*/ 2147483647 h 1760"/>
              <a:gd name="T10" fmla="*/ 0 w 1312"/>
              <a:gd name="T11" fmla="*/ 2147483647 h 1760"/>
              <a:gd name="T12" fmla="*/ 2147483647 w 1312"/>
              <a:gd name="T13" fmla="*/ 2147483647 h 1760"/>
              <a:gd name="T14" fmla="*/ 2147483647 w 1312"/>
              <a:gd name="T15" fmla="*/ 2147483647 h 1760"/>
              <a:gd name="T16" fmla="*/ 2147483647 w 1312"/>
              <a:gd name="T17" fmla="*/ 0 h 17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12"/>
              <a:gd name="T28" fmla="*/ 0 h 1760"/>
              <a:gd name="T29" fmla="*/ 1312 w 1312"/>
              <a:gd name="T30" fmla="*/ 1760 h 17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12" h="1760">
                <a:moveTo>
                  <a:pt x="24" y="0"/>
                </a:moveTo>
                <a:lnTo>
                  <a:pt x="1304" y="0"/>
                </a:lnTo>
                <a:lnTo>
                  <a:pt x="1200" y="88"/>
                </a:lnTo>
                <a:lnTo>
                  <a:pt x="1200" y="1656"/>
                </a:lnTo>
                <a:lnTo>
                  <a:pt x="1312" y="1760"/>
                </a:lnTo>
                <a:lnTo>
                  <a:pt x="0" y="1760"/>
                </a:lnTo>
                <a:lnTo>
                  <a:pt x="120" y="1640"/>
                </a:lnTo>
                <a:lnTo>
                  <a:pt x="120" y="88"/>
                </a:lnTo>
                <a:lnTo>
                  <a:pt x="24" y="0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DDDDDD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en-US" sz="1850" dirty="0"/>
          </a:p>
        </p:txBody>
      </p:sp>
      <p:sp>
        <p:nvSpPr>
          <p:cNvPr id="3093" name="Rectangle 21"/>
          <p:cNvSpPr>
            <a:spLocks noChangeArrowheads="1"/>
          </p:cNvSpPr>
          <p:nvPr/>
        </p:nvSpPr>
        <p:spPr bwMode="gray">
          <a:xfrm rot="16200000">
            <a:off x="2933637" y="4876384"/>
            <a:ext cx="1221637" cy="18466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Cost optimization</a:t>
            </a:r>
          </a:p>
        </p:txBody>
      </p:sp>
      <p:sp>
        <p:nvSpPr>
          <p:cNvPr id="3115" name="AutoShape 49"/>
          <p:cNvSpPr>
            <a:spLocks noChangeArrowheads="1"/>
          </p:cNvSpPr>
          <p:nvPr/>
        </p:nvSpPr>
        <p:spPr bwMode="auto">
          <a:xfrm>
            <a:off x="7508757" y="1913734"/>
            <a:ext cx="2943787" cy="136300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algn="ctr">
            <a:solidFill>
              <a:srgbClr val="066BB0"/>
            </a:solidFill>
            <a:prstDash val="dash"/>
            <a:round/>
            <a:headEnd/>
            <a:tailEnd/>
          </a:ln>
        </p:spPr>
        <p:txBody>
          <a:bodyPr lIns="46976" rIns="46976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Top students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Outstanding faculty and support staff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International students and faculty</a:t>
            </a:r>
          </a:p>
        </p:txBody>
      </p:sp>
      <p:sp>
        <p:nvSpPr>
          <p:cNvPr id="51" name="AutoShape 47"/>
          <p:cNvSpPr>
            <a:spLocks noChangeArrowheads="1"/>
          </p:cNvSpPr>
          <p:nvPr/>
        </p:nvSpPr>
        <p:spPr bwMode="auto">
          <a:xfrm>
            <a:off x="551793" y="1702677"/>
            <a:ext cx="2871566" cy="129783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algn="ctr">
            <a:solidFill>
              <a:srgbClr val="066BB0"/>
            </a:solidFill>
            <a:prstDash val="dash"/>
            <a:round/>
            <a:headEnd/>
            <a:tailEnd/>
          </a:ln>
        </p:spPr>
        <p:txBody>
          <a:bodyPr lIns="46976" rIns="46976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Autonomy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ndara" panose="020E0502030303020204" pitchFamily="34" charset="0"/>
              </a:rPr>
              <a:t>Agile operations </a:t>
            </a:r>
            <a:endParaRPr lang="en-US" sz="1400" b="1" dirty="0">
              <a:latin typeface="Candara" panose="020E0502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ndara" panose="020E0502030303020204" pitchFamily="34" charset="0"/>
              </a:rPr>
              <a:t>No externally imposed constraints</a:t>
            </a:r>
          </a:p>
        </p:txBody>
      </p:sp>
      <p:sp>
        <p:nvSpPr>
          <p:cNvPr id="52" name="AutoShape 48"/>
          <p:cNvSpPr>
            <a:spLocks noChangeArrowheads="1"/>
          </p:cNvSpPr>
          <p:nvPr/>
        </p:nvSpPr>
        <p:spPr bwMode="auto">
          <a:xfrm>
            <a:off x="423430" y="4713890"/>
            <a:ext cx="2419403" cy="121809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algn="ctr">
            <a:solidFill>
              <a:srgbClr val="066BB0"/>
            </a:solidFill>
            <a:prstDash val="dash"/>
            <a:round/>
            <a:headEnd/>
            <a:tailEnd/>
          </a:ln>
        </p:spPr>
        <p:txBody>
          <a:bodyPr lIns="46976" rIns="46976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Government funding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Research funds and grants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Endowments, tuition fees, gifts and others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ndara" panose="020E0502030303020204" pitchFamily="34" charset="0"/>
              </a:rPr>
              <a:t>State of the art facilities</a:t>
            </a:r>
          </a:p>
        </p:txBody>
      </p:sp>
      <p:sp>
        <p:nvSpPr>
          <p:cNvPr id="59" name="Freeform 13"/>
          <p:cNvSpPr>
            <a:spLocks/>
          </p:cNvSpPr>
          <p:nvPr/>
        </p:nvSpPr>
        <p:spPr bwMode="gray">
          <a:xfrm>
            <a:off x="3237848" y="3761178"/>
            <a:ext cx="751618" cy="2562481"/>
          </a:xfrm>
          <a:custGeom>
            <a:avLst/>
            <a:gdLst>
              <a:gd name="T0" fmla="*/ 2147483647 w 1312"/>
              <a:gd name="T1" fmla="*/ 0 h 1760"/>
              <a:gd name="T2" fmla="*/ 2147483647 w 1312"/>
              <a:gd name="T3" fmla="*/ 0 h 1760"/>
              <a:gd name="T4" fmla="*/ 2147483647 w 1312"/>
              <a:gd name="T5" fmla="*/ 2147483647 h 1760"/>
              <a:gd name="T6" fmla="*/ 2147483647 w 1312"/>
              <a:gd name="T7" fmla="*/ 2147483647 h 1760"/>
              <a:gd name="T8" fmla="*/ 2147483647 w 1312"/>
              <a:gd name="T9" fmla="*/ 2147483647 h 1760"/>
              <a:gd name="T10" fmla="*/ 0 w 1312"/>
              <a:gd name="T11" fmla="*/ 2147483647 h 1760"/>
              <a:gd name="T12" fmla="*/ 2147483647 w 1312"/>
              <a:gd name="T13" fmla="*/ 2147483647 h 1760"/>
              <a:gd name="T14" fmla="*/ 2147483647 w 1312"/>
              <a:gd name="T15" fmla="*/ 2147483647 h 1760"/>
              <a:gd name="T16" fmla="*/ 2147483647 w 1312"/>
              <a:gd name="T17" fmla="*/ 0 h 17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12"/>
              <a:gd name="T28" fmla="*/ 0 h 1760"/>
              <a:gd name="T29" fmla="*/ 1312 w 1312"/>
              <a:gd name="T30" fmla="*/ 1760 h 17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12" h="1760">
                <a:moveTo>
                  <a:pt x="24" y="0"/>
                </a:moveTo>
                <a:lnTo>
                  <a:pt x="1304" y="0"/>
                </a:lnTo>
                <a:lnTo>
                  <a:pt x="1200" y="88"/>
                </a:lnTo>
                <a:lnTo>
                  <a:pt x="1200" y="1656"/>
                </a:lnTo>
                <a:lnTo>
                  <a:pt x="1312" y="1760"/>
                </a:lnTo>
                <a:lnTo>
                  <a:pt x="0" y="1760"/>
                </a:lnTo>
                <a:lnTo>
                  <a:pt x="120" y="1640"/>
                </a:lnTo>
                <a:lnTo>
                  <a:pt x="120" y="88"/>
                </a:lnTo>
                <a:lnTo>
                  <a:pt x="24" y="0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DDDDDD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en-US" sz="1850" dirty="0"/>
          </a:p>
        </p:txBody>
      </p:sp>
      <p:sp>
        <p:nvSpPr>
          <p:cNvPr id="61" name="Rectangle 21"/>
          <p:cNvSpPr>
            <a:spLocks noChangeArrowheads="1"/>
          </p:cNvSpPr>
          <p:nvPr/>
        </p:nvSpPr>
        <p:spPr bwMode="gray">
          <a:xfrm rot="16200000">
            <a:off x="2997207" y="4970091"/>
            <a:ext cx="1221637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ndara" panose="020E0502030303020204" pitchFamily="34" charset="0"/>
              </a:rPr>
              <a:t>Flexible Governance</a:t>
            </a:r>
          </a:p>
        </p:txBody>
      </p:sp>
      <p:sp>
        <p:nvSpPr>
          <p:cNvPr id="64" name="Rectangle 21"/>
          <p:cNvSpPr>
            <a:spLocks noChangeArrowheads="1"/>
          </p:cNvSpPr>
          <p:nvPr/>
        </p:nvSpPr>
        <p:spPr bwMode="gray">
          <a:xfrm rot="16200000">
            <a:off x="4570645" y="4970091"/>
            <a:ext cx="1221637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ndara" panose="020E0502030303020204" pitchFamily="34" charset="0"/>
              </a:rPr>
              <a:t>Abundant Resources</a:t>
            </a:r>
          </a:p>
        </p:txBody>
      </p:sp>
      <p:sp>
        <p:nvSpPr>
          <p:cNvPr id="65" name="Freeform 13"/>
          <p:cNvSpPr>
            <a:spLocks/>
          </p:cNvSpPr>
          <p:nvPr/>
        </p:nvSpPr>
        <p:spPr bwMode="gray">
          <a:xfrm>
            <a:off x="6311999" y="3766892"/>
            <a:ext cx="751618" cy="2562481"/>
          </a:xfrm>
          <a:custGeom>
            <a:avLst/>
            <a:gdLst>
              <a:gd name="T0" fmla="*/ 2147483647 w 1312"/>
              <a:gd name="T1" fmla="*/ 0 h 1760"/>
              <a:gd name="T2" fmla="*/ 2147483647 w 1312"/>
              <a:gd name="T3" fmla="*/ 0 h 1760"/>
              <a:gd name="T4" fmla="*/ 2147483647 w 1312"/>
              <a:gd name="T5" fmla="*/ 2147483647 h 1760"/>
              <a:gd name="T6" fmla="*/ 2147483647 w 1312"/>
              <a:gd name="T7" fmla="*/ 2147483647 h 1760"/>
              <a:gd name="T8" fmla="*/ 2147483647 w 1312"/>
              <a:gd name="T9" fmla="*/ 2147483647 h 1760"/>
              <a:gd name="T10" fmla="*/ 0 w 1312"/>
              <a:gd name="T11" fmla="*/ 2147483647 h 1760"/>
              <a:gd name="T12" fmla="*/ 2147483647 w 1312"/>
              <a:gd name="T13" fmla="*/ 2147483647 h 1760"/>
              <a:gd name="T14" fmla="*/ 2147483647 w 1312"/>
              <a:gd name="T15" fmla="*/ 2147483647 h 1760"/>
              <a:gd name="T16" fmla="*/ 2147483647 w 1312"/>
              <a:gd name="T17" fmla="*/ 0 h 17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12"/>
              <a:gd name="T28" fmla="*/ 0 h 1760"/>
              <a:gd name="T29" fmla="*/ 1312 w 1312"/>
              <a:gd name="T30" fmla="*/ 1760 h 17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12" h="1760">
                <a:moveTo>
                  <a:pt x="24" y="0"/>
                </a:moveTo>
                <a:lnTo>
                  <a:pt x="1304" y="0"/>
                </a:lnTo>
                <a:lnTo>
                  <a:pt x="1200" y="88"/>
                </a:lnTo>
                <a:lnTo>
                  <a:pt x="1200" y="1656"/>
                </a:lnTo>
                <a:lnTo>
                  <a:pt x="1312" y="1760"/>
                </a:lnTo>
                <a:lnTo>
                  <a:pt x="0" y="1760"/>
                </a:lnTo>
                <a:lnTo>
                  <a:pt x="120" y="1640"/>
                </a:lnTo>
                <a:lnTo>
                  <a:pt x="120" y="88"/>
                </a:lnTo>
                <a:lnTo>
                  <a:pt x="24" y="0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DDDDDD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en-US" sz="1850" dirty="0"/>
          </a:p>
        </p:txBody>
      </p:sp>
      <p:sp>
        <p:nvSpPr>
          <p:cNvPr id="66" name="Rectangle 21"/>
          <p:cNvSpPr>
            <a:spLocks noChangeArrowheads="1"/>
          </p:cNvSpPr>
          <p:nvPr/>
        </p:nvSpPr>
        <p:spPr bwMode="gray">
          <a:xfrm rot="16200000">
            <a:off x="6097184" y="4970091"/>
            <a:ext cx="1221637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ndara" panose="020E0502030303020204" pitchFamily="34" charset="0"/>
              </a:rPr>
              <a:t>Concentration  of talent</a:t>
            </a:r>
          </a:p>
        </p:txBody>
      </p:sp>
      <p:sp>
        <p:nvSpPr>
          <p:cNvPr id="63" name="Rectangle 20"/>
          <p:cNvSpPr>
            <a:spLocks noChangeArrowheads="1"/>
          </p:cNvSpPr>
          <p:nvPr/>
        </p:nvSpPr>
        <p:spPr bwMode="gray">
          <a:xfrm>
            <a:off x="2878961" y="4022208"/>
            <a:ext cx="4740091" cy="162531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en-US" sz="1028" b="1" dirty="0">
              <a:solidFill>
                <a:srgbClr val="000000"/>
              </a:solidFill>
            </a:endParaRPr>
          </a:p>
        </p:txBody>
      </p:sp>
      <p:cxnSp>
        <p:nvCxnSpPr>
          <p:cNvPr id="70" name="Straight Arrow Connector 69"/>
          <p:cNvCxnSpPr>
            <a:stCxn id="51" idx="2"/>
          </p:cNvCxnSpPr>
          <p:nvPr/>
        </p:nvCxnSpPr>
        <p:spPr bwMode="auto">
          <a:xfrm>
            <a:off x="1987576" y="3000507"/>
            <a:ext cx="1518785" cy="1407569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>
            <a:stCxn id="52" idx="3"/>
          </p:cNvCxnSpPr>
          <p:nvPr/>
        </p:nvCxnSpPr>
        <p:spPr bwMode="auto">
          <a:xfrm>
            <a:off x="2842833" y="5322938"/>
            <a:ext cx="2346062" cy="666963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Straight Arrow Connector 75"/>
          <p:cNvCxnSpPr>
            <a:stCxn id="3115" idx="2"/>
          </p:cNvCxnSpPr>
          <p:nvPr/>
        </p:nvCxnSpPr>
        <p:spPr bwMode="auto">
          <a:xfrm flipH="1">
            <a:off x="6993981" y="3276740"/>
            <a:ext cx="1986670" cy="169197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Isosceles Triangle 12"/>
          <p:cNvSpPr/>
          <p:nvPr/>
        </p:nvSpPr>
        <p:spPr>
          <a:xfrm rot="5400000">
            <a:off x="7920551" y="4980436"/>
            <a:ext cx="2818567" cy="18790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50" dirty="0"/>
          </a:p>
        </p:txBody>
      </p:sp>
      <p:sp>
        <p:nvSpPr>
          <p:cNvPr id="36" name="Rectangle 35"/>
          <p:cNvSpPr/>
          <p:nvPr/>
        </p:nvSpPr>
        <p:spPr>
          <a:xfrm>
            <a:off x="9813550" y="4502318"/>
            <a:ext cx="2325535" cy="10772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Candara" panose="020E0502030303020204" pitchFamily="34" charset="0"/>
              </a:rPr>
              <a:t>Top Ranked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67501" y="3993203"/>
            <a:ext cx="181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outcome</a:t>
            </a:r>
          </a:p>
        </p:txBody>
      </p:sp>
      <p:sp>
        <p:nvSpPr>
          <p:cNvPr id="38" name="Title 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23431" y="304781"/>
            <a:ext cx="9603445" cy="735633"/>
          </a:xfrm>
          <a:prstGeom prst="rect">
            <a:avLst/>
          </a:prstGeom>
        </p:spPr>
        <p:txBody>
          <a:bodyPr vert="horz" lIns="93952" tIns="46976" rIns="93952" bIns="46976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Candara" panose="020E0502030303020204" pitchFamily="34" charset="0"/>
              </a:rPr>
              <a:t>The ultimate goal of the KU is to be a top ranked University considering the characteristics of top ranked universities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31536" y="1341643"/>
            <a:ext cx="37238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b="1" dirty="0">
                <a:solidFill>
                  <a:srgbClr val="066BB0"/>
                </a:solidFill>
              </a:rPr>
              <a:t>Characteristics of Top Ranked Universities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919" y="370629"/>
            <a:ext cx="2323548" cy="50637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01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/>
          <p:cNvSpPr/>
          <p:nvPr/>
        </p:nvSpPr>
        <p:spPr>
          <a:xfrm>
            <a:off x="8346253" y="2020923"/>
            <a:ext cx="1463040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Top students and high percentage of graduate students</a:t>
            </a:r>
          </a:p>
        </p:txBody>
      </p:sp>
      <p:sp>
        <p:nvSpPr>
          <p:cNvPr id="11" name="Round Diagonal Corner Rectangle 10"/>
          <p:cNvSpPr/>
          <p:nvPr/>
        </p:nvSpPr>
        <p:spPr>
          <a:xfrm>
            <a:off x="3841981" y="2020923"/>
            <a:ext cx="1463040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Government funding</a:t>
            </a:r>
          </a:p>
        </p:txBody>
      </p:sp>
      <p:sp>
        <p:nvSpPr>
          <p:cNvPr id="22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65967" y="48994"/>
            <a:ext cx="9666951" cy="1067617"/>
          </a:xfrm>
          <a:prstGeom prst="rect">
            <a:avLst/>
          </a:prstGeom>
        </p:spPr>
        <p:txBody>
          <a:bodyPr vert="horz" lIns="98307" tIns="49154" rIns="98307" bIns="49154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Candara" panose="020E0502030303020204" pitchFamily="34" charset="0"/>
              </a:rPr>
              <a:t>An environmental scan of top ranked universities shows a wide range of practices that support their leading positions in the league tables</a:t>
            </a:r>
            <a:endParaRPr lang="en-US" altLang="en-US" sz="2400" b="1" dirty="0">
              <a:latin typeface="Candara" panose="020E0502030303020204" pitchFamily="34" charset="0"/>
            </a:endParaRPr>
          </a:p>
        </p:txBody>
      </p:sp>
      <p:sp>
        <p:nvSpPr>
          <p:cNvPr id="28" name="AutoShape 18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 rot="5400000">
            <a:off x="5773730" y="-540086"/>
            <a:ext cx="636397" cy="4181437"/>
          </a:xfrm>
          <a:prstGeom prst="homePlate">
            <a:avLst>
              <a:gd name="adj" fmla="val 30625"/>
            </a:avLst>
          </a:prstGeom>
          <a:solidFill>
            <a:schemeClr val="accent1">
              <a:lumMod val="50000"/>
            </a:schemeClr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lIns="49154" tIns="0" rIns="49154" bIns="0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GB" sz="1200" b="1" dirty="0">
                <a:solidFill>
                  <a:schemeClr val="bg1"/>
                </a:solidFill>
              </a:rPr>
              <a:t>Abundant Resources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AutoShape 7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 rot="5400000">
            <a:off x="10064769" y="-561553"/>
            <a:ext cx="636397" cy="4224370"/>
          </a:xfrm>
          <a:prstGeom prst="homePlate">
            <a:avLst>
              <a:gd name="adj" fmla="val 30625"/>
            </a:avLst>
          </a:prstGeom>
          <a:solidFill>
            <a:schemeClr val="accent1">
              <a:lumMod val="50000"/>
            </a:schemeClr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lIns="49154" tIns="0" rIns="49154" bIns="0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GB" sz="1200" b="1" dirty="0">
                <a:solidFill>
                  <a:schemeClr val="bg1"/>
                </a:solidFill>
              </a:rPr>
              <a:t>Concentration of Talent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34" name="Round Diagonal Corner Rectangle 33"/>
          <p:cNvSpPr/>
          <p:nvPr/>
        </p:nvSpPr>
        <p:spPr>
          <a:xfrm>
            <a:off x="8346253" y="4706763"/>
            <a:ext cx="1463040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International  students and faculty</a:t>
            </a:r>
          </a:p>
        </p:txBody>
      </p:sp>
      <p:sp>
        <p:nvSpPr>
          <p:cNvPr id="40" name="Round Diagonal Corner Rectangle 39"/>
          <p:cNvSpPr/>
          <p:nvPr/>
        </p:nvSpPr>
        <p:spPr>
          <a:xfrm>
            <a:off x="3841981" y="3372222"/>
            <a:ext cx="1463040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Research funds and grants*</a:t>
            </a:r>
          </a:p>
        </p:txBody>
      </p:sp>
      <p:sp>
        <p:nvSpPr>
          <p:cNvPr id="43" name="Round Diagonal Corner Rectangle 42"/>
          <p:cNvSpPr/>
          <p:nvPr/>
        </p:nvSpPr>
        <p:spPr>
          <a:xfrm>
            <a:off x="3841981" y="4706763"/>
            <a:ext cx="1463040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Endowments, tuition fees, gifts and others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4702" y="4706763"/>
            <a:ext cx="2926080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>
            <a:noAutofit/>
          </a:bodyPr>
          <a:lstStyle/>
          <a:p>
            <a:pPr marL="61913" indent="-61913">
              <a:buFont typeface="Arial" panose="020B0604020202020204" pitchFamily="34" charset="0"/>
              <a:buChar char="•"/>
            </a:pPr>
            <a:r>
              <a:rPr lang="en-US" sz="1000" dirty="0"/>
              <a:t>At Harvard Uni.,  37% of the operating cost ($5.4 billion) comes from the endowment income while 17% and 7% comes from the tuition fees and gifts respectively.</a:t>
            </a:r>
          </a:p>
          <a:p>
            <a:pPr marL="61913" indent="-61913">
              <a:buFont typeface="Arial" panose="020B0604020202020204" pitchFamily="34" charset="0"/>
              <a:buChar char="•"/>
            </a:pPr>
            <a:r>
              <a:rPr lang="en-US" sz="1000" dirty="0"/>
              <a:t>UT at Austin tuition fees contributes by ~ $704 M representing 23% of the university income while NUS endowment contributes to 6% of the operating expenses ($2 Billion).</a:t>
            </a:r>
            <a:endParaRPr lang="ar-EG" sz="1000" dirty="0"/>
          </a:p>
        </p:txBody>
      </p:sp>
      <p:sp>
        <p:nvSpPr>
          <p:cNvPr id="19" name="Round Diagonal Corner Rectangle 18"/>
          <p:cNvSpPr/>
          <p:nvPr/>
        </p:nvSpPr>
        <p:spPr>
          <a:xfrm>
            <a:off x="3841981" y="6039943"/>
            <a:ext cx="1463040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State of the Arts facilities</a:t>
            </a:r>
          </a:p>
        </p:txBody>
      </p:sp>
      <p:sp>
        <p:nvSpPr>
          <p:cNvPr id="20" name="Round Diagonal Corner Rectangle 19"/>
          <p:cNvSpPr/>
          <p:nvPr/>
        </p:nvSpPr>
        <p:spPr>
          <a:xfrm>
            <a:off x="8346253" y="3372222"/>
            <a:ext cx="1463040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Outstanding faculty and support 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0829" y="2020923"/>
            <a:ext cx="2562954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000" dirty="0"/>
              <a:t>Caltech, GTECH, NUS and KAIST have strict admission criteria for its incoming undergraduate students.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000" dirty="0"/>
              <a:t>Graduates student represent around 22%, 22%, 50%  and 63% of NUS, GTECH, Caltech and KAIST enrolment respectively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0829" y="3372222"/>
            <a:ext cx="2562954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Top universities attract faculty with outstanding research records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Average h-indices of faculty in CALTECH, NUS and KAIST are 51, 41 and 20 respectively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0829" y="4706763"/>
            <a:ext cx="2562954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International students represent 46%, 25%, 23% and 20%  of the total enrolment in CALTECH, NUS, GTECH and KAIST respectively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International faculty represent 53%, 68% , 29% and 12% in CALTECH, NUS, GTECH and KAIST respectively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44702" y="3372222"/>
            <a:ext cx="2926080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61913" indent="-61913">
              <a:buFont typeface="Arial" panose="020B0604020202020204" pitchFamily="34" charset="0"/>
              <a:buChar char="•"/>
            </a:pPr>
            <a:r>
              <a:rPr lang="en-US" sz="1000" dirty="0"/>
              <a:t>17% and 11% of Harvard and Caltech operating costs respectively come from research grants</a:t>
            </a:r>
          </a:p>
          <a:p>
            <a:pPr marL="61913" indent="-61913">
              <a:buFont typeface="Arial" panose="020B0604020202020204" pitchFamily="34" charset="0"/>
              <a:buChar char="•"/>
            </a:pPr>
            <a:r>
              <a:rPr lang="en-US" sz="1000" dirty="0"/>
              <a:t>GTECH** receives around $354 millions from non federal funding agencies</a:t>
            </a:r>
          </a:p>
          <a:p>
            <a:pPr marL="61913" indent="-61913">
              <a:buFont typeface="Arial" panose="020B0604020202020204" pitchFamily="34" charset="0"/>
              <a:buChar char="•"/>
            </a:pPr>
            <a:r>
              <a:rPr lang="en-US" sz="1000" dirty="0"/>
              <a:t>NUS </a:t>
            </a:r>
            <a:r>
              <a:rPr lang="en-GB" sz="1000" dirty="0"/>
              <a:t>Operating Grants was around</a:t>
            </a:r>
            <a:r>
              <a:rPr lang="en-US" sz="1000" dirty="0"/>
              <a:t> $1 billion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4702" y="2020923"/>
            <a:ext cx="2926080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61913" indent="-61913">
              <a:buFont typeface="Arial" panose="020B0604020202020204" pitchFamily="34" charset="0"/>
              <a:buChar char="•"/>
            </a:pPr>
            <a:r>
              <a:rPr lang="en-US" sz="1000" dirty="0"/>
              <a:t>78% of CALTECH operating revenues comes from Federally funded research center –Jet Propulsion Lab</a:t>
            </a:r>
          </a:p>
          <a:p>
            <a:pPr marL="61913" indent="-61913">
              <a:buFont typeface="Arial" panose="020B0604020202020204" pitchFamily="34" charset="0"/>
              <a:buChar char="•"/>
            </a:pPr>
            <a:r>
              <a:rPr lang="en-US" sz="1000" dirty="0"/>
              <a:t>GTECH** and Uni. of Texas at Austin have received ~$1,536 millions and ~531 millions research funds  from  the federal government respectively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3394" y="6039943"/>
            <a:ext cx="2926080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 anchor="ctr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NUS has established a Science park to  foster a community of deep technology start-ups and companies, corporate partners and accelerators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GTECH established a  Technology Enterprise Park that houses biotechnology companies, research facilities, preclinical testing labs, and Georgia Tech’s Department of Biomedical Engineering</a:t>
            </a:r>
            <a:endParaRPr lang="ar-EG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918" y="329614"/>
            <a:ext cx="2323548" cy="5063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20547" y="6460545"/>
            <a:ext cx="3667873" cy="10618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900" dirty="0"/>
              <a:t>QS ranking 2021</a:t>
            </a:r>
          </a:p>
          <a:p>
            <a:pPr marL="112713" indent="-112713">
              <a:buFont typeface="Arial" pitchFamily="34" charset="0"/>
              <a:buChar char="•"/>
            </a:pPr>
            <a:r>
              <a:rPr lang="en-US" sz="900" dirty="0"/>
              <a:t>Harvard University = rank 3</a:t>
            </a:r>
          </a:p>
          <a:p>
            <a:pPr marL="112713" indent="-112713">
              <a:buFont typeface="Arial" pitchFamily="34" charset="0"/>
              <a:buChar char="•"/>
            </a:pPr>
            <a:r>
              <a:rPr lang="en-US" sz="900" dirty="0"/>
              <a:t>California Institute of Technology (CALTECH)= rank 4</a:t>
            </a:r>
          </a:p>
          <a:p>
            <a:pPr marL="112713" indent="-112713">
              <a:buFont typeface="Arial" pitchFamily="34" charset="0"/>
              <a:buChar char="•"/>
            </a:pPr>
            <a:r>
              <a:rPr lang="en-US" sz="900" dirty="0"/>
              <a:t>National University of Singapore (NUS) = rank 11</a:t>
            </a:r>
          </a:p>
          <a:p>
            <a:pPr marL="112713" indent="-112713">
              <a:buFont typeface="Arial" pitchFamily="34" charset="0"/>
              <a:buChar char="•"/>
            </a:pPr>
            <a:r>
              <a:rPr lang="en-US" sz="900" dirty="0"/>
              <a:t>Korea Advanced Institute of Science and Technology (KAIS) = rank 39 </a:t>
            </a:r>
          </a:p>
          <a:p>
            <a:pPr marL="112713" indent="-112713">
              <a:buFont typeface="Arial" pitchFamily="34" charset="0"/>
              <a:buChar char="•"/>
            </a:pPr>
            <a:r>
              <a:rPr lang="en-GB" sz="900" dirty="0"/>
              <a:t>University of Texas at Austin = rank 71</a:t>
            </a:r>
          </a:p>
          <a:p>
            <a:pPr marL="112713" indent="-112713">
              <a:buFont typeface="Arial" pitchFamily="34" charset="0"/>
              <a:buChar char="•"/>
            </a:pPr>
            <a:r>
              <a:rPr lang="en-GB" sz="900" dirty="0"/>
              <a:t>Georgia Institute of technology (</a:t>
            </a:r>
            <a:r>
              <a:rPr lang="en-US" sz="900" dirty="0"/>
              <a:t>GTECH </a:t>
            </a:r>
            <a:r>
              <a:rPr lang="en-GB" sz="900" dirty="0"/>
              <a:t>) = 80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-29243" y="7626287"/>
            <a:ext cx="180667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" dirty="0"/>
              <a:t>* Data as of 2020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0894" y="7626287"/>
            <a:ext cx="4087979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800" dirty="0"/>
              <a:t>** GTECH data Includes the so called component units data such as Georgia Tech Foundation </a:t>
            </a:r>
          </a:p>
        </p:txBody>
      </p:sp>
      <p:sp>
        <p:nvSpPr>
          <p:cNvPr id="36" name="AutoShape 9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 rot="5400000">
            <a:off x="1681908" y="-362337"/>
            <a:ext cx="636397" cy="3825939"/>
          </a:xfrm>
          <a:prstGeom prst="homePlate">
            <a:avLst>
              <a:gd name="adj" fmla="val 30625"/>
            </a:avLst>
          </a:prstGeom>
          <a:solidFill>
            <a:schemeClr val="accent1">
              <a:lumMod val="50000"/>
            </a:schemeClr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lIns="49154" tIns="0" rIns="49154" bIns="0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1200" b="1" dirty="0">
                <a:solidFill>
                  <a:srgbClr val="FFFFFF"/>
                </a:solidFill>
              </a:rPr>
              <a:t>Flexible Governance</a:t>
            </a:r>
          </a:p>
        </p:txBody>
      </p:sp>
      <p:sp>
        <p:nvSpPr>
          <p:cNvPr id="37" name="Round Diagonal Corner Rectangle 36"/>
          <p:cNvSpPr/>
          <p:nvPr/>
        </p:nvSpPr>
        <p:spPr>
          <a:xfrm>
            <a:off x="90391" y="2020923"/>
            <a:ext cx="1461007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Autonomy in hiring and setting salary scales</a:t>
            </a:r>
          </a:p>
        </p:txBody>
      </p:sp>
      <p:sp>
        <p:nvSpPr>
          <p:cNvPr id="41" name="Round Diagonal Corner Rectangle 40"/>
          <p:cNvSpPr/>
          <p:nvPr/>
        </p:nvSpPr>
        <p:spPr>
          <a:xfrm>
            <a:off x="90391" y="3372222"/>
            <a:ext cx="1461007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Agile operations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2" name="Round Diagonal Corner Rectangle 41"/>
          <p:cNvSpPr/>
          <p:nvPr/>
        </p:nvSpPr>
        <p:spPr>
          <a:xfrm>
            <a:off x="90391" y="4706763"/>
            <a:ext cx="1461007" cy="1280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07" tIns="49154" rIns="98307" bIns="49154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 externally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</a:rPr>
              <a:t>imposed standards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98695" y="2020923"/>
            <a:ext cx="2195229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 anchor="ctr">
            <a:noAutofit/>
          </a:bodyPr>
          <a:lstStyle/>
          <a:p>
            <a:pPr marL="95250" indent="-95250">
              <a:buFont typeface="Arial" panose="020B0604020202020204" pitchFamily="34" charset="0"/>
              <a:buChar char="•"/>
            </a:pPr>
            <a:r>
              <a:rPr lang="en-US" sz="1000" dirty="0"/>
              <a:t>Boards have the right to define the salary scales and offer tenure contracts</a:t>
            </a:r>
            <a:endParaRPr lang="ar-EG" sz="1000" dirty="0"/>
          </a:p>
          <a:p>
            <a:pPr marL="95250" indent="-95250">
              <a:buFont typeface="Arial" panose="020B0604020202020204" pitchFamily="34" charset="0"/>
              <a:buChar char="•"/>
            </a:pPr>
            <a:r>
              <a:rPr lang="en-US" sz="1000" dirty="0"/>
              <a:t>Private universities in US pay faculty 30% more than public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8695" y="3372222"/>
            <a:ext cx="2195229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 anchor="ctr">
            <a:noAutofit/>
          </a:bodyPr>
          <a:lstStyle/>
          <a:p>
            <a:r>
              <a:rPr lang="en-US" sz="1000" dirty="0"/>
              <a:t>Policies such as HR and Procurement  are empowering people and cutout processes</a:t>
            </a:r>
            <a:endParaRPr lang="ar-EG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1598695" y="4706763"/>
            <a:ext cx="2195229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 anchor="ctr">
            <a:noAutofit/>
          </a:bodyPr>
          <a:lstStyle/>
          <a:p>
            <a:r>
              <a:rPr lang="en-US" sz="1000" dirty="0"/>
              <a:t>Universities such as Harvard, NUS, GTECH and Caltech have full autonomy over their operations and budget </a:t>
            </a:r>
            <a:endParaRPr lang="ar-EG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11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046" y="131510"/>
            <a:ext cx="9755229" cy="108996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ndara" panose="020E0502030303020204" pitchFamily="34" charset="0"/>
              </a:rPr>
              <a:t>As sample of top ranked universities Revenues, Expenditures and Endowments in 2020</a:t>
            </a:r>
            <a:endParaRPr lang="ar-EG" sz="2400" b="1" dirty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83921" y="6059099"/>
            <a:ext cx="730740" cy="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3893" y="1939159"/>
          <a:ext cx="8173362" cy="418423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724399">
                  <a:extLst>
                    <a:ext uri="{9D8B030D-6E8A-4147-A177-3AD203B41FA5}">
                      <a16:colId xmlns:a16="http://schemas.microsoft.com/office/drawing/2014/main" val="1455764142"/>
                    </a:ext>
                  </a:extLst>
                </a:gridCol>
                <a:gridCol w="1319106">
                  <a:extLst>
                    <a:ext uri="{9D8B030D-6E8A-4147-A177-3AD203B41FA5}">
                      <a16:colId xmlns:a16="http://schemas.microsoft.com/office/drawing/2014/main" val="2170010802"/>
                    </a:ext>
                  </a:extLst>
                </a:gridCol>
                <a:gridCol w="1013887">
                  <a:extLst>
                    <a:ext uri="{9D8B030D-6E8A-4147-A177-3AD203B41FA5}">
                      <a16:colId xmlns:a16="http://schemas.microsoft.com/office/drawing/2014/main" val="1497849924"/>
                    </a:ext>
                  </a:extLst>
                </a:gridCol>
                <a:gridCol w="1194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335">
                  <a:extLst>
                    <a:ext uri="{9D8B030D-6E8A-4147-A177-3AD203B41FA5}">
                      <a16:colId xmlns:a16="http://schemas.microsoft.com/office/drawing/2014/main" val="1151888220"/>
                    </a:ext>
                  </a:extLst>
                </a:gridCol>
                <a:gridCol w="1797027">
                  <a:extLst>
                    <a:ext uri="{9D8B030D-6E8A-4147-A177-3AD203B41FA5}">
                      <a16:colId xmlns:a16="http://schemas.microsoft.com/office/drawing/2014/main" val="3839052602"/>
                    </a:ext>
                  </a:extLst>
                </a:gridCol>
              </a:tblGrid>
              <a:tr h="911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University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Endowment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Expenditure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Federal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Research Grants​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Federally Funded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Labs, Centers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and Institutes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Total Tuition and Fees​</a:t>
                      </a: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Total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 Expenditure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3190"/>
                  </a:ext>
                </a:extLst>
              </a:tr>
              <a:tr h="6425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Georgia Institute of Technology</a:t>
                      </a:r>
                      <a:r>
                        <a:rPr lang="en-US" sz="1400" dirty="0">
                          <a:effectLst/>
                        </a:rPr>
                        <a:t>*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~61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(2.24%)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1,536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(56.5%)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427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(15.7%)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~2,719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792324"/>
                  </a:ext>
                </a:extLst>
              </a:tr>
              <a:tr h="6425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University of Texas at Austin</a:t>
                      </a:r>
                    </a:p>
                  </a:txBody>
                  <a:tcPr marL="60902" marR="60902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NA</a:t>
                      </a:r>
                      <a:r>
                        <a:rPr lang="en-GB" sz="1400" baseline="30000" dirty="0">
                          <a:effectLst/>
                        </a:rPr>
                        <a:t>&amp;</a:t>
                      </a:r>
                      <a:endParaRPr lang="en-US" sz="1400" dirty="0">
                        <a:effectLst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531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(17.6%)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704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(23.4%)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3,012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14894"/>
                  </a:ext>
                </a:extLst>
              </a:tr>
              <a:tr h="700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California Institute of Technology (Caltech)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 $156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(4.6%)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~$394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(11.79%)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~$2,615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(78.28%)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~$40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(1.19%)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~$3,340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935582"/>
                  </a:ext>
                </a:extLst>
              </a:tr>
              <a:tr h="6425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National University of Singapore (NUS)**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~$127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(6%)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~$936</a:t>
                      </a:r>
                      <a:r>
                        <a:rPr lang="ar-EG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(46%)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~$414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(20.32%)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~$2,038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39836456"/>
                  </a:ext>
                </a:extLst>
              </a:tr>
              <a:tr h="6425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Harvard University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~$1,987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(37%)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~$913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 (17%)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~$913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(17%)</a:t>
                      </a: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~$5,372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026109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4399" y="7158041"/>
            <a:ext cx="5648810" cy="468586"/>
          </a:xfrm>
          <a:prstGeom prst="rect">
            <a:avLst/>
          </a:prstGeom>
          <a:noFill/>
        </p:spPr>
        <p:txBody>
          <a:bodyPr wrap="square" lIns="98292" tIns="49147" rIns="98292" bIns="49147" rtlCol="0">
            <a:spAutoFit/>
          </a:bodyPr>
          <a:lstStyle/>
          <a:p>
            <a:r>
              <a:rPr lang="en-US" sz="1200" dirty="0"/>
              <a:t>** NUS has government &amp; other grants, not federal grants</a:t>
            </a:r>
          </a:p>
          <a:p>
            <a:r>
              <a:rPr lang="en-US" sz="1200" baseline="30000" dirty="0"/>
              <a:t>&amp;  </a:t>
            </a:r>
            <a:r>
              <a:rPr lang="en-US" sz="1200" dirty="0"/>
              <a:t>Data in the Financial Statements  is available for University of Texas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399" y="6618257"/>
            <a:ext cx="11549685" cy="276985"/>
          </a:xfrm>
          <a:prstGeom prst="rect">
            <a:avLst/>
          </a:prstGeom>
          <a:noFill/>
        </p:spPr>
        <p:txBody>
          <a:bodyPr wrap="square" lIns="91427" tIns="45713" rIns="91427" bIns="45713" rtlCol="1">
            <a:spAutoFit/>
          </a:bodyPr>
          <a:lstStyle/>
          <a:p>
            <a:r>
              <a:rPr lang="en-US" sz="1200" dirty="0"/>
              <a:t>This is an illustrative table that shows contribution of different funding sources to the total expenditure. Percentages and numbers are not meant to add to 100% or the shown totals</a:t>
            </a:r>
            <a:endParaRPr lang="ar-EG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791" y="332762"/>
            <a:ext cx="2323548" cy="5063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4399" y="6922388"/>
            <a:ext cx="48934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* Includes the so called component units such as Georgia Tech Foundation 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399" y="7585281"/>
            <a:ext cx="35700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/>
              <a:t>Source: Financial Statements of respective universities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55269" y="1970691"/>
          <a:ext cx="3626069" cy="408840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21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Endowment</a:t>
                      </a:r>
                    </a:p>
                    <a:p>
                      <a:pPr algn="ctr"/>
                      <a:r>
                        <a:rPr lang="en-US" sz="1400" dirty="0"/>
                        <a:t> </a:t>
                      </a:r>
                      <a:r>
                        <a:rPr lang="en-US" sz="1400" baseline="0" dirty="0"/>
                        <a:t>(in $ Billion)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Georgia Institute of Technology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2.17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9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University of Texas</a:t>
                      </a:r>
                      <a:r>
                        <a:rPr lang="en-US" sz="1400" baseline="0" dirty="0">
                          <a:effectLst/>
                        </a:rPr>
                        <a:t> System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31.9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4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California Institute of Technology (Caltech)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3.2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1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National University of Singapore (NUS)**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kern="1200" dirty="0">
                          <a:effectLst/>
                        </a:rPr>
                        <a:t>3.15</a:t>
                      </a:r>
                      <a:r>
                        <a:rPr lang="en-US" sz="14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Harvard University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41.9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27945" y="1474491"/>
            <a:ext cx="1258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In $ million</a:t>
            </a:r>
            <a:endParaRPr lang="ar-EG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606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046" y="131510"/>
            <a:ext cx="9755229" cy="1089961"/>
          </a:xfrm>
        </p:spPr>
        <p:txBody>
          <a:bodyPr>
            <a:normAutofit/>
          </a:bodyPr>
          <a:lstStyle/>
          <a:p>
            <a:r>
              <a:rPr lang="en-US" sz="2400" b="1" spc="50" dirty="0">
                <a:cs typeface="Traditional Arabic"/>
              </a:rPr>
              <a:t>Perspectives on Endowments in Top-Ranked Universities as of </a:t>
            </a:r>
            <a:r>
              <a:rPr lang="en-US" sz="2400" b="1" dirty="0">
                <a:latin typeface="Candara" panose="020E0502030303020204" pitchFamily="34" charset="0"/>
              </a:rPr>
              <a:t>2020</a:t>
            </a:r>
            <a:endParaRPr lang="ar-EG" sz="2400" b="1" dirty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83921" y="6216759"/>
            <a:ext cx="730740" cy="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791" y="332762"/>
            <a:ext cx="2323548" cy="506376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4400" y="2128351"/>
          <a:ext cx="5196064" cy="408840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04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21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Endowment</a:t>
                      </a:r>
                    </a:p>
                    <a:p>
                      <a:pPr algn="ctr"/>
                      <a:r>
                        <a:rPr lang="en-US" sz="1600" dirty="0"/>
                        <a:t> </a:t>
                      </a:r>
                      <a:r>
                        <a:rPr lang="en-US" sz="1600" baseline="0" dirty="0"/>
                        <a:t>(in $ Billion)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Georgia Institute of Technology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cs typeface="+mn-cs"/>
                        </a:rPr>
                        <a:t>2.17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9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University of Texas</a:t>
                      </a:r>
                      <a:r>
                        <a:rPr lang="en-US" sz="1600" baseline="0" dirty="0">
                          <a:effectLst/>
                        </a:rPr>
                        <a:t> System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cs typeface="+mn-cs"/>
                        </a:rPr>
                        <a:t>31.9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4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California Institute of Technology (Caltech)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cs typeface="+mn-cs"/>
                        </a:rPr>
                        <a:t>3.2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1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National University of Singapore (NUS)**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400" kern="1200" dirty="0">
                          <a:effectLst/>
                          <a:cs typeface="+mn-cs"/>
                        </a:rPr>
                        <a:t>3.15</a:t>
                      </a:r>
                      <a:r>
                        <a:rPr lang="en-US" sz="1400" dirty="0"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Harvard University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02" marR="60902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cs typeface="+mn-cs"/>
                        </a:rPr>
                        <a:t>41.9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59031" y="1632151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In $ Billion</a:t>
            </a:r>
            <a:endParaRPr lang="ar-EG" dirty="0"/>
          </a:p>
        </p:txBody>
      </p:sp>
      <p:sp>
        <p:nvSpPr>
          <p:cNvPr id="12" name="Rectangle 11"/>
          <p:cNvSpPr/>
          <p:nvPr/>
        </p:nvSpPr>
        <p:spPr>
          <a:xfrm>
            <a:off x="6821275" y="2144613"/>
            <a:ext cx="5387767" cy="4103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cs typeface="Times New Roman" panose="02020603050405020304" pitchFamily="18" charset="0"/>
              </a:rPr>
              <a:t>University endowments are comprised of funds or other financial assets that are donated to or raised by academic institutions.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cs typeface="Times New Roman" panose="02020603050405020304" pitchFamily="18" charset="0"/>
              </a:rPr>
              <a:t>Usually universities  utilize percentage of the endowment as venture fund is that is invested in university innovation, startups and technology companies.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453397" y="4014776"/>
            <a:ext cx="3484179" cy="36334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92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645471" y="392707"/>
            <a:ext cx="9329992" cy="953208"/>
          </a:xfrm>
        </p:spPr>
        <p:txBody>
          <a:bodyPr>
            <a:noAutofit/>
          </a:bodyPr>
          <a:lstStyle/>
          <a:p>
            <a:r>
              <a:rPr lang="en-US" sz="2400" b="1" dirty="0"/>
              <a:t>Internationally, endowments appear to be the most favorable source ensuring stability, control and accountability in Higher Education funding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529" y="4354974"/>
            <a:ext cx="10450095" cy="2811858"/>
          </a:xfrm>
        </p:spPr>
        <p:txBody>
          <a:bodyPr/>
          <a:lstStyle/>
          <a:p>
            <a:r>
              <a:rPr lang="en-US" dirty="0"/>
              <a:t>Show all 4 sources</a:t>
            </a:r>
          </a:p>
          <a:p>
            <a:r>
              <a:rPr lang="en-US" dirty="0"/>
              <a:t>Develop evaluation criteria (e.g. present/not, stability, control, accountability, capital preservation, etc.)</a:t>
            </a:r>
          </a:p>
          <a:p>
            <a:r>
              <a:rPr lang="en-US" dirty="0"/>
              <a:t>Evaluate all 4 sources against criteria</a:t>
            </a:r>
          </a:p>
          <a:p>
            <a:r>
              <a:rPr lang="en-US" dirty="0"/>
              <a:t>Endowments appear most favorable</a:t>
            </a:r>
          </a:p>
        </p:txBody>
      </p:sp>
      <p:graphicFrame>
        <p:nvGraphicFramePr>
          <p:cNvPr id="2129320" name="Group 4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375538"/>
              </p:ext>
            </p:extLst>
          </p:nvPr>
        </p:nvGraphicFramePr>
        <p:xfrm>
          <a:off x="840481" y="2298100"/>
          <a:ext cx="10829429" cy="4882276"/>
        </p:xfrm>
        <a:graphic>
          <a:graphicData uri="http://schemas.openxmlformats.org/drawingml/2006/table">
            <a:tbl>
              <a:tblPr/>
              <a:tblGrid>
                <a:gridCol w="126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94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4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78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50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3828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Evaluation Criteria</a:t>
                      </a:r>
                    </a:p>
                  </a:txBody>
                  <a:tcPr marL="42426" marR="42426" marT="42432" marB="4243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Key Question</a:t>
                      </a:r>
                    </a:p>
                  </a:txBody>
                  <a:tcPr marL="42426" marR="42426" marT="42432" marB="4243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9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Grants</a:t>
                      </a:r>
                    </a:p>
                  </a:txBody>
                  <a:tcPr marL="42426" marR="42426" marT="42432" marB="4243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Student Income</a:t>
                      </a:r>
                    </a:p>
                  </a:txBody>
                  <a:tcPr marL="42426" marR="42426" marT="42432" marB="4243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Endowment / Investment Income</a:t>
                      </a:r>
                    </a:p>
                  </a:txBody>
                  <a:tcPr marL="42426" marR="42426" marT="42432" marB="42432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Other Income</a:t>
                      </a:r>
                    </a:p>
                  </a:txBody>
                  <a:tcPr marL="42426" marR="42426" marT="42432" marB="42432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Score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Score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Score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Score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C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7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Stability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How stable is the source of funding?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93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Relatively unstable due to high volatility of fund availability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Varies based on student demand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Conservative investment policies and strategies ensure stability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Dependant on several factors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5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Control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How much control over the allocation of funds can be achieved?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93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Fund allocation is purely budget based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universities can only set graduate tuition within reasonable limits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Fund allocation can be based on customized eligibility criteria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Fees and charges can be set by universities within reasonable limits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5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Accountability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How much accountability can be tied to the fund recipients?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93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Recipients of funds can be tracked against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KPIs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and targets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Recipients are free to use funds as they wish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Recipients of funds can be tracked against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KPIs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and targets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Recipients are free to use funds as they wish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Ease of Setup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How easy is this be to set up in Abu Dhabi?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39393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Budget based grant funding already exists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Graduate tuition for citizens is waived in public universities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High availability of spare capital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Relatively easy to set up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57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Overall Score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F0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F0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F0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F0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arvey Balls" pitchFamily="49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62638" marR="20879" marT="41764" marB="41764" anchor="ctr" horzOverflow="overflow">
                    <a:lnL w="285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F0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577" name="Text Box 9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961949" y="1855463"/>
            <a:ext cx="5089535" cy="249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1624" b="1" dirty="0"/>
              <a:t>University Sources of Funding Sustainability Matrix</a:t>
            </a:r>
          </a:p>
        </p:txBody>
      </p:sp>
      <p:graphicFrame>
        <p:nvGraphicFramePr>
          <p:cNvPr id="63579" name="Rectangle 426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496133" y="316725"/>
          <a:ext cx="184143" cy="184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TCLayout.ActiveDocument.1">
                  <p:embed/>
                </p:oleObj>
              </mc:Choice>
              <mc:Fallback>
                <p:oleObj name="think-cell Slide" r:id="rId5" imgW="0" imgH="0" progId="TCLayout.ActiveDocument.1">
                  <p:embed/>
                  <p:pic>
                    <p:nvPicPr>
                      <p:cNvPr id="63579" name="Rectangle 426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496133" y="316725"/>
                        <a:ext cx="184143" cy="184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463" y="510101"/>
            <a:ext cx="2323548" cy="50637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317172" y="7387779"/>
            <a:ext cx="2132329" cy="274320"/>
            <a:chOff x="1023258" y="7409551"/>
            <a:chExt cx="2132329" cy="274320"/>
          </a:xfrm>
        </p:grpSpPr>
        <p:sp>
          <p:nvSpPr>
            <p:cNvPr id="10" name="Oval 414"/>
            <p:cNvSpPr>
              <a:spLocks noChangeArrowheads="1"/>
            </p:cNvSpPr>
            <p:nvPr/>
          </p:nvSpPr>
          <p:spPr bwMode="gray">
            <a:xfrm>
              <a:off x="1023258" y="7409551"/>
              <a:ext cx="274320" cy="2743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" name="Text Box 415"/>
            <p:cNvSpPr txBox="1">
              <a:spLocks noChangeArrowheads="1"/>
            </p:cNvSpPr>
            <p:nvPr/>
          </p:nvSpPr>
          <p:spPr bwMode="gray">
            <a:xfrm>
              <a:off x="1433059" y="7454378"/>
              <a:ext cx="28052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1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/>
              <a:r>
                <a:rPr lang="en-US" sz="1200"/>
                <a:t>Low</a:t>
              </a:r>
            </a:p>
          </p:txBody>
        </p:sp>
        <p:sp>
          <p:nvSpPr>
            <p:cNvPr id="13" name="Text Box 417"/>
            <p:cNvSpPr txBox="1">
              <a:spLocks noChangeArrowheads="1"/>
            </p:cNvSpPr>
            <p:nvPr/>
          </p:nvSpPr>
          <p:spPr bwMode="gray">
            <a:xfrm>
              <a:off x="2841398" y="7454378"/>
              <a:ext cx="314189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1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/>
              <a:r>
                <a:rPr lang="en-US" sz="1200" dirty="0"/>
                <a:t>High</a:t>
              </a:r>
            </a:p>
          </p:txBody>
        </p:sp>
        <p:sp>
          <p:nvSpPr>
            <p:cNvPr id="15" name="Oval 414"/>
            <p:cNvSpPr>
              <a:spLocks noChangeArrowheads="1"/>
            </p:cNvSpPr>
            <p:nvPr/>
          </p:nvSpPr>
          <p:spPr bwMode="gray">
            <a:xfrm>
              <a:off x="2421958" y="7409551"/>
              <a:ext cx="274320" cy="2743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2537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010" y="2853266"/>
            <a:ext cx="11274266" cy="13115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Challenges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09" y="732203"/>
            <a:ext cx="2433761" cy="59465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19C6-EBC1-41FE-843E-7393415A14D0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93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95A559C-11C6-1341-B73A-808113C8CE68}"/>
              </a:ext>
            </a:extLst>
          </p:cNvPr>
          <p:cNvSpPr>
            <a:spLocks/>
          </p:cNvSpPr>
          <p:nvPr/>
        </p:nvSpPr>
        <p:spPr bwMode="auto">
          <a:xfrm>
            <a:off x="4248621" y="2095201"/>
            <a:ext cx="1660106" cy="1204685"/>
          </a:xfrm>
          <a:custGeom>
            <a:avLst/>
            <a:gdLst>
              <a:gd name="T0" fmla="*/ 752 w 752"/>
              <a:gd name="T1" fmla="*/ 0 h 543"/>
              <a:gd name="T2" fmla="*/ 0 w 752"/>
              <a:gd name="T3" fmla="*/ 312 h 543"/>
              <a:gd name="T4" fmla="*/ 230 w 752"/>
              <a:gd name="T5" fmla="*/ 543 h 543"/>
              <a:gd name="T6" fmla="*/ 438 w 752"/>
              <a:gd name="T7" fmla="*/ 403 h 543"/>
              <a:gd name="T8" fmla="*/ 538 w 752"/>
              <a:gd name="T9" fmla="*/ 517 h 543"/>
              <a:gd name="T10" fmla="*/ 529 w 752"/>
              <a:gd name="T11" fmla="*/ 366 h 543"/>
              <a:gd name="T12" fmla="*/ 752 w 752"/>
              <a:gd name="T13" fmla="*/ 326 h 543"/>
              <a:gd name="T14" fmla="*/ 752 w 752"/>
              <a:gd name="T15" fmla="*/ 0 h 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52" h="543">
                <a:moveTo>
                  <a:pt x="752" y="0"/>
                </a:moveTo>
                <a:cubicBezTo>
                  <a:pt x="461" y="8"/>
                  <a:pt x="197" y="125"/>
                  <a:pt x="0" y="312"/>
                </a:cubicBezTo>
                <a:cubicBezTo>
                  <a:pt x="230" y="543"/>
                  <a:pt x="230" y="543"/>
                  <a:pt x="230" y="543"/>
                </a:cubicBezTo>
                <a:cubicBezTo>
                  <a:pt x="292" y="486"/>
                  <a:pt x="361" y="439"/>
                  <a:pt x="438" y="403"/>
                </a:cubicBezTo>
                <a:cubicBezTo>
                  <a:pt x="538" y="517"/>
                  <a:pt x="538" y="517"/>
                  <a:pt x="538" y="517"/>
                </a:cubicBezTo>
                <a:cubicBezTo>
                  <a:pt x="529" y="366"/>
                  <a:pt x="529" y="366"/>
                  <a:pt x="529" y="366"/>
                </a:cubicBezTo>
                <a:cubicBezTo>
                  <a:pt x="599" y="343"/>
                  <a:pt x="674" y="329"/>
                  <a:pt x="752" y="326"/>
                </a:cubicBezTo>
                <a:lnTo>
                  <a:pt x="752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E8330AC-0FFB-6349-ACCC-8CCB0C5BF567}"/>
              </a:ext>
            </a:extLst>
          </p:cNvPr>
          <p:cNvSpPr>
            <a:spLocks/>
          </p:cNvSpPr>
          <p:nvPr/>
        </p:nvSpPr>
        <p:spPr bwMode="auto">
          <a:xfrm>
            <a:off x="3460954" y="2897140"/>
            <a:ext cx="1200928" cy="1669526"/>
          </a:xfrm>
          <a:custGeom>
            <a:avLst/>
            <a:gdLst>
              <a:gd name="T0" fmla="*/ 544 w 544"/>
              <a:gd name="T1" fmla="*/ 515 h 752"/>
              <a:gd name="T2" fmla="*/ 418 w 544"/>
              <a:gd name="T3" fmla="*/ 403 h 752"/>
              <a:gd name="T4" fmla="*/ 539 w 544"/>
              <a:gd name="T5" fmla="*/ 231 h 752"/>
              <a:gd name="T6" fmla="*/ 308 w 544"/>
              <a:gd name="T7" fmla="*/ 0 h 752"/>
              <a:gd name="T8" fmla="*/ 0 w 544"/>
              <a:gd name="T9" fmla="*/ 752 h 752"/>
              <a:gd name="T10" fmla="*/ 326 w 544"/>
              <a:gd name="T11" fmla="*/ 752 h 752"/>
              <a:gd name="T12" fmla="*/ 374 w 544"/>
              <a:gd name="T13" fmla="*/ 504 h 752"/>
              <a:gd name="T14" fmla="*/ 544 w 544"/>
              <a:gd name="T15" fmla="*/ 515 h 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4" h="752">
                <a:moveTo>
                  <a:pt x="544" y="515"/>
                </a:moveTo>
                <a:cubicBezTo>
                  <a:pt x="418" y="403"/>
                  <a:pt x="418" y="403"/>
                  <a:pt x="418" y="403"/>
                </a:cubicBezTo>
                <a:cubicBezTo>
                  <a:pt x="451" y="341"/>
                  <a:pt x="491" y="283"/>
                  <a:pt x="539" y="231"/>
                </a:cubicBezTo>
                <a:cubicBezTo>
                  <a:pt x="308" y="0"/>
                  <a:pt x="308" y="0"/>
                  <a:pt x="308" y="0"/>
                </a:cubicBezTo>
                <a:cubicBezTo>
                  <a:pt x="123" y="198"/>
                  <a:pt x="7" y="461"/>
                  <a:pt x="0" y="752"/>
                </a:cubicBezTo>
                <a:cubicBezTo>
                  <a:pt x="326" y="752"/>
                  <a:pt x="326" y="752"/>
                  <a:pt x="326" y="752"/>
                </a:cubicBezTo>
                <a:cubicBezTo>
                  <a:pt x="329" y="665"/>
                  <a:pt x="346" y="582"/>
                  <a:pt x="374" y="504"/>
                </a:cubicBezTo>
                <a:lnTo>
                  <a:pt x="544" y="51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984430EE-567B-5146-B04C-15F4722B6E99}"/>
              </a:ext>
            </a:extLst>
          </p:cNvPr>
          <p:cNvSpPr>
            <a:spLocks/>
          </p:cNvSpPr>
          <p:nvPr/>
        </p:nvSpPr>
        <p:spPr bwMode="auto">
          <a:xfrm>
            <a:off x="3460955" y="4719250"/>
            <a:ext cx="1199163" cy="1658881"/>
          </a:xfrm>
          <a:custGeom>
            <a:avLst/>
            <a:gdLst>
              <a:gd name="T0" fmla="*/ 402 w 543"/>
              <a:gd name="T1" fmla="*/ 308 h 747"/>
              <a:gd name="T2" fmla="*/ 535 w 543"/>
              <a:gd name="T3" fmla="*/ 192 h 747"/>
              <a:gd name="T4" fmla="*/ 361 w 543"/>
              <a:gd name="T5" fmla="*/ 203 h 747"/>
              <a:gd name="T6" fmla="*/ 326 w 543"/>
              <a:gd name="T7" fmla="*/ 0 h 747"/>
              <a:gd name="T8" fmla="*/ 0 w 543"/>
              <a:gd name="T9" fmla="*/ 0 h 747"/>
              <a:gd name="T10" fmla="*/ 312 w 543"/>
              <a:gd name="T11" fmla="*/ 747 h 747"/>
              <a:gd name="T12" fmla="*/ 543 w 543"/>
              <a:gd name="T13" fmla="*/ 517 h 747"/>
              <a:gd name="T14" fmla="*/ 402 w 543"/>
              <a:gd name="T15" fmla="*/ 308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3" h="747">
                <a:moveTo>
                  <a:pt x="402" y="308"/>
                </a:moveTo>
                <a:cubicBezTo>
                  <a:pt x="535" y="192"/>
                  <a:pt x="535" y="192"/>
                  <a:pt x="535" y="192"/>
                </a:cubicBezTo>
                <a:cubicBezTo>
                  <a:pt x="361" y="203"/>
                  <a:pt x="361" y="203"/>
                  <a:pt x="361" y="203"/>
                </a:cubicBezTo>
                <a:cubicBezTo>
                  <a:pt x="342" y="138"/>
                  <a:pt x="329" y="70"/>
                  <a:pt x="326" y="0"/>
                </a:cubicBezTo>
                <a:cubicBezTo>
                  <a:pt x="0" y="0"/>
                  <a:pt x="0" y="0"/>
                  <a:pt x="0" y="0"/>
                </a:cubicBezTo>
                <a:cubicBezTo>
                  <a:pt x="10" y="289"/>
                  <a:pt x="127" y="551"/>
                  <a:pt x="312" y="747"/>
                </a:cubicBezTo>
                <a:cubicBezTo>
                  <a:pt x="543" y="517"/>
                  <a:pt x="543" y="517"/>
                  <a:pt x="543" y="517"/>
                </a:cubicBezTo>
                <a:cubicBezTo>
                  <a:pt x="486" y="455"/>
                  <a:pt x="438" y="385"/>
                  <a:pt x="402" y="30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2F6C3E11-9172-2C4F-816D-616C7DD94559}"/>
              </a:ext>
            </a:extLst>
          </p:cNvPr>
          <p:cNvSpPr>
            <a:spLocks/>
          </p:cNvSpPr>
          <p:nvPr/>
        </p:nvSpPr>
        <p:spPr bwMode="auto">
          <a:xfrm>
            <a:off x="4257452" y="5961193"/>
            <a:ext cx="1651276" cy="1210008"/>
          </a:xfrm>
          <a:custGeom>
            <a:avLst/>
            <a:gdLst>
              <a:gd name="T0" fmla="*/ 521 w 748"/>
              <a:gd name="T1" fmla="*/ 177 h 545"/>
              <a:gd name="T2" fmla="*/ 533 w 748"/>
              <a:gd name="T3" fmla="*/ 0 h 545"/>
              <a:gd name="T4" fmla="*/ 415 w 748"/>
              <a:gd name="T5" fmla="*/ 133 h 545"/>
              <a:gd name="T6" fmla="*/ 231 w 748"/>
              <a:gd name="T7" fmla="*/ 6 h 545"/>
              <a:gd name="T8" fmla="*/ 0 w 748"/>
              <a:gd name="T9" fmla="*/ 237 h 545"/>
              <a:gd name="T10" fmla="*/ 748 w 748"/>
              <a:gd name="T11" fmla="*/ 545 h 545"/>
              <a:gd name="T12" fmla="*/ 748 w 748"/>
              <a:gd name="T13" fmla="*/ 219 h 545"/>
              <a:gd name="T14" fmla="*/ 521 w 748"/>
              <a:gd name="T15" fmla="*/ 177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48" h="545">
                <a:moveTo>
                  <a:pt x="521" y="177"/>
                </a:moveTo>
                <a:cubicBezTo>
                  <a:pt x="533" y="0"/>
                  <a:pt x="533" y="0"/>
                  <a:pt x="533" y="0"/>
                </a:cubicBezTo>
                <a:cubicBezTo>
                  <a:pt x="415" y="133"/>
                  <a:pt x="415" y="133"/>
                  <a:pt x="415" y="133"/>
                </a:cubicBezTo>
                <a:cubicBezTo>
                  <a:pt x="348" y="99"/>
                  <a:pt x="286" y="57"/>
                  <a:pt x="231" y="6"/>
                </a:cubicBezTo>
                <a:cubicBezTo>
                  <a:pt x="0" y="237"/>
                  <a:pt x="0" y="237"/>
                  <a:pt x="0" y="237"/>
                </a:cubicBezTo>
                <a:cubicBezTo>
                  <a:pt x="197" y="421"/>
                  <a:pt x="459" y="537"/>
                  <a:pt x="748" y="545"/>
                </a:cubicBezTo>
                <a:cubicBezTo>
                  <a:pt x="748" y="219"/>
                  <a:pt x="748" y="219"/>
                  <a:pt x="748" y="219"/>
                </a:cubicBezTo>
                <a:cubicBezTo>
                  <a:pt x="669" y="216"/>
                  <a:pt x="593" y="201"/>
                  <a:pt x="521" y="17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BD6DE300-D5CB-3840-A832-25633F1F511D}"/>
              </a:ext>
            </a:extLst>
          </p:cNvPr>
          <p:cNvSpPr>
            <a:spLocks/>
          </p:cNvSpPr>
          <p:nvPr/>
        </p:nvSpPr>
        <p:spPr bwMode="auto">
          <a:xfrm>
            <a:off x="6060609" y="5961193"/>
            <a:ext cx="1649510" cy="1210008"/>
          </a:xfrm>
          <a:custGeom>
            <a:avLst/>
            <a:gdLst>
              <a:gd name="T0" fmla="*/ 516 w 747"/>
              <a:gd name="T1" fmla="*/ 6 h 545"/>
              <a:gd name="T2" fmla="*/ 332 w 747"/>
              <a:gd name="T3" fmla="*/ 133 h 545"/>
              <a:gd name="T4" fmla="*/ 215 w 747"/>
              <a:gd name="T5" fmla="*/ 0 h 545"/>
              <a:gd name="T6" fmla="*/ 226 w 747"/>
              <a:gd name="T7" fmla="*/ 177 h 545"/>
              <a:gd name="T8" fmla="*/ 0 w 747"/>
              <a:gd name="T9" fmla="*/ 219 h 545"/>
              <a:gd name="T10" fmla="*/ 0 w 747"/>
              <a:gd name="T11" fmla="*/ 545 h 545"/>
              <a:gd name="T12" fmla="*/ 747 w 747"/>
              <a:gd name="T13" fmla="*/ 237 h 545"/>
              <a:gd name="T14" fmla="*/ 516 w 747"/>
              <a:gd name="T15" fmla="*/ 6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47" h="545">
                <a:moveTo>
                  <a:pt x="516" y="6"/>
                </a:moveTo>
                <a:cubicBezTo>
                  <a:pt x="461" y="57"/>
                  <a:pt x="399" y="100"/>
                  <a:pt x="332" y="133"/>
                </a:cubicBezTo>
                <a:cubicBezTo>
                  <a:pt x="215" y="0"/>
                  <a:pt x="215" y="0"/>
                  <a:pt x="215" y="0"/>
                </a:cubicBezTo>
                <a:cubicBezTo>
                  <a:pt x="226" y="177"/>
                  <a:pt x="226" y="177"/>
                  <a:pt x="226" y="177"/>
                </a:cubicBezTo>
                <a:cubicBezTo>
                  <a:pt x="154" y="201"/>
                  <a:pt x="79" y="216"/>
                  <a:pt x="0" y="219"/>
                </a:cubicBezTo>
                <a:cubicBezTo>
                  <a:pt x="0" y="545"/>
                  <a:pt x="0" y="545"/>
                  <a:pt x="0" y="545"/>
                </a:cubicBezTo>
                <a:cubicBezTo>
                  <a:pt x="288" y="537"/>
                  <a:pt x="550" y="421"/>
                  <a:pt x="747" y="237"/>
                </a:cubicBezTo>
                <a:lnTo>
                  <a:pt x="516" y="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F0239FA4-00C3-ED44-9590-0AEEE53112A5}"/>
              </a:ext>
            </a:extLst>
          </p:cNvPr>
          <p:cNvSpPr>
            <a:spLocks/>
          </p:cNvSpPr>
          <p:nvPr/>
        </p:nvSpPr>
        <p:spPr bwMode="auto">
          <a:xfrm>
            <a:off x="7309222" y="4719250"/>
            <a:ext cx="1199163" cy="1658881"/>
          </a:xfrm>
          <a:custGeom>
            <a:avLst/>
            <a:gdLst>
              <a:gd name="T0" fmla="*/ 217 w 543"/>
              <a:gd name="T1" fmla="*/ 0 h 747"/>
              <a:gd name="T2" fmla="*/ 180 w 543"/>
              <a:gd name="T3" fmla="*/ 210 h 747"/>
              <a:gd name="T4" fmla="*/ 6 w 543"/>
              <a:gd name="T5" fmla="*/ 199 h 747"/>
              <a:gd name="T6" fmla="*/ 138 w 543"/>
              <a:gd name="T7" fmla="*/ 315 h 747"/>
              <a:gd name="T8" fmla="*/ 0 w 543"/>
              <a:gd name="T9" fmla="*/ 517 h 747"/>
              <a:gd name="T10" fmla="*/ 231 w 543"/>
              <a:gd name="T11" fmla="*/ 747 h 747"/>
              <a:gd name="T12" fmla="*/ 543 w 543"/>
              <a:gd name="T13" fmla="*/ 0 h 747"/>
              <a:gd name="T14" fmla="*/ 217 w 543"/>
              <a:gd name="T15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3" h="747">
                <a:moveTo>
                  <a:pt x="217" y="0"/>
                </a:moveTo>
                <a:cubicBezTo>
                  <a:pt x="214" y="73"/>
                  <a:pt x="201" y="143"/>
                  <a:pt x="180" y="210"/>
                </a:cubicBezTo>
                <a:cubicBezTo>
                  <a:pt x="6" y="199"/>
                  <a:pt x="6" y="199"/>
                  <a:pt x="6" y="199"/>
                </a:cubicBezTo>
                <a:cubicBezTo>
                  <a:pt x="138" y="315"/>
                  <a:pt x="138" y="315"/>
                  <a:pt x="138" y="315"/>
                </a:cubicBezTo>
                <a:cubicBezTo>
                  <a:pt x="102" y="389"/>
                  <a:pt x="56" y="457"/>
                  <a:pt x="0" y="517"/>
                </a:cubicBezTo>
                <a:cubicBezTo>
                  <a:pt x="231" y="747"/>
                  <a:pt x="231" y="747"/>
                  <a:pt x="231" y="747"/>
                </a:cubicBezTo>
                <a:cubicBezTo>
                  <a:pt x="417" y="551"/>
                  <a:pt x="534" y="289"/>
                  <a:pt x="543" y="0"/>
                </a:cubicBezTo>
                <a:lnTo>
                  <a:pt x="217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9894C81C-E373-554A-9555-3DB27E04A2EB}"/>
              </a:ext>
            </a:extLst>
          </p:cNvPr>
          <p:cNvSpPr>
            <a:spLocks/>
          </p:cNvSpPr>
          <p:nvPr/>
        </p:nvSpPr>
        <p:spPr bwMode="auto">
          <a:xfrm>
            <a:off x="7309221" y="2897140"/>
            <a:ext cx="1200928" cy="1669526"/>
          </a:xfrm>
          <a:custGeom>
            <a:avLst/>
            <a:gdLst>
              <a:gd name="T0" fmla="*/ 544 w 544"/>
              <a:gd name="T1" fmla="*/ 752 h 752"/>
              <a:gd name="T2" fmla="*/ 235 w 544"/>
              <a:gd name="T3" fmla="*/ 0 h 752"/>
              <a:gd name="T4" fmla="*/ 5 w 544"/>
              <a:gd name="T5" fmla="*/ 231 h 752"/>
              <a:gd name="T6" fmla="*/ 130 w 544"/>
              <a:gd name="T7" fmla="*/ 413 h 752"/>
              <a:gd name="T8" fmla="*/ 0 w 544"/>
              <a:gd name="T9" fmla="*/ 527 h 752"/>
              <a:gd name="T10" fmla="*/ 174 w 544"/>
              <a:gd name="T11" fmla="*/ 517 h 752"/>
              <a:gd name="T12" fmla="*/ 218 w 544"/>
              <a:gd name="T13" fmla="*/ 752 h 752"/>
              <a:gd name="T14" fmla="*/ 544 w 544"/>
              <a:gd name="T15" fmla="*/ 752 h 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4" h="752">
                <a:moveTo>
                  <a:pt x="544" y="752"/>
                </a:moveTo>
                <a:cubicBezTo>
                  <a:pt x="536" y="461"/>
                  <a:pt x="420" y="198"/>
                  <a:pt x="235" y="0"/>
                </a:cubicBezTo>
                <a:cubicBezTo>
                  <a:pt x="5" y="231"/>
                  <a:pt x="5" y="231"/>
                  <a:pt x="5" y="231"/>
                </a:cubicBezTo>
                <a:cubicBezTo>
                  <a:pt x="54" y="285"/>
                  <a:pt x="97" y="346"/>
                  <a:pt x="130" y="413"/>
                </a:cubicBezTo>
                <a:cubicBezTo>
                  <a:pt x="0" y="527"/>
                  <a:pt x="0" y="527"/>
                  <a:pt x="0" y="527"/>
                </a:cubicBezTo>
                <a:cubicBezTo>
                  <a:pt x="174" y="517"/>
                  <a:pt x="174" y="517"/>
                  <a:pt x="174" y="517"/>
                </a:cubicBezTo>
                <a:cubicBezTo>
                  <a:pt x="200" y="591"/>
                  <a:pt x="215" y="670"/>
                  <a:pt x="218" y="752"/>
                </a:cubicBezTo>
                <a:lnTo>
                  <a:pt x="544" y="75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57961FE8-3C6B-7342-AA6C-2BDA35C35F74}"/>
              </a:ext>
            </a:extLst>
          </p:cNvPr>
          <p:cNvSpPr>
            <a:spLocks/>
          </p:cNvSpPr>
          <p:nvPr/>
        </p:nvSpPr>
        <p:spPr bwMode="auto">
          <a:xfrm>
            <a:off x="6060610" y="2095201"/>
            <a:ext cx="1658341" cy="1204685"/>
          </a:xfrm>
          <a:custGeom>
            <a:avLst/>
            <a:gdLst>
              <a:gd name="T0" fmla="*/ 751 w 751"/>
              <a:gd name="T1" fmla="*/ 312 h 543"/>
              <a:gd name="T2" fmla="*/ 0 w 751"/>
              <a:gd name="T3" fmla="*/ 0 h 543"/>
              <a:gd name="T4" fmla="*/ 0 w 751"/>
              <a:gd name="T5" fmla="*/ 326 h 543"/>
              <a:gd name="T6" fmla="*/ 230 w 751"/>
              <a:gd name="T7" fmla="*/ 369 h 543"/>
              <a:gd name="T8" fmla="*/ 220 w 751"/>
              <a:gd name="T9" fmla="*/ 520 h 543"/>
              <a:gd name="T10" fmla="*/ 321 w 751"/>
              <a:gd name="T11" fmla="*/ 406 h 543"/>
              <a:gd name="T12" fmla="*/ 521 w 751"/>
              <a:gd name="T13" fmla="*/ 543 h 543"/>
              <a:gd name="T14" fmla="*/ 751 w 751"/>
              <a:gd name="T15" fmla="*/ 312 h 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51" h="543">
                <a:moveTo>
                  <a:pt x="751" y="312"/>
                </a:moveTo>
                <a:cubicBezTo>
                  <a:pt x="554" y="125"/>
                  <a:pt x="291" y="8"/>
                  <a:pt x="0" y="0"/>
                </a:cubicBezTo>
                <a:cubicBezTo>
                  <a:pt x="0" y="326"/>
                  <a:pt x="0" y="326"/>
                  <a:pt x="0" y="326"/>
                </a:cubicBezTo>
                <a:cubicBezTo>
                  <a:pt x="80" y="329"/>
                  <a:pt x="157" y="344"/>
                  <a:pt x="230" y="369"/>
                </a:cubicBezTo>
                <a:cubicBezTo>
                  <a:pt x="220" y="520"/>
                  <a:pt x="220" y="520"/>
                  <a:pt x="220" y="520"/>
                </a:cubicBezTo>
                <a:cubicBezTo>
                  <a:pt x="321" y="406"/>
                  <a:pt x="321" y="406"/>
                  <a:pt x="321" y="406"/>
                </a:cubicBezTo>
                <a:cubicBezTo>
                  <a:pt x="394" y="442"/>
                  <a:pt x="462" y="488"/>
                  <a:pt x="521" y="543"/>
                </a:cubicBezTo>
                <a:lnTo>
                  <a:pt x="751" y="31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8290" tIns="49145" rIns="98290" bIns="49145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Lato Light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CA8A7F-B9F0-9B43-9598-6CB0B8705800}"/>
              </a:ext>
            </a:extLst>
          </p:cNvPr>
          <p:cNvSpPr txBox="1"/>
          <p:nvPr/>
        </p:nvSpPr>
        <p:spPr>
          <a:xfrm>
            <a:off x="8876195" y="4875394"/>
            <a:ext cx="3369402" cy="295859"/>
          </a:xfrm>
          <a:prstGeom prst="rect">
            <a:avLst/>
          </a:prstGeom>
          <a:noFill/>
        </p:spPr>
        <p:txBody>
          <a:bodyPr wrap="none" lIns="49158" tIns="24579" rIns="49158" bIns="24579" rtlCol="0" anchor="ctr" anchorCtr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External Efficiency &amp; Employment</a:t>
            </a: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21BC1525-4DCF-5A43-A982-C57055DD430B}"/>
              </a:ext>
            </a:extLst>
          </p:cNvPr>
          <p:cNvSpPr txBox="1">
            <a:spLocks/>
          </p:cNvSpPr>
          <p:nvPr/>
        </p:nvSpPr>
        <p:spPr>
          <a:xfrm>
            <a:off x="8591998" y="5127910"/>
            <a:ext cx="3594537" cy="1234578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Limited internship opportunities for students affect their working competencies</a:t>
            </a:r>
          </a:p>
          <a:p>
            <a:pPr marL="9525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Dynamic job market affects the graduates employment  rates</a:t>
            </a:r>
          </a:p>
          <a:p>
            <a:pPr marL="9525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Absence of Tech park slows down the university impact on AD knowledge  based economy</a:t>
            </a:r>
          </a:p>
          <a:p>
            <a:pPr marL="9525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Lack of lands for university expansion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0BE07D-0303-4045-9F19-3922BD908683}"/>
              </a:ext>
            </a:extLst>
          </p:cNvPr>
          <p:cNvSpPr txBox="1"/>
          <p:nvPr/>
        </p:nvSpPr>
        <p:spPr>
          <a:xfrm>
            <a:off x="8262559" y="1482288"/>
            <a:ext cx="2850029" cy="326637"/>
          </a:xfrm>
          <a:prstGeom prst="rect">
            <a:avLst/>
          </a:prstGeom>
          <a:noFill/>
        </p:spPr>
        <p:txBody>
          <a:bodyPr wrap="none" lIns="49158" tIns="24579" rIns="49158" bIns="24579" rtlCol="0" anchor="ctr" anchorCtr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Research &amp; Development</a:t>
            </a:r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119D550C-EB7A-6A4B-A83D-C578387518B4}"/>
              </a:ext>
            </a:extLst>
          </p:cNvPr>
          <p:cNvSpPr txBox="1">
            <a:spLocks/>
          </p:cNvSpPr>
          <p:nvPr/>
        </p:nvSpPr>
        <p:spPr>
          <a:xfrm>
            <a:off x="8089607" y="1797537"/>
            <a:ext cx="3965715" cy="1065301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lvl="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Not recognized as the “Research Arm” of Abu Dhabi government in technology and health related subjects</a:t>
            </a:r>
          </a:p>
          <a:p>
            <a:pPr marL="9525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Limited funding sources for research and infrastructure which affect  faculty research productivity</a:t>
            </a:r>
          </a:p>
          <a:p>
            <a:pPr marL="95250" lvl="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KU misses opportunities to engage in applied research projects that benefit the Emirate economic plans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37107F-7A1C-E941-8956-C7C7E8A4C4C2}"/>
              </a:ext>
            </a:extLst>
          </p:cNvPr>
          <p:cNvSpPr txBox="1"/>
          <p:nvPr/>
        </p:nvSpPr>
        <p:spPr>
          <a:xfrm>
            <a:off x="1343084" y="5005553"/>
            <a:ext cx="1698406" cy="326637"/>
          </a:xfrm>
          <a:prstGeom prst="rect">
            <a:avLst/>
          </a:prstGeom>
          <a:noFill/>
        </p:spPr>
        <p:txBody>
          <a:bodyPr wrap="square" lIns="49158" tIns="24579" rIns="49158" bIns="24579" rtlCol="0" anchor="ctr" anchorCtr="0">
            <a:spAutoFit/>
          </a:bodyPr>
          <a:lstStyle/>
          <a:p>
            <a:pPr algn="r" rtl="1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Budget</a:t>
            </a:r>
          </a:p>
        </p:txBody>
      </p:sp>
      <p:sp>
        <p:nvSpPr>
          <p:cNvPr id="62" name="Subtitle 2">
            <a:extLst>
              <a:ext uri="{FF2B5EF4-FFF2-40B4-BE49-F238E27FC236}">
                <a16:creationId xmlns:a16="http://schemas.microsoft.com/office/drawing/2014/main" id="{FC096E74-3FE8-4444-B265-85290015C1B1}"/>
              </a:ext>
            </a:extLst>
          </p:cNvPr>
          <p:cNvSpPr txBox="1">
            <a:spLocks/>
          </p:cNvSpPr>
          <p:nvPr/>
        </p:nvSpPr>
        <p:spPr>
          <a:xfrm>
            <a:off x="141890" y="5270915"/>
            <a:ext cx="3278359" cy="1030612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171450" algn="l" defTabSz="914400" fontAlgn="b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Unstable annual budget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 delays research projects, decelerates the academic program expansion, affects the recruitment /retention of faculty and staff , the university reputation and ranking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301DF2-8DBC-E742-B804-6FD249133496}"/>
              </a:ext>
            </a:extLst>
          </p:cNvPr>
          <p:cNvSpPr txBox="1"/>
          <p:nvPr/>
        </p:nvSpPr>
        <p:spPr>
          <a:xfrm>
            <a:off x="1715196" y="2844812"/>
            <a:ext cx="1383282" cy="326637"/>
          </a:xfrm>
          <a:prstGeom prst="rect">
            <a:avLst/>
          </a:prstGeom>
          <a:noFill/>
        </p:spPr>
        <p:txBody>
          <a:bodyPr wrap="none" lIns="49158" tIns="24579" rIns="49158" bIns="24579" rtlCol="0" anchor="ctr" anchorCtr="0">
            <a:spAutoFit/>
          </a:bodyPr>
          <a:lstStyle/>
          <a:p>
            <a:pPr algn="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Governance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64" name="Subtitle 2">
            <a:extLst>
              <a:ext uri="{FF2B5EF4-FFF2-40B4-BE49-F238E27FC236}">
                <a16:creationId xmlns:a16="http://schemas.microsoft.com/office/drawing/2014/main" id="{284B6E41-F4CC-024F-B92A-691F74DAAE93}"/>
              </a:ext>
            </a:extLst>
          </p:cNvPr>
          <p:cNvSpPr txBox="1">
            <a:spLocks/>
          </p:cNvSpPr>
          <p:nvPr/>
        </p:nvSpPr>
        <p:spPr>
          <a:xfrm>
            <a:off x="141890" y="3134472"/>
            <a:ext cx="3319064" cy="1436877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171450" algn="l" defTabSz="914400" fontAlgn="b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Inflexible governance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(e.g. recruitment, promotion, procurement, staff and faculty numbers/packages, faculty long contacts  and org chart amendment)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 affects: 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1)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faculty recruitment/retention due to the lack of incentives and limitations of the current legislations 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2)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 research productivity and ranking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ECAF92-EB37-6C4C-9575-CBADBF0F0DFF}"/>
              </a:ext>
            </a:extLst>
          </p:cNvPr>
          <p:cNvSpPr txBox="1"/>
          <p:nvPr/>
        </p:nvSpPr>
        <p:spPr>
          <a:xfrm>
            <a:off x="1713473" y="6621425"/>
            <a:ext cx="2264933" cy="326637"/>
          </a:xfrm>
          <a:prstGeom prst="rect">
            <a:avLst/>
          </a:prstGeom>
          <a:noFill/>
        </p:spPr>
        <p:txBody>
          <a:bodyPr wrap="none" lIns="49158" tIns="24579" rIns="49158" bIns="24579" rtlCol="0" anchor="ctr" anchorCtr="0">
            <a:spAutoFit/>
          </a:bodyPr>
          <a:lstStyle/>
          <a:p>
            <a:pPr algn="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Financial Autonomy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F538AC-5093-744A-AFB4-59A20D7BD414}"/>
              </a:ext>
            </a:extLst>
          </p:cNvPr>
          <p:cNvSpPr txBox="1"/>
          <p:nvPr/>
        </p:nvSpPr>
        <p:spPr>
          <a:xfrm>
            <a:off x="2906371" y="1472158"/>
            <a:ext cx="1056269" cy="326637"/>
          </a:xfrm>
          <a:prstGeom prst="rect">
            <a:avLst/>
          </a:prstGeom>
          <a:noFill/>
        </p:spPr>
        <p:txBody>
          <a:bodyPr wrap="none" lIns="49158" tIns="24579" rIns="49158" bIns="24579" rtlCol="0" anchor="ctr" anchorCtr="0">
            <a:spAutoFit/>
          </a:bodyPr>
          <a:lstStyle/>
          <a:p>
            <a:pPr algn="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Students</a:t>
            </a:r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EE36A705-2253-8245-A07C-72658BA06759}"/>
              </a:ext>
            </a:extLst>
          </p:cNvPr>
          <p:cNvSpPr txBox="1">
            <a:spLocks/>
          </p:cNvSpPr>
          <p:nvPr/>
        </p:nvSpPr>
        <p:spPr>
          <a:xfrm>
            <a:off x="488731" y="1825593"/>
            <a:ext cx="3528305" cy="896024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Competitive higher education institutions which affect the recruitment of undergraduate/ postgraduate students </a:t>
            </a:r>
          </a:p>
          <a:p>
            <a:pPr marL="171450" indent="-1714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Phased out stipend schemes for students may affect the student recruitment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248" y="373376"/>
            <a:ext cx="9636351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atin typeface="Candara" panose="020E0502030303020204" pitchFamily="34" charset="0"/>
              </a:rPr>
              <a:t>Khalifa University faces a number of strategic challenges that may hinder its efforts to achieve its vision and strategic targets</a:t>
            </a:r>
            <a:endParaRPr lang="ar-EG" sz="2400" b="1" dirty="0">
              <a:latin typeface="Candara" panose="020E05020303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1CB1CE-9E17-0D4F-8388-CF84610A47CA}"/>
              </a:ext>
            </a:extLst>
          </p:cNvPr>
          <p:cNvSpPr txBox="1"/>
          <p:nvPr/>
        </p:nvSpPr>
        <p:spPr>
          <a:xfrm>
            <a:off x="4367136" y="4290420"/>
            <a:ext cx="3355406" cy="61555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Khalifa University</a:t>
            </a:r>
          </a:p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Ranking and International Status</a:t>
            </a:r>
          </a:p>
        </p:txBody>
      </p:sp>
      <p:sp>
        <p:nvSpPr>
          <p:cNvPr id="41" name="Freeform 761">
            <a:extLst>
              <a:ext uri="{FF2B5EF4-FFF2-40B4-BE49-F238E27FC236}">
                <a16:creationId xmlns:a16="http://schemas.microsoft.com/office/drawing/2014/main" id="{2D7D5E99-A784-FA41-8647-995997843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1372" y="6379482"/>
            <a:ext cx="468000" cy="466990"/>
          </a:xfrm>
          <a:custGeom>
            <a:avLst/>
            <a:gdLst>
              <a:gd name="T0" fmla="*/ 196687 w 246439"/>
              <a:gd name="T1" fmla="*/ 300703 h 305466"/>
              <a:gd name="T2" fmla="*/ 14484 w 246439"/>
              <a:gd name="T3" fmla="*/ 300703 h 305466"/>
              <a:gd name="T4" fmla="*/ 83706 w 246439"/>
              <a:gd name="T5" fmla="*/ 181409 h 305466"/>
              <a:gd name="T6" fmla="*/ 124681 w 246439"/>
              <a:gd name="T7" fmla="*/ 199800 h 305466"/>
              <a:gd name="T8" fmla="*/ 142653 w 246439"/>
              <a:gd name="T9" fmla="*/ 111089 h 305466"/>
              <a:gd name="T10" fmla="*/ 164578 w 246439"/>
              <a:gd name="T11" fmla="*/ 152920 h 305466"/>
              <a:gd name="T12" fmla="*/ 144810 w 246439"/>
              <a:gd name="T13" fmla="*/ 152920 h 305466"/>
              <a:gd name="T14" fmla="*/ 173205 w 246439"/>
              <a:gd name="T15" fmla="*/ 173475 h 305466"/>
              <a:gd name="T16" fmla="*/ 156311 w 246439"/>
              <a:gd name="T17" fmla="*/ 111089 h 305466"/>
              <a:gd name="T18" fmla="*/ 182910 w 246439"/>
              <a:gd name="T19" fmla="*/ 34279 h 305466"/>
              <a:gd name="T20" fmla="*/ 185426 w 246439"/>
              <a:gd name="T21" fmla="*/ 173475 h 305466"/>
              <a:gd name="T22" fmla="*/ 163500 w 246439"/>
              <a:gd name="T23" fmla="*/ 193309 h 305466"/>
              <a:gd name="T24" fmla="*/ 98083 w 246439"/>
              <a:gd name="T25" fmla="*/ 210619 h 305466"/>
              <a:gd name="T26" fmla="*/ 34104 w 246439"/>
              <a:gd name="T27" fmla="*/ 183573 h 305466"/>
              <a:gd name="T28" fmla="*/ 198365 w 246439"/>
              <a:gd name="T29" fmla="*/ 199079 h 305466"/>
              <a:gd name="T30" fmla="*/ 66812 w 246439"/>
              <a:gd name="T31" fmla="*/ 16969 h 305466"/>
              <a:gd name="T32" fmla="*/ 25477 w 246439"/>
              <a:gd name="T33" fmla="*/ 51949 h 305466"/>
              <a:gd name="T34" fmla="*/ 85862 w 246439"/>
              <a:gd name="T35" fmla="*/ 134169 h 305466"/>
              <a:gd name="T36" fmla="*/ 40574 w 246439"/>
              <a:gd name="T37" fmla="*/ 75028 h 305466"/>
              <a:gd name="T38" fmla="*/ 60702 w 246439"/>
              <a:gd name="T39" fmla="*/ 68537 h 305466"/>
              <a:gd name="T40" fmla="*/ 67172 w 246439"/>
              <a:gd name="T41" fmla="*/ 48343 h 305466"/>
              <a:gd name="T42" fmla="*/ 109585 w 246439"/>
              <a:gd name="T43" fmla="*/ 77552 h 305466"/>
              <a:gd name="T44" fmla="*/ 94848 w 246439"/>
              <a:gd name="T45" fmla="*/ 49785 h 305466"/>
              <a:gd name="T46" fmla="*/ 101677 w 246439"/>
              <a:gd name="T47" fmla="*/ 43294 h 305466"/>
              <a:gd name="T48" fmla="*/ 95208 w 246439"/>
              <a:gd name="T49" fmla="*/ 9757 h 305466"/>
              <a:gd name="T50" fmla="*/ 121806 w 246439"/>
              <a:gd name="T51" fmla="*/ 49785 h 305466"/>
              <a:gd name="T52" fmla="*/ 121806 w 246439"/>
              <a:gd name="T53" fmla="*/ 71061 h 305466"/>
              <a:gd name="T54" fmla="*/ 71844 w 246439"/>
              <a:gd name="T55" fmla="*/ 66373 h 305466"/>
              <a:gd name="T56" fmla="*/ 92692 w 246439"/>
              <a:gd name="T57" fmla="*/ 114335 h 305466"/>
              <a:gd name="T58" fmla="*/ 79033 w 246439"/>
              <a:gd name="T59" fmla="*/ 146429 h 305466"/>
              <a:gd name="T60" fmla="*/ 37339 w 246439"/>
              <a:gd name="T61" fmla="*/ 173475 h 305466"/>
              <a:gd name="T62" fmla="*/ 74360 w 246439"/>
              <a:gd name="T63" fmla="*/ 181409 h 305466"/>
              <a:gd name="T64" fmla="*/ 135105 w 246439"/>
              <a:gd name="T65" fmla="*/ 196915 h 305466"/>
              <a:gd name="T66" fmla="*/ 137980 w 246439"/>
              <a:gd name="T67" fmla="*/ 146429 h 305466"/>
              <a:gd name="T68" fmla="*/ 130792 w 246439"/>
              <a:gd name="T69" fmla="*/ 117941 h 305466"/>
              <a:gd name="T70" fmla="*/ 162781 w 246439"/>
              <a:gd name="T71" fmla="*/ 104598 h 305466"/>
              <a:gd name="T72" fmla="*/ 107788 w 246439"/>
              <a:gd name="T73" fmla="*/ 9036 h 305466"/>
              <a:gd name="T74" fmla="*/ 176440 w 246439"/>
              <a:gd name="T75" fmla="*/ 27788 h 305466"/>
              <a:gd name="T76" fmla="*/ 205194 w 246439"/>
              <a:gd name="T77" fmla="*/ 205570 h 305466"/>
              <a:gd name="T78" fmla="*/ 158109 w 246439"/>
              <a:gd name="T79" fmla="*/ 272283 h 305466"/>
              <a:gd name="T80" fmla="*/ 52435 w 246439"/>
              <a:gd name="T81" fmla="*/ 281659 h 305466"/>
              <a:gd name="T82" fmla="*/ 100599 w 246439"/>
              <a:gd name="T83" fmla="*/ 272283 h 305466"/>
              <a:gd name="T84" fmla="*/ 5349 w 246439"/>
              <a:gd name="T85" fmla="*/ 199079 h 305466"/>
              <a:gd name="T86" fmla="*/ 17570 w 246439"/>
              <a:gd name="T87" fmla="*/ 46900 h 305466"/>
              <a:gd name="T88" fmla="*/ 63218 w 246439"/>
              <a:gd name="T89" fmla="*/ 8675 h 305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46439" h="305466">
                <a:moveTo>
                  <a:pt x="19165" y="296307"/>
                </a:moveTo>
                <a:lnTo>
                  <a:pt x="192006" y="296307"/>
                </a:lnTo>
                <a:cubicBezTo>
                  <a:pt x="194527" y="296307"/>
                  <a:pt x="196687" y="298139"/>
                  <a:pt x="196687" y="300703"/>
                </a:cubicBezTo>
                <a:cubicBezTo>
                  <a:pt x="196687" y="303634"/>
                  <a:pt x="194527" y="305466"/>
                  <a:pt x="192006" y="305466"/>
                </a:cubicBezTo>
                <a:lnTo>
                  <a:pt x="19165" y="305466"/>
                </a:lnTo>
                <a:cubicBezTo>
                  <a:pt x="16645" y="305466"/>
                  <a:pt x="14484" y="303634"/>
                  <a:pt x="14484" y="300703"/>
                </a:cubicBezTo>
                <a:cubicBezTo>
                  <a:pt x="14484" y="298139"/>
                  <a:pt x="16645" y="296307"/>
                  <a:pt x="19165" y="296307"/>
                </a:cubicBezTo>
                <a:close/>
                <a:moveTo>
                  <a:pt x="86222" y="174918"/>
                </a:moveTo>
                <a:cubicBezTo>
                  <a:pt x="84784" y="176721"/>
                  <a:pt x="83706" y="178885"/>
                  <a:pt x="83706" y="181409"/>
                </a:cubicBezTo>
                <a:cubicBezTo>
                  <a:pt x="83706" y="184294"/>
                  <a:pt x="84784" y="186457"/>
                  <a:pt x="86222" y="188261"/>
                </a:cubicBezTo>
                <a:lnTo>
                  <a:pt x="99521" y="201603"/>
                </a:lnTo>
                <a:cubicBezTo>
                  <a:pt x="108147" y="201964"/>
                  <a:pt x="116414" y="201603"/>
                  <a:pt x="124681" y="199800"/>
                </a:cubicBezTo>
                <a:lnTo>
                  <a:pt x="99880" y="174918"/>
                </a:lnTo>
                <a:cubicBezTo>
                  <a:pt x="96286" y="171312"/>
                  <a:pt x="89816" y="171312"/>
                  <a:pt x="86222" y="174918"/>
                </a:cubicBezTo>
                <a:close/>
                <a:moveTo>
                  <a:pt x="142653" y="111089"/>
                </a:moveTo>
                <a:cubicBezTo>
                  <a:pt x="139059" y="114696"/>
                  <a:pt x="139059" y="120826"/>
                  <a:pt x="142653" y="124432"/>
                </a:cubicBezTo>
                <a:lnTo>
                  <a:pt x="164578" y="146429"/>
                </a:lnTo>
                <a:cubicBezTo>
                  <a:pt x="166376" y="148233"/>
                  <a:pt x="166376" y="151117"/>
                  <a:pt x="164578" y="152920"/>
                </a:cubicBezTo>
                <a:cubicBezTo>
                  <a:pt x="162781" y="154724"/>
                  <a:pt x="159906" y="154724"/>
                  <a:pt x="158109" y="152920"/>
                </a:cubicBezTo>
                <a:cubicBezTo>
                  <a:pt x="156311" y="151117"/>
                  <a:pt x="153795" y="150036"/>
                  <a:pt x="151279" y="150036"/>
                </a:cubicBezTo>
                <a:cubicBezTo>
                  <a:pt x="148763" y="150036"/>
                  <a:pt x="146247" y="151117"/>
                  <a:pt x="144810" y="152920"/>
                </a:cubicBezTo>
                <a:cubicBezTo>
                  <a:pt x="140856" y="156527"/>
                  <a:pt x="140856" y="162657"/>
                  <a:pt x="144810" y="166263"/>
                </a:cubicBezTo>
                <a:lnTo>
                  <a:pt x="161703" y="183573"/>
                </a:lnTo>
                <a:cubicBezTo>
                  <a:pt x="165657" y="180327"/>
                  <a:pt x="169610" y="177082"/>
                  <a:pt x="173205" y="173475"/>
                </a:cubicBezTo>
                <a:cubicBezTo>
                  <a:pt x="175002" y="171672"/>
                  <a:pt x="176799" y="169509"/>
                  <a:pt x="178596" y="167345"/>
                </a:cubicBezTo>
                <a:cubicBezTo>
                  <a:pt x="183988" y="161575"/>
                  <a:pt x="188301" y="154363"/>
                  <a:pt x="191895" y="146790"/>
                </a:cubicBezTo>
                <a:lnTo>
                  <a:pt x="156311" y="111089"/>
                </a:lnTo>
                <a:cubicBezTo>
                  <a:pt x="152717" y="107483"/>
                  <a:pt x="146247" y="107483"/>
                  <a:pt x="142653" y="111089"/>
                </a:cubicBezTo>
                <a:close/>
                <a:moveTo>
                  <a:pt x="201960" y="15166"/>
                </a:moveTo>
                <a:lnTo>
                  <a:pt x="182910" y="34279"/>
                </a:lnTo>
                <a:cubicBezTo>
                  <a:pt x="210945" y="64931"/>
                  <a:pt x="218493" y="108926"/>
                  <a:pt x="201600" y="147872"/>
                </a:cubicBezTo>
                <a:cubicBezTo>
                  <a:pt x="201600" y="147872"/>
                  <a:pt x="201600" y="148233"/>
                  <a:pt x="201241" y="148233"/>
                </a:cubicBezTo>
                <a:cubicBezTo>
                  <a:pt x="197287" y="157608"/>
                  <a:pt x="191895" y="165903"/>
                  <a:pt x="185426" y="173475"/>
                </a:cubicBezTo>
                <a:cubicBezTo>
                  <a:pt x="183988" y="175639"/>
                  <a:pt x="181831" y="177803"/>
                  <a:pt x="179675" y="180327"/>
                </a:cubicBezTo>
                <a:cubicBezTo>
                  <a:pt x="174643" y="185015"/>
                  <a:pt x="169610" y="189342"/>
                  <a:pt x="163860" y="192949"/>
                </a:cubicBezTo>
                <a:cubicBezTo>
                  <a:pt x="163500" y="193309"/>
                  <a:pt x="163500" y="193309"/>
                  <a:pt x="163500" y="193309"/>
                </a:cubicBezTo>
                <a:cubicBezTo>
                  <a:pt x="154874" y="199079"/>
                  <a:pt x="145169" y="203767"/>
                  <a:pt x="135105" y="206652"/>
                </a:cubicBezTo>
                <a:cubicBezTo>
                  <a:pt x="125400" y="209537"/>
                  <a:pt x="115336" y="210979"/>
                  <a:pt x="105631" y="210979"/>
                </a:cubicBezTo>
                <a:cubicBezTo>
                  <a:pt x="103115" y="210979"/>
                  <a:pt x="100599" y="210979"/>
                  <a:pt x="98083" y="210619"/>
                </a:cubicBezTo>
                <a:lnTo>
                  <a:pt x="97724" y="210979"/>
                </a:lnTo>
                <a:cubicBezTo>
                  <a:pt x="97724" y="210979"/>
                  <a:pt x="97364" y="210979"/>
                  <a:pt x="97364" y="210619"/>
                </a:cubicBezTo>
                <a:cubicBezTo>
                  <a:pt x="73642" y="209176"/>
                  <a:pt x="51357" y="199079"/>
                  <a:pt x="34104" y="183573"/>
                </a:cubicBezTo>
                <a:lnTo>
                  <a:pt x="15054" y="202324"/>
                </a:lnTo>
                <a:cubicBezTo>
                  <a:pt x="39855" y="225404"/>
                  <a:pt x="71485" y="238025"/>
                  <a:pt x="105272" y="238025"/>
                </a:cubicBezTo>
                <a:cubicBezTo>
                  <a:pt x="140496" y="238025"/>
                  <a:pt x="173564" y="223961"/>
                  <a:pt x="198365" y="199079"/>
                </a:cubicBezTo>
                <a:cubicBezTo>
                  <a:pt x="249045" y="148593"/>
                  <a:pt x="250124" y="67095"/>
                  <a:pt x="201960" y="15166"/>
                </a:cubicBezTo>
                <a:close/>
                <a:moveTo>
                  <a:pt x="95208" y="9757"/>
                </a:moveTo>
                <a:cubicBezTo>
                  <a:pt x="85503" y="10839"/>
                  <a:pt x="76158" y="13363"/>
                  <a:pt x="66812" y="16969"/>
                </a:cubicBezTo>
                <a:cubicBezTo>
                  <a:pt x="58186" y="20936"/>
                  <a:pt x="50638" y="25985"/>
                  <a:pt x="43449" y="31755"/>
                </a:cubicBezTo>
                <a:cubicBezTo>
                  <a:pt x="41652" y="33558"/>
                  <a:pt x="39136" y="35361"/>
                  <a:pt x="37339" y="37524"/>
                </a:cubicBezTo>
                <a:cubicBezTo>
                  <a:pt x="33026" y="41852"/>
                  <a:pt x="29072" y="46900"/>
                  <a:pt x="25477" y="51949"/>
                </a:cubicBezTo>
                <a:cubicBezTo>
                  <a:pt x="20445" y="59161"/>
                  <a:pt x="16851" y="67455"/>
                  <a:pt x="13975" y="75389"/>
                </a:cubicBezTo>
                <a:lnTo>
                  <a:pt x="72563" y="134169"/>
                </a:lnTo>
                <a:cubicBezTo>
                  <a:pt x="76158" y="138135"/>
                  <a:pt x="82268" y="138135"/>
                  <a:pt x="85862" y="134169"/>
                </a:cubicBezTo>
                <a:cubicBezTo>
                  <a:pt x="87660" y="132726"/>
                  <a:pt x="88738" y="129841"/>
                  <a:pt x="88738" y="127317"/>
                </a:cubicBezTo>
                <a:cubicBezTo>
                  <a:pt x="88738" y="124793"/>
                  <a:pt x="87660" y="122629"/>
                  <a:pt x="85862" y="120826"/>
                </a:cubicBezTo>
                <a:lnTo>
                  <a:pt x="40574" y="75028"/>
                </a:lnTo>
                <a:cubicBezTo>
                  <a:pt x="38776" y="73225"/>
                  <a:pt x="38776" y="70340"/>
                  <a:pt x="40574" y="68537"/>
                </a:cubicBezTo>
                <a:cubicBezTo>
                  <a:pt x="42371" y="66734"/>
                  <a:pt x="45606" y="66734"/>
                  <a:pt x="47043" y="68537"/>
                </a:cubicBezTo>
                <a:cubicBezTo>
                  <a:pt x="50638" y="72143"/>
                  <a:pt x="57108" y="72143"/>
                  <a:pt x="60702" y="68537"/>
                </a:cubicBezTo>
                <a:cubicBezTo>
                  <a:pt x="64296" y="64570"/>
                  <a:pt x="64296" y="58801"/>
                  <a:pt x="60702" y="55194"/>
                </a:cubicBezTo>
                <a:cubicBezTo>
                  <a:pt x="58545" y="53391"/>
                  <a:pt x="58545" y="50506"/>
                  <a:pt x="60702" y="48343"/>
                </a:cubicBezTo>
                <a:cubicBezTo>
                  <a:pt x="62140" y="46900"/>
                  <a:pt x="65375" y="46900"/>
                  <a:pt x="67172" y="48343"/>
                </a:cubicBezTo>
                <a:lnTo>
                  <a:pt x="67172" y="48703"/>
                </a:lnTo>
                <a:lnTo>
                  <a:pt x="95926" y="77552"/>
                </a:lnTo>
                <a:cubicBezTo>
                  <a:pt x="99521" y="81159"/>
                  <a:pt x="105991" y="81159"/>
                  <a:pt x="109585" y="77552"/>
                </a:cubicBezTo>
                <a:cubicBezTo>
                  <a:pt x="111382" y="76110"/>
                  <a:pt x="112460" y="73586"/>
                  <a:pt x="112460" y="71061"/>
                </a:cubicBezTo>
                <a:cubicBezTo>
                  <a:pt x="112460" y="68176"/>
                  <a:pt x="111382" y="66013"/>
                  <a:pt x="109585" y="64210"/>
                </a:cubicBezTo>
                <a:lnTo>
                  <a:pt x="94848" y="49785"/>
                </a:lnTo>
                <a:cubicBezTo>
                  <a:pt x="94129" y="48703"/>
                  <a:pt x="93770" y="47622"/>
                  <a:pt x="93770" y="46179"/>
                </a:cubicBezTo>
                <a:cubicBezTo>
                  <a:pt x="93770" y="45458"/>
                  <a:pt x="94129" y="44015"/>
                  <a:pt x="94848" y="43294"/>
                </a:cubicBezTo>
                <a:cubicBezTo>
                  <a:pt x="97005" y="41130"/>
                  <a:pt x="99880" y="41130"/>
                  <a:pt x="101677" y="43294"/>
                </a:cubicBezTo>
                <a:cubicBezTo>
                  <a:pt x="105272" y="46900"/>
                  <a:pt x="111382" y="46900"/>
                  <a:pt x="114976" y="43294"/>
                </a:cubicBezTo>
                <a:cubicBezTo>
                  <a:pt x="118571" y="39327"/>
                  <a:pt x="118571" y="33197"/>
                  <a:pt x="114976" y="29591"/>
                </a:cubicBezTo>
                <a:lnTo>
                  <a:pt x="95208" y="9757"/>
                </a:lnTo>
                <a:close/>
                <a:moveTo>
                  <a:pt x="107788" y="9036"/>
                </a:moveTo>
                <a:lnTo>
                  <a:pt x="121806" y="23100"/>
                </a:lnTo>
                <a:cubicBezTo>
                  <a:pt x="128994" y="30312"/>
                  <a:pt x="128994" y="42212"/>
                  <a:pt x="121806" y="49785"/>
                </a:cubicBezTo>
                <a:cubicBezTo>
                  <a:pt x="118930" y="51949"/>
                  <a:pt x="116055" y="53752"/>
                  <a:pt x="112820" y="54473"/>
                </a:cubicBezTo>
                <a:lnTo>
                  <a:pt x="116055" y="57719"/>
                </a:lnTo>
                <a:cubicBezTo>
                  <a:pt x="119649" y="60964"/>
                  <a:pt x="121806" y="66013"/>
                  <a:pt x="121806" y="71061"/>
                </a:cubicBezTo>
                <a:cubicBezTo>
                  <a:pt x="121806" y="76110"/>
                  <a:pt x="119649" y="80798"/>
                  <a:pt x="116055" y="84404"/>
                </a:cubicBezTo>
                <a:cubicBezTo>
                  <a:pt x="108866" y="91616"/>
                  <a:pt x="97005" y="91616"/>
                  <a:pt x="89816" y="84404"/>
                </a:cubicBezTo>
                <a:lnTo>
                  <a:pt x="71844" y="66373"/>
                </a:lnTo>
                <a:cubicBezTo>
                  <a:pt x="71126" y="69619"/>
                  <a:pt x="69328" y="72504"/>
                  <a:pt x="67172" y="75028"/>
                </a:cubicBezTo>
                <a:cubicBezTo>
                  <a:pt x="64656" y="77552"/>
                  <a:pt x="61780" y="78995"/>
                  <a:pt x="58545" y="80077"/>
                </a:cubicBezTo>
                <a:lnTo>
                  <a:pt x="92692" y="114335"/>
                </a:lnTo>
                <a:cubicBezTo>
                  <a:pt x="95926" y="117941"/>
                  <a:pt x="98083" y="122629"/>
                  <a:pt x="98083" y="127317"/>
                </a:cubicBezTo>
                <a:cubicBezTo>
                  <a:pt x="98083" y="132726"/>
                  <a:pt x="95926" y="137054"/>
                  <a:pt x="92692" y="140660"/>
                </a:cubicBezTo>
                <a:cubicBezTo>
                  <a:pt x="89097" y="144626"/>
                  <a:pt x="84065" y="146429"/>
                  <a:pt x="79033" y="146429"/>
                </a:cubicBezTo>
                <a:cubicBezTo>
                  <a:pt x="74720" y="146429"/>
                  <a:pt x="69688" y="144626"/>
                  <a:pt x="66093" y="140660"/>
                </a:cubicBezTo>
                <a:lnTo>
                  <a:pt x="11100" y="85846"/>
                </a:lnTo>
                <a:cubicBezTo>
                  <a:pt x="4630" y="117580"/>
                  <a:pt x="13975" y="150757"/>
                  <a:pt x="37339" y="173475"/>
                </a:cubicBezTo>
                <a:cubicBezTo>
                  <a:pt x="50278" y="186818"/>
                  <a:pt x="66812" y="195473"/>
                  <a:pt x="84425" y="199440"/>
                </a:cubicBezTo>
                <a:lnTo>
                  <a:pt x="79752" y="194752"/>
                </a:lnTo>
                <a:cubicBezTo>
                  <a:pt x="76517" y="191145"/>
                  <a:pt x="74360" y="186457"/>
                  <a:pt x="74360" y="181409"/>
                </a:cubicBezTo>
                <a:cubicBezTo>
                  <a:pt x="74360" y="176721"/>
                  <a:pt x="76517" y="171672"/>
                  <a:pt x="79752" y="168427"/>
                </a:cubicBezTo>
                <a:cubicBezTo>
                  <a:pt x="87300" y="160854"/>
                  <a:pt x="99161" y="160854"/>
                  <a:pt x="106350" y="168427"/>
                </a:cubicBezTo>
                <a:lnTo>
                  <a:pt x="135105" y="196915"/>
                </a:lnTo>
                <a:cubicBezTo>
                  <a:pt x="141575" y="194752"/>
                  <a:pt x="147685" y="191867"/>
                  <a:pt x="153795" y="188621"/>
                </a:cubicBezTo>
                <a:lnTo>
                  <a:pt x="137980" y="173115"/>
                </a:lnTo>
                <a:cubicBezTo>
                  <a:pt x="130792" y="165542"/>
                  <a:pt x="130792" y="153642"/>
                  <a:pt x="137980" y="146429"/>
                </a:cubicBezTo>
                <a:cubicBezTo>
                  <a:pt x="140496" y="143905"/>
                  <a:pt x="143731" y="142463"/>
                  <a:pt x="146607" y="141381"/>
                </a:cubicBezTo>
                <a:lnTo>
                  <a:pt x="136183" y="130923"/>
                </a:lnTo>
                <a:cubicBezTo>
                  <a:pt x="132948" y="127317"/>
                  <a:pt x="130792" y="122629"/>
                  <a:pt x="130792" y="117941"/>
                </a:cubicBezTo>
                <a:cubicBezTo>
                  <a:pt x="130792" y="112892"/>
                  <a:pt x="132948" y="107844"/>
                  <a:pt x="136183" y="104598"/>
                </a:cubicBezTo>
                <a:cubicBezTo>
                  <a:pt x="139777" y="100992"/>
                  <a:pt x="144450" y="99189"/>
                  <a:pt x="149482" y="99189"/>
                </a:cubicBezTo>
                <a:cubicBezTo>
                  <a:pt x="154514" y="99189"/>
                  <a:pt x="159187" y="100992"/>
                  <a:pt x="162781" y="104598"/>
                </a:cubicBezTo>
                <a:lnTo>
                  <a:pt x="195849" y="137414"/>
                </a:lnTo>
                <a:cubicBezTo>
                  <a:pt x="208070" y="102795"/>
                  <a:pt x="199443" y="63849"/>
                  <a:pt x="173205" y="37524"/>
                </a:cubicBezTo>
                <a:cubicBezTo>
                  <a:pt x="155593" y="19854"/>
                  <a:pt x="132229" y="9757"/>
                  <a:pt x="107788" y="9036"/>
                </a:cubicBezTo>
                <a:close/>
                <a:moveTo>
                  <a:pt x="96286" y="381"/>
                </a:moveTo>
                <a:lnTo>
                  <a:pt x="96645" y="381"/>
                </a:lnTo>
                <a:cubicBezTo>
                  <a:pt x="125760" y="-2143"/>
                  <a:pt x="154874" y="7954"/>
                  <a:pt x="176440" y="27788"/>
                </a:cubicBezTo>
                <a:lnTo>
                  <a:pt x="198365" y="5430"/>
                </a:lnTo>
                <a:cubicBezTo>
                  <a:pt x="200162" y="3627"/>
                  <a:pt x="203397" y="3627"/>
                  <a:pt x="205194" y="5430"/>
                </a:cubicBezTo>
                <a:cubicBezTo>
                  <a:pt x="260188" y="60604"/>
                  <a:pt x="260188" y="150396"/>
                  <a:pt x="205194" y="205570"/>
                </a:cubicBezTo>
                <a:cubicBezTo>
                  <a:pt x="179315" y="231174"/>
                  <a:pt x="145888" y="245959"/>
                  <a:pt x="109944" y="247040"/>
                </a:cubicBezTo>
                <a:lnTo>
                  <a:pt x="109944" y="272283"/>
                </a:lnTo>
                <a:lnTo>
                  <a:pt x="158109" y="272283"/>
                </a:lnTo>
                <a:cubicBezTo>
                  <a:pt x="160265" y="272283"/>
                  <a:pt x="162422" y="274447"/>
                  <a:pt x="162422" y="276971"/>
                </a:cubicBezTo>
                <a:cubicBezTo>
                  <a:pt x="162422" y="279496"/>
                  <a:pt x="160265" y="281659"/>
                  <a:pt x="158109" y="281659"/>
                </a:cubicBezTo>
                <a:lnTo>
                  <a:pt x="52435" y="281659"/>
                </a:lnTo>
                <a:cubicBezTo>
                  <a:pt x="49919" y="281659"/>
                  <a:pt x="47762" y="279496"/>
                  <a:pt x="47762" y="276971"/>
                </a:cubicBezTo>
                <a:cubicBezTo>
                  <a:pt x="47762" y="274447"/>
                  <a:pt x="49919" y="272283"/>
                  <a:pt x="52435" y="272283"/>
                </a:cubicBezTo>
                <a:lnTo>
                  <a:pt x="100599" y="272283"/>
                </a:lnTo>
                <a:lnTo>
                  <a:pt x="100599" y="247040"/>
                </a:lnTo>
                <a:cubicBezTo>
                  <a:pt x="64656" y="245959"/>
                  <a:pt x="30869" y="231174"/>
                  <a:pt x="5349" y="205570"/>
                </a:cubicBezTo>
                <a:cubicBezTo>
                  <a:pt x="3551" y="203767"/>
                  <a:pt x="3551" y="200882"/>
                  <a:pt x="5349" y="199079"/>
                </a:cubicBezTo>
                <a:lnTo>
                  <a:pt x="27634" y="176721"/>
                </a:lnTo>
                <a:cubicBezTo>
                  <a:pt x="2833" y="149675"/>
                  <a:pt x="-6153" y="111089"/>
                  <a:pt x="4270" y="75389"/>
                </a:cubicBezTo>
                <a:cubicBezTo>
                  <a:pt x="7146" y="65292"/>
                  <a:pt x="11459" y="55555"/>
                  <a:pt x="17570" y="46900"/>
                </a:cubicBezTo>
                <a:cubicBezTo>
                  <a:pt x="21524" y="41130"/>
                  <a:pt x="25837" y="35361"/>
                  <a:pt x="30869" y="31033"/>
                </a:cubicBezTo>
                <a:cubicBezTo>
                  <a:pt x="33026" y="28509"/>
                  <a:pt x="35542" y="26345"/>
                  <a:pt x="37339" y="24542"/>
                </a:cubicBezTo>
                <a:cubicBezTo>
                  <a:pt x="45246" y="18051"/>
                  <a:pt x="53873" y="13003"/>
                  <a:pt x="63218" y="8675"/>
                </a:cubicBezTo>
                <a:cubicBezTo>
                  <a:pt x="73642" y="3987"/>
                  <a:pt x="84784" y="1102"/>
                  <a:pt x="96286" y="38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69" name="Freeform 759">
            <a:extLst>
              <a:ext uri="{FF2B5EF4-FFF2-40B4-BE49-F238E27FC236}">
                <a16:creationId xmlns:a16="http://schemas.microsoft.com/office/drawing/2014/main" id="{C63F9F44-CBB5-2D4B-B883-DDC7E7649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2559" y="3535458"/>
            <a:ext cx="540000" cy="396000"/>
          </a:xfrm>
          <a:custGeom>
            <a:avLst/>
            <a:gdLst>
              <a:gd name="T0" fmla="*/ 29833 w 304441"/>
              <a:gd name="T1" fmla="*/ 184188 h 221888"/>
              <a:gd name="T2" fmla="*/ 129037 w 304441"/>
              <a:gd name="T3" fmla="*/ 198325 h 221888"/>
              <a:gd name="T4" fmla="*/ 143055 w 304441"/>
              <a:gd name="T5" fmla="*/ 212463 h 221888"/>
              <a:gd name="T6" fmla="*/ 170731 w 304441"/>
              <a:gd name="T7" fmla="*/ 203038 h 221888"/>
              <a:gd name="T8" fmla="*/ 281077 w 304441"/>
              <a:gd name="T9" fmla="*/ 198325 h 221888"/>
              <a:gd name="T10" fmla="*/ 155635 w 304441"/>
              <a:gd name="T11" fmla="*/ 192888 h 221888"/>
              <a:gd name="T12" fmla="*/ 80962 w 304441"/>
              <a:gd name="T13" fmla="*/ 171681 h 221888"/>
              <a:gd name="T14" fmla="*/ 43851 w 304441"/>
              <a:gd name="T15" fmla="*/ 169688 h 221888"/>
              <a:gd name="T16" fmla="*/ 51758 w 304441"/>
              <a:gd name="T17" fmla="*/ 148663 h 221888"/>
              <a:gd name="T18" fmla="*/ 153119 w 304441"/>
              <a:gd name="T19" fmla="*/ 182013 h 221888"/>
              <a:gd name="T20" fmla="*/ 282156 w 304441"/>
              <a:gd name="T21" fmla="*/ 178388 h 221888"/>
              <a:gd name="T22" fmla="*/ 299768 w 304441"/>
              <a:gd name="T23" fmla="*/ 198325 h 221888"/>
              <a:gd name="T24" fmla="*/ 299768 w 304441"/>
              <a:gd name="T25" fmla="*/ 207750 h 221888"/>
              <a:gd name="T26" fmla="*/ 161386 w 304441"/>
              <a:gd name="T27" fmla="*/ 221888 h 221888"/>
              <a:gd name="T28" fmla="*/ 125083 w 304441"/>
              <a:gd name="T29" fmla="*/ 207750 h 221888"/>
              <a:gd name="T30" fmla="*/ 0 w 304441"/>
              <a:gd name="T31" fmla="*/ 203038 h 221888"/>
              <a:gd name="T32" fmla="*/ 13299 w 304441"/>
              <a:gd name="T33" fmla="*/ 198325 h 221888"/>
              <a:gd name="T34" fmla="*/ 24801 w 304441"/>
              <a:gd name="T35" fmla="*/ 176213 h 221888"/>
              <a:gd name="T36" fmla="*/ 44210 w 304441"/>
              <a:gd name="T37" fmla="*/ 143225 h 221888"/>
              <a:gd name="T38" fmla="*/ 180542 w 304441"/>
              <a:gd name="T39" fmla="*/ 8980 h 221888"/>
              <a:gd name="T40" fmla="*/ 179463 w 304441"/>
              <a:gd name="T41" fmla="*/ 76513 h 221888"/>
              <a:gd name="T42" fmla="*/ 216143 w 304441"/>
              <a:gd name="T43" fmla="*/ 99144 h 221888"/>
              <a:gd name="T44" fmla="*/ 258577 w 304441"/>
              <a:gd name="T45" fmla="*/ 81183 h 221888"/>
              <a:gd name="T46" fmla="*/ 240597 w 304441"/>
              <a:gd name="T47" fmla="*/ 60708 h 221888"/>
              <a:gd name="T48" fmla="*/ 242755 w 304441"/>
              <a:gd name="T49" fmla="*/ 49213 h 221888"/>
              <a:gd name="T50" fmla="*/ 217941 w 304441"/>
              <a:gd name="T51" fmla="*/ 38436 h 221888"/>
              <a:gd name="T52" fmla="*/ 210389 w 304441"/>
              <a:gd name="T53" fmla="*/ 35562 h 221888"/>
              <a:gd name="T54" fmla="*/ 180542 w 304441"/>
              <a:gd name="T55" fmla="*/ 0 h 221888"/>
              <a:gd name="T56" fmla="*/ 228010 w 304441"/>
              <a:gd name="T57" fmla="*/ 25145 h 221888"/>
              <a:gd name="T58" fmla="*/ 251026 w 304441"/>
              <a:gd name="T59" fmla="*/ 55679 h 221888"/>
              <a:gd name="T60" fmla="*/ 240237 w 304441"/>
              <a:gd name="T61" fmla="*/ 108483 h 221888"/>
              <a:gd name="T62" fmla="*/ 221897 w 304441"/>
              <a:gd name="T63" fmla="*/ 119260 h 221888"/>
              <a:gd name="T64" fmla="*/ 208591 w 304441"/>
              <a:gd name="T65" fmla="*/ 147279 h 221888"/>
              <a:gd name="T66" fmla="*/ 204995 w 304441"/>
              <a:gd name="T67" fmla="*/ 139376 h 221888"/>
              <a:gd name="T68" fmla="*/ 174788 w 304441"/>
              <a:gd name="T69" fmla="*/ 89086 h 221888"/>
              <a:gd name="T70" fmla="*/ 169394 w 304441"/>
              <a:gd name="T71" fmla="*/ 83697 h 221888"/>
              <a:gd name="T72" fmla="*/ 132353 w 304441"/>
              <a:gd name="T73" fmla="*/ 38795 h 221888"/>
              <a:gd name="T74" fmla="*/ 91717 w 304441"/>
              <a:gd name="T75" fmla="*/ 75435 h 221888"/>
              <a:gd name="T76" fmla="*/ 74456 w 304441"/>
              <a:gd name="T77" fmla="*/ 69688 h 221888"/>
              <a:gd name="T78" fmla="*/ 57914 w 304441"/>
              <a:gd name="T79" fmla="*/ 97707 h 221888"/>
              <a:gd name="T80" fmla="*/ 54677 w 304441"/>
              <a:gd name="T81" fmla="*/ 104532 h 221888"/>
              <a:gd name="T82" fmla="*/ 31662 w 304441"/>
              <a:gd name="T83" fmla="*/ 131833 h 221888"/>
              <a:gd name="T84" fmla="*/ 47485 w 304441"/>
              <a:gd name="T85" fmla="*/ 96988 h 221888"/>
              <a:gd name="T86" fmla="*/ 74456 w 304441"/>
              <a:gd name="T87" fmla="*/ 60348 h 221888"/>
              <a:gd name="T88" fmla="*/ 132353 w 304441"/>
              <a:gd name="T89" fmla="*/ 29456 h 221888"/>
              <a:gd name="T90" fmla="*/ 180542 w 304441"/>
              <a:gd name="T91" fmla="*/ 0 h 221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04441" h="221888">
                <a:moveTo>
                  <a:pt x="80962" y="171681"/>
                </a:moveTo>
                <a:cubicBezTo>
                  <a:pt x="56970" y="173947"/>
                  <a:pt x="35764" y="181831"/>
                  <a:pt x="29833" y="184188"/>
                </a:cubicBezTo>
                <a:lnTo>
                  <a:pt x="23363" y="198325"/>
                </a:lnTo>
                <a:lnTo>
                  <a:pt x="129037" y="198325"/>
                </a:lnTo>
                <a:cubicBezTo>
                  <a:pt x="131553" y="198325"/>
                  <a:pt x="133709" y="200500"/>
                  <a:pt x="133709" y="203038"/>
                </a:cubicBezTo>
                <a:cubicBezTo>
                  <a:pt x="133709" y="208113"/>
                  <a:pt x="138023" y="212463"/>
                  <a:pt x="143055" y="212463"/>
                </a:cubicBezTo>
                <a:lnTo>
                  <a:pt x="161386" y="212463"/>
                </a:lnTo>
                <a:cubicBezTo>
                  <a:pt x="166418" y="212463"/>
                  <a:pt x="170731" y="208113"/>
                  <a:pt x="170731" y="203038"/>
                </a:cubicBezTo>
                <a:cubicBezTo>
                  <a:pt x="170731" y="200500"/>
                  <a:pt x="172888" y="198325"/>
                  <a:pt x="175404" y="198325"/>
                </a:cubicBezTo>
                <a:lnTo>
                  <a:pt x="281077" y="198325"/>
                </a:lnTo>
                <a:lnTo>
                  <a:pt x="274608" y="184188"/>
                </a:lnTo>
                <a:cubicBezTo>
                  <a:pt x="262746" y="179475"/>
                  <a:pt x="189781" y="152650"/>
                  <a:pt x="155635" y="192888"/>
                </a:cubicBezTo>
                <a:cubicBezTo>
                  <a:pt x="153838" y="194700"/>
                  <a:pt x="150243" y="194700"/>
                  <a:pt x="148806" y="192888"/>
                </a:cubicBezTo>
                <a:cubicBezTo>
                  <a:pt x="131733" y="172769"/>
                  <a:pt x="104955" y="169416"/>
                  <a:pt x="80962" y="171681"/>
                </a:cubicBezTo>
                <a:close/>
                <a:moveTo>
                  <a:pt x="51758" y="148663"/>
                </a:moveTo>
                <a:lnTo>
                  <a:pt x="43851" y="169688"/>
                </a:lnTo>
                <a:cubicBezTo>
                  <a:pt x="65058" y="163163"/>
                  <a:pt x="99923" y="156275"/>
                  <a:pt x="129037" y="167875"/>
                </a:cubicBezTo>
                <a:cubicBezTo>
                  <a:pt x="114300" y="155550"/>
                  <a:pt x="89858" y="143950"/>
                  <a:pt x="51758" y="148663"/>
                </a:cubicBezTo>
                <a:close/>
                <a:moveTo>
                  <a:pt x="47805" y="139963"/>
                </a:moveTo>
                <a:cubicBezTo>
                  <a:pt x="113941" y="130175"/>
                  <a:pt x="144133" y="167150"/>
                  <a:pt x="153119" y="182013"/>
                </a:cubicBezTo>
                <a:cubicBezTo>
                  <a:pt x="196251" y="140688"/>
                  <a:pt x="276405" y="174400"/>
                  <a:pt x="279640" y="176213"/>
                </a:cubicBezTo>
                <a:cubicBezTo>
                  <a:pt x="280718" y="176575"/>
                  <a:pt x="281437" y="177663"/>
                  <a:pt x="282156" y="178388"/>
                </a:cubicBezTo>
                <a:lnTo>
                  <a:pt x="291141" y="198325"/>
                </a:lnTo>
                <a:lnTo>
                  <a:pt x="299768" y="198325"/>
                </a:lnTo>
                <a:cubicBezTo>
                  <a:pt x="302643" y="198325"/>
                  <a:pt x="304441" y="200500"/>
                  <a:pt x="304441" y="203038"/>
                </a:cubicBezTo>
                <a:cubicBezTo>
                  <a:pt x="304441" y="205575"/>
                  <a:pt x="302643" y="207750"/>
                  <a:pt x="299768" y="207750"/>
                </a:cubicBezTo>
                <a:lnTo>
                  <a:pt x="179358" y="207750"/>
                </a:lnTo>
                <a:cubicBezTo>
                  <a:pt x="177201" y="215725"/>
                  <a:pt x="170012" y="221888"/>
                  <a:pt x="161386" y="221888"/>
                </a:cubicBezTo>
                <a:lnTo>
                  <a:pt x="143055" y="221888"/>
                </a:lnTo>
                <a:cubicBezTo>
                  <a:pt x="134428" y="221888"/>
                  <a:pt x="127240" y="215725"/>
                  <a:pt x="125083" y="207750"/>
                </a:cubicBezTo>
                <a:lnTo>
                  <a:pt x="4673" y="207750"/>
                </a:lnTo>
                <a:cubicBezTo>
                  <a:pt x="1797" y="207750"/>
                  <a:pt x="0" y="205575"/>
                  <a:pt x="0" y="203038"/>
                </a:cubicBezTo>
                <a:cubicBezTo>
                  <a:pt x="0" y="200500"/>
                  <a:pt x="1797" y="198325"/>
                  <a:pt x="4673" y="198325"/>
                </a:cubicBezTo>
                <a:lnTo>
                  <a:pt x="13299" y="198325"/>
                </a:lnTo>
                <a:lnTo>
                  <a:pt x="22285" y="178388"/>
                </a:lnTo>
                <a:cubicBezTo>
                  <a:pt x="23004" y="177663"/>
                  <a:pt x="23723" y="176575"/>
                  <a:pt x="24801" y="176213"/>
                </a:cubicBezTo>
                <a:cubicBezTo>
                  <a:pt x="25160" y="175850"/>
                  <a:pt x="28395" y="174763"/>
                  <a:pt x="32708" y="172950"/>
                </a:cubicBezTo>
                <a:lnTo>
                  <a:pt x="44210" y="143225"/>
                </a:lnTo>
                <a:cubicBezTo>
                  <a:pt x="44570" y="141413"/>
                  <a:pt x="46008" y="140325"/>
                  <a:pt x="47805" y="139963"/>
                </a:cubicBezTo>
                <a:close/>
                <a:moveTo>
                  <a:pt x="180542" y="8980"/>
                </a:moveTo>
                <a:cubicBezTo>
                  <a:pt x="165797" y="8980"/>
                  <a:pt x="153571" y="19757"/>
                  <a:pt x="150694" y="33407"/>
                </a:cubicBezTo>
                <a:cubicBezTo>
                  <a:pt x="167595" y="40591"/>
                  <a:pt x="179463" y="57115"/>
                  <a:pt x="179463" y="76513"/>
                </a:cubicBezTo>
                <a:cubicBezTo>
                  <a:pt x="179463" y="77591"/>
                  <a:pt x="179463" y="78309"/>
                  <a:pt x="179463" y="79028"/>
                </a:cubicBezTo>
                <a:cubicBezTo>
                  <a:pt x="195286" y="78309"/>
                  <a:pt x="208951" y="86571"/>
                  <a:pt x="216143" y="99144"/>
                </a:cubicBezTo>
                <a:lnTo>
                  <a:pt x="240237" y="99144"/>
                </a:lnTo>
                <a:cubicBezTo>
                  <a:pt x="250666" y="99144"/>
                  <a:pt x="258577" y="91241"/>
                  <a:pt x="258577" y="81183"/>
                </a:cubicBezTo>
                <a:cubicBezTo>
                  <a:pt x="258577" y="72202"/>
                  <a:pt x="252464" y="64659"/>
                  <a:pt x="243833" y="63222"/>
                </a:cubicBezTo>
                <a:cubicBezTo>
                  <a:pt x="242395" y="62863"/>
                  <a:pt x="241316" y="62144"/>
                  <a:pt x="240597" y="60708"/>
                </a:cubicBezTo>
                <a:cubicBezTo>
                  <a:pt x="239878" y="59271"/>
                  <a:pt x="239878" y="57834"/>
                  <a:pt x="240597" y="56397"/>
                </a:cubicBezTo>
                <a:cubicBezTo>
                  <a:pt x="242035" y="54242"/>
                  <a:pt x="242755" y="51727"/>
                  <a:pt x="242755" y="49213"/>
                </a:cubicBezTo>
                <a:cubicBezTo>
                  <a:pt x="242755" y="41310"/>
                  <a:pt x="236281" y="34485"/>
                  <a:pt x="228010" y="34485"/>
                </a:cubicBezTo>
                <a:cubicBezTo>
                  <a:pt x="224414" y="34485"/>
                  <a:pt x="220818" y="35922"/>
                  <a:pt x="217941" y="38436"/>
                </a:cubicBezTo>
                <a:cubicBezTo>
                  <a:pt x="216862" y="39514"/>
                  <a:pt x="215064" y="39873"/>
                  <a:pt x="213266" y="39155"/>
                </a:cubicBezTo>
                <a:cubicBezTo>
                  <a:pt x="211828" y="38795"/>
                  <a:pt x="210749" y="37358"/>
                  <a:pt x="210389" y="35562"/>
                </a:cubicBezTo>
                <a:cubicBezTo>
                  <a:pt x="208591" y="20475"/>
                  <a:pt x="195645" y="8980"/>
                  <a:pt x="180542" y="8980"/>
                </a:cubicBezTo>
                <a:close/>
                <a:moveTo>
                  <a:pt x="180542" y="0"/>
                </a:moveTo>
                <a:cubicBezTo>
                  <a:pt x="197803" y="0"/>
                  <a:pt x="212907" y="11495"/>
                  <a:pt x="217941" y="27660"/>
                </a:cubicBezTo>
                <a:cubicBezTo>
                  <a:pt x="221178" y="25864"/>
                  <a:pt x="224414" y="25145"/>
                  <a:pt x="228010" y="25145"/>
                </a:cubicBezTo>
                <a:cubicBezTo>
                  <a:pt x="241316" y="25145"/>
                  <a:pt x="252104" y="35922"/>
                  <a:pt x="252104" y="49213"/>
                </a:cubicBezTo>
                <a:cubicBezTo>
                  <a:pt x="252104" y="51368"/>
                  <a:pt x="251385" y="53523"/>
                  <a:pt x="251026" y="55679"/>
                </a:cubicBezTo>
                <a:cubicBezTo>
                  <a:pt x="261095" y="59989"/>
                  <a:pt x="267927" y="70047"/>
                  <a:pt x="267927" y="81183"/>
                </a:cubicBezTo>
                <a:cubicBezTo>
                  <a:pt x="267927" y="96270"/>
                  <a:pt x="255701" y="108483"/>
                  <a:pt x="240237" y="108483"/>
                </a:cubicBezTo>
                <a:lnTo>
                  <a:pt x="220459" y="108483"/>
                </a:lnTo>
                <a:cubicBezTo>
                  <a:pt x="221178" y="112075"/>
                  <a:pt x="221897" y="115668"/>
                  <a:pt x="221897" y="119260"/>
                </a:cubicBezTo>
                <a:cubicBezTo>
                  <a:pt x="221897" y="128959"/>
                  <a:pt x="218301" y="138298"/>
                  <a:pt x="212187" y="145483"/>
                </a:cubicBezTo>
                <a:cubicBezTo>
                  <a:pt x="211109" y="146560"/>
                  <a:pt x="210030" y="147279"/>
                  <a:pt x="208591" y="147279"/>
                </a:cubicBezTo>
                <a:cubicBezTo>
                  <a:pt x="207512" y="147279"/>
                  <a:pt x="206434" y="146560"/>
                  <a:pt x="205714" y="146201"/>
                </a:cubicBezTo>
                <a:cubicBezTo>
                  <a:pt x="203557" y="144405"/>
                  <a:pt x="203557" y="141531"/>
                  <a:pt x="204995" y="139376"/>
                </a:cubicBezTo>
                <a:cubicBezTo>
                  <a:pt x="210030" y="133629"/>
                  <a:pt x="212547" y="126803"/>
                  <a:pt x="212547" y="119260"/>
                </a:cubicBezTo>
                <a:cubicBezTo>
                  <a:pt x="212547" y="100221"/>
                  <a:pt x="194926" y="84775"/>
                  <a:pt x="174788" y="89086"/>
                </a:cubicBezTo>
                <a:cubicBezTo>
                  <a:pt x="173349" y="89445"/>
                  <a:pt x="171911" y="88726"/>
                  <a:pt x="170832" y="87649"/>
                </a:cubicBezTo>
                <a:cubicBezTo>
                  <a:pt x="169753" y="86571"/>
                  <a:pt x="169034" y="85134"/>
                  <a:pt x="169394" y="83697"/>
                </a:cubicBezTo>
                <a:cubicBezTo>
                  <a:pt x="169753" y="81183"/>
                  <a:pt x="170113" y="79028"/>
                  <a:pt x="170113" y="76513"/>
                </a:cubicBezTo>
                <a:cubicBezTo>
                  <a:pt x="170113" y="55679"/>
                  <a:pt x="153211" y="38795"/>
                  <a:pt x="132353" y="38795"/>
                </a:cubicBezTo>
                <a:cubicBezTo>
                  <a:pt x="113294" y="38795"/>
                  <a:pt x="97111" y="53164"/>
                  <a:pt x="94954" y="71843"/>
                </a:cubicBezTo>
                <a:cubicBezTo>
                  <a:pt x="94594" y="73639"/>
                  <a:pt x="93515" y="75076"/>
                  <a:pt x="91717" y="75435"/>
                </a:cubicBezTo>
                <a:cubicBezTo>
                  <a:pt x="90279" y="75795"/>
                  <a:pt x="88121" y="75795"/>
                  <a:pt x="87042" y="74717"/>
                </a:cubicBezTo>
                <a:cubicBezTo>
                  <a:pt x="83806" y="71484"/>
                  <a:pt x="79131" y="69688"/>
                  <a:pt x="74456" y="69688"/>
                </a:cubicBezTo>
                <a:cubicBezTo>
                  <a:pt x="64027" y="69688"/>
                  <a:pt x="55396" y="78309"/>
                  <a:pt x="55396" y="88726"/>
                </a:cubicBezTo>
                <a:cubicBezTo>
                  <a:pt x="55396" y="91959"/>
                  <a:pt x="56475" y="94833"/>
                  <a:pt x="57914" y="97707"/>
                </a:cubicBezTo>
                <a:cubicBezTo>
                  <a:pt x="58633" y="99144"/>
                  <a:pt x="58633" y="100581"/>
                  <a:pt x="57914" y="102017"/>
                </a:cubicBezTo>
                <a:cubicBezTo>
                  <a:pt x="57554" y="103454"/>
                  <a:pt x="56116" y="104532"/>
                  <a:pt x="54677" y="104532"/>
                </a:cubicBezTo>
                <a:cubicBezTo>
                  <a:pt x="43889" y="106687"/>
                  <a:pt x="35977" y="116386"/>
                  <a:pt x="35977" y="127163"/>
                </a:cubicBezTo>
                <a:cubicBezTo>
                  <a:pt x="35977" y="130036"/>
                  <a:pt x="34179" y="131833"/>
                  <a:pt x="31662" y="131833"/>
                </a:cubicBezTo>
                <a:cubicBezTo>
                  <a:pt x="28785" y="131833"/>
                  <a:pt x="26987" y="130036"/>
                  <a:pt x="26987" y="127163"/>
                </a:cubicBezTo>
                <a:cubicBezTo>
                  <a:pt x="26987" y="113872"/>
                  <a:pt x="35258" y="102017"/>
                  <a:pt x="47485" y="96988"/>
                </a:cubicBezTo>
                <a:cubicBezTo>
                  <a:pt x="46766" y="94474"/>
                  <a:pt x="46406" y="91241"/>
                  <a:pt x="46406" y="88726"/>
                </a:cubicBezTo>
                <a:cubicBezTo>
                  <a:pt x="46406" y="72921"/>
                  <a:pt x="58993" y="60348"/>
                  <a:pt x="74456" y="60348"/>
                </a:cubicBezTo>
                <a:cubicBezTo>
                  <a:pt x="78771" y="60348"/>
                  <a:pt x="83087" y="61426"/>
                  <a:pt x="87042" y="63581"/>
                </a:cubicBezTo>
                <a:cubicBezTo>
                  <a:pt x="92796" y="43824"/>
                  <a:pt x="111136" y="29456"/>
                  <a:pt x="132353" y="29456"/>
                </a:cubicBezTo>
                <a:cubicBezTo>
                  <a:pt x="135590" y="29456"/>
                  <a:pt x="138826" y="30174"/>
                  <a:pt x="142063" y="30533"/>
                </a:cubicBezTo>
                <a:cubicBezTo>
                  <a:pt x="146019" y="13291"/>
                  <a:pt x="161482" y="0"/>
                  <a:pt x="180542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0" name="Freeform 754">
            <a:extLst>
              <a:ext uri="{FF2B5EF4-FFF2-40B4-BE49-F238E27FC236}">
                <a16:creationId xmlns:a16="http://schemas.microsoft.com/office/drawing/2014/main" id="{B5332F93-443C-304B-9719-CD444F5CC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5780" y="2418830"/>
            <a:ext cx="488731" cy="467424"/>
          </a:xfrm>
          <a:custGeom>
            <a:avLst/>
            <a:gdLst>
              <a:gd name="T0" fmla="*/ 164262 w 304441"/>
              <a:gd name="T1" fmla="*/ 237849 h 296502"/>
              <a:gd name="T2" fmla="*/ 168934 w 304441"/>
              <a:gd name="T3" fmla="*/ 236770 h 296502"/>
              <a:gd name="T4" fmla="*/ 273529 w 304441"/>
              <a:gd name="T5" fmla="*/ 216619 h 296502"/>
              <a:gd name="T6" fmla="*/ 265622 w 304441"/>
              <a:gd name="T7" fmla="*/ 196109 h 296502"/>
              <a:gd name="T8" fmla="*/ 30911 w 304441"/>
              <a:gd name="T9" fmla="*/ 216619 h 296502"/>
              <a:gd name="T10" fmla="*/ 35224 w 304441"/>
              <a:gd name="T11" fmla="*/ 217339 h 296502"/>
              <a:gd name="T12" fmla="*/ 140179 w 304441"/>
              <a:gd name="T13" fmla="*/ 237849 h 296502"/>
              <a:gd name="T14" fmla="*/ 112144 w 304441"/>
              <a:gd name="T15" fmla="*/ 156167 h 296502"/>
              <a:gd name="T16" fmla="*/ 93453 w 304441"/>
              <a:gd name="T17" fmla="*/ 160845 h 296502"/>
              <a:gd name="T18" fmla="*/ 53915 w 304441"/>
              <a:gd name="T19" fmla="*/ 187473 h 296502"/>
              <a:gd name="T20" fmla="*/ 250885 w 304441"/>
              <a:gd name="T21" fmla="*/ 187473 h 296502"/>
              <a:gd name="T22" fmla="*/ 210988 w 304441"/>
              <a:gd name="T23" fmla="*/ 160845 h 296502"/>
              <a:gd name="T24" fmla="*/ 200564 w 304441"/>
              <a:gd name="T25" fmla="*/ 157967 h 296502"/>
              <a:gd name="T26" fmla="*/ 191938 w 304441"/>
              <a:gd name="T27" fmla="*/ 156167 h 296502"/>
              <a:gd name="T28" fmla="*/ 152041 w 304441"/>
              <a:gd name="T29" fmla="*/ 178117 h 296502"/>
              <a:gd name="T30" fmla="*/ 112144 w 304441"/>
              <a:gd name="T31" fmla="*/ 156167 h 296502"/>
              <a:gd name="T32" fmla="*/ 120770 w 304441"/>
              <a:gd name="T33" fmla="*/ 152209 h 296502"/>
              <a:gd name="T34" fmla="*/ 183671 w 304441"/>
              <a:gd name="T35" fmla="*/ 152209 h 296502"/>
              <a:gd name="T36" fmla="*/ 152041 w 304441"/>
              <a:gd name="T37" fmla="*/ 142134 h 296502"/>
              <a:gd name="T38" fmla="*/ 179097 w 304441"/>
              <a:gd name="T39" fmla="*/ 34884 h 296502"/>
              <a:gd name="T40" fmla="*/ 195397 w 304441"/>
              <a:gd name="T41" fmla="*/ 43454 h 296502"/>
              <a:gd name="T42" fmla="*/ 160889 w 304441"/>
              <a:gd name="T43" fmla="*/ 45903 h 296502"/>
              <a:gd name="T44" fmla="*/ 114758 w 304441"/>
              <a:gd name="T45" fmla="*/ 44853 h 296502"/>
              <a:gd name="T46" fmla="*/ 118390 w 304441"/>
              <a:gd name="T47" fmla="*/ 36458 h 296502"/>
              <a:gd name="T48" fmla="*/ 179097 w 304441"/>
              <a:gd name="T49" fmla="*/ 34884 h 296502"/>
              <a:gd name="T50" fmla="*/ 103517 w 304441"/>
              <a:gd name="T51" fmla="*/ 49657 h 296502"/>
              <a:gd name="T52" fmla="*/ 101360 w 304441"/>
              <a:gd name="T53" fmla="*/ 62971 h 296502"/>
              <a:gd name="T54" fmla="*/ 93812 w 304441"/>
              <a:gd name="T55" fmla="*/ 75205 h 296502"/>
              <a:gd name="T56" fmla="*/ 98844 w 304441"/>
              <a:gd name="T57" fmla="*/ 85640 h 296502"/>
              <a:gd name="T58" fmla="*/ 102798 w 304441"/>
              <a:gd name="T59" fmla="*/ 85640 h 296502"/>
              <a:gd name="T60" fmla="*/ 128678 w 304441"/>
              <a:gd name="T61" fmla="*/ 125222 h 296502"/>
              <a:gd name="T62" fmla="*/ 198767 w 304441"/>
              <a:gd name="T63" fmla="*/ 88519 h 296502"/>
              <a:gd name="T64" fmla="*/ 205237 w 304441"/>
              <a:gd name="T65" fmla="*/ 85640 h 296502"/>
              <a:gd name="T66" fmla="*/ 210269 w 304441"/>
              <a:gd name="T67" fmla="*/ 75205 h 296502"/>
              <a:gd name="T68" fmla="*/ 203080 w 304441"/>
              <a:gd name="T69" fmla="*/ 62971 h 296502"/>
              <a:gd name="T70" fmla="*/ 200924 w 304441"/>
              <a:gd name="T71" fmla="*/ 50017 h 296502"/>
              <a:gd name="T72" fmla="*/ 152041 w 304441"/>
              <a:gd name="T73" fmla="*/ 0 h 296502"/>
              <a:gd name="T74" fmla="*/ 210269 w 304441"/>
              <a:gd name="T75" fmla="*/ 55054 h 296502"/>
              <a:gd name="T76" fmla="*/ 212426 w 304441"/>
              <a:gd name="T77" fmla="*/ 92117 h 296502"/>
              <a:gd name="T78" fmla="*/ 182952 w 304441"/>
              <a:gd name="T79" fmla="*/ 130979 h 296502"/>
              <a:gd name="T80" fmla="*/ 202721 w 304441"/>
              <a:gd name="T81" fmla="*/ 148971 h 296502"/>
              <a:gd name="T82" fmla="*/ 235789 w 304441"/>
              <a:gd name="T83" fmla="*/ 160845 h 296502"/>
              <a:gd name="T84" fmla="*/ 278921 w 304441"/>
              <a:gd name="T85" fmla="*/ 187473 h 296502"/>
              <a:gd name="T86" fmla="*/ 282875 w 304441"/>
              <a:gd name="T87" fmla="*/ 215180 h 296502"/>
              <a:gd name="T88" fmla="*/ 302644 w 304441"/>
              <a:gd name="T89" fmla="*/ 212661 h 296502"/>
              <a:gd name="T90" fmla="*/ 304441 w 304441"/>
              <a:gd name="T91" fmla="*/ 291824 h 296502"/>
              <a:gd name="T92" fmla="*/ 295455 w 304441"/>
              <a:gd name="T93" fmla="*/ 291824 h 296502"/>
              <a:gd name="T94" fmla="*/ 157073 w 304441"/>
              <a:gd name="T95" fmla="*/ 248644 h 296502"/>
              <a:gd name="T96" fmla="*/ 152400 w 304441"/>
              <a:gd name="T97" fmla="*/ 296502 h 296502"/>
              <a:gd name="T98" fmla="*/ 147728 w 304441"/>
              <a:gd name="T99" fmla="*/ 248644 h 296502"/>
              <a:gd name="T100" fmla="*/ 9345 w 304441"/>
              <a:gd name="T101" fmla="*/ 291824 h 296502"/>
              <a:gd name="T102" fmla="*/ 0 w 304441"/>
              <a:gd name="T103" fmla="*/ 291824 h 296502"/>
              <a:gd name="T104" fmla="*/ 1437 w 304441"/>
              <a:gd name="T105" fmla="*/ 212661 h 296502"/>
              <a:gd name="T106" fmla="*/ 21566 w 304441"/>
              <a:gd name="T107" fmla="*/ 215180 h 296502"/>
              <a:gd name="T108" fmla="*/ 25520 w 304441"/>
              <a:gd name="T109" fmla="*/ 187473 h 296502"/>
              <a:gd name="T110" fmla="*/ 68652 w 304441"/>
              <a:gd name="T111" fmla="*/ 160845 h 296502"/>
              <a:gd name="T112" fmla="*/ 101720 w 304441"/>
              <a:gd name="T113" fmla="*/ 148971 h 296502"/>
              <a:gd name="T114" fmla="*/ 121129 w 304441"/>
              <a:gd name="T115" fmla="*/ 130979 h 296502"/>
              <a:gd name="T116" fmla="*/ 92015 w 304441"/>
              <a:gd name="T117" fmla="*/ 92117 h 296502"/>
              <a:gd name="T118" fmla="*/ 94171 w 304441"/>
              <a:gd name="T119" fmla="*/ 55054 h 296502"/>
              <a:gd name="T120" fmla="*/ 152041 w 304441"/>
              <a:gd name="T121" fmla="*/ 0 h 296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04441" h="296502">
                <a:moveTo>
                  <a:pt x="265622" y="196109"/>
                </a:moveTo>
                <a:cubicBezTo>
                  <a:pt x="244056" y="196109"/>
                  <a:pt x="198767" y="200787"/>
                  <a:pt x="164262" y="237849"/>
                </a:cubicBezTo>
                <a:lnTo>
                  <a:pt x="169294" y="236770"/>
                </a:lnTo>
                <a:cubicBezTo>
                  <a:pt x="168934" y="236770"/>
                  <a:pt x="168934" y="236770"/>
                  <a:pt x="168934" y="236770"/>
                </a:cubicBezTo>
                <a:lnTo>
                  <a:pt x="268857" y="217339"/>
                </a:lnTo>
                <a:lnTo>
                  <a:pt x="273529" y="216619"/>
                </a:lnTo>
                <a:lnTo>
                  <a:pt x="273529" y="196109"/>
                </a:lnTo>
                <a:cubicBezTo>
                  <a:pt x="271373" y="196109"/>
                  <a:pt x="268497" y="196109"/>
                  <a:pt x="265622" y="196109"/>
                </a:cubicBezTo>
                <a:close/>
                <a:moveTo>
                  <a:pt x="30911" y="196109"/>
                </a:moveTo>
                <a:lnTo>
                  <a:pt x="30911" y="216619"/>
                </a:lnTo>
                <a:lnTo>
                  <a:pt x="32708" y="216979"/>
                </a:lnTo>
                <a:lnTo>
                  <a:pt x="35224" y="217339"/>
                </a:lnTo>
                <a:lnTo>
                  <a:pt x="136226" y="237130"/>
                </a:lnTo>
                <a:lnTo>
                  <a:pt x="140179" y="237849"/>
                </a:lnTo>
                <a:cubicBezTo>
                  <a:pt x="100282" y="195029"/>
                  <a:pt x="46007" y="195389"/>
                  <a:pt x="30911" y="196109"/>
                </a:cubicBezTo>
                <a:close/>
                <a:moveTo>
                  <a:pt x="112144" y="156167"/>
                </a:moveTo>
                <a:cubicBezTo>
                  <a:pt x="109627" y="156527"/>
                  <a:pt x="106752" y="157247"/>
                  <a:pt x="104236" y="157607"/>
                </a:cubicBezTo>
                <a:cubicBezTo>
                  <a:pt x="101001" y="158686"/>
                  <a:pt x="97406" y="159766"/>
                  <a:pt x="93453" y="160845"/>
                </a:cubicBezTo>
                <a:cubicBezTo>
                  <a:pt x="86264" y="163364"/>
                  <a:pt x="79075" y="166243"/>
                  <a:pt x="72605" y="169121"/>
                </a:cubicBezTo>
                <a:cubicBezTo>
                  <a:pt x="61822" y="174519"/>
                  <a:pt x="55712" y="179197"/>
                  <a:pt x="53915" y="187473"/>
                </a:cubicBezTo>
                <a:cubicBezTo>
                  <a:pt x="80513" y="189992"/>
                  <a:pt x="121129" y="200427"/>
                  <a:pt x="152041" y="237490"/>
                </a:cubicBezTo>
                <a:cubicBezTo>
                  <a:pt x="183312" y="200427"/>
                  <a:pt x="223928" y="189992"/>
                  <a:pt x="250885" y="187473"/>
                </a:cubicBezTo>
                <a:cubicBezTo>
                  <a:pt x="248729" y="179197"/>
                  <a:pt x="242618" y="174519"/>
                  <a:pt x="231835" y="169121"/>
                </a:cubicBezTo>
                <a:cubicBezTo>
                  <a:pt x="225365" y="166243"/>
                  <a:pt x="218536" y="163364"/>
                  <a:pt x="210988" y="160845"/>
                </a:cubicBezTo>
                <a:cubicBezTo>
                  <a:pt x="207753" y="159766"/>
                  <a:pt x="204518" y="159046"/>
                  <a:pt x="202002" y="158326"/>
                </a:cubicBezTo>
                <a:lnTo>
                  <a:pt x="200564" y="157967"/>
                </a:lnTo>
                <a:cubicBezTo>
                  <a:pt x="200564" y="157967"/>
                  <a:pt x="200564" y="157967"/>
                  <a:pt x="200205" y="157607"/>
                </a:cubicBezTo>
                <a:cubicBezTo>
                  <a:pt x="197329" y="157247"/>
                  <a:pt x="194813" y="156527"/>
                  <a:pt x="191938" y="156167"/>
                </a:cubicBezTo>
                <a:cubicBezTo>
                  <a:pt x="186187" y="168042"/>
                  <a:pt x="161746" y="175598"/>
                  <a:pt x="153479" y="178117"/>
                </a:cubicBezTo>
                <a:cubicBezTo>
                  <a:pt x="153119" y="178117"/>
                  <a:pt x="152400" y="178117"/>
                  <a:pt x="152041" y="178117"/>
                </a:cubicBezTo>
                <a:cubicBezTo>
                  <a:pt x="151681" y="178117"/>
                  <a:pt x="151322" y="178117"/>
                  <a:pt x="150963" y="178117"/>
                </a:cubicBezTo>
                <a:cubicBezTo>
                  <a:pt x="142696" y="175598"/>
                  <a:pt x="118254" y="168042"/>
                  <a:pt x="112144" y="156167"/>
                </a:cubicBezTo>
                <a:close/>
                <a:moveTo>
                  <a:pt x="129396" y="136736"/>
                </a:moveTo>
                <a:cubicBezTo>
                  <a:pt x="127959" y="141774"/>
                  <a:pt x="125083" y="147172"/>
                  <a:pt x="120770" y="152209"/>
                </a:cubicBezTo>
                <a:cubicBezTo>
                  <a:pt x="123286" y="157247"/>
                  <a:pt x="138023" y="164803"/>
                  <a:pt x="152041" y="168762"/>
                </a:cubicBezTo>
                <a:cubicBezTo>
                  <a:pt x="166059" y="164803"/>
                  <a:pt x="181155" y="157247"/>
                  <a:pt x="183671" y="152209"/>
                </a:cubicBezTo>
                <a:cubicBezTo>
                  <a:pt x="178998" y="147172"/>
                  <a:pt x="176482" y="141774"/>
                  <a:pt x="174685" y="136736"/>
                </a:cubicBezTo>
                <a:cubicBezTo>
                  <a:pt x="167856" y="140335"/>
                  <a:pt x="159948" y="142134"/>
                  <a:pt x="152041" y="142134"/>
                </a:cubicBezTo>
                <a:cubicBezTo>
                  <a:pt x="144493" y="142134"/>
                  <a:pt x="136585" y="140335"/>
                  <a:pt x="129396" y="136736"/>
                </a:cubicBezTo>
                <a:close/>
                <a:moveTo>
                  <a:pt x="179097" y="34884"/>
                </a:moveTo>
                <a:cubicBezTo>
                  <a:pt x="186498" y="35759"/>
                  <a:pt x="192310" y="37683"/>
                  <a:pt x="192855" y="37858"/>
                </a:cubicBezTo>
                <a:cubicBezTo>
                  <a:pt x="195034" y="38907"/>
                  <a:pt x="196487" y="41356"/>
                  <a:pt x="195397" y="43454"/>
                </a:cubicBezTo>
                <a:cubicBezTo>
                  <a:pt x="194671" y="45903"/>
                  <a:pt x="192128" y="47302"/>
                  <a:pt x="189585" y="46602"/>
                </a:cubicBezTo>
                <a:cubicBezTo>
                  <a:pt x="184500" y="44504"/>
                  <a:pt x="169244" y="41006"/>
                  <a:pt x="160889" y="45903"/>
                </a:cubicBezTo>
                <a:cubicBezTo>
                  <a:pt x="155077" y="49051"/>
                  <a:pt x="148539" y="50450"/>
                  <a:pt x="142001" y="50450"/>
                </a:cubicBezTo>
                <a:cubicBezTo>
                  <a:pt x="128198" y="50450"/>
                  <a:pt x="115484" y="45203"/>
                  <a:pt x="114758" y="44853"/>
                </a:cubicBezTo>
                <a:cubicBezTo>
                  <a:pt x="112215" y="44154"/>
                  <a:pt x="111125" y="41356"/>
                  <a:pt x="112215" y="38907"/>
                </a:cubicBezTo>
                <a:cubicBezTo>
                  <a:pt x="113305" y="36458"/>
                  <a:pt x="115847" y="35409"/>
                  <a:pt x="118390" y="36458"/>
                </a:cubicBezTo>
                <a:cubicBezTo>
                  <a:pt x="118390" y="36458"/>
                  <a:pt x="142364" y="46253"/>
                  <a:pt x="155804" y="38207"/>
                </a:cubicBezTo>
                <a:cubicBezTo>
                  <a:pt x="162705" y="34185"/>
                  <a:pt x="171696" y="34010"/>
                  <a:pt x="179097" y="34884"/>
                </a:cubicBezTo>
                <a:close/>
                <a:moveTo>
                  <a:pt x="152041" y="8996"/>
                </a:moveTo>
                <a:cubicBezTo>
                  <a:pt x="105673" y="8996"/>
                  <a:pt x="103517" y="45339"/>
                  <a:pt x="103517" y="49657"/>
                </a:cubicBezTo>
                <a:cubicBezTo>
                  <a:pt x="103517" y="51096"/>
                  <a:pt x="103517" y="58293"/>
                  <a:pt x="103517" y="59372"/>
                </a:cubicBezTo>
                <a:cubicBezTo>
                  <a:pt x="103517" y="60812"/>
                  <a:pt x="102438" y="62251"/>
                  <a:pt x="101360" y="62971"/>
                </a:cubicBezTo>
                <a:cubicBezTo>
                  <a:pt x="100282" y="64050"/>
                  <a:pt x="98844" y="64410"/>
                  <a:pt x="97406" y="64050"/>
                </a:cubicBezTo>
                <a:cubicBezTo>
                  <a:pt x="95609" y="64050"/>
                  <a:pt x="93093" y="68368"/>
                  <a:pt x="93812" y="75205"/>
                </a:cubicBezTo>
                <a:cubicBezTo>
                  <a:pt x="94171" y="80243"/>
                  <a:pt x="96328" y="83841"/>
                  <a:pt x="97766" y="85280"/>
                </a:cubicBezTo>
                <a:cubicBezTo>
                  <a:pt x="98125" y="85280"/>
                  <a:pt x="98844" y="85640"/>
                  <a:pt x="98844" y="85640"/>
                </a:cubicBezTo>
                <a:cubicBezTo>
                  <a:pt x="99563" y="85280"/>
                  <a:pt x="100282" y="85280"/>
                  <a:pt x="101001" y="85280"/>
                </a:cubicBezTo>
                <a:cubicBezTo>
                  <a:pt x="101720" y="85280"/>
                  <a:pt x="102438" y="85280"/>
                  <a:pt x="102798" y="85640"/>
                </a:cubicBezTo>
                <a:cubicBezTo>
                  <a:pt x="104236" y="86360"/>
                  <a:pt x="105314" y="87439"/>
                  <a:pt x="105673" y="88519"/>
                </a:cubicBezTo>
                <a:cubicBezTo>
                  <a:pt x="109627" y="104352"/>
                  <a:pt x="117535" y="117306"/>
                  <a:pt x="128678" y="125222"/>
                </a:cubicBezTo>
                <a:cubicBezTo>
                  <a:pt x="142696" y="135657"/>
                  <a:pt x="161027" y="135657"/>
                  <a:pt x="175404" y="125222"/>
                </a:cubicBezTo>
                <a:cubicBezTo>
                  <a:pt x="186546" y="117306"/>
                  <a:pt x="194813" y="104352"/>
                  <a:pt x="198767" y="88519"/>
                </a:cubicBezTo>
                <a:cubicBezTo>
                  <a:pt x="199127" y="87439"/>
                  <a:pt x="199846" y="86360"/>
                  <a:pt x="200924" y="85640"/>
                </a:cubicBezTo>
                <a:cubicBezTo>
                  <a:pt x="202362" y="84921"/>
                  <a:pt x="203799" y="84921"/>
                  <a:pt x="205237" y="85640"/>
                </a:cubicBezTo>
                <a:cubicBezTo>
                  <a:pt x="205596" y="85640"/>
                  <a:pt x="205956" y="85280"/>
                  <a:pt x="206315" y="85280"/>
                </a:cubicBezTo>
                <a:cubicBezTo>
                  <a:pt x="208113" y="83841"/>
                  <a:pt x="209910" y="80243"/>
                  <a:pt x="210269" y="75205"/>
                </a:cubicBezTo>
                <a:cubicBezTo>
                  <a:pt x="210988" y="68368"/>
                  <a:pt x="208472" y="64050"/>
                  <a:pt x="207394" y="63690"/>
                </a:cubicBezTo>
                <a:cubicBezTo>
                  <a:pt x="205596" y="64050"/>
                  <a:pt x="204159" y="64050"/>
                  <a:pt x="203080" y="62971"/>
                </a:cubicBezTo>
                <a:cubicBezTo>
                  <a:pt x="201643" y="62251"/>
                  <a:pt x="200924" y="60812"/>
                  <a:pt x="200924" y="59372"/>
                </a:cubicBezTo>
                <a:cubicBezTo>
                  <a:pt x="200924" y="57213"/>
                  <a:pt x="200924" y="51816"/>
                  <a:pt x="200924" y="50017"/>
                </a:cubicBezTo>
                <a:cubicBezTo>
                  <a:pt x="200564" y="42820"/>
                  <a:pt x="196611" y="8996"/>
                  <a:pt x="152041" y="8996"/>
                </a:cubicBezTo>
                <a:close/>
                <a:moveTo>
                  <a:pt x="152041" y="0"/>
                </a:moveTo>
                <a:cubicBezTo>
                  <a:pt x="206315" y="0"/>
                  <a:pt x="209910" y="44619"/>
                  <a:pt x="209910" y="49657"/>
                </a:cubicBezTo>
                <a:cubicBezTo>
                  <a:pt x="209910" y="50377"/>
                  <a:pt x="210269" y="52536"/>
                  <a:pt x="210269" y="55054"/>
                </a:cubicBezTo>
                <a:cubicBezTo>
                  <a:pt x="216379" y="57213"/>
                  <a:pt x="220693" y="65490"/>
                  <a:pt x="219614" y="75925"/>
                </a:cubicBezTo>
                <a:cubicBezTo>
                  <a:pt x="218896" y="82762"/>
                  <a:pt x="216379" y="88879"/>
                  <a:pt x="212426" y="92117"/>
                </a:cubicBezTo>
                <a:cubicBezTo>
                  <a:pt x="210269" y="93557"/>
                  <a:pt x="208472" y="94636"/>
                  <a:pt x="206315" y="94996"/>
                </a:cubicBezTo>
                <a:cubicBezTo>
                  <a:pt x="202002" y="110109"/>
                  <a:pt x="193735" y="122703"/>
                  <a:pt x="182952" y="130979"/>
                </a:cubicBezTo>
                <a:cubicBezTo>
                  <a:pt x="184030" y="136017"/>
                  <a:pt x="186187" y="141414"/>
                  <a:pt x="190860" y="146452"/>
                </a:cubicBezTo>
                <a:cubicBezTo>
                  <a:pt x="195173" y="147172"/>
                  <a:pt x="198767" y="147891"/>
                  <a:pt x="202721" y="148971"/>
                </a:cubicBezTo>
                <a:cubicBezTo>
                  <a:pt x="206315" y="149690"/>
                  <a:pt x="209550" y="150770"/>
                  <a:pt x="213863" y="152209"/>
                </a:cubicBezTo>
                <a:cubicBezTo>
                  <a:pt x="221771" y="154728"/>
                  <a:pt x="229319" y="157607"/>
                  <a:pt x="235789" y="160845"/>
                </a:cubicBezTo>
                <a:cubicBezTo>
                  <a:pt x="246572" y="166243"/>
                  <a:pt x="257355" y="172720"/>
                  <a:pt x="259871" y="186753"/>
                </a:cubicBezTo>
                <a:cubicBezTo>
                  <a:pt x="271373" y="186393"/>
                  <a:pt x="278562" y="187473"/>
                  <a:pt x="278921" y="187473"/>
                </a:cubicBezTo>
                <a:cubicBezTo>
                  <a:pt x="281078" y="187833"/>
                  <a:pt x="282875" y="189992"/>
                  <a:pt x="282875" y="191791"/>
                </a:cubicBezTo>
                <a:lnTo>
                  <a:pt x="282875" y="215180"/>
                </a:lnTo>
                <a:lnTo>
                  <a:pt x="299049" y="211942"/>
                </a:lnTo>
                <a:cubicBezTo>
                  <a:pt x="300487" y="211582"/>
                  <a:pt x="301925" y="211942"/>
                  <a:pt x="302644" y="212661"/>
                </a:cubicBezTo>
                <a:cubicBezTo>
                  <a:pt x="304081" y="213381"/>
                  <a:pt x="304441" y="215180"/>
                  <a:pt x="304441" y="216260"/>
                </a:cubicBezTo>
                <a:lnTo>
                  <a:pt x="304441" y="291824"/>
                </a:lnTo>
                <a:cubicBezTo>
                  <a:pt x="304441" y="294343"/>
                  <a:pt x="302644" y="296502"/>
                  <a:pt x="300128" y="296502"/>
                </a:cubicBezTo>
                <a:cubicBezTo>
                  <a:pt x="297252" y="296502"/>
                  <a:pt x="295455" y="294343"/>
                  <a:pt x="295455" y="291824"/>
                </a:cubicBezTo>
                <a:lnTo>
                  <a:pt x="295455" y="222017"/>
                </a:lnTo>
                <a:lnTo>
                  <a:pt x="157073" y="248644"/>
                </a:lnTo>
                <a:lnTo>
                  <a:pt x="157073" y="291824"/>
                </a:lnTo>
                <a:cubicBezTo>
                  <a:pt x="157073" y="294343"/>
                  <a:pt x="154916" y="296502"/>
                  <a:pt x="152400" y="296502"/>
                </a:cubicBezTo>
                <a:cubicBezTo>
                  <a:pt x="149884" y="296502"/>
                  <a:pt x="147728" y="294343"/>
                  <a:pt x="147728" y="291824"/>
                </a:cubicBezTo>
                <a:lnTo>
                  <a:pt x="147728" y="248644"/>
                </a:lnTo>
                <a:lnTo>
                  <a:pt x="9345" y="222017"/>
                </a:lnTo>
                <a:lnTo>
                  <a:pt x="9345" y="291824"/>
                </a:lnTo>
                <a:cubicBezTo>
                  <a:pt x="9345" y="294343"/>
                  <a:pt x="7188" y="296502"/>
                  <a:pt x="4672" y="296502"/>
                </a:cubicBezTo>
                <a:cubicBezTo>
                  <a:pt x="2156" y="296502"/>
                  <a:pt x="0" y="294343"/>
                  <a:pt x="0" y="291824"/>
                </a:cubicBezTo>
                <a:lnTo>
                  <a:pt x="0" y="216260"/>
                </a:lnTo>
                <a:cubicBezTo>
                  <a:pt x="0" y="215180"/>
                  <a:pt x="359" y="213381"/>
                  <a:pt x="1437" y="212661"/>
                </a:cubicBezTo>
                <a:cubicBezTo>
                  <a:pt x="2875" y="211942"/>
                  <a:pt x="3954" y="211582"/>
                  <a:pt x="5391" y="211942"/>
                </a:cubicBezTo>
                <a:lnTo>
                  <a:pt x="21566" y="215180"/>
                </a:lnTo>
                <a:lnTo>
                  <a:pt x="21566" y="191791"/>
                </a:lnTo>
                <a:cubicBezTo>
                  <a:pt x="21566" y="189992"/>
                  <a:pt x="23363" y="187833"/>
                  <a:pt x="25520" y="187473"/>
                </a:cubicBezTo>
                <a:cubicBezTo>
                  <a:pt x="25879" y="187473"/>
                  <a:pt x="33068" y="186393"/>
                  <a:pt x="44570" y="186753"/>
                </a:cubicBezTo>
                <a:cubicBezTo>
                  <a:pt x="47086" y="172720"/>
                  <a:pt x="57869" y="166243"/>
                  <a:pt x="68652" y="160845"/>
                </a:cubicBezTo>
                <a:cubicBezTo>
                  <a:pt x="75481" y="157607"/>
                  <a:pt x="82670" y="154728"/>
                  <a:pt x="90577" y="152209"/>
                </a:cubicBezTo>
                <a:cubicBezTo>
                  <a:pt x="94890" y="150770"/>
                  <a:pt x="98125" y="149690"/>
                  <a:pt x="101720" y="148971"/>
                </a:cubicBezTo>
                <a:cubicBezTo>
                  <a:pt x="105673" y="147891"/>
                  <a:pt x="109627" y="147172"/>
                  <a:pt x="113222" y="146452"/>
                </a:cubicBezTo>
                <a:cubicBezTo>
                  <a:pt x="117895" y="141414"/>
                  <a:pt x="120411" y="136017"/>
                  <a:pt x="121129" y="130979"/>
                </a:cubicBezTo>
                <a:cubicBezTo>
                  <a:pt x="110705" y="122703"/>
                  <a:pt x="102438" y="110109"/>
                  <a:pt x="97766" y="94996"/>
                </a:cubicBezTo>
                <a:cubicBezTo>
                  <a:pt x="95609" y="94636"/>
                  <a:pt x="93812" y="93557"/>
                  <a:pt x="92015" y="92117"/>
                </a:cubicBezTo>
                <a:cubicBezTo>
                  <a:pt x="88061" y="88879"/>
                  <a:pt x="85186" y="82762"/>
                  <a:pt x="84467" y="75925"/>
                </a:cubicBezTo>
                <a:cubicBezTo>
                  <a:pt x="83748" y="65490"/>
                  <a:pt x="87702" y="57213"/>
                  <a:pt x="94171" y="55054"/>
                </a:cubicBezTo>
                <a:cubicBezTo>
                  <a:pt x="94171" y="52536"/>
                  <a:pt x="94171" y="50017"/>
                  <a:pt x="94171" y="49657"/>
                </a:cubicBezTo>
                <a:cubicBezTo>
                  <a:pt x="94171" y="47498"/>
                  <a:pt x="95969" y="0"/>
                  <a:pt x="15204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2" name="Freeform 985">
            <a:extLst>
              <a:ext uri="{FF2B5EF4-FFF2-40B4-BE49-F238E27FC236}">
                <a16:creationId xmlns:a16="http://schemas.microsoft.com/office/drawing/2014/main" id="{B95EDE7A-8855-BF48-B06D-D0ED83CF3A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83190" y="5232809"/>
            <a:ext cx="430679" cy="432000"/>
          </a:xfrm>
          <a:custGeom>
            <a:avLst/>
            <a:gdLst>
              <a:gd name="T0" fmla="*/ 74375 w 285390"/>
              <a:gd name="T1" fmla="*/ 702243 h 285738"/>
              <a:gd name="T2" fmla="*/ 853881 w 285390"/>
              <a:gd name="T3" fmla="*/ 670913 h 285738"/>
              <a:gd name="T4" fmla="*/ 668777 w 285390"/>
              <a:gd name="T5" fmla="*/ 757670 h 285738"/>
              <a:gd name="T6" fmla="*/ 845519 w 285390"/>
              <a:gd name="T7" fmla="*/ 708936 h 285738"/>
              <a:gd name="T8" fmla="*/ 149282 w 285390"/>
              <a:gd name="T9" fmla="*/ 641193 h 285738"/>
              <a:gd name="T10" fmla="*/ 918369 w 285390"/>
              <a:gd name="T11" fmla="*/ 733885 h 285738"/>
              <a:gd name="T12" fmla="*/ 622200 w 285390"/>
              <a:gd name="T13" fmla="*/ 809948 h 285738"/>
              <a:gd name="T14" fmla="*/ 380964 w 285390"/>
              <a:gd name="T15" fmla="*/ 798065 h 285738"/>
              <a:gd name="T16" fmla="*/ 613840 w 285390"/>
              <a:gd name="T17" fmla="*/ 783809 h 285738"/>
              <a:gd name="T18" fmla="*/ 601895 w 285390"/>
              <a:gd name="T19" fmla="*/ 707746 h 285738"/>
              <a:gd name="T20" fmla="*/ 28663 w 285390"/>
              <a:gd name="T21" fmla="*/ 641193 h 285738"/>
              <a:gd name="T22" fmla="*/ 120620 w 285390"/>
              <a:gd name="T23" fmla="*/ 641193 h 285738"/>
              <a:gd name="T24" fmla="*/ 506434 w 285390"/>
              <a:gd name="T25" fmla="*/ 590240 h 285738"/>
              <a:gd name="T26" fmla="*/ 464652 w 285390"/>
              <a:gd name="T27" fmla="*/ 612686 h 285738"/>
              <a:gd name="T28" fmla="*/ 605716 w 285390"/>
              <a:gd name="T29" fmla="*/ 552200 h 285738"/>
              <a:gd name="T30" fmla="*/ 591923 w 285390"/>
              <a:gd name="T31" fmla="*/ 596575 h 285738"/>
              <a:gd name="T32" fmla="*/ 578130 w 285390"/>
              <a:gd name="T33" fmla="*/ 572671 h 285738"/>
              <a:gd name="T34" fmla="*/ 391871 w 285390"/>
              <a:gd name="T35" fmla="*/ 524600 h 285738"/>
              <a:gd name="T36" fmla="*/ 403691 w 285390"/>
              <a:gd name="T37" fmla="*/ 576717 h 285738"/>
              <a:gd name="T38" fmla="*/ 372945 w 285390"/>
              <a:gd name="T39" fmla="*/ 519863 h 285738"/>
              <a:gd name="T40" fmla="*/ 672186 w 285390"/>
              <a:gd name="T41" fmla="*/ 498148 h 285738"/>
              <a:gd name="T42" fmla="*/ 643915 w 285390"/>
              <a:gd name="T43" fmla="*/ 491112 h 285738"/>
              <a:gd name="T44" fmla="*/ 365767 w 285390"/>
              <a:gd name="T45" fmla="*/ 402434 h 285738"/>
              <a:gd name="T46" fmla="*/ 357163 w 285390"/>
              <a:gd name="T47" fmla="*/ 472030 h 285738"/>
              <a:gd name="T48" fmla="*/ 365767 w 285390"/>
              <a:gd name="T49" fmla="*/ 402434 h 285738"/>
              <a:gd name="T50" fmla="*/ 522031 w 285390"/>
              <a:gd name="T51" fmla="*/ 370193 h 285738"/>
              <a:gd name="T52" fmla="*/ 531550 w 285390"/>
              <a:gd name="T53" fmla="*/ 411669 h 285738"/>
              <a:gd name="T54" fmla="*/ 507762 w 285390"/>
              <a:gd name="T55" fmla="*/ 440128 h 285738"/>
              <a:gd name="T56" fmla="*/ 522031 w 285390"/>
              <a:gd name="T57" fmla="*/ 546800 h 285738"/>
              <a:gd name="T58" fmla="*/ 493488 w 285390"/>
              <a:gd name="T59" fmla="*/ 538507 h 285738"/>
              <a:gd name="T60" fmla="*/ 483966 w 285390"/>
              <a:gd name="T61" fmla="*/ 498197 h 285738"/>
              <a:gd name="T62" fmla="*/ 507762 w 285390"/>
              <a:gd name="T63" fmla="*/ 468571 h 285738"/>
              <a:gd name="T64" fmla="*/ 493488 w 285390"/>
              <a:gd name="T65" fmla="*/ 363084 h 285738"/>
              <a:gd name="T66" fmla="*/ 627103 w 285390"/>
              <a:gd name="T67" fmla="*/ 337884 h 285738"/>
              <a:gd name="T68" fmla="*/ 641587 w 285390"/>
              <a:gd name="T69" fmla="*/ 393574 h 285738"/>
              <a:gd name="T70" fmla="*/ 605370 w 285390"/>
              <a:gd name="T71" fmla="*/ 337884 h 285738"/>
              <a:gd name="T72" fmla="*/ 437233 w 285390"/>
              <a:gd name="T73" fmla="*/ 335191 h 285738"/>
              <a:gd name="T74" fmla="*/ 390410 w 285390"/>
              <a:gd name="T75" fmla="*/ 358473 h 285738"/>
              <a:gd name="T76" fmla="*/ 507952 w 285390"/>
              <a:gd name="T77" fmla="*/ 290111 h 285738"/>
              <a:gd name="T78" fmla="*/ 560182 w 285390"/>
              <a:gd name="T79" fmla="*/ 313303 h 285738"/>
              <a:gd name="T80" fmla="*/ 509118 w 285390"/>
              <a:gd name="T81" fmla="*/ 319406 h 285738"/>
              <a:gd name="T82" fmla="*/ 414404 w 285390"/>
              <a:gd name="T83" fmla="*/ 201486 h 285738"/>
              <a:gd name="T84" fmla="*/ 421564 w 285390"/>
              <a:gd name="T85" fmla="*/ 653072 h 285738"/>
              <a:gd name="T86" fmla="*/ 658025 w 285390"/>
              <a:gd name="T87" fmla="*/ 708936 h 285738"/>
              <a:gd name="T88" fmla="*/ 794169 w 285390"/>
              <a:gd name="T89" fmla="*/ 565129 h 285738"/>
              <a:gd name="T90" fmla="*/ 414404 w 285390"/>
              <a:gd name="T91" fmla="*/ 201486 h 285738"/>
              <a:gd name="T92" fmla="*/ 379769 w 285390"/>
              <a:gd name="T93" fmla="*/ 54117 h 285738"/>
              <a:gd name="T94" fmla="*/ 455005 w 285390"/>
              <a:gd name="T95" fmla="*/ 117087 h 285738"/>
              <a:gd name="T96" fmla="*/ 495608 w 285390"/>
              <a:gd name="T97" fmla="*/ 202672 h 285738"/>
              <a:gd name="T98" fmla="*/ 539793 w 285390"/>
              <a:gd name="T99" fmla="*/ 113525 h 285738"/>
              <a:gd name="T100" fmla="*/ 557708 w 285390"/>
              <a:gd name="T101" fmla="*/ 196730 h 285738"/>
              <a:gd name="T102" fmla="*/ 638916 w 285390"/>
              <a:gd name="T103" fmla="*/ 32710 h 285738"/>
              <a:gd name="T104" fmla="*/ 465751 w 285390"/>
              <a:gd name="T105" fmla="*/ 51741 h 285738"/>
              <a:gd name="T106" fmla="*/ 474110 w 285390"/>
              <a:gd name="T107" fmla="*/ 25582 h 285738"/>
              <a:gd name="T108" fmla="*/ 660415 w 285390"/>
              <a:gd name="T109" fmla="*/ 13698 h 285738"/>
              <a:gd name="T110" fmla="*/ 822832 w 285390"/>
              <a:gd name="T111" fmla="*/ 565129 h 285738"/>
              <a:gd name="T112" fmla="*/ 890905 w 285390"/>
              <a:gd name="T113" fmla="*/ 681606 h 285738"/>
              <a:gd name="T114" fmla="*/ 947028 w 285390"/>
              <a:gd name="T115" fmla="*/ 735075 h 285738"/>
              <a:gd name="T116" fmla="*/ 132565 w 285390"/>
              <a:gd name="T117" fmla="*/ 897886 h 285738"/>
              <a:gd name="T118" fmla="*/ 0 w 285390"/>
              <a:gd name="T119" fmla="*/ 626933 h 285738"/>
              <a:gd name="T120" fmla="*/ 192271 w 285390"/>
              <a:gd name="T121" fmla="*/ 612677 h 285738"/>
              <a:gd name="T122" fmla="*/ 353496 w 285390"/>
              <a:gd name="T123" fmla="*/ 63622 h 2857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85390" h="285738">
                <a:moveTo>
                  <a:pt x="22415" y="203898"/>
                </a:moveTo>
                <a:cubicBezTo>
                  <a:pt x="24701" y="203898"/>
                  <a:pt x="26606" y="206184"/>
                  <a:pt x="26606" y="208470"/>
                </a:cubicBezTo>
                <a:cubicBezTo>
                  <a:pt x="26606" y="211137"/>
                  <a:pt x="24701" y="213042"/>
                  <a:pt x="22415" y="213042"/>
                </a:cubicBezTo>
                <a:cubicBezTo>
                  <a:pt x="19367" y="213042"/>
                  <a:pt x="17462" y="211137"/>
                  <a:pt x="17462" y="208470"/>
                </a:cubicBezTo>
                <a:cubicBezTo>
                  <a:pt x="17462" y="206184"/>
                  <a:pt x="19367" y="203898"/>
                  <a:pt x="22415" y="203898"/>
                </a:cubicBezTo>
                <a:close/>
                <a:moveTo>
                  <a:pt x="257319" y="203535"/>
                </a:moveTo>
                <a:cubicBezTo>
                  <a:pt x="255160" y="202093"/>
                  <a:pt x="244363" y="206780"/>
                  <a:pt x="236446" y="210025"/>
                </a:cubicBezTo>
                <a:cubicBezTo>
                  <a:pt x="226729" y="214352"/>
                  <a:pt x="214853" y="219039"/>
                  <a:pt x="201177" y="223365"/>
                </a:cubicBezTo>
                <a:cubicBezTo>
                  <a:pt x="201537" y="225528"/>
                  <a:pt x="201537" y="227331"/>
                  <a:pt x="201537" y="229855"/>
                </a:cubicBezTo>
                <a:cubicBezTo>
                  <a:pt x="201177" y="230936"/>
                  <a:pt x="201177" y="232739"/>
                  <a:pt x="200817" y="234181"/>
                </a:cubicBezTo>
                <a:cubicBezTo>
                  <a:pt x="223850" y="228413"/>
                  <a:pt x="240405" y="221202"/>
                  <a:pt x="251921" y="216154"/>
                </a:cubicBezTo>
                <a:cubicBezTo>
                  <a:pt x="253001" y="215794"/>
                  <a:pt x="254080" y="215433"/>
                  <a:pt x="254800" y="215073"/>
                </a:cubicBezTo>
                <a:cubicBezTo>
                  <a:pt x="258039" y="212188"/>
                  <a:pt x="259838" y="208944"/>
                  <a:pt x="259838" y="207141"/>
                </a:cubicBezTo>
                <a:cubicBezTo>
                  <a:pt x="259838" y="206420"/>
                  <a:pt x="259838" y="204978"/>
                  <a:pt x="257319" y="203535"/>
                </a:cubicBezTo>
                <a:close/>
                <a:moveTo>
                  <a:pt x="44986" y="194522"/>
                </a:moveTo>
                <a:lnTo>
                  <a:pt x="44986" y="264827"/>
                </a:lnTo>
                <a:cubicBezTo>
                  <a:pt x="64780" y="270956"/>
                  <a:pt x="181383" y="301963"/>
                  <a:pt x="269555" y="231658"/>
                </a:cubicBezTo>
                <a:cubicBezTo>
                  <a:pt x="271355" y="230576"/>
                  <a:pt x="276753" y="226249"/>
                  <a:pt x="276753" y="222644"/>
                </a:cubicBezTo>
                <a:cubicBezTo>
                  <a:pt x="276753" y="221562"/>
                  <a:pt x="276753" y="220120"/>
                  <a:pt x="274594" y="218318"/>
                </a:cubicBezTo>
                <a:cubicBezTo>
                  <a:pt x="272434" y="216875"/>
                  <a:pt x="264157" y="220481"/>
                  <a:pt x="255160" y="224447"/>
                </a:cubicBezTo>
                <a:cubicBezTo>
                  <a:pt x="241124" y="230215"/>
                  <a:pt x="219171" y="239589"/>
                  <a:pt x="187501" y="245719"/>
                </a:cubicBezTo>
                <a:cubicBezTo>
                  <a:pt x="180303" y="248603"/>
                  <a:pt x="169867" y="250045"/>
                  <a:pt x="157271" y="250045"/>
                </a:cubicBezTo>
                <a:cubicBezTo>
                  <a:pt x="146474" y="250045"/>
                  <a:pt x="133518" y="248963"/>
                  <a:pt x="118763" y="247161"/>
                </a:cubicBezTo>
                <a:cubicBezTo>
                  <a:pt x="116244" y="246800"/>
                  <a:pt x="114444" y="244637"/>
                  <a:pt x="114804" y="242113"/>
                </a:cubicBezTo>
                <a:cubicBezTo>
                  <a:pt x="115164" y="239950"/>
                  <a:pt x="117323" y="238147"/>
                  <a:pt x="119843" y="238508"/>
                </a:cubicBezTo>
                <a:cubicBezTo>
                  <a:pt x="158710" y="243555"/>
                  <a:pt x="176705" y="240671"/>
                  <a:pt x="184622" y="237787"/>
                </a:cubicBezTo>
                <a:lnTo>
                  <a:pt x="184982" y="237787"/>
                </a:lnTo>
                <a:cubicBezTo>
                  <a:pt x="192540" y="234542"/>
                  <a:pt x="192899" y="230576"/>
                  <a:pt x="192899" y="229494"/>
                </a:cubicBezTo>
                <a:cubicBezTo>
                  <a:pt x="193259" y="224086"/>
                  <a:pt x="192180" y="220120"/>
                  <a:pt x="189661" y="217957"/>
                </a:cubicBezTo>
                <a:cubicBezTo>
                  <a:pt x="186422" y="214712"/>
                  <a:pt x="181383" y="214712"/>
                  <a:pt x="181383" y="214712"/>
                </a:cubicBezTo>
                <a:cubicBezTo>
                  <a:pt x="139276" y="215433"/>
                  <a:pt x="131359" y="211107"/>
                  <a:pt x="122362" y="205699"/>
                </a:cubicBezTo>
                <a:cubicBezTo>
                  <a:pt x="113724" y="200651"/>
                  <a:pt x="104007" y="194522"/>
                  <a:pt x="44986" y="194522"/>
                </a:cubicBezTo>
                <a:close/>
                <a:moveTo>
                  <a:pt x="8637" y="194522"/>
                </a:moveTo>
                <a:lnTo>
                  <a:pt x="8637" y="263746"/>
                </a:lnTo>
                <a:lnTo>
                  <a:pt x="36349" y="263746"/>
                </a:lnTo>
                <a:lnTo>
                  <a:pt x="36349" y="194522"/>
                </a:lnTo>
                <a:lnTo>
                  <a:pt x="8637" y="194522"/>
                </a:lnTo>
                <a:close/>
                <a:moveTo>
                  <a:pt x="142122" y="177627"/>
                </a:moveTo>
                <a:cubicBezTo>
                  <a:pt x="145620" y="178344"/>
                  <a:pt x="149117" y="179061"/>
                  <a:pt x="152615" y="179061"/>
                </a:cubicBezTo>
                <a:cubicBezTo>
                  <a:pt x="155064" y="179061"/>
                  <a:pt x="156812" y="180853"/>
                  <a:pt x="156812" y="183363"/>
                </a:cubicBezTo>
                <a:cubicBezTo>
                  <a:pt x="156812" y="185513"/>
                  <a:pt x="155064" y="187664"/>
                  <a:pt x="152615" y="187664"/>
                </a:cubicBezTo>
                <a:cubicBezTo>
                  <a:pt x="148418" y="187664"/>
                  <a:pt x="144220" y="186947"/>
                  <a:pt x="140023" y="185872"/>
                </a:cubicBezTo>
                <a:cubicBezTo>
                  <a:pt x="137924" y="185513"/>
                  <a:pt x="136525" y="183004"/>
                  <a:pt x="136875" y="180853"/>
                </a:cubicBezTo>
                <a:cubicBezTo>
                  <a:pt x="137575" y="178344"/>
                  <a:pt x="140023" y="176910"/>
                  <a:pt x="142122" y="177627"/>
                </a:cubicBezTo>
                <a:close/>
                <a:moveTo>
                  <a:pt x="182534" y="167523"/>
                </a:moveTo>
                <a:cubicBezTo>
                  <a:pt x="184266" y="165798"/>
                  <a:pt x="186690" y="165798"/>
                  <a:pt x="188422" y="167523"/>
                </a:cubicBezTo>
                <a:cubicBezTo>
                  <a:pt x="190154" y="169249"/>
                  <a:pt x="190154" y="171665"/>
                  <a:pt x="188422" y="173390"/>
                </a:cubicBezTo>
                <a:cubicBezTo>
                  <a:pt x="185651" y="176151"/>
                  <a:pt x="182188" y="178912"/>
                  <a:pt x="178378" y="180983"/>
                </a:cubicBezTo>
                <a:cubicBezTo>
                  <a:pt x="178031" y="181328"/>
                  <a:pt x="176992" y="181328"/>
                  <a:pt x="176299" y="181328"/>
                </a:cubicBezTo>
                <a:cubicBezTo>
                  <a:pt x="174914" y="181328"/>
                  <a:pt x="173528" y="180983"/>
                  <a:pt x="172836" y="179602"/>
                </a:cubicBezTo>
                <a:cubicBezTo>
                  <a:pt x="171450" y="177532"/>
                  <a:pt x="172489" y="175116"/>
                  <a:pt x="174221" y="173735"/>
                </a:cubicBezTo>
                <a:cubicBezTo>
                  <a:pt x="177338" y="172010"/>
                  <a:pt x="180109" y="169939"/>
                  <a:pt x="182534" y="167523"/>
                </a:cubicBezTo>
                <a:close/>
                <a:moveTo>
                  <a:pt x="112388" y="157711"/>
                </a:moveTo>
                <a:cubicBezTo>
                  <a:pt x="114527" y="156273"/>
                  <a:pt x="117378" y="156992"/>
                  <a:pt x="118091" y="159148"/>
                </a:cubicBezTo>
                <a:cubicBezTo>
                  <a:pt x="120229" y="162383"/>
                  <a:pt x="122367" y="165259"/>
                  <a:pt x="124862" y="167775"/>
                </a:cubicBezTo>
                <a:cubicBezTo>
                  <a:pt x="126644" y="169572"/>
                  <a:pt x="126644" y="172088"/>
                  <a:pt x="124862" y="173885"/>
                </a:cubicBezTo>
                <a:cubicBezTo>
                  <a:pt x="124149" y="174604"/>
                  <a:pt x="123080" y="174963"/>
                  <a:pt x="121654" y="174963"/>
                </a:cubicBezTo>
                <a:cubicBezTo>
                  <a:pt x="120942" y="174963"/>
                  <a:pt x="119872" y="174604"/>
                  <a:pt x="118803" y="173885"/>
                </a:cubicBezTo>
                <a:cubicBezTo>
                  <a:pt x="115596" y="170650"/>
                  <a:pt x="113101" y="167415"/>
                  <a:pt x="110963" y="163462"/>
                </a:cubicBezTo>
                <a:cubicBezTo>
                  <a:pt x="109537" y="161305"/>
                  <a:pt x="110606" y="158789"/>
                  <a:pt x="112388" y="157711"/>
                </a:cubicBezTo>
                <a:close/>
                <a:moveTo>
                  <a:pt x="200342" y="134048"/>
                </a:moveTo>
                <a:cubicBezTo>
                  <a:pt x="202565" y="134048"/>
                  <a:pt x="204417" y="135827"/>
                  <a:pt x="204417" y="138318"/>
                </a:cubicBezTo>
                <a:cubicBezTo>
                  <a:pt x="204417" y="142943"/>
                  <a:pt x="204046" y="147213"/>
                  <a:pt x="202565" y="151127"/>
                </a:cubicBezTo>
                <a:cubicBezTo>
                  <a:pt x="202194" y="152906"/>
                  <a:pt x="200342" y="154329"/>
                  <a:pt x="198490" y="154329"/>
                </a:cubicBezTo>
                <a:cubicBezTo>
                  <a:pt x="198120" y="154329"/>
                  <a:pt x="197750" y="153973"/>
                  <a:pt x="197379" y="153973"/>
                </a:cubicBezTo>
                <a:cubicBezTo>
                  <a:pt x="194786" y="153262"/>
                  <a:pt x="193675" y="151127"/>
                  <a:pt x="194046" y="148992"/>
                </a:cubicBezTo>
                <a:cubicBezTo>
                  <a:pt x="195157" y="145790"/>
                  <a:pt x="195527" y="142232"/>
                  <a:pt x="195527" y="138673"/>
                </a:cubicBezTo>
                <a:cubicBezTo>
                  <a:pt x="195527" y="136183"/>
                  <a:pt x="197379" y="134048"/>
                  <a:pt x="200342" y="134048"/>
                </a:cubicBezTo>
                <a:close/>
                <a:moveTo>
                  <a:pt x="110225" y="122089"/>
                </a:moveTo>
                <a:cubicBezTo>
                  <a:pt x="112448" y="122830"/>
                  <a:pt x="113930" y="125052"/>
                  <a:pt x="113559" y="127645"/>
                </a:cubicBezTo>
                <a:cubicBezTo>
                  <a:pt x="112448" y="131349"/>
                  <a:pt x="112078" y="135053"/>
                  <a:pt x="112078" y="138757"/>
                </a:cubicBezTo>
                <a:cubicBezTo>
                  <a:pt x="112078" y="140980"/>
                  <a:pt x="109855" y="143202"/>
                  <a:pt x="107632" y="143202"/>
                </a:cubicBezTo>
                <a:cubicBezTo>
                  <a:pt x="105410" y="143202"/>
                  <a:pt x="103187" y="141350"/>
                  <a:pt x="103187" y="138757"/>
                </a:cubicBezTo>
                <a:cubicBezTo>
                  <a:pt x="103187" y="133942"/>
                  <a:pt x="103558" y="129867"/>
                  <a:pt x="104669" y="125422"/>
                </a:cubicBezTo>
                <a:cubicBezTo>
                  <a:pt x="105410" y="123200"/>
                  <a:pt x="107632" y="121348"/>
                  <a:pt x="110225" y="122089"/>
                </a:cubicBezTo>
                <a:close/>
                <a:moveTo>
                  <a:pt x="153015" y="105473"/>
                </a:moveTo>
                <a:cubicBezTo>
                  <a:pt x="155524" y="105473"/>
                  <a:pt x="157316" y="107630"/>
                  <a:pt x="157316" y="110148"/>
                </a:cubicBezTo>
                <a:lnTo>
                  <a:pt x="157316" y="112305"/>
                </a:lnTo>
                <a:cubicBezTo>
                  <a:pt x="162335" y="113384"/>
                  <a:pt x="166636" y="116620"/>
                  <a:pt x="168428" y="121295"/>
                </a:cubicBezTo>
                <a:cubicBezTo>
                  <a:pt x="169145" y="123453"/>
                  <a:pt x="168070" y="125970"/>
                  <a:pt x="165919" y="127049"/>
                </a:cubicBezTo>
                <a:cubicBezTo>
                  <a:pt x="163768" y="127768"/>
                  <a:pt x="161259" y="127049"/>
                  <a:pt x="160184" y="124891"/>
                </a:cubicBezTo>
                <a:cubicBezTo>
                  <a:pt x="159467" y="122014"/>
                  <a:pt x="156241" y="120216"/>
                  <a:pt x="153015" y="120216"/>
                </a:cubicBezTo>
                <a:cubicBezTo>
                  <a:pt x="148713" y="120216"/>
                  <a:pt x="145128" y="123453"/>
                  <a:pt x="145128" y="127049"/>
                </a:cubicBezTo>
                <a:cubicBezTo>
                  <a:pt x="145128" y="131364"/>
                  <a:pt x="147638" y="133521"/>
                  <a:pt x="153015" y="133521"/>
                </a:cubicBezTo>
                <a:cubicBezTo>
                  <a:pt x="163051" y="133521"/>
                  <a:pt x="169504" y="139635"/>
                  <a:pt x="169504" y="148624"/>
                </a:cubicBezTo>
                <a:cubicBezTo>
                  <a:pt x="169504" y="155816"/>
                  <a:pt x="164485" y="161570"/>
                  <a:pt x="157316" y="163368"/>
                </a:cubicBezTo>
                <a:lnTo>
                  <a:pt x="157316" y="165885"/>
                </a:lnTo>
                <a:cubicBezTo>
                  <a:pt x="157316" y="168043"/>
                  <a:pt x="155524" y="170200"/>
                  <a:pt x="153015" y="170200"/>
                </a:cubicBezTo>
                <a:cubicBezTo>
                  <a:pt x="150505" y="170200"/>
                  <a:pt x="148713" y="168043"/>
                  <a:pt x="148713" y="165885"/>
                </a:cubicBezTo>
                <a:lnTo>
                  <a:pt x="148713" y="163368"/>
                </a:lnTo>
                <a:cubicBezTo>
                  <a:pt x="143694" y="162289"/>
                  <a:pt x="139751" y="159053"/>
                  <a:pt x="137959" y="154378"/>
                </a:cubicBezTo>
                <a:cubicBezTo>
                  <a:pt x="136884" y="152220"/>
                  <a:pt x="137959" y="149344"/>
                  <a:pt x="140110" y="148624"/>
                </a:cubicBezTo>
                <a:cubicBezTo>
                  <a:pt x="142261" y="147546"/>
                  <a:pt x="144770" y="148624"/>
                  <a:pt x="145845" y="151142"/>
                </a:cubicBezTo>
                <a:cubicBezTo>
                  <a:pt x="146921" y="153659"/>
                  <a:pt x="149788" y="155457"/>
                  <a:pt x="153015" y="155457"/>
                </a:cubicBezTo>
                <a:cubicBezTo>
                  <a:pt x="157316" y="155457"/>
                  <a:pt x="160901" y="152220"/>
                  <a:pt x="160901" y="148624"/>
                </a:cubicBezTo>
                <a:cubicBezTo>
                  <a:pt x="160901" y="144669"/>
                  <a:pt x="158391" y="142152"/>
                  <a:pt x="153015" y="142152"/>
                </a:cubicBezTo>
                <a:cubicBezTo>
                  <a:pt x="142978" y="142152"/>
                  <a:pt x="136525" y="136398"/>
                  <a:pt x="136525" y="127049"/>
                </a:cubicBezTo>
                <a:cubicBezTo>
                  <a:pt x="136525" y="119857"/>
                  <a:pt x="141902" y="114103"/>
                  <a:pt x="148713" y="112305"/>
                </a:cubicBezTo>
                <a:lnTo>
                  <a:pt x="148713" y="110148"/>
                </a:lnTo>
                <a:cubicBezTo>
                  <a:pt x="148713" y="107630"/>
                  <a:pt x="150505" y="105473"/>
                  <a:pt x="153015" y="105473"/>
                </a:cubicBezTo>
                <a:close/>
                <a:moveTo>
                  <a:pt x="182430" y="102507"/>
                </a:moveTo>
                <a:cubicBezTo>
                  <a:pt x="184249" y="100710"/>
                  <a:pt x="187160" y="100710"/>
                  <a:pt x="188979" y="102507"/>
                </a:cubicBezTo>
                <a:cubicBezTo>
                  <a:pt x="191889" y="105383"/>
                  <a:pt x="194799" y="108977"/>
                  <a:pt x="196982" y="112931"/>
                </a:cubicBezTo>
                <a:cubicBezTo>
                  <a:pt x="198073" y="114728"/>
                  <a:pt x="197710" y="117244"/>
                  <a:pt x="195527" y="118682"/>
                </a:cubicBezTo>
                <a:cubicBezTo>
                  <a:pt x="194799" y="119041"/>
                  <a:pt x="194072" y="119400"/>
                  <a:pt x="193344" y="119400"/>
                </a:cubicBezTo>
                <a:cubicBezTo>
                  <a:pt x="191889" y="119400"/>
                  <a:pt x="190434" y="118682"/>
                  <a:pt x="189342" y="116884"/>
                </a:cubicBezTo>
                <a:cubicBezTo>
                  <a:pt x="187523" y="114009"/>
                  <a:pt x="185341" y="111133"/>
                  <a:pt x="182430" y="108617"/>
                </a:cubicBezTo>
                <a:cubicBezTo>
                  <a:pt x="180975" y="106820"/>
                  <a:pt x="180975" y="104304"/>
                  <a:pt x="182430" y="102507"/>
                </a:cubicBezTo>
                <a:close/>
                <a:moveTo>
                  <a:pt x="127529" y="93887"/>
                </a:moveTo>
                <a:cubicBezTo>
                  <a:pt x="129646" y="92773"/>
                  <a:pt x="132115" y="93516"/>
                  <a:pt x="133526" y="95745"/>
                </a:cubicBezTo>
                <a:cubicBezTo>
                  <a:pt x="134584" y="97974"/>
                  <a:pt x="133879" y="100575"/>
                  <a:pt x="131762" y="101690"/>
                </a:cubicBezTo>
                <a:cubicBezTo>
                  <a:pt x="128940" y="103547"/>
                  <a:pt x="126118" y="105776"/>
                  <a:pt x="123648" y="108749"/>
                </a:cubicBezTo>
                <a:cubicBezTo>
                  <a:pt x="122590" y="109492"/>
                  <a:pt x="121532" y="109863"/>
                  <a:pt x="120473" y="109863"/>
                </a:cubicBezTo>
                <a:cubicBezTo>
                  <a:pt x="119415" y="109863"/>
                  <a:pt x="118357" y="109492"/>
                  <a:pt x="117651" y="108749"/>
                </a:cubicBezTo>
                <a:cubicBezTo>
                  <a:pt x="115887" y="106891"/>
                  <a:pt x="115887" y="104290"/>
                  <a:pt x="117651" y="102433"/>
                </a:cubicBezTo>
                <a:cubicBezTo>
                  <a:pt x="120473" y="99089"/>
                  <a:pt x="124001" y="96488"/>
                  <a:pt x="127529" y="93887"/>
                </a:cubicBezTo>
                <a:close/>
                <a:moveTo>
                  <a:pt x="153073" y="88010"/>
                </a:moveTo>
                <a:lnTo>
                  <a:pt x="153423" y="88010"/>
                </a:lnTo>
                <a:cubicBezTo>
                  <a:pt x="157620" y="88010"/>
                  <a:pt x="161817" y="88380"/>
                  <a:pt x="166015" y="89862"/>
                </a:cubicBezTo>
                <a:cubicBezTo>
                  <a:pt x="168113" y="90232"/>
                  <a:pt x="169512" y="92826"/>
                  <a:pt x="168813" y="95048"/>
                </a:cubicBezTo>
                <a:cubicBezTo>
                  <a:pt x="168463" y="97271"/>
                  <a:pt x="166714" y="98752"/>
                  <a:pt x="164965" y="98752"/>
                </a:cubicBezTo>
                <a:cubicBezTo>
                  <a:pt x="164616" y="98752"/>
                  <a:pt x="163916" y="98752"/>
                  <a:pt x="163566" y="98382"/>
                </a:cubicBezTo>
                <a:cubicBezTo>
                  <a:pt x="160418" y="97641"/>
                  <a:pt x="156920" y="96900"/>
                  <a:pt x="153423" y="96900"/>
                </a:cubicBezTo>
                <a:cubicBezTo>
                  <a:pt x="150974" y="96900"/>
                  <a:pt x="149225" y="95048"/>
                  <a:pt x="149225" y="92455"/>
                </a:cubicBezTo>
                <a:cubicBezTo>
                  <a:pt x="149225" y="90232"/>
                  <a:pt x="150974" y="88010"/>
                  <a:pt x="153073" y="88010"/>
                </a:cubicBezTo>
                <a:close/>
                <a:moveTo>
                  <a:pt x="124881" y="61123"/>
                </a:moveTo>
                <a:cubicBezTo>
                  <a:pt x="113365" y="68333"/>
                  <a:pt x="68019" y="100061"/>
                  <a:pt x="69098" y="171447"/>
                </a:cubicBezTo>
                <a:cubicBezTo>
                  <a:pt x="69098" y="176495"/>
                  <a:pt x="68379" y="181542"/>
                  <a:pt x="66939" y="186229"/>
                </a:cubicBezTo>
                <a:cubicBezTo>
                  <a:pt x="109046" y="188032"/>
                  <a:pt x="118403" y="193080"/>
                  <a:pt x="127040" y="198127"/>
                </a:cubicBezTo>
                <a:cubicBezTo>
                  <a:pt x="134958" y="202814"/>
                  <a:pt x="141436" y="206780"/>
                  <a:pt x="181383" y="206059"/>
                </a:cubicBezTo>
                <a:cubicBezTo>
                  <a:pt x="181383" y="206059"/>
                  <a:pt x="189661" y="205699"/>
                  <a:pt x="195779" y="211467"/>
                </a:cubicBezTo>
                <a:cubicBezTo>
                  <a:pt x="196858" y="212549"/>
                  <a:pt x="197578" y="213631"/>
                  <a:pt x="198298" y="215073"/>
                </a:cubicBezTo>
                <a:cubicBezTo>
                  <a:pt x="211614" y="211107"/>
                  <a:pt x="223490" y="206420"/>
                  <a:pt x="233207" y="202093"/>
                </a:cubicBezTo>
                <a:cubicBezTo>
                  <a:pt x="237885" y="199930"/>
                  <a:pt x="242204" y="198127"/>
                  <a:pt x="245803" y="196685"/>
                </a:cubicBezTo>
                <a:cubicBezTo>
                  <a:pt x="241484" y="188753"/>
                  <a:pt x="238965" y="180100"/>
                  <a:pt x="239325" y="171447"/>
                </a:cubicBezTo>
                <a:cubicBezTo>
                  <a:pt x="240045" y="100782"/>
                  <a:pt x="195059" y="68333"/>
                  <a:pt x="183542" y="61123"/>
                </a:cubicBezTo>
                <a:cubicBezTo>
                  <a:pt x="176705" y="66891"/>
                  <a:pt x="165908" y="70136"/>
                  <a:pt x="154032" y="70136"/>
                </a:cubicBezTo>
                <a:cubicBezTo>
                  <a:pt x="142515" y="70136"/>
                  <a:pt x="131719" y="66891"/>
                  <a:pt x="124881" y="61123"/>
                </a:cubicBezTo>
                <a:close/>
                <a:moveTo>
                  <a:pt x="119483" y="8844"/>
                </a:moveTo>
                <a:cubicBezTo>
                  <a:pt x="117683" y="8123"/>
                  <a:pt x="116244" y="9205"/>
                  <a:pt x="115884" y="9926"/>
                </a:cubicBezTo>
                <a:cubicBezTo>
                  <a:pt x="114444" y="11368"/>
                  <a:pt x="113365" y="13531"/>
                  <a:pt x="114444" y="16416"/>
                </a:cubicBezTo>
                <a:lnTo>
                  <a:pt x="128840" y="53551"/>
                </a:lnTo>
                <a:cubicBezTo>
                  <a:pt x="131719" y="56075"/>
                  <a:pt x="135678" y="58238"/>
                  <a:pt x="140356" y="59680"/>
                </a:cubicBezTo>
                <a:lnTo>
                  <a:pt x="137117" y="35524"/>
                </a:lnTo>
                <a:cubicBezTo>
                  <a:pt x="136757" y="33001"/>
                  <a:pt x="138557" y="30837"/>
                  <a:pt x="140716" y="30477"/>
                </a:cubicBezTo>
                <a:cubicBezTo>
                  <a:pt x="142875" y="30116"/>
                  <a:pt x="145394" y="31919"/>
                  <a:pt x="145394" y="34443"/>
                </a:cubicBezTo>
                <a:lnTo>
                  <a:pt x="149353" y="61483"/>
                </a:lnTo>
                <a:cubicBezTo>
                  <a:pt x="150793" y="61483"/>
                  <a:pt x="152592" y="61844"/>
                  <a:pt x="154032" y="61844"/>
                </a:cubicBezTo>
                <a:cubicBezTo>
                  <a:pt x="155831" y="61844"/>
                  <a:pt x="157271" y="61483"/>
                  <a:pt x="159070" y="61483"/>
                </a:cubicBezTo>
                <a:lnTo>
                  <a:pt x="162669" y="34443"/>
                </a:lnTo>
                <a:cubicBezTo>
                  <a:pt x="163029" y="31919"/>
                  <a:pt x="165188" y="30116"/>
                  <a:pt x="167707" y="30477"/>
                </a:cubicBezTo>
                <a:cubicBezTo>
                  <a:pt x="169867" y="30837"/>
                  <a:pt x="171666" y="33001"/>
                  <a:pt x="171306" y="35524"/>
                </a:cubicBezTo>
                <a:lnTo>
                  <a:pt x="168067" y="59680"/>
                </a:lnTo>
                <a:cubicBezTo>
                  <a:pt x="172746" y="58238"/>
                  <a:pt x="176705" y="56075"/>
                  <a:pt x="179224" y="53551"/>
                </a:cubicBezTo>
                <a:lnTo>
                  <a:pt x="193619" y="16416"/>
                </a:lnTo>
                <a:cubicBezTo>
                  <a:pt x="194699" y="13531"/>
                  <a:pt x="193979" y="11368"/>
                  <a:pt x="192540" y="9926"/>
                </a:cubicBezTo>
                <a:cubicBezTo>
                  <a:pt x="192180" y="9205"/>
                  <a:pt x="190740" y="8123"/>
                  <a:pt x="188581" y="8844"/>
                </a:cubicBezTo>
                <a:lnTo>
                  <a:pt x="168067" y="15695"/>
                </a:lnTo>
                <a:cubicBezTo>
                  <a:pt x="159070" y="18939"/>
                  <a:pt x="149353" y="18939"/>
                  <a:pt x="140356" y="15695"/>
                </a:cubicBezTo>
                <a:lnTo>
                  <a:pt x="119483" y="8844"/>
                </a:lnTo>
                <a:close/>
                <a:moveTo>
                  <a:pt x="122362" y="552"/>
                </a:moveTo>
                <a:lnTo>
                  <a:pt x="142875" y="7763"/>
                </a:lnTo>
                <a:cubicBezTo>
                  <a:pt x="150433" y="10287"/>
                  <a:pt x="157990" y="10287"/>
                  <a:pt x="165548" y="7763"/>
                </a:cubicBezTo>
                <a:lnTo>
                  <a:pt x="186062" y="552"/>
                </a:lnTo>
                <a:cubicBezTo>
                  <a:pt x="190380" y="-890"/>
                  <a:pt x="195419" y="552"/>
                  <a:pt x="199018" y="4157"/>
                </a:cubicBezTo>
                <a:cubicBezTo>
                  <a:pt x="202616" y="8123"/>
                  <a:pt x="204056" y="14252"/>
                  <a:pt x="201897" y="19300"/>
                </a:cubicBezTo>
                <a:lnTo>
                  <a:pt x="188221" y="53912"/>
                </a:lnTo>
                <a:cubicBezTo>
                  <a:pt x="201537" y="62204"/>
                  <a:pt x="248682" y="97537"/>
                  <a:pt x="247962" y="171447"/>
                </a:cubicBezTo>
                <a:cubicBezTo>
                  <a:pt x="247962" y="179379"/>
                  <a:pt x="250121" y="187311"/>
                  <a:pt x="254440" y="194522"/>
                </a:cubicBezTo>
                <a:cubicBezTo>
                  <a:pt x="257679" y="194161"/>
                  <a:pt x="260198" y="194522"/>
                  <a:pt x="262717" y="196325"/>
                </a:cubicBezTo>
                <a:cubicBezTo>
                  <a:pt x="267036" y="199930"/>
                  <a:pt x="268116" y="203896"/>
                  <a:pt x="268476" y="206780"/>
                </a:cubicBezTo>
                <a:cubicBezTo>
                  <a:pt x="268476" y="207862"/>
                  <a:pt x="268116" y="208944"/>
                  <a:pt x="267756" y="210025"/>
                </a:cubicBezTo>
                <a:cubicBezTo>
                  <a:pt x="273154" y="208944"/>
                  <a:pt x="276753" y="208944"/>
                  <a:pt x="279992" y="211828"/>
                </a:cubicBezTo>
                <a:cubicBezTo>
                  <a:pt x="284671" y="215794"/>
                  <a:pt x="285390" y="220120"/>
                  <a:pt x="285390" y="223005"/>
                </a:cubicBezTo>
                <a:cubicBezTo>
                  <a:pt x="285030" y="231658"/>
                  <a:pt x="275673" y="238147"/>
                  <a:pt x="274954" y="238868"/>
                </a:cubicBezTo>
                <a:cubicBezTo>
                  <a:pt x="228528" y="275643"/>
                  <a:pt x="174545" y="285738"/>
                  <a:pt x="129919" y="285738"/>
                </a:cubicBezTo>
                <a:cubicBezTo>
                  <a:pt x="82414" y="285738"/>
                  <a:pt x="45346" y="274201"/>
                  <a:pt x="39948" y="272398"/>
                </a:cubicBezTo>
                <a:lnTo>
                  <a:pt x="4318" y="272398"/>
                </a:lnTo>
                <a:cubicBezTo>
                  <a:pt x="1799" y="272398"/>
                  <a:pt x="0" y="270596"/>
                  <a:pt x="0" y="268072"/>
                </a:cubicBezTo>
                <a:lnTo>
                  <a:pt x="0" y="190195"/>
                </a:lnTo>
                <a:cubicBezTo>
                  <a:pt x="0" y="187672"/>
                  <a:pt x="1799" y="185869"/>
                  <a:pt x="4318" y="185869"/>
                </a:cubicBezTo>
                <a:lnTo>
                  <a:pt x="40667" y="185869"/>
                </a:lnTo>
                <a:cubicBezTo>
                  <a:pt x="46786" y="185869"/>
                  <a:pt x="52544" y="185869"/>
                  <a:pt x="57942" y="185869"/>
                </a:cubicBezTo>
                <a:cubicBezTo>
                  <a:pt x="59382" y="181182"/>
                  <a:pt x="60461" y="176495"/>
                  <a:pt x="60461" y="171447"/>
                </a:cubicBezTo>
                <a:cubicBezTo>
                  <a:pt x="59382" y="97537"/>
                  <a:pt x="106887" y="62204"/>
                  <a:pt x="119843" y="53912"/>
                </a:cubicBezTo>
                <a:lnTo>
                  <a:pt x="106527" y="19300"/>
                </a:lnTo>
                <a:cubicBezTo>
                  <a:pt x="104367" y="14252"/>
                  <a:pt x="105807" y="8123"/>
                  <a:pt x="109406" y="4157"/>
                </a:cubicBezTo>
                <a:cubicBezTo>
                  <a:pt x="112645" y="552"/>
                  <a:pt x="117683" y="-890"/>
                  <a:pt x="122362" y="55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DF483ED2-AF4F-7D44-BB75-35ADB83D4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869" y="3589073"/>
            <a:ext cx="432000" cy="432000"/>
          </a:xfrm>
          <a:custGeom>
            <a:avLst/>
            <a:gdLst>
              <a:gd name="connsiteX0" fmla="*/ 1125749 w 1421459"/>
              <a:gd name="connsiteY0" fmla="*/ 944740 h 1119345"/>
              <a:gd name="connsiteX1" fmla="*/ 1042503 w 1421459"/>
              <a:gd name="connsiteY1" fmla="*/ 1027708 h 1119345"/>
              <a:gd name="connsiteX2" fmla="*/ 1042503 w 1421459"/>
              <a:gd name="connsiteY2" fmla="*/ 1082195 h 1119345"/>
              <a:gd name="connsiteX3" fmla="*/ 1382942 w 1421459"/>
              <a:gd name="connsiteY3" fmla="*/ 1083433 h 1119345"/>
              <a:gd name="connsiteX4" fmla="*/ 1384184 w 1421459"/>
              <a:gd name="connsiteY4" fmla="*/ 1027708 h 1119345"/>
              <a:gd name="connsiteX5" fmla="*/ 1300938 w 1421459"/>
              <a:gd name="connsiteY5" fmla="*/ 944740 h 1119345"/>
              <a:gd name="connsiteX6" fmla="*/ 626240 w 1421459"/>
              <a:gd name="connsiteY6" fmla="*/ 944740 h 1119345"/>
              <a:gd name="connsiteX7" fmla="*/ 542746 w 1421459"/>
              <a:gd name="connsiteY7" fmla="*/ 1027708 h 1119345"/>
              <a:gd name="connsiteX8" fmla="*/ 542746 w 1421459"/>
              <a:gd name="connsiteY8" fmla="*/ 1082195 h 1119345"/>
              <a:gd name="connsiteX9" fmla="*/ 884200 w 1421459"/>
              <a:gd name="connsiteY9" fmla="*/ 1083433 h 1119345"/>
              <a:gd name="connsiteX10" fmla="*/ 885446 w 1421459"/>
              <a:gd name="connsiteY10" fmla="*/ 1027708 h 1119345"/>
              <a:gd name="connsiteX11" fmla="*/ 800706 w 1421459"/>
              <a:gd name="connsiteY11" fmla="*/ 944740 h 1119345"/>
              <a:gd name="connsiteX12" fmla="*/ 120520 w 1421459"/>
              <a:gd name="connsiteY12" fmla="*/ 944740 h 1119345"/>
              <a:gd name="connsiteX13" fmla="*/ 37274 w 1421459"/>
              <a:gd name="connsiteY13" fmla="*/ 1027708 h 1119345"/>
              <a:gd name="connsiteX14" fmla="*/ 37274 w 1421459"/>
              <a:gd name="connsiteY14" fmla="*/ 1082195 h 1119345"/>
              <a:gd name="connsiteX15" fmla="*/ 378955 w 1421459"/>
              <a:gd name="connsiteY15" fmla="*/ 1083433 h 1119345"/>
              <a:gd name="connsiteX16" fmla="*/ 378955 w 1421459"/>
              <a:gd name="connsiteY16" fmla="*/ 1027708 h 1119345"/>
              <a:gd name="connsiteX17" fmla="*/ 295709 w 1421459"/>
              <a:gd name="connsiteY17" fmla="*/ 944740 h 1119345"/>
              <a:gd name="connsiteX18" fmla="*/ 1125749 w 1421459"/>
              <a:gd name="connsiteY18" fmla="*/ 906352 h 1119345"/>
              <a:gd name="connsiteX19" fmla="*/ 1300938 w 1421459"/>
              <a:gd name="connsiteY19" fmla="*/ 906352 h 1119345"/>
              <a:gd name="connsiteX20" fmla="*/ 1421459 w 1421459"/>
              <a:gd name="connsiteY20" fmla="*/ 1027708 h 1119345"/>
              <a:gd name="connsiteX21" fmla="*/ 1421459 w 1421459"/>
              <a:gd name="connsiteY21" fmla="*/ 1082195 h 1119345"/>
              <a:gd name="connsiteX22" fmla="*/ 1382942 w 1421459"/>
              <a:gd name="connsiteY22" fmla="*/ 1119345 h 1119345"/>
              <a:gd name="connsiteX23" fmla="*/ 1042503 w 1421459"/>
              <a:gd name="connsiteY23" fmla="*/ 1119345 h 1119345"/>
              <a:gd name="connsiteX24" fmla="*/ 1005229 w 1421459"/>
              <a:gd name="connsiteY24" fmla="*/ 1082195 h 1119345"/>
              <a:gd name="connsiteX25" fmla="*/ 1005229 w 1421459"/>
              <a:gd name="connsiteY25" fmla="*/ 1027708 h 1119345"/>
              <a:gd name="connsiteX26" fmla="*/ 1125749 w 1421459"/>
              <a:gd name="connsiteY26" fmla="*/ 906352 h 1119345"/>
              <a:gd name="connsiteX27" fmla="*/ 626240 w 1421459"/>
              <a:gd name="connsiteY27" fmla="*/ 906352 h 1119345"/>
              <a:gd name="connsiteX28" fmla="*/ 800706 w 1421459"/>
              <a:gd name="connsiteY28" fmla="*/ 906352 h 1119345"/>
              <a:gd name="connsiteX29" fmla="*/ 921586 w 1421459"/>
              <a:gd name="connsiteY29" fmla="*/ 1027708 h 1119345"/>
              <a:gd name="connsiteX30" fmla="*/ 921586 w 1421459"/>
              <a:gd name="connsiteY30" fmla="*/ 1082195 h 1119345"/>
              <a:gd name="connsiteX31" fmla="*/ 884200 w 1421459"/>
              <a:gd name="connsiteY31" fmla="*/ 1119345 h 1119345"/>
              <a:gd name="connsiteX32" fmla="*/ 542746 w 1421459"/>
              <a:gd name="connsiteY32" fmla="*/ 1119345 h 1119345"/>
              <a:gd name="connsiteX33" fmla="*/ 505360 w 1421459"/>
              <a:gd name="connsiteY33" fmla="*/ 1082195 h 1119345"/>
              <a:gd name="connsiteX34" fmla="*/ 505360 w 1421459"/>
              <a:gd name="connsiteY34" fmla="*/ 1027708 h 1119345"/>
              <a:gd name="connsiteX35" fmla="*/ 626240 w 1421459"/>
              <a:gd name="connsiteY35" fmla="*/ 906352 h 1119345"/>
              <a:gd name="connsiteX36" fmla="*/ 120520 w 1421459"/>
              <a:gd name="connsiteY36" fmla="*/ 906352 h 1119345"/>
              <a:gd name="connsiteX37" fmla="*/ 295709 w 1421459"/>
              <a:gd name="connsiteY37" fmla="*/ 906352 h 1119345"/>
              <a:gd name="connsiteX38" fmla="*/ 416230 w 1421459"/>
              <a:gd name="connsiteY38" fmla="*/ 1027708 h 1119345"/>
              <a:gd name="connsiteX39" fmla="*/ 416230 w 1421459"/>
              <a:gd name="connsiteY39" fmla="*/ 1082195 h 1119345"/>
              <a:gd name="connsiteX40" fmla="*/ 378955 w 1421459"/>
              <a:gd name="connsiteY40" fmla="*/ 1119345 h 1119345"/>
              <a:gd name="connsiteX41" fmla="*/ 38517 w 1421459"/>
              <a:gd name="connsiteY41" fmla="*/ 1119345 h 1119345"/>
              <a:gd name="connsiteX42" fmla="*/ 0 w 1421459"/>
              <a:gd name="connsiteY42" fmla="*/ 1082195 h 1119345"/>
              <a:gd name="connsiteX43" fmla="*/ 0 w 1421459"/>
              <a:gd name="connsiteY43" fmla="*/ 1027708 h 1119345"/>
              <a:gd name="connsiteX44" fmla="*/ 120520 w 1421459"/>
              <a:gd name="connsiteY44" fmla="*/ 906352 h 1119345"/>
              <a:gd name="connsiteX45" fmla="*/ 1212737 w 1421459"/>
              <a:gd name="connsiteY45" fmla="*/ 738745 h 1119345"/>
              <a:gd name="connsiteX46" fmla="*/ 1156216 w 1421459"/>
              <a:gd name="connsiteY46" fmla="*/ 796494 h 1119345"/>
              <a:gd name="connsiteX47" fmla="*/ 1212737 w 1421459"/>
              <a:gd name="connsiteY47" fmla="*/ 851785 h 1119345"/>
              <a:gd name="connsiteX48" fmla="*/ 1269257 w 1421459"/>
              <a:gd name="connsiteY48" fmla="*/ 796494 h 1119345"/>
              <a:gd name="connsiteX49" fmla="*/ 1212737 w 1421459"/>
              <a:gd name="connsiteY49" fmla="*/ 738745 h 1119345"/>
              <a:gd name="connsiteX50" fmla="*/ 716216 w 1421459"/>
              <a:gd name="connsiteY50" fmla="*/ 738745 h 1119345"/>
              <a:gd name="connsiteX51" fmla="*/ 658413 w 1421459"/>
              <a:gd name="connsiteY51" fmla="*/ 796494 h 1119345"/>
              <a:gd name="connsiteX52" fmla="*/ 716216 w 1421459"/>
              <a:gd name="connsiteY52" fmla="*/ 851785 h 1119345"/>
              <a:gd name="connsiteX53" fmla="*/ 774018 w 1421459"/>
              <a:gd name="connsiteY53" fmla="*/ 796494 h 1119345"/>
              <a:gd name="connsiteX54" fmla="*/ 716216 w 1421459"/>
              <a:gd name="connsiteY54" fmla="*/ 738745 h 1119345"/>
              <a:gd name="connsiteX55" fmla="*/ 210855 w 1421459"/>
              <a:gd name="connsiteY55" fmla="*/ 738745 h 1119345"/>
              <a:gd name="connsiteX56" fmla="*/ 153052 w 1421459"/>
              <a:gd name="connsiteY56" fmla="*/ 796494 h 1119345"/>
              <a:gd name="connsiteX57" fmla="*/ 210855 w 1421459"/>
              <a:gd name="connsiteY57" fmla="*/ 851785 h 1119345"/>
              <a:gd name="connsiteX58" fmla="*/ 268657 w 1421459"/>
              <a:gd name="connsiteY58" fmla="*/ 796494 h 1119345"/>
              <a:gd name="connsiteX59" fmla="*/ 210855 w 1421459"/>
              <a:gd name="connsiteY59" fmla="*/ 738745 h 1119345"/>
              <a:gd name="connsiteX60" fmla="*/ 1212737 w 1421459"/>
              <a:gd name="connsiteY60" fmla="*/ 703112 h 1119345"/>
              <a:gd name="connsiteX61" fmla="*/ 1306118 w 1421459"/>
              <a:gd name="connsiteY61" fmla="*/ 796494 h 1119345"/>
              <a:gd name="connsiteX62" fmla="*/ 1212737 w 1421459"/>
              <a:gd name="connsiteY62" fmla="*/ 888647 h 1119345"/>
              <a:gd name="connsiteX63" fmla="*/ 1120584 w 1421459"/>
              <a:gd name="connsiteY63" fmla="*/ 796494 h 1119345"/>
              <a:gd name="connsiteX64" fmla="*/ 1212737 w 1421459"/>
              <a:gd name="connsiteY64" fmla="*/ 703112 h 1119345"/>
              <a:gd name="connsiteX65" fmla="*/ 716216 w 1421459"/>
              <a:gd name="connsiteY65" fmla="*/ 703112 h 1119345"/>
              <a:gd name="connsiteX66" fmla="*/ 811715 w 1421459"/>
              <a:gd name="connsiteY66" fmla="*/ 796494 h 1119345"/>
              <a:gd name="connsiteX67" fmla="*/ 716216 w 1421459"/>
              <a:gd name="connsiteY67" fmla="*/ 888647 h 1119345"/>
              <a:gd name="connsiteX68" fmla="*/ 620716 w 1421459"/>
              <a:gd name="connsiteY68" fmla="*/ 796494 h 1119345"/>
              <a:gd name="connsiteX69" fmla="*/ 716216 w 1421459"/>
              <a:gd name="connsiteY69" fmla="*/ 703112 h 1119345"/>
              <a:gd name="connsiteX70" fmla="*/ 210855 w 1421459"/>
              <a:gd name="connsiteY70" fmla="*/ 703112 h 1119345"/>
              <a:gd name="connsiteX71" fmla="*/ 306354 w 1421459"/>
              <a:gd name="connsiteY71" fmla="*/ 796494 h 1119345"/>
              <a:gd name="connsiteX72" fmla="*/ 210855 w 1421459"/>
              <a:gd name="connsiteY72" fmla="*/ 888647 h 1119345"/>
              <a:gd name="connsiteX73" fmla="*/ 115355 w 1421459"/>
              <a:gd name="connsiteY73" fmla="*/ 796494 h 1119345"/>
              <a:gd name="connsiteX74" fmla="*/ 210855 w 1421459"/>
              <a:gd name="connsiteY74" fmla="*/ 703112 h 1119345"/>
              <a:gd name="connsiteX75" fmla="*/ 716220 w 1421459"/>
              <a:gd name="connsiteY75" fmla="*/ 455920 h 1119345"/>
              <a:gd name="connsiteX76" fmla="*/ 734933 w 1421459"/>
              <a:gd name="connsiteY76" fmla="*/ 474813 h 1119345"/>
              <a:gd name="connsiteX77" fmla="*/ 734933 w 1421459"/>
              <a:gd name="connsiteY77" fmla="*/ 536531 h 1119345"/>
              <a:gd name="connsiteX78" fmla="*/ 1196518 w 1421459"/>
              <a:gd name="connsiteY78" fmla="*/ 536531 h 1119345"/>
              <a:gd name="connsiteX79" fmla="*/ 1240181 w 1421459"/>
              <a:gd name="connsiteY79" fmla="*/ 579356 h 1119345"/>
              <a:gd name="connsiteX80" fmla="*/ 1240181 w 1421459"/>
              <a:gd name="connsiteY80" fmla="*/ 633517 h 1119345"/>
              <a:gd name="connsiteX81" fmla="*/ 1221469 w 1421459"/>
              <a:gd name="connsiteY81" fmla="*/ 652410 h 1119345"/>
              <a:gd name="connsiteX82" fmla="*/ 1202756 w 1421459"/>
              <a:gd name="connsiteY82" fmla="*/ 633517 h 1119345"/>
              <a:gd name="connsiteX83" fmla="*/ 1202756 w 1421459"/>
              <a:gd name="connsiteY83" fmla="*/ 579356 h 1119345"/>
              <a:gd name="connsiteX84" fmla="*/ 1196518 w 1421459"/>
              <a:gd name="connsiteY84" fmla="*/ 573058 h 1119345"/>
              <a:gd name="connsiteX85" fmla="*/ 734933 w 1421459"/>
              <a:gd name="connsiteY85" fmla="*/ 573058 h 1119345"/>
              <a:gd name="connsiteX86" fmla="*/ 734933 w 1421459"/>
              <a:gd name="connsiteY86" fmla="*/ 633517 h 1119345"/>
              <a:gd name="connsiteX87" fmla="*/ 716220 w 1421459"/>
              <a:gd name="connsiteY87" fmla="*/ 652410 h 1119345"/>
              <a:gd name="connsiteX88" fmla="*/ 697507 w 1421459"/>
              <a:gd name="connsiteY88" fmla="*/ 633517 h 1119345"/>
              <a:gd name="connsiteX89" fmla="*/ 697507 w 1421459"/>
              <a:gd name="connsiteY89" fmla="*/ 573058 h 1119345"/>
              <a:gd name="connsiteX90" fmla="*/ 235922 w 1421459"/>
              <a:gd name="connsiteY90" fmla="*/ 573058 h 1119345"/>
              <a:gd name="connsiteX91" fmla="*/ 229685 w 1421459"/>
              <a:gd name="connsiteY91" fmla="*/ 579356 h 1119345"/>
              <a:gd name="connsiteX92" fmla="*/ 229685 w 1421459"/>
              <a:gd name="connsiteY92" fmla="*/ 633517 h 1119345"/>
              <a:gd name="connsiteX93" fmla="*/ 210972 w 1421459"/>
              <a:gd name="connsiteY93" fmla="*/ 652410 h 1119345"/>
              <a:gd name="connsiteX94" fmla="*/ 192259 w 1421459"/>
              <a:gd name="connsiteY94" fmla="*/ 633517 h 1119345"/>
              <a:gd name="connsiteX95" fmla="*/ 192259 w 1421459"/>
              <a:gd name="connsiteY95" fmla="*/ 579356 h 1119345"/>
              <a:gd name="connsiteX96" fmla="*/ 235922 w 1421459"/>
              <a:gd name="connsiteY96" fmla="*/ 536531 h 1119345"/>
              <a:gd name="connsiteX97" fmla="*/ 697507 w 1421459"/>
              <a:gd name="connsiteY97" fmla="*/ 536531 h 1119345"/>
              <a:gd name="connsiteX98" fmla="*/ 697507 w 1421459"/>
              <a:gd name="connsiteY98" fmla="*/ 474813 h 1119345"/>
              <a:gd name="connsiteX99" fmla="*/ 716220 w 1421459"/>
              <a:gd name="connsiteY99" fmla="*/ 455920 h 1119345"/>
              <a:gd name="connsiteX100" fmla="*/ 626240 w 1421459"/>
              <a:gd name="connsiteY100" fmla="*/ 240392 h 1119345"/>
              <a:gd name="connsiteX101" fmla="*/ 542746 w 1421459"/>
              <a:gd name="connsiteY101" fmla="*/ 323360 h 1119345"/>
              <a:gd name="connsiteX102" fmla="*/ 542746 w 1421459"/>
              <a:gd name="connsiteY102" fmla="*/ 377846 h 1119345"/>
              <a:gd name="connsiteX103" fmla="*/ 884200 w 1421459"/>
              <a:gd name="connsiteY103" fmla="*/ 379085 h 1119345"/>
              <a:gd name="connsiteX104" fmla="*/ 885446 w 1421459"/>
              <a:gd name="connsiteY104" fmla="*/ 323360 h 1119345"/>
              <a:gd name="connsiteX105" fmla="*/ 800706 w 1421459"/>
              <a:gd name="connsiteY105" fmla="*/ 240392 h 1119345"/>
              <a:gd name="connsiteX106" fmla="*/ 626240 w 1421459"/>
              <a:gd name="connsiteY106" fmla="*/ 203242 h 1119345"/>
              <a:gd name="connsiteX107" fmla="*/ 800706 w 1421459"/>
              <a:gd name="connsiteY107" fmla="*/ 203242 h 1119345"/>
              <a:gd name="connsiteX108" fmla="*/ 921586 w 1421459"/>
              <a:gd name="connsiteY108" fmla="*/ 323360 h 1119345"/>
              <a:gd name="connsiteX109" fmla="*/ 921586 w 1421459"/>
              <a:gd name="connsiteY109" fmla="*/ 377846 h 1119345"/>
              <a:gd name="connsiteX110" fmla="*/ 884200 w 1421459"/>
              <a:gd name="connsiteY110" fmla="*/ 416234 h 1119345"/>
              <a:gd name="connsiteX111" fmla="*/ 542746 w 1421459"/>
              <a:gd name="connsiteY111" fmla="*/ 416234 h 1119345"/>
              <a:gd name="connsiteX112" fmla="*/ 505360 w 1421459"/>
              <a:gd name="connsiteY112" fmla="*/ 377846 h 1119345"/>
              <a:gd name="connsiteX113" fmla="*/ 505360 w 1421459"/>
              <a:gd name="connsiteY113" fmla="*/ 323360 h 1119345"/>
              <a:gd name="connsiteX114" fmla="*/ 626240 w 1421459"/>
              <a:gd name="connsiteY114" fmla="*/ 203242 h 1119345"/>
              <a:gd name="connsiteX115" fmla="*/ 716216 w 1421459"/>
              <a:gd name="connsiteY115" fmla="*/ 37697 h 1119345"/>
              <a:gd name="connsiteX116" fmla="*/ 658413 w 1421459"/>
              <a:gd name="connsiteY116" fmla="*/ 95499 h 1119345"/>
              <a:gd name="connsiteX117" fmla="*/ 716216 w 1421459"/>
              <a:gd name="connsiteY117" fmla="*/ 153301 h 1119345"/>
              <a:gd name="connsiteX118" fmla="*/ 774018 w 1421459"/>
              <a:gd name="connsiteY118" fmla="*/ 95499 h 1119345"/>
              <a:gd name="connsiteX119" fmla="*/ 716216 w 1421459"/>
              <a:gd name="connsiteY119" fmla="*/ 37697 h 1119345"/>
              <a:gd name="connsiteX120" fmla="*/ 716216 w 1421459"/>
              <a:gd name="connsiteY120" fmla="*/ 0 h 1119345"/>
              <a:gd name="connsiteX121" fmla="*/ 811715 w 1421459"/>
              <a:gd name="connsiteY121" fmla="*/ 95499 h 1119345"/>
              <a:gd name="connsiteX122" fmla="*/ 716216 w 1421459"/>
              <a:gd name="connsiteY122" fmla="*/ 190998 h 1119345"/>
              <a:gd name="connsiteX123" fmla="*/ 620716 w 1421459"/>
              <a:gd name="connsiteY123" fmla="*/ 95499 h 1119345"/>
              <a:gd name="connsiteX124" fmla="*/ 716216 w 1421459"/>
              <a:gd name="connsiteY124" fmla="*/ 0 h 111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421459" h="1119345">
                <a:moveTo>
                  <a:pt x="1125749" y="944740"/>
                </a:moveTo>
                <a:cubicBezTo>
                  <a:pt x="1079778" y="944740"/>
                  <a:pt x="1042503" y="981890"/>
                  <a:pt x="1042503" y="1027708"/>
                </a:cubicBezTo>
                <a:lnTo>
                  <a:pt x="1042503" y="1082195"/>
                </a:lnTo>
                <a:lnTo>
                  <a:pt x="1382942" y="1083433"/>
                </a:lnTo>
                <a:lnTo>
                  <a:pt x="1384184" y="1027708"/>
                </a:lnTo>
                <a:cubicBezTo>
                  <a:pt x="1384184" y="981890"/>
                  <a:pt x="1345667" y="944740"/>
                  <a:pt x="1300938" y="944740"/>
                </a:cubicBezTo>
                <a:close/>
                <a:moveTo>
                  <a:pt x="626240" y="944740"/>
                </a:moveTo>
                <a:cubicBezTo>
                  <a:pt x="578885" y="944740"/>
                  <a:pt x="542746" y="981890"/>
                  <a:pt x="542746" y="1027708"/>
                </a:cubicBezTo>
                <a:lnTo>
                  <a:pt x="542746" y="1082195"/>
                </a:lnTo>
                <a:lnTo>
                  <a:pt x="884200" y="1083433"/>
                </a:lnTo>
                <a:lnTo>
                  <a:pt x="885446" y="1027708"/>
                </a:lnTo>
                <a:cubicBezTo>
                  <a:pt x="885446" y="981890"/>
                  <a:pt x="846815" y="944740"/>
                  <a:pt x="800706" y="944740"/>
                </a:cubicBezTo>
                <a:close/>
                <a:moveTo>
                  <a:pt x="120520" y="944740"/>
                </a:moveTo>
                <a:cubicBezTo>
                  <a:pt x="75791" y="944740"/>
                  <a:pt x="37274" y="981890"/>
                  <a:pt x="37274" y="1027708"/>
                </a:cubicBezTo>
                <a:lnTo>
                  <a:pt x="37274" y="1082195"/>
                </a:lnTo>
                <a:lnTo>
                  <a:pt x="378955" y="1083433"/>
                </a:lnTo>
                <a:lnTo>
                  <a:pt x="378955" y="1027708"/>
                </a:lnTo>
                <a:cubicBezTo>
                  <a:pt x="378955" y="981890"/>
                  <a:pt x="341681" y="944740"/>
                  <a:pt x="295709" y="944740"/>
                </a:cubicBezTo>
                <a:close/>
                <a:moveTo>
                  <a:pt x="1125749" y="906352"/>
                </a:moveTo>
                <a:lnTo>
                  <a:pt x="1300938" y="906352"/>
                </a:lnTo>
                <a:cubicBezTo>
                  <a:pt x="1366790" y="906352"/>
                  <a:pt x="1421459" y="960838"/>
                  <a:pt x="1421459" y="1027708"/>
                </a:cubicBezTo>
                <a:lnTo>
                  <a:pt x="1421459" y="1082195"/>
                </a:lnTo>
                <a:cubicBezTo>
                  <a:pt x="1421459" y="1103246"/>
                  <a:pt x="1404064" y="1119345"/>
                  <a:pt x="1382942" y="1119345"/>
                </a:cubicBezTo>
                <a:lnTo>
                  <a:pt x="1042503" y="1119345"/>
                </a:lnTo>
                <a:cubicBezTo>
                  <a:pt x="1021381" y="1119345"/>
                  <a:pt x="1005229" y="1103246"/>
                  <a:pt x="1005229" y="1082195"/>
                </a:cubicBezTo>
                <a:lnTo>
                  <a:pt x="1005229" y="1027708"/>
                </a:lnTo>
                <a:cubicBezTo>
                  <a:pt x="1005229" y="960838"/>
                  <a:pt x="1058655" y="906352"/>
                  <a:pt x="1125749" y="906352"/>
                </a:cubicBezTo>
                <a:close/>
                <a:moveTo>
                  <a:pt x="626240" y="906352"/>
                </a:moveTo>
                <a:lnTo>
                  <a:pt x="800706" y="906352"/>
                </a:lnTo>
                <a:cubicBezTo>
                  <a:pt x="868000" y="906352"/>
                  <a:pt x="921586" y="960838"/>
                  <a:pt x="921586" y="1027708"/>
                </a:cubicBezTo>
                <a:lnTo>
                  <a:pt x="921586" y="1082195"/>
                </a:lnTo>
                <a:cubicBezTo>
                  <a:pt x="921586" y="1103246"/>
                  <a:pt x="905385" y="1119345"/>
                  <a:pt x="884200" y="1119345"/>
                </a:cubicBezTo>
                <a:lnTo>
                  <a:pt x="542746" y="1119345"/>
                </a:lnTo>
                <a:cubicBezTo>
                  <a:pt x="521560" y="1119345"/>
                  <a:pt x="505360" y="1103246"/>
                  <a:pt x="505360" y="1082195"/>
                </a:cubicBezTo>
                <a:lnTo>
                  <a:pt x="505360" y="1027708"/>
                </a:lnTo>
                <a:cubicBezTo>
                  <a:pt x="505360" y="960838"/>
                  <a:pt x="558946" y="906352"/>
                  <a:pt x="626240" y="906352"/>
                </a:cubicBezTo>
                <a:close/>
                <a:moveTo>
                  <a:pt x="120520" y="906352"/>
                </a:moveTo>
                <a:lnTo>
                  <a:pt x="295709" y="906352"/>
                </a:lnTo>
                <a:cubicBezTo>
                  <a:pt x="362803" y="906352"/>
                  <a:pt x="416230" y="960838"/>
                  <a:pt x="416230" y="1027708"/>
                </a:cubicBezTo>
                <a:lnTo>
                  <a:pt x="416230" y="1082195"/>
                </a:lnTo>
                <a:cubicBezTo>
                  <a:pt x="416230" y="1103246"/>
                  <a:pt x="400077" y="1119345"/>
                  <a:pt x="378955" y="1119345"/>
                </a:cubicBezTo>
                <a:lnTo>
                  <a:pt x="38517" y="1119345"/>
                </a:lnTo>
                <a:cubicBezTo>
                  <a:pt x="17395" y="1119345"/>
                  <a:pt x="0" y="1103246"/>
                  <a:pt x="0" y="1082195"/>
                </a:cubicBezTo>
                <a:lnTo>
                  <a:pt x="0" y="1027708"/>
                </a:lnTo>
                <a:cubicBezTo>
                  <a:pt x="0" y="960838"/>
                  <a:pt x="54669" y="906352"/>
                  <a:pt x="120520" y="906352"/>
                </a:cubicBezTo>
                <a:close/>
                <a:moveTo>
                  <a:pt x="1212737" y="738745"/>
                </a:moveTo>
                <a:cubicBezTo>
                  <a:pt x="1182019" y="738745"/>
                  <a:pt x="1156216" y="764547"/>
                  <a:pt x="1156216" y="796494"/>
                </a:cubicBezTo>
                <a:cubicBezTo>
                  <a:pt x="1156216" y="828440"/>
                  <a:pt x="1182019" y="851785"/>
                  <a:pt x="1212737" y="851785"/>
                </a:cubicBezTo>
                <a:cubicBezTo>
                  <a:pt x="1243454" y="851785"/>
                  <a:pt x="1269257" y="828440"/>
                  <a:pt x="1269257" y="796494"/>
                </a:cubicBezTo>
                <a:cubicBezTo>
                  <a:pt x="1269257" y="764547"/>
                  <a:pt x="1243454" y="738745"/>
                  <a:pt x="1212737" y="738745"/>
                </a:cubicBezTo>
                <a:close/>
                <a:moveTo>
                  <a:pt x="716216" y="738745"/>
                </a:moveTo>
                <a:cubicBezTo>
                  <a:pt x="684801" y="738745"/>
                  <a:pt x="658413" y="764547"/>
                  <a:pt x="658413" y="796494"/>
                </a:cubicBezTo>
                <a:cubicBezTo>
                  <a:pt x="658413" y="828440"/>
                  <a:pt x="684801" y="851785"/>
                  <a:pt x="716216" y="851785"/>
                </a:cubicBezTo>
                <a:cubicBezTo>
                  <a:pt x="747630" y="851785"/>
                  <a:pt x="774018" y="828440"/>
                  <a:pt x="774018" y="796494"/>
                </a:cubicBezTo>
                <a:cubicBezTo>
                  <a:pt x="774018" y="764547"/>
                  <a:pt x="747630" y="738745"/>
                  <a:pt x="716216" y="738745"/>
                </a:cubicBezTo>
                <a:close/>
                <a:moveTo>
                  <a:pt x="210855" y="738745"/>
                </a:moveTo>
                <a:cubicBezTo>
                  <a:pt x="179440" y="738745"/>
                  <a:pt x="153052" y="764547"/>
                  <a:pt x="153052" y="796494"/>
                </a:cubicBezTo>
                <a:cubicBezTo>
                  <a:pt x="153052" y="828440"/>
                  <a:pt x="179440" y="851785"/>
                  <a:pt x="210855" y="851785"/>
                </a:cubicBezTo>
                <a:cubicBezTo>
                  <a:pt x="242269" y="851785"/>
                  <a:pt x="268657" y="828440"/>
                  <a:pt x="268657" y="796494"/>
                </a:cubicBezTo>
                <a:cubicBezTo>
                  <a:pt x="268657" y="764547"/>
                  <a:pt x="242269" y="738745"/>
                  <a:pt x="210855" y="738745"/>
                </a:cubicBezTo>
                <a:close/>
                <a:moveTo>
                  <a:pt x="1212737" y="703112"/>
                </a:moveTo>
                <a:cubicBezTo>
                  <a:pt x="1264342" y="703112"/>
                  <a:pt x="1306118" y="744888"/>
                  <a:pt x="1306118" y="796494"/>
                </a:cubicBezTo>
                <a:cubicBezTo>
                  <a:pt x="1306118" y="846871"/>
                  <a:pt x="1264342" y="888647"/>
                  <a:pt x="1212737" y="888647"/>
                </a:cubicBezTo>
                <a:cubicBezTo>
                  <a:pt x="1161131" y="888647"/>
                  <a:pt x="1120584" y="846871"/>
                  <a:pt x="1120584" y="796494"/>
                </a:cubicBezTo>
                <a:cubicBezTo>
                  <a:pt x="1120584" y="744888"/>
                  <a:pt x="1161131" y="703112"/>
                  <a:pt x="1212737" y="703112"/>
                </a:cubicBezTo>
                <a:close/>
                <a:moveTo>
                  <a:pt x="716216" y="703112"/>
                </a:moveTo>
                <a:cubicBezTo>
                  <a:pt x="768992" y="703112"/>
                  <a:pt x="811715" y="744888"/>
                  <a:pt x="811715" y="796494"/>
                </a:cubicBezTo>
                <a:cubicBezTo>
                  <a:pt x="811715" y="846871"/>
                  <a:pt x="768992" y="888647"/>
                  <a:pt x="716216" y="888647"/>
                </a:cubicBezTo>
                <a:cubicBezTo>
                  <a:pt x="663440" y="888647"/>
                  <a:pt x="620716" y="846871"/>
                  <a:pt x="620716" y="796494"/>
                </a:cubicBezTo>
                <a:cubicBezTo>
                  <a:pt x="620716" y="744888"/>
                  <a:pt x="663440" y="703112"/>
                  <a:pt x="716216" y="703112"/>
                </a:cubicBezTo>
                <a:close/>
                <a:moveTo>
                  <a:pt x="210855" y="703112"/>
                </a:moveTo>
                <a:cubicBezTo>
                  <a:pt x="263631" y="703112"/>
                  <a:pt x="306354" y="744888"/>
                  <a:pt x="306354" y="796494"/>
                </a:cubicBezTo>
                <a:cubicBezTo>
                  <a:pt x="306354" y="846871"/>
                  <a:pt x="263631" y="888647"/>
                  <a:pt x="210855" y="888647"/>
                </a:cubicBezTo>
                <a:cubicBezTo>
                  <a:pt x="158079" y="888647"/>
                  <a:pt x="115355" y="846871"/>
                  <a:pt x="115355" y="796494"/>
                </a:cubicBezTo>
                <a:cubicBezTo>
                  <a:pt x="115355" y="744888"/>
                  <a:pt x="158079" y="703112"/>
                  <a:pt x="210855" y="703112"/>
                </a:cubicBezTo>
                <a:close/>
                <a:moveTo>
                  <a:pt x="716220" y="455920"/>
                </a:moveTo>
                <a:cubicBezTo>
                  <a:pt x="726200" y="455920"/>
                  <a:pt x="734933" y="464737"/>
                  <a:pt x="734933" y="474813"/>
                </a:cubicBezTo>
                <a:lnTo>
                  <a:pt x="734933" y="536531"/>
                </a:lnTo>
                <a:lnTo>
                  <a:pt x="1196518" y="536531"/>
                </a:lnTo>
                <a:cubicBezTo>
                  <a:pt x="1220221" y="536531"/>
                  <a:pt x="1240181" y="555425"/>
                  <a:pt x="1240181" y="579356"/>
                </a:cubicBezTo>
                <a:lnTo>
                  <a:pt x="1240181" y="633517"/>
                </a:lnTo>
                <a:cubicBezTo>
                  <a:pt x="1240181" y="643593"/>
                  <a:pt x="1232696" y="652410"/>
                  <a:pt x="1221469" y="652410"/>
                </a:cubicBezTo>
                <a:cubicBezTo>
                  <a:pt x="1211488" y="652410"/>
                  <a:pt x="1202756" y="643593"/>
                  <a:pt x="1202756" y="633517"/>
                </a:cubicBezTo>
                <a:lnTo>
                  <a:pt x="1202756" y="579356"/>
                </a:lnTo>
                <a:cubicBezTo>
                  <a:pt x="1202756" y="576837"/>
                  <a:pt x="1200261" y="573058"/>
                  <a:pt x="1196518" y="573058"/>
                </a:cubicBezTo>
                <a:lnTo>
                  <a:pt x="734933" y="573058"/>
                </a:lnTo>
                <a:lnTo>
                  <a:pt x="734933" y="633517"/>
                </a:lnTo>
                <a:cubicBezTo>
                  <a:pt x="734933" y="643593"/>
                  <a:pt x="726200" y="652410"/>
                  <a:pt x="716220" y="652410"/>
                </a:cubicBezTo>
                <a:cubicBezTo>
                  <a:pt x="706240" y="652410"/>
                  <a:pt x="697507" y="643593"/>
                  <a:pt x="697507" y="633517"/>
                </a:cubicBezTo>
                <a:lnTo>
                  <a:pt x="697507" y="573058"/>
                </a:lnTo>
                <a:lnTo>
                  <a:pt x="235922" y="573058"/>
                </a:lnTo>
                <a:cubicBezTo>
                  <a:pt x="232180" y="573058"/>
                  <a:pt x="229685" y="576837"/>
                  <a:pt x="229685" y="579356"/>
                </a:cubicBezTo>
                <a:lnTo>
                  <a:pt x="229685" y="633517"/>
                </a:lnTo>
                <a:cubicBezTo>
                  <a:pt x="229685" y="643593"/>
                  <a:pt x="220952" y="652410"/>
                  <a:pt x="210972" y="652410"/>
                </a:cubicBezTo>
                <a:cubicBezTo>
                  <a:pt x="200992" y="652410"/>
                  <a:pt x="192259" y="643593"/>
                  <a:pt x="192259" y="633517"/>
                </a:cubicBezTo>
                <a:lnTo>
                  <a:pt x="192259" y="579356"/>
                </a:lnTo>
                <a:cubicBezTo>
                  <a:pt x="192259" y="555425"/>
                  <a:pt x="210972" y="536531"/>
                  <a:pt x="235922" y="536531"/>
                </a:cubicBezTo>
                <a:lnTo>
                  <a:pt x="697507" y="536531"/>
                </a:lnTo>
                <a:lnTo>
                  <a:pt x="697507" y="474813"/>
                </a:lnTo>
                <a:cubicBezTo>
                  <a:pt x="697507" y="464737"/>
                  <a:pt x="706240" y="455920"/>
                  <a:pt x="716220" y="455920"/>
                </a:cubicBezTo>
                <a:close/>
                <a:moveTo>
                  <a:pt x="626240" y="240392"/>
                </a:moveTo>
                <a:cubicBezTo>
                  <a:pt x="578885" y="240392"/>
                  <a:pt x="542746" y="277542"/>
                  <a:pt x="542746" y="323360"/>
                </a:cubicBezTo>
                <a:lnTo>
                  <a:pt x="542746" y="377846"/>
                </a:lnTo>
                <a:lnTo>
                  <a:pt x="884200" y="379085"/>
                </a:lnTo>
                <a:lnTo>
                  <a:pt x="885446" y="323360"/>
                </a:lnTo>
                <a:cubicBezTo>
                  <a:pt x="885446" y="277542"/>
                  <a:pt x="846815" y="240392"/>
                  <a:pt x="800706" y="240392"/>
                </a:cubicBezTo>
                <a:close/>
                <a:moveTo>
                  <a:pt x="626240" y="203242"/>
                </a:moveTo>
                <a:lnTo>
                  <a:pt x="800706" y="203242"/>
                </a:lnTo>
                <a:cubicBezTo>
                  <a:pt x="868000" y="203242"/>
                  <a:pt x="921586" y="256490"/>
                  <a:pt x="921586" y="323360"/>
                </a:cubicBezTo>
                <a:lnTo>
                  <a:pt x="921586" y="377846"/>
                </a:lnTo>
                <a:cubicBezTo>
                  <a:pt x="921586" y="398898"/>
                  <a:pt x="905385" y="416234"/>
                  <a:pt x="884200" y="416234"/>
                </a:cubicBezTo>
                <a:lnTo>
                  <a:pt x="542746" y="416234"/>
                </a:lnTo>
                <a:cubicBezTo>
                  <a:pt x="521560" y="416234"/>
                  <a:pt x="505360" y="398898"/>
                  <a:pt x="505360" y="377846"/>
                </a:cubicBezTo>
                <a:lnTo>
                  <a:pt x="505360" y="323360"/>
                </a:lnTo>
                <a:cubicBezTo>
                  <a:pt x="505360" y="256490"/>
                  <a:pt x="558946" y="203242"/>
                  <a:pt x="626240" y="203242"/>
                </a:cubicBezTo>
                <a:close/>
                <a:moveTo>
                  <a:pt x="716216" y="37697"/>
                </a:moveTo>
                <a:cubicBezTo>
                  <a:pt x="684801" y="37697"/>
                  <a:pt x="658413" y="62828"/>
                  <a:pt x="658413" y="95499"/>
                </a:cubicBezTo>
                <a:cubicBezTo>
                  <a:pt x="658413" y="126913"/>
                  <a:pt x="684801" y="153301"/>
                  <a:pt x="716216" y="153301"/>
                </a:cubicBezTo>
                <a:cubicBezTo>
                  <a:pt x="747630" y="153301"/>
                  <a:pt x="774018" y="126913"/>
                  <a:pt x="774018" y="95499"/>
                </a:cubicBezTo>
                <a:cubicBezTo>
                  <a:pt x="774018" y="62828"/>
                  <a:pt x="747630" y="37697"/>
                  <a:pt x="716216" y="37697"/>
                </a:cubicBezTo>
                <a:close/>
                <a:moveTo>
                  <a:pt x="716216" y="0"/>
                </a:moveTo>
                <a:cubicBezTo>
                  <a:pt x="768992" y="0"/>
                  <a:pt x="811715" y="42723"/>
                  <a:pt x="811715" y="95499"/>
                </a:cubicBezTo>
                <a:cubicBezTo>
                  <a:pt x="811715" y="148275"/>
                  <a:pt x="768992" y="190998"/>
                  <a:pt x="716216" y="190998"/>
                </a:cubicBezTo>
                <a:cubicBezTo>
                  <a:pt x="663440" y="190998"/>
                  <a:pt x="620716" y="148275"/>
                  <a:pt x="620716" y="95499"/>
                </a:cubicBezTo>
                <a:cubicBezTo>
                  <a:pt x="620716" y="42723"/>
                  <a:pt x="663440" y="0"/>
                  <a:pt x="7162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76" name="Freeform 89">
            <a:extLst>
              <a:ext uri="{FF2B5EF4-FFF2-40B4-BE49-F238E27FC236}">
                <a16:creationId xmlns:a16="http://schemas.microsoft.com/office/drawing/2014/main" id="{8CF5FD4B-7BA4-8244-8210-E6C1C47A1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5917" y="5250350"/>
            <a:ext cx="432000" cy="432000"/>
          </a:xfrm>
          <a:custGeom>
            <a:avLst/>
            <a:gdLst>
              <a:gd name="T0" fmla="*/ 601 w 871"/>
              <a:gd name="T1" fmla="*/ 585 h 872"/>
              <a:gd name="T2" fmla="*/ 648 w 871"/>
              <a:gd name="T3" fmla="*/ 542 h 872"/>
              <a:gd name="T4" fmla="*/ 635 w 871"/>
              <a:gd name="T5" fmla="*/ 469 h 872"/>
              <a:gd name="T6" fmla="*/ 538 w 871"/>
              <a:gd name="T7" fmla="*/ 478 h 872"/>
              <a:gd name="T8" fmla="*/ 529 w 871"/>
              <a:gd name="T9" fmla="*/ 359 h 872"/>
              <a:gd name="T10" fmla="*/ 533 w 871"/>
              <a:gd name="T11" fmla="*/ 349 h 872"/>
              <a:gd name="T12" fmla="*/ 491 w 871"/>
              <a:gd name="T13" fmla="*/ 314 h 872"/>
              <a:gd name="T14" fmla="*/ 486 w 871"/>
              <a:gd name="T15" fmla="*/ 253 h 872"/>
              <a:gd name="T16" fmla="*/ 532 w 871"/>
              <a:gd name="T17" fmla="*/ 245 h 872"/>
              <a:gd name="T18" fmla="*/ 573 w 871"/>
              <a:gd name="T19" fmla="*/ 295 h 872"/>
              <a:gd name="T20" fmla="*/ 592 w 871"/>
              <a:gd name="T21" fmla="*/ 296 h 872"/>
              <a:gd name="T22" fmla="*/ 830 w 871"/>
              <a:gd name="T23" fmla="*/ 396 h 872"/>
              <a:gd name="T24" fmla="*/ 830 w 871"/>
              <a:gd name="T25" fmla="*/ 475 h 872"/>
              <a:gd name="T26" fmla="*/ 435 w 871"/>
              <a:gd name="T27" fmla="*/ 847 h 872"/>
              <a:gd name="T28" fmla="*/ 227 w 871"/>
              <a:gd name="T29" fmla="*/ 661 h 872"/>
              <a:gd name="T30" fmla="*/ 304 w 871"/>
              <a:gd name="T31" fmla="*/ 627 h 872"/>
              <a:gd name="T32" fmla="*/ 402 w 871"/>
              <a:gd name="T33" fmla="*/ 635 h 872"/>
              <a:gd name="T34" fmla="*/ 414 w 871"/>
              <a:gd name="T35" fmla="*/ 563 h 872"/>
              <a:gd name="T36" fmla="*/ 435 w 871"/>
              <a:gd name="T37" fmla="*/ 453 h 872"/>
              <a:gd name="T38" fmla="*/ 522 w 871"/>
              <a:gd name="T39" fmla="*/ 533 h 872"/>
              <a:gd name="T40" fmla="*/ 557 w 871"/>
              <a:gd name="T41" fmla="*/ 492 h 872"/>
              <a:gd name="T42" fmla="*/ 572 w 871"/>
              <a:gd name="T43" fmla="*/ 478 h 872"/>
              <a:gd name="T44" fmla="*/ 626 w 871"/>
              <a:gd name="T45" fmla="*/ 532 h 872"/>
              <a:gd name="T46" fmla="*/ 576 w 871"/>
              <a:gd name="T47" fmla="*/ 574 h 872"/>
              <a:gd name="T48" fmla="*/ 571 w 871"/>
              <a:gd name="T49" fmla="*/ 582 h 872"/>
              <a:gd name="T50" fmla="*/ 475 w 871"/>
              <a:gd name="T51" fmla="*/ 830 h 872"/>
              <a:gd name="T52" fmla="*/ 41 w 871"/>
              <a:gd name="T53" fmla="*/ 396 h 872"/>
              <a:gd name="T54" fmla="*/ 244 w 871"/>
              <a:gd name="T55" fmla="*/ 305 h 872"/>
              <a:gd name="T56" fmla="*/ 223 w 871"/>
              <a:gd name="T57" fmla="*/ 329 h 872"/>
              <a:gd name="T58" fmla="*/ 308 w 871"/>
              <a:gd name="T59" fmla="*/ 415 h 872"/>
              <a:gd name="T60" fmla="*/ 351 w 871"/>
              <a:gd name="T61" fmla="*/ 368 h 872"/>
              <a:gd name="T62" fmla="*/ 341 w 871"/>
              <a:gd name="T63" fmla="*/ 513 h 872"/>
              <a:gd name="T64" fmla="*/ 343 w 871"/>
              <a:gd name="T65" fmla="*/ 531 h 872"/>
              <a:gd name="T66" fmla="*/ 393 w 871"/>
              <a:gd name="T67" fmla="*/ 573 h 872"/>
              <a:gd name="T68" fmla="*/ 384 w 871"/>
              <a:gd name="T69" fmla="*/ 619 h 872"/>
              <a:gd name="T70" fmla="*/ 324 w 871"/>
              <a:gd name="T71" fmla="*/ 613 h 872"/>
              <a:gd name="T72" fmla="*/ 288 w 871"/>
              <a:gd name="T73" fmla="*/ 572 h 872"/>
              <a:gd name="T74" fmla="*/ 209 w 871"/>
              <a:gd name="T75" fmla="*/ 644 h 872"/>
              <a:gd name="T76" fmla="*/ 24 w 871"/>
              <a:gd name="T77" fmla="*/ 436 h 872"/>
              <a:gd name="T78" fmla="*/ 435 w 871"/>
              <a:gd name="T79" fmla="*/ 25 h 872"/>
              <a:gd name="T80" fmla="*/ 644 w 871"/>
              <a:gd name="T81" fmla="*/ 210 h 872"/>
              <a:gd name="T82" fmla="*/ 566 w 871"/>
              <a:gd name="T83" fmla="*/ 244 h 872"/>
              <a:gd name="T84" fmla="*/ 469 w 871"/>
              <a:gd name="T85" fmla="*/ 236 h 872"/>
              <a:gd name="T86" fmla="*/ 456 w 871"/>
              <a:gd name="T87" fmla="*/ 308 h 872"/>
              <a:gd name="T88" fmla="*/ 435 w 871"/>
              <a:gd name="T89" fmla="*/ 418 h 872"/>
              <a:gd name="T90" fmla="*/ 349 w 871"/>
              <a:gd name="T91" fmla="*/ 338 h 872"/>
              <a:gd name="T92" fmla="*/ 313 w 871"/>
              <a:gd name="T93" fmla="*/ 380 h 872"/>
              <a:gd name="T94" fmla="*/ 298 w 871"/>
              <a:gd name="T95" fmla="*/ 393 h 872"/>
              <a:gd name="T96" fmla="*/ 244 w 871"/>
              <a:gd name="T97" fmla="*/ 339 h 872"/>
              <a:gd name="T98" fmla="*/ 295 w 871"/>
              <a:gd name="T99" fmla="*/ 297 h 872"/>
              <a:gd name="T100" fmla="*/ 299 w 871"/>
              <a:gd name="T101" fmla="*/ 289 h 872"/>
              <a:gd name="T102" fmla="*/ 396 w 871"/>
              <a:gd name="T103" fmla="*/ 41 h 872"/>
              <a:gd name="T104" fmla="*/ 492 w 871"/>
              <a:gd name="T105" fmla="*/ 24 h 872"/>
              <a:gd name="T106" fmla="*/ 379 w 871"/>
              <a:gd name="T107" fmla="*/ 24 h 872"/>
              <a:gd name="T108" fmla="*/ 0 w 871"/>
              <a:gd name="T109" fmla="*/ 436 h 872"/>
              <a:gd name="T110" fmla="*/ 379 w 871"/>
              <a:gd name="T111" fmla="*/ 847 h 872"/>
              <a:gd name="T112" fmla="*/ 435 w 871"/>
              <a:gd name="T113" fmla="*/ 871 h 872"/>
              <a:gd name="T114" fmla="*/ 847 w 871"/>
              <a:gd name="T115" fmla="*/ 492 h 872"/>
              <a:gd name="T116" fmla="*/ 847 w 871"/>
              <a:gd name="T117" fmla="*/ 379 h 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1" h="872">
                <a:moveTo>
                  <a:pt x="830" y="475"/>
                </a:moveTo>
                <a:lnTo>
                  <a:pt x="661" y="644"/>
                </a:lnTo>
                <a:lnTo>
                  <a:pt x="601" y="585"/>
                </a:lnTo>
                <a:lnTo>
                  <a:pt x="627" y="567"/>
                </a:lnTo>
                <a:lnTo>
                  <a:pt x="627" y="567"/>
                </a:lnTo>
                <a:cubicBezTo>
                  <a:pt x="636" y="560"/>
                  <a:pt x="644" y="552"/>
                  <a:pt x="648" y="542"/>
                </a:cubicBezTo>
                <a:lnTo>
                  <a:pt x="648" y="542"/>
                </a:lnTo>
                <a:cubicBezTo>
                  <a:pt x="659" y="517"/>
                  <a:pt x="654" y="488"/>
                  <a:pt x="635" y="469"/>
                </a:cubicBezTo>
                <a:lnTo>
                  <a:pt x="635" y="469"/>
                </a:lnTo>
                <a:cubicBezTo>
                  <a:pt x="616" y="450"/>
                  <a:pt x="587" y="446"/>
                  <a:pt x="562" y="457"/>
                </a:cubicBezTo>
                <a:lnTo>
                  <a:pt x="562" y="457"/>
                </a:lnTo>
                <a:cubicBezTo>
                  <a:pt x="553" y="461"/>
                  <a:pt x="545" y="468"/>
                  <a:pt x="538" y="478"/>
                </a:cubicBezTo>
                <a:lnTo>
                  <a:pt x="519" y="503"/>
                </a:lnTo>
                <a:lnTo>
                  <a:pt x="452" y="436"/>
                </a:lnTo>
                <a:lnTo>
                  <a:pt x="529" y="359"/>
                </a:lnTo>
                <a:lnTo>
                  <a:pt x="529" y="359"/>
                </a:lnTo>
                <a:cubicBezTo>
                  <a:pt x="532" y="356"/>
                  <a:pt x="533" y="352"/>
                  <a:pt x="533" y="349"/>
                </a:cubicBezTo>
                <a:lnTo>
                  <a:pt x="533" y="349"/>
                </a:lnTo>
                <a:cubicBezTo>
                  <a:pt x="532" y="346"/>
                  <a:pt x="531" y="342"/>
                  <a:pt x="528" y="340"/>
                </a:cubicBezTo>
                <a:lnTo>
                  <a:pt x="491" y="314"/>
                </a:lnTo>
                <a:lnTo>
                  <a:pt x="491" y="314"/>
                </a:lnTo>
                <a:cubicBezTo>
                  <a:pt x="485" y="310"/>
                  <a:pt x="480" y="304"/>
                  <a:pt x="478" y="299"/>
                </a:cubicBezTo>
                <a:lnTo>
                  <a:pt x="478" y="299"/>
                </a:lnTo>
                <a:cubicBezTo>
                  <a:pt x="471" y="283"/>
                  <a:pt x="474" y="265"/>
                  <a:pt x="486" y="253"/>
                </a:cubicBezTo>
                <a:lnTo>
                  <a:pt x="486" y="253"/>
                </a:lnTo>
                <a:cubicBezTo>
                  <a:pt x="498" y="241"/>
                  <a:pt x="516" y="238"/>
                  <a:pt x="532" y="245"/>
                </a:cubicBezTo>
                <a:lnTo>
                  <a:pt x="532" y="245"/>
                </a:lnTo>
                <a:cubicBezTo>
                  <a:pt x="537" y="247"/>
                  <a:pt x="543" y="252"/>
                  <a:pt x="547" y="258"/>
                </a:cubicBezTo>
                <a:lnTo>
                  <a:pt x="573" y="295"/>
                </a:lnTo>
                <a:lnTo>
                  <a:pt x="573" y="295"/>
                </a:lnTo>
                <a:cubicBezTo>
                  <a:pt x="576" y="297"/>
                  <a:pt x="579" y="299"/>
                  <a:pt x="582" y="300"/>
                </a:cubicBezTo>
                <a:lnTo>
                  <a:pt x="582" y="300"/>
                </a:lnTo>
                <a:cubicBezTo>
                  <a:pt x="586" y="300"/>
                  <a:pt x="589" y="299"/>
                  <a:pt x="592" y="296"/>
                </a:cubicBezTo>
                <a:lnTo>
                  <a:pt x="661" y="227"/>
                </a:lnTo>
                <a:lnTo>
                  <a:pt x="830" y="396"/>
                </a:lnTo>
                <a:lnTo>
                  <a:pt x="830" y="396"/>
                </a:lnTo>
                <a:cubicBezTo>
                  <a:pt x="841" y="407"/>
                  <a:pt x="847" y="421"/>
                  <a:pt x="847" y="436"/>
                </a:cubicBezTo>
                <a:lnTo>
                  <a:pt x="847" y="436"/>
                </a:lnTo>
                <a:cubicBezTo>
                  <a:pt x="847" y="450"/>
                  <a:pt x="841" y="464"/>
                  <a:pt x="830" y="475"/>
                </a:cubicBezTo>
                <a:close/>
                <a:moveTo>
                  <a:pt x="475" y="830"/>
                </a:moveTo>
                <a:lnTo>
                  <a:pt x="475" y="830"/>
                </a:lnTo>
                <a:cubicBezTo>
                  <a:pt x="464" y="841"/>
                  <a:pt x="450" y="847"/>
                  <a:pt x="435" y="847"/>
                </a:cubicBezTo>
                <a:lnTo>
                  <a:pt x="435" y="847"/>
                </a:lnTo>
                <a:cubicBezTo>
                  <a:pt x="421" y="847"/>
                  <a:pt x="406" y="841"/>
                  <a:pt x="396" y="830"/>
                </a:cubicBezTo>
                <a:lnTo>
                  <a:pt x="227" y="661"/>
                </a:lnTo>
                <a:lnTo>
                  <a:pt x="286" y="602"/>
                </a:lnTo>
                <a:lnTo>
                  <a:pt x="304" y="627"/>
                </a:lnTo>
                <a:lnTo>
                  <a:pt x="304" y="627"/>
                </a:lnTo>
                <a:cubicBezTo>
                  <a:pt x="311" y="637"/>
                  <a:pt x="319" y="644"/>
                  <a:pt x="329" y="648"/>
                </a:cubicBezTo>
                <a:lnTo>
                  <a:pt x="329" y="648"/>
                </a:lnTo>
                <a:cubicBezTo>
                  <a:pt x="353" y="659"/>
                  <a:pt x="382" y="654"/>
                  <a:pt x="402" y="635"/>
                </a:cubicBezTo>
                <a:lnTo>
                  <a:pt x="402" y="635"/>
                </a:lnTo>
                <a:cubicBezTo>
                  <a:pt x="421" y="616"/>
                  <a:pt x="426" y="587"/>
                  <a:pt x="414" y="563"/>
                </a:cubicBezTo>
                <a:lnTo>
                  <a:pt x="414" y="563"/>
                </a:lnTo>
                <a:cubicBezTo>
                  <a:pt x="410" y="553"/>
                  <a:pt x="403" y="545"/>
                  <a:pt x="393" y="538"/>
                </a:cubicBezTo>
                <a:lnTo>
                  <a:pt x="369" y="520"/>
                </a:lnTo>
                <a:lnTo>
                  <a:pt x="435" y="453"/>
                </a:lnTo>
                <a:lnTo>
                  <a:pt x="512" y="530"/>
                </a:lnTo>
                <a:lnTo>
                  <a:pt x="512" y="530"/>
                </a:lnTo>
                <a:cubicBezTo>
                  <a:pt x="515" y="532"/>
                  <a:pt x="518" y="533"/>
                  <a:pt x="522" y="533"/>
                </a:cubicBezTo>
                <a:lnTo>
                  <a:pt x="522" y="533"/>
                </a:lnTo>
                <a:cubicBezTo>
                  <a:pt x="526" y="533"/>
                  <a:pt x="529" y="531"/>
                  <a:pt x="531" y="528"/>
                </a:cubicBezTo>
                <a:lnTo>
                  <a:pt x="557" y="492"/>
                </a:lnTo>
                <a:lnTo>
                  <a:pt x="557" y="492"/>
                </a:lnTo>
                <a:cubicBezTo>
                  <a:pt x="562" y="485"/>
                  <a:pt x="566" y="481"/>
                  <a:pt x="572" y="478"/>
                </a:cubicBezTo>
                <a:lnTo>
                  <a:pt x="572" y="478"/>
                </a:lnTo>
                <a:cubicBezTo>
                  <a:pt x="587" y="471"/>
                  <a:pt x="606" y="475"/>
                  <a:pt x="618" y="486"/>
                </a:cubicBezTo>
                <a:lnTo>
                  <a:pt x="618" y="486"/>
                </a:lnTo>
                <a:cubicBezTo>
                  <a:pt x="629" y="499"/>
                  <a:pt x="633" y="517"/>
                  <a:pt x="626" y="532"/>
                </a:cubicBezTo>
                <a:lnTo>
                  <a:pt x="626" y="532"/>
                </a:lnTo>
                <a:cubicBezTo>
                  <a:pt x="623" y="538"/>
                  <a:pt x="619" y="543"/>
                  <a:pt x="613" y="548"/>
                </a:cubicBezTo>
                <a:lnTo>
                  <a:pt x="576" y="574"/>
                </a:lnTo>
                <a:lnTo>
                  <a:pt x="576" y="574"/>
                </a:lnTo>
                <a:cubicBezTo>
                  <a:pt x="573" y="576"/>
                  <a:pt x="571" y="579"/>
                  <a:pt x="571" y="582"/>
                </a:cubicBezTo>
                <a:lnTo>
                  <a:pt x="571" y="582"/>
                </a:lnTo>
                <a:cubicBezTo>
                  <a:pt x="571" y="586"/>
                  <a:pt x="572" y="590"/>
                  <a:pt x="575" y="592"/>
                </a:cubicBezTo>
                <a:lnTo>
                  <a:pt x="644" y="661"/>
                </a:lnTo>
                <a:lnTo>
                  <a:pt x="475" y="830"/>
                </a:lnTo>
                <a:close/>
                <a:moveTo>
                  <a:pt x="24" y="436"/>
                </a:moveTo>
                <a:lnTo>
                  <a:pt x="24" y="436"/>
                </a:lnTo>
                <a:cubicBezTo>
                  <a:pt x="24" y="421"/>
                  <a:pt x="30" y="407"/>
                  <a:pt x="41" y="396"/>
                </a:cubicBezTo>
                <a:lnTo>
                  <a:pt x="209" y="227"/>
                </a:lnTo>
                <a:lnTo>
                  <a:pt x="269" y="286"/>
                </a:lnTo>
                <a:lnTo>
                  <a:pt x="244" y="305"/>
                </a:lnTo>
                <a:lnTo>
                  <a:pt x="244" y="305"/>
                </a:lnTo>
                <a:cubicBezTo>
                  <a:pt x="234" y="311"/>
                  <a:pt x="227" y="320"/>
                  <a:pt x="223" y="329"/>
                </a:cubicBezTo>
                <a:lnTo>
                  <a:pt x="223" y="329"/>
                </a:lnTo>
                <a:cubicBezTo>
                  <a:pt x="211" y="354"/>
                  <a:pt x="217" y="383"/>
                  <a:pt x="236" y="402"/>
                </a:cubicBezTo>
                <a:lnTo>
                  <a:pt x="236" y="402"/>
                </a:lnTo>
                <a:cubicBezTo>
                  <a:pt x="255" y="421"/>
                  <a:pt x="284" y="426"/>
                  <a:pt x="308" y="415"/>
                </a:cubicBezTo>
                <a:lnTo>
                  <a:pt x="308" y="415"/>
                </a:lnTo>
                <a:cubicBezTo>
                  <a:pt x="318" y="411"/>
                  <a:pt x="326" y="403"/>
                  <a:pt x="333" y="394"/>
                </a:cubicBezTo>
                <a:lnTo>
                  <a:pt x="351" y="368"/>
                </a:lnTo>
                <a:lnTo>
                  <a:pt x="419" y="436"/>
                </a:lnTo>
                <a:lnTo>
                  <a:pt x="341" y="513"/>
                </a:lnTo>
                <a:lnTo>
                  <a:pt x="341" y="513"/>
                </a:lnTo>
                <a:cubicBezTo>
                  <a:pt x="339" y="515"/>
                  <a:pt x="337" y="519"/>
                  <a:pt x="338" y="522"/>
                </a:cubicBezTo>
                <a:lnTo>
                  <a:pt x="338" y="522"/>
                </a:lnTo>
                <a:cubicBezTo>
                  <a:pt x="338" y="526"/>
                  <a:pt x="340" y="529"/>
                  <a:pt x="343" y="531"/>
                </a:cubicBezTo>
                <a:lnTo>
                  <a:pt x="380" y="557"/>
                </a:lnTo>
                <a:lnTo>
                  <a:pt x="380" y="557"/>
                </a:lnTo>
                <a:cubicBezTo>
                  <a:pt x="386" y="562"/>
                  <a:pt x="390" y="567"/>
                  <a:pt x="393" y="573"/>
                </a:cubicBezTo>
                <a:lnTo>
                  <a:pt x="393" y="573"/>
                </a:lnTo>
                <a:cubicBezTo>
                  <a:pt x="400" y="588"/>
                  <a:pt x="397" y="606"/>
                  <a:pt x="384" y="619"/>
                </a:cubicBezTo>
                <a:lnTo>
                  <a:pt x="384" y="619"/>
                </a:lnTo>
                <a:cubicBezTo>
                  <a:pt x="373" y="630"/>
                  <a:pt x="354" y="633"/>
                  <a:pt x="339" y="626"/>
                </a:cubicBezTo>
                <a:lnTo>
                  <a:pt x="339" y="626"/>
                </a:lnTo>
                <a:cubicBezTo>
                  <a:pt x="334" y="624"/>
                  <a:pt x="328" y="619"/>
                  <a:pt x="324" y="613"/>
                </a:cubicBezTo>
                <a:lnTo>
                  <a:pt x="297" y="576"/>
                </a:lnTo>
                <a:lnTo>
                  <a:pt x="297" y="576"/>
                </a:lnTo>
                <a:cubicBezTo>
                  <a:pt x="295" y="574"/>
                  <a:pt x="292" y="572"/>
                  <a:pt x="288" y="572"/>
                </a:cubicBezTo>
                <a:lnTo>
                  <a:pt x="288" y="572"/>
                </a:lnTo>
                <a:cubicBezTo>
                  <a:pt x="285" y="572"/>
                  <a:pt x="282" y="573"/>
                  <a:pt x="279" y="575"/>
                </a:cubicBezTo>
                <a:lnTo>
                  <a:pt x="209" y="644"/>
                </a:lnTo>
                <a:lnTo>
                  <a:pt x="41" y="475"/>
                </a:lnTo>
                <a:lnTo>
                  <a:pt x="41" y="475"/>
                </a:lnTo>
                <a:cubicBezTo>
                  <a:pt x="30" y="464"/>
                  <a:pt x="24" y="450"/>
                  <a:pt x="24" y="436"/>
                </a:cubicBezTo>
                <a:close/>
                <a:moveTo>
                  <a:pt x="396" y="41"/>
                </a:moveTo>
                <a:lnTo>
                  <a:pt x="396" y="41"/>
                </a:lnTo>
                <a:cubicBezTo>
                  <a:pt x="406" y="30"/>
                  <a:pt x="421" y="25"/>
                  <a:pt x="435" y="25"/>
                </a:cubicBezTo>
                <a:lnTo>
                  <a:pt x="435" y="25"/>
                </a:lnTo>
                <a:cubicBezTo>
                  <a:pt x="450" y="25"/>
                  <a:pt x="464" y="30"/>
                  <a:pt x="475" y="41"/>
                </a:cubicBezTo>
                <a:lnTo>
                  <a:pt x="644" y="210"/>
                </a:lnTo>
                <a:lnTo>
                  <a:pt x="585" y="269"/>
                </a:lnTo>
                <a:lnTo>
                  <a:pt x="566" y="244"/>
                </a:lnTo>
                <a:lnTo>
                  <a:pt x="566" y="244"/>
                </a:lnTo>
                <a:cubicBezTo>
                  <a:pt x="559" y="234"/>
                  <a:pt x="551" y="227"/>
                  <a:pt x="542" y="223"/>
                </a:cubicBezTo>
                <a:lnTo>
                  <a:pt x="542" y="223"/>
                </a:lnTo>
                <a:cubicBezTo>
                  <a:pt x="517" y="212"/>
                  <a:pt x="488" y="217"/>
                  <a:pt x="469" y="236"/>
                </a:cubicBezTo>
                <a:lnTo>
                  <a:pt x="469" y="236"/>
                </a:lnTo>
                <a:cubicBezTo>
                  <a:pt x="450" y="255"/>
                  <a:pt x="445" y="284"/>
                  <a:pt x="456" y="308"/>
                </a:cubicBezTo>
                <a:lnTo>
                  <a:pt x="456" y="308"/>
                </a:lnTo>
                <a:cubicBezTo>
                  <a:pt x="460" y="318"/>
                  <a:pt x="468" y="326"/>
                  <a:pt x="477" y="333"/>
                </a:cubicBezTo>
                <a:lnTo>
                  <a:pt x="502" y="352"/>
                </a:lnTo>
                <a:lnTo>
                  <a:pt x="435" y="418"/>
                </a:lnTo>
                <a:lnTo>
                  <a:pt x="358" y="342"/>
                </a:lnTo>
                <a:lnTo>
                  <a:pt x="358" y="342"/>
                </a:lnTo>
                <a:cubicBezTo>
                  <a:pt x="356" y="339"/>
                  <a:pt x="352" y="338"/>
                  <a:pt x="349" y="338"/>
                </a:cubicBezTo>
                <a:lnTo>
                  <a:pt x="349" y="338"/>
                </a:lnTo>
                <a:cubicBezTo>
                  <a:pt x="345" y="338"/>
                  <a:pt x="342" y="340"/>
                  <a:pt x="340" y="343"/>
                </a:cubicBezTo>
                <a:lnTo>
                  <a:pt x="313" y="380"/>
                </a:lnTo>
                <a:lnTo>
                  <a:pt x="313" y="380"/>
                </a:lnTo>
                <a:cubicBezTo>
                  <a:pt x="309" y="386"/>
                  <a:pt x="304" y="390"/>
                  <a:pt x="298" y="393"/>
                </a:cubicBezTo>
                <a:lnTo>
                  <a:pt x="298" y="393"/>
                </a:lnTo>
                <a:cubicBezTo>
                  <a:pt x="283" y="400"/>
                  <a:pt x="265" y="396"/>
                  <a:pt x="253" y="385"/>
                </a:cubicBezTo>
                <a:lnTo>
                  <a:pt x="253" y="385"/>
                </a:lnTo>
                <a:cubicBezTo>
                  <a:pt x="241" y="373"/>
                  <a:pt x="238" y="354"/>
                  <a:pt x="244" y="339"/>
                </a:cubicBezTo>
                <a:lnTo>
                  <a:pt x="244" y="339"/>
                </a:lnTo>
                <a:cubicBezTo>
                  <a:pt x="247" y="333"/>
                  <a:pt x="252" y="329"/>
                  <a:pt x="258" y="324"/>
                </a:cubicBezTo>
                <a:lnTo>
                  <a:pt x="295" y="297"/>
                </a:lnTo>
                <a:lnTo>
                  <a:pt x="295" y="297"/>
                </a:lnTo>
                <a:cubicBezTo>
                  <a:pt x="297" y="296"/>
                  <a:pt x="299" y="292"/>
                  <a:pt x="299" y="289"/>
                </a:cubicBezTo>
                <a:lnTo>
                  <a:pt x="299" y="289"/>
                </a:lnTo>
                <a:cubicBezTo>
                  <a:pt x="300" y="285"/>
                  <a:pt x="299" y="281"/>
                  <a:pt x="296" y="279"/>
                </a:cubicBezTo>
                <a:lnTo>
                  <a:pt x="227" y="210"/>
                </a:lnTo>
                <a:lnTo>
                  <a:pt x="396" y="41"/>
                </a:lnTo>
                <a:close/>
                <a:moveTo>
                  <a:pt x="847" y="379"/>
                </a:moveTo>
                <a:lnTo>
                  <a:pt x="492" y="24"/>
                </a:lnTo>
                <a:lnTo>
                  <a:pt x="492" y="24"/>
                </a:lnTo>
                <a:cubicBezTo>
                  <a:pt x="477" y="9"/>
                  <a:pt x="456" y="0"/>
                  <a:pt x="435" y="0"/>
                </a:cubicBezTo>
                <a:lnTo>
                  <a:pt x="435" y="0"/>
                </a:lnTo>
                <a:cubicBezTo>
                  <a:pt x="414" y="0"/>
                  <a:pt x="394" y="9"/>
                  <a:pt x="379" y="24"/>
                </a:cubicBezTo>
                <a:lnTo>
                  <a:pt x="24" y="379"/>
                </a:lnTo>
                <a:lnTo>
                  <a:pt x="24" y="379"/>
                </a:lnTo>
                <a:cubicBezTo>
                  <a:pt x="8" y="394"/>
                  <a:pt x="0" y="414"/>
                  <a:pt x="0" y="436"/>
                </a:cubicBezTo>
                <a:lnTo>
                  <a:pt x="0" y="436"/>
                </a:lnTo>
                <a:cubicBezTo>
                  <a:pt x="0" y="457"/>
                  <a:pt x="8" y="477"/>
                  <a:pt x="24" y="492"/>
                </a:cubicBezTo>
                <a:lnTo>
                  <a:pt x="379" y="847"/>
                </a:lnTo>
                <a:lnTo>
                  <a:pt x="379" y="847"/>
                </a:lnTo>
                <a:cubicBezTo>
                  <a:pt x="394" y="862"/>
                  <a:pt x="414" y="871"/>
                  <a:pt x="435" y="871"/>
                </a:cubicBezTo>
                <a:lnTo>
                  <a:pt x="435" y="871"/>
                </a:lnTo>
                <a:cubicBezTo>
                  <a:pt x="456" y="871"/>
                  <a:pt x="477" y="862"/>
                  <a:pt x="492" y="847"/>
                </a:cubicBezTo>
                <a:lnTo>
                  <a:pt x="847" y="492"/>
                </a:lnTo>
                <a:lnTo>
                  <a:pt x="847" y="492"/>
                </a:lnTo>
                <a:cubicBezTo>
                  <a:pt x="862" y="477"/>
                  <a:pt x="870" y="457"/>
                  <a:pt x="870" y="436"/>
                </a:cubicBezTo>
                <a:lnTo>
                  <a:pt x="870" y="436"/>
                </a:lnTo>
                <a:cubicBezTo>
                  <a:pt x="870" y="414"/>
                  <a:pt x="862" y="394"/>
                  <a:pt x="847" y="3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78" name="Freeform 1009">
            <a:extLst>
              <a:ext uri="{FF2B5EF4-FFF2-40B4-BE49-F238E27FC236}">
                <a16:creationId xmlns:a16="http://schemas.microsoft.com/office/drawing/2014/main" id="{83A19518-6C62-7A43-94F1-21D8DDA034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67090" y="6384815"/>
            <a:ext cx="477421" cy="477423"/>
          </a:xfrm>
          <a:custGeom>
            <a:avLst/>
            <a:gdLst>
              <a:gd name="T0" fmla="*/ 716343 w 285390"/>
              <a:gd name="T1" fmla="*/ 905477 h 284852"/>
              <a:gd name="T2" fmla="*/ 701970 w 285390"/>
              <a:gd name="T3" fmla="*/ 784020 h 284852"/>
              <a:gd name="T4" fmla="*/ 595903 w 285390"/>
              <a:gd name="T5" fmla="*/ 614444 h 284852"/>
              <a:gd name="T6" fmla="*/ 306476 w 285390"/>
              <a:gd name="T7" fmla="*/ 614444 h 284852"/>
              <a:gd name="T8" fmla="*/ 243373 w 285390"/>
              <a:gd name="T9" fmla="*/ 599000 h 284852"/>
              <a:gd name="T10" fmla="*/ 109467 w 285390"/>
              <a:gd name="T11" fmla="*/ 629893 h 284852"/>
              <a:gd name="T12" fmla="*/ 701970 w 285390"/>
              <a:gd name="T13" fmla="*/ 550815 h 284852"/>
              <a:gd name="T14" fmla="*/ 688792 w 285390"/>
              <a:gd name="T15" fmla="*/ 757300 h 284852"/>
              <a:gd name="T16" fmla="*/ 759471 w 285390"/>
              <a:gd name="T17" fmla="*/ 565387 h 284852"/>
              <a:gd name="T18" fmla="*/ 433012 w 285390"/>
              <a:gd name="T19" fmla="*/ 486343 h 284852"/>
              <a:gd name="T20" fmla="*/ 581526 w 285390"/>
              <a:gd name="T21" fmla="*/ 517243 h 284852"/>
              <a:gd name="T22" fmla="*/ 433012 w 285390"/>
              <a:gd name="T23" fmla="*/ 486343 h 284852"/>
              <a:gd name="T24" fmla="*/ 368677 w 285390"/>
              <a:gd name="T25" fmla="*/ 500501 h 284852"/>
              <a:gd name="T26" fmla="*/ 227213 w 285390"/>
              <a:gd name="T27" fmla="*/ 500501 h 284852"/>
              <a:gd name="T28" fmla="*/ 486489 w 285390"/>
              <a:gd name="T29" fmla="*/ 368328 h 284852"/>
              <a:gd name="T30" fmla="*/ 283797 w 285390"/>
              <a:gd name="T31" fmla="*/ 399221 h 284852"/>
              <a:gd name="T32" fmla="*/ 283797 w 285390"/>
              <a:gd name="T33" fmla="*/ 250306 h 284852"/>
              <a:gd name="T34" fmla="*/ 486489 w 285390"/>
              <a:gd name="T35" fmla="*/ 276011 h 284852"/>
              <a:gd name="T36" fmla="*/ 283797 w 285390"/>
              <a:gd name="T37" fmla="*/ 250306 h 284852"/>
              <a:gd name="T38" fmla="*/ 164536 w 285390"/>
              <a:gd name="T39" fmla="*/ 235122 h 284852"/>
              <a:gd name="T40" fmla="*/ 183927 w 285390"/>
              <a:gd name="T41" fmla="*/ 282149 h 284852"/>
              <a:gd name="T42" fmla="*/ 149991 w 285390"/>
              <a:gd name="T43" fmla="*/ 324352 h 284852"/>
              <a:gd name="T44" fmla="*/ 164536 w 285390"/>
              <a:gd name="T45" fmla="*/ 454573 h 284852"/>
              <a:gd name="T46" fmla="*/ 135445 w 285390"/>
              <a:gd name="T47" fmla="*/ 441311 h 284852"/>
              <a:gd name="T48" fmla="*/ 116055 w 285390"/>
              <a:gd name="T49" fmla="*/ 394284 h 284852"/>
              <a:gd name="T50" fmla="*/ 149991 w 285390"/>
              <a:gd name="T51" fmla="*/ 353295 h 284852"/>
              <a:gd name="T52" fmla="*/ 135445 w 285390"/>
              <a:gd name="T53" fmla="*/ 221860 h 284852"/>
              <a:gd name="T54" fmla="*/ 673219 w 285390"/>
              <a:gd name="T55" fmla="*/ 119637 h 284852"/>
              <a:gd name="T56" fmla="*/ 745094 w 285390"/>
              <a:gd name="T57" fmla="*/ 525311 h 284852"/>
              <a:gd name="T58" fmla="*/ 731915 w 285390"/>
              <a:gd name="T59" fmla="*/ 103846 h 284852"/>
              <a:gd name="T60" fmla="*/ 700775 w 285390"/>
              <a:gd name="T61" fmla="*/ 33399 h 284852"/>
              <a:gd name="T62" fmla="*/ 733118 w 285390"/>
              <a:gd name="T63" fmla="*/ 33399 h 284852"/>
              <a:gd name="T64" fmla="*/ 689988 w 285390"/>
              <a:gd name="T65" fmla="*/ 5462 h 284852"/>
              <a:gd name="T66" fmla="*/ 761864 w 285390"/>
              <a:gd name="T67" fmla="*/ 23678 h 284852"/>
              <a:gd name="T68" fmla="*/ 788219 w 285390"/>
              <a:gd name="T69" fmla="*/ 109923 h 284852"/>
              <a:gd name="T70" fmla="*/ 949932 w 285390"/>
              <a:gd name="T71" fmla="*/ 147574 h 284852"/>
              <a:gd name="T72" fmla="*/ 832542 w 285390"/>
              <a:gd name="T73" fmla="*/ 765802 h 284852"/>
              <a:gd name="T74" fmla="*/ 921185 w 285390"/>
              <a:gd name="T75" fmla="*/ 736651 h 284852"/>
              <a:gd name="T76" fmla="*/ 788219 w 285390"/>
              <a:gd name="T77" fmla="*/ 790090 h 284852"/>
              <a:gd name="T78" fmla="*/ 716343 w 285390"/>
              <a:gd name="T79" fmla="*/ 962567 h 284852"/>
              <a:gd name="T80" fmla="*/ 645670 w 285390"/>
              <a:gd name="T81" fmla="*/ 790090 h 284852"/>
              <a:gd name="T82" fmla="*/ 0 w 285390"/>
              <a:gd name="T83" fmla="*/ 751224 h 284852"/>
              <a:gd name="T84" fmla="*/ 524683 w 285390"/>
              <a:gd name="T85" fmla="*/ 132997 h 284852"/>
              <a:gd name="T86" fmla="*/ 28750 w 285390"/>
              <a:gd name="T87" fmla="*/ 162148 h 284852"/>
              <a:gd name="T88" fmla="*/ 645670 w 285390"/>
              <a:gd name="T89" fmla="*/ 125709 h 284852"/>
              <a:gd name="T90" fmla="*/ 582179 w 285390"/>
              <a:gd name="T91" fmla="*/ 391704 h 284852"/>
              <a:gd name="T92" fmla="*/ 655252 w 285390"/>
              <a:gd name="T93" fmla="*/ 95344 h 284852"/>
              <a:gd name="T94" fmla="*/ 679209 w 285390"/>
              <a:gd name="T95" fmla="*/ 10329 h 284852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85390" h="284852">
                <a:moveTo>
                  <a:pt x="210894" y="232015"/>
                </a:moveTo>
                <a:lnTo>
                  <a:pt x="203336" y="235969"/>
                </a:lnTo>
                <a:lnTo>
                  <a:pt x="215212" y="267958"/>
                </a:lnTo>
                <a:lnTo>
                  <a:pt x="227089" y="235969"/>
                </a:lnTo>
                <a:lnTo>
                  <a:pt x="219891" y="232015"/>
                </a:lnTo>
                <a:cubicBezTo>
                  <a:pt x="217012" y="230577"/>
                  <a:pt x="213773" y="230577"/>
                  <a:pt x="210894" y="232015"/>
                </a:cubicBezTo>
                <a:close/>
                <a:moveTo>
                  <a:pt x="96387" y="177261"/>
                </a:moveTo>
                <a:lnTo>
                  <a:pt x="174716" y="177261"/>
                </a:lnTo>
                <a:cubicBezTo>
                  <a:pt x="177231" y="177261"/>
                  <a:pt x="179028" y="179166"/>
                  <a:pt x="179028" y="181833"/>
                </a:cubicBezTo>
                <a:cubicBezTo>
                  <a:pt x="179028" y="184119"/>
                  <a:pt x="177231" y="186405"/>
                  <a:pt x="174716" y="186405"/>
                </a:cubicBezTo>
                <a:lnTo>
                  <a:pt x="96387" y="186405"/>
                </a:lnTo>
                <a:cubicBezTo>
                  <a:pt x="94231" y="186405"/>
                  <a:pt x="92075" y="184119"/>
                  <a:pt x="92075" y="181833"/>
                </a:cubicBezTo>
                <a:cubicBezTo>
                  <a:pt x="92075" y="179166"/>
                  <a:pt x="94231" y="177261"/>
                  <a:pt x="96387" y="177261"/>
                </a:cubicBezTo>
                <a:close/>
                <a:moveTo>
                  <a:pt x="32886" y="177261"/>
                </a:moveTo>
                <a:lnTo>
                  <a:pt x="73117" y="177261"/>
                </a:lnTo>
                <a:cubicBezTo>
                  <a:pt x="75632" y="177261"/>
                  <a:pt x="77428" y="179166"/>
                  <a:pt x="77428" y="181833"/>
                </a:cubicBezTo>
                <a:cubicBezTo>
                  <a:pt x="77428" y="184119"/>
                  <a:pt x="75632" y="186405"/>
                  <a:pt x="73117" y="186405"/>
                </a:cubicBezTo>
                <a:lnTo>
                  <a:pt x="32886" y="186405"/>
                </a:lnTo>
                <a:cubicBezTo>
                  <a:pt x="30731" y="186405"/>
                  <a:pt x="28575" y="184119"/>
                  <a:pt x="28575" y="181833"/>
                </a:cubicBezTo>
                <a:cubicBezTo>
                  <a:pt x="28575" y="179166"/>
                  <a:pt x="30731" y="177261"/>
                  <a:pt x="32886" y="177261"/>
                </a:cubicBezTo>
                <a:close/>
                <a:moveTo>
                  <a:pt x="210894" y="163003"/>
                </a:moveTo>
                <a:lnTo>
                  <a:pt x="202257" y="167316"/>
                </a:lnTo>
                <a:lnTo>
                  <a:pt x="202257" y="226624"/>
                </a:lnTo>
                <a:lnTo>
                  <a:pt x="206935" y="224107"/>
                </a:lnTo>
                <a:cubicBezTo>
                  <a:pt x="212333" y="221591"/>
                  <a:pt x="218451" y="221591"/>
                  <a:pt x="223850" y="224107"/>
                </a:cubicBezTo>
                <a:lnTo>
                  <a:pt x="228168" y="226624"/>
                </a:lnTo>
                <a:lnTo>
                  <a:pt x="228168" y="167316"/>
                </a:lnTo>
                <a:lnTo>
                  <a:pt x="219891" y="163003"/>
                </a:lnTo>
                <a:cubicBezTo>
                  <a:pt x="217012" y="161565"/>
                  <a:pt x="213773" y="161565"/>
                  <a:pt x="210894" y="163003"/>
                </a:cubicBezTo>
                <a:close/>
                <a:moveTo>
                  <a:pt x="130090" y="143923"/>
                </a:moveTo>
                <a:lnTo>
                  <a:pt x="174709" y="143923"/>
                </a:lnTo>
                <a:cubicBezTo>
                  <a:pt x="177228" y="143923"/>
                  <a:pt x="179027" y="145828"/>
                  <a:pt x="179027" y="148114"/>
                </a:cubicBezTo>
                <a:cubicBezTo>
                  <a:pt x="179027" y="150781"/>
                  <a:pt x="177228" y="153067"/>
                  <a:pt x="174709" y="153067"/>
                </a:cubicBezTo>
                <a:lnTo>
                  <a:pt x="130090" y="153067"/>
                </a:lnTo>
                <a:cubicBezTo>
                  <a:pt x="127571" y="153067"/>
                  <a:pt x="125412" y="150781"/>
                  <a:pt x="125412" y="148114"/>
                </a:cubicBezTo>
                <a:cubicBezTo>
                  <a:pt x="125412" y="145828"/>
                  <a:pt x="127571" y="143923"/>
                  <a:pt x="130090" y="143923"/>
                </a:cubicBezTo>
                <a:close/>
                <a:moveTo>
                  <a:pt x="72621" y="143923"/>
                </a:moveTo>
                <a:lnTo>
                  <a:pt x="106766" y="143923"/>
                </a:lnTo>
                <a:cubicBezTo>
                  <a:pt x="108946" y="143923"/>
                  <a:pt x="110762" y="145828"/>
                  <a:pt x="110762" y="148114"/>
                </a:cubicBezTo>
                <a:cubicBezTo>
                  <a:pt x="110762" y="150781"/>
                  <a:pt x="108946" y="153067"/>
                  <a:pt x="106766" y="153067"/>
                </a:cubicBezTo>
                <a:lnTo>
                  <a:pt x="72621" y="153067"/>
                </a:lnTo>
                <a:cubicBezTo>
                  <a:pt x="70442" y="153067"/>
                  <a:pt x="68262" y="150781"/>
                  <a:pt x="68262" y="148114"/>
                </a:cubicBezTo>
                <a:cubicBezTo>
                  <a:pt x="68262" y="145828"/>
                  <a:pt x="70442" y="143923"/>
                  <a:pt x="72621" y="143923"/>
                </a:cubicBezTo>
                <a:close/>
                <a:moveTo>
                  <a:pt x="85261" y="108998"/>
                </a:moveTo>
                <a:lnTo>
                  <a:pt x="146156" y="108998"/>
                </a:lnTo>
                <a:cubicBezTo>
                  <a:pt x="148663" y="108998"/>
                  <a:pt x="150454" y="111284"/>
                  <a:pt x="150454" y="113951"/>
                </a:cubicBezTo>
                <a:cubicBezTo>
                  <a:pt x="150454" y="116237"/>
                  <a:pt x="148663" y="118142"/>
                  <a:pt x="146156" y="118142"/>
                </a:cubicBezTo>
                <a:lnTo>
                  <a:pt x="85261" y="118142"/>
                </a:lnTo>
                <a:cubicBezTo>
                  <a:pt x="82753" y="118142"/>
                  <a:pt x="80962" y="116237"/>
                  <a:pt x="80962" y="113951"/>
                </a:cubicBezTo>
                <a:cubicBezTo>
                  <a:pt x="80962" y="111284"/>
                  <a:pt x="82753" y="108998"/>
                  <a:pt x="85261" y="108998"/>
                </a:cubicBezTo>
                <a:close/>
                <a:moveTo>
                  <a:pt x="85261" y="74073"/>
                </a:moveTo>
                <a:lnTo>
                  <a:pt x="146156" y="74073"/>
                </a:lnTo>
                <a:cubicBezTo>
                  <a:pt x="148663" y="74073"/>
                  <a:pt x="150454" y="75727"/>
                  <a:pt x="150454" y="77711"/>
                </a:cubicBezTo>
                <a:cubicBezTo>
                  <a:pt x="150454" y="80026"/>
                  <a:pt x="148663" y="81680"/>
                  <a:pt x="146156" y="81680"/>
                </a:cubicBezTo>
                <a:lnTo>
                  <a:pt x="85261" y="81680"/>
                </a:lnTo>
                <a:cubicBezTo>
                  <a:pt x="82753" y="81680"/>
                  <a:pt x="80962" y="80026"/>
                  <a:pt x="80962" y="77711"/>
                </a:cubicBezTo>
                <a:cubicBezTo>
                  <a:pt x="80962" y="75727"/>
                  <a:pt x="82753" y="74073"/>
                  <a:pt x="85261" y="74073"/>
                </a:cubicBezTo>
                <a:close/>
                <a:moveTo>
                  <a:pt x="45062" y="61373"/>
                </a:moveTo>
                <a:cubicBezTo>
                  <a:pt x="47610" y="61373"/>
                  <a:pt x="49431" y="63514"/>
                  <a:pt x="49431" y="65655"/>
                </a:cubicBezTo>
                <a:lnTo>
                  <a:pt x="49431" y="69580"/>
                </a:lnTo>
                <a:cubicBezTo>
                  <a:pt x="55621" y="70650"/>
                  <a:pt x="60718" y="74575"/>
                  <a:pt x="63267" y="80285"/>
                </a:cubicBezTo>
                <a:cubicBezTo>
                  <a:pt x="64359" y="82069"/>
                  <a:pt x="63267" y="84923"/>
                  <a:pt x="60718" y="85637"/>
                </a:cubicBezTo>
                <a:cubicBezTo>
                  <a:pt x="58533" y="86707"/>
                  <a:pt x="55985" y="85637"/>
                  <a:pt x="55257" y="83496"/>
                </a:cubicBezTo>
                <a:cubicBezTo>
                  <a:pt x="53436" y="79928"/>
                  <a:pt x="49431" y="77430"/>
                  <a:pt x="45062" y="77430"/>
                </a:cubicBezTo>
                <a:cubicBezTo>
                  <a:pt x="39236" y="77430"/>
                  <a:pt x="34503" y="81712"/>
                  <a:pt x="34503" y="86707"/>
                </a:cubicBezTo>
                <a:cubicBezTo>
                  <a:pt x="34503" y="92773"/>
                  <a:pt x="38144" y="95985"/>
                  <a:pt x="45062" y="95985"/>
                </a:cubicBezTo>
                <a:cubicBezTo>
                  <a:pt x="59626" y="95985"/>
                  <a:pt x="64723" y="104905"/>
                  <a:pt x="64723" y="113469"/>
                </a:cubicBezTo>
                <a:cubicBezTo>
                  <a:pt x="64723" y="121676"/>
                  <a:pt x="57805" y="128813"/>
                  <a:pt x="49431" y="130954"/>
                </a:cubicBezTo>
                <a:lnTo>
                  <a:pt x="49431" y="134522"/>
                </a:lnTo>
                <a:cubicBezTo>
                  <a:pt x="49431" y="136663"/>
                  <a:pt x="47610" y="138804"/>
                  <a:pt x="45062" y="138804"/>
                </a:cubicBezTo>
                <a:cubicBezTo>
                  <a:pt x="42513" y="138804"/>
                  <a:pt x="40692" y="136663"/>
                  <a:pt x="40692" y="134522"/>
                </a:cubicBezTo>
                <a:lnTo>
                  <a:pt x="40692" y="130597"/>
                </a:lnTo>
                <a:cubicBezTo>
                  <a:pt x="34503" y="129526"/>
                  <a:pt x="29405" y="125601"/>
                  <a:pt x="27220" y="119892"/>
                </a:cubicBezTo>
                <a:cubicBezTo>
                  <a:pt x="26128" y="117751"/>
                  <a:pt x="27220" y="115253"/>
                  <a:pt x="29405" y="114183"/>
                </a:cubicBezTo>
                <a:cubicBezTo>
                  <a:pt x="31590" y="113469"/>
                  <a:pt x="34139" y="114540"/>
                  <a:pt x="34867" y="116681"/>
                </a:cubicBezTo>
                <a:cubicBezTo>
                  <a:pt x="36687" y="120249"/>
                  <a:pt x="40692" y="122747"/>
                  <a:pt x="45062" y="122747"/>
                </a:cubicBezTo>
                <a:cubicBezTo>
                  <a:pt x="50887" y="122747"/>
                  <a:pt x="55985" y="118465"/>
                  <a:pt x="55985" y="113469"/>
                </a:cubicBezTo>
                <a:cubicBezTo>
                  <a:pt x="55985" y="107403"/>
                  <a:pt x="52344" y="104549"/>
                  <a:pt x="45062" y="104549"/>
                </a:cubicBezTo>
                <a:cubicBezTo>
                  <a:pt x="30862" y="104549"/>
                  <a:pt x="25400" y="95271"/>
                  <a:pt x="25400" y="86707"/>
                </a:cubicBezTo>
                <a:cubicBezTo>
                  <a:pt x="25400" y="78144"/>
                  <a:pt x="31954" y="71007"/>
                  <a:pt x="40692" y="69580"/>
                </a:cubicBezTo>
                <a:lnTo>
                  <a:pt x="40692" y="65655"/>
                </a:lnTo>
                <a:cubicBezTo>
                  <a:pt x="40692" y="63514"/>
                  <a:pt x="42513" y="61373"/>
                  <a:pt x="45062" y="61373"/>
                </a:cubicBezTo>
                <a:close/>
                <a:moveTo>
                  <a:pt x="210894" y="30732"/>
                </a:moveTo>
                <a:lnTo>
                  <a:pt x="202257" y="35404"/>
                </a:lnTo>
                <a:lnTo>
                  <a:pt x="202257" y="157612"/>
                </a:lnTo>
                <a:lnTo>
                  <a:pt x="206935" y="155455"/>
                </a:lnTo>
                <a:cubicBezTo>
                  <a:pt x="212333" y="152580"/>
                  <a:pt x="218451" y="152580"/>
                  <a:pt x="223850" y="155455"/>
                </a:cubicBezTo>
                <a:lnTo>
                  <a:pt x="228168" y="157612"/>
                </a:lnTo>
                <a:lnTo>
                  <a:pt x="228168" y="35404"/>
                </a:lnTo>
                <a:lnTo>
                  <a:pt x="219891" y="30732"/>
                </a:lnTo>
                <a:cubicBezTo>
                  <a:pt x="217012" y="29294"/>
                  <a:pt x="213773" y="29294"/>
                  <a:pt x="210894" y="30732"/>
                </a:cubicBezTo>
                <a:close/>
                <a:moveTo>
                  <a:pt x="211254" y="9525"/>
                </a:moveTo>
                <a:lnTo>
                  <a:pt x="210534" y="9884"/>
                </a:lnTo>
                <a:lnTo>
                  <a:pt x="210534" y="21746"/>
                </a:lnTo>
                <a:cubicBezTo>
                  <a:pt x="213773" y="21027"/>
                  <a:pt x="217012" y="21027"/>
                  <a:pt x="220251" y="21746"/>
                </a:cubicBezTo>
                <a:lnTo>
                  <a:pt x="220251" y="9884"/>
                </a:lnTo>
                <a:lnTo>
                  <a:pt x="219531" y="9525"/>
                </a:lnTo>
                <a:cubicBezTo>
                  <a:pt x="216652" y="8087"/>
                  <a:pt x="213773" y="8087"/>
                  <a:pt x="211254" y="9525"/>
                </a:cubicBezTo>
                <a:close/>
                <a:moveTo>
                  <a:pt x="207295" y="1617"/>
                </a:moveTo>
                <a:cubicBezTo>
                  <a:pt x="212333" y="-539"/>
                  <a:pt x="218451" y="-539"/>
                  <a:pt x="223490" y="1617"/>
                </a:cubicBezTo>
                <a:lnTo>
                  <a:pt x="226369" y="3055"/>
                </a:lnTo>
                <a:cubicBezTo>
                  <a:pt x="228168" y="3774"/>
                  <a:pt x="228888" y="5571"/>
                  <a:pt x="228888" y="7009"/>
                </a:cubicBezTo>
                <a:lnTo>
                  <a:pt x="228888" y="25699"/>
                </a:lnTo>
                <a:lnTo>
                  <a:pt x="234646" y="28575"/>
                </a:lnTo>
                <a:cubicBezTo>
                  <a:pt x="236086" y="29653"/>
                  <a:pt x="236806" y="31091"/>
                  <a:pt x="236806" y="32529"/>
                </a:cubicBezTo>
                <a:lnTo>
                  <a:pt x="236806" y="39358"/>
                </a:lnTo>
                <a:lnTo>
                  <a:pt x="281072" y="39358"/>
                </a:lnTo>
                <a:cubicBezTo>
                  <a:pt x="283231" y="39358"/>
                  <a:pt x="285390" y="41515"/>
                  <a:pt x="285390" y="43671"/>
                </a:cubicBezTo>
                <a:lnTo>
                  <a:pt x="285390" y="222310"/>
                </a:lnTo>
                <a:cubicBezTo>
                  <a:pt x="285390" y="224467"/>
                  <a:pt x="283231" y="226624"/>
                  <a:pt x="281072" y="226624"/>
                </a:cubicBezTo>
                <a:lnTo>
                  <a:pt x="250121" y="226624"/>
                </a:lnTo>
                <a:cubicBezTo>
                  <a:pt x="247602" y="226624"/>
                  <a:pt x="245443" y="224467"/>
                  <a:pt x="245443" y="222310"/>
                </a:cubicBezTo>
                <a:cubicBezTo>
                  <a:pt x="245443" y="219794"/>
                  <a:pt x="247602" y="217997"/>
                  <a:pt x="250121" y="217997"/>
                </a:cubicBezTo>
                <a:lnTo>
                  <a:pt x="276753" y="217997"/>
                </a:lnTo>
                <a:lnTo>
                  <a:pt x="276753" y="47984"/>
                </a:lnTo>
                <a:lnTo>
                  <a:pt x="236806" y="47984"/>
                </a:lnTo>
                <a:lnTo>
                  <a:pt x="236806" y="233812"/>
                </a:lnTo>
                <a:cubicBezTo>
                  <a:pt x="236806" y="234172"/>
                  <a:pt x="236806" y="234890"/>
                  <a:pt x="236806" y="235250"/>
                </a:cubicBezTo>
                <a:lnTo>
                  <a:pt x="219531" y="282336"/>
                </a:lnTo>
                <a:cubicBezTo>
                  <a:pt x="218811" y="283773"/>
                  <a:pt x="217012" y="284852"/>
                  <a:pt x="215212" y="284852"/>
                </a:cubicBezTo>
                <a:cubicBezTo>
                  <a:pt x="213413" y="284852"/>
                  <a:pt x="211973" y="283773"/>
                  <a:pt x="211254" y="282336"/>
                </a:cubicBezTo>
                <a:lnTo>
                  <a:pt x="193979" y="235250"/>
                </a:lnTo>
                <a:cubicBezTo>
                  <a:pt x="193979" y="234890"/>
                  <a:pt x="193979" y="234172"/>
                  <a:pt x="193979" y="233812"/>
                </a:cubicBezTo>
                <a:lnTo>
                  <a:pt x="193979" y="226624"/>
                </a:lnTo>
                <a:lnTo>
                  <a:pt x="4318" y="226624"/>
                </a:lnTo>
                <a:cubicBezTo>
                  <a:pt x="1799" y="226624"/>
                  <a:pt x="0" y="224467"/>
                  <a:pt x="0" y="222310"/>
                </a:cubicBezTo>
                <a:lnTo>
                  <a:pt x="0" y="43671"/>
                </a:lnTo>
                <a:cubicBezTo>
                  <a:pt x="0" y="41515"/>
                  <a:pt x="1799" y="39358"/>
                  <a:pt x="4318" y="39358"/>
                </a:cubicBezTo>
                <a:lnTo>
                  <a:pt x="157631" y="39358"/>
                </a:lnTo>
                <a:cubicBezTo>
                  <a:pt x="159790" y="39358"/>
                  <a:pt x="161949" y="41515"/>
                  <a:pt x="161949" y="43671"/>
                </a:cubicBezTo>
                <a:cubicBezTo>
                  <a:pt x="161949" y="46187"/>
                  <a:pt x="159790" y="47984"/>
                  <a:pt x="157631" y="47984"/>
                </a:cubicBezTo>
                <a:lnTo>
                  <a:pt x="8637" y="47984"/>
                </a:lnTo>
                <a:lnTo>
                  <a:pt x="8637" y="217997"/>
                </a:lnTo>
                <a:lnTo>
                  <a:pt x="193979" y="217997"/>
                </a:lnTo>
                <a:lnTo>
                  <a:pt x="193979" y="37201"/>
                </a:lnTo>
                <a:cubicBezTo>
                  <a:pt x="185342" y="38998"/>
                  <a:pt x="179224" y="45109"/>
                  <a:pt x="179224" y="52657"/>
                </a:cubicBezTo>
                <a:lnTo>
                  <a:pt x="179224" y="111604"/>
                </a:lnTo>
                <a:cubicBezTo>
                  <a:pt x="179224" y="114120"/>
                  <a:pt x="177424" y="115917"/>
                  <a:pt x="174905" y="115917"/>
                </a:cubicBezTo>
                <a:cubicBezTo>
                  <a:pt x="172746" y="115917"/>
                  <a:pt x="170587" y="114120"/>
                  <a:pt x="170587" y="111604"/>
                </a:cubicBezTo>
                <a:lnTo>
                  <a:pt x="170587" y="52657"/>
                </a:lnTo>
                <a:cubicBezTo>
                  <a:pt x="170587" y="39358"/>
                  <a:pt x="182103" y="28934"/>
                  <a:pt x="196858" y="28215"/>
                </a:cubicBezTo>
                <a:lnTo>
                  <a:pt x="201897" y="25699"/>
                </a:lnTo>
                <a:lnTo>
                  <a:pt x="201897" y="7009"/>
                </a:lnTo>
                <a:cubicBezTo>
                  <a:pt x="201897" y="5571"/>
                  <a:pt x="202616" y="3774"/>
                  <a:pt x="204056" y="3055"/>
                </a:cubicBezTo>
                <a:lnTo>
                  <a:pt x="207295" y="16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599" y="548854"/>
            <a:ext cx="2323548" cy="506375"/>
          </a:xfrm>
          <a:prstGeom prst="rect">
            <a:avLst/>
          </a:prstGeom>
        </p:spPr>
      </p:pic>
      <p:sp>
        <p:nvSpPr>
          <p:cNvPr id="80" name="Subtitle 2">
            <a:extLst>
              <a:ext uri="{FF2B5EF4-FFF2-40B4-BE49-F238E27FC236}">
                <a16:creationId xmlns:a16="http://schemas.microsoft.com/office/drawing/2014/main" id="{FC096E74-3FE8-4444-B265-85290015C1B1}"/>
              </a:ext>
            </a:extLst>
          </p:cNvPr>
          <p:cNvSpPr txBox="1">
            <a:spLocks/>
          </p:cNvSpPr>
          <p:nvPr/>
        </p:nvSpPr>
        <p:spPr>
          <a:xfrm>
            <a:off x="488731" y="6937980"/>
            <a:ext cx="3997832" cy="726746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 algn="l" defTabSz="914400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Limited financial autonomy (e.g. budget carry forward, revenue retention,  budget transfer between chapters) affect s the research productivity and impose uncertainties on the research funding process</a:t>
            </a:r>
          </a:p>
        </p:txBody>
      </p:sp>
      <p:sp>
        <p:nvSpPr>
          <p:cNvPr id="81" name="Freeform 202">
            <a:extLst>
              <a:ext uri="{FF2B5EF4-FFF2-40B4-BE49-F238E27FC236}">
                <a16:creationId xmlns:a16="http://schemas.microsoft.com/office/drawing/2014/main" id="{791D2EBD-2843-CC47-85E5-B5167F4DC7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17138" y="2429716"/>
            <a:ext cx="468000" cy="368845"/>
          </a:xfrm>
          <a:custGeom>
            <a:avLst/>
            <a:gdLst>
              <a:gd name="T0" fmla="*/ 2147483646 w 842"/>
              <a:gd name="T1" fmla="*/ 2147483646 h 812"/>
              <a:gd name="T2" fmla="*/ 2147483646 w 842"/>
              <a:gd name="T3" fmla="*/ 2147483646 h 812"/>
              <a:gd name="T4" fmla="*/ 2147483646 w 842"/>
              <a:gd name="T5" fmla="*/ 2147483646 h 812"/>
              <a:gd name="T6" fmla="*/ 2147483646 w 842"/>
              <a:gd name="T7" fmla="*/ 2147483646 h 812"/>
              <a:gd name="T8" fmla="*/ 2147483646 w 842"/>
              <a:gd name="T9" fmla="*/ 2147483646 h 812"/>
              <a:gd name="T10" fmla="*/ 2147483646 w 842"/>
              <a:gd name="T11" fmla="*/ 2147483646 h 812"/>
              <a:gd name="T12" fmla="*/ 2147483646 w 842"/>
              <a:gd name="T13" fmla="*/ 2147483646 h 812"/>
              <a:gd name="T14" fmla="*/ 2147483646 w 842"/>
              <a:gd name="T15" fmla="*/ 2147483646 h 812"/>
              <a:gd name="T16" fmla="*/ 2147483646 w 842"/>
              <a:gd name="T17" fmla="*/ 2147483646 h 812"/>
              <a:gd name="T18" fmla="*/ 2147483646 w 842"/>
              <a:gd name="T19" fmla="*/ 2147483646 h 812"/>
              <a:gd name="T20" fmla="*/ 2147483646 w 842"/>
              <a:gd name="T21" fmla="*/ 2147483646 h 812"/>
              <a:gd name="T22" fmla="*/ 2147483646 w 842"/>
              <a:gd name="T23" fmla="*/ 2147483646 h 812"/>
              <a:gd name="T24" fmla="*/ 2147483646 w 842"/>
              <a:gd name="T25" fmla="*/ 2147483646 h 812"/>
              <a:gd name="T26" fmla="*/ 2147483646 w 842"/>
              <a:gd name="T27" fmla="*/ 2147483646 h 812"/>
              <a:gd name="T28" fmla="*/ 2147483646 w 842"/>
              <a:gd name="T29" fmla="*/ 2147483646 h 812"/>
              <a:gd name="T30" fmla="*/ 2147483646 w 842"/>
              <a:gd name="T31" fmla="*/ 2147483646 h 812"/>
              <a:gd name="T32" fmla="*/ 2147483646 w 842"/>
              <a:gd name="T33" fmla="*/ 2147483646 h 812"/>
              <a:gd name="T34" fmla="*/ 2147483646 w 842"/>
              <a:gd name="T35" fmla="*/ 2147483646 h 812"/>
              <a:gd name="T36" fmla="*/ 2147483646 w 842"/>
              <a:gd name="T37" fmla="*/ 2147483646 h 812"/>
              <a:gd name="T38" fmla="*/ 2147483646 w 842"/>
              <a:gd name="T39" fmla="*/ 2147483646 h 812"/>
              <a:gd name="T40" fmla="*/ 2147483646 w 842"/>
              <a:gd name="T41" fmla="*/ 2147483646 h 812"/>
              <a:gd name="T42" fmla="*/ 2147483646 w 842"/>
              <a:gd name="T43" fmla="*/ 2147483646 h 812"/>
              <a:gd name="T44" fmla="*/ 2147483646 w 842"/>
              <a:gd name="T45" fmla="*/ 2147483646 h 812"/>
              <a:gd name="T46" fmla="*/ 2147483646 w 842"/>
              <a:gd name="T47" fmla="*/ 2147483646 h 812"/>
              <a:gd name="T48" fmla="*/ 2147483646 w 842"/>
              <a:gd name="T49" fmla="*/ 2147483646 h 812"/>
              <a:gd name="T50" fmla="*/ 2147483646 w 842"/>
              <a:gd name="T51" fmla="*/ 2147483646 h 812"/>
              <a:gd name="T52" fmla="*/ 2147483646 w 842"/>
              <a:gd name="T53" fmla="*/ 2147483646 h 812"/>
              <a:gd name="T54" fmla="*/ 2147483646 w 842"/>
              <a:gd name="T55" fmla="*/ 2147483646 h 812"/>
              <a:gd name="T56" fmla="*/ 2147483646 w 842"/>
              <a:gd name="T57" fmla="*/ 2147483646 h 812"/>
              <a:gd name="T58" fmla="*/ 2147483646 w 842"/>
              <a:gd name="T59" fmla="*/ 2147483646 h 812"/>
              <a:gd name="T60" fmla="*/ 2147483646 w 842"/>
              <a:gd name="T61" fmla="*/ 2147483646 h 812"/>
              <a:gd name="T62" fmla="*/ 2147483646 w 842"/>
              <a:gd name="T63" fmla="*/ 2147483646 h 812"/>
              <a:gd name="T64" fmla="*/ 2147483646 w 842"/>
              <a:gd name="T65" fmla="*/ 2147483646 h 812"/>
              <a:gd name="T66" fmla="*/ 2147483646 w 842"/>
              <a:gd name="T67" fmla="*/ 2147483646 h 812"/>
              <a:gd name="T68" fmla="*/ 2147483646 w 842"/>
              <a:gd name="T69" fmla="*/ 2147483646 h 812"/>
              <a:gd name="T70" fmla="*/ 2147483646 w 842"/>
              <a:gd name="T71" fmla="*/ 2147483646 h 812"/>
              <a:gd name="T72" fmla="*/ 2147483646 w 842"/>
              <a:gd name="T73" fmla="*/ 2147483646 h 812"/>
              <a:gd name="T74" fmla="*/ 2147483646 w 842"/>
              <a:gd name="T75" fmla="*/ 2147483646 h 812"/>
              <a:gd name="T76" fmla="*/ 2147483646 w 842"/>
              <a:gd name="T77" fmla="*/ 2147483646 h 812"/>
              <a:gd name="T78" fmla="*/ 2147483646 w 842"/>
              <a:gd name="T79" fmla="*/ 2147483646 h 812"/>
              <a:gd name="T80" fmla="*/ 2147483646 w 842"/>
              <a:gd name="T81" fmla="*/ 2147483646 h 812"/>
              <a:gd name="T82" fmla="*/ 2147483646 w 842"/>
              <a:gd name="T83" fmla="*/ 2147483646 h 812"/>
              <a:gd name="T84" fmla="*/ 2147483646 w 842"/>
              <a:gd name="T85" fmla="*/ 2147483646 h 812"/>
              <a:gd name="T86" fmla="*/ 2147483646 w 842"/>
              <a:gd name="T87" fmla="*/ 2147483646 h 812"/>
              <a:gd name="T88" fmla="*/ 2147483646 w 842"/>
              <a:gd name="T89" fmla="*/ 2147483646 h 812"/>
              <a:gd name="T90" fmla="*/ 2147483646 w 842"/>
              <a:gd name="T91" fmla="*/ 2147483646 h 812"/>
              <a:gd name="T92" fmla="*/ 2147483646 w 842"/>
              <a:gd name="T93" fmla="*/ 2147483646 h 812"/>
              <a:gd name="T94" fmla="*/ 2147483646 w 842"/>
              <a:gd name="T95" fmla="*/ 2147483646 h 812"/>
              <a:gd name="T96" fmla="*/ 2147483646 w 842"/>
              <a:gd name="T97" fmla="*/ 2147483646 h 812"/>
              <a:gd name="T98" fmla="*/ 2147483646 w 842"/>
              <a:gd name="T99" fmla="*/ 2147483646 h 812"/>
              <a:gd name="T100" fmla="*/ 2147483646 w 842"/>
              <a:gd name="T101" fmla="*/ 2147483646 h 812"/>
              <a:gd name="T102" fmla="*/ 2147483646 w 842"/>
              <a:gd name="T103" fmla="*/ 2147483646 h 812"/>
              <a:gd name="T104" fmla="*/ 2147483646 w 842"/>
              <a:gd name="T105" fmla="*/ 2147483646 h 812"/>
              <a:gd name="T106" fmla="*/ 2147483646 w 842"/>
              <a:gd name="T107" fmla="*/ 2147483646 h 812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842" h="812">
                <a:moveTo>
                  <a:pt x="799" y="529"/>
                </a:moveTo>
                <a:lnTo>
                  <a:pt x="799" y="529"/>
                </a:lnTo>
                <a:cubicBezTo>
                  <a:pt x="795" y="538"/>
                  <a:pt x="761" y="544"/>
                  <a:pt x="667" y="514"/>
                </a:cubicBezTo>
                <a:cubicBezTo>
                  <a:pt x="662" y="512"/>
                  <a:pt x="656" y="510"/>
                  <a:pt x="652" y="508"/>
                </a:cubicBezTo>
                <a:cubicBezTo>
                  <a:pt x="677" y="479"/>
                  <a:pt x="696" y="446"/>
                  <a:pt x="709" y="410"/>
                </a:cubicBezTo>
                <a:cubicBezTo>
                  <a:pt x="793" y="481"/>
                  <a:pt x="806" y="518"/>
                  <a:pt x="799" y="529"/>
                </a:cubicBezTo>
                <a:close/>
                <a:moveTo>
                  <a:pt x="626" y="499"/>
                </a:moveTo>
                <a:lnTo>
                  <a:pt x="626" y="499"/>
                </a:lnTo>
                <a:cubicBezTo>
                  <a:pt x="572" y="478"/>
                  <a:pt x="509" y="449"/>
                  <a:pt x="445" y="415"/>
                </a:cubicBezTo>
                <a:cubicBezTo>
                  <a:pt x="454" y="411"/>
                  <a:pt x="463" y="405"/>
                  <a:pt x="472" y="400"/>
                </a:cubicBezTo>
                <a:cubicBezTo>
                  <a:pt x="544" y="359"/>
                  <a:pt x="628" y="303"/>
                  <a:pt x="696" y="249"/>
                </a:cubicBezTo>
                <a:cubicBezTo>
                  <a:pt x="701" y="268"/>
                  <a:pt x="703" y="288"/>
                  <a:pt x="703" y="307"/>
                </a:cubicBezTo>
                <a:cubicBezTo>
                  <a:pt x="703" y="379"/>
                  <a:pt x="676" y="447"/>
                  <a:pt x="626" y="499"/>
                </a:cubicBezTo>
                <a:close/>
                <a:moveTo>
                  <a:pt x="578" y="585"/>
                </a:moveTo>
                <a:lnTo>
                  <a:pt x="263" y="585"/>
                </a:lnTo>
                <a:cubicBezTo>
                  <a:pt x="257" y="560"/>
                  <a:pt x="246" y="538"/>
                  <a:pt x="230" y="518"/>
                </a:cubicBezTo>
                <a:cubicBezTo>
                  <a:pt x="288" y="496"/>
                  <a:pt x="353" y="465"/>
                  <a:pt x="420" y="429"/>
                </a:cubicBezTo>
                <a:cubicBezTo>
                  <a:pt x="487" y="465"/>
                  <a:pt x="551" y="496"/>
                  <a:pt x="610" y="518"/>
                </a:cubicBezTo>
                <a:cubicBezTo>
                  <a:pt x="594" y="539"/>
                  <a:pt x="584" y="560"/>
                  <a:pt x="578" y="585"/>
                </a:cubicBezTo>
                <a:close/>
                <a:moveTo>
                  <a:pt x="573" y="627"/>
                </a:moveTo>
                <a:lnTo>
                  <a:pt x="573" y="652"/>
                </a:lnTo>
                <a:lnTo>
                  <a:pt x="323" y="652"/>
                </a:lnTo>
                <a:cubicBezTo>
                  <a:pt x="316" y="652"/>
                  <a:pt x="310" y="658"/>
                  <a:pt x="310" y="664"/>
                </a:cubicBezTo>
                <a:cubicBezTo>
                  <a:pt x="310" y="671"/>
                  <a:pt x="316" y="677"/>
                  <a:pt x="323" y="677"/>
                </a:cubicBezTo>
                <a:lnTo>
                  <a:pt x="573" y="677"/>
                </a:lnTo>
                <a:lnTo>
                  <a:pt x="573" y="714"/>
                </a:lnTo>
                <a:cubicBezTo>
                  <a:pt x="573" y="716"/>
                  <a:pt x="570" y="718"/>
                  <a:pt x="568" y="718"/>
                </a:cubicBezTo>
                <a:lnTo>
                  <a:pt x="273" y="718"/>
                </a:lnTo>
                <a:cubicBezTo>
                  <a:pt x="271" y="718"/>
                  <a:pt x="269" y="716"/>
                  <a:pt x="269" y="714"/>
                </a:cubicBezTo>
                <a:lnTo>
                  <a:pt x="269" y="629"/>
                </a:lnTo>
                <a:cubicBezTo>
                  <a:pt x="269" y="622"/>
                  <a:pt x="268" y="616"/>
                  <a:pt x="267" y="609"/>
                </a:cubicBezTo>
                <a:lnTo>
                  <a:pt x="574" y="609"/>
                </a:lnTo>
                <a:cubicBezTo>
                  <a:pt x="573" y="615"/>
                  <a:pt x="573" y="621"/>
                  <a:pt x="573" y="627"/>
                </a:cubicBezTo>
                <a:lnTo>
                  <a:pt x="483" y="787"/>
                </a:lnTo>
                <a:lnTo>
                  <a:pt x="358" y="787"/>
                </a:lnTo>
                <a:cubicBezTo>
                  <a:pt x="332" y="787"/>
                  <a:pt x="309" y="768"/>
                  <a:pt x="303" y="742"/>
                </a:cubicBezTo>
                <a:lnTo>
                  <a:pt x="539" y="742"/>
                </a:lnTo>
                <a:cubicBezTo>
                  <a:pt x="533" y="768"/>
                  <a:pt x="510" y="787"/>
                  <a:pt x="483" y="787"/>
                </a:cubicBezTo>
                <a:lnTo>
                  <a:pt x="573" y="627"/>
                </a:lnTo>
                <a:close/>
                <a:moveTo>
                  <a:pt x="137" y="307"/>
                </a:moveTo>
                <a:lnTo>
                  <a:pt x="137" y="307"/>
                </a:lnTo>
                <a:cubicBezTo>
                  <a:pt x="137" y="288"/>
                  <a:pt x="139" y="268"/>
                  <a:pt x="143" y="249"/>
                </a:cubicBezTo>
                <a:cubicBezTo>
                  <a:pt x="204" y="299"/>
                  <a:pt x="282" y="351"/>
                  <a:pt x="367" y="400"/>
                </a:cubicBezTo>
                <a:cubicBezTo>
                  <a:pt x="376" y="405"/>
                  <a:pt x="385" y="411"/>
                  <a:pt x="394" y="415"/>
                </a:cubicBezTo>
                <a:cubicBezTo>
                  <a:pt x="329" y="449"/>
                  <a:pt x="267" y="478"/>
                  <a:pt x="213" y="499"/>
                </a:cubicBezTo>
                <a:cubicBezTo>
                  <a:pt x="164" y="447"/>
                  <a:pt x="137" y="379"/>
                  <a:pt x="137" y="307"/>
                </a:cubicBezTo>
                <a:close/>
                <a:moveTo>
                  <a:pt x="173" y="514"/>
                </a:moveTo>
                <a:lnTo>
                  <a:pt x="173" y="514"/>
                </a:lnTo>
                <a:cubicBezTo>
                  <a:pt x="79" y="544"/>
                  <a:pt x="45" y="538"/>
                  <a:pt x="40" y="529"/>
                </a:cubicBezTo>
                <a:cubicBezTo>
                  <a:pt x="34" y="518"/>
                  <a:pt x="48" y="481"/>
                  <a:pt x="130" y="410"/>
                </a:cubicBezTo>
                <a:cubicBezTo>
                  <a:pt x="143" y="446"/>
                  <a:pt x="162" y="479"/>
                  <a:pt x="188" y="508"/>
                </a:cubicBezTo>
                <a:cubicBezTo>
                  <a:pt x="182" y="510"/>
                  <a:pt x="178" y="512"/>
                  <a:pt x="173" y="514"/>
                </a:cubicBezTo>
                <a:close/>
                <a:moveTo>
                  <a:pt x="119" y="197"/>
                </a:moveTo>
                <a:lnTo>
                  <a:pt x="119" y="197"/>
                </a:lnTo>
                <a:cubicBezTo>
                  <a:pt x="45" y="131"/>
                  <a:pt x="34" y="99"/>
                  <a:pt x="40" y="89"/>
                </a:cubicBezTo>
                <a:cubicBezTo>
                  <a:pt x="45" y="79"/>
                  <a:pt x="83" y="73"/>
                  <a:pt x="186" y="108"/>
                </a:cubicBezTo>
                <a:cubicBezTo>
                  <a:pt x="162" y="137"/>
                  <a:pt x="142" y="171"/>
                  <a:pt x="129" y="206"/>
                </a:cubicBezTo>
                <a:cubicBezTo>
                  <a:pt x="126" y="204"/>
                  <a:pt x="122" y="200"/>
                  <a:pt x="119" y="197"/>
                </a:cubicBezTo>
                <a:close/>
                <a:moveTo>
                  <a:pt x="420" y="24"/>
                </a:moveTo>
                <a:lnTo>
                  <a:pt x="420" y="24"/>
                </a:lnTo>
                <a:cubicBezTo>
                  <a:pt x="546" y="24"/>
                  <a:pt x="654" y="109"/>
                  <a:pt x="689" y="223"/>
                </a:cubicBezTo>
                <a:cubicBezTo>
                  <a:pt x="634" y="269"/>
                  <a:pt x="557" y="324"/>
                  <a:pt x="461" y="378"/>
                </a:cubicBezTo>
                <a:cubicBezTo>
                  <a:pt x="446" y="386"/>
                  <a:pt x="434" y="394"/>
                  <a:pt x="420" y="402"/>
                </a:cubicBezTo>
                <a:cubicBezTo>
                  <a:pt x="406" y="394"/>
                  <a:pt x="393" y="386"/>
                  <a:pt x="379" y="378"/>
                </a:cubicBezTo>
                <a:cubicBezTo>
                  <a:pt x="291" y="328"/>
                  <a:pt x="211" y="274"/>
                  <a:pt x="150" y="223"/>
                </a:cubicBezTo>
                <a:cubicBezTo>
                  <a:pt x="186" y="108"/>
                  <a:pt x="293" y="24"/>
                  <a:pt x="420" y="24"/>
                </a:cubicBezTo>
                <a:close/>
                <a:moveTo>
                  <a:pt x="799" y="89"/>
                </a:moveTo>
                <a:lnTo>
                  <a:pt x="799" y="89"/>
                </a:lnTo>
                <a:cubicBezTo>
                  <a:pt x="808" y="105"/>
                  <a:pt x="778" y="148"/>
                  <a:pt x="710" y="207"/>
                </a:cubicBezTo>
                <a:cubicBezTo>
                  <a:pt x="697" y="171"/>
                  <a:pt x="678" y="137"/>
                  <a:pt x="653" y="108"/>
                </a:cubicBezTo>
                <a:cubicBezTo>
                  <a:pt x="756" y="73"/>
                  <a:pt x="795" y="79"/>
                  <a:pt x="799" y="89"/>
                </a:cubicBezTo>
                <a:close/>
                <a:moveTo>
                  <a:pt x="716" y="384"/>
                </a:moveTo>
                <a:lnTo>
                  <a:pt x="716" y="384"/>
                </a:lnTo>
                <a:cubicBezTo>
                  <a:pt x="723" y="359"/>
                  <a:pt x="727" y="334"/>
                  <a:pt x="727" y="307"/>
                </a:cubicBezTo>
                <a:cubicBezTo>
                  <a:pt x="727" y="281"/>
                  <a:pt x="723" y="256"/>
                  <a:pt x="718" y="232"/>
                </a:cubicBezTo>
                <a:cubicBezTo>
                  <a:pt x="791" y="171"/>
                  <a:pt x="841" y="111"/>
                  <a:pt x="821" y="77"/>
                </a:cubicBezTo>
                <a:cubicBezTo>
                  <a:pt x="804" y="46"/>
                  <a:pt x="740" y="50"/>
                  <a:pt x="635" y="88"/>
                </a:cubicBezTo>
                <a:cubicBezTo>
                  <a:pt x="580" y="34"/>
                  <a:pt x="504" y="0"/>
                  <a:pt x="420" y="0"/>
                </a:cubicBezTo>
                <a:cubicBezTo>
                  <a:pt x="335" y="0"/>
                  <a:pt x="259" y="34"/>
                  <a:pt x="204" y="88"/>
                </a:cubicBezTo>
                <a:cubicBezTo>
                  <a:pt x="99" y="50"/>
                  <a:pt x="36" y="46"/>
                  <a:pt x="18" y="77"/>
                </a:cubicBezTo>
                <a:cubicBezTo>
                  <a:pt x="2" y="104"/>
                  <a:pt x="31" y="151"/>
                  <a:pt x="102" y="215"/>
                </a:cubicBezTo>
                <a:cubicBezTo>
                  <a:pt x="108" y="221"/>
                  <a:pt x="114" y="226"/>
                  <a:pt x="122" y="232"/>
                </a:cubicBezTo>
                <a:cubicBezTo>
                  <a:pt x="116" y="256"/>
                  <a:pt x="112" y="281"/>
                  <a:pt x="112" y="307"/>
                </a:cubicBezTo>
                <a:cubicBezTo>
                  <a:pt x="112" y="334"/>
                  <a:pt x="117" y="359"/>
                  <a:pt x="122" y="384"/>
                </a:cubicBezTo>
                <a:cubicBezTo>
                  <a:pt x="36" y="457"/>
                  <a:pt x="0" y="509"/>
                  <a:pt x="18" y="540"/>
                </a:cubicBezTo>
                <a:cubicBezTo>
                  <a:pt x="26" y="553"/>
                  <a:pt x="42" y="560"/>
                  <a:pt x="68" y="560"/>
                </a:cubicBezTo>
                <a:cubicBezTo>
                  <a:pt x="95" y="560"/>
                  <a:pt x="133" y="552"/>
                  <a:pt x="180" y="536"/>
                </a:cubicBezTo>
                <a:cubicBezTo>
                  <a:pt x="189" y="534"/>
                  <a:pt x="197" y="531"/>
                  <a:pt x="205" y="529"/>
                </a:cubicBezTo>
                <a:cubicBezTo>
                  <a:pt x="231" y="556"/>
                  <a:pt x="245" y="591"/>
                  <a:pt x="245" y="629"/>
                </a:cubicBezTo>
                <a:lnTo>
                  <a:pt x="245" y="714"/>
                </a:lnTo>
                <a:cubicBezTo>
                  <a:pt x="245" y="730"/>
                  <a:pt x="258" y="742"/>
                  <a:pt x="273" y="742"/>
                </a:cubicBezTo>
                <a:lnTo>
                  <a:pt x="279" y="742"/>
                </a:lnTo>
                <a:cubicBezTo>
                  <a:pt x="284" y="781"/>
                  <a:pt x="317" y="811"/>
                  <a:pt x="358" y="811"/>
                </a:cubicBezTo>
                <a:lnTo>
                  <a:pt x="483" y="811"/>
                </a:lnTo>
                <a:cubicBezTo>
                  <a:pt x="523" y="811"/>
                  <a:pt x="557" y="781"/>
                  <a:pt x="563" y="742"/>
                </a:cubicBezTo>
                <a:lnTo>
                  <a:pt x="568" y="742"/>
                </a:lnTo>
                <a:cubicBezTo>
                  <a:pt x="584" y="742"/>
                  <a:pt x="598" y="730"/>
                  <a:pt x="598" y="714"/>
                </a:cubicBezTo>
                <a:lnTo>
                  <a:pt x="598" y="627"/>
                </a:lnTo>
                <a:cubicBezTo>
                  <a:pt x="598" y="591"/>
                  <a:pt x="610" y="555"/>
                  <a:pt x="634" y="529"/>
                </a:cubicBezTo>
                <a:cubicBezTo>
                  <a:pt x="643" y="531"/>
                  <a:pt x="651" y="534"/>
                  <a:pt x="659" y="536"/>
                </a:cubicBezTo>
                <a:cubicBezTo>
                  <a:pt x="706" y="552"/>
                  <a:pt x="745" y="560"/>
                  <a:pt x="772" y="560"/>
                </a:cubicBezTo>
                <a:cubicBezTo>
                  <a:pt x="797" y="560"/>
                  <a:pt x="814" y="553"/>
                  <a:pt x="821" y="540"/>
                </a:cubicBezTo>
                <a:cubicBezTo>
                  <a:pt x="839" y="509"/>
                  <a:pt x="804" y="457"/>
                  <a:pt x="716" y="3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238A8A-97E0-1745-8E17-324321B355EB}"/>
              </a:ext>
            </a:extLst>
          </p:cNvPr>
          <p:cNvSpPr txBox="1"/>
          <p:nvPr/>
        </p:nvSpPr>
        <p:spPr>
          <a:xfrm>
            <a:off x="8611755" y="3231658"/>
            <a:ext cx="3832670" cy="295859"/>
          </a:xfrm>
          <a:prstGeom prst="rect">
            <a:avLst/>
          </a:prstGeom>
          <a:noFill/>
        </p:spPr>
        <p:txBody>
          <a:bodyPr wrap="none" lIns="49158" tIns="24579" rIns="49158" bIns="24579" rtlCol="0" anchor="ctr" anchorCtr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Quality Assurance/Academic Programs</a:t>
            </a:r>
          </a:p>
        </p:txBody>
      </p:sp>
      <p:sp>
        <p:nvSpPr>
          <p:cNvPr id="83" name="Subtitle 2">
            <a:extLst>
              <a:ext uri="{FF2B5EF4-FFF2-40B4-BE49-F238E27FC236}">
                <a16:creationId xmlns:a16="http://schemas.microsoft.com/office/drawing/2014/main" id="{6C0359F1-ECD6-E345-990B-67B9B47AEE9F}"/>
              </a:ext>
            </a:extLst>
          </p:cNvPr>
          <p:cNvSpPr txBox="1">
            <a:spLocks/>
          </p:cNvSpPr>
          <p:nvPr/>
        </p:nvSpPr>
        <p:spPr>
          <a:xfrm>
            <a:off x="8578585" y="3510243"/>
            <a:ext cx="3894249" cy="1234578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The rapid changing world requires agile processes and policies to align the academic programs to the labor markets needs</a:t>
            </a:r>
          </a:p>
          <a:p>
            <a:pPr marL="171450" indent="-1714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Continuous demand on faculty/staff recruitment to deliver the new programs</a:t>
            </a:r>
          </a:p>
          <a:p>
            <a:pPr marL="171450" indent="-1714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The existing students dorms and amentias require renovation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7D138B-DCBC-2B47-8493-D19E3FBAFCB0}"/>
              </a:ext>
            </a:extLst>
          </p:cNvPr>
          <p:cNvSpPr txBox="1"/>
          <p:nvPr/>
        </p:nvSpPr>
        <p:spPr>
          <a:xfrm>
            <a:off x="7932898" y="6473934"/>
            <a:ext cx="3210215" cy="295859"/>
          </a:xfrm>
          <a:prstGeom prst="rect">
            <a:avLst/>
          </a:prstGeom>
          <a:noFill/>
        </p:spPr>
        <p:txBody>
          <a:bodyPr wrap="square" lIns="49158" tIns="24579" rIns="49158" bIns="24579" rtlCol="0" anchor="ctr" anchorCtr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Internationalization/Reputation</a:t>
            </a:r>
          </a:p>
        </p:txBody>
      </p:sp>
      <p:sp>
        <p:nvSpPr>
          <p:cNvPr id="85" name="Subtitle 2">
            <a:extLst>
              <a:ext uri="{FF2B5EF4-FFF2-40B4-BE49-F238E27FC236}">
                <a16:creationId xmlns:a16="http://schemas.microsoft.com/office/drawing/2014/main" id="{AF0AB233-B97F-054C-B55B-50404EE7C555}"/>
              </a:ext>
            </a:extLst>
          </p:cNvPr>
          <p:cNvSpPr txBox="1">
            <a:spLocks/>
          </p:cNvSpPr>
          <p:nvPr/>
        </p:nvSpPr>
        <p:spPr>
          <a:xfrm>
            <a:off x="7706231" y="6711762"/>
            <a:ext cx="4340594" cy="1065301"/>
          </a:xfrm>
          <a:prstGeom prst="rect">
            <a:avLst/>
          </a:prstGeom>
        </p:spPr>
        <p:txBody>
          <a:bodyPr vert="horz" wrap="square" lIns="49158" tIns="24579" rIns="49158" bIns="245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Limited funds to support exchange programs (students and faculty), and partnerships with world-class universities, affect the student learning outcomes and research productivity</a:t>
            </a:r>
          </a:p>
          <a:p>
            <a:pPr marL="95250" indent="-95250" algn="just" font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Open Sans"/>
                <a:ea typeface="Lato Light" panose="020F0502020204030203" pitchFamily="34" charset="0"/>
                <a:cs typeface="Mukta ExtraLight" panose="020B0000000000000000" pitchFamily="34" charset="77"/>
              </a:rPr>
              <a:t>Being a young university, with limited reputation among the regional and international academic societies, affects the university ranking</a:t>
            </a:r>
          </a:p>
        </p:txBody>
      </p:sp>
      <p:sp>
        <p:nvSpPr>
          <p:cNvPr id="37" name="Slide Number Placeholder 3"/>
          <p:cNvSpPr txBox="1">
            <a:spLocks/>
          </p:cNvSpPr>
          <p:nvPr/>
        </p:nvSpPr>
        <p:spPr>
          <a:xfrm>
            <a:off x="10963245" y="7664726"/>
            <a:ext cx="1092077" cy="2902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3319C6-EBC1-41FE-843E-7393415A14D0}" type="slidenum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32</a:t>
            </a:fld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7846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KKOzLIBDEm907F8v5os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KKOzLIBDEm907F8v5os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RR2sgmy_E6PgeswsoFD5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e6eve1t7E6MaFb4zhzh_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tSjoTaMNUCsbXK0CYPnH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vJG7piz20.io2FwqIXHZ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cG8H3M5EG8m069RBE4R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K0ny8Z_gEma9.XRV.EMZ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gp_vwCZU.5SqK1PovLK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G101z58dU6RsCZuHwABu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G101z58dU6RsCZuHwABu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G101z58dU6RsCZuHwABu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3xaLi6DUim21Ut_lJio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GeaN8A7BkWu7TukTvjRd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Ch6HLlxekyugHLRFDx_V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m.qNJ30kkCEKHQ4StE7J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3xaLi6DUim21Ut_lJio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Ki_uBgrEShK2ylpcDe3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m.qNJ30kkCEKHQ4StE7J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GeaN8A7BkWu7TukTvjRd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Ch6HLlxekyugHLRFDx_V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m.qNJ30kkCEKHQ4StE7J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3xaLi6DUim21Ut_lJio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GeaN8A7BkWu7TukTvjRd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m.qNJ30kkCEKHQ4StE7J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Ch6HLlxekyugHLRFDx_V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GeaN8A7BkWu7TukTvjR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Ch6HLlxekyugHLRFDx_V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gTTXewI0Cj3CX_HedsN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m.qNJ30kkCEKHQ4StE7J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EZHony_a0289VPlbLbap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A9ruhDKjEGSGdvRY8q9k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Qghz.T0h02ER7fJeTec7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38S1PIN7UOdLyKEGQMze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fL6_ixiCE6WyoR.g9VkX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bt8T7Hix0KDoaklZj6Ia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161897</TotalTime>
  <Words>4006</Words>
  <Application>Microsoft Office PowerPoint</Application>
  <PresentationFormat>Custom</PresentationFormat>
  <Paragraphs>844</Paragraphs>
  <Slides>32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7" baseType="lpstr">
      <vt:lpstr>Arial</vt:lpstr>
      <vt:lpstr>Calibri</vt:lpstr>
      <vt:lpstr>Calibri Light</vt:lpstr>
      <vt:lpstr>Candara</vt:lpstr>
      <vt:lpstr>Harvey Balls</vt:lpstr>
      <vt:lpstr>Lato Light</vt:lpstr>
      <vt:lpstr>Noto Sans</vt:lpstr>
      <vt:lpstr>Open Sans</vt:lpstr>
      <vt:lpstr>Open Sans Light</vt:lpstr>
      <vt:lpstr>Poppins</vt:lpstr>
      <vt:lpstr>Tahoma</vt:lpstr>
      <vt:lpstr>Wingdings</vt:lpstr>
      <vt:lpstr>Office Theme</vt:lpstr>
      <vt:lpstr>think-cell Slide</vt:lpstr>
      <vt:lpstr>Worksheet</vt:lpstr>
      <vt:lpstr>Khalifa University  Strategic Plan (2021-2031)  </vt:lpstr>
      <vt:lpstr>PowerPoint Presentation</vt:lpstr>
      <vt:lpstr>KU has built its strengths on focusing on research/academic topics that address the current and future needs of the government and industry</vt:lpstr>
      <vt:lpstr>PowerPoint Presentation</vt:lpstr>
      <vt:lpstr>PowerPoint Presentation</vt:lpstr>
      <vt:lpstr>Strategic objectives and targets</vt:lpstr>
      <vt:lpstr>PowerPoint Presentation</vt:lpstr>
      <vt:lpstr>Strategic Enablers</vt:lpstr>
      <vt:lpstr>PowerPoint Presentation</vt:lpstr>
      <vt:lpstr>KU Accountability Framework</vt:lpstr>
      <vt:lpstr>To ensure accountability, Khalifa University can be monitored across three different pillars</vt:lpstr>
      <vt:lpstr>KU: Initiatives, Objectives and Targets 2021-2031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 Benchmarks</vt:lpstr>
      <vt:lpstr>World-Class Universities</vt:lpstr>
      <vt:lpstr>PowerPoint Presentation</vt:lpstr>
      <vt:lpstr>PowerPoint Presentation</vt:lpstr>
      <vt:lpstr>As sample of top ranked universities Revenues, Expenditures and Endowments in 2020</vt:lpstr>
      <vt:lpstr>Perspectives on Endowments in Top-Ranked Universities as of 2020</vt:lpstr>
      <vt:lpstr>Internationally, endowments appear to be the most favorable source ensuring stability, control and accountability in Higher Education funding</vt:lpstr>
      <vt:lpstr>Key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Times Higher Education ranks the top 200 institutions globally</dc:title>
  <dc:creator>Hesham Wagih Gomma</dc:creator>
  <cp:lastModifiedBy>Amin, Rakesh</cp:lastModifiedBy>
  <cp:revision>3164</cp:revision>
  <cp:lastPrinted>2018-08-29T13:10:50Z</cp:lastPrinted>
  <dcterms:created xsi:type="dcterms:W3CDTF">2017-12-07T04:47:00Z</dcterms:created>
  <dcterms:modified xsi:type="dcterms:W3CDTF">2023-10-05T10:42:51Z</dcterms:modified>
</cp:coreProperties>
</file>