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70" r:id="rId2"/>
    <p:sldId id="472" r:id="rId3"/>
    <p:sldId id="473" r:id="rId4"/>
    <p:sldId id="474" r:id="rId5"/>
    <p:sldId id="477" r:id="rId6"/>
    <p:sldId id="478" r:id="rId7"/>
    <p:sldId id="476" r:id="rId8"/>
    <p:sldId id="4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32" autoAdjust="0"/>
    <p:restoredTop sz="94660"/>
  </p:normalViewPr>
  <p:slideViewPr>
    <p:cSldViewPr snapToGrid="0">
      <p:cViewPr varScale="1">
        <p:scale>
          <a:sx n="69" d="100"/>
          <a:sy n="69" d="100"/>
        </p:scale>
        <p:origin x="62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8BF17-C219-4FBC-AEE5-FFDD079951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364E8658-2F22-438C-B3FE-081C2111C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E1ED0DFA-471E-4E42-8D92-D6754053A88C}"/>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45A27782-22B1-4F5A-808C-D74234385C1E}"/>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B5EF08A-01E5-44D1-BF4A-9E2BBB70A8BE}"/>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3323968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5A04-7CBA-47A6-BDB9-A6E639D7340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620CF71B-A38F-4D73-AA6C-F19A06F0DBD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D956B485-96D4-4FA4-8810-7D3DA0713C5E}"/>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B47C0209-6815-44CE-B328-6E9A5CD2E931}"/>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39C8395-60EA-427A-A7DE-0629EA17C53A}"/>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2796592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FA87F-A838-45DB-AA84-30E43EAD5D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309800BA-FA71-45F8-AF10-DC6FD1F189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85C4B50-55CD-4A98-A3D6-EA6AB0E74544}"/>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A6D1AF29-363D-4BAE-A513-FEE400C2272E}"/>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EA104B3-830A-4203-9ECB-7C1EE2CB742E}"/>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661681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04A67-7C99-4860-BDA3-CA8D570961E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0400DF6F-A520-4777-83F9-D2C38C0F9D2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CBB0356E-F8D1-45D7-BF25-32BB0795A3E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D3961077-7F18-463A-963F-D05B8CC3CAC0}"/>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6" name="Footer Placeholder 5">
            <a:extLst>
              <a:ext uri="{FF2B5EF4-FFF2-40B4-BE49-F238E27FC236}">
                <a16:creationId xmlns:a16="http://schemas.microsoft.com/office/drawing/2014/main" id="{6E83E2F5-0D29-4C8F-B29D-A2EA1B0C3180}"/>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EE2C73F7-80BC-4295-A2C2-B1B80FCBF55B}"/>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2244085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67350-AC4E-4D9B-98C4-62635D0CD588}"/>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FE270320-558F-4A54-95E3-DCDC9C339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30366D1-2C5F-49BF-A3E7-194924C8FA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17072D90-3BCD-4843-962B-34D44E8D5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759E9E-1D87-410E-A8D7-0EACA8FB77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A769650C-899A-4E72-B184-D0333C029AB2}"/>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8" name="Footer Placeholder 7">
            <a:extLst>
              <a:ext uri="{FF2B5EF4-FFF2-40B4-BE49-F238E27FC236}">
                <a16:creationId xmlns:a16="http://schemas.microsoft.com/office/drawing/2014/main" id="{1B80821B-4A2B-4C1B-8E8F-246042679D49}"/>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49A34C14-0A4E-4ED8-B070-89FCD2ABA648}"/>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286205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8E83-E1EC-4F15-AD00-2F03C9F39A50}"/>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D31C4C32-FD3C-4359-877A-61DDB6B0038E}"/>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4" name="Footer Placeholder 3">
            <a:extLst>
              <a:ext uri="{FF2B5EF4-FFF2-40B4-BE49-F238E27FC236}">
                <a16:creationId xmlns:a16="http://schemas.microsoft.com/office/drawing/2014/main" id="{CA98B909-D5B7-4333-8BA7-8EB284930BAA}"/>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238976DC-5551-41AA-A150-A49BB526119C}"/>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325713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06EC1E-CF61-4A73-8E1E-65BBE35ACBD2}"/>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3" name="Footer Placeholder 2">
            <a:extLst>
              <a:ext uri="{FF2B5EF4-FFF2-40B4-BE49-F238E27FC236}">
                <a16:creationId xmlns:a16="http://schemas.microsoft.com/office/drawing/2014/main" id="{71AD96C2-B3FC-4820-B950-1A0A35FDC306}"/>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2A9CC3D9-4085-4B8D-A23C-3A9313049C97}"/>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2410345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2F5C-38D9-4E1D-ABE7-1F8F5E8026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945CA8D8-448A-410F-A1BD-F4D70B62B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308010DE-022A-49AC-AC00-062C52502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B8C1DA0-77DE-408A-8AA4-FFB0F2A36D7A}"/>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6" name="Footer Placeholder 5">
            <a:extLst>
              <a:ext uri="{FF2B5EF4-FFF2-40B4-BE49-F238E27FC236}">
                <a16:creationId xmlns:a16="http://schemas.microsoft.com/office/drawing/2014/main" id="{F12C28A7-EC5F-431D-BC5F-13489E8DDDAC}"/>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DBC852B-0A2E-491A-80AB-27C7995060B6}"/>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3142808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2363-6518-428F-97B8-FFFA33ED2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14C72CB5-7673-405F-8B11-AF6FB28D29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E208E5D5-1F76-4AC0-A6E2-C6D91D9472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D58E27F-F050-4A7E-A936-4E2B9DB36546}"/>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6" name="Footer Placeholder 5">
            <a:extLst>
              <a:ext uri="{FF2B5EF4-FFF2-40B4-BE49-F238E27FC236}">
                <a16:creationId xmlns:a16="http://schemas.microsoft.com/office/drawing/2014/main" id="{6CABCC17-09AF-481D-B410-CBEBBA59D5A5}"/>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E4BB50D1-DD1A-4D2A-A0D6-1803918C1D9D}"/>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6605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D4BEA-2D03-4772-9263-648D656CECB9}"/>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F45A16F9-73BD-4A6A-8850-1EEE43015B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7DD6009C-512C-4134-9252-D603326E8048}"/>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621AB8D6-4761-4C8A-8E28-2D7A7627296F}"/>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A09D988-9C35-41AB-B674-71E6CD425DF7}"/>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3363338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2AF641-5F10-4170-AC71-2112417E44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26EB3AF6-2B01-4E91-9714-812E463771C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94B733D9-D578-4944-9EA4-9806F2D24A65}"/>
              </a:ext>
            </a:extLst>
          </p:cNvPr>
          <p:cNvSpPr>
            <a:spLocks noGrp="1"/>
          </p:cNvSpPr>
          <p:nvPr>
            <p:ph type="dt" sz="half" idx="10"/>
          </p:nvPr>
        </p:nvSpPr>
        <p:spPr/>
        <p:txBody>
          <a:body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F0AB732D-D97F-410A-B760-B671C170481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3A542EE-0667-4E1F-BC2F-F4136E3F025C}"/>
              </a:ext>
            </a:extLst>
          </p:cNvPr>
          <p:cNvSpPr>
            <a:spLocks noGrp="1"/>
          </p:cNvSpPr>
          <p:nvPr>
            <p:ph type="sldNum" sz="quarter" idx="12"/>
          </p:nvPr>
        </p:nvSpPr>
        <p:spPr/>
        <p:txBody>
          <a:bodyPr/>
          <a:lstStyle/>
          <a:p>
            <a:fld id="{FE9E4B9B-3D93-4ED8-9DD3-17DE866EE06F}" type="slidenum">
              <a:rPr lang="en-AE" smtClean="0"/>
              <a:t>‹#›</a:t>
            </a:fld>
            <a:endParaRPr lang="en-AE"/>
          </a:p>
        </p:txBody>
      </p:sp>
    </p:spTree>
    <p:extLst>
      <p:ext uri="{BB962C8B-B14F-4D97-AF65-F5344CB8AC3E}">
        <p14:creationId xmlns:p14="http://schemas.microsoft.com/office/powerpoint/2010/main" val="155944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AA7C93-5563-45A3-9D1B-40DACE99D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AFCFF2E1-DD47-4650-9E12-3DD9BDF97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DA1FB1B5-6C83-4D51-B8F9-5986B469D4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8488A-1831-45E1-8CCE-F316AF3E2477}" type="datetimeFigureOut">
              <a:rPr lang="en-AE" smtClean="0"/>
              <a:t>19/05/2023</a:t>
            </a:fld>
            <a:endParaRPr lang="en-AE"/>
          </a:p>
        </p:txBody>
      </p:sp>
      <p:sp>
        <p:nvSpPr>
          <p:cNvPr id="5" name="Footer Placeholder 4">
            <a:extLst>
              <a:ext uri="{FF2B5EF4-FFF2-40B4-BE49-F238E27FC236}">
                <a16:creationId xmlns:a16="http://schemas.microsoft.com/office/drawing/2014/main" id="{F60D6943-8736-407C-9B4E-07201FBB59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E"/>
          </a:p>
        </p:txBody>
      </p:sp>
      <p:sp>
        <p:nvSpPr>
          <p:cNvPr id="6" name="Slide Number Placeholder 5">
            <a:extLst>
              <a:ext uri="{FF2B5EF4-FFF2-40B4-BE49-F238E27FC236}">
                <a16:creationId xmlns:a16="http://schemas.microsoft.com/office/drawing/2014/main" id="{BE57557F-657E-4337-806A-B6962A054B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9E4B9B-3D93-4ED8-9DD3-17DE866EE06F}" type="slidenum">
              <a:rPr lang="en-AE" smtClean="0"/>
              <a:t>‹#›</a:t>
            </a:fld>
            <a:endParaRPr lang="en-AE"/>
          </a:p>
        </p:txBody>
      </p:sp>
    </p:spTree>
    <p:extLst>
      <p:ext uri="{BB962C8B-B14F-4D97-AF65-F5344CB8AC3E}">
        <p14:creationId xmlns:p14="http://schemas.microsoft.com/office/powerpoint/2010/main" val="3919771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E68DD1B-5CD8-424B-8173-19E182143E0A}" type="slidenum">
              <a:rPr kumimoji="0" lang="en-US" sz="850" b="0" i="0" u="none" strike="noStrike" kern="1200" cap="none" spc="0" normalizeH="0" baseline="0" noProof="0" smtClean="0">
                <a:ln>
                  <a:noFill/>
                </a:ln>
                <a:solidFill>
                  <a:srgbClr val="96969A"/>
                </a:solidFill>
                <a:effectLst/>
                <a:uLnTx/>
                <a:uFillTx/>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850" b="0" i="0" u="none" strike="noStrike" kern="1200" cap="none" spc="0" normalizeH="0" baseline="0" noProof="0">
              <a:ln>
                <a:noFill/>
              </a:ln>
              <a:solidFill>
                <a:srgbClr val="96969A"/>
              </a:solidFill>
              <a:effectLst/>
              <a:uLnTx/>
              <a:uFillTx/>
              <a:ea typeface="+mn-ea"/>
              <a:cs typeface="+mn-cs"/>
            </a:endParaRPr>
          </a:p>
        </p:txBody>
      </p:sp>
      <p:sp>
        <p:nvSpPr>
          <p:cNvPr id="6" name="Rectangle 5"/>
          <p:cNvSpPr/>
          <p:nvPr/>
        </p:nvSpPr>
        <p:spPr>
          <a:xfrm>
            <a:off x="2315756" y="629477"/>
            <a:ext cx="7017562" cy="400110"/>
          </a:xfrm>
          <a:prstGeom prst="rect">
            <a:avLst/>
          </a:prstGeom>
        </p:spPr>
        <p:txBody>
          <a:bodyPr wrap="none">
            <a:spAutoFit/>
          </a:bodyPr>
          <a:lstStyle/>
          <a:p>
            <a:pPr algn="ctr"/>
            <a:r>
              <a:rPr lang="en-US" sz="2000" b="1" dirty="0">
                <a:solidFill>
                  <a:srgbClr val="0047BA"/>
                </a:solidFill>
                <a:ea typeface="+mj-ea"/>
                <a:cs typeface="+mj-cs"/>
              </a:rPr>
              <a:t>Revenue  – 2023 Q1  Budget Approved / Actual - Key Breakdown</a:t>
            </a:r>
            <a:endParaRPr lang="en-US" sz="2000" dirty="0">
              <a:solidFill>
                <a:srgbClr val="0047BA"/>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892507503"/>
              </p:ext>
            </p:extLst>
          </p:nvPr>
        </p:nvGraphicFramePr>
        <p:xfrm>
          <a:off x="876300" y="1365292"/>
          <a:ext cx="9896475" cy="3919537"/>
        </p:xfrm>
        <a:graphic>
          <a:graphicData uri="http://schemas.openxmlformats.org/presentationml/2006/ole">
            <mc:AlternateContent xmlns:mc="http://schemas.openxmlformats.org/markup-compatibility/2006">
              <mc:Choice xmlns:v="urn:schemas-microsoft-com:vml" Requires="v">
                <p:oleObj spid="_x0000_s1041" name="Worksheet" r:id="rId3" imgW="7581900" imgH="3009900" progId="Excel.Sheet.12">
                  <p:embed/>
                </p:oleObj>
              </mc:Choice>
              <mc:Fallback>
                <p:oleObj name="Worksheet" r:id="rId3" imgW="7581900" imgH="3009900" progId="Excel.Sheet.12">
                  <p:embed/>
                  <p:pic>
                    <p:nvPicPr>
                      <p:cNvPr id="2" name="Object 1"/>
                      <p:cNvPicPr/>
                      <p:nvPr/>
                    </p:nvPicPr>
                    <p:blipFill>
                      <a:blip r:embed="rId4"/>
                      <a:stretch>
                        <a:fillRect/>
                      </a:stretch>
                    </p:blipFill>
                    <p:spPr>
                      <a:xfrm>
                        <a:off x="876300" y="1365292"/>
                        <a:ext cx="9896475" cy="3919537"/>
                      </a:xfrm>
                      <a:prstGeom prst="rect">
                        <a:avLst/>
                      </a:prstGeom>
                    </p:spPr>
                  </p:pic>
                </p:oleObj>
              </mc:Fallback>
            </mc:AlternateContent>
          </a:graphicData>
        </a:graphic>
      </p:graphicFrame>
    </p:spTree>
    <p:extLst>
      <p:ext uri="{BB962C8B-B14F-4D97-AF65-F5344CB8AC3E}">
        <p14:creationId xmlns:p14="http://schemas.microsoft.com/office/powerpoint/2010/main" val="12354873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solidFill>
                  <a:schemeClr val="accent1"/>
                </a:solidFill>
              </a:rPr>
              <a:t>Highlight on revenue budget 2022 as set by </a:t>
            </a:r>
            <a:r>
              <a:rPr lang="en-US" sz="3600" b="1" dirty="0" err="1" smtClean="0">
                <a:solidFill>
                  <a:schemeClr val="accent1"/>
                </a:solidFill>
              </a:rPr>
              <a:t>DoF</a:t>
            </a:r>
            <a:endParaRPr lang="en-US" sz="3600" b="1" dirty="0">
              <a:solidFill>
                <a:schemeClr val="accent1"/>
              </a:solidFill>
            </a:endParaRPr>
          </a:p>
        </p:txBody>
      </p:sp>
      <p:sp>
        <p:nvSpPr>
          <p:cNvPr id="3" name="Content Placeholder 2"/>
          <p:cNvSpPr>
            <a:spLocks noGrp="1"/>
          </p:cNvSpPr>
          <p:nvPr>
            <p:ph idx="1"/>
          </p:nvPr>
        </p:nvSpPr>
        <p:spPr/>
        <p:txBody>
          <a:bodyPr/>
          <a:lstStyle/>
          <a:p>
            <a:r>
              <a:rPr lang="en-US" dirty="0" smtClean="0"/>
              <a:t>The Y2022 revenue target has been increased by </a:t>
            </a:r>
            <a:r>
              <a:rPr lang="en-US" dirty="0" err="1" smtClean="0"/>
              <a:t>DoF</a:t>
            </a:r>
            <a:r>
              <a:rPr lang="en-US" dirty="0" smtClean="0"/>
              <a:t> from AED 38.4 m (submitted by KU) to AED 66.2 m (approved by </a:t>
            </a:r>
            <a:r>
              <a:rPr lang="en-US" dirty="0" err="1" smtClean="0"/>
              <a:t>DoF</a:t>
            </a:r>
            <a:r>
              <a:rPr lang="en-US" dirty="0" smtClean="0"/>
              <a:t>). </a:t>
            </a:r>
          </a:p>
          <a:p>
            <a:r>
              <a:rPr lang="en-US" dirty="0" smtClean="0"/>
              <a:t> The increase in revenue target by </a:t>
            </a:r>
            <a:r>
              <a:rPr lang="en-US" dirty="0" err="1" smtClean="0"/>
              <a:t>DoF</a:t>
            </a:r>
            <a:r>
              <a:rPr lang="en-US" dirty="0" smtClean="0"/>
              <a:t> was due to an expectation from </a:t>
            </a:r>
            <a:r>
              <a:rPr lang="en-US" dirty="0" err="1" smtClean="0"/>
              <a:t>DoF</a:t>
            </a:r>
            <a:r>
              <a:rPr lang="en-US" dirty="0" smtClean="0"/>
              <a:t> that KU shall collect in Y2022 part of the outstanding from </a:t>
            </a:r>
            <a:r>
              <a:rPr lang="en-US" dirty="0" err="1" smtClean="0"/>
              <a:t>Ankabut</a:t>
            </a:r>
            <a:r>
              <a:rPr lang="en-US" dirty="0" smtClean="0"/>
              <a:t> (as cash revenue). This was not the case as no payment was made by </a:t>
            </a:r>
            <a:r>
              <a:rPr lang="en-US" dirty="0" err="1" smtClean="0"/>
              <a:t>Ankabut</a:t>
            </a:r>
            <a:r>
              <a:rPr lang="en-US" dirty="0" smtClean="0"/>
              <a:t> to KU and this is planned to be shareholder equity in </a:t>
            </a:r>
            <a:r>
              <a:rPr lang="en-US" dirty="0" err="1" smtClean="0"/>
              <a:t>Ankabut</a:t>
            </a:r>
            <a:r>
              <a:rPr lang="en-US" dirty="0" smtClean="0"/>
              <a:t>. </a:t>
            </a:r>
          </a:p>
          <a:p>
            <a:r>
              <a:rPr lang="en-US" dirty="0" smtClean="0"/>
              <a:t>KU has achieved well in actual revenue (cash basis) against the originally submitted budget (above by 33%), but still beyond the revenue target set by </a:t>
            </a:r>
            <a:r>
              <a:rPr lang="en-US" dirty="0" err="1" smtClean="0"/>
              <a:t>DoF</a:t>
            </a:r>
            <a:r>
              <a:rPr lang="en-US" dirty="0" smtClean="0"/>
              <a:t> (less by 22%).</a:t>
            </a:r>
          </a:p>
          <a:p>
            <a:endParaRPr lang="en-US" dirty="0"/>
          </a:p>
        </p:txBody>
      </p:sp>
    </p:spTree>
    <p:extLst>
      <p:ext uri="{BB962C8B-B14F-4D97-AF65-F5344CB8AC3E}">
        <p14:creationId xmlns:p14="http://schemas.microsoft.com/office/powerpoint/2010/main" val="6071099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t>Performance against major revenue streams in Revenue budget for </a:t>
            </a:r>
            <a:r>
              <a:rPr lang="en-US" sz="3600" b="1" dirty="0" err="1" smtClean="0"/>
              <a:t>DoF</a:t>
            </a:r>
            <a:endParaRPr lang="en-US" sz="3600" b="1" dirty="0"/>
          </a:p>
        </p:txBody>
      </p:sp>
      <p:sp>
        <p:nvSpPr>
          <p:cNvPr id="3" name="Content Placeholder 2"/>
          <p:cNvSpPr>
            <a:spLocks noGrp="1"/>
          </p:cNvSpPr>
          <p:nvPr>
            <p:ph idx="1"/>
          </p:nvPr>
        </p:nvSpPr>
        <p:spPr/>
        <p:txBody>
          <a:bodyPr>
            <a:normAutofit fontScale="85000" lnSpcReduction="20000"/>
          </a:bodyPr>
          <a:lstStyle/>
          <a:p>
            <a:pPr marL="0" indent="0">
              <a:buNone/>
            </a:pPr>
            <a:r>
              <a:rPr lang="en-US" u="sng" dirty="0" smtClean="0"/>
              <a:t>Income from sponsorship:  </a:t>
            </a:r>
          </a:p>
          <a:p>
            <a:r>
              <a:rPr lang="en-US" dirty="0" smtClean="0"/>
              <a:t>This is a key revenue coming from external sponsors of students, there were 141 sponsored students and which generated around AED 16.8 m during the year as compared t AED 24 m as set by </a:t>
            </a:r>
            <a:r>
              <a:rPr lang="en-US" dirty="0" err="1" smtClean="0"/>
              <a:t>DoF</a:t>
            </a:r>
            <a:r>
              <a:rPr lang="en-US" dirty="0" smtClean="0"/>
              <a:t> and AED 14.6 as submitted (expected) by KU. The budget revenue for Y2023 is AED 15.9 m against which we achieved 45% by the end of 1</a:t>
            </a:r>
            <a:r>
              <a:rPr lang="en-US" baseline="30000" dirty="0" smtClean="0"/>
              <a:t>st</a:t>
            </a:r>
            <a:r>
              <a:rPr lang="en-US" dirty="0" smtClean="0"/>
              <a:t> quarter and expect to achieve the target before the end of the year.</a:t>
            </a:r>
          </a:p>
          <a:p>
            <a:endParaRPr lang="en-US" dirty="0" smtClean="0"/>
          </a:p>
          <a:p>
            <a:pPr marL="0" indent="0">
              <a:buNone/>
            </a:pPr>
            <a:r>
              <a:rPr lang="en-US" u="sng" dirty="0" smtClean="0"/>
              <a:t>Tuition Fee:</a:t>
            </a:r>
          </a:p>
          <a:p>
            <a:r>
              <a:rPr lang="en-US" dirty="0" smtClean="0"/>
              <a:t>This revenue represents the tuition fees collected directly from the students either self-financed or those under a partial scholarship from KU. </a:t>
            </a:r>
          </a:p>
          <a:p>
            <a:r>
              <a:rPr lang="en-US" dirty="0" smtClean="0"/>
              <a:t>There were 934 scholarships in the year, actual cash revenue was AED 10.8 m against AED 12 m (budget), and AED 5.7 m as actual cash in 1</a:t>
            </a:r>
            <a:r>
              <a:rPr lang="en-US" baseline="30000" dirty="0" smtClean="0"/>
              <a:t>st</a:t>
            </a:r>
            <a:r>
              <a:rPr lang="en-US" dirty="0" smtClean="0"/>
              <a:t> quarter against AED 9.6 m (full 2023 revenue under this stream). KU has achieved 60% of the target revenue for the year during the 1</a:t>
            </a:r>
            <a:r>
              <a:rPr lang="en-US" baseline="30000" dirty="0" smtClean="0"/>
              <a:t>st</a:t>
            </a:r>
            <a:r>
              <a:rPr lang="en-US" dirty="0" smtClean="0"/>
              <a:t> quarter. </a:t>
            </a:r>
          </a:p>
          <a:p>
            <a:endParaRPr lang="en-US" dirty="0" smtClean="0"/>
          </a:p>
          <a:p>
            <a:endParaRPr lang="en-US" dirty="0" smtClean="0"/>
          </a:p>
          <a:p>
            <a:endParaRPr lang="en-US" dirty="0"/>
          </a:p>
        </p:txBody>
      </p:sp>
    </p:spTree>
    <p:extLst>
      <p:ext uri="{BB962C8B-B14F-4D97-AF65-F5344CB8AC3E}">
        <p14:creationId xmlns:p14="http://schemas.microsoft.com/office/powerpoint/2010/main" val="2256693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473" y="365126"/>
            <a:ext cx="10827327" cy="844838"/>
          </a:xfrm>
        </p:spPr>
        <p:txBody>
          <a:bodyPr>
            <a:noAutofit/>
          </a:bodyPr>
          <a:lstStyle/>
          <a:p>
            <a:pPr algn="ctr"/>
            <a:r>
              <a:rPr lang="en-US" sz="3200" b="1" dirty="0"/>
              <a:t>Performance against </a:t>
            </a:r>
            <a:r>
              <a:rPr lang="en-US" sz="3200" b="1" dirty="0" smtClean="0"/>
              <a:t>revenue </a:t>
            </a:r>
            <a:r>
              <a:rPr lang="en-US" sz="3200" b="1" dirty="0"/>
              <a:t>streams in </a:t>
            </a:r>
            <a:r>
              <a:rPr lang="en-US" sz="3200" b="1" dirty="0" smtClean="0"/>
              <a:t>Revenue </a:t>
            </a:r>
            <a:r>
              <a:rPr lang="en-US" sz="3200" b="1" dirty="0"/>
              <a:t>budget for </a:t>
            </a:r>
            <a:r>
              <a:rPr lang="en-US" sz="3200" b="1" dirty="0" err="1"/>
              <a:t>DoF</a:t>
            </a:r>
            <a:endParaRPr lang="en-US" sz="3200" dirty="0"/>
          </a:p>
        </p:txBody>
      </p:sp>
      <p:sp>
        <p:nvSpPr>
          <p:cNvPr id="3" name="Content Placeholder 2"/>
          <p:cNvSpPr>
            <a:spLocks noGrp="1"/>
          </p:cNvSpPr>
          <p:nvPr>
            <p:ph idx="1"/>
          </p:nvPr>
        </p:nvSpPr>
        <p:spPr>
          <a:xfrm>
            <a:off x="637309" y="1209964"/>
            <a:ext cx="10716491" cy="5458691"/>
          </a:xfrm>
        </p:spPr>
        <p:txBody>
          <a:bodyPr>
            <a:noAutofit/>
          </a:bodyPr>
          <a:lstStyle/>
          <a:p>
            <a:pPr marL="0" indent="0">
              <a:buNone/>
            </a:pPr>
            <a:r>
              <a:rPr lang="en-US" sz="1800" u="sng" dirty="0" smtClean="0"/>
              <a:t>Continue education (training): </a:t>
            </a:r>
          </a:p>
          <a:p>
            <a:r>
              <a:rPr lang="en-US" sz="1800" dirty="0" smtClean="0"/>
              <a:t>This item is related to training services under the agreement with “SEHA” and other training provided by the Continuous Education Center to external clients. KU has done well in the item in Y2022 resulting in revenue of AED 6.4 m as compared to AED 6 m target revenue. </a:t>
            </a:r>
            <a:endParaRPr lang="en-US" sz="1800" dirty="0"/>
          </a:p>
          <a:p>
            <a:r>
              <a:rPr lang="en-US" sz="1800" dirty="0" smtClean="0"/>
              <a:t>The reason for underspending during this quarter is that the agreement with “SEHA” is under update for rates hence the revenue was not yet reflected. </a:t>
            </a:r>
          </a:p>
          <a:p>
            <a:pPr marL="0" indent="0">
              <a:buNone/>
            </a:pPr>
            <a:endParaRPr lang="en-US" sz="1800" dirty="0"/>
          </a:p>
          <a:p>
            <a:pPr marL="0" indent="0">
              <a:buNone/>
            </a:pPr>
            <a:r>
              <a:rPr lang="en-US" sz="1800" u="sng" dirty="0"/>
              <a:t>Transportation</a:t>
            </a:r>
            <a:r>
              <a:rPr lang="en-US" sz="1800" u="sng" dirty="0" smtClean="0"/>
              <a:t>: </a:t>
            </a:r>
          </a:p>
          <a:p>
            <a:r>
              <a:rPr lang="en-US" sz="1800" dirty="0" smtClean="0"/>
              <a:t>Revenue collected from students for using our transportation (between Abu Dhabi and other emirates), does not reflect a full recovery of cost but part of it. Actual revenue was above the target in 2022 by 15%. </a:t>
            </a:r>
          </a:p>
          <a:p>
            <a:pPr marL="0" indent="0">
              <a:buNone/>
            </a:pPr>
            <a:endParaRPr lang="en-US" sz="1800" dirty="0"/>
          </a:p>
          <a:p>
            <a:pPr marL="0" indent="0">
              <a:buNone/>
            </a:pPr>
            <a:r>
              <a:rPr lang="en-US" sz="1800" u="sng" dirty="0"/>
              <a:t>Overhead </a:t>
            </a:r>
            <a:r>
              <a:rPr lang="en-US" sz="1800" u="sng" dirty="0" smtClean="0"/>
              <a:t>recovery &amp; charge-back within ledgers:  </a:t>
            </a:r>
            <a:endParaRPr lang="en-US" sz="1800" u="sng" dirty="0"/>
          </a:p>
          <a:p>
            <a:r>
              <a:rPr lang="en-US" sz="1800" dirty="0"/>
              <a:t>This revenue reflects </a:t>
            </a:r>
            <a:r>
              <a:rPr lang="en-US" sz="1800" dirty="0" smtClean="0"/>
              <a:t>some overhead charges and some chargeback </a:t>
            </a:r>
            <a:r>
              <a:rPr lang="en-US" sz="1800" dirty="0"/>
              <a:t>between the main ledger (KUST) and other ledgers (e.g. KUX ledger). </a:t>
            </a:r>
            <a:endParaRPr lang="en-US" sz="1800" dirty="0" smtClean="0"/>
          </a:p>
          <a:p>
            <a:pPr marL="0" indent="0">
              <a:buNone/>
            </a:pPr>
            <a:endParaRPr lang="en-US" sz="1800" dirty="0"/>
          </a:p>
          <a:p>
            <a:endParaRPr lang="en-US" sz="1800" dirty="0"/>
          </a:p>
        </p:txBody>
      </p:sp>
    </p:spTree>
    <p:extLst>
      <p:ext uri="{BB962C8B-B14F-4D97-AF65-F5344CB8AC3E}">
        <p14:creationId xmlns:p14="http://schemas.microsoft.com/office/powerpoint/2010/main" val="12608148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Building rent</a:t>
            </a:r>
            <a:endParaRPr lang="en-US" b="1" dirty="0"/>
          </a:p>
        </p:txBody>
      </p:sp>
      <p:sp>
        <p:nvSpPr>
          <p:cNvPr id="3" name="Content Placeholder 2"/>
          <p:cNvSpPr>
            <a:spLocks noGrp="1"/>
          </p:cNvSpPr>
          <p:nvPr>
            <p:ph idx="1"/>
          </p:nvPr>
        </p:nvSpPr>
        <p:spPr>
          <a:xfrm>
            <a:off x="838200" y="1459345"/>
            <a:ext cx="10515600" cy="4717618"/>
          </a:xfrm>
        </p:spPr>
        <p:txBody>
          <a:bodyPr>
            <a:normAutofit fontScale="85000" lnSpcReduction="20000"/>
          </a:bodyPr>
          <a:lstStyle/>
          <a:p>
            <a:pPr marL="0" indent="0">
              <a:buNone/>
            </a:pPr>
            <a:r>
              <a:rPr lang="en-US" u="sng" dirty="0"/>
              <a:t>Building rent: residents</a:t>
            </a:r>
          </a:p>
          <a:p>
            <a:r>
              <a:rPr lang="en-US" dirty="0"/>
              <a:t>This item includes rent collected for accommodation for non-eligible students such as graduate students etc. </a:t>
            </a:r>
          </a:p>
          <a:p>
            <a:r>
              <a:rPr lang="en-US" dirty="0"/>
              <a:t>The collection of residence rent was </a:t>
            </a:r>
            <a:r>
              <a:rPr lang="en-US" dirty="0" smtClean="0"/>
              <a:t>98% of the target</a:t>
            </a:r>
            <a:r>
              <a:rPr lang="en-US" dirty="0"/>
              <a:t> </a:t>
            </a:r>
            <a:r>
              <a:rPr lang="en-US" dirty="0" smtClean="0"/>
              <a:t>Y2022 and 40% up to the 1</a:t>
            </a:r>
            <a:r>
              <a:rPr lang="en-US" baseline="30000" dirty="0" smtClean="0"/>
              <a:t>st</a:t>
            </a:r>
            <a:r>
              <a:rPr lang="en-US" dirty="0" smtClean="0"/>
              <a:t> quarter as compared to budget 2023. </a:t>
            </a:r>
          </a:p>
          <a:p>
            <a:pPr marL="0" indent="0">
              <a:buNone/>
            </a:pPr>
            <a:endParaRPr lang="en-US" dirty="0"/>
          </a:p>
          <a:p>
            <a:pPr marL="0" indent="0">
              <a:buNone/>
            </a:pPr>
            <a:r>
              <a:rPr lang="en-US" u="sng" dirty="0"/>
              <a:t>Building rent: Commercial properties (including shops):</a:t>
            </a:r>
          </a:p>
          <a:p>
            <a:r>
              <a:rPr lang="en-US" dirty="0"/>
              <a:t>This item includes rent collected from outlets/ restaurants and other venue rentals. </a:t>
            </a:r>
          </a:p>
          <a:p>
            <a:r>
              <a:rPr lang="en-US" dirty="0"/>
              <a:t>The revenue was below the target as the university follows different kinds of agreements with outlets including revenue sharing, minimum sales, etc. This revenue target (budget) was revised to a lower level in 2023 to reflect reality. </a:t>
            </a:r>
            <a:endParaRPr lang="en-US" dirty="0" smtClean="0"/>
          </a:p>
          <a:p>
            <a:r>
              <a:rPr lang="en-US" dirty="0" smtClean="0"/>
              <a:t>More details in the next sheet</a:t>
            </a:r>
            <a:endParaRPr lang="en-US" dirty="0"/>
          </a:p>
          <a:p>
            <a:endParaRPr lang="en-US" dirty="0"/>
          </a:p>
        </p:txBody>
      </p:sp>
    </p:spTree>
    <p:extLst>
      <p:ext uri="{BB962C8B-B14F-4D97-AF65-F5344CB8AC3E}">
        <p14:creationId xmlns:p14="http://schemas.microsoft.com/office/powerpoint/2010/main" val="32045987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477670175"/>
              </p:ext>
            </p:extLst>
          </p:nvPr>
        </p:nvGraphicFramePr>
        <p:xfrm>
          <a:off x="258620" y="155228"/>
          <a:ext cx="11286834" cy="6594234"/>
        </p:xfrm>
        <a:graphic>
          <a:graphicData uri="http://schemas.openxmlformats.org/drawingml/2006/table">
            <a:tbl>
              <a:tblPr/>
              <a:tblGrid>
                <a:gridCol w="182953">
                  <a:extLst>
                    <a:ext uri="{9D8B030D-6E8A-4147-A177-3AD203B41FA5}">
                      <a16:colId xmlns:a16="http://schemas.microsoft.com/office/drawing/2014/main" val="600728322"/>
                    </a:ext>
                  </a:extLst>
                </a:gridCol>
                <a:gridCol w="1097722">
                  <a:extLst>
                    <a:ext uri="{9D8B030D-6E8A-4147-A177-3AD203B41FA5}">
                      <a16:colId xmlns:a16="http://schemas.microsoft.com/office/drawing/2014/main" val="2994859389"/>
                    </a:ext>
                  </a:extLst>
                </a:gridCol>
                <a:gridCol w="1745098">
                  <a:extLst>
                    <a:ext uri="{9D8B030D-6E8A-4147-A177-3AD203B41FA5}">
                      <a16:colId xmlns:a16="http://schemas.microsoft.com/office/drawing/2014/main" val="2734476853"/>
                    </a:ext>
                  </a:extLst>
                </a:gridCol>
                <a:gridCol w="2258774">
                  <a:extLst>
                    <a:ext uri="{9D8B030D-6E8A-4147-A177-3AD203B41FA5}">
                      <a16:colId xmlns:a16="http://schemas.microsoft.com/office/drawing/2014/main" val="991566034"/>
                    </a:ext>
                  </a:extLst>
                </a:gridCol>
                <a:gridCol w="731815">
                  <a:extLst>
                    <a:ext uri="{9D8B030D-6E8A-4147-A177-3AD203B41FA5}">
                      <a16:colId xmlns:a16="http://schemas.microsoft.com/office/drawing/2014/main" val="1890512706"/>
                    </a:ext>
                  </a:extLst>
                </a:gridCol>
                <a:gridCol w="823291">
                  <a:extLst>
                    <a:ext uri="{9D8B030D-6E8A-4147-A177-3AD203B41FA5}">
                      <a16:colId xmlns:a16="http://schemas.microsoft.com/office/drawing/2014/main" val="427985657"/>
                    </a:ext>
                  </a:extLst>
                </a:gridCol>
                <a:gridCol w="3110212">
                  <a:extLst>
                    <a:ext uri="{9D8B030D-6E8A-4147-A177-3AD203B41FA5}">
                      <a16:colId xmlns:a16="http://schemas.microsoft.com/office/drawing/2014/main" val="3370147239"/>
                    </a:ext>
                  </a:extLst>
                </a:gridCol>
                <a:gridCol w="1336969">
                  <a:extLst>
                    <a:ext uri="{9D8B030D-6E8A-4147-A177-3AD203B41FA5}">
                      <a16:colId xmlns:a16="http://schemas.microsoft.com/office/drawing/2014/main" val="2140584047"/>
                    </a:ext>
                  </a:extLst>
                </a:gridCol>
              </a:tblGrid>
              <a:tr h="287602">
                <a:tc gridSpan="7">
                  <a:txBody>
                    <a:bodyPr/>
                    <a:lstStyle/>
                    <a:p>
                      <a:pPr algn="ctr" fontAlgn="b"/>
                      <a:r>
                        <a:rPr lang="en-US" sz="2000" b="1" i="0" u="none" strike="noStrike" dirty="0">
                          <a:solidFill>
                            <a:srgbClr val="000000"/>
                          </a:solidFill>
                          <a:effectLst/>
                          <a:latin typeface="Calibri" panose="020F0502020204030204" pitchFamily="34" charset="0"/>
                        </a:rPr>
                        <a:t>Building rent: Commercial properties (including shops)</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algn="l" fontAlgn="ctr"/>
                      <a:r>
                        <a:rPr lang="en-US" sz="1050" b="1" i="0" u="none" strike="noStrike" dirty="0" smtClean="0">
                          <a:solidFill>
                            <a:srgbClr val="000000"/>
                          </a:solidFill>
                          <a:effectLst/>
                          <a:latin typeface="Calibri" panose="020F0502020204030204" pitchFamily="34" charset="0"/>
                        </a:rPr>
                        <a:t>Revenue </a:t>
                      </a:r>
                      <a:r>
                        <a:rPr lang="en-US" sz="1050" b="1" i="0" u="none" strike="noStrike" dirty="0">
                          <a:solidFill>
                            <a:srgbClr val="000000"/>
                          </a:solidFill>
                          <a:effectLst/>
                          <a:latin typeface="Calibri" panose="020F0502020204030204" pitchFamily="34" charset="0"/>
                        </a:rPr>
                        <a:t>up </a:t>
                      </a:r>
                      <a:r>
                        <a:rPr lang="en-US" sz="1050" b="1" i="0" u="none" strike="noStrike" dirty="0" smtClean="0">
                          <a:solidFill>
                            <a:srgbClr val="000000"/>
                          </a:solidFill>
                          <a:effectLst/>
                          <a:latin typeface="Calibri" panose="020F0502020204030204" pitchFamily="34" charset="0"/>
                        </a:rPr>
                        <a:t>Y2022</a:t>
                      </a:r>
                      <a:endParaRPr lang="en-US" sz="1050" b="1" i="0" u="none" strike="noStrike" dirty="0">
                        <a:solidFill>
                          <a:srgbClr val="000000"/>
                        </a:solidFill>
                        <a:effectLst/>
                        <a:latin typeface="Calibri" panose="020F0502020204030204" pitchFamily="34" charset="0"/>
                      </a:endParaRP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4142239561"/>
                  </a:ext>
                </a:extLst>
              </a:tr>
              <a:tr h="130966">
                <a:tc>
                  <a:txBody>
                    <a:bodyPr/>
                    <a:lstStyle/>
                    <a:p>
                      <a:pPr algn="ctr" fontAlgn="ctr"/>
                      <a:r>
                        <a:rPr lang="en-US" sz="500" b="1" i="0" u="none" strike="noStrike">
                          <a:solidFill>
                            <a:srgbClr val="000000"/>
                          </a:solidFill>
                          <a:effectLst/>
                          <a:latin typeface="Calibri" panose="020F0502020204030204" pitchFamily="34" charset="0"/>
                        </a:rPr>
                        <a:t>SN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dirty="0">
                          <a:solidFill>
                            <a:srgbClr val="000000"/>
                          </a:solidFill>
                          <a:effectLst/>
                          <a:latin typeface="Calibri" panose="020F0502020204030204" pitchFamily="34" charset="0"/>
                        </a:rPr>
                        <a:t>Campus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dirty="0">
                          <a:solidFill>
                            <a:srgbClr val="000000"/>
                          </a:solidFill>
                          <a:effectLst/>
                          <a:latin typeface="Calibri" panose="020F0502020204030204" pitchFamily="34" charset="0"/>
                        </a:rPr>
                        <a:t>Location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dirty="0">
                          <a:solidFill>
                            <a:srgbClr val="000000"/>
                          </a:solidFill>
                          <a:effectLst/>
                          <a:latin typeface="Calibri" panose="020F0502020204030204" pitchFamily="34" charset="0"/>
                        </a:rPr>
                        <a:t>Brand</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a:solidFill>
                            <a:srgbClr val="000000"/>
                          </a:solidFill>
                          <a:effectLst/>
                          <a:latin typeface="Calibri" panose="020F0502020204030204" pitchFamily="34" charset="0"/>
                        </a:rPr>
                        <a:t>Status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a:solidFill>
                            <a:srgbClr val="000000"/>
                          </a:solidFill>
                          <a:effectLst/>
                          <a:latin typeface="Calibri" panose="020F0502020204030204" pitchFamily="34" charset="0"/>
                        </a:rPr>
                        <a:t>Type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sz="900" b="1" i="0" u="none" strike="noStrike">
                          <a:solidFill>
                            <a:srgbClr val="000000"/>
                          </a:solidFill>
                          <a:effectLst/>
                          <a:latin typeface="Calibri" panose="020F0502020204030204" pitchFamily="34" charset="0"/>
                        </a:rPr>
                        <a:t>Rent</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vMerge="1">
                  <a:txBody>
                    <a:bodyPr/>
                    <a:lstStyle/>
                    <a:p>
                      <a:endParaRPr lang="en-US"/>
                    </a:p>
                  </a:txBody>
                  <a:tcPr/>
                </a:tc>
                <a:extLst>
                  <a:ext uri="{0D108BD9-81ED-4DB2-BD59-A6C34878D82A}">
                    <a16:rowId xmlns:a16="http://schemas.microsoft.com/office/drawing/2014/main" val="3527965449"/>
                  </a:ext>
                </a:extLst>
              </a:tr>
              <a:tr h="130966">
                <a:tc>
                  <a:txBody>
                    <a:bodyPr/>
                    <a:lstStyle/>
                    <a:p>
                      <a:pPr algn="ctr" fontAlgn="ctr"/>
                      <a:r>
                        <a:rPr lang="en-US" sz="500" b="0" i="0" u="none" strike="noStrike">
                          <a:solidFill>
                            <a:srgbClr val="000000"/>
                          </a:solidFill>
                          <a:effectLst/>
                          <a:latin typeface="Calibri" panose="020F0502020204030204" pitchFamily="34" charset="0"/>
                        </a:rPr>
                        <a:t>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Building R</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Bloom Room Flower &amp; Café</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10%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2,735.14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1617842"/>
                  </a:ext>
                </a:extLst>
              </a:tr>
              <a:tr h="130966">
                <a:tc>
                  <a:txBody>
                    <a:bodyPr/>
                    <a:lstStyle/>
                    <a:p>
                      <a:pPr algn="ctr" fontAlgn="ctr"/>
                      <a:r>
                        <a:rPr lang="en-US" sz="500" b="0" i="0" u="none" strike="noStrike">
                          <a:solidFill>
                            <a:srgbClr val="000000"/>
                          </a:solidFill>
                          <a:effectLst/>
                          <a:latin typeface="Calibri" panose="020F0502020204030204" pitchFamily="34" charset="0"/>
                        </a:rPr>
                        <a:t>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R</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Costa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10% Disc + 10% Rev</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r" fontAlgn="ctr"/>
                      <a:r>
                        <a:rPr lang="en-US" sz="900" b="0" i="0" u="none" strike="noStrike" dirty="0">
                          <a:solidFill>
                            <a:srgbClr val="000000"/>
                          </a:solidFill>
                          <a:effectLst/>
                          <a:latin typeface="Calibri" panose="020F0502020204030204" pitchFamily="34" charset="0"/>
                        </a:rPr>
                        <a:t>25,485.80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1084203"/>
                  </a:ext>
                </a:extLst>
              </a:tr>
              <a:tr h="130966">
                <a:tc>
                  <a:txBody>
                    <a:bodyPr/>
                    <a:lstStyle/>
                    <a:p>
                      <a:pPr algn="ctr" fontAlgn="ctr"/>
                      <a:r>
                        <a:rPr lang="en-US" sz="500" b="0" i="0" u="none" strike="noStrike">
                          <a:solidFill>
                            <a:srgbClr val="000000"/>
                          </a:solidFill>
                          <a:effectLst/>
                          <a:latin typeface="Calibri" panose="020F0502020204030204" pitchFamily="34" charset="0"/>
                        </a:rPr>
                        <a:t>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2 &amp; Arzanah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Costa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10% Disc + 10% Rev</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505303696"/>
                  </a:ext>
                </a:extLst>
              </a:tr>
              <a:tr h="130966">
                <a:tc>
                  <a:txBody>
                    <a:bodyPr/>
                    <a:lstStyle/>
                    <a:p>
                      <a:pPr algn="ctr" fontAlgn="ctr"/>
                      <a:r>
                        <a:rPr lang="en-US" sz="500" b="0" i="0" u="none" strike="noStrike">
                          <a:solidFill>
                            <a:srgbClr val="000000"/>
                          </a:solidFill>
                          <a:effectLst/>
                          <a:latin typeface="Calibri" panose="020F0502020204030204" pitchFamily="34" charset="0"/>
                        </a:rPr>
                        <a:t>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Blue Mart (ADNH)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Shopping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r" fontAlgn="ctr"/>
                      <a:r>
                        <a:rPr lang="en-US" sz="900" b="0" i="0" u="none" strike="noStrike" dirty="0">
                          <a:solidFill>
                            <a:srgbClr val="000000"/>
                          </a:solidFill>
                          <a:effectLst/>
                          <a:latin typeface="Calibri" panose="020F0502020204030204" pitchFamily="34" charset="0"/>
                        </a:rPr>
                        <a:t>171,566.12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77974"/>
                  </a:ext>
                </a:extLst>
              </a:tr>
              <a:tr h="130966">
                <a:tc>
                  <a:txBody>
                    <a:bodyPr/>
                    <a:lstStyle/>
                    <a:p>
                      <a:pPr algn="ctr" fontAlgn="ctr"/>
                      <a:r>
                        <a:rPr lang="en-US" sz="500" b="0" i="0" u="none" strike="noStrike">
                          <a:solidFill>
                            <a:srgbClr val="000000"/>
                          </a:solidFill>
                          <a:effectLst/>
                          <a:latin typeface="Calibri" panose="020F0502020204030204" pitchFamily="34" charset="0"/>
                        </a:rPr>
                        <a:t>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 Foodcourt</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So Daily ADNH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Refer to contract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466601763"/>
                  </a:ext>
                </a:extLst>
              </a:tr>
              <a:tr h="130966">
                <a:tc>
                  <a:txBody>
                    <a:bodyPr/>
                    <a:lstStyle/>
                    <a:p>
                      <a:pPr algn="ctr" fontAlgn="ctr"/>
                      <a:r>
                        <a:rPr lang="en-US" sz="500" b="0" i="0" u="none" strike="noStrike">
                          <a:solidFill>
                            <a:srgbClr val="000000"/>
                          </a:solidFill>
                          <a:effectLst/>
                          <a:latin typeface="Calibri" panose="020F0502020204030204" pitchFamily="34" charset="0"/>
                        </a:rPr>
                        <a:t>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Central Spine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Haagen Dazs (ADNH)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215736073"/>
                  </a:ext>
                </a:extLst>
              </a:tr>
              <a:tr h="130966">
                <a:tc>
                  <a:txBody>
                    <a:bodyPr/>
                    <a:lstStyle/>
                    <a:p>
                      <a:pPr algn="ctr" fontAlgn="ctr"/>
                      <a:r>
                        <a:rPr lang="en-US" sz="500" b="0" i="0" u="none" strike="noStrike">
                          <a:solidFill>
                            <a:srgbClr val="000000"/>
                          </a:solidFill>
                          <a:effectLst/>
                          <a:latin typeface="Calibri" panose="020F0502020204030204" pitchFamily="34" charset="0"/>
                        </a:rPr>
                        <a:t>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Lavazza (ADNH)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819262435"/>
                  </a:ext>
                </a:extLst>
              </a:tr>
              <a:tr h="130966">
                <a:tc>
                  <a:txBody>
                    <a:bodyPr/>
                    <a:lstStyle/>
                    <a:p>
                      <a:pPr algn="ctr" fontAlgn="ctr"/>
                      <a:r>
                        <a:rPr lang="en-US" sz="500" b="0" i="0" u="none" strike="noStrike">
                          <a:solidFill>
                            <a:srgbClr val="000000"/>
                          </a:solidFill>
                          <a:effectLst/>
                          <a:latin typeface="Calibri" panose="020F0502020204030204" pitchFamily="34" charset="0"/>
                        </a:rPr>
                        <a:t>8</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5 &amp; Building 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So Daily ADNH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Refer to contract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710670940"/>
                  </a:ext>
                </a:extLst>
              </a:tr>
              <a:tr h="130966">
                <a:tc>
                  <a:txBody>
                    <a:bodyPr/>
                    <a:lstStyle/>
                    <a:p>
                      <a:pPr algn="ctr" fontAlgn="ctr"/>
                      <a:r>
                        <a:rPr lang="en-US" sz="500" b="0" i="0" u="none" strike="noStrike">
                          <a:solidFill>
                            <a:srgbClr val="000000"/>
                          </a:solidFill>
                          <a:effectLst/>
                          <a:latin typeface="Calibri" panose="020F0502020204030204" pitchFamily="34" charset="0"/>
                        </a:rPr>
                        <a:t>9</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 Foodcourt</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House of Tea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10% </a:t>
                      </a:r>
                      <a:r>
                        <a:rPr lang="en-US" sz="900" b="0" i="0" u="none" strike="noStrike" dirty="0" err="1">
                          <a:solidFill>
                            <a:srgbClr val="000000"/>
                          </a:solidFill>
                          <a:effectLst/>
                          <a:latin typeface="Calibri" panose="020F0502020204030204" pitchFamily="34" charset="0"/>
                        </a:rPr>
                        <a:t>Revn</a:t>
                      </a:r>
                      <a:r>
                        <a:rPr lang="en-US" sz="900" b="0" i="0" u="none" strike="noStrike" dirty="0">
                          <a:solidFill>
                            <a:srgbClr val="000000"/>
                          </a:solidFill>
                          <a:effectLst/>
                          <a:latin typeface="Calibri" panose="020F0502020204030204" pitchFamily="34" charset="0"/>
                        </a:rPr>
                        <a:t>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r" fontAlgn="ctr"/>
                      <a:r>
                        <a:rPr lang="en-US" sz="900" b="0" i="0" u="none" strike="noStrike" dirty="0">
                          <a:solidFill>
                            <a:srgbClr val="000000"/>
                          </a:solidFill>
                          <a:effectLst/>
                          <a:latin typeface="Calibri" panose="020F0502020204030204" pitchFamily="34" charset="0"/>
                        </a:rPr>
                        <a:t>74,040.72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5725373"/>
                  </a:ext>
                </a:extLst>
              </a:tr>
              <a:tr h="130966">
                <a:tc>
                  <a:txBody>
                    <a:bodyPr/>
                    <a:lstStyle/>
                    <a:p>
                      <a:pPr algn="ctr" fontAlgn="ctr"/>
                      <a:r>
                        <a:rPr lang="en-US" sz="500" b="0" i="0" u="none" strike="noStrike">
                          <a:solidFill>
                            <a:srgbClr val="000000"/>
                          </a:solidFill>
                          <a:effectLst/>
                          <a:latin typeface="Calibri" panose="020F0502020204030204" pitchFamily="34" charset="0"/>
                        </a:rPr>
                        <a:t>10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House of Tea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564078718"/>
                  </a:ext>
                </a:extLst>
              </a:tr>
              <a:tr h="130966">
                <a:tc>
                  <a:txBody>
                    <a:bodyPr/>
                    <a:lstStyle/>
                    <a:p>
                      <a:pPr algn="ctr" fontAlgn="ctr"/>
                      <a:r>
                        <a:rPr lang="en-US" sz="500" b="0" i="0" u="none" strike="noStrike">
                          <a:solidFill>
                            <a:srgbClr val="000000"/>
                          </a:solidFill>
                          <a:effectLst/>
                          <a:latin typeface="Calibri" panose="020F0502020204030204" pitchFamily="34" charset="0"/>
                        </a:rPr>
                        <a:t>11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Central Spine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Green for Life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r" fontAlgn="ctr"/>
                      <a:r>
                        <a:rPr lang="en-US" sz="900" b="0" i="0" u="none" strike="noStrike" dirty="0">
                          <a:solidFill>
                            <a:srgbClr val="000000"/>
                          </a:solidFill>
                          <a:effectLst/>
                          <a:latin typeface="Calibri" panose="020F0502020204030204" pitchFamily="34" charset="0"/>
                        </a:rPr>
                        <a:t>58,946.51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7671878"/>
                  </a:ext>
                </a:extLst>
              </a:tr>
              <a:tr h="130966">
                <a:tc>
                  <a:txBody>
                    <a:bodyPr/>
                    <a:lstStyle/>
                    <a:p>
                      <a:pPr algn="ctr" fontAlgn="ctr"/>
                      <a:r>
                        <a:rPr lang="en-US" sz="500" b="0" i="0" u="none" strike="noStrike">
                          <a:solidFill>
                            <a:srgbClr val="000000"/>
                          </a:solidFill>
                          <a:effectLst/>
                          <a:latin typeface="Calibri" panose="020F0502020204030204" pitchFamily="34" charset="0"/>
                        </a:rPr>
                        <a:t>12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Green for Life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798989156"/>
                  </a:ext>
                </a:extLst>
              </a:tr>
              <a:tr h="387279">
                <a:tc>
                  <a:txBody>
                    <a:bodyPr/>
                    <a:lstStyle/>
                    <a:p>
                      <a:pPr algn="ctr" fontAlgn="ctr"/>
                      <a:r>
                        <a:rPr lang="en-US" sz="500" b="0" i="0" u="none" strike="noStrike">
                          <a:solidFill>
                            <a:srgbClr val="000000"/>
                          </a:solidFill>
                          <a:effectLst/>
                          <a:latin typeface="Calibri" panose="020F0502020204030204" pitchFamily="34" charset="0"/>
                        </a:rPr>
                        <a:t>13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B</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SHOT CAFÉ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Sales Below AED 1 M - 10%</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Sales Above AED 1 M - 12%</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Sales Above AED 2 M - 15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r" fontAlgn="ctr"/>
                      <a:r>
                        <a:rPr lang="en-US" sz="900" b="0" i="0" u="none" strike="noStrike" dirty="0">
                          <a:solidFill>
                            <a:srgbClr val="000000"/>
                          </a:solidFill>
                          <a:effectLst/>
                          <a:latin typeface="Calibri" panose="020F0502020204030204" pitchFamily="34" charset="0"/>
                        </a:rPr>
                        <a:t>33,108.43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4244282"/>
                  </a:ext>
                </a:extLst>
              </a:tr>
              <a:tr h="130966">
                <a:tc>
                  <a:txBody>
                    <a:bodyPr/>
                    <a:lstStyle/>
                    <a:p>
                      <a:pPr algn="ctr" fontAlgn="ctr"/>
                      <a:r>
                        <a:rPr lang="en-US" sz="500" b="0" i="0" u="none" strike="noStrike">
                          <a:solidFill>
                            <a:srgbClr val="000000"/>
                          </a:solidFill>
                          <a:effectLst/>
                          <a:latin typeface="Calibri" panose="020F0502020204030204" pitchFamily="34" charset="0"/>
                        </a:rPr>
                        <a:t>14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Shot Café</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15%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099808860"/>
                  </a:ext>
                </a:extLst>
              </a:tr>
              <a:tr h="130966">
                <a:tc>
                  <a:txBody>
                    <a:bodyPr/>
                    <a:lstStyle/>
                    <a:p>
                      <a:pPr algn="ctr" fontAlgn="ctr"/>
                      <a:r>
                        <a:rPr lang="en-US" sz="500" b="0" i="0" u="none" strike="noStrike">
                          <a:solidFill>
                            <a:srgbClr val="000000"/>
                          </a:solidFill>
                          <a:effectLst/>
                          <a:latin typeface="Calibri" panose="020F0502020204030204" pitchFamily="34" charset="0"/>
                        </a:rPr>
                        <a:t>15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Starbucks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AED 134,550 or 8% </a:t>
                      </a:r>
                      <a:r>
                        <a:rPr lang="en-US" sz="900" b="0" i="0" u="none" strike="noStrike" dirty="0" err="1">
                          <a:solidFill>
                            <a:srgbClr val="000000"/>
                          </a:solidFill>
                          <a:effectLst/>
                          <a:latin typeface="Calibri" panose="020F0502020204030204" pitchFamily="34" charset="0"/>
                        </a:rPr>
                        <a:t>Revn</a:t>
                      </a:r>
                      <a:r>
                        <a:rPr lang="en-US" sz="900" b="0" i="0" u="none" strike="noStrike" dirty="0">
                          <a:solidFill>
                            <a:srgbClr val="000000"/>
                          </a:solidFill>
                          <a:effectLst/>
                          <a:latin typeface="Calibri" panose="020F0502020204030204" pitchFamily="34" charset="0"/>
                        </a:rPr>
                        <a:t> Whichever higher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157,294.17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4370893"/>
                  </a:ext>
                </a:extLst>
              </a:tr>
              <a:tr h="130966">
                <a:tc>
                  <a:txBody>
                    <a:bodyPr/>
                    <a:lstStyle/>
                    <a:p>
                      <a:pPr algn="ctr" fontAlgn="ctr"/>
                      <a:r>
                        <a:rPr lang="en-US" sz="500" b="0" i="0" u="none" strike="noStrike">
                          <a:solidFill>
                            <a:srgbClr val="000000"/>
                          </a:solidFill>
                          <a:effectLst/>
                          <a:latin typeface="Calibri" panose="020F0502020204030204" pitchFamily="34" charset="0"/>
                        </a:rPr>
                        <a:t>16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MAGRUDY ENTERPRISES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Shopping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10% Disc + 7% </a:t>
                      </a:r>
                      <a:r>
                        <a:rPr lang="en-US" sz="900" b="0" i="0" u="none" strike="noStrike" dirty="0" err="1">
                          <a:solidFill>
                            <a:srgbClr val="000000"/>
                          </a:solidFill>
                          <a:effectLst/>
                          <a:latin typeface="Calibri" panose="020F0502020204030204" pitchFamily="34" charset="0"/>
                        </a:rPr>
                        <a:t>Revn</a:t>
                      </a:r>
                      <a:r>
                        <a:rPr lang="en-US" sz="900" b="0" i="0" u="none" strike="noStrike" dirty="0">
                          <a:solidFill>
                            <a:srgbClr val="000000"/>
                          </a:solidFill>
                          <a:effectLst/>
                          <a:latin typeface="Calibri" panose="020F0502020204030204" pitchFamily="34" charset="0"/>
                        </a:rPr>
                        <a:t>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34,771.32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7617500"/>
                  </a:ext>
                </a:extLst>
              </a:tr>
              <a:tr h="134396">
                <a:tc>
                  <a:txBody>
                    <a:bodyPr/>
                    <a:lstStyle/>
                    <a:p>
                      <a:pPr algn="ctr" fontAlgn="ctr"/>
                      <a:r>
                        <a:rPr lang="en-US" sz="500" b="0" i="0" u="none" strike="noStrike">
                          <a:solidFill>
                            <a:srgbClr val="000000"/>
                          </a:solidFill>
                          <a:effectLst/>
                          <a:latin typeface="Calibri" panose="020F0502020204030204" pitchFamily="34" charset="0"/>
                        </a:rPr>
                        <a:t>17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 &amp; ADNOC School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 Foodcourt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Gourmet International (Basil)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12% </a:t>
                      </a:r>
                      <a:r>
                        <a:rPr lang="en-US" sz="900" b="0" i="0" u="none" strike="noStrike" dirty="0" err="1">
                          <a:solidFill>
                            <a:srgbClr val="000000"/>
                          </a:solidFill>
                          <a:effectLst/>
                          <a:latin typeface="Calibri" panose="020F0502020204030204" pitchFamily="34" charset="0"/>
                        </a:rPr>
                        <a:t>Revn</a:t>
                      </a:r>
                      <a:r>
                        <a:rPr lang="en-US" sz="900" b="0" i="0" u="none" strike="noStrike" dirty="0">
                          <a:solidFill>
                            <a:srgbClr val="000000"/>
                          </a:solidFill>
                          <a:effectLst/>
                          <a:latin typeface="Calibri" panose="020F0502020204030204" pitchFamily="34" charset="0"/>
                        </a:rPr>
                        <a:t>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110,715.60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4863466"/>
                  </a:ext>
                </a:extLst>
              </a:tr>
              <a:tr h="130966">
                <a:tc>
                  <a:txBody>
                    <a:bodyPr/>
                    <a:lstStyle/>
                    <a:p>
                      <a:pPr algn="ctr" fontAlgn="ctr"/>
                      <a:r>
                        <a:rPr lang="en-US" sz="500" b="0" i="0" u="none" strike="noStrike">
                          <a:solidFill>
                            <a:srgbClr val="000000"/>
                          </a:solidFill>
                          <a:effectLst/>
                          <a:latin typeface="Calibri" panose="020F0502020204030204" pitchFamily="34" charset="0"/>
                        </a:rPr>
                        <a:t>18</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E Foodcourt</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Doctor Shawarma - Taboon from Nov 22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10% </a:t>
                      </a:r>
                      <a:r>
                        <a:rPr lang="en-US" sz="900" b="0" i="0" u="none" strike="noStrike" dirty="0" err="1">
                          <a:solidFill>
                            <a:srgbClr val="000000"/>
                          </a:solidFill>
                          <a:effectLst/>
                          <a:latin typeface="Calibri" panose="020F0502020204030204" pitchFamily="34" charset="0"/>
                        </a:rPr>
                        <a:t>Revn</a:t>
                      </a:r>
                      <a:r>
                        <a:rPr lang="en-US" sz="900" b="0" i="0" u="none" strike="noStrike" dirty="0">
                          <a:solidFill>
                            <a:srgbClr val="000000"/>
                          </a:solidFill>
                          <a:effectLst/>
                          <a:latin typeface="Calibri" panose="020F0502020204030204" pitchFamily="34" charset="0"/>
                        </a:rPr>
                        <a:t>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17,255.04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1782824"/>
                  </a:ext>
                </a:extLst>
              </a:tr>
              <a:tr h="130966">
                <a:tc>
                  <a:txBody>
                    <a:bodyPr/>
                    <a:lstStyle/>
                    <a:p>
                      <a:pPr algn="ctr" fontAlgn="ctr"/>
                      <a:r>
                        <a:rPr lang="en-US" sz="500" b="0" i="0" u="none" strike="noStrike">
                          <a:solidFill>
                            <a:srgbClr val="000000"/>
                          </a:solidFill>
                          <a:effectLst/>
                          <a:latin typeface="Calibri" panose="020F0502020204030204" pitchFamily="34" charset="0"/>
                        </a:rPr>
                        <a:t>19</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B</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Bike Shop</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Shopping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KU Outlet</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0.00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4937254"/>
                  </a:ext>
                </a:extLst>
              </a:tr>
              <a:tr h="387279">
                <a:tc>
                  <a:txBody>
                    <a:bodyPr/>
                    <a:lstStyle/>
                    <a:p>
                      <a:pPr algn="ctr" fontAlgn="ctr"/>
                      <a:r>
                        <a:rPr lang="en-US" sz="500" b="0" i="0" u="none" strike="noStrike">
                          <a:solidFill>
                            <a:srgbClr val="000000"/>
                          </a:solidFill>
                          <a:effectLst/>
                          <a:latin typeface="Calibri" panose="020F0502020204030204" pitchFamily="34" charset="0"/>
                        </a:rPr>
                        <a:t>20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D</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CHUBBY CHEEKS NURSERY</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1st Year 500AED / Child</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2nd Year 120K</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3rd Year 150K</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14,525.00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0371497"/>
                  </a:ext>
                </a:extLst>
              </a:tr>
              <a:tr h="130966">
                <a:tc>
                  <a:txBody>
                    <a:bodyPr/>
                    <a:lstStyle/>
                    <a:p>
                      <a:pPr algn="ctr" fontAlgn="ctr"/>
                      <a:r>
                        <a:rPr lang="en-US" sz="500" b="0" i="0" u="none" strike="noStrike">
                          <a:solidFill>
                            <a:srgbClr val="000000"/>
                          </a:solidFill>
                          <a:effectLst/>
                          <a:latin typeface="Calibri" panose="020F0502020204030204" pitchFamily="34" charset="0"/>
                        </a:rPr>
                        <a:t>21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Female Gym</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Oriental Spa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20% Disc + 8% Revn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29,765.67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5752488"/>
                  </a:ext>
                </a:extLst>
              </a:tr>
              <a:tr h="259122">
                <a:tc>
                  <a:txBody>
                    <a:bodyPr/>
                    <a:lstStyle/>
                    <a:p>
                      <a:pPr algn="ctr" fontAlgn="ctr"/>
                      <a:r>
                        <a:rPr lang="en-US" sz="500" b="0" i="0" u="none" strike="noStrike">
                          <a:solidFill>
                            <a:srgbClr val="000000"/>
                          </a:solidFill>
                          <a:effectLst/>
                          <a:latin typeface="Calibri" panose="020F0502020204030204" pitchFamily="34" charset="0"/>
                        </a:rPr>
                        <a:t>22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 &amp; 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NA</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Q2 General Cleaning services LLC (Geo Wash)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Sales Less 100K = Rent 25K </a:t>
                      </a:r>
                      <a:br>
                        <a:rPr lang="en-US" sz="900" b="0" i="0" u="none" strike="noStrike" dirty="0">
                          <a:solidFill>
                            <a:srgbClr val="000000"/>
                          </a:solidFill>
                          <a:effectLst/>
                          <a:latin typeface="Calibri" panose="020F0502020204030204" pitchFamily="34" charset="0"/>
                        </a:rPr>
                      </a:br>
                      <a:r>
                        <a:rPr lang="en-US" sz="900" b="0" i="0" u="none" strike="noStrike" dirty="0">
                          <a:solidFill>
                            <a:srgbClr val="000000"/>
                          </a:solidFill>
                          <a:effectLst/>
                          <a:latin typeface="Calibri" panose="020F0502020204030204" pitchFamily="34" charset="0"/>
                        </a:rPr>
                        <a:t>Sales Above 100K = Rent 20%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12,362.87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7775064"/>
                  </a:ext>
                </a:extLst>
              </a:tr>
              <a:tr h="130966">
                <a:tc>
                  <a:txBody>
                    <a:bodyPr/>
                    <a:lstStyle/>
                    <a:p>
                      <a:pPr algn="ctr" fontAlgn="ctr"/>
                      <a:r>
                        <a:rPr lang="en-US" sz="500" b="0" i="0" u="none" strike="noStrike">
                          <a:solidFill>
                            <a:srgbClr val="000000"/>
                          </a:solidFill>
                          <a:effectLst/>
                          <a:latin typeface="Calibri" panose="020F0502020204030204" pitchFamily="34" charset="0"/>
                        </a:rPr>
                        <a:t>23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 &amp; 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Massafi Vending</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7,054.47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4482534"/>
                  </a:ext>
                </a:extLst>
              </a:tr>
              <a:tr h="130966">
                <a:tc>
                  <a:txBody>
                    <a:bodyPr/>
                    <a:lstStyle/>
                    <a:p>
                      <a:pPr algn="ctr" fontAlgn="ctr"/>
                      <a:r>
                        <a:rPr lang="en-US" sz="500" b="0" i="0" u="none" strike="noStrike">
                          <a:solidFill>
                            <a:srgbClr val="000000"/>
                          </a:solidFill>
                          <a:effectLst/>
                          <a:latin typeface="Calibri" panose="020F0502020204030204" pitchFamily="34" charset="0"/>
                        </a:rPr>
                        <a:t>24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 &amp; 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Yalla Food Vending </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1,966.90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45260"/>
                  </a:ext>
                </a:extLst>
              </a:tr>
              <a:tr h="130966">
                <a:tc>
                  <a:txBody>
                    <a:bodyPr/>
                    <a:lstStyle/>
                    <a:p>
                      <a:pPr algn="ctr" fontAlgn="ctr"/>
                      <a:r>
                        <a:rPr lang="en-US" sz="500" b="0" i="0" u="none" strike="noStrike">
                          <a:solidFill>
                            <a:srgbClr val="000000"/>
                          </a:solidFill>
                          <a:effectLst/>
                          <a:latin typeface="Calibri" panose="020F0502020204030204" pitchFamily="34" charset="0"/>
                        </a:rPr>
                        <a:t>25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ADCON school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Girls hostel </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Best Cup Café - Sole Proprietorship L.L.C</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5% First Year 2022 - 10% 2nd and 3rd year</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900" b="0" i="0" u="none" strike="noStrike" dirty="0">
                          <a:solidFill>
                            <a:srgbClr val="000000"/>
                          </a:solidFill>
                          <a:effectLst/>
                          <a:latin typeface="Calibri" panose="020F0502020204030204" pitchFamily="34" charset="0"/>
                        </a:rPr>
                        <a:t>7,917.06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6830470"/>
                  </a:ext>
                </a:extLst>
              </a:tr>
              <a:tr h="259122">
                <a:tc>
                  <a:txBody>
                    <a:bodyPr/>
                    <a:lstStyle/>
                    <a:p>
                      <a:pPr algn="ctr" fontAlgn="ctr"/>
                      <a:r>
                        <a:rPr lang="en-US" sz="500" b="0" i="0" u="none" strike="noStrike">
                          <a:solidFill>
                            <a:srgbClr val="000000"/>
                          </a:solidFill>
                          <a:effectLst/>
                          <a:latin typeface="Calibri" panose="020F0502020204030204" pitchFamily="34" charset="0"/>
                        </a:rPr>
                        <a:t>26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1" i="0" u="none" strike="noStrike">
                          <a:solidFill>
                            <a:srgbClr val="000000"/>
                          </a:solidFill>
                          <a:effectLst/>
                          <a:latin typeface="Calibri" panose="020F0502020204030204" pitchFamily="34" charset="0"/>
                        </a:rPr>
                        <a:t>-</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CONVENIENCE ARABIA LLC Total</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close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dirty="0">
                          <a:solidFill>
                            <a:srgbClr val="000000"/>
                          </a:solidFill>
                          <a:effectLst/>
                          <a:latin typeface="Calibri" panose="020F0502020204030204" pitchFamily="34" charset="0"/>
                        </a:rPr>
                        <a:t>Fixed Annual Rental at beginning of the year 1.5% of annual merchandise sales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900" b="0" i="0" u="none" strike="noStrike" dirty="0">
                          <a:solidFill>
                            <a:srgbClr val="000000"/>
                          </a:solidFill>
                          <a:effectLst/>
                          <a:latin typeface="Calibri" panose="020F0502020204030204" pitchFamily="34" charset="0"/>
                        </a:rPr>
                        <a:t>11,533.56</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8082625"/>
                  </a:ext>
                </a:extLst>
              </a:tr>
              <a:tr h="130966">
                <a:tc>
                  <a:txBody>
                    <a:bodyPr/>
                    <a:lstStyle/>
                    <a:p>
                      <a:pPr algn="ctr" fontAlgn="ctr"/>
                      <a:r>
                        <a:rPr lang="en-US" sz="500" b="0" i="0" u="none" strike="noStrike">
                          <a:solidFill>
                            <a:srgbClr val="000000"/>
                          </a:solidFill>
                          <a:effectLst/>
                          <a:latin typeface="Calibri" panose="020F0502020204030204" pitchFamily="34" charset="0"/>
                        </a:rPr>
                        <a:t>27</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ADCON school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Girls hostel </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Kitchen Sharer</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10% Revenue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900" b="0" i="0" u="none" strike="noStrike" dirty="0">
                          <a:solidFill>
                            <a:srgbClr val="000000"/>
                          </a:solidFill>
                          <a:effectLst/>
                          <a:latin typeface="Calibri" panose="020F0502020204030204" pitchFamily="34" charset="0"/>
                        </a:rPr>
                        <a:t>1,752.54</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4906576"/>
                  </a:ext>
                </a:extLst>
              </a:tr>
              <a:tr h="130966">
                <a:tc>
                  <a:txBody>
                    <a:bodyPr/>
                    <a:lstStyle/>
                    <a:p>
                      <a:pPr algn="ctr" fontAlgn="ctr"/>
                      <a:r>
                        <a:rPr lang="en-US" sz="500" b="0" i="0" u="none" strike="noStrike">
                          <a:solidFill>
                            <a:srgbClr val="000000"/>
                          </a:solidFill>
                          <a:effectLst/>
                          <a:latin typeface="Calibri" panose="020F0502020204030204" pitchFamily="34" charset="0"/>
                        </a:rPr>
                        <a:t>28</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SAN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Arzanah</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O2 CAFETERIA-CAF CAFÉ</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10% revenue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900" b="0" i="0" u="none" strike="noStrike" dirty="0">
                          <a:solidFill>
                            <a:srgbClr val="000000"/>
                          </a:solidFill>
                          <a:effectLst/>
                          <a:latin typeface="Calibri" panose="020F0502020204030204" pitchFamily="34" charset="0"/>
                        </a:rPr>
                        <a:t>1,599.65</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31077"/>
                  </a:ext>
                </a:extLst>
              </a:tr>
              <a:tr h="130966">
                <a:tc>
                  <a:txBody>
                    <a:bodyPr/>
                    <a:lstStyle/>
                    <a:p>
                      <a:pPr algn="ctr" fontAlgn="ctr"/>
                      <a:r>
                        <a:rPr lang="en-US" sz="500" b="0" i="0" u="none" strike="noStrike">
                          <a:solidFill>
                            <a:srgbClr val="000000"/>
                          </a:solidFill>
                          <a:effectLst/>
                          <a:latin typeface="Calibri" panose="020F0502020204030204" pitchFamily="34" charset="0"/>
                        </a:rPr>
                        <a:t>29</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Waterless Cleaning Services LLC</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close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Service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26% revenue share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900" b="0" i="0" u="none" strike="noStrike" dirty="0">
                          <a:solidFill>
                            <a:srgbClr val="000000"/>
                          </a:solidFill>
                          <a:effectLst/>
                          <a:latin typeface="Calibri" panose="020F0502020204030204" pitchFamily="34" charset="0"/>
                        </a:rPr>
                        <a:t>9,117.98</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7202186"/>
                  </a:ext>
                </a:extLst>
              </a:tr>
              <a:tr h="259122">
                <a:tc>
                  <a:txBody>
                    <a:bodyPr/>
                    <a:lstStyle/>
                    <a:p>
                      <a:pPr algn="ctr" fontAlgn="ctr"/>
                      <a:r>
                        <a:rPr lang="en-US" sz="500" b="0" i="0" u="none" strike="noStrike">
                          <a:solidFill>
                            <a:srgbClr val="000000"/>
                          </a:solidFill>
                          <a:effectLst/>
                          <a:latin typeface="Calibri" panose="020F0502020204030204" pitchFamily="34" charset="0"/>
                        </a:rPr>
                        <a:t>30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 &amp; ADNOC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CLASS CAFÉ</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open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10% revenue share-Main campus and 5% revenue share-ADNOC School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rPr>
                        <a:t>                                -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33049073"/>
                  </a:ext>
                </a:extLst>
              </a:tr>
              <a:tr h="134396">
                <a:tc>
                  <a:txBody>
                    <a:bodyPr/>
                    <a:lstStyle/>
                    <a:p>
                      <a:pPr algn="ctr" fontAlgn="ctr"/>
                      <a:r>
                        <a:rPr lang="en-US" sz="500" b="0" i="0" u="none" strike="noStrike">
                          <a:solidFill>
                            <a:srgbClr val="000000"/>
                          </a:solidFill>
                          <a:effectLst/>
                          <a:latin typeface="Calibri" panose="020F0502020204030204" pitchFamily="34" charset="0"/>
                        </a:rPr>
                        <a:t>31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Low Calories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 Jan 2023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F&amp;B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yearly 60,000/- fixed </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0.00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1766679"/>
                  </a:ext>
                </a:extLst>
              </a:tr>
              <a:tr h="134396">
                <a:tc>
                  <a:txBody>
                    <a:bodyPr/>
                    <a:lstStyle/>
                    <a:p>
                      <a:pPr algn="ctr" fontAlgn="ctr"/>
                      <a:r>
                        <a:rPr lang="en-US" sz="500" b="0" i="0" u="none" strike="noStrike">
                          <a:solidFill>
                            <a:srgbClr val="000000"/>
                          </a:solidFill>
                          <a:effectLst/>
                          <a:latin typeface="Calibri" panose="020F0502020204030204" pitchFamily="34" charset="0"/>
                        </a:rPr>
                        <a:t>32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Calibri" panose="020F0502020204030204" pitchFamily="34" charset="0"/>
                        </a:rPr>
                        <a:t>Main</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Building M</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libri" panose="020F0502020204030204" pitchFamily="34" charset="0"/>
                        </a:rPr>
                        <a:t>Sky Line</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open Jan 2023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Shopping Retail</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Calibri" panose="020F0502020204030204" pitchFamily="34" charset="0"/>
                        </a:rPr>
                        <a:t>22%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900" b="0" i="0" u="none" strike="noStrike" dirty="0">
                          <a:solidFill>
                            <a:srgbClr val="000000"/>
                          </a:solidFill>
                          <a:effectLst/>
                          <a:latin typeface="Calibri" panose="020F0502020204030204" pitchFamily="34" charset="0"/>
                        </a:rPr>
                        <a:t>0.00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3612238"/>
                  </a:ext>
                </a:extLst>
              </a:tr>
              <a:tr h="130966">
                <a:tc>
                  <a:txBody>
                    <a:bodyPr/>
                    <a:lstStyle/>
                    <a:p>
                      <a:pPr algn="ctr" fontAlgn="ctr"/>
                      <a:r>
                        <a:rPr lang="en-US" sz="500" b="0" i="0" u="none" strike="noStrike">
                          <a:solidFill>
                            <a:srgbClr val="000000"/>
                          </a:solidFill>
                          <a:effectLst/>
                          <a:latin typeface="Calibri" panose="020F0502020204030204" pitchFamily="34" charset="0"/>
                        </a:rPr>
                        <a:t>1</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gridSpan="2">
                  <a:txBody>
                    <a:bodyPr/>
                    <a:lstStyle/>
                    <a:p>
                      <a:pPr algn="ctr" fontAlgn="ctr"/>
                      <a:r>
                        <a:rPr lang="en-US" sz="900" b="1" i="0" u="none" strike="noStrike" dirty="0">
                          <a:solidFill>
                            <a:srgbClr val="000000"/>
                          </a:solidFill>
                          <a:effectLst/>
                          <a:latin typeface="Calibri" panose="020F0502020204030204" pitchFamily="34" charset="0"/>
                        </a:rPr>
                        <a:t>Sports</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hMerge="1">
                  <a:txBody>
                    <a:bodyPr/>
                    <a:lstStyle/>
                    <a:p>
                      <a:endParaRPr lang="en-US"/>
                    </a:p>
                  </a:txBody>
                  <a:tcPr/>
                </a:tc>
                <a:tc gridSpan="4">
                  <a:txBody>
                    <a:bodyPr/>
                    <a:lstStyle/>
                    <a:p>
                      <a:pPr algn="ctr" fontAlgn="b"/>
                      <a:r>
                        <a:rPr lang="en-US" sz="900" b="0" i="0" u="none" strike="noStrike" dirty="0">
                          <a:solidFill>
                            <a:srgbClr val="000000"/>
                          </a:solidFill>
                          <a:effectLst/>
                          <a:latin typeface="Calibri" panose="020F0502020204030204" pitchFamily="34" charset="0"/>
                        </a:rPr>
                        <a:t>Play Grounds Customers</a:t>
                      </a:r>
                    </a:p>
                  </a:txBody>
                  <a:tcPr marL="3006" marR="3006" marT="300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900" b="0" i="0" u="none" strike="noStrike" dirty="0">
                          <a:solidFill>
                            <a:srgbClr val="000000"/>
                          </a:solidFill>
                          <a:effectLst/>
                          <a:latin typeface="Calibri" panose="020F0502020204030204" pitchFamily="34" charset="0"/>
                        </a:rPr>
                        <a:t>                  10,823.78 </a:t>
                      </a:r>
                    </a:p>
                  </a:txBody>
                  <a:tcPr marL="3006" marR="3006" marT="30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2482331"/>
                  </a:ext>
                </a:extLst>
              </a:tr>
              <a:tr h="130966">
                <a:tc>
                  <a:txBody>
                    <a:bodyPr/>
                    <a:lstStyle/>
                    <a:p>
                      <a:pPr algn="ctr" fontAlgn="ctr"/>
                      <a:r>
                        <a:rPr lang="en-US" sz="500" b="0" i="0" u="none" strike="noStrike">
                          <a:solidFill>
                            <a:srgbClr val="000000"/>
                          </a:solidFill>
                          <a:effectLst/>
                          <a:latin typeface="Calibri" panose="020F0502020204030204" pitchFamily="34" charset="0"/>
                        </a:rPr>
                        <a:t>2</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vMerge="1">
                  <a:txBody>
                    <a:bodyPr/>
                    <a:lstStyle/>
                    <a:p>
                      <a:endParaRPr lang="en-US"/>
                    </a:p>
                  </a:txBody>
                  <a:tcPr/>
                </a:tc>
                <a:tc hMerge="1" vMerge="1">
                  <a:txBody>
                    <a:bodyPr/>
                    <a:lstStyle/>
                    <a:p>
                      <a:endParaRPr lang="en-US"/>
                    </a:p>
                  </a:txBody>
                  <a:tcPr/>
                </a:tc>
                <a:tc gridSpan="4">
                  <a:txBody>
                    <a:bodyPr/>
                    <a:lstStyle/>
                    <a:p>
                      <a:pPr algn="ctr" fontAlgn="b"/>
                      <a:r>
                        <a:rPr lang="en-US" sz="900" b="0" i="0" u="none" strike="noStrike">
                          <a:solidFill>
                            <a:srgbClr val="000000"/>
                          </a:solidFill>
                          <a:effectLst/>
                          <a:latin typeface="Calibri" panose="020F0502020204030204" pitchFamily="34" charset="0"/>
                        </a:rPr>
                        <a:t>Skill Plus Sport Service</a:t>
                      </a:r>
                    </a:p>
                  </a:txBody>
                  <a:tcPr marL="3006" marR="3006" marT="300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900" b="0" i="0" u="none" strike="noStrike" dirty="0">
                          <a:solidFill>
                            <a:srgbClr val="000000"/>
                          </a:solidFill>
                          <a:effectLst/>
                          <a:latin typeface="Calibri" panose="020F0502020204030204" pitchFamily="34" charset="0"/>
                        </a:rPr>
                        <a:t>               143,476.18 </a:t>
                      </a:r>
                    </a:p>
                  </a:txBody>
                  <a:tcPr marL="3006" marR="3006" marT="30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0718062"/>
                  </a:ext>
                </a:extLst>
              </a:tr>
              <a:tr h="130966">
                <a:tc>
                  <a:txBody>
                    <a:bodyPr/>
                    <a:lstStyle/>
                    <a:p>
                      <a:pPr algn="ctr" fontAlgn="ctr"/>
                      <a:r>
                        <a:rPr lang="en-US" sz="500" b="0" i="0" u="none" strike="noStrike" dirty="0">
                          <a:solidFill>
                            <a:srgbClr val="000000"/>
                          </a:solidFill>
                          <a:effectLst/>
                          <a:latin typeface="Calibri" panose="020F0502020204030204" pitchFamily="34" charset="0"/>
                        </a:rPr>
                        <a:t>3</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vMerge="1">
                  <a:txBody>
                    <a:bodyPr/>
                    <a:lstStyle/>
                    <a:p>
                      <a:endParaRPr lang="en-US"/>
                    </a:p>
                  </a:txBody>
                  <a:tcPr/>
                </a:tc>
                <a:tc hMerge="1" vMerge="1">
                  <a:txBody>
                    <a:bodyPr/>
                    <a:lstStyle/>
                    <a:p>
                      <a:endParaRPr lang="en-US"/>
                    </a:p>
                  </a:txBody>
                  <a:tcPr/>
                </a:tc>
                <a:tc gridSpan="4">
                  <a:txBody>
                    <a:bodyPr/>
                    <a:lstStyle/>
                    <a:p>
                      <a:pPr algn="ctr" fontAlgn="b"/>
                      <a:r>
                        <a:rPr lang="en-US" sz="900" b="0" i="0" u="none" strike="noStrike" dirty="0">
                          <a:solidFill>
                            <a:srgbClr val="000000"/>
                          </a:solidFill>
                          <a:effectLst/>
                          <a:latin typeface="Calibri" panose="020F0502020204030204" pitchFamily="34" charset="0"/>
                        </a:rPr>
                        <a:t>Al </a:t>
                      </a:r>
                      <a:r>
                        <a:rPr lang="en-US" sz="900" b="0" i="0" u="none" strike="noStrike" dirty="0" err="1">
                          <a:solidFill>
                            <a:srgbClr val="000000"/>
                          </a:solidFill>
                          <a:effectLst/>
                          <a:latin typeface="Calibri" panose="020F0502020204030204" pitchFamily="34" charset="0"/>
                        </a:rPr>
                        <a:t>Gharbia</a:t>
                      </a:r>
                      <a:r>
                        <a:rPr lang="en-US" sz="900" b="0" i="0" u="none" strike="noStrike" dirty="0">
                          <a:solidFill>
                            <a:srgbClr val="000000"/>
                          </a:solidFill>
                          <a:effectLst/>
                          <a:latin typeface="Calibri" panose="020F0502020204030204" pitchFamily="34" charset="0"/>
                        </a:rPr>
                        <a:t> Sports</a:t>
                      </a:r>
                    </a:p>
                  </a:txBody>
                  <a:tcPr marL="3006" marR="3006" marT="300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900" b="0" i="0" u="none" strike="noStrike" dirty="0">
                          <a:solidFill>
                            <a:srgbClr val="000000"/>
                          </a:solidFill>
                          <a:effectLst/>
                          <a:latin typeface="Calibri" panose="020F0502020204030204" pitchFamily="34" charset="0"/>
                        </a:rPr>
                        <a:t>                  13,514.27 </a:t>
                      </a:r>
                    </a:p>
                  </a:txBody>
                  <a:tcPr marL="3006" marR="3006" marT="30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2102685"/>
                  </a:ext>
                </a:extLst>
              </a:tr>
              <a:tr h="130966">
                <a:tc>
                  <a:txBody>
                    <a:bodyPr/>
                    <a:lstStyle/>
                    <a:p>
                      <a:pPr algn="ctr" fontAlgn="ctr"/>
                      <a:r>
                        <a:rPr lang="en-US" sz="500" b="0" i="0" u="none" strike="noStrike">
                          <a:solidFill>
                            <a:srgbClr val="000000"/>
                          </a:solidFill>
                          <a:effectLst/>
                          <a:latin typeface="Calibri" panose="020F0502020204030204" pitchFamily="34" charset="0"/>
                        </a:rPr>
                        <a:t> </a:t>
                      </a:r>
                    </a:p>
                  </a:txBody>
                  <a:tcPr marL="3006" marR="3006" marT="3006"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dirty="0">
                          <a:solidFill>
                            <a:srgbClr val="000000"/>
                          </a:solidFill>
                          <a:effectLst/>
                          <a:latin typeface="Calibri" panose="020F0502020204030204" pitchFamily="34" charset="0"/>
                        </a:rPr>
                        <a:t> </a:t>
                      </a:r>
                    </a:p>
                  </a:txBody>
                  <a:tcPr marL="3006" marR="3006" marT="30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1" i="0" u="none" strike="noStrike" dirty="0">
                          <a:solidFill>
                            <a:srgbClr val="000000"/>
                          </a:solidFill>
                          <a:effectLst/>
                          <a:latin typeface="Calibri" panose="020F0502020204030204" pitchFamily="34" charset="0"/>
                        </a:rPr>
                        <a:t> </a:t>
                      </a:r>
                    </a:p>
                  </a:txBody>
                  <a:tcPr marL="3006" marR="3006" marT="3006"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Cash Basis adjustments </a:t>
                      </a:r>
                    </a:p>
                  </a:txBody>
                  <a:tcPr marL="3006" marR="3006" marT="300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3006" marR="3006" marT="300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3006" marR="3006" marT="300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 </a:t>
                      </a:r>
                    </a:p>
                  </a:txBody>
                  <a:tcPr marL="3006" marR="3006" marT="3006"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rPr>
                        <a:t>                (27,490.78)</a:t>
                      </a:r>
                    </a:p>
                  </a:txBody>
                  <a:tcPr marL="3006" marR="3006" marT="3006"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1740926"/>
                  </a:ext>
                </a:extLst>
              </a:tr>
              <a:tr h="130966">
                <a:tc gridSpan="7">
                  <a:txBody>
                    <a:bodyPr/>
                    <a:lstStyle/>
                    <a:p>
                      <a:pPr algn="ctr" fontAlgn="b"/>
                      <a:r>
                        <a:rPr lang="en-US" sz="900" b="1" i="0" u="none" strike="noStrike" dirty="0">
                          <a:solidFill>
                            <a:srgbClr val="000000"/>
                          </a:solidFill>
                          <a:effectLst/>
                          <a:latin typeface="Calibri" panose="020F0502020204030204" pitchFamily="34" charset="0"/>
                        </a:rPr>
                        <a:t>Total of rental </a:t>
                      </a:r>
                    </a:p>
                  </a:txBody>
                  <a:tcPr marL="3006" marR="3006" marT="300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ctr"/>
                      <a:r>
                        <a:rPr lang="en-US" sz="900" b="1" i="0" u="none" strike="noStrike" dirty="0">
                          <a:solidFill>
                            <a:srgbClr val="000000"/>
                          </a:solidFill>
                          <a:effectLst/>
                          <a:latin typeface="Calibri" panose="020F0502020204030204" pitchFamily="34" charset="0"/>
                        </a:rPr>
                        <a:t>923,838.00</a:t>
                      </a:r>
                    </a:p>
                  </a:txBody>
                  <a:tcPr marL="3006" marR="3006" marT="300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102198300"/>
                  </a:ext>
                </a:extLst>
              </a:tr>
            </a:tbl>
          </a:graphicData>
        </a:graphic>
      </p:graphicFrame>
    </p:spTree>
    <p:extLst>
      <p:ext uri="{BB962C8B-B14F-4D97-AF65-F5344CB8AC3E}">
        <p14:creationId xmlns:p14="http://schemas.microsoft.com/office/powerpoint/2010/main" val="39112892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054" y="281566"/>
            <a:ext cx="10515600" cy="1325563"/>
          </a:xfrm>
        </p:spPr>
        <p:txBody>
          <a:bodyPr/>
          <a:lstStyle/>
          <a:p>
            <a:pPr algn="ctr"/>
            <a:r>
              <a:rPr lang="en-US" b="1" dirty="0" smtClean="0"/>
              <a:t>Other revenue </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57008299"/>
              </p:ext>
            </p:extLst>
          </p:nvPr>
        </p:nvGraphicFramePr>
        <p:xfrm>
          <a:off x="2158999" y="1607129"/>
          <a:ext cx="6813551" cy="2854214"/>
        </p:xfrm>
        <a:graphic>
          <a:graphicData uri="http://schemas.openxmlformats.org/drawingml/2006/table">
            <a:tbl>
              <a:tblPr/>
              <a:tblGrid>
                <a:gridCol w="4004699">
                  <a:extLst>
                    <a:ext uri="{9D8B030D-6E8A-4147-A177-3AD203B41FA5}">
                      <a16:colId xmlns:a16="http://schemas.microsoft.com/office/drawing/2014/main" val="526391992"/>
                    </a:ext>
                  </a:extLst>
                </a:gridCol>
                <a:gridCol w="1473952">
                  <a:extLst>
                    <a:ext uri="{9D8B030D-6E8A-4147-A177-3AD203B41FA5}">
                      <a16:colId xmlns:a16="http://schemas.microsoft.com/office/drawing/2014/main" val="2791132133"/>
                    </a:ext>
                  </a:extLst>
                </a:gridCol>
                <a:gridCol w="1334900">
                  <a:extLst>
                    <a:ext uri="{9D8B030D-6E8A-4147-A177-3AD203B41FA5}">
                      <a16:colId xmlns:a16="http://schemas.microsoft.com/office/drawing/2014/main" val="3560232141"/>
                    </a:ext>
                  </a:extLst>
                </a:gridCol>
              </a:tblGrid>
              <a:tr h="408162">
                <a:tc>
                  <a:txBody>
                    <a:bodyPr/>
                    <a:lstStyle/>
                    <a:p>
                      <a:pPr algn="l" fontAlgn="t"/>
                      <a:r>
                        <a:rPr lang="en-US" sz="1400" b="0" i="0" u="none" strike="noStrike" dirty="0">
                          <a:solidFill>
                            <a:srgbClr val="000000"/>
                          </a:solidFill>
                          <a:effectLst/>
                          <a:latin typeface="Calibri" panose="020F0502020204030204" pitchFamily="34" charset="0"/>
                        </a:rPr>
                        <a:t>Item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Approved Budget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400" b="0" i="0" u="none" strike="noStrike" dirty="0">
                          <a:solidFill>
                            <a:srgbClr val="000000"/>
                          </a:solidFill>
                          <a:effectLst/>
                          <a:latin typeface="Calibri" panose="020F0502020204030204" pitchFamily="34" charset="0"/>
                        </a:rPr>
                        <a:t>Actuals -Cash Basis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44391537"/>
                  </a:ext>
                </a:extLst>
              </a:tr>
              <a:tr h="269016">
                <a:tc>
                  <a:txBody>
                    <a:bodyPr/>
                    <a:lstStyle/>
                    <a:p>
                      <a:pPr algn="l" fontAlgn="t"/>
                      <a:r>
                        <a:rPr lang="en-US" sz="1400" b="0" i="0" u="none" strike="noStrike" dirty="0">
                          <a:solidFill>
                            <a:srgbClr val="000000"/>
                          </a:solidFill>
                          <a:effectLst/>
                          <a:latin typeface="Calibri" panose="020F0502020204030204" pitchFamily="34" charset="0"/>
                        </a:rPr>
                        <a:t>Certificate issuance fee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26,400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31,251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3169217"/>
                  </a:ext>
                </a:extLst>
              </a:tr>
              <a:tr h="269016">
                <a:tc>
                  <a:txBody>
                    <a:bodyPr/>
                    <a:lstStyle/>
                    <a:p>
                      <a:pPr algn="l" fontAlgn="t"/>
                      <a:r>
                        <a:rPr lang="en-US" sz="1400" b="0" i="0" u="none" strike="noStrike" dirty="0">
                          <a:solidFill>
                            <a:srgbClr val="000000"/>
                          </a:solidFill>
                          <a:effectLst/>
                          <a:latin typeface="Calibri" panose="020F0502020204030204" pitchFamily="34" charset="0"/>
                        </a:rPr>
                        <a:t>Identity card issuance fee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11,000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3,158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6522231"/>
                  </a:ext>
                </a:extLst>
              </a:tr>
              <a:tr h="269016">
                <a:tc>
                  <a:txBody>
                    <a:bodyPr/>
                    <a:lstStyle/>
                    <a:p>
                      <a:pPr algn="l" fontAlgn="t"/>
                      <a:r>
                        <a:rPr lang="en-US" sz="1400" b="0" i="0" u="none" strike="noStrike" dirty="0">
                          <a:solidFill>
                            <a:srgbClr val="000000"/>
                          </a:solidFill>
                          <a:effectLst/>
                          <a:latin typeface="Calibri" panose="020F0502020204030204" pitchFamily="34" charset="0"/>
                        </a:rPr>
                        <a:t>Replacement fee for lost document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6,600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45,050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7560902"/>
                  </a:ext>
                </a:extLst>
              </a:tr>
              <a:tr h="269016">
                <a:tc>
                  <a:txBody>
                    <a:bodyPr/>
                    <a:lstStyle/>
                    <a:p>
                      <a:pPr algn="l" fontAlgn="t"/>
                      <a:r>
                        <a:rPr lang="en-US" sz="1400" b="0" i="0" u="none" strike="noStrike" dirty="0">
                          <a:solidFill>
                            <a:srgbClr val="000000"/>
                          </a:solidFill>
                          <a:effectLst/>
                          <a:latin typeface="Calibri" panose="020F0502020204030204" pitchFamily="34" charset="0"/>
                        </a:rPr>
                        <a:t>Sale of textbooks &amp; educational publication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5925823"/>
                  </a:ext>
                </a:extLst>
              </a:tr>
              <a:tr h="269016">
                <a:tc>
                  <a:txBody>
                    <a:bodyPr/>
                    <a:lstStyle/>
                    <a:p>
                      <a:pPr algn="l" fontAlgn="t"/>
                      <a:r>
                        <a:rPr lang="en-US" sz="1400" b="0" i="0" u="none" strike="noStrike">
                          <a:solidFill>
                            <a:srgbClr val="000000"/>
                          </a:solidFill>
                          <a:effectLst/>
                          <a:latin typeface="Calibri" panose="020F0502020204030204" pitchFamily="34" charset="0"/>
                        </a:rPr>
                        <a:t>Other services: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25,714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4854389"/>
                  </a:ext>
                </a:extLst>
              </a:tr>
              <a:tr h="269016">
                <a:tc>
                  <a:txBody>
                    <a:bodyPr/>
                    <a:lstStyle/>
                    <a:p>
                      <a:pPr algn="l" fontAlgn="t"/>
                      <a:r>
                        <a:rPr lang="en-US" sz="1400" b="0" i="0" u="none" strike="noStrike">
                          <a:solidFill>
                            <a:srgbClr val="000000"/>
                          </a:solidFill>
                          <a:effectLst/>
                          <a:latin typeface="Calibri" panose="020F0502020204030204" pitchFamily="34" charset="0"/>
                        </a:rPr>
                        <a:t>Property damage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3,000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74,010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6118091"/>
                  </a:ext>
                </a:extLst>
              </a:tr>
              <a:tr h="269016">
                <a:tc>
                  <a:txBody>
                    <a:bodyPr/>
                    <a:lstStyle/>
                    <a:p>
                      <a:pPr algn="l" fontAlgn="t"/>
                      <a:r>
                        <a:rPr lang="en-US" sz="1400" b="0" i="0" u="none" strike="noStrike" dirty="0">
                          <a:solidFill>
                            <a:srgbClr val="000000"/>
                          </a:solidFill>
                          <a:effectLst/>
                          <a:latin typeface="Calibri" panose="020F0502020204030204" pitchFamily="34" charset="0"/>
                        </a:rPr>
                        <a:t>Sundry receipts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a:solidFill>
                            <a:srgbClr val="000000"/>
                          </a:solidFill>
                          <a:effectLst/>
                          <a:latin typeface="Calibri" panose="020F0502020204030204" pitchFamily="34" charset="0"/>
                        </a:rPr>
                        <a:t>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a:solidFill>
                            <a:srgbClr val="000000"/>
                          </a:solidFill>
                          <a:effectLst/>
                          <a:latin typeface="Calibri" panose="020F0502020204030204" pitchFamily="34" charset="0"/>
                        </a:rPr>
                        <a:t>3,369,160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2647570"/>
                  </a:ext>
                </a:extLst>
              </a:tr>
              <a:tr h="269016">
                <a:tc>
                  <a:txBody>
                    <a:bodyPr/>
                    <a:lstStyle/>
                    <a:p>
                      <a:pPr algn="l" fontAlgn="t"/>
                      <a:r>
                        <a:rPr lang="en-US" sz="1400" b="0" i="0" u="none" strike="noStrike" dirty="0" smtClean="0">
                          <a:solidFill>
                            <a:srgbClr val="000000"/>
                          </a:solidFill>
                          <a:effectLst/>
                          <a:latin typeface="Calibri" panose="020F0502020204030204" pitchFamily="34" charset="0"/>
                        </a:rPr>
                        <a:t>Other Students  Services</a:t>
                      </a:r>
                      <a:endParaRPr lang="en-US" sz="14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smtClean="0">
                          <a:solidFill>
                            <a:srgbClr val="000000"/>
                          </a:solidFill>
                          <a:effectLst/>
                          <a:latin typeface="Calibri" panose="020F0502020204030204" pitchFamily="34" charset="0"/>
                        </a:rPr>
                        <a:t>2,106,071</a:t>
                      </a:r>
                      <a:endParaRPr lang="en-US" sz="14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400" b="0" i="0" u="none" strike="noStrike" dirty="0" smtClean="0">
                          <a:solidFill>
                            <a:srgbClr val="000000"/>
                          </a:solidFill>
                          <a:effectLst/>
                          <a:latin typeface="Calibri" panose="020F0502020204030204" pitchFamily="34" charset="0"/>
                        </a:rPr>
                        <a:t>644</a:t>
                      </a:r>
                      <a:endParaRPr lang="en-US" sz="14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1987788"/>
                  </a:ext>
                </a:extLst>
              </a:tr>
              <a:tr h="269016">
                <a:tc>
                  <a:txBody>
                    <a:bodyPr/>
                    <a:lstStyle/>
                    <a:p>
                      <a:pPr algn="l" fontAlgn="t"/>
                      <a:r>
                        <a:rPr lang="en-US" sz="1400" b="1" i="0" u="none" strike="noStrike" dirty="0">
                          <a:solidFill>
                            <a:srgbClr val="000000"/>
                          </a:solidFill>
                          <a:effectLst/>
                          <a:latin typeface="Calibri" panose="020F0502020204030204" pitchFamily="34" charset="0"/>
                        </a:rPr>
                        <a:t>Total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1" i="0" u="none" strike="noStrike" kern="1200" dirty="0" smtClean="0">
                          <a:solidFill>
                            <a:srgbClr val="000000"/>
                          </a:solidFill>
                          <a:effectLst/>
                          <a:latin typeface="Calibri" panose="020F0502020204030204" pitchFamily="34" charset="0"/>
                          <a:ea typeface="+mn-ea"/>
                          <a:cs typeface="+mn-cs"/>
                        </a:rPr>
                        <a:t>2,153,461</a:t>
                      </a:r>
                      <a:endParaRPr lang="en-US" sz="1400" b="1" i="0" u="none" strike="noStrike" kern="1200" dirty="0">
                        <a:solidFill>
                          <a:srgbClr val="000000"/>
                        </a:solidFill>
                        <a:effectLst/>
                        <a:latin typeface="Calibri" panose="020F0502020204030204" pitchFamily="34" charset="0"/>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t" latinLnBrk="0" hangingPunct="1"/>
                      <a:r>
                        <a:rPr lang="en-US" sz="1400" b="1" i="0" u="none" strike="noStrike" kern="1200" dirty="0">
                          <a:solidFill>
                            <a:srgbClr val="000000"/>
                          </a:solidFill>
                          <a:effectLst/>
                          <a:latin typeface="Calibri" panose="020F0502020204030204" pitchFamily="34" charset="0"/>
                          <a:ea typeface="+mn-ea"/>
                          <a:cs typeface="+mn-cs"/>
                        </a:rPr>
                        <a:t>     </a:t>
                      </a:r>
                      <a:r>
                        <a:rPr lang="en-US" sz="1400" b="1" i="0" u="none" strike="noStrike" kern="1200" dirty="0" smtClean="0">
                          <a:solidFill>
                            <a:srgbClr val="000000"/>
                          </a:solidFill>
                          <a:effectLst/>
                          <a:latin typeface="Calibri" panose="020F0502020204030204" pitchFamily="34" charset="0"/>
                          <a:ea typeface="+mn-ea"/>
                          <a:cs typeface="+mn-cs"/>
                        </a:rPr>
                        <a:t>3,549,376</a:t>
                      </a:r>
                      <a:endParaRPr lang="en-US" sz="1400" b="1" i="0" u="none" strike="noStrike" kern="1200" dirty="0">
                        <a:solidFill>
                          <a:srgbClr val="000000"/>
                        </a:solidFill>
                        <a:effectLst/>
                        <a:latin typeface="Calibri" panose="020F0502020204030204" pitchFamily="34" charset="0"/>
                        <a:ea typeface="+mn-ea"/>
                        <a:cs typeface="+mn-cs"/>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6832831"/>
                  </a:ext>
                </a:extLst>
              </a:tr>
            </a:tbl>
          </a:graphicData>
        </a:graphic>
      </p:graphicFrame>
      <p:sp>
        <p:nvSpPr>
          <p:cNvPr id="5" name="TextBox 4"/>
          <p:cNvSpPr txBox="1"/>
          <p:nvPr/>
        </p:nvSpPr>
        <p:spPr>
          <a:xfrm>
            <a:off x="2158999" y="5002867"/>
            <a:ext cx="6813551" cy="861774"/>
          </a:xfrm>
          <a:prstGeom prst="rect">
            <a:avLst/>
          </a:prstGeom>
          <a:noFill/>
        </p:spPr>
        <p:txBody>
          <a:bodyPr wrap="square" rtlCol="0">
            <a:spAutoFit/>
          </a:bodyPr>
          <a:lstStyle/>
          <a:p>
            <a:r>
              <a:rPr lang="en-US" sz="1600" dirty="0" smtClean="0"/>
              <a:t>Notes:</a:t>
            </a:r>
          </a:p>
          <a:p>
            <a:pPr marL="285750" indent="-285750">
              <a:buFont typeface="Arial" panose="020B0604020202020204" pitchFamily="34" charset="0"/>
              <a:buChar char="•"/>
            </a:pPr>
            <a:r>
              <a:rPr lang="en-US" sz="1600" dirty="0" smtClean="0"/>
              <a:t>“Other student services” including some small revenue such as book lending.</a:t>
            </a:r>
          </a:p>
          <a:p>
            <a:pPr marL="285750" indent="-285750">
              <a:buFont typeface="Arial" panose="020B0604020202020204" pitchFamily="34" charset="0"/>
              <a:buChar char="•"/>
            </a:pPr>
            <a:r>
              <a:rPr lang="en-US" sz="1600" dirty="0" smtClean="0"/>
              <a:t>“Sundry Receipts”’ revenue covers other student-related activities.  </a:t>
            </a:r>
            <a:endParaRPr lang="en-US" dirty="0"/>
          </a:p>
        </p:txBody>
      </p:sp>
    </p:spTree>
    <p:extLst>
      <p:ext uri="{BB962C8B-B14F-4D97-AF65-F5344CB8AC3E}">
        <p14:creationId xmlns:p14="http://schemas.microsoft.com/office/powerpoint/2010/main" val="9913206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t>Revenue Performance against submitted budget and approved budget 2022</a:t>
            </a:r>
            <a:endParaRPr lang="en-US" sz="4000"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17839" y="1690688"/>
            <a:ext cx="11141653" cy="4994708"/>
          </a:xfrm>
          <a:prstGeom prst="rect">
            <a:avLst/>
          </a:prstGeom>
        </p:spPr>
      </p:pic>
    </p:spTree>
    <p:extLst>
      <p:ext uri="{BB962C8B-B14F-4D97-AF65-F5344CB8AC3E}">
        <p14:creationId xmlns:p14="http://schemas.microsoft.com/office/powerpoint/2010/main" val="4876298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1310</Words>
  <Application>Microsoft Office PowerPoint</Application>
  <PresentationFormat>Widescreen</PresentationFormat>
  <Paragraphs>345</Paragraphs>
  <Slides>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3" baseType="lpstr">
      <vt:lpstr>Arial</vt:lpstr>
      <vt:lpstr>Calibri</vt:lpstr>
      <vt:lpstr>Calibri Light</vt:lpstr>
      <vt:lpstr>Office Theme</vt:lpstr>
      <vt:lpstr>Worksheet</vt:lpstr>
      <vt:lpstr>PowerPoint Presentation</vt:lpstr>
      <vt:lpstr>Highlight on revenue budget 2022 as set by DoF</vt:lpstr>
      <vt:lpstr>Performance against major revenue streams in Revenue budget for DoF</vt:lpstr>
      <vt:lpstr>Performance against revenue streams in Revenue budget for DoF</vt:lpstr>
      <vt:lpstr>Building rent</vt:lpstr>
      <vt:lpstr>PowerPoint Presentation</vt:lpstr>
      <vt:lpstr>Other revenue </vt:lpstr>
      <vt:lpstr>Revenue Performance against submitted budget and approved budget 2022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Jalal El Jazzar</dc:creator>
  <cp:lastModifiedBy>Hesham Salem</cp:lastModifiedBy>
  <cp:revision>24</cp:revision>
  <dcterms:created xsi:type="dcterms:W3CDTF">2023-05-06T16:57:03Z</dcterms:created>
  <dcterms:modified xsi:type="dcterms:W3CDTF">2023-05-19T07:10:19Z</dcterms:modified>
</cp:coreProperties>
</file>