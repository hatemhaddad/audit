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75" r:id="rId3"/>
    <p:sldId id="261" r:id="rId4"/>
    <p:sldId id="273" r:id="rId5"/>
    <p:sldId id="276" r:id="rId6"/>
    <p:sldId id="277" r:id="rId7"/>
    <p:sldId id="280" r:id="rId8"/>
    <p:sldId id="278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Headcounts\KU%20Libraries%20-%20Headcount%202022%20-updat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%20Delivery\ILL%202022%20-%20Graphs%20-updat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Public%20Services\Statistical%20Reports\Statistics%20for%20Dr.%20Abdulla\2022\Document%20Delivery\ILL%20202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cument%20Delivery\ILL%202022%20-%20Graphs%20-updat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shops%20&amp;%20events\IL%20&amp;%20Workshops%202022%20-%20updat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Open%20Access\Open%20Access%202022%20update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bdulla\Desktop\Public%20Services\Statistical%20Reports\Statistics%20for%20Dr.%20Abdulla\2022\Holdings\Library%20Holdings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Public%20Services\Statistical%20Reports\Statistics%20for%20Dr.%20Abdulla\2022\Open%20Access\Open%20Access%202022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edical%20Stats\Mecial%20Library%20Statistics%202022%20-%20updated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'Headcount 2022'!$K$4</c:f>
              <c:strCache>
                <c:ptCount val="1"/>
                <c:pt idx="0">
                  <c:v>Main Library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'Headcount 2022'!$J$5:$J$16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'Headcount 2022'!$K$5:$K$16</c:f>
              <c:numCache>
                <c:formatCode>General</c:formatCode>
                <c:ptCount val="12"/>
                <c:pt idx="0">
                  <c:v>2546</c:v>
                </c:pt>
                <c:pt idx="1">
                  <c:v>10456</c:v>
                </c:pt>
                <c:pt idx="2">
                  <c:v>11741</c:v>
                </c:pt>
                <c:pt idx="3">
                  <c:v>6713</c:v>
                </c:pt>
                <c:pt idx="4">
                  <c:v>6148</c:v>
                </c:pt>
                <c:pt idx="5">
                  <c:v>5044</c:v>
                </c:pt>
                <c:pt idx="6">
                  <c:v>3116</c:v>
                </c:pt>
                <c:pt idx="7">
                  <c:v>3953</c:v>
                </c:pt>
                <c:pt idx="8">
                  <c:v>11003</c:v>
                </c:pt>
                <c:pt idx="9">
                  <c:v>13706</c:v>
                </c:pt>
                <c:pt idx="10">
                  <c:v>14510</c:v>
                </c:pt>
                <c:pt idx="11">
                  <c:v>6588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62-4B77-98DC-8A11D54168AB}"/>
            </c:ext>
          </c:extLst>
        </c:ser>
        <c:ser>
          <c:idx val="1"/>
          <c:order val="1"/>
          <c:tx>
            <c:strRef>
              <c:f>'Headcount 2022'!$L$4</c:f>
              <c:strCache>
                <c:ptCount val="1"/>
                <c:pt idx="0">
                  <c:v>SAN Library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0"/>
              <c:layout>
                <c:manualLayout>
                  <c:x val="9.679353960570217E-3"/>
                  <c:y val="-4.571903349963349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6872842214264047E-2"/>
                      <c:h val="4.59247691503801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F17D-4572-B9E1-579D2337B3A6}"/>
                </c:ext>
              </c:extLst>
            </c:dLbl>
            <c:dLbl>
              <c:idx val="1"/>
              <c:layout>
                <c:manualLayout>
                  <c:x val="1.2905748825166123E-2"/>
                  <c:y val="-1.14297583749079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F17D-4572-B9E1-579D2337B3A6}"/>
                </c:ext>
              </c:extLst>
            </c:dLbl>
            <c:dLbl>
              <c:idx val="2"/>
              <c:layout>
                <c:manualLayout>
                  <c:x val="1.3981227893929988E-2"/>
                  <c:y val="-6.857855024944856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F17D-4572-B9E1-579D2337B3A6}"/>
                </c:ext>
              </c:extLst>
            </c:dLbl>
            <c:dLbl>
              <c:idx val="3"/>
              <c:layout>
                <c:manualLayout>
                  <c:x val="1.3981227893929948E-2"/>
                  <c:y val="-4.571903349963182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F17D-4572-B9E1-579D2337B3A6}"/>
                </c:ext>
              </c:extLst>
            </c:dLbl>
            <c:dLbl>
              <c:idx val="4"/>
              <c:layout>
                <c:manualLayout>
                  <c:x val="2.0434144648208682E-2"/>
                  <c:y val="-1.25726442143013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5578802934211758E-2"/>
                      <c:h val="3.678096245045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17D-4572-B9E1-579D2337B3A6}"/>
                </c:ext>
              </c:extLst>
            </c:dLbl>
            <c:dLbl>
              <c:idx val="5"/>
              <c:layout>
                <c:manualLayout>
                  <c:x val="1.2905748825166142E-2"/>
                  <c:y val="-6.857855024944772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4401195695610969E-2"/>
                      <c:h val="4.59247691503801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17D-4572-B9E1-579D2337B3A6}"/>
                </c:ext>
              </c:extLst>
            </c:dLbl>
            <c:dLbl>
              <c:idx val="6"/>
              <c:layout>
                <c:manualLayout>
                  <c:x val="1.0754833029334073E-2"/>
                  <c:y val="-1.82875234017552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5797363145500201E-2"/>
                      <c:h val="3.906691412543538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F17D-4572-B9E1-579D2337B3A6}"/>
                </c:ext>
              </c:extLst>
            </c:dLbl>
            <c:dLbl>
              <c:idx val="7"/>
              <c:layout>
                <c:manualLayout>
                  <c:x val="1.398127023562553E-2"/>
                  <c:y val="-4.57190334996326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3325716626847116E-2"/>
                      <c:h val="4.592476915038016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F17D-4572-B9E1-579D2337B3A6}"/>
                </c:ext>
              </c:extLst>
            </c:dLbl>
            <c:dLbl>
              <c:idx val="8"/>
              <c:layout>
                <c:manualLayout>
                  <c:x val="1.7207665100221523E-2"/>
                  <c:y val="-1.60016617248712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8-F17D-4572-B9E1-579D2337B3A6}"/>
                </c:ext>
              </c:extLst>
            </c:dLbl>
            <c:dLbl>
              <c:idx val="9"/>
              <c:layout>
                <c:manualLayout>
                  <c:x val="1.3981227893929988E-2"/>
                  <c:y val="-1.371571004988954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772976107173945E-2"/>
                      <c:h val="5.049667250034334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F17D-4572-B9E1-579D2337B3A6}"/>
                </c:ext>
              </c:extLst>
            </c:dLbl>
            <c:dLbl>
              <c:idx val="10"/>
              <c:layout>
                <c:manualLayout>
                  <c:x val="1.3981227893929988E-2"/>
                  <c:y val="-1.60016617248712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A-F17D-4572-B9E1-579D2337B3A6}"/>
                </c:ext>
              </c:extLst>
            </c:dLbl>
            <c:dLbl>
              <c:idx val="11"/>
              <c:layout>
                <c:manualLayout>
                  <c:x val="1.7207665100221523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F17D-4572-B9E1-579D2337B3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'Headcount 2022'!$J$5:$J$16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'Headcount 2022'!$L$5:$L$16</c:f>
              <c:numCache>
                <c:formatCode>General</c:formatCode>
                <c:ptCount val="12"/>
                <c:pt idx="0">
                  <c:v>832</c:v>
                </c:pt>
                <c:pt idx="1">
                  <c:v>4817</c:v>
                </c:pt>
                <c:pt idx="2">
                  <c:v>4775</c:v>
                </c:pt>
                <c:pt idx="3">
                  <c:v>2545</c:v>
                </c:pt>
                <c:pt idx="4">
                  <c:v>1606</c:v>
                </c:pt>
                <c:pt idx="5">
                  <c:v>906</c:v>
                </c:pt>
                <c:pt idx="6">
                  <c:v>413</c:v>
                </c:pt>
                <c:pt idx="7">
                  <c:v>633</c:v>
                </c:pt>
                <c:pt idx="8">
                  <c:v>3216</c:v>
                </c:pt>
                <c:pt idx="9">
                  <c:v>4801</c:v>
                </c:pt>
                <c:pt idx="10">
                  <c:v>4655</c:v>
                </c:pt>
                <c:pt idx="11">
                  <c:v>1921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62-4B77-98DC-8A11D54168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79916751"/>
        <c:axId val="1979919663"/>
        <c:axId val="0"/>
      </c:bar3DChart>
      <c:catAx>
        <c:axId val="1979916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9919663"/>
        <c:crosses val="autoZero"/>
        <c:auto val="1"/>
        <c:lblAlgn val="ctr"/>
        <c:lblOffset val="100"/>
        <c:noMultiLvlLbl val="0"/>
      </c:catAx>
      <c:valAx>
        <c:axId val="1979919663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979916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871719160104986E-2"/>
          <c:y val="4.62963567377912E-2"/>
          <c:w val="0.95833661871104281"/>
          <c:h val="0.69998869932925056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DFCA-4AD9-BB29-FFA0787471C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DFCA-4AD9-BB29-FFA0787471C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Graphs!$E$14:$P$14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Graphs!$E$15:$P$15</c:f>
              <c:numCache>
                <c:formatCode>General</c:formatCode>
                <c:ptCount val="12"/>
                <c:pt idx="0">
                  <c:v>111</c:v>
                </c:pt>
                <c:pt idx="1">
                  <c:v>200</c:v>
                </c:pt>
                <c:pt idx="2">
                  <c:v>212</c:v>
                </c:pt>
                <c:pt idx="3">
                  <c:v>137</c:v>
                </c:pt>
                <c:pt idx="4">
                  <c:v>84</c:v>
                </c:pt>
                <c:pt idx="5">
                  <c:v>124</c:v>
                </c:pt>
                <c:pt idx="6">
                  <c:v>75</c:v>
                </c:pt>
                <c:pt idx="7">
                  <c:v>90</c:v>
                </c:pt>
                <c:pt idx="8">
                  <c:v>110</c:v>
                </c:pt>
                <c:pt idx="9">
                  <c:v>129</c:v>
                </c:pt>
                <c:pt idx="10">
                  <c:v>106</c:v>
                </c:pt>
                <c:pt idx="1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CA-4AD9-BB29-FFA0787471C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12714959"/>
        <c:axId val="885996623"/>
      </c:barChart>
      <c:catAx>
        <c:axId val="2012714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 smtClean="0">
                    <a:solidFill>
                      <a:schemeClr val="tx1"/>
                    </a:solidFill>
                  </a:rPr>
                  <a:t>1,443 </a:t>
                </a:r>
                <a:r>
                  <a:rPr lang="en-US" sz="2000" dirty="0">
                    <a:solidFill>
                      <a:schemeClr val="tx1"/>
                    </a:solidFill>
                  </a:rPr>
                  <a:t>Requests</a:t>
                </a:r>
              </a:p>
            </c:rich>
          </c:tx>
          <c:layout>
            <c:manualLayout>
              <c:xMode val="edge"/>
              <c:yMode val="edge"/>
              <c:x val="0.83327550853018373"/>
              <c:y val="6.785851250458978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5996623"/>
        <c:crosses val="autoZero"/>
        <c:auto val="1"/>
        <c:lblAlgn val="ctr"/>
        <c:lblOffset val="100"/>
        <c:noMultiLvlLbl val="0"/>
      </c:catAx>
      <c:valAx>
        <c:axId val="88599662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127149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75910147172734"/>
          <c:y val="6.1026352288488211E-2"/>
          <c:w val="0.49031758326878389"/>
          <c:h val="0.87794729542302363"/>
        </c:manualLayout>
      </c:layout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2B21-4C2F-AE4D-45BD07242CE1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2B21-4C2F-AE4D-45BD07242CE1}"/>
              </c:ext>
            </c:extLst>
          </c:dPt>
          <c:dLbls>
            <c:dLbl>
              <c:idx val="0"/>
              <c:layout>
                <c:manualLayout>
                  <c:x val="-0.19135764494351354"/>
                  <c:y val="-0.15961271343891004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2B21-4C2F-AE4D-45BD07242CE1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Graphs!$F$20:$F$21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Graphs!$G$20:$G$21</c:f>
              <c:numCache>
                <c:formatCode>General</c:formatCode>
                <c:ptCount val="2"/>
                <c:pt idx="0">
                  <c:v>943</c:v>
                </c:pt>
                <c:pt idx="1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21-4C2F-AE4D-45BD07242CE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Sheet1!$E$2</c:f>
              <c:strCache>
                <c:ptCount val="1"/>
                <c:pt idx="0">
                  <c:v>Information Literacy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B229-413E-A844-398B7272B47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B229-413E-A844-398B7272B476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33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B229-413E-A844-398B7272B476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50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B229-413E-A844-398B7272B4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Sheet1!$D$3:$D$4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Sheet1!$E$3:$E$4</c:f>
              <c:numCache>
                <c:formatCode>General</c:formatCode>
                <c:ptCount val="2"/>
                <c:pt idx="0">
                  <c:v>34</c:v>
                </c:pt>
                <c:pt idx="1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229-413E-A844-398B7272B476}"/>
            </c:ext>
          </c:extLst>
        </c:ser>
        <c:ser>
          <c:idx val="1"/>
          <c:order val="1"/>
          <c:tx>
            <c:strRef>
              <c:f>Sheet1!$F$2</c:f>
              <c:strCache>
                <c:ptCount val="1"/>
                <c:pt idx="0">
                  <c:v>Workshops/Events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37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E7D2-4F34-83CB-2B5AC13CFD4A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27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7D2-4F34-83CB-2B5AC13CFD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Sheet1!$D$3:$D$4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Sheet1!$F$3:$F$4</c:f>
              <c:numCache>
                <c:formatCode>General</c:formatCode>
                <c:ptCount val="2"/>
                <c:pt idx="0">
                  <c:v>40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229-413E-A844-398B7272B4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50351343"/>
        <c:axId val="50354671"/>
      </c:barChart>
      <c:catAx>
        <c:axId val="503513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cap="none" spc="0" normalizeH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54671"/>
        <c:crosses val="autoZero"/>
        <c:auto val="1"/>
        <c:lblAlgn val="ctr"/>
        <c:lblOffset val="100"/>
        <c:noMultiLvlLbl val="0"/>
      </c:catAx>
      <c:valAx>
        <c:axId val="503546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0351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OA!$B$11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OA!$C$10:$G$10</c:f>
              <c:strCache>
                <c:ptCount val="5"/>
                <c:pt idx="0">
                  <c:v>ACS</c:v>
                </c:pt>
                <c:pt idx="1">
                  <c:v>IEEE</c:v>
                </c:pt>
                <c:pt idx="2">
                  <c:v>Wiley</c:v>
                </c:pt>
                <c:pt idx="3">
                  <c:v>Plos</c:v>
                </c:pt>
                <c:pt idx="4">
                  <c:v>Total</c:v>
                </c:pt>
              </c:strCache>
            </c:strRef>
          </c:cat>
          <c:val>
            <c:numRef>
              <c:f>OA!$C$11:$G$11</c:f>
              <c:numCache>
                <c:formatCode>General</c:formatCode>
                <c:ptCount val="5"/>
                <c:pt idx="0">
                  <c:v>9</c:v>
                </c:pt>
                <c:pt idx="1">
                  <c:v>38</c:v>
                </c:pt>
                <c:pt idx="2">
                  <c:v>9</c:v>
                </c:pt>
                <c:pt idx="4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4D-4A73-AE55-94AE2754EAD8}"/>
            </c:ext>
          </c:extLst>
        </c:ser>
        <c:ser>
          <c:idx val="1"/>
          <c:order val="1"/>
          <c:tx>
            <c:strRef>
              <c:f>OA!$B$12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bg1">
                <a:lumMod val="75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OA!$C$10:$G$10</c:f>
              <c:strCache>
                <c:ptCount val="5"/>
                <c:pt idx="0">
                  <c:v>ACS</c:v>
                </c:pt>
                <c:pt idx="1">
                  <c:v>IEEE</c:v>
                </c:pt>
                <c:pt idx="2">
                  <c:v>Wiley</c:v>
                </c:pt>
                <c:pt idx="3">
                  <c:v>Plos</c:v>
                </c:pt>
                <c:pt idx="4">
                  <c:v>Total</c:v>
                </c:pt>
              </c:strCache>
            </c:strRef>
          </c:cat>
          <c:val>
            <c:numRef>
              <c:f>OA!$C$12:$G$12</c:f>
              <c:numCache>
                <c:formatCode>General</c:formatCode>
                <c:ptCount val="5"/>
                <c:pt idx="0">
                  <c:v>26</c:v>
                </c:pt>
                <c:pt idx="1">
                  <c:v>59</c:v>
                </c:pt>
                <c:pt idx="2">
                  <c:v>20</c:v>
                </c:pt>
                <c:pt idx="4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4D-4A73-AE55-94AE2754EAD8}"/>
            </c:ext>
          </c:extLst>
        </c:ser>
        <c:ser>
          <c:idx val="2"/>
          <c:order val="2"/>
          <c:tx>
            <c:strRef>
              <c:f>OA!$B$13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OA!$C$10:$G$10</c:f>
              <c:strCache>
                <c:ptCount val="5"/>
                <c:pt idx="0">
                  <c:v>ACS</c:v>
                </c:pt>
                <c:pt idx="1">
                  <c:v>IEEE</c:v>
                </c:pt>
                <c:pt idx="2">
                  <c:v>Wiley</c:v>
                </c:pt>
                <c:pt idx="3">
                  <c:v>Plos</c:v>
                </c:pt>
                <c:pt idx="4">
                  <c:v>Total</c:v>
                </c:pt>
              </c:strCache>
            </c:strRef>
          </c:cat>
          <c:val>
            <c:numRef>
              <c:f>OA!$C$13:$G$13</c:f>
              <c:numCache>
                <c:formatCode>General</c:formatCode>
                <c:ptCount val="5"/>
                <c:pt idx="0">
                  <c:v>32</c:v>
                </c:pt>
                <c:pt idx="1">
                  <c:v>72</c:v>
                </c:pt>
                <c:pt idx="2">
                  <c:v>17</c:v>
                </c:pt>
                <c:pt idx="3">
                  <c:v>1</c:v>
                </c:pt>
                <c:pt idx="4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4D-4A73-AE55-94AE2754EAD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47795071"/>
        <c:axId val="993574063"/>
      </c:barChart>
      <c:catAx>
        <c:axId val="44779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3574063"/>
        <c:crosses val="autoZero"/>
        <c:auto val="1"/>
        <c:lblAlgn val="ctr"/>
        <c:lblOffset val="100"/>
        <c:noMultiLvlLbl val="0"/>
      </c:catAx>
      <c:valAx>
        <c:axId val="99357406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779507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35000"/>
                <a:lumOff val="6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5F02-4420-B2DA-DA806A34E1C9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5F02-4420-B2DA-DA806A34E1C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5F02-4420-B2DA-DA806A34E1C9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7-5F02-4420-B2DA-DA806A34E1C9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fld id="{9578C2DA-1215-445F-B7D6-928F97FA2CC3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 </a:t>
                    </a:r>
                  </a:p>
                  <a:p>
                    <a:fld id="{CF26C77A-373A-43BF-BDAA-BEF04F8C491C}" type="VALUE">
                      <a:rPr lang="en-US" baseline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F02-4420-B2DA-DA806A34E1C9}"/>
                </c:ext>
              </c:extLst>
            </c:dLbl>
            <c:dLbl>
              <c:idx val="1"/>
              <c:layout>
                <c:manualLayout>
                  <c:x val="5.5644129722111586E-2"/>
                  <c:y val="-0.2947340425531914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4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2449C57-AFCF-43E1-A389-08328908101D}" type="CATEGORYNAME">
                      <a:rPr lang="en-US" sz="1400"/>
                      <a:pPr>
                        <a:defRPr sz="14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[CATEGORY NAME]</a:t>
                    </a:fld>
                    <a:r>
                      <a:rPr lang="en-US" sz="1400" baseline="0" dirty="0"/>
                      <a:t> </a:t>
                    </a:r>
                  </a:p>
                  <a:p>
                    <a:pPr>
                      <a:defRPr sz="14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 smtClean="0"/>
                      <a:t>446,000</a:t>
                    </a:r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F02-4420-B2DA-DA806A34E1C9}"/>
                </c:ext>
              </c:extLst>
            </c:dLbl>
            <c:dLbl>
              <c:idx val="2"/>
              <c:layout>
                <c:manualLayout>
                  <c:x val="1.4554099390299501E-3"/>
                  <c:y val="7.5797872340425529E-3"/>
                </c:manualLayout>
              </c:layout>
              <c:tx>
                <c:rich>
                  <a:bodyPr/>
                  <a:lstStyle/>
                  <a:p>
                    <a:fld id="{02610A31-FED2-4BB9-AF30-D48C94DC8BC8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 </a:t>
                    </a:r>
                  </a:p>
                  <a:p>
                    <a:fld id="{32C96518-F375-4DED-9F39-8E080A4EB2FF}" type="VALUE">
                      <a:rPr lang="en-US" baseline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F02-4420-B2DA-DA806A34E1C9}"/>
                </c:ext>
              </c:extLst>
            </c:dLbl>
            <c:dLbl>
              <c:idx val="3"/>
              <c:layout>
                <c:manualLayout>
                  <c:x val="3.4331819295934311E-2"/>
                  <c:y val="4.5768763611995306E-2"/>
                </c:manualLayout>
              </c:layout>
              <c:tx>
                <c:rich>
                  <a:bodyPr/>
                  <a:lstStyle/>
                  <a:p>
                    <a:fld id="{F172AF10-4F91-441B-BB53-7F07E6317D19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 </a:t>
                    </a:r>
                  </a:p>
                  <a:p>
                    <a:fld id="{89C66EF9-5ED2-49DE-8CDC-3C5466EE44BA}" type="VALUE">
                      <a:rPr lang="en-US" baseline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5F02-4420-B2DA-DA806A34E1C9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Sheet1!$E$4:$E$7</c:f>
              <c:strCache>
                <c:ptCount val="4"/>
                <c:pt idx="0">
                  <c:v>Print Books</c:v>
                </c:pt>
                <c:pt idx="1">
                  <c:v>E-books</c:v>
                </c:pt>
                <c:pt idx="2">
                  <c:v>E-databases</c:v>
                </c:pt>
                <c:pt idx="3">
                  <c:v>E-Journals</c:v>
                </c:pt>
              </c:strCache>
            </c:strRef>
          </c:cat>
          <c:val>
            <c:numRef>
              <c:f>Sheet1!$F$4:$F$7</c:f>
              <c:numCache>
                <c:formatCode>#,##0</c:formatCode>
                <c:ptCount val="4"/>
                <c:pt idx="0">
                  <c:v>90000</c:v>
                </c:pt>
                <c:pt idx="1">
                  <c:v>446000</c:v>
                </c:pt>
                <c:pt idx="2" formatCode="General">
                  <c:v>90</c:v>
                </c:pt>
                <c:pt idx="3">
                  <c:v>35000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F02-4420-B2DA-DA806A34E1C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2-98CE-4C71-BEB4-6A1F4CC58778}"/>
              </c:ext>
            </c:extLst>
          </c:dPt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11EA-4C33-B002-8F17EB5140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'Trial Databases'!$E$4:$F$4</c:f>
              <c:strCache>
                <c:ptCount val="2"/>
                <c:pt idx="0">
                  <c:v>News E-Resources</c:v>
                </c:pt>
                <c:pt idx="1">
                  <c:v>Trials</c:v>
                </c:pt>
              </c:strCache>
            </c:strRef>
          </c:cat>
          <c:val>
            <c:numRef>
              <c:f>'Trial Databases'!$E$5:$F$5</c:f>
              <c:numCache>
                <c:formatCode>General</c:formatCode>
                <c:ptCount val="2"/>
                <c:pt idx="0">
                  <c:v>4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1EA-4C33-B002-8F17EB5140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45940143"/>
        <c:axId val="445940975"/>
      </c:barChart>
      <c:catAx>
        <c:axId val="44594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ysClr val="windowText" lastClr="000000"/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5940975"/>
        <c:crosses val="autoZero"/>
        <c:auto val="1"/>
        <c:lblAlgn val="ctr"/>
        <c:lblOffset val="100"/>
        <c:noMultiLvlLbl val="0"/>
      </c:catAx>
      <c:valAx>
        <c:axId val="44594097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5940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C8BB-489A-86DE-2C7203EE9C0F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C8BB-489A-86DE-2C7203EE9C0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C8BB-489A-86DE-2C7203EE9C0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Sheet1!$C$13:$C$15</c:f>
              <c:strCache>
                <c:ptCount val="3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</c:strCache>
            </c:strRef>
          </c:cat>
          <c:val>
            <c:numRef>
              <c:f>Sheet1!$D$13:$D$15</c:f>
              <c:numCache>
                <c:formatCode>General</c:formatCode>
                <c:ptCount val="3"/>
                <c:pt idx="0">
                  <c:v>64</c:v>
                </c:pt>
                <c:pt idx="1">
                  <c:v>35</c:v>
                </c:pt>
                <c:pt idx="2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8BB-489A-86DE-2C7203EE9C0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0.5902</cdr:x>
      <cdr:y>0.16483</cdr:y>
    </cdr:from>
    <cdr:to>
      <cdr:x>0.892</cdr:x>
      <cdr:y>0.84783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885465" y="735272"/>
          <a:ext cx="3009615" cy="3046684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1">
          <a:schemeClr val="accent6"/>
        </a:lnRef>
        <a:fillRef xmlns:a="http://schemas.openxmlformats.org/drawingml/2006/main" idx="2">
          <a:schemeClr val="accent6"/>
        </a:fillRef>
        <a:effectRef xmlns:a="http://schemas.openxmlformats.org/drawingml/2006/main" idx="1">
          <a:schemeClr val="accent6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Cambridge University Press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SAGE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Optics InfoBase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Taylor &amp; Francis e-books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Elsevier - CHEM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Routledge encyclopedia of Philosophy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Al </a:t>
          </a:r>
          <a:r>
            <a:rPr lang="en-US" sz="1400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Manhal</a:t>
          </a:r>
          <a:endParaRPr 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Springer </a:t>
          </a:r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Materials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Press Reader</a:t>
          </a:r>
          <a:endParaRPr lang="en-U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algn="ctr"/>
          <a:endParaRPr lang="en-US" sz="1100" dirty="0"/>
        </a:p>
      </cdr:txBody>
    </cdr:sp>
  </cdr:relSizeAnchor>
  <cdr:relSizeAnchor xmlns:cdr="http://schemas.openxmlformats.org/drawingml/2006/chartDrawing">
    <cdr:from>
      <cdr:x>0.12429</cdr:x>
      <cdr:y>0.57992</cdr:y>
    </cdr:from>
    <cdr:to>
      <cdr:x>0.38412</cdr:x>
      <cdr:y>0.88766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1239383" y="2586849"/>
          <a:ext cx="2591072" cy="1372769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Optics </a:t>
          </a:r>
          <a:r>
            <a:rPr lang="en-US" sz="14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Infobase</a:t>
          </a:r>
          <a:endParaRPr lang="en-US" sz="14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EMBASE </a:t>
          </a: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 err="1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Cohrane</a:t>
          </a:r>
          <a:endParaRPr lang="en-US" sz="14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 xmlns:a="http://schemas.openxmlformats.org/drawingml/2006/main">
          <a:pPr algn="ctr">
            <a:lnSpc>
              <a:spcPct val="150000"/>
            </a:lnSpc>
          </a:pPr>
          <a:r>
            <a:rPr lang="en-US" sz="1400" b="1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26100-4EAD-4E58-970B-EEEEA8260F72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7629D-59A7-4B11-8264-72BDCDA23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6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4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9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1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85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527050"/>
            <a:ext cx="32543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8475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438" y="2760663"/>
            <a:ext cx="2239962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4773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023">
                <a:solidFill>
                  <a:srgbClr val="FFFFFF"/>
                </a:solidFill>
              </a:defRPr>
            </a:lvl1pPr>
            <a:lvl2pPr marL="363734" indent="0" algn="ctr">
              <a:buNone/>
              <a:defRPr sz="1591"/>
            </a:lvl2pPr>
            <a:lvl3pPr marL="727468" indent="0" algn="ctr">
              <a:buNone/>
              <a:defRPr sz="1432"/>
            </a:lvl3pPr>
            <a:lvl4pPr marL="1091202" indent="0" algn="ctr">
              <a:buNone/>
              <a:defRPr sz="1273"/>
            </a:lvl4pPr>
            <a:lvl5pPr marL="1454937" indent="0" algn="ctr">
              <a:buNone/>
              <a:defRPr sz="1273"/>
            </a:lvl5pPr>
            <a:lvl6pPr marL="1818671" indent="0" algn="ctr">
              <a:buNone/>
              <a:defRPr sz="1273"/>
            </a:lvl6pPr>
            <a:lvl7pPr marL="2182405" indent="0" algn="ctr">
              <a:buNone/>
              <a:defRPr sz="1273"/>
            </a:lvl7pPr>
            <a:lvl8pPr marL="2546139" indent="0" algn="ctr">
              <a:buNone/>
              <a:defRPr sz="1273"/>
            </a:lvl8pPr>
            <a:lvl9pPr marL="2909873" indent="0" algn="ctr">
              <a:buNone/>
              <a:defRPr sz="127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0237" y="5497790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074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84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4AEE5-052D-48E3-BC1D-C6E2F39E88DB}" type="datetimeFigureOut">
              <a:rPr lang="en-US" smtClean="0"/>
              <a:t>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8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4250" y="1039813"/>
            <a:ext cx="7412038" cy="13954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i-FI" sz="4355" dirty="0">
                <a:latin typeface="Arial" panose="020B0604020202020204" pitchFamily="34" charset="0"/>
                <a:cs typeface="Arial" panose="020B0604020202020204" pitchFamily="34" charset="0"/>
              </a:rPr>
              <a:t>Khalifa University Libraries</a:t>
            </a:r>
            <a:endParaRPr lang="en-US" sz="244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4250" y="3292475"/>
            <a:ext cx="7412038" cy="1147763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fi-FI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headings)"/>
              </a:rPr>
              <a:t>Library Statistical Report 2022</a:t>
            </a:r>
            <a:endParaRPr lang="fi-FI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(headings)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3002107" y="3902076"/>
            <a:ext cx="6096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January 13, </a:t>
            </a: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2023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Revised, 23 January 2023</a:t>
            </a:r>
            <a:endParaRPr lang="en-US" altLang="en-US" sz="18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476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58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Headcount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6283088"/>
              </p:ext>
            </p:extLst>
          </p:nvPr>
        </p:nvGraphicFramePr>
        <p:xfrm>
          <a:off x="152400" y="1302327"/>
          <a:ext cx="11808691" cy="5555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756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 Services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(Monthly Distribution)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2973507"/>
              </p:ext>
            </p:extLst>
          </p:nvPr>
        </p:nvGraphicFramePr>
        <p:xfrm>
          <a:off x="0" y="2057400"/>
          <a:ext cx="12192000" cy="490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227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303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 Services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(Semester Distribution)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848270" y="3371273"/>
            <a:ext cx="1856511" cy="462251"/>
          </a:xfrm>
          <a:prstGeom prst="roundRect">
            <a:avLst/>
          </a:prstGeom>
          <a:noFill/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1,443 Requests</a:t>
            </a:r>
            <a:endParaRPr 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548119"/>
              </p:ext>
            </p:extLst>
          </p:nvPr>
        </p:nvGraphicFramePr>
        <p:xfrm>
          <a:off x="1879600" y="2068945"/>
          <a:ext cx="8432800" cy="380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9805195"/>
              </p:ext>
            </p:extLst>
          </p:nvPr>
        </p:nvGraphicFramePr>
        <p:xfrm>
          <a:off x="2176850" y="1720965"/>
          <a:ext cx="8599675" cy="4500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4305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Workshops &amp; Information Literacy Sessions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1091624"/>
              </p:ext>
            </p:extLst>
          </p:nvPr>
        </p:nvGraphicFramePr>
        <p:xfrm>
          <a:off x="628072" y="1487055"/>
          <a:ext cx="10725727" cy="47844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74480" y="1487055"/>
            <a:ext cx="183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83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</a:t>
            </a:r>
          </a:p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64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Workshops</a:t>
            </a:r>
          </a:p>
        </p:txBody>
      </p:sp>
    </p:spTree>
    <p:extLst>
      <p:ext uri="{BB962C8B-B14F-4D97-AF65-F5344CB8AC3E}">
        <p14:creationId xmlns:p14="http://schemas.microsoft.com/office/powerpoint/2010/main" val="196094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Open Access with Publishers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38996" y="1530647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Processed Articles</a:t>
            </a:r>
            <a:endParaRPr lang="en-US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7804410"/>
              </p:ext>
            </p:extLst>
          </p:nvPr>
        </p:nvGraphicFramePr>
        <p:xfrm>
          <a:off x="688571" y="2072699"/>
          <a:ext cx="10814858" cy="4666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1632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38200" y="374361"/>
            <a:ext cx="10515600" cy="946439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Library Holdings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7756735"/>
              </p:ext>
            </p:extLst>
          </p:nvPr>
        </p:nvGraphicFramePr>
        <p:xfrm>
          <a:off x="1000760" y="1656080"/>
          <a:ext cx="10632440" cy="481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507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4577748"/>
              </p:ext>
            </p:extLst>
          </p:nvPr>
        </p:nvGraphicFramePr>
        <p:xfrm>
          <a:off x="1010920" y="1692968"/>
          <a:ext cx="9972040" cy="4460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838200" y="374361"/>
            <a:ext cx="10515600" cy="1325563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New Subscriptions &amp; Trials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0320" y="5794824"/>
            <a:ext cx="19507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New E-Resources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3204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619"/>
            <a:ext cx="10515600" cy="1441306"/>
          </a:xfrm>
          <a:effectLst>
            <a:outerShdw blurRad="50800" dist="50800" dir="5400000" algn="ctr" rotWithShape="0">
              <a:schemeClr val="bg1"/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Medical Library Statistics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02240" y="2245360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 120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6740953"/>
              </p:ext>
            </p:extLst>
          </p:nvPr>
        </p:nvGraphicFramePr>
        <p:xfrm>
          <a:off x="2220423" y="2123439"/>
          <a:ext cx="7939577" cy="444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8133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127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(headings)</vt:lpstr>
      <vt:lpstr>Calibri</vt:lpstr>
      <vt:lpstr>Calibri Light</vt:lpstr>
      <vt:lpstr>Tw Cen MT</vt:lpstr>
      <vt:lpstr>Office Theme</vt:lpstr>
      <vt:lpstr>Khalifa University Libraries</vt:lpstr>
      <vt:lpstr>Headcount </vt:lpstr>
      <vt:lpstr>Document Delivery Services (Monthly Distribution)</vt:lpstr>
      <vt:lpstr>Document Delivery Services (Semester Distribution)</vt:lpstr>
      <vt:lpstr>Workshops &amp; Information Literacy Sessions </vt:lpstr>
      <vt:lpstr>Open Access with Publishers</vt:lpstr>
      <vt:lpstr>PowerPoint Presentation</vt:lpstr>
      <vt:lpstr>PowerPoint Presentation</vt:lpstr>
      <vt:lpstr>Medical Library Statistics Document Delivery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Khalifa University Libraries</dc:title>
  <dc:creator>Muna Ahmad Abdulla</dc:creator>
  <cp:lastModifiedBy>Muna Ahmad Abdulla</cp:lastModifiedBy>
  <cp:revision>132</cp:revision>
  <dcterms:created xsi:type="dcterms:W3CDTF">2022-01-12T12:36:27Z</dcterms:created>
  <dcterms:modified xsi:type="dcterms:W3CDTF">2023-01-23T16:43:36Z</dcterms:modified>
</cp:coreProperties>
</file>