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1" r:id="rId2"/>
    <p:sldId id="261" r:id="rId3"/>
    <p:sldId id="299" r:id="rId4"/>
    <p:sldId id="292" r:id="rId5"/>
    <p:sldId id="283" r:id="rId6"/>
    <p:sldId id="284" r:id="rId7"/>
    <p:sldId id="297" r:id="rId8"/>
    <p:sldId id="298" r:id="rId9"/>
    <p:sldId id="289" r:id="rId10"/>
    <p:sldId id="286" r:id="rId11"/>
    <p:sldId id="287" r:id="rId12"/>
    <p:sldId id="300" r:id="rId13"/>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47BA"/>
    <a:srgbClr val="FF014A"/>
    <a:srgbClr val="FFFFFF"/>
    <a:srgbClr val="D0CF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59" autoAdjust="0"/>
    <p:restoredTop sz="86211" autoAdjust="0"/>
  </p:normalViewPr>
  <p:slideViewPr>
    <p:cSldViewPr snapToGrid="0" showGuides="1">
      <p:cViewPr>
        <p:scale>
          <a:sx n="176" d="100"/>
          <a:sy n="176" d="100"/>
        </p:scale>
        <p:origin x="1464" y="-1304"/>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2016</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MI!$D$2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EC5C-DA4F-9F1D-8A944785520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EC5C-DA4F-9F1D-8A944785520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EC5C-DA4F-9F1D-8A9447855207}"/>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EC5C-DA4F-9F1D-8A9447855207}"/>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EC5C-DA4F-9F1D-8A9447855207}"/>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EC5C-DA4F-9F1D-8A9447855207}"/>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EC5C-DA4F-9F1D-8A9447855207}"/>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EC5C-DA4F-9F1D-8A9447855207}"/>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EC5C-DA4F-9F1D-8A9447855207}"/>
                </c:ext>
              </c:extLst>
            </c:dLbl>
            <c:dLbl>
              <c:idx val="4"/>
              <c:layout>
                <c:manualLayout>
                  <c:x val="1.1738810541143761E-2"/>
                  <c:y val="-1.6443985892700186E-2"/>
                </c:manualLayout>
              </c:layout>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5"/>
                      </a:solidFill>
                      <a:latin typeface="+mn-lt"/>
                      <a:ea typeface="+mn-ea"/>
                      <a:cs typeface="+mn-cs"/>
                    </a:defRPr>
                  </a:pPr>
                  <a:endParaRPr lang="en-AE"/>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9-EC5C-DA4F-9F1D-8A9447855207}"/>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MI!$A$3:$A$7</c:f>
              <c:strCache>
                <c:ptCount val="5"/>
                <c:pt idx="0">
                  <c:v>general</c:v>
                </c:pt>
                <c:pt idx="1">
                  <c:v>long</c:v>
                </c:pt>
                <c:pt idx="2">
                  <c:v>gpu</c:v>
                </c:pt>
                <c:pt idx="3">
                  <c:v>high</c:v>
                </c:pt>
                <c:pt idx="4">
                  <c:v>training</c:v>
                </c:pt>
              </c:strCache>
            </c:strRef>
          </c:cat>
          <c:val>
            <c:numRef>
              <c:f>MI!$D$3:$D$7</c:f>
              <c:numCache>
                <c:formatCode>General</c:formatCode>
                <c:ptCount val="5"/>
                <c:pt idx="0">
                  <c:v>1560</c:v>
                </c:pt>
                <c:pt idx="1">
                  <c:v>168</c:v>
                </c:pt>
                <c:pt idx="2">
                  <c:v>96</c:v>
                </c:pt>
                <c:pt idx="3">
                  <c:v>96</c:v>
                </c:pt>
                <c:pt idx="4">
                  <c:v>96</c:v>
                </c:pt>
              </c:numCache>
            </c:numRef>
          </c:val>
          <c:extLst>
            <c:ext xmlns:c16="http://schemas.microsoft.com/office/drawing/2014/chart" uri="{C3380CC4-5D6E-409C-BE32-E72D297353CC}">
              <c16:uniqueId val="{0000000A-EC5C-DA4F-9F1D-8A9447855207}"/>
            </c:ext>
          </c:extLst>
        </c:ser>
        <c:ser>
          <c:idx val="1"/>
          <c:order val="1"/>
          <c:tx>
            <c:strRef>
              <c:f>MI!$I$2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EC5C-DA4F-9F1D-8A944785520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EC5C-DA4F-9F1D-8A944785520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EC5C-DA4F-9F1D-8A9447855207}"/>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2-EC5C-DA4F-9F1D-8A9447855207}"/>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4-EC5C-DA4F-9F1D-8A9447855207}"/>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EC5C-DA4F-9F1D-8A9447855207}"/>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EC5C-DA4F-9F1D-8A9447855207}"/>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EC5C-DA4F-9F1D-8A9447855207}"/>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2-EC5C-DA4F-9F1D-8A9447855207}"/>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5"/>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4-EC5C-DA4F-9F1D-8A9447855207}"/>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MI!$A$3:$A$7</c:f>
              <c:strCache>
                <c:ptCount val="5"/>
                <c:pt idx="0">
                  <c:v>general</c:v>
                </c:pt>
                <c:pt idx="1">
                  <c:v>long</c:v>
                </c:pt>
                <c:pt idx="2">
                  <c:v>gpu</c:v>
                </c:pt>
                <c:pt idx="3">
                  <c:v>high</c:v>
                </c:pt>
                <c:pt idx="4">
                  <c:v>training</c:v>
                </c:pt>
              </c:strCache>
            </c:strRef>
          </c:cat>
          <c:val>
            <c:numRef>
              <c:f>MI!$I$3:$I$7</c:f>
              <c:numCache>
                <c:formatCode>General</c:formatCode>
                <c:ptCount val="5"/>
                <c:pt idx="0">
                  <c:v>0.77380952380952384</c:v>
                </c:pt>
                <c:pt idx="1">
                  <c:v>8.3333333333333329E-2</c:v>
                </c:pt>
                <c:pt idx="2">
                  <c:v>4.7619047619047616E-2</c:v>
                </c:pt>
                <c:pt idx="3">
                  <c:v>4.7619047619047616E-2</c:v>
                </c:pt>
                <c:pt idx="4">
                  <c:v>4.7619047619047616E-2</c:v>
                </c:pt>
              </c:numCache>
            </c:numRef>
          </c:val>
          <c:extLst>
            <c:ext xmlns:c16="http://schemas.microsoft.com/office/drawing/2014/chart" uri="{C3380CC4-5D6E-409C-BE32-E72D297353CC}">
              <c16:uniqueId val="{00000015-EC5C-DA4F-9F1D-8A9447855207}"/>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1100</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SAN!$D$2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4374-5A4B-8311-55090FFE2166}"/>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4374-5A4B-8311-55090FFE2166}"/>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4374-5A4B-8311-55090FFE2166}"/>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4374-5A4B-8311-55090FFE2166}"/>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4374-5A4B-8311-55090FFE2166}"/>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4374-5A4B-8311-55090FFE2166}"/>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4374-5A4B-8311-55090FFE2166}"/>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4374-5A4B-8311-55090FFE2166}"/>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SAN!$A$3:$A$6</c:f>
              <c:strCache>
                <c:ptCount val="4"/>
                <c:pt idx="0">
                  <c:v>Q1</c:v>
                </c:pt>
                <c:pt idx="1">
                  <c:v>Q2</c:v>
                </c:pt>
                <c:pt idx="2">
                  <c:v>Q3</c:v>
                </c:pt>
                <c:pt idx="3">
                  <c:v>QGPU</c:v>
                </c:pt>
              </c:strCache>
            </c:strRef>
          </c:cat>
          <c:val>
            <c:numRef>
              <c:f>SAN!$D$3:$D$6</c:f>
              <c:numCache>
                <c:formatCode>General</c:formatCode>
                <c:ptCount val="4"/>
                <c:pt idx="0">
                  <c:v>72</c:v>
                </c:pt>
                <c:pt idx="1">
                  <c:v>276</c:v>
                </c:pt>
                <c:pt idx="2">
                  <c:v>656</c:v>
                </c:pt>
                <c:pt idx="3">
                  <c:v>96</c:v>
                </c:pt>
              </c:numCache>
            </c:numRef>
          </c:val>
          <c:extLst>
            <c:ext xmlns:c16="http://schemas.microsoft.com/office/drawing/2014/chart" uri="{C3380CC4-5D6E-409C-BE32-E72D297353CC}">
              <c16:uniqueId val="{00000008-4374-5A4B-8311-55090FFE2166}"/>
            </c:ext>
          </c:extLst>
        </c:ser>
        <c:ser>
          <c:idx val="1"/>
          <c:order val="1"/>
          <c:tx>
            <c:strRef>
              <c:f>SAN!$I$2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A-4374-5A4B-8311-55090FFE2166}"/>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4374-5A4B-8311-55090FFE2166}"/>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4374-5A4B-8311-55090FFE2166}"/>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4374-5A4B-8311-55090FFE2166}"/>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A-4374-5A4B-8311-55090FFE2166}"/>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4374-5A4B-8311-55090FFE2166}"/>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4374-5A4B-8311-55090FFE2166}"/>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4374-5A4B-8311-55090FFE2166}"/>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SAN!$A$3:$A$6</c:f>
              <c:strCache>
                <c:ptCount val="4"/>
                <c:pt idx="0">
                  <c:v>Q1</c:v>
                </c:pt>
                <c:pt idx="1">
                  <c:v>Q2</c:v>
                </c:pt>
                <c:pt idx="2">
                  <c:v>Q3</c:v>
                </c:pt>
                <c:pt idx="3">
                  <c:v>QGPU</c:v>
                </c:pt>
              </c:strCache>
            </c:strRef>
          </c:cat>
          <c:val>
            <c:numRef>
              <c:f>SAN!$I$3:$I$6</c:f>
              <c:numCache>
                <c:formatCode>General</c:formatCode>
                <c:ptCount val="4"/>
                <c:pt idx="0">
                  <c:v>6.545454545454546E-2</c:v>
                </c:pt>
                <c:pt idx="1">
                  <c:v>0.25090909090909091</c:v>
                </c:pt>
                <c:pt idx="2">
                  <c:v>0.59636363636363632</c:v>
                </c:pt>
                <c:pt idx="3">
                  <c:v>8.727272727272728E-2</c:v>
                </c:pt>
              </c:numCache>
            </c:numRef>
          </c:val>
          <c:extLst>
            <c:ext xmlns:c16="http://schemas.microsoft.com/office/drawing/2014/chart" uri="{C3380CC4-5D6E-409C-BE32-E72D297353CC}">
              <c16:uniqueId val="{00000011-4374-5A4B-8311-55090FFE2166}"/>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66FD6-D2A9-4F00-B491-A99A8AA44ED0}" type="datetimeFigureOut">
              <a:rPr lang="en-US" smtClean="0"/>
              <a:t>5/16/21</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F57D8-2956-440C-8FE5-2823967F9ED1}" type="slidenum">
              <a:rPr lang="en-US" smtClean="0"/>
              <a:t>‹#›</a:t>
            </a:fld>
            <a:endParaRPr lang="en-US"/>
          </a:p>
        </p:txBody>
      </p:sp>
    </p:spTree>
    <p:extLst>
      <p:ext uri="{BB962C8B-B14F-4D97-AF65-F5344CB8AC3E}">
        <p14:creationId xmlns:p14="http://schemas.microsoft.com/office/powerpoint/2010/main" val="381662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5F57D8-2956-440C-8FE5-2823967F9ED1}" type="slidenum">
              <a:rPr lang="en-US" smtClean="0"/>
              <a:t>1</a:t>
            </a:fld>
            <a:endParaRPr lang="en-US"/>
          </a:p>
        </p:txBody>
      </p:sp>
    </p:spTree>
    <p:extLst>
      <p:ext uri="{BB962C8B-B14F-4D97-AF65-F5344CB8AC3E}">
        <p14:creationId xmlns:p14="http://schemas.microsoft.com/office/powerpoint/2010/main" val="903729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BD5F57D8-2956-440C-8FE5-2823967F9ED1}" type="slidenum">
              <a:rPr lang="en-US" smtClean="0"/>
              <a:t>2</a:t>
            </a:fld>
            <a:endParaRPr lang="en-US"/>
          </a:p>
        </p:txBody>
      </p:sp>
    </p:spTree>
    <p:extLst>
      <p:ext uri="{BB962C8B-B14F-4D97-AF65-F5344CB8AC3E}">
        <p14:creationId xmlns:p14="http://schemas.microsoft.com/office/powerpoint/2010/main" val="1138561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BD5F57D8-2956-440C-8FE5-2823967F9ED1}" type="slidenum">
              <a:rPr lang="en-US" smtClean="0"/>
              <a:t>3</a:t>
            </a:fld>
            <a:endParaRPr lang="en-US"/>
          </a:p>
        </p:txBody>
      </p:sp>
    </p:spTree>
    <p:extLst>
      <p:ext uri="{BB962C8B-B14F-4D97-AF65-F5344CB8AC3E}">
        <p14:creationId xmlns:p14="http://schemas.microsoft.com/office/powerpoint/2010/main" val="1402484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6</a:t>
            </a:fld>
            <a:endParaRPr lang="en-US"/>
          </a:p>
        </p:txBody>
      </p:sp>
    </p:spTree>
    <p:extLst>
      <p:ext uri="{BB962C8B-B14F-4D97-AF65-F5344CB8AC3E}">
        <p14:creationId xmlns:p14="http://schemas.microsoft.com/office/powerpoint/2010/main" val="3965828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7</a:t>
            </a:fld>
            <a:endParaRPr lang="en-US"/>
          </a:p>
        </p:txBody>
      </p:sp>
    </p:spTree>
    <p:extLst>
      <p:ext uri="{BB962C8B-B14F-4D97-AF65-F5344CB8AC3E}">
        <p14:creationId xmlns:p14="http://schemas.microsoft.com/office/powerpoint/2010/main" val="3731217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8</a:t>
            </a:fld>
            <a:endParaRPr lang="en-US"/>
          </a:p>
        </p:txBody>
      </p:sp>
    </p:spTree>
    <p:extLst>
      <p:ext uri="{BB962C8B-B14F-4D97-AF65-F5344CB8AC3E}">
        <p14:creationId xmlns:p14="http://schemas.microsoft.com/office/powerpoint/2010/main" val="1459153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9</a:t>
            </a:fld>
            <a:endParaRPr lang="en-US"/>
          </a:p>
        </p:txBody>
      </p:sp>
    </p:spTree>
    <p:extLst>
      <p:ext uri="{BB962C8B-B14F-4D97-AF65-F5344CB8AC3E}">
        <p14:creationId xmlns:p14="http://schemas.microsoft.com/office/powerpoint/2010/main" val="1536694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11</a:t>
            </a:fld>
            <a:endParaRPr lang="en-US"/>
          </a:p>
        </p:txBody>
      </p:sp>
    </p:spTree>
    <p:extLst>
      <p:ext uri="{BB962C8B-B14F-4D97-AF65-F5344CB8AC3E}">
        <p14:creationId xmlns:p14="http://schemas.microsoft.com/office/powerpoint/2010/main" val="1674404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BD5F57D8-2956-440C-8FE5-2823967F9ED1}" type="slidenum">
              <a:rPr lang="en-US" smtClean="0"/>
              <a:t>12</a:t>
            </a:fld>
            <a:endParaRPr lang="en-US"/>
          </a:p>
        </p:txBody>
      </p:sp>
    </p:spTree>
    <p:extLst>
      <p:ext uri="{BB962C8B-B14F-4D97-AF65-F5344CB8AC3E}">
        <p14:creationId xmlns:p14="http://schemas.microsoft.com/office/powerpoint/2010/main" val="11011326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47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eg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chemeClr val="bg2"/>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chemeClr val="bg2"/>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4210050"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7211BEC-8A05-5048-8010-DA55CE4672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9" y="654528"/>
            <a:ext cx="2876309" cy="774496"/>
          </a:xfrm>
          <a:prstGeom prst="rect">
            <a:avLst/>
          </a:prstGeom>
        </p:spPr>
      </p:pic>
    </p:spTree>
    <p:extLst>
      <p:ext uri="{BB962C8B-B14F-4D97-AF65-F5344CB8AC3E}">
        <p14:creationId xmlns:p14="http://schemas.microsoft.com/office/powerpoint/2010/main" val="368478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hoto">
    <p:bg>
      <p:bgPr>
        <a:solidFill>
          <a:srgbClr val="0047B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B21E90-80D8-4070-8157-51F5D9E9B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pic>
        <p:nvPicPr>
          <p:cNvPr id="8" name="Picture 7">
            <a:extLst>
              <a:ext uri="{FF2B5EF4-FFF2-40B4-BE49-F238E27FC236}">
                <a16:creationId xmlns:a16="http://schemas.microsoft.com/office/drawing/2014/main" id="{E14C8DC6-096E-714D-AF28-58697258972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cxnSp>
        <p:nvCxnSpPr>
          <p:cNvPr id="9" name="Straight Connector 8">
            <a:extLst>
              <a:ext uri="{FF2B5EF4-FFF2-40B4-BE49-F238E27FC236}">
                <a16:creationId xmlns:a16="http://schemas.microsoft.com/office/drawing/2014/main" id="{41EF1488-91C4-7449-841C-78AF4CE5EB83}"/>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840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760974" y="542926"/>
            <a:ext cx="8463393" cy="815095"/>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760974" y="1502876"/>
            <a:ext cx="8520709" cy="481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9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5007174" y="669956"/>
            <a:ext cx="4217788" cy="5644689"/>
          </a:xfrm>
        </p:spPr>
        <p:txBody>
          <a:bodyPr/>
          <a:lstStyle>
            <a:lvl1pPr>
              <a:defRPr b="0"/>
            </a:lvl1pPr>
          </a:lstStyle>
          <a:p>
            <a:pPr lvl="0"/>
            <a:r>
              <a:rPr lang="en-US" dirty="0"/>
              <a:t>Heading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106686" y="669956"/>
            <a:ext cx="3590925" cy="5644689"/>
          </a:xfrm>
        </p:spPr>
        <p:txBody>
          <a:bodyPr anchor="t" anchorCtr="0"/>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1385506D-9F69-4855-B473-3BFDAF44ED69}"/>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095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AA8462DF-95A9-4839-9F28-1A83BCE28186}"/>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9" name="Picture 8">
            <a:extLst>
              <a:ext uri="{FF2B5EF4-FFF2-40B4-BE49-F238E27FC236}">
                <a16:creationId xmlns:a16="http://schemas.microsoft.com/office/drawing/2014/main" id="{DEDB1926-9526-4026-8069-F153FB78BD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0" name="Straight Connector 9">
            <a:extLst>
              <a:ext uri="{FF2B5EF4-FFF2-40B4-BE49-F238E27FC236}">
                <a16:creationId xmlns:a16="http://schemas.microsoft.com/office/drawing/2014/main" id="{5B93EDA0-B8B5-41ED-80CE-BFDA6DF8FC4B}"/>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45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 Placeholder 2">
            <a:extLst>
              <a:ext uri="{FF2B5EF4-FFF2-40B4-BE49-F238E27FC236}">
                <a16:creationId xmlns:a16="http://schemas.microsoft.com/office/drawing/2014/main" id="{E4673FD0-9E13-4C1A-B859-688309735A0D}"/>
              </a:ext>
            </a:extLst>
          </p:cNvPr>
          <p:cNvSpPr>
            <a:spLocks noGrp="1"/>
          </p:cNvSpPr>
          <p:nvPr>
            <p:ph type="body" idx="13"/>
          </p:nvPr>
        </p:nvSpPr>
        <p:spPr>
          <a:xfrm>
            <a:off x="1105650" y="1868400"/>
            <a:ext cx="3802500"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9" name="Text Placeholder 4">
            <a:extLst>
              <a:ext uri="{FF2B5EF4-FFF2-40B4-BE49-F238E27FC236}">
                <a16:creationId xmlns:a16="http://schemas.microsoft.com/office/drawing/2014/main" id="{E81F1501-AF73-4AAC-9FF0-0767311D3E75}"/>
              </a:ext>
            </a:extLst>
          </p:cNvPr>
          <p:cNvSpPr>
            <a:spLocks noGrp="1"/>
          </p:cNvSpPr>
          <p:nvPr>
            <p:ph type="body" sz="quarter" idx="3"/>
          </p:nvPr>
        </p:nvSpPr>
        <p:spPr>
          <a:xfrm>
            <a:off x="5417344" y="1868400"/>
            <a:ext cx="3808909"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10" name="TextBox 9">
            <a:extLst>
              <a:ext uri="{FF2B5EF4-FFF2-40B4-BE49-F238E27FC236}">
                <a16:creationId xmlns:a16="http://schemas.microsoft.com/office/drawing/2014/main" id="{7ADE178B-FD49-4EE2-9A05-5F6BE0A0483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1" name="Picture 10">
            <a:extLst>
              <a:ext uri="{FF2B5EF4-FFF2-40B4-BE49-F238E27FC236}">
                <a16:creationId xmlns:a16="http://schemas.microsoft.com/office/drawing/2014/main" id="{68D110D8-F82F-4692-8B00-F633DEF1AC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2" name="Straight Connector 11">
            <a:extLst>
              <a:ext uri="{FF2B5EF4-FFF2-40B4-BE49-F238E27FC236}">
                <a16:creationId xmlns:a16="http://schemas.microsoft.com/office/drawing/2014/main" id="{6132C51C-6D36-4A71-A1DB-6C92A35CA313}"/>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1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5007173" y="771526"/>
            <a:ext cx="4581525"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lvl1pPr marL="0" indent="0">
              <a:buNone/>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43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5007173" y="771526"/>
            <a:ext cx="4581525" cy="5534025"/>
          </a:xfrm>
          <a:solidFill>
            <a:schemeClr val="bg1">
              <a:lumMod val="85000"/>
            </a:schemeClr>
          </a:solidFill>
        </p:spPr>
        <p:txBody>
          <a:bodyPr/>
          <a:lstStyle>
            <a:lvl1pPr marL="0" indent="0">
              <a:buNone/>
              <a:defRPr/>
            </a:lvl1pPr>
          </a:lstStyle>
          <a:p>
            <a:r>
              <a:rPr lang="en-US"/>
              <a:t>Drag picture to placeholder or click icon to add</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598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673299" y="542926"/>
            <a:ext cx="8567141" cy="1114425"/>
          </a:xfrm>
        </p:spPr>
        <p:txBody>
          <a:bodyPr/>
          <a:lstStyle>
            <a:lvl1pPr algn="ctr">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418849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1114425"/>
            <a:ext cx="5154216" cy="1438275"/>
          </a:xfrm>
        </p:spPr>
        <p:txBody>
          <a:bodyPr anchor="t" anchorCtr="0"/>
          <a:lstStyle>
            <a:lvl1pPr algn="l">
              <a:lnSpc>
                <a:spcPct val="100000"/>
              </a:lnSpc>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b="1">
                <a:solidFill>
                  <a:srgbClr val="000000"/>
                </a:solidFill>
              </a:defRPr>
            </a:lvl1pPr>
          </a:lstStyle>
          <a:p>
            <a:r>
              <a:rPr lang="en-US"/>
              <a:t>Presentation Title Goes Here</a:t>
            </a:r>
            <a:endParaRPr lang="en-US" dirty="0"/>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70C0">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dirty="0">
                <a:solidFill>
                  <a:srgbClr val="000000"/>
                </a:solidFill>
              </a:rPr>
              <a:t>ku.ac.ae</a:t>
            </a:r>
            <a:endParaRPr lang="en-US" sz="691" dirty="0">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762001"/>
            <a:ext cx="3018234" cy="5553075"/>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606654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884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chemeClr val="tx2"/>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chemeClr val="tx2"/>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chemeClr val="tx2"/>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tx2"/>
                </a:solidFill>
              </a:rPr>
              <a:t>ku.ac.ae</a:t>
            </a:r>
            <a:endParaRPr lang="en-US" sz="691">
              <a:solidFill>
                <a:schemeClr val="tx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6"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5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EFBB-C8CA-4201-A903-805856BEB310}"/>
              </a:ext>
            </a:extLst>
          </p:cNvPr>
          <p:cNvSpPr>
            <a:spLocks noGrp="1"/>
          </p:cNvSpPr>
          <p:nvPr>
            <p:ph type="dt" sz="half" idx="10"/>
          </p:nvPr>
        </p:nvSpPr>
        <p:spPr/>
        <p:txBody>
          <a:bodyPr/>
          <a:lstStyle/>
          <a:p>
            <a:r>
              <a:rPr lang="en-US"/>
              <a:t>DD Month 20XX</a:t>
            </a:r>
          </a:p>
        </p:txBody>
      </p:sp>
      <p:sp>
        <p:nvSpPr>
          <p:cNvPr id="3" name="Footer Placeholder 2">
            <a:extLst>
              <a:ext uri="{FF2B5EF4-FFF2-40B4-BE49-F238E27FC236}">
                <a16:creationId xmlns:a16="http://schemas.microsoft.com/office/drawing/2014/main" id="{8551DCEB-2462-4151-B7CC-F3EC0D3A59D6}"/>
              </a:ext>
            </a:extLst>
          </p:cNvPr>
          <p:cNvSpPr>
            <a:spLocks noGrp="1"/>
          </p:cNvSpPr>
          <p:nvPr>
            <p:ph type="ftr" sz="quarter" idx="11"/>
          </p:nvPr>
        </p:nvSpPr>
        <p:spPr/>
        <p:txBody>
          <a:bodyPr/>
          <a:lstStyle/>
          <a:p>
            <a:r>
              <a:rPr lang="en-US"/>
              <a:t>Presentation Title Goes Here</a:t>
            </a:r>
          </a:p>
        </p:txBody>
      </p:sp>
      <p:sp>
        <p:nvSpPr>
          <p:cNvPr id="4" name="Slide Number Placeholder 3">
            <a:extLst>
              <a:ext uri="{FF2B5EF4-FFF2-40B4-BE49-F238E27FC236}">
                <a16:creationId xmlns:a16="http://schemas.microsoft.com/office/drawing/2014/main" id="{B5A57B99-432B-45A8-9216-9BC01B297D0C}"/>
              </a:ext>
            </a:extLst>
          </p:cNvPr>
          <p:cNvSpPr>
            <a:spLocks noGrp="1"/>
          </p:cNvSpPr>
          <p:nvPr>
            <p:ph type="sldNum" sz="quarter" idx="12"/>
          </p:nvPr>
        </p:nvSpPr>
        <p:spPr/>
        <p:txBody>
          <a:bodyPr/>
          <a:lstStyle/>
          <a:p>
            <a:fld id="{1E68DD1B-5CD8-424B-8173-19E182143E0A}" type="slidenum">
              <a:rPr lang="en-US" smtClean="0"/>
              <a:t>‹#›</a:t>
            </a:fld>
            <a:endParaRPr lang="en-US"/>
          </a:p>
        </p:txBody>
      </p:sp>
    </p:spTree>
    <p:extLst>
      <p:ext uri="{BB962C8B-B14F-4D97-AF65-F5344CB8AC3E}">
        <p14:creationId xmlns:p14="http://schemas.microsoft.com/office/powerpoint/2010/main" val="4259154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204914"/>
            <a:ext cx="8543925" cy="2852737"/>
          </a:xfrm>
        </p:spPr>
        <p:txBody>
          <a:bodyPr anchor="b"/>
          <a:lstStyle>
            <a:lvl1pPr algn="ctr">
              <a:lnSpc>
                <a:spcPct val="100000"/>
              </a:lnSpc>
              <a:defRPr sz="4875"/>
            </a:lvl1pPr>
          </a:lstStyle>
          <a:p>
            <a:r>
              <a:rPr lang="en-US"/>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675878" y="4000500"/>
            <a:ext cx="8543925" cy="1584326"/>
          </a:xfrm>
        </p:spPr>
        <p:txBody>
          <a:bodyPr>
            <a:normAutofit/>
          </a:bodyPr>
          <a:lstStyle>
            <a:lvl1pPr marL="0" indent="0" algn="ctr">
              <a:buNone/>
              <a:defRPr sz="3088">
                <a:solidFill>
                  <a:srgbClr val="000000"/>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2545361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052514"/>
            <a:ext cx="8543925" cy="2852737"/>
          </a:xfrm>
        </p:spPr>
        <p:txBody>
          <a:bodyPr anchor="b"/>
          <a:lstStyle>
            <a:lvl1pPr algn="ctr">
              <a:lnSpc>
                <a:spcPct val="100000"/>
              </a:lnSpc>
              <a:defRPr sz="4875">
                <a:solidFill>
                  <a:srgbClr val="FFFFFF"/>
                </a:solidFill>
              </a:defRPr>
            </a:lvl1pPr>
          </a:lstStyle>
          <a:p>
            <a:r>
              <a:rPr lang="en-US"/>
              <a:t>Click to edit Master title style</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3658298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47BA"/>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55917" y="891158"/>
            <a:ext cx="1924556" cy="518220"/>
          </a:xfrm>
          <a:prstGeom prst="rect">
            <a:avLst/>
          </a:prstGeom>
        </p:spPr>
      </p:pic>
      <p:sp>
        <p:nvSpPr>
          <p:cNvPr id="4" name="TextBox 3">
            <a:extLst>
              <a:ext uri="{FF2B5EF4-FFF2-40B4-BE49-F238E27FC236}">
                <a16:creationId xmlns:a16="http://schemas.microsoft.com/office/drawing/2014/main" id="{AFAD5768-C7B0-4ABF-BE83-522BCD1F6FE5}"/>
              </a:ext>
            </a:extLst>
          </p:cNvPr>
          <p:cNvSpPr txBox="1"/>
          <p:nvPr userDrawn="1"/>
        </p:nvSpPr>
        <p:spPr>
          <a:xfrm>
            <a:off x="611386" y="2711687"/>
            <a:ext cx="8652272" cy="1437958"/>
          </a:xfrm>
          <a:prstGeom prst="rect">
            <a:avLst/>
          </a:prstGeom>
          <a:noFill/>
        </p:spPr>
        <p:txBody>
          <a:bodyPr wrap="square" lIns="0" tIns="0" rIns="0" bIns="0" rtlCol="0" anchor="ctr" anchorCtr="0">
            <a:spAutoFit/>
          </a:bodyPr>
          <a:lstStyle/>
          <a:p>
            <a:pPr algn="ctr"/>
            <a:r>
              <a:rPr lang="en-US" sz="9344" b="1" spc="-81" baseline="0" noProof="0" dirty="0">
                <a:solidFill>
                  <a:srgbClr val="FFFFFF"/>
                </a:solidFill>
                <a:latin typeface="+mj-lt"/>
              </a:rPr>
              <a:t>Thank You</a:t>
            </a:r>
          </a:p>
        </p:txBody>
      </p:sp>
      <p:sp>
        <p:nvSpPr>
          <p:cNvPr id="13" name="TextBox 12">
            <a:extLst>
              <a:ext uri="{FF2B5EF4-FFF2-40B4-BE49-F238E27FC236}">
                <a16:creationId xmlns:a16="http://schemas.microsoft.com/office/drawing/2014/main" id="{A94333D0-73BA-48D2-AA6E-3F2C63C9CA8F}"/>
              </a:ext>
            </a:extLst>
          </p:cNvPr>
          <p:cNvSpPr txBox="1"/>
          <p:nvPr userDrawn="1"/>
        </p:nvSpPr>
        <p:spPr>
          <a:xfrm>
            <a:off x="4210051" y="6146801"/>
            <a:ext cx="1493638" cy="244475"/>
          </a:xfrm>
          <a:prstGeom prst="rect">
            <a:avLst/>
          </a:prstGeom>
          <a:noFill/>
        </p:spPr>
        <p:txBody>
          <a:bodyPr wrap="square" lIns="0" tIns="0" rIns="0" bIns="0" rtlCol="0" anchor="ctr" anchorCtr="0">
            <a:noAutofit/>
          </a:bodyPr>
          <a:lstStyle/>
          <a:p>
            <a:pPr algn="ctr"/>
            <a:r>
              <a:rPr lang="en-US" sz="1016" b="1" noProof="0" dirty="0">
                <a:solidFill>
                  <a:srgbClr val="FFFFFF"/>
                </a:solidFill>
              </a:rPr>
              <a:t>ku.ac.ae</a:t>
            </a:r>
          </a:p>
        </p:txBody>
      </p:sp>
    </p:spTree>
    <p:extLst>
      <p:ext uri="{BB962C8B-B14F-4D97-AF65-F5344CB8AC3E}">
        <p14:creationId xmlns:p14="http://schemas.microsoft.com/office/powerpoint/2010/main" val="241956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564FE-F745-443F-8321-B0EFD169FAC6}"/>
              </a:ext>
            </a:extLst>
          </p:cNvPr>
          <p:cNvSpPr>
            <a:spLocks noGrp="1"/>
          </p:cNvSpPr>
          <p:nvPr>
            <p:ph type="title"/>
          </p:nvPr>
        </p:nvSpPr>
        <p:spPr>
          <a:xfrm>
            <a:off x="922796" y="542925"/>
            <a:ext cx="8286851" cy="824148"/>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911581-2B37-40B3-825A-043921DFB80C}"/>
              </a:ext>
            </a:extLst>
          </p:cNvPr>
          <p:cNvSpPr>
            <a:spLocks noGrp="1"/>
          </p:cNvSpPr>
          <p:nvPr>
            <p:ph type="body" idx="1"/>
          </p:nvPr>
        </p:nvSpPr>
        <p:spPr>
          <a:xfrm>
            <a:off x="902873" y="1530037"/>
            <a:ext cx="8321486" cy="483936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172D0-FD25-45C4-A82E-F4094DCDE0CC}"/>
              </a:ext>
            </a:extLst>
          </p:cNvPr>
          <p:cNvSpPr>
            <a:spLocks noGrp="1"/>
          </p:cNvSpPr>
          <p:nvPr>
            <p:ph type="dt" sz="half" idx="2"/>
          </p:nvPr>
        </p:nvSpPr>
        <p:spPr>
          <a:xfrm>
            <a:off x="6570464" y="203201"/>
            <a:ext cx="1408509" cy="244475"/>
          </a:xfrm>
          <a:prstGeom prst="rect">
            <a:avLst/>
          </a:prstGeom>
        </p:spPr>
        <p:txBody>
          <a:bodyPr vert="horz" lIns="0" tIns="0" rIns="0" bIns="0" rtlCol="0" anchor="ctr"/>
          <a:lstStyle>
            <a:lvl1pPr algn="r">
              <a:defRPr sz="691">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F5B18871-7BC3-4A13-9CC9-B9A1DB22F262}"/>
              </a:ext>
            </a:extLst>
          </p:cNvPr>
          <p:cNvSpPr>
            <a:spLocks noGrp="1"/>
          </p:cNvSpPr>
          <p:nvPr>
            <p:ph type="ftr" sz="quarter" idx="3"/>
          </p:nvPr>
        </p:nvSpPr>
        <p:spPr>
          <a:xfrm>
            <a:off x="2329458" y="203201"/>
            <a:ext cx="3343275" cy="244475"/>
          </a:xfrm>
          <a:prstGeom prst="rect">
            <a:avLst/>
          </a:prstGeom>
        </p:spPr>
        <p:txBody>
          <a:bodyPr vert="horz" lIns="0" tIns="0" rIns="0" bIns="0" rtlCol="0" anchor="ctr"/>
          <a:lstStyle>
            <a:lvl1pPr algn="ctr">
              <a:defRPr sz="691">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A7EA17DA-0D3F-410F-A9AA-3171ED151327}"/>
              </a:ext>
            </a:extLst>
          </p:cNvPr>
          <p:cNvSpPr>
            <a:spLocks noGrp="1"/>
          </p:cNvSpPr>
          <p:nvPr>
            <p:ph type="sldNum" sz="quarter" idx="4"/>
          </p:nvPr>
        </p:nvSpPr>
        <p:spPr>
          <a:xfrm>
            <a:off x="9395222" y="203201"/>
            <a:ext cx="425648" cy="244475"/>
          </a:xfrm>
          <a:prstGeom prst="rect">
            <a:avLst/>
          </a:prstGeom>
        </p:spPr>
        <p:txBody>
          <a:bodyPr vert="horz" lIns="0" tIns="0" rIns="0" bIns="0" rtlCol="0" anchor="ctr"/>
          <a:lstStyle>
            <a:lvl1pPr algn="ctr">
              <a:defRPr sz="691">
                <a:solidFill>
                  <a:srgbClr val="000000"/>
                </a:solidFill>
              </a:defRPr>
            </a:lvl1pPr>
          </a:lstStyle>
          <a:p>
            <a:fld id="{1E68DD1B-5CD8-424B-8173-19E182143E0A}" type="slidenum">
              <a:rPr lang="en-US" smtClean="0"/>
              <a:pPr/>
              <a:t>‹#›</a:t>
            </a:fld>
            <a:endParaRPr lang="en-US"/>
          </a:p>
        </p:txBody>
      </p:sp>
      <p:sp>
        <p:nvSpPr>
          <p:cNvPr id="13" name="TextBox 12">
            <a:extLst>
              <a:ext uri="{FF2B5EF4-FFF2-40B4-BE49-F238E27FC236}">
                <a16:creationId xmlns:a16="http://schemas.microsoft.com/office/drawing/2014/main" id="{AC18493A-1FC9-483C-BC41-405831F9D96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8" name="Picture 7">
            <a:extLst>
              <a:ext uri="{FF2B5EF4-FFF2-40B4-BE49-F238E27FC236}">
                <a16:creationId xmlns:a16="http://schemas.microsoft.com/office/drawing/2014/main" id="{85F31A79-8F5C-4459-9F47-4F4A56020D63}"/>
              </a:ext>
            </a:extLst>
          </p:cNvPr>
          <p:cNvPicPr>
            <a:picLocks noChangeAspect="1"/>
          </p:cNvPicPr>
          <p:nvPr userDrawn="1"/>
        </p:nvPicPr>
        <p:blipFill>
          <a:blip r:embed="rId19"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Tree>
    <p:extLst>
      <p:ext uri="{BB962C8B-B14F-4D97-AF65-F5344CB8AC3E}">
        <p14:creationId xmlns:p14="http://schemas.microsoft.com/office/powerpoint/2010/main" val="1107456480"/>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50" r:id="rId4"/>
    <p:sldLayoutId id="2147483662" r:id="rId5"/>
    <p:sldLayoutId id="2147483652" r:id="rId6"/>
    <p:sldLayoutId id="2147483661" r:id="rId7"/>
    <p:sldLayoutId id="2147483663" r:id="rId8"/>
    <p:sldLayoutId id="2147483660" r:id="rId9"/>
    <p:sldLayoutId id="2147483664" r:id="rId10"/>
    <p:sldLayoutId id="2147483665" r:id="rId11"/>
    <p:sldLayoutId id="2147483654" r:id="rId12"/>
    <p:sldLayoutId id="2147483671" r:id="rId13"/>
    <p:sldLayoutId id="2147483655" r:id="rId14"/>
    <p:sldLayoutId id="2147483651" r:id="rId15"/>
    <p:sldLayoutId id="2147483666" r:id="rId16"/>
    <p:sldLayoutId id="2147483667" r:id="rId17"/>
  </p:sldLayoutIdLst>
  <p:hf hdr="0"/>
  <p:txStyles>
    <p:titleStyle>
      <a:lvl1pPr algn="l" defTabSz="742950" rtl="0" eaLnBrk="1" latinLnBrk="0" hangingPunct="1">
        <a:lnSpc>
          <a:spcPct val="100000"/>
        </a:lnSpc>
        <a:spcBef>
          <a:spcPct val="0"/>
        </a:spcBef>
        <a:buNone/>
        <a:defRPr sz="2925" b="1" kern="1200" spc="41" baseline="0">
          <a:solidFill>
            <a:schemeClr val="tx2"/>
          </a:solidFill>
          <a:latin typeface="+mj-lt"/>
          <a:ea typeface="+mj-ea"/>
          <a:cs typeface="+mj-cs"/>
        </a:defRPr>
      </a:lvl1pPr>
    </p:titleStyle>
    <p:bodyStyle>
      <a:lvl1pPr marL="147042" indent="-147042" algn="l" defTabSz="742950" rtl="0" eaLnBrk="1" latinLnBrk="0" hangingPunct="1">
        <a:lnSpc>
          <a:spcPct val="100000"/>
        </a:lnSpc>
        <a:spcBef>
          <a:spcPts val="325"/>
        </a:spcBef>
        <a:buFont typeface="Arial" panose="020B0604020202020204" pitchFamily="34" charset="0"/>
        <a:buChar char="•"/>
        <a:defRPr sz="1503" b="1" kern="1200">
          <a:solidFill>
            <a:schemeClr val="tx1"/>
          </a:solidFill>
          <a:latin typeface="+mn-lt"/>
          <a:ea typeface="+mn-ea"/>
          <a:cs typeface="+mn-cs"/>
        </a:defRPr>
      </a:lvl1pPr>
      <a:lvl2pPr marL="441127" indent="-147042" algn="l" defTabSz="742950" rtl="0" eaLnBrk="1" latinLnBrk="0" hangingPunct="1">
        <a:lnSpc>
          <a:spcPct val="100000"/>
        </a:lnSpc>
        <a:spcBef>
          <a:spcPts val="325"/>
        </a:spcBef>
        <a:buFont typeface="Arial" panose="020B0604020202020204" pitchFamily="34" charset="0"/>
        <a:buChar char="•"/>
        <a:defRPr sz="1503" kern="1200">
          <a:solidFill>
            <a:schemeClr val="tx1"/>
          </a:solidFill>
          <a:latin typeface="+mn-lt"/>
          <a:ea typeface="+mn-ea"/>
          <a:cs typeface="+mn-cs"/>
        </a:defRPr>
      </a:lvl2pPr>
      <a:lvl3pPr marL="580430" indent="-139303"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3pPr>
      <a:lvl4pPr marL="727472"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4pPr>
      <a:lvl5pPr marL="874514"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vmlDrawing" Target="../drawings/vmlDrawing1.vml"/><Relationship Id="rId5" Type="http://schemas.openxmlformats.org/officeDocument/2006/relationships/image" Target="../media/image10.emf"/><Relationship Id="rId4" Type="http://schemas.openxmlformats.org/officeDocument/2006/relationships/package" Target="../embeddings/Microsoft_Excel_Worksheet.xlsx"/></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vmlDrawing" Target="../drawings/vmlDrawing2.vml"/><Relationship Id="rId5" Type="http://schemas.openxmlformats.org/officeDocument/2006/relationships/image" Target="../media/image12.emf"/><Relationship Id="rId4" Type="http://schemas.openxmlformats.org/officeDocument/2006/relationships/package" Target="../embeddings/Microsoft_Excel_Worksheet1.xls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a:spLocks noGrp="1"/>
          </p:cNvSpPr>
          <p:nvPr>
            <p:ph type="ctrTitle"/>
          </p:nvPr>
        </p:nvSpPr>
        <p:spPr>
          <a:xfrm>
            <a:off x="669535" y="2271472"/>
            <a:ext cx="7240504" cy="1393031"/>
          </a:xfrm>
        </p:spPr>
        <p:txBody>
          <a:bodyPr>
            <a:normAutofit fontScale="90000"/>
          </a:bodyPr>
          <a:lstStyle/>
          <a:p>
            <a:pPr algn="l"/>
            <a:r>
              <a:rPr lang="en-US" noProof="0" dirty="0"/>
              <a:t>Research Computing Update</a:t>
            </a:r>
          </a:p>
        </p:txBody>
      </p:sp>
      <p:sp>
        <p:nvSpPr>
          <p:cNvPr id="3" name="Subtitle 2">
            <a:extLst>
              <a:ext uri="{FF2B5EF4-FFF2-40B4-BE49-F238E27FC236}">
                <a16:creationId xmlns:a16="http://schemas.microsoft.com/office/drawing/2014/main" id="{C0FC7021-FB77-4D35-AE1D-A857D1A422CD}"/>
              </a:ext>
            </a:extLst>
          </p:cNvPr>
          <p:cNvSpPr>
            <a:spLocks noGrp="1"/>
          </p:cNvSpPr>
          <p:nvPr>
            <p:ph type="subTitle" idx="1"/>
          </p:nvPr>
        </p:nvSpPr>
        <p:spPr>
          <a:xfrm>
            <a:off x="669535" y="3695460"/>
            <a:ext cx="7240504" cy="1013817"/>
          </a:xfrm>
        </p:spPr>
        <p:txBody>
          <a:bodyPr/>
          <a:lstStyle/>
          <a:p>
            <a:pPr algn="l"/>
            <a:r>
              <a:rPr lang="en-US" dirty="0"/>
              <a:t>April</a:t>
            </a:r>
            <a:r>
              <a:rPr lang="en-US" noProof="0" dirty="0"/>
              <a:t> 2021</a:t>
            </a:r>
          </a:p>
        </p:txBody>
      </p:sp>
      <p:sp>
        <p:nvSpPr>
          <p:cNvPr id="4" name="Text Placeholder 3">
            <a:extLst>
              <a:ext uri="{FF2B5EF4-FFF2-40B4-BE49-F238E27FC236}">
                <a16:creationId xmlns:a16="http://schemas.microsoft.com/office/drawing/2014/main" id="{4D96F05C-E8E5-40A0-96E2-70DA59031E10}"/>
              </a:ext>
            </a:extLst>
          </p:cNvPr>
          <p:cNvSpPr>
            <a:spLocks noGrp="1"/>
          </p:cNvSpPr>
          <p:nvPr>
            <p:ph type="body" sz="quarter" idx="10"/>
          </p:nvPr>
        </p:nvSpPr>
        <p:spPr>
          <a:xfrm>
            <a:off x="669535" y="5103968"/>
            <a:ext cx="5468259" cy="255389"/>
          </a:xfrm>
        </p:spPr>
        <p:txBody>
          <a:bodyPr/>
          <a:lstStyle/>
          <a:p>
            <a:pPr algn="l"/>
            <a:endParaRPr lang="en-US" noProof="0" dirty="0"/>
          </a:p>
        </p:txBody>
      </p:sp>
    </p:spTree>
    <p:extLst>
      <p:ext uri="{BB962C8B-B14F-4D97-AF65-F5344CB8AC3E}">
        <p14:creationId xmlns:p14="http://schemas.microsoft.com/office/powerpoint/2010/main" val="319863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871952"/>
            <a:ext cx="3397449" cy="609876"/>
          </a:xfrm>
        </p:spPr>
        <p:txBody>
          <a:bodyPr>
            <a:normAutofit/>
          </a:bodyPr>
          <a:lstStyle/>
          <a:p>
            <a:r>
              <a:rPr lang="en-US" noProof="0" dirty="0"/>
              <a:t>HPC Resources</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a:bodyPr>
          <a:lstStyle/>
          <a:p>
            <a:r>
              <a:rPr lang="en-US" sz="2400" dirty="0"/>
              <a:t>New HPC Procurement via ANKABUT</a:t>
            </a:r>
          </a:p>
          <a:p>
            <a:pPr lvl="1"/>
            <a:r>
              <a:rPr lang="en-US" sz="2400" dirty="0"/>
              <a:t>Continued delays to launch due to missing identity management system at KU. A way forward has been agreed and expect launch late June</a:t>
            </a:r>
          </a:p>
          <a:p>
            <a:r>
              <a:rPr lang="en-US" sz="2400" dirty="0"/>
              <a:t>Masdar </a:t>
            </a:r>
            <a:r>
              <a:rPr lang="en-US" sz="2400" dirty="0" err="1"/>
              <a:t>Datacentre</a:t>
            </a:r>
            <a:r>
              <a:rPr lang="en-US" sz="2400" dirty="0"/>
              <a:t> resources HPC Cluster</a:t>
            </a:r>
          </a:p>
          <a:p>
            <a:pPr lvl="1"/>
            <a:r>
              <a:rPr lang="en-US" sz="2400" dirty="0"/>
              <a:t>Big push to vacate Masdar </a:t>
            </a:r>
            <a:r>
              <a:rPr lang="en-US" sz="2400" dirty="0" err="1"/>
              <a:t>Datacentre</a:t>
            </a:r>
            <a:r>
              <a:rPr lang="en-US" sz="2400" dirty="0"/>
              <a:t>, though no solid date given.</a:t>
            </a:r>
          </a:p>
          <a:p>
            <a:pPr lvl="1"/>
            <a:r>
              <a:rPr lang="en-US" sz="2400" dirty="0"/>
              <a:t>Working with IT/</a:t>
            </a:r>
            <a:r>
              <a:rPr lang="en-US" sz="2400" dirty="0" err="1"/>
              <a:t>Ankabut</a:t>
            </a:r>
            <a:r>
              <a:rPr lang="en-US" sz="2400" dirty="0"/>
              <a:t> to vacate as soon as possible</a:t>
            </a:r>
          </a:p>
          <a:p>
            <a:r>
              <a:rPr lang="en-US" sz="2400" dirty="0"/>
              <a:t>SAN HPC Cluster</a:t>
            </a:r>
          </a:p>
          <a:p>
            <a:pPr lvl="1"/>
            <a:r>
              <a:rPr lang="en-US" sz="2400" dirty="0"/>
              <a:t>Quote for the decommissioning of hardware with ADNOC now, awaiting their decision. No update from ADNOC.</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2</a:t>
            </a:fld>
            <a:endParaRPr lang="en-US"/>
          </a:p>
        </p:txBody>
      </p:sp>
    </p:spTree>
    <p:extLst>
      <p:ext uri="{BB962C8B-B14F-4D97-AF65-F5344CB8AC3E}">
        <p14:creationId xmlns:p14="http://schemas.microsoft.com/office/powerpoint/2010/main" val="537252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871952"/>
            <a:ext cx="6598332" cy="609876"/>
          </a:xfrm>
        </p:spPr>
        <p:txBody>
          <a:bodyPr>
            <a:normAutofit fontScale="90000"/>
          </a:bodyPr>
          <a:lstStyle/>
          <a:p>
            <a:r>
              <a:rPr lang="en-US" noProof="0" dirty="0"/>
              <a:t>Research Computing Committee (RCC)</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a:bodyPr>
          <a:lstStyle/>
          <a:p>
            <a:r>
              <a:rPr lang="en-US" sz="2400" dirty="0"/>
              <a:t>Held RCC meeting late April</a:t>
            </a:r>
          </a:p>
          <a:p>
            <a:pPr lvl="1"/>
            <a:r>
              <a:rPr lang="en-US" sz="2400" dirty="0"/>
              <a:t>Presented draft strategy and invited feedback and comments.</a:t>
            </a:r>
          </a:p>
          <a:p>
            <a:pPr lvl="1"/>
            <a:r>
              <a:rPr lang="en-US" sz="2400" dirty="0"/>
              <a:t>Presented proposed processes for creating accounts on new HPC, and received endorsement and feedback</a:t>
            </a:r>
          </a:p>
          <a:p>
            <a:pPr lvl="1"/>
            <a:r>
              <a:rPr lang="en-US" sz="2400" dirty="0"/>
              <a:t>Agreed that time on HPC will be accounted to individual Research Projects.</a:t>
            </a:r>
          </a:p>
          <a:p>
            <a:pPr lvl="1"/>
            <a:r>
              <a:rPr lang="en-US" sz="2400" dirty="0"/>
              <a:t>Was informed that Ovidiu </a:t>
            </a:r>
            <a:r>
              <a:rPr lang="en-US" sz="2400" dirty="0" err="1"/>
              <a:t>Baltatu</a:t>
            </a:r>
            <a:r>
              <a:rPr lang="en-US" sz="2400" dirty="0"/>
              <a:t> from the medical school will be leaving KU. Need to get new nomination from Dean of CMHS in due course.</a:t>
            </a:r>
          </a:p>
          <a:p>
            <a:pPr lvl="1"/>
            <a:r>
              <a:rPr lang="en-US" sz="2400" dirty="0"/>
              <a:t>Presentation and minutes will be uploaded to shared drive shortly</a:t>
            </a:r>
          </a:p>
          <a:p>
            <a:pPr lvl="1"/>
            <a:r>
              <a:rPr lang="en-US" sz="2400" dirty="0"/>
              <a:t>Next meeting to be scheduled in early June.</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3</a:t>
            </a:fld>
            <a:endParaRPr lang="en-US"/>
          </a:p>
        </p:txBody>
      </p:sp>
    </p:spTree>
    <p:extLst>
      <p:ext uri="{BB962C8B-B14F-4D97-AF65-F5344CB8AC3E}">
        <p14:creationId xmlns:p14="http://schemas.microsoft.com/office/powerpoint/2010/main" val="3785833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AF31104-3D8A-0B44-9CC2-F61A30B4AF0B}"/>
              </a:ext>
            </a:extLst>
          </p:cNvPr>
          <p:cNvSpPr>
            <a:spLocks noGrp="1"/>
          </p:cNvSpPr>
          <p:nvPr>
            <p:ph type="title"/>
          </p:nvPr>
        </p:nvSpPr>
        <p:spPr/>
        <p:txBody>
          <a:bodyPr/>
          <a:lstStyle/>
          <a:p>
            <a:r>
              <a:rPr lang="en-US" dirty="0"/>
              <a:t>Resource Utilization</a:t>
            </a:r>
          </a:p>
        </p:txBody>
      </p:sp>
      <p:sp>
        <p:nvSpPr>
          <p:cNvPr id="4" name="Date Placeholder 3">
            <a:extLst>
              <a:ext uri="{FF2B5EF4-FFF2-40B4-BE49-F238E27FC236}">
                <a16:creationId xmlns:a16="http://schemas.microsoft.com/office/drawing/2014/main" id="{A69D9926-E230-B042-AAAC-E240A106E2A2}"/>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F378F346-C148-3D45-B589-43294848291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1340B75F-FBEC-2A43-82EA-CF34228987A8}"/>
              </a:ext>
            </a:extLst>
          </p:cNvPr>
          <p:cNvSpPr>
            <a:spLocks noGrp="1"/>
          </p:cNvSpPr>
          <p:nvPr>
            <p:ph type="sldNum" sz="quarter" idx="12"/>
          </p:nvPr>
        </p:nvSpPr>
        <p:spPr/>
        <p:txBody>
          <a:bodyPr/>
          <a:lstStyle/>
          <a:p>
            <a:fld id="{1E68DD1B-5CD8-424B-8173-19E182143E0A}" type="slidenum">
              <a:rPr lang="en-US" smtClean="0"/>
              <a:t>4</a:t>
            </a:fld>
            <a:endParaRPr lang="en-US"/>
          </a:p>
        </p:txBody>
      </p:sp>
    </p:spTree>
    <p:extLst>
      <p:ext uri="{BB962C8B-B14F-4D97-AF65-F5344CB8AC3E}">
        <p14:creationId xmlns:p14="http://schemas.microsoft.com/office/powerpoint/2010/main" val="2679952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C2B18CD-314B-E342-B3B4-7614009BEBC5}"/>
              </a:ext>
            </a:extLst>
          </p:cNvPr>
          <p:cNvSpPr>
            <a:spLocks noGrp="1"/>
          </p:cNvSpPr>
          <p:nvPr>
            <p:ph type="title"/>
          </p:nvPr>
        </p:nvSpPr>
        <p:spPr/>
        <p:txBody>
          <a:bodyPr/>
          <a:lstStyle/>
          <a:p>
            <a:r>
              <a:rPr lang="en-US" dirty="0"/>
              <a:t>KU Cluster core distribution</a:t>
            </a:r>
          </a:p>
        </p:txBody>
      </p:sp>
      <p:sp>
        <p:nvSpPr>
          <p:cNvPr id="6" name="Slide Number Placeholder 5">
            <a:extLst>
              <a:ext uri="{FF2B5EF4-FFF2-40B4-BE49-F238E27FC236}">
                <a16:creationId xmlns:a16="http://schemas.microsoft.com/office/drawing/2014/main" id="{FC26E497-6E76-9A43-9B29-13DEE3536AD1}"/>
              </a:ext>
            </a:extLst>
          </p:cNvPr>
          <p:cNvSpPr>
            <a:spLocks noGrp="1"/>
          </p:cNvSpPr>
          <p:nvPr>
            <p:ph type="sldNum" sz="quarter" idx="12"/>
          </p:nvPr>
        </p:nvSpPr>
        <p:spPr/>
        <p:txBody>
          <a:bodyPr/>
          <a:lstStyle/>
          <a:p>
            <a:fld id="{1E68DD1B-5CD8-424B-8173-19E182143E0A}" type="slidenum">
              <a:rPr lang="en-US" smtClean="0"/>
              <a:t>5</a:t>
            </a:fld>
            <a:endParaRPr lang="en-US"/>
          </a:p>
        </p:txBody>
      </p:sp>
      <p:graphicFrame>
        <p:nvGraphicFramePr>
          <p:cNvPr id="10" name="Content Placeholder 9">
            <a:extLst>
              <a:ext uri="{FF2B5EF4-FFF2-40B4-BE49-F238E27FC236}">
                <a16:creationId xmlns:a16="http://schemas.microsoft.com/office/drawing/2014/main" id="{F7222D7C-BAC1-C443-B54C-AF8CEA06189B}"/>
              </a:ext>
            </a:extLst>
          </p:cNvPr>
          <p:cNvGraphicFramePr>
            <a:graphicFrameLocks noGrp="1"/>
          </p:cNvGraphicFramePr>
          <p:nvPr>
            <p:ph idx="1"/>
          </p:nvPr>
        </p:nvGraphicFramePr>
        <p:xfrm>
          <a:off x="760413" y="1503363"/>
          <a:ext cx="8521700" cy="481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8154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6</a:t>
            </a:fld>
            <a:endParaRPr lang="en-US"/>
          </a:p>
        </p:txBody>
      </p:sp>
      <p:pic>
        <p:nvPicPr>
          <p:cNvPr id="3" name="Picture 2" descr="Chart, bar chart&#10;&#10;Description automatically generated">
            <a:extLst>
              <a:ext uri="{FF2B5EF4-FFF2-40B4-BE49-F238E27FC236}">
                <a16:creationId xmlns:a16="http://schemas.microsoft.com/office/drawing/2014/main" id="{B0FD1C6D-0C5F-624C-8376-D3DBACCE7B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0" y="928914"/>
            <a:ext cx="9776379" cy="4945197"/>
          </a:xfrm>
          <a:prstGeom prst="rect">
            <a:avLst/>
          </a:prstGeom>
        </p:spPr>
      </p:pic>
    </p:spTree>
    <p:extLst>
      <p:ext uri="{BB962C8B-B14F-4D97-AF65-F5344CB8AC3E}">
        <p14:creationId xmlns:p14="http://schemas.microsoft.com/office/powerpoint/2010/main" val="2637941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7</a:t>
            </a:fld>
            <a:endParaRPr lang="en-US"/>
          </a:p>
        </p:txBody>
      </p:sp>
      <p:pic>
        <p:nvPicPr>
          <p:cNvPr id="7" name="Picture 6" descr="Chart, bar chart&#10;&#10;Description automatically generated">
            <a:extLst>
              <a:ext uri="{FF2B5EF4-FFF2-40B4-BE49-F238E27FC236}">
                <a16:creationId xmlns:a16="http://schemas.microsoft.com/office/drawing/2014/main" id="{2FCE2F31-DF20-6848-908C-34AB81287F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35423"/>
            <a:ext cx="9906000" cy="4587153"/>
          </a:xfrm>
          <a:prstGeom prst="rect">
            <a:avLst/>
          </a:prstGeom>
        </p:spPr>
      </p:pic>
    </p:spTree>
    <p:extLst>
      <p:ext uri="{BB962C8B-B14F-4D97-AF65-F5344CB8AC3E}">
        <p14:creationId xmlns:p14="http://schemas.microsoft.com/office/powerpoint/2010/main" val="1999662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8</a:t>
            </a:fld>
            <a:endParaRPr lang="en-US"/>
          </a:p>
        </p:txBody>
      </p:sp>
      <p:pic>
        <p:nvPicPr>
          <p:cNvPr id="3" name="Picture 2" descr="Chart, bar chart&#10;&#10;Description automatically generated">
            <a:extLst>
              <a:ext uri="{FF2B5EF4-FFF2-40B4-BE49-F238E27FC236}">
                <a16:creationId xmlns:a16="http://schemas.microsoft.com/office/drawing/2014/main" id="{50BE92FE-EDBB-124F-82AE-1A01772DE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88571"/>
            <a:ext cx="9906000" cy="4680857"/>
          </a:xfrm>
          <a:prstGeom prst="rect">
            <a:avLst/>
          </a:prstGeom>
        </p:spPr>
      </p:pic>
    </p:spTree>
    <p:extLst>
      <p:ext uri="{BB962C8B-B14F-4D97-AF65-F5344CB8AC3E}">
        <p14:creationId xmlns:p14="http://schemas.microsoft.com/office/powerpoint/2010/main" val="4139098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381500-920A-9240-8423-D6601A796116}"/>
              </a:ext>
            </a:extLst>
          </p:cNvPr>
          <p:cNvSpPr>
            <a:spLocks noGrp="1"/>
          </p:cNvSpPr>
          <p:nvPr>
            <p:ph type="sldNum" sz="quarter" idx="12"/>
          </p:nvPr>
        </p:nvSpPr>
        <p:spPr/>
        <p:txBody>
          <a:bodyPr/>
          <a:lstStyle/>
          <a:p>
            <a:fld id="{1E68DD1B-5CD8-424B-8173-19E182143E0A}" type="slidenum">
              <a:rPr lang="en-US" smtClean="0"/>
              <a:t>9</a:t>
            </a:fld>
            <a:endParaRPr lang="en-US"/>
          </a:p>
        </p:txBody>
      </p:sp>
      <p:sp>
        <p:nvSpPr>
          <p:cNvPr id="6" name="TextBox 5">
            <a:extLst>
              <a:ext uri="{FF2B5EF4-FFF2-40B4-BE49-F238E27FC236}">
                <a16:creationId xmlns:a16="http://schemas.microsoft.com/office/drawing/2014/main" id="{D095D356-119E-BF46-9F72-A9AC75C905C0}"/>
              </a:ext>
            </a:extLst>
          </p:cNvPr>
          <p:cNvSpPr txBox="1"/>
          <p:nvPr/>
        </p:nvSpPr>
        <p:spPr>
          <a:xfrm>
            <a:off x="763458" y="540341"/>
            <a:ext cx="8705007" cy="715581"/>
          </a:xfrm>
          <a:prstGeom prst="rect">
            <a:avLst/>
          </a:prstGeom>
          <a:noFill/>
        </p:spPr>
        <p:txBody>
          <a:bodyPr wrap="square" lIns="0" tIns="0" rIns="0" bIns="0" rtlCol="0">
            <a:spAutoFit/>
          </a:bodyPr>
          <a:lstStyle/>
          <a:p>
            <a:pPr algn="l"/>
            <a:r>
              <a:rPr lang="en-US" sz="1850" dirty="0"/>
              <a:t>KU HPC  Group Utilization for April 2021.</a:t>
            </a:r>
          </a:p>
          <a:p>
            <a:pPr marL="742950" lvl="1" indent="-285750">
              <a:buFont typeface="Arial" panose="020B0604020202020204" pitchFamily="34" charset="0"/>
              <a:buChar char="•"/>
            </a:pPr>
            <a:r>
              <a:rPr lang="en-US" sz="1400" dirty="0"/>
              <a:t>Groups were created under PI names, some of which have left KU, though the group remains. There is no link directly between HPC accounts and HR data. That is being worked on for the new cluster.</a:t>
            </a:r>
          </a:p>
        </p:txBody>
      </p:sp>
      <p:graphicFrame>
        <p:nvGraphicFramePr>
          <p:cNvPr id="5" name="Object 4">
            <a:extLst>
              <a:ext uri="{FF2B5EF4-FFF2-40B4-BE49-F238E27FC236}">
                <a16:creationId xmlns:a16="http://schemas.microsoft.com/office/drawing/2014/main" id="{A7009C6D-EDA0-1643-AD18-8205585EBCC4}"/>
              </a:ext>
            </a:extLst>
          </p:cNvPr>
          <p:cNvGraphicFramePr>
            <a:graphicFrameLocks noChangeAspect="1"/>
          </p:cNvGraphicFramePr>
          <p:nvPr>
            <p:extLst>
              <p:ext uri="{D42A27DB-BD31-4B8C-83A1-F6EECF244321}">
                <p14:modId xmlns:p14="http://schemas.microsoft.com/office/powerpoint/2010/main" val="2376350797"/>
              </p:ext>
            </p:extLst>
          </p:nvPr>
        </p:nvGraphicFramePr>
        <p:xfrm>
          <a:off x="1633310" y="1255922"/>
          <a:ext cx="6000750" cy="4402137"/>
        </p:xfrm>
        <a:graphic>
          <a:graphicData uri="http://schemas.openxmlformats.org/presentationml/2006/ole">
            <mc:AlternateContent xmlns:mc="http://schemas.openxmlformats.org/markup-compatibility/2006">
              <mc:Choice xmlns:v="urn:schemas-microsoft-com:vml" Requires="v">
                <p:oleObj spid="_x0000_s1098" name="Worksheet" r:id="rId4" imgW="9626600" imgH="7061200" progId="Excel.Sheet.12">
                  <p:embed/>
                </p:oleObj>
              </mc:Choice>
              <mc:Fallback>
                <p:oleObj name="Worksheet" r:id="rId4" imgW="9626600" imgH="7061200" progId="Excel.Sheet.12">
                  <p:embed/>
                  <p:pic>
                    <p:nvPicPr>
                      <p:cNvPr id="0" name=""/>
                      <p:cNvPicPr/>
                      <p:nvPr/>
                    </p:nvPicPr>
                    <p:blipFill>
                      <a:blip r:embed="rId5"/>
                      <a:stretch>
                        <a:fillRect/>
                      </a:stretch>
                    </p:blipFill>
                    <p:spPr>
                      <a:xfrm>
                        <a:off x="1633310" y="1255922"/>
                        <a:ext cx="6000750" cy="4402137"/>
                      </a:xfrm>
                      <a:prstGeom prst="rect">
                        <a:avLst/>
                      </a:prstGeom>
                    </p:spPr>
                  </p:pic>
                </p:oleObj>
              </mc:Fallback>
            </mc:AlternateContent>
          </a:graphicData>
        </a:graphic>
      </p:graphicFrame>
    </p:spTree>
    <p:extLst>
      <p:ext uri="{BB962C8B-B14F-4D97-AF65-F5344CB8AC3E}">
        <p14:creationId xmlns:p14="http://schemas.microsoft.com/office/powerpoint/2010/main" val="3904714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C2B18CD-314B-E342-B3B4-7614009BEBC5}"/>
              </a:ext>
            </a:extLst>
          </p:cNvPr>
          <p:cNvSpPr>
            <a:spLocks noGrp="1"/>
          </p:cNvSpPr>
          <p:nvPr>
            <p:ph type="title"/>
          </p:nvPr>
        </p:nvSpPr>
        <p:spPr/>
        <p:txBody>
          <a:bodyPr/>
          <a:lstStyle/>
          <a:p>
            <a:r>
              <a:rPr lang="en-US" dirty="0"/>
              <a:t>PI Cluster core distribution</a:t>
            </a:r>
          </a:p>
        </p:txBody>
      </p:sp>
      <p:sp>
        <p:nvSpPr>
          <p:cNvPr id="6" name="Slide Number Placeholder 5">
            <a:extLst>
              <a:ext uri="{FF2B5EF4-FFF2-40B4-BE49-F238E27FC236}">
                <a16:creationId xmlns:a16="http://schemas.microsoft.com/office/drawing/2014/main" id="{FC26E497-6E76-9A43-9B29-13DEE3536AD1}"/>
              </a:ext>
            </a:extLst>
          </p:cNvPr>
          <p:cNvSpPr>
            <a:spLocks noGrp="1"/>
          </p:cNvSpPr>
          <p:nvPr>
            <p:ph type="sldNum" sz="quarter" idx="12"/>
          </p:nvPr>
        </p:nvSpPr>
        <p:spPr/>
        <p:txBody>
          <a:bodyPr/>
          <a:lstStyle/>
          <a:p>
            <a:fld id="{1E68DD1B-5CD8-424B-8173-19E182143E0A}" type="slidenum">
              <a:rPr lang="en-US" smtClean="0"/>
              <a:t>10</a:t>
            </a:fld>
            <a:endParaRPr lang="en-US"/>
          </a:p>
        </p:txBody>
      </p:sp>
      <p:graphicFrame>
        <p:nvGraphicFramePr>
          <p:cNvPr id="7" name="Content Placeholder 6">
            <a:extLst>
              <a:ext uri="{FF2B5EF4-FFF2-40B4-BE49-F238E27FC236}">
                <a16:creationId xmlns:a16="http://schemas.microsoft.com/office/drawing/2014/main" id="{B50C76DE-7CD8-CE4D-B768-A45CAEDDBC86}"/>
              </a:ext>
            </a:extLst>
          </p:cNvPr>
          <p:cNvGraphicFramePr>
            <a:graphicFrameLocks noGrp="1"/>
          </p:cNvGraphicFramePr>
          <p:nvPr>
            <p:ph idx="1"/>
          </p:nvPr>
        </p:nvGraphicFramePr>
        <p:xfrm>
          <a:off x="760413" y="1503363"/>
          <a:ext cx="8521700" cy="481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14753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381500-920A-9240-8423-D6601A796116}"/>
              </a:ext>
            </a:extLst>
          </p:cNvPr>
          <p:cNvSpPr>
            <a:spLocks noGrp="1"/>
          </p:cNvSpPr>
          <p:nvPr>
            <p:ph type="sldNum" sz="quarter" idx="12"/>
          </p:nvPr>
        </p:nvSpPr>
        <p:spPr/>
        <p:txBody>
          <a:bodyPr/>
          <a:lstStyle/>
          <a:p>
            <a:fld id="{1E68DD1B-5CD8-424B-8173-19E182143E0A}" type="slidenum">
              <a:rPr lang="en-US" smtClean="0"/>
              <a:t>11</a:t>
            </a:fld>
            <a:endParaRPr lang="en-US" dirty="0"/>
          </a:p>
        </p:txBody>
      </p:sp>
      <p:pic>
        <p:nvPicPr>
          <p:cNvPr id="5" name="Picture 4" descr="Chart, bar chart&#10;&#10;Description automatically generated">
            <a:extLst>
              <a:ext uri="{FF2B5EF4-FFF2-40B4-BE49-F238E27FC236}">
                <a16:creationId xmlns:a16="http://schemas.microsoft.com/office/drawing/2014/main" id="{EC35483E-FE18-D847-90E2-E882B9BB91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65097"/>
            <a:ext cx="9978571" cy="4877772"/>
          </a:xfrm>
          <a:prstGeom prst="rect">
            <a:avLst/>
          </a:prstGeom>
        </p:spPr>
      </p:pic>
    </p:spTree>
    <p:extLst>
      <p:ext uri="{BB962C8B-B14F-4D97-AF65-F5344CB8AC3E}">
        <p14:creationId xmlns:p14="http://schemas.microsoft.com/office/powerpoint/2010/main" val="575675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12</a:t>
            </a:fld>
            <a:endParaRPr lang="en-US"/>
          </a:p>
        </p:txBody>
      </p:sp>
      <p:graphicFrame>
        <p:nvGraphicFramePr>
          <p:cNvPr id="10" name="Object 9">
            <a:extLst>
              <a:ext uri="{FF2B5EF4-FFF2-40B4-BE49-F238E27FC236}">
                <a16:creationId xmlns:a16="http://schemas.microsoft.com/office/drawing/2014/main" id="{5A9764EE-DC33-1C4B-BAAA-4235A24D773A}"/>
              </a:ext>
            </a:extLst>
          </p:cNvPr>
          <p:cNvGraphicFramePr>
            <a:graphicFrameLocks noChangeAspect="1"/>
          </p:cNvGraphicFramePr>
          <p:nvPr>
            <p:extLst>
              <p:ext uri="{D42A27DB-BD31-4B8C-83A1-F6EECF244321}">
                <p14:modId xmlns:p14="http://schemas.microsoft.com/office/powerpoint/2010/main" val="146262"/>
              </p:ext>
            </p:extLst>
          </p:nvPr>
        </p:nvGraphicFramePr>
        <p:xfrm>
          <a:off x="449944" y="569441"/>
          <a:ext cx="9252856" cy="6085357"/>
        </p:xfrm>
        <a:graphic>
          <a:graphicData uri="http://schemas.openxmlformats.org/presentationml/2006/ole">
            <mc:AlternateContent xmlns:mc="http://schemas.openxmlformats.org/markup-compatibility/2006">
              <mc:Choice xmlns:v="urn:schemas-microsoft-com:vml" Requires="v">
                <p:oleObj spid="_x0000_s2050" name="Worksheet" r:id="rId4" imgW="11531600" imgH="10566400" progId="Excel.Sheet.12">
                  <p:embed/>
                </p:oleObj>
              </mc:Choice>
              <mc:Fallback>
                <p:oleObj name="Worksheet" r:id="rId4" imgW="11531600" imgH="10566400" progId="Excel.Sheet.12">
                  <p:embed/>
                  <p:pic>
                    <p:nvPicPr>
                      <p:cNvPr id="0" name=""/>
                      <p:cNvPicPr/>
                      <p:nvPr/>
                    </p:nvPicPr>
                    <p:blipFill>
                      <a:blip r:embed="rId5"/>
                      <a:stretch>
                        <a:fillRect/>
                      </a:stretch>
                    </p:blipFill>
                    <p:spPr>
                      <a:xfrm>
                        <a:off x="449944" y="569441"/>
                        <a:ext cx="9252856" cy="6085357"/>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DB2C74D3-EBE6-0241-8DB0-87BF21200B4D}"/>
              </a:ext>
            </a:extLst>
          </p:cNvPr>
          <p:cNvSpPr txBox="1"/>
          <p:nvPr/>
        </p:nvSpPr>
        <p:spPr>
          <a:xfrm flipH="1">
            <a:off x="3512490" y="203201"/>
            <a:ext cx="2881020" cy="307777"/>
          </a:xfrm>
          <a:prstGeom prst="rect">
            <a:avLst/>
          </a:prstGeom>
          <a:noFill/>
        </p:spPr>
        <p:txBody>
          <a:bodyPr wrap="square" lIns="0" tIns="0" rIns="0" bIns="0" rtlCol="0">
            <a:spAutoFit/>
          </a:bodyPr>
          <a:lstStyle/>
          <a:p>
            <a:r>
              <a:rPr lang="en-US" sz="2000" dirty="0"/>
              <a:t>Status of KPI’s</a:t>
            </a:r>
            <a:endParaRPr lang="en-AE" sz="1850" dirty="0"/>
          </a:p>
        </p:txBody>
      </p:sp>
    </p:spTree>
    <p:extLst>
      <p:ext uri="{BB962C8B-B14F-4D97-AF65-F5344CB8AC3E}">
        <p14:creationId xmlns:p14="http://schemas.microsoft.com/office/powerpoint/2010/main" val="1499910277"/>
      </p:ext>
    </p:extLst>
  </p:cSld>
  <p:clrMapOvr>
    <a:masterClrMapping/>
  </p:clrMapOvr>
</p:sld>
</file>

<file path=ppt/theme/theme1.xml><?xml version="1.0" encoding="utf-8"?>
<a:theme xmlns:a="http://schemas.openxmlformats.org/drawingml/2006/main" name="KU Theme">
  <a:themeElements>
    <a:clrScheme name="KU">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03_dureid" id="{E5C0B40D-4810-4141-950B-63592BF28D0C}" vid="{E0DD810D-9114-6044-9274-3619F9170D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13298</TotalTime>
  <Words>337</Words>
  <Application>Microsoft Macintosh PowerPoint</Application>
  <PresentationFormat>A4 Paper (210x297 mm)</PresentationFormat>
  <Paragraphs>59</Paragraphs>
  <Slides>12</Slides>
  <Notes>9</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6" baseType="lpstr">
      <vt:lpstr>Arial</vt:lpstr>
      <vt:lpstr>Calibri</vt:lpstr>
      <vt:lpstr>KU Theme</vt:lpstr>
      <vt:lpstr>Microsoft Excel Worksheet</vt:lpstr>
      <vt:lpstr>Research Computing Update</vt:lpstr>
      <vt:lpstr>HPC Resources</vt:lpstr>
      <vt:lpstr>Research Computing Committee (RCC)</vt:lpstr>
      <vt:lpstr>Resource Utilization</vt:lpstr>
      <vt:lpstr>KU Cluster core distribution</vt:lpstr>
      <vt:lpstr>PowerPoint Presentation</vt:lpstr>
      <vt:lpstr>PowerPoint Presentation</vt:lpstr>
      <vt:lpstr>PowerPoint Presentation</vt:lpstr>
      <vt:lpstr>PowerPoint Presentation</vt:lpstr>
      <vt:lpstr>PI Cluster core distribution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Computing Update</dc:title>
  <dc:creator>Dureid El Moghraby</dc:creator>
  <cp:lastModifiedBy>Dureid El Moghraby</cp:lastModifiedBy>
  <cp:revision>29</cp:revision>
  <dcterms:created xsi:type="dcterms:W3CDTF">2020-11-15T07:17:18Z</dcterms:created>
  <dcterms:modified xsi:type="dcterms:W3CDTF">2021-05-25T06:48:19Z</dcterms:modified>
</cp:coreProperties>
</file>