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1" r:id="rId2"/>
    <p:sldId id="261" r:id="rId3"/>
    <p:sldId id="292" r:id="rId4"/>
    <p:sldId id="283" r:id="rId5"/>
    <p:sldId id="284" r:id="rId6"/>
    <p:sldId id="297" r:id="rId7"/>
    <p:sldId id="298" r:id="rId8"/>
    <p:sldId id="301" r:id="rId9"/>
    <p:sldId id="289" r:id="rId10"/>
    <p:sldId id="286" r:id="rId11"/>
    <p:sldId id="287" r:id="rId12"/>
    <p:sldId id="302" r:id="rId13"/>
    <p:sldId id="300" r:id="rId14"/>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47BA"/>
    <a:srgbClr val="FF014A"/>
    <a:srgbClr val="FFFFFF"/>
    <a:srgbClr val="D0CF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4" autoAdjust="0"/>
    <p:restoredTop sz="86245" autoAdjust="0"/>
  </p:normalViewPr>
  <p:slideViewPr>
    <p:cSldViewPr snapToGrid="0" showGuides="1">
      <p:cViewPr varScale="1">
        <p:scale>
          <a:sx n="121" d="100"/>
          <a:sy n="121" d="100"/>
        </p:scale>
        <p:origin x="2080" y="176"/>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2016</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MI!$D$2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EC5C-DA4F-9F1D-8A944785520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EC5C-DA4F-9F1D-8A944785520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EC5C-DA4F-9F1D-8A9447855207}"/>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EC5C-DA4F-9F1D-8A9447855207}"/>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EC5C-DA4F-9F1D-8A9447855207}"/>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EC5C-DA4F-9F1D-8A9447855207}"/>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EC5C-DA4F-9F1D-8A9447855207}"/>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EC5C-DA4F-9F1D-8A9447855207}"/>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EC5C-DA4F-9F1D-8A9447855207}"/>
                </c:ext>
              </c:extLst>
            </c:dLbl>
            <c:dLbl>
              <c:idx val="4"/>
              <c:layout>
                <c:manualLayout>
                  <c:x val="1.1738810541143761E-2"/>
                  <c:y val="-1.6443985892700186E-2"/>
                </c:manualLayout>
              </c:layout>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5"/>
                      </a:solidFill>
                      <a:latin typeface="+mn-lt"/>
                      <a:ea typeface="+mn-ea"/>
                      <a:cs typeface="+mn-cs"/>
                    </a:defRPr>
                  </a:pPr>
                  <a:endParaRPr lang="en-AE"/>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9-EC5C-DA4F-9F1D-8A9447855207}"/>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MI!$A$3:$A$7</c:f>
              <c:strCache>
                <c:ptCount val="5"/>
                <c:pt idx="0">
                  <c:v>general</c:v>
                </c:pt>
                <c:pt idx="1">
                  <c:v>long</c:v>
                </c:pt>
                <c:pt idx="2">
                  <c:v>gpu</c:v>
                </c:pt>
                <c:pt idx="3">
                  <c:v>high</c:v>
                </c:pt>
                <c:pt idx="4">
                  <c:v>training</c:v>
                </c:pt>
              </c:strCache>
            </c:strRef>
          </c:cat>
          <c:val>
            <c:numRef>
              <c:f>MI!$D$3:$D$7</c:f>
              <c:numCache>
                <c:formatCode>General</c:formatCode>
                <c:ptCount val="5"/>
                <c:pt idx="0">
                  <c:v>1560</c:v>
                </c:pt>
                <c:pt idx="1">
                  <c:v>168</c:v>
                </c:pt>
                <c:pt idx="2">
                  <c:v>96</c:v>
                </c:pt>
                <c:pt idx="3">
                  <c:v>96</c:v>
                </c:pt>
                <c:pt idx="4">
                  <c:v>96</c:v>
                </c:pt>
              </c:numCache>
            </c:numRef>
          </c:val>
          <c:extLst>
            <c:ext xmlns:c16="http://schemas.microsoft.com/office/drawing/2014/chart" uri="{C3380CC4-5D6E-409C-BE32-E72D297353CC}">
              <c16:uniqueId val="{0000000A-EC5C-DA4F-9F1D-8A9447855207}"/>
            </c:ext>
          </c:extLst>
        </c:ser>
        <c:ser>
          <c:idx val="1"/>
          <c:order val="1"/>
          <c:tx>
            <c:strRef>
              <c:f>MI!$I$2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EC5C-DA4F-9F1D-8A944785520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EC5C-DA4F-9F1D-8A944785520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EC5C-DA4F-9F1D-8A9447855207}"/>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2-EC5C-DA4F-9F1D-8A9447855207}"/>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4-EC5C-DA4F-9F1D-8A9447855207}"/>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EC5C-DA4F-9F1D-8A9447855207}"/>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EC5C-DA4F-9F1D-8A9447855207}"/>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EC5C-DA4F-9F1D-8A9447855207}"/>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2-EC5C-DA4F-9F1D-8A9447855207}"/>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5"/>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4-EC5C-DA4F-9F1D-8A9447855207}"/>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MI!$A$3:$A$7</c:f>
              <c:strCache>
                <c:ptCount val="5"/>
                <c:pt idx="0">
                  <c:v>general</c:v>
                </c:pt>
                <c:pt idx="1">
                  <c:v>long</c:v>
                </c:pt>
                <c:pt idx="2">
                  <c:v>gpu</c:v>
                </c:pt>
                <c:pt idx="3">
                  <c:v>high</c:v>
                </c:pt>
                <c:pt idx="4">
                  <c:v>training</c:v>
                </c:pt>
              </c:strCache>
            </c:strRef>
          </c:cat>
          <c:val>
            <c:numRef>
              <c:f>MI!$I$3:$I$7</c:f>
              <c:numCache>
                <c:formatCode>General</c:formatCode>
                <c:ptCount val="5"/>
                <c:pt idx="0">
                  <c:v>0.77380952380952384</c:v>
                </c:pt>
                <c:pt idx="1">
                  <c:v>8.3333333333333329E-2</c:v>
                </c:pt>
                <c:pt idx="2">
                  <c:v>4.7619047619047616E-2</c:v>
                </c:pt>
                <c:pt idx="3">
                  <c:v>4.7619047619047616E-2</c:v>
                </c:pt>
                <c:pt idx="4">
                  <c:v>4.7619047619047616E-2</c:v>
                </c:pt>
              </c:numCache>
            </c:numRef>
          </c:val>
          <c:extLst>
            <c:ext xmlns:c16="http://schemas.microsoft.com/office/drawing/2014/chart" uri="{C3380CC4-5D6E-409C-BE32-E72D297353CC}">
              <c16:uniqueId val="{00000015-EC5C-DA4F-9F1D-8A9447855207}"/>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1100</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SAN!$D$2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4374-5A4B-8311-55090FFE2166}"/>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4374-5A4B-8311-55090FFE2166}"/>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4374-5A4B-8311-55090FFE2166}"/>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4374-5A4B-8311-55090FFE2166}"/>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4374-5A4B-8311-55090FFE2166}"/>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4374-5A4B-8311-55090FFE2166}"/>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4374-5A4B-8311-55090FFE2166}"/>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4374-5A4B-8311-55090FFE2166}"/>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SAN!$A$3:$A$6</c:f>
              <c:strCache>
                <c:ptCount val="4"/>
                <c:pt idx="0">
                  <c:v>Q1</c:v>
                </c:pt>
                <c:pt idx="1">
                  <c:v>Q2</c:v>
                </c:pt>
                <c:pt idx="2">
                  <c:v>Q3</c:v>
                </c:pt>
                <c:pt idx="3">
                  <c:v>QGPU</c:v>
                </c:pt>
              </c:strCache>
            </c:strRef>
          </c:cat>
          <c:val>
            <c:numRef>
              <c:f>SAN!$D$3:$D$6</c:f>
              <c:numCache>
                <c:formatCode>General</c:formatCode>
                <c:ptCount val="4"/>
                <c:pt idx="0">
                  <c:v>72</c:v>
                </c:pt>
                <c:pt idx="1">
                  <c:v>276</c:v>
                </c:pt>
                <c:pt idx="2">
                  <c:v>656</c:v>
                </c:pt>
                <c:pt idx="3">
                  <c:v>96</c:v>
                </c:pt>
              </c:numCache>
            </c:numRef>
          </c:val>
          <c:extLst>
            <c:ext xmlns:c16="http://schemas.microsoft.com/office/drawing/2014/chart" uri="{C3380CC4-5D6E-409C-BE32-E72D297353CC}">
              <c16:uniqueId val="{00000008-4374-5A4B-8311-55090FFE2166}"/>
            </c:ext>
          </c:extLst>
        </c:ser>
        <c:ser>
          <c:idx val="1"/>
          <c:order val="1"/>
          <c:tx>
            <c:strRef>
              <c:f>SAN!$I$2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A-4374-5A4B-8311-55090FFE2166}"/>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4374-5A4B-8311-55090FFE2166}"/>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4374-5A4B-8311-55090FFE2166}"/>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4374-5A4B-8311-55090FFE2166}"/>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A-4374-5A4B-8311-55090FFE2166}"/>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4374-5A4B-8311-55090FFE2166}"/>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4374-5A4B-8311-55090FFE2166}"/>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4374-5A4B-8311-55090FFE2166}"/>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SAN!$A$3:$A$6</c:f>
              <c:strCache>
                <c:ptCount val="4"/>
                <c:pt idx="0">
                  <c:v>Q1</c:v>
                </c:pt>
                <c:pt idx="1">
                  <c:v>Q2</c:v>
                </c:pt>
                <c:pt idx="2">
                  <c:v>Q3</c:v>
                </c:pt>
                <c:pt idx="3">
                  <c:v>QGPU</c:v>
                </c:pt>
              </c:strCache>
            </c:strRef>
          </c:cat>
          <c:val>
            <c:numRef>
              <c:f>SAN!$I$3:$I$6</c:f>
              <c:numCache>
                <c:formatCode>General</c:formatCode>
                <c:ptCount val="4"/>
                <c:pt idx="0">
                  <c:v>6.545454545454546E-2</c:v>
                </c:pt>
                <c:pt idx="1">
                  <c:v>0.25090909090909091</c:v>
                </c:pt>
                <c:pt idx="2">
                  <c:v>0.59636363636363632</c:v>
                </c:pt>
                <c:pt idx="3">
                  <c:v>8.727272727272728E-2</c:v>
                </c:pt>
              </c:numCache>
            </c:numRef>
          </c:val>
          <c:extLst>
            <c:ext xmlns:c16="http://schemas.microsoft.com/office/drawing/2014/chart" uri="{C3380CC4-5D6E-409C-BE32-E72D297353CC}">
              <c16:uniqueId val="{00000011-4374-5A4B-8311-55090FFE2166}"/>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66FD6-D2A9-4F00-B491-A99A8AA44ED0}" type="datetimeFigureOut">
              <a:rPr lang="en-US" smtClean="0"/>
              <a:t>7/11/21</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F57D8-2956-440C-8FE5-2823967F9ED1}" type="slidenum">
              <a:rPr lang="en-US" smtClean="0"/>
              <a:t>‹#›</a:t>
            </a:fld>
            <a:endParaRPr lang="en-US"/>
          </a:p>
        </p:txBody>
      </p:sp>
    </p:spTree>
    <p:extLst>
      <p:ext uri="{BB962C8B-B14F-4D97-AF65-F5344CB8AC3E}">
        <p14:creationId xmlns:p14="http://schemas.microsoft.com/office/powerpoint/2010/main" val="381662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5F57D8-2956-440C-8FE5-2823967F9ED1}" type="slidenum">
              <a:rPr lang="en-US" smtClean="0"/>
              <a:t>1</a:t>
            </a:fld>
            <a:endParaRPr lang="en-US"/>
          </a:p>
        </p:txBody>
      </p:sp>
    </p:spTree>
    <p:extLst>
      <p:ext uri="{BB962C8B-B14F-4D97-AF65-F5344CB8AC3E}">
        <p14:creationId xmlns:p14="http://schemas.microsoft.com/office/powerpoint/2010/main" val="903729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BD5F57D8-2956-440C-8FE5-2823967F9ED1}" type="slidenum">
              <a:rPr lang="en-US" smtClean="0"/>
              <a:t>2</a:t>
            </a:fld>
            <a:endParaRPr lang="en-US"/>
          </a:p>
        </p:txBody>
      </p:sp>
    </p:spTree>
    <p:extLst>
      <p:ext uri="{BB962C8B-B14F-4D97-AF65-F5344CB8AC3E}">
        <p14:creationId xmlns:p14="http://schemas.microsoft.com/office/powerpoint/2010/main" val="1138561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5</a:t>
            </a:fld>
            <a:endParaRPr lang="en-US"/>
          </a:p>
        </p:txBody>
      </p:sp>
    </p:spTree>
    <p:extLst>
      <p:ext uri="{BB962C8B-B14F-4D97-AF65-F5344CB8AC3E}">
        <p14:creationId xmlns:p14="http://schemas.microsoft.com/office/powerpoint/2010/main" val="3965828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6</a:t>
            </a:fld>
            <a:endParaRPr lang="en-US"/>
          </a:p>
        </p:txBody>
      </p:sp>
    </p:spTree>
    <p:extLst>
      <p:ext uri="{BB962C8B-B14F-4D97-AF65-F5344CB8AC3E}">
        <p14:creationId xmlns:p14="http://schemas.microsoft.com/office/powerpoint/2010/main" val="3731217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7</a:t>
            </a:fld>
            <a:endParaRPr lang="en-US"/>
          </a:p>
        </p:txBody>
      </p:sp>
    </p:spTree>
    <p:extLst>
      <p:ext uri="{BB962C8B-B14F-4D97-AF65-F5344CB8AC3E}">
        <p14:creationId xmlns:p14="http://schemas.microsoft.com/office/powerpoint/2010/main" val="1459153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8</a:t>
            </a:fld>
            <a:endParaRPr lang="en-US"/>
          </a:p>
        </p:txBody>
      </p:sp>
    </p:spTree>
    <p:extLst>
      <p:ext uri="{BB962C8B-B14F-4D97-AF65-F5344CB8AC3E}">
        <p14:creationId xmlns:p14="http://schemas.microsoft.com/office/powerpoint/2010/main" val="1794847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9</a:t>
            </a:fld>
            <a:endParaRPr lang="en-US"/>
          </a:p>
        </p:txBody>
      </p:sp>
    </p:spTree>
    <p:extLst>
      <p:ext uri="{BB962C8B-B14F-4D97-AF65-F5344CB8AC3E}">
        <p14:creationId xmlns:p14="http://schemas.microsoft.com/office/powerpoint/2010/main" val="1536694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11</a:t>
            </a:fld>
            <a:endParaRPr lang="en-US"/>
          </a:p>
        </p:txBody>
      </p:sp>
    </p:spTree>
    <p:extLst>
      <p:ext uri="{BB962C8B-B14F-4D97-AF65-F5344CB8AC3E}">
        <p14:creationId xmlns:p14="http://schemas.microsoft.com/office/powerpoint/2010/main" val="1674404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12</a:t>
            </a:fld>
            <a:endParaRPr lang="en-US"/>
          </a:p>
        </p:txBody>
      </p:sp>
    </p:spTree>
    <p:extLst>
      <p:ext uri="{BB962C8B-B14F-4D97-AF65-F5344CB8AC3E}">
        <p14:creationId xmlns:p14="http://schemas.microsoft.com/office/powerpoint/2010/main" val="1609280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BD5F57D8-2956-440C-8FE5-2823967F9ED1}" type="slidenum">
              <a:rPr lang="en-US" smtClean="0"/>
              <a:t>13</a:t>
            </a:fld>
            <a:endParaRPr lang="en-US"/>
          </a:p>
        </p:txBody>
      </p:sp>
    </p:spTree>
    <p:extLst>
      <p:ext uri="{BB962C8B-B14F-4D97-AF65-F5344CB8AC3E}">
        <p14:creationId xmlns:p14="http://schemas.microsoft.com/office/powerpoint/2010/main" val="11011326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47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eg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chemeClr val="bg2"/>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chemeClr val="bg2"/>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4210050"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7211BEC-8A05-5048-8010-DA55CE4672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9" y="654528"/>
            <a:ext cx="2876309" cy="774496"/>
          </a:xfrm>
          <a:prstGeom prst="rect">
            <a:avLst/>
          </a:prstGeom>
        </p:spPr>
      </p:pic>
    </p:spTree>
    <p:extLst>
      <p:ext uri="{BB962C8B-B14F-4D97-AF65-F5344CB8AC3E}">
        <p14:creationId xmlns:p14="http://schemas.microsoft.com/office/powerpoint/2010/main" val="368478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hoto">
    <p:bg>
      <p:bgPr>
        <a:solidFill>
          <a:srgbClr val="0047B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B21E90-80D8-4070-8157-51F5D9E9B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pic>
        <p:nvPicPr>
          <p:cNvPr id="8" name="Picture 7">
            <a:extLst>
              <a:ext uri="{FF2B5EF4-FFF2-40B4-BE49-F238E27FC236}">
                <a16:creationId xmlns:a16="http://schemas.microsoft.com/office/drawing/2014/main" id="{E14C8DC6-096E-714D-AF28-58697258972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cxnSp>
        <p:nvCxnSpPr>
          <p:cNvPr id="9" name="Straight Connector 8">
            <a:extLst>
              <a:ext uri="{FF2B5EF4-FFF2-40B4-BE49-F238E27FC236}">
                <a16:creationId xmlns:a16="http://schemas.microsoft.com/office/drawing/2014/main" id="{41EF1488-91C4-7449-841C-78AF4CE5EB83}"/>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840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760974" y="542926"/>
            <a:ext cx="8463393" cy="815095"/>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760974" y="1502876"/>
            <a:ext cx="8520709" cy="481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9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5007174" y="669956"/>
            <a:ext cx="4217788" cy="5644689"/>
          </a:xfrm>
        </p:spPr>
        <p:txBody>
          <a:bodyPr/>
          <a:lstStyle>
            <a:lvl1pPr>
              <a:defRPr b="0"/>
            </a:lvl1pPr>
          </a:lstStyle>
          <a:p>
            <a:pPr lvl="0"/>
            <a:r>
              <a:rPr lang="en-US" dirty="0"/>
              <a:t>Heading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106686" y="669956"/>
            <a:ext cx="3590925" cy="5644689"/>
          </a:xfrm>
        </p:spPr>
        <p:txBody>
          <a:bodyPr anchor="t" anchorCtr="0"/>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1385506D-9F69-4855-B473-3BFDAF44ED69}"/>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095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AA8462DF-95A9-4839-9F28-1A83BCE28186}"/>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9" name="Picture 8">
            <a:extLst>
              <a:ext uri="{FF2B5EF4-FFF2-40B4-BE49-F238E27FC236}">
                <a16:creationId xmlns:a16="http://schemas.microsoft.com/office/drawing/2014/main" id="{DEDB1926-9526-4026-8069-F153FB78BD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0" name="Straight Connector 9">
            <a:extLst>
              <a:ext uri="{FF2B5EF4-FFF2-40B4-BE49-F238E27FC236}">
                <a16:creationId xmlns:a16="http://schemas.microsoft.com/office/drawing/2014/main" id="{5B93EDA0-B8B5-41ED-80CE-BFDA6DF8FC4B}"/>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45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 Placeholder 2">
            <a:extLst>
              <a:ext uri="{FF2B5EF4-FFF2-40B4-BE49-F238E27FC236}">
                <a16:creationId xmlns:a16="http://schemas.microsoft.com/office/drawing/2014/main" id="{E4673FD0-9E13-4C1A-B859-688309735A0D}"/>
              </a:ext>
            </a:extLst>
          </p:cNvPr>
          <p:cNvSpPr>
            <a:spLocks noGrp="1"/>
          </p:cNvSpPr>
          <p:nvPr>
            <p:ph type="body" idx="13"/>
          </p:nvPr>
        </p:nvSpPr>
        <p:spPr>
          <a:xfrm>
            <a:off x="1105650" y="1868400"/>
            <a:ext cx="3802500"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9" name="Text Placeholder 4">
            <a:extLst>
              <a:ext uri="{FF2B5EF4-FFF2-40B4-BE49-F238E27FC236}">
                <a16:creationId xmlns:a16="http://schemas.microsoft.com/office/drawing/2014/main" id="{E81F1501-AF73-4AAC-9FF0-0767311D3E75}"/>
              </a:ext>
            </a:extLst>
          </p:cNvPr>
          <p:cNvSpPr>
            <a:spLocks noGrp="1"/>
          </p:cNvSpPr>
          <p:nvPr>
            <p:ph type="body" sz="quarter" idx="3"/>
          </p:nvPr>
        </p:nvSpPr>
        <p:spPr>
          <a:xfrm>
            <a:off x="5417344" y="1868400"/>
            <a:ext cx="3808909"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10" name="TextBox 9">
            <a:extLst>
              <a:ext uri="{FF2B5EF4-FFF2-40B4-BE49-F238E27FC236}">
                <a16:creationId xmlns:a16="http://schemas.microsoft.com/office/drawing/2014/main" id="{7ADE178B-FD49-4EE2-9A05-5F6BE0A0483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1" name="Picture 10">
            <a:extLst>
              <a:ext uri="{FF2B5EF4-FFF2-40B4-BE49-F238E27FC236}">
                <a16:creationId xmlns:a16="http://schemas.microsoft.com/office/drawing/2014/main" id="{68D110D8-F82F-4692-8B00-F633DEF1AC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2" name="Straight Connector 11">
            <a:extLst>
              <a:ext uri="{FF2B5EF4-FFF2-40B4-BE49-F238E27FC236}">
                <a16:creationId xmlns:a16="http://schemas.microsoft.com/office/drawing/2014/main" id="{6132C51C-6D36-4A71-A1DB-6C92A35CA313}"/>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1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5007173" y="771526"/>
            <a:ext cx="4581525"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lvl1pPr marL="0" indent="0">
              <a:buNone/>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43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5007173" y="771526"/>
            <a:ext cx="4581525" cy="5534025"/>
          </a:xfrm>
          <a:solidFill>
            <a:schemeClr val="bg1">
              <a:lumMod val="85000"/>
            </a:schemeClr>
          </a:solidFill>
        </p:spPr>
        <p:txBody>
          <a:bodyPr/>
          <a:lstStyle>
            <a:lvl1pPr marL="0" indent="0">
              <a:buNone/>
              <a:defRPr/>
            </a:lvl1pPr>
          </a:lstStyle>
          <a:p>
            <a:r>
              <a:rPr lang="en-US"/>
              <a:t>Drag picture to placeholder or click icon to add</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598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673299" y="542926"/>
            <a:ext cx="8567141" cy="1114425"/>
          </a:xfrm>
        </p:spPr>
        <p:txBody>
          <a:bodyPr/>
          <a:lstStyle>
            <a:lvl1pPr algn="ctr">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418849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1114425"/>
            <a:ext cx="5154216" cy="1438275"/>
          </a:xfrm>
        </p:spPr>
        <p:txBody>
          <a:bodyPr anchor="t" anchorCtr="0"/>
          <a:lstStyle>
            <a:lvl1pPr algn="l">
              <a:lnSpc>
                <a:spcPct val="100000"/>
              </a:lnSpc>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b="1">
                <a:solidFill>
                  <a:srgbClr val="000000"/>
                </a:solidFill>
              </a:defRPr>
            </a:lvl1pPr>
          </a:lstStyle>
          <a:p>
            <a:r>
              <a:rPr lang="en-US"/>
              <a:t>Presentation Title Goes Here</a:t>
            </a:r>
            <a:endParaRPr lang="en-US" dirty="0"/>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70C0">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dirty="0">
                <a:solidFill>
                  <a:srgbClr val="000000"/>
                </a:solidFill>
              </a:rPr>
              <a:t>ku.ac.ae</a:t>
            </a:r>
            <a:endParaRPr lang="en-US" sz="691" dirty="0">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762001"/>
            <a:ext cx="3018234" cy="5553075"/>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606654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884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chemeClr val="tx2"/>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chemeClr val="tx2"/>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chemeClr val="tx2"/>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tx2"/>
                </a:solidFill>
              </a:rPr>
              <a:t>ku.ac.ae</a:t>
            </a:r>
            <a:endParaRPr lang="en-US" sz="691">
              <a:solidFill>
                <a:schemeClr val="tx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6"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5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EFBB-C8CA-4201-A903-805856BEB310}"/>
              </a:ext>
            </a:extLst>
          </p:cNvPr>
          <p:cNvSpPr>
            <a:spLocks noGrp="1"/>
          </p:cNvSpPr>
          <p:nvPr>
            <p:ph type="dt" sz="half" idx="10"/>
          </p:nvPr>
        </p:nvSpPr>
        <p:spPr/>
        <p:txBody>
          <a:bodyPr/>
          <a:lstStyle/>
          <a:p>
            <a:r>
              <a:rPr lang="en-US"/>
              <a:t>DD Month 20XX</a:t>
            </a:r>
          </a:p>
        </p:txBody>
      </p:sp>
      <p:sp>
        <p:nvSpPr>
          <p:cNvPr id="3" name="Footer Placeholder 2">
            <a:extLst>
              <a:ext uri="{FF2B5EF4-FFF2-40B4-BE49-F238E27FC236}">
                <a16:creationId xmlns:a16="http://schemas.microsoft.com/office/drawing/2014/main" id="{8551DCEB-2462-4151-B7CC-F3EC0D3A59D6}"/>
              </a:ext>
            </a:extLst>
          </p:cNvPr>
          <p:cNvSpPr>
            <a:spLocks noGrp="1"/>
          </p:cNvSpPr>
          <p:nvPr>
            <p:ph type="ftr" sz="quarter" idx="11"/>
          </p:nvPr>
        </p:nvSpPr>
        <p:spPr/>
        <p:txBody>
          <a:bodyPr/>
          <a:lstStyle/>
          <a:p>
            <a:r>
              <a:rPr lang="en-US"/>
              <a:t>Presentation Title Goes Here</a:t>
            </a:r>
          </a:p>
        </p:txBody>
      </p:sp>
      <p:sp>
        <p:nvSpPr>
          <p:cNvPr id="4" name="Slide Number Placeholder 3">
            <a:extLst>
              <a:ext uri="{FF2B5EF4-FFF2-40B4-BE49-F238E27FC236}">
                <a16:creationId xmlns:a16="http://schemas.microsoft.com/office/drawing/2014/main" id="{B5A57B99-432B-45A8-9216-9BC01B297D0C}"/>
              </a:ext>
            </a:extLst>
          </p:cNvPr>
          <p:cNvSpPr>
            <a:spLocks noGrp="1"/>
          </p:cNvSpPr>
          <p:nvPr>
            <p:ph type="sldNum" sz="quarter" idx="12"/>
          </p:nvPr>
        </p:nvSpPr>
        <p:spPr/>
        <p:txBody>
          <a:bodyPr/>
          <a:lstStyle/>
          <a:p>
            <a:fld id="{1E68DD1B-5CD8-424B-8173-19E182143E0A}" type="slidenum">
              <a:rPr lang="en-US" smtClean="0"/>
              <a:t>‹#›</a:t>
            </a:fld>
            <a:endParaRPr lang="en-US"/>
          </a:p>
        </p:txBody>
      </p:sp>
    </p:spTree>
    <p:extLst>
      <p:ext uri="{BB962C8B-B14F-4D97-AF65-F5344CB8AC3E}">
        <p14:creationId xmlns:p14="http://schemas.microsoft.com/office/powerpoint/2010/main" val="4259154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204914"/>
            <a:ext cx="8543925" cy="2852737"/>
          </a:xfrm>
        </p:spPr>
        <p:txBody>
          <a:bodyPr anchor="b"/>
          <a:lstStyle>
            <a:lvl1pPr algn="ctr">
              <a:lnSpc>
                <a:spcPct val="100000"/>
              </a:lnSpc>
              <a:defRPr sz="4875"/>
            </a:lvl1pPr>
          </a:lstStyle>
          <a:p>
            <a:r>
              <a:rPr lang="en-US"/>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675878" y="4000500"/>
            <a:ext cx="8543925" cy="1584326"/>
          </a:xfrm>
        </p:spPr>
        <p:txBody>
          <a:bodyPr>
            <a:normAutofit/>
          </a:bodyPr>
          <a:lstStyle>
            <a:lvl1pPr marL="0" indent="0" algn="ctr">
              <a:buNone/>
              <a:defRPr sz="3088">
                <a:solidFill>
                  <a:srgbClr val="000000"/>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2545361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052514"/>
            <a:ext cx="8543925" cy="2852737"/>
          </a:xfrm>
        </p:spPr>
        <p:txBody>
          <a:bodyPr anchor="b"/>
          <a:lstStyle>
            <a:lvl1pPr algn="ctr">
              <a:lnSpc>
                <a:spcPct val="100000"/>
              </a:lnSpc>
              <a:defRPr sz="4875">
                <a:solidFill>
                  <a:srgbClr val="FFFFFF"/>
                </a:solidFill>
              </a:defRPr>
            </a:lvl1pPr>
          </a:lstStyle>
          <a:p>
            <a:r>
              <a:rPr lang="en-US"/>
              <a:t>Click to edit Master title style</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3658298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47BA"/>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55917" y="891158"/>
            <a:ext cx="1924556" cy="518220"/>
          </a:xfrm>
          <a:prstGeom prst="rect">
            <a:avLst/>
          </a:prstGeom>
        </p:spPr>
      </p:pic>
      <p:sp>
        <p:nvSpPr>
          <p:cNvPr id="4" name="TextBox 3">
            <a:extLst>
              <a:ext uri="{FF2B5EF4-FFF2-40B4-BE49-F238E27FC236}">
                <a16:creationId xmlns:a16="http://schemas.microsoft.com/office/drawing/2014/main" id="{AFAD5768-C7B0-4ABF-BE83-522BCD1F6FE5}"/>
              </a:ext>
            </a:extLst>
          </p:cNvPr>
          <p:cNvSpPr txBox="1"/>
          <p:nvPr userDrawn="1"/>
        </p:nvSpPr>
        <p:spPr>
          <a:xfrm>
            <a:off x="611386" y="2711687"/>
            <a:ext cx="8652272" cy="1437958"/>
          </a:xfrm>
          <a:prstGeom prst="rect">
            <a:avLst/>
          </a:prstGeom>
          <a:noFill/>
        </p:spPr>
        <p:txBody>
          <a:bodyPr wrap="square" lIns="0" tIns="0" rIns="0" bIns="0" rtlCol="0" anchor="ctr" anchorCtr="0">
            <a:spAutoFit/>
          </a:bodyPr>
          <a:lstStyle/>
          <a:p>
            <a:pPr algn="ctr"/>
            <a:r>
              <a:rPr lang="en-US" sz="9344" b="1" spc="-81" baseline="0" noProof="0" dirty="0">
                <a:solidFill>
                  <a:srgbClr val="FFFFFF"/>
                </a:solidFill>
                <a:latin typeface="+mj-lt"/>
              </a:rPr>
              <a:t>Thank You</a:t>
            </a:r>
          </a:p>
        </p:txBody>
      </p:sp>
      <p:sp>
        <p:nvSpPr>
          <p:cNvPr id="13" name="TextBox 12">
            <a:extLst>
              <a:ext uri="{FF2B5EF4-FFF2-40B4-BE49-F238E27FC236}">
                <a16:creationId xmlns:a16="http://schemas.microsoft.com/office/drawing/2014/main" id="{A94333D0-73BA-48D2-AA6E-3F2C63C9CA8F}"/>
              </a:ext>
            </a:extLst>
          </p:cNvPr>
          <p:cNvSpPr txBox="1"/>
          <p:nvPr userDrawn="1"/>
        </p:nvSpPr>
        <p:spPr>
          <a:xfrm>
            <a:off x="4210051" y="6146801"/>
            <a:ext cx="1493638" cy="244475"/>
          </a:xfrm>
          <a:prstGeom prst="rect">
            <a:avLst/>
          </a:prstGeom>
          <a:noFill/>
        </p:spPr>
        <p:txBody>
          <a:bodyPr wrap="square" lIns="0" tIns="0" rIns="0" bIns="0" rtlCol="0" anchor="ctr" anchorCtr="0">
            <a:noAutofit/>
          </a:bodyPr>
          <a:lstStyle/>
          <a:p>
            <a:pPr algn="ctr"/>
            <a:r>
              <a:rPr lang="en-US" sz="1016" b="1" noProof="0" dirty="0">
                <a:solidFill>
                  <a:srgbClr val="FFFFFF"/>
                </a:solidFill>
              </a:rPr>
              <a:t>ku.ac.ae</a:t>
            </a:r>
          </a:p>
        </p:txBody>
      </p:sp>
    </p:spTree>
    <p:extLst>
      <p:ext uri="{BB962C8B-B14F-4D97-AF65-F5344CB8AC3E}">
        <p14:creationId xmlns:p14="http://schemas.microsoft.com/office/powerpoint/2010/main" val="241956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564FE-F745-443F-8321-B0EFD169FAC6}"/>
              </a:ext>
            </a:extLst>
          </p:cNvPr>
          <p:cNvSpPr>
            <a:spLocks noGrp="1"/>
          </p:cNvSpPr>
          <p:nvPr>
            <p:ph type="title"/>
          </p:nvPr>
        </p:nvSpPr>
        <p:spPr>
          <a:xfrm>
            <a:off x="922796" y="542925"/>
            <a:ext cx="8286851" cy="824148"/>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911581-2B37-40B3-825A-043921DFB80C}"/>
              </a:ext>
            </a:extLst>
          </p:cNvPr>
          <p:cNvSpPr>
            <a:spLocks noGrp="1"/>
          </p:cNvSpPr>
          <p:nvPr>
            <p:ph type="body" idx="1"/>
          </p:nvPr>
        </p:nvSpPr>
        <p:spPr>
          <a:xfrm>
            <a:off x="902873" y="1530037"/>
            <a:ext cx="8321486" cy="483936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172D0-FD25-45C4-A82E-F4094DCDE0CC}"/>
              </a:ext>
            </a:extLst>
          </p:cNvPr>
          <p:cNvSpPr>
            <a:spLocks noGrp="1"/>
          </p:cNvSpPr>
          <p:nvPr>
            <p:ph type="dt" sz="half" idx="2"/>
          </p:nvPr>
        </p:nvSpPr>
        <p:spPr>
          <a:xfrm>
            <a:off x="6570464" y="203201"/>
            <a:ext cx="1408509" cy="244475"/>
          </a:xfrm>
          <a:prstGeom prst="rect">
            <a:avLst/>
          </a:prstGeom>
        </p:spPr>
        <p:txBody>
          <a:bodyPr vert="horz" lIns="0" tIns="0" rIns="0" bIns="0" rtlCol="0" anchor="ctr"/>
          <a:lstStyle>
            <a:lvl1pPr algn="r">
              <a:defRPr sz="691">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F5B18871-7BC3-4A13-9CC9-B9A1DB22F262}"/>
              </a:ext>
            </a:extLst>
          </p:cNvPr>
          <p:cNvSpPr>
            <a:spLocks noGrp="1"/>
          </p:cNvSpPr>
          <p:nvPr>
            <p:ph type="ftr" sz="quarter" idx="3"/>
          </p:nvPr>
        </p:nvSpPr>
        <p:spPr>
          <a:xfrm>
            <a:off x="2329458" y="203201"/>
            <a:ext cx="3343275" cy="244475"/>
          </a:xfrm>
          <a:prstGeom prst="rect">
            <a:avLst/>
          </a:prstGeom>
        </p:spPr>
        <p:txBody>
          <a:bodyPr vert="horz" lIns="0" tIns="0" rIns="0" bIns="0" rtlCol="0" anchor="ctr"/>
          <a:lstStyle>
            <a:lvl1pPr algn="ctr">
              <a:defRPr sz="691">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A7EA17DA-0D3F-410F-A9AA-3171ED151327}"/>
              </a:ext>
            </a:extLst>
          </p:cNvPr>
          <p:cNvSpPr>
            <a:spLocks noGrp="1"/>
          </p:cNvSpPr>
          <p:nvPr>
            <p:ph type="sldNum" sz="quarter" idx="4"/>
          </p:nvPr>
        </p:nvSpPr>
        <p:spPr>
          <a:xfrm>
            <a:off x="9395222" y="203201"/>
            <a:ext cx="425648" cy="244475"/>
          </a:xfrm>
          <a:prstGeom prst="rect">
            <a:avLst/>
          </a:prstGeom>
        </p:spPr>
        <p:txBody>
          <a:bodyPr vert="horz" lIns="0" tIns="0" rIns="0" bIns="0" rtlCol="0" anchor="ctr"/>
          <a:lstStyle>
            <a:lvl1pPr algn="ctr">
              <a:defRPr sz="691">
                <a:solidFill>
                  <a:srgbClr val="000000"/>
                </a:solidFill>
              </a:defRPr>
            </a:lvl1pPr>
          </a:lstStyle>
          <a:p>
            <a:fld id="{1E68DD1B-5CD8-424B-8173-19E182143E0A}" type="slidenum">
              <a:rPr lang="en-US" smtClean="0"/>
              <a:pPr/>
              <a:t>‹#›</a:t>
            </a:fld>
            <a:endParaRPr lang="en-US"/>
          </a:p>
        </p:txBody>
      </p:sp>
      <p:sp>
        <p:nvSpPr>
          <p:cNvPr id="13" name="TextBox 12">
            <a:extLst>
              <a:ext uri="{FF2B5EF4-FFF2-40B4-BE49-F238E27FC236}">
                <a16:creationId xmlns:a16="http://schemas.microsoft.com/office/drawing/2014/main" id="{AC18493A-1FC9-483C-BC41-405831F9D96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8" name="Picture 7">
            <a:extLst>
              <a:ext uri="{FF2B5EF4-FFF2-40B4-BE49-F238E27FC236}">
                <a16:creationId xmlns:a16="http://schemas.microsoft.com/office/drawing/2014/main" id="{85F31A79-8F5C-4459-9F47-4F4A56020D63}"/>
              </a:ext>
            </a:extLst>
          </p:cNvPr>
          <p:cNvPicPr>
            <a:picLocks noChangeAspect="1"/>
          </p:cNvPicPr>
          <p:nvPr userDrawn="1"/>
        </p:nvPicPr>
        <p:blipFill>
          <a:blip r:embed="rId19"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Tree>
    <p:extLst>
      <p:ext uri="{BB962C8B-B14F-4D97-AF65-F5344CB8AC3E}">
        <p14:creationId xmlns:p14="http://schemas.microsoft.com/office/powerpoint/2010/main" val="1107456480"/>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50" r:id="rId4"/>
    <p:sldLayoutId id="2147483662" r:id="rId5"/>
    <p:sldLayoutId id="2147483652" r:id="rId6"/>
    <p:sldLayoutId id="2147483661" r:id="rId7"/>
    <p:sldLayoutId id="2147483663" r:id="rId8"/>
    <p:sldLayoutId id="2147483660" r:id="rId9"/>
    <p:sldLayoutId id="2147483664" r:id="rId10"/>
    <p:sldLayoutId id="2147483665" r:id="rId11"/>
    <p:sldLayoutId id="2147483654" r:id="rId12"/>
    <p:sldLayoutId id="2147483671" r:id="rId13"/>
    <p:sldLayoutId id="2147483655" r:id="rId14"/>
    <p:sldLayoutId id="2147483651" r:id="rId15"/>
    <p:sldLayoutId id="2147483666" r:id="rId16"/>
    <p:sldLayoutId id="2147483667" r:id="rId17"/>
  </p:sldLayoutIdLst>
  <p:hf hdr="0"/>
  <p:txStyles>
    <p:titleStyle>
      <a:lvl1pPr algn="l" defTabSz="742950" rtl="0" eaLnBrk="1" latinLnBrk="0" hangingPunct="1">
        <a:lnSpc>
          <a:spcPct val="100000"/>
        </a:lnSpc>
        <a:spcBef>
          <a:spcPct val="0"/>
        </a:spcBef>
        <a:buNone/>
        <a:defRPr sz="2925" b="1" kern="1200" spc="41" baseline="0">
          <a:solidFill>
            <a:schemeClr val="tx2"/>
          </a:solidFill>
          <a:latin typeface="+mj-lt"/>
          <a:ea typeface="+mj-ea"/>
          <a:cs typeface="+mj-cs"/>
        </a:defRPr>
      </a:lvl1pPr>
    </p:titleStyle>
    <p:bodyStyle>
      <a:lvl1pPr marL="147042" indent="-147042" algn="l" defTabSz="742950" rtl="0" eaLnBrk="1" latinLnBrk="0" hangingPunct="1">
        <a:lnSpc>
          <a:spcPct val="100000"/>
        </a:lnSpc>
        <a:spcBef>
          <a:spcPts val="325"/>
        </a:spcBef>
        <a:buFont typeface="Arial" panose="020B0604020202020204" pitchFamily="34" charset="0"/>
        <a:buChar char="•"/>
        <a:defRPr sz="1503" b="1" kern="1200">
          <a:solidFill>
            <a:schemeClr val="tx1"/>
          </a:solidFill>
          <a:latin typeface="+mn-lt"/>
          <a:ea typeface="+mn-ea"/>
          <a:cs typeface="+mn-cs"/>
        </a:defRPr>
      </a:lvl1pPr>
      <a:lvl2pPr marL="441127" indent="-147042" algn="l" defTabSz="742950" rtl="0" eaLnBrk="1" latinLnBrk="0" hangingPunct="1">
        <a:lnSpc>
          <a:spcPct val="100000"/>
        </a:lnSpc>
        <a:spcBef>
          <a:spcPts val="325"/>
        </a:spcBef>
        <a:buFont typeface="Arial" panose="020B0604020202020204" pitchFamily="34" charset="0"/>
        <a:buChar char="•"/>
        <a:defRPr sz="1503" kern="1200">
          <a:solidFill>
            <a:schemeClr val="tx1"/>
          </a:solidFill>
          <a:latin typeface="+mn-lt"/>
          <a:ea typeface="+mn-ea"/>
          <a:cs typeface="+mn-cs"/>
        </a:defRPr>
      </a:lvl2pPr>
      <a:lvl3pPr marL="580430" indent="-139303"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3pPr>
      <a:lvl4pPr marL="727472"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4pPr>
      <a:lvl5pPr marL="874514"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vmlDrawing" Target="../drawings/vmlDrawing1.vml"/><Relationship Id="rId5" Type="http://schemas.openxmlformats.org/officeDocument/2006/relationships/image" Target="../media/image11.emf"/><Relationship Id="rId4" Type="http://schemas.openxmlformats.org/officeDocument/2006/relationships/package" Target="../embeddings/Microsoft_Excel_Worksheet.xlsx"/></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vmlDrawing" Target="../drawings/vmlDrawing2.vml"/><Relationship Id="rId5" Type="http://schemas.openxmlformats.org/officeDocument/2006/relationships/image" Target="../media/image14.emf"/><Relationship Id="rId4" Type="http://schemas.openxmlformats.org/officeDocument/2006/relationships/package" Target="../embeddings/Microsoft_Excel_Worksheet1.xls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a:spLocks noGrp="1"/>
          </p:cNvSpPr>
          <p:nvPr>
            <p:ph type="ctrTitle"/>
          </p:nvPr>
        </p:nvSpPr>
        <p:spPr>
          <a:xfrm>
            <a:off x="669535" y="2271472"/>
            <a:ext cx="7240504" cy="1393031"/>
          </a:xfrm>
        </p:spPr>
        <p:txBody>
          <a:bodyPr>
            <a:normAutofit fontScale="90000"/>
          </a:bodyPr>
          <a:lstStyle/>
          <a:p>
            <a:pPr algn="l"/>
            <a:r>
              <a:rPr lang="en-US" noProof="0" dirty="0"/>
              <a:t>Research Computing Update</a:t>
            </a:r>
          </a:p>
        </p:txBody>
      </p:sp>
      <p:sp>
        <p:nvSpPr>
          <p:cNvPr id="3" name="Subtitle 2">
            <a:extLst>
              <a:ext uri="{FF2B5EF4-FFF2-40B4-BE49-F238E27FC236}">
                <a16:creationId xmlns:a16="http://schemas.microsoft.com/office/drawing/2014/main" id="{C0FC7021-FB77-4D35-AE1D-A857D1A422CD}"/>
              </a:ext>
            </a:extLst>
          </p:cNvPr>
          <p:cNvSpPr>
            <a:spLocks noGrp="1"/>
          </p:cNvSpPr>
          <p:nvPr>
            <p:ph type="subTitle" idx="1"/>
          </p:nvPr>
        </p:nvSpPr>
        <p:spPr>
          <a:xfrm>
            <a:off x="669535" y="3695460"/>
            <a:ext cx="7240504" cy="1013817"/>
          </a:xfrm>
        </p:spPr>
        <p:txBody>
          <a:bodyPr/>
          <a:lstStyle/>
          <a:p>
            <a:pPr algn="l"/>
            <a:r>
              <a:rPr lang="en-US" dirty="0"/>
              <a:t>June</a:t>
            </a:r>
            <a:r>
              <a:rPr lang="en-US" noProof="0" dirty="0"/>
              <a:t> 2021</a:t>
            </a:r>
          </a:p>
        </p:txBody>
      </p:sp>
      <p:sp>
        <p:nvSpPr>
          <p:cNvPr id="4" name="Text Placeholder 3">
            <a:extLst>
              <a:ext uri="{FF2B5EF4-FFF2-40B4-BE49-F238E27FC236}">
                <a16:creationId xmlns:a16="http://schemas.microsoft.com/office/drawing/2014/main" id="{4D96F05C-E8E5-40A0-96E2-70DA59031E10}"/>
              </a:ext>
            </a:extLst>
          </p:cNvPr>
          <p:cNvSpPr>
            <a:spLocks noGrp="1"/>
          </p:cNvSpPr>
          <p:nvPr>
            <p:ph type="body" sz="quarter" idx="10"/>
          </p:nvPr>
        </p:nvSpPr>
        <p:spPr>
          <a:xfrm>
            <a:off x="669535" y="5103968"/>
            <a:ext cx="5468259" cy="255389"/>
          </a:xfrm>
        </p:spPr>
        <p:txBody>
          <a:bodyPr/>
          <a:lstStyle/>
          <a:p>
            <a:pPr algn="l"/>
            <a:endParaRPr lang="en-US" noProof="0" dirty="0"/>
          </a:p>
        </p:txBody>
      </p:sp>
    </p:spTree>
    <p:extLst>
      <p:ext uri="{BB962C8B-B14F-4D97-AF65-F5344CB8AC3E}">
        <p14:creationId xmlns:p14="http://schemas.microsoft.com/office/powerpoint/2010/main" val="319863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577662"/>
            <a:ext cx="3397449" cy="609876"/>
          </a:xfrm>
        </p:spPr>
        <p:txBody>
          <a:bodyPr>
            <a:normAutofit/>
          </a:bodyPr>
          <a:lstStyle/>
          <a:p>
            <a:r>
              <a:rPr lang="en-US" noProof="0" dirty="0"/>
              <a:t>HPC Resources</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451945" y="1187538"/>
            <a:ext cx="8834929" cy="5465510"/>
          </a:xfrm>
        </p:spPr>
        <p:txBody>
          <a:bodyPr>
            <a:normAutofit fontScale="77500" lnSpcReduction="20000"/>
          </a:bodyPr>
          <a:lstStyle/>
          <a:p>
            <a:r>
              <a:rPr lang="en-US" sz="2400" dirty="0"/>
              <a:t>New HPC – Al </a:t>
            </a:r>
            <a:r>
              <a:rPr lang="en-US" sz="2400" dirty="0" err="1"/>
              <a:t>Mesbar</a:t>
            </a:r>
            <a:r>
              <a:rPr lang="en-US" sz="2400" dirty="0"/>
              <a:t> cluster</a:t>
            </a:r>
          </a:p>
          <a:p>
            <a:pPr lvl="1"/>
            <a:r>
              <a:rPr lang="en-US" sz="2400" dirty="0"/>
              <a:t>A few technical issues still outstanding. These need to be resolved but we can launch service and solve at a later date. </a:t>
            </a:r>
          </a:p>
          <a:p>
            <a:pPr lvl="1"/>
            <a:r>
              <a:rPr lang="en-US" sz="2400" dirty="0"/>
              <a:t>Cluster is now with RC to install applications, implement  policies, account creation etc.</a:t>
            </a:r>
          </a:p>
          <a:p>
            <a:pPr lvl="1"/>
            <a:r>
              <a:rPr lang="en-US" sz="2400" dirty="0"/>
              <a:t>Test users scheduled for second week of July</a:t>
            </a:r>
          </a:p>
          <a:p>
            <a:r>
              <a:rPr lang="en-US" sz="2400" dirty="0"/>
              <a:t>Masdar </a:t>
            </a:r>
            <a:r>
              <a:rPr lang="en-US" sz="2400" dirty="0" err="1"/>
              <a:t>Datacentre</a:t>
            </a:r>
            <a:r>
              <a:rPr lang="en-US" sz="2400" dirty="0"/>
              <a:t> resources HPC Cluster</a:t>
            </a:r>
          </a:p>
          <a:p>
            <a:pPr lvl="1"/>
            <a:r>
              <a:rPr lang="en-US" sz="2400" dirty="0"/>
              <a:t>KU HPC, at Masdar </a:t>
            </a:r>
            <a:r>
              <a:rPr lang="en-US" sz="2400" dirty="0" err="1"/>
              <a:t>Datacentre</a:t>
            </a:r>
            <a:r>
              <a:rPr lang="en-US" sz="2400" dirty="0"/>
              <a:t>, has was switched off on 3</a:t>
            </a:r>
            <a:r>
              <a:rPr lang="en-US" sz="2400" baseline="30000" dirty="0"/>
              <a:t>rd</a:t>
            </a:r>
            <a:r>
              <a:rPr lang="en-US" sz="2400" dirty="0"/>
              <a:t> July.</a:t>
            </a:r>
          </a:p>
          <a:p>
            <a:pPr lvl="1"/>
            <a:r>
              <a:rPr lang="en-US" sz="2400" dirty="0"/>
              <a:t>IT was under pressure to vacate </a:t>
            </a:r>
            <a:r>
              <a:rPr lang="en-US" sz="2400" dirty="0" err="1"/>
              <a:t>datacentre</a:t>
            </a:r>
            <a:r>
              <a:rPr lang="en-US" sz="2400" dirty="0"/>
              <a:t> and so we had to shutdown services, before new HPC is ready for production.</a:t>
            </a:r>
          </a:p>
          <a:p>
            <a:pPr lvl="1"/>
            <a:r>
              <a:rPr lang="en-US" sz="2400" dirty="0"/>
              <a:t> All research VM’s (~50 VM’s) have now been migrated to KU </a:t>
            </a:r>
            <a:r>
              <a:rPr lang="en-US" sz="2400" dirty="0" err="1"/>
              <a:t>datacentre</a:t>
            </a:r>
            <a:r>
              <a:rPr lang="en-US" sz="2400" dirty="0"/>
              <a:t>. These are running on temporary resources, until procurement of RC infrastructure is completed.</a:t>
            </a:r>
          </a:p>
          <a:p>
            <a:pPr lvl="1"/>
            <a:r>
              <a:rPr lang="en-US" sz="2400" dirty="0"/>
              <a:t>Data will continue to be available from Masdar </a:t>
            </a:r>
            <a:r>
              <a:rPr lang="en-US" sz="2400" dirty="0" err="1"/>
              <a:t>datacentre</a:t>
            </a:r>
            <a:r>
              <a:rPr lang="en-US" sz="2400" dirty="0"/>
              <a:t>  for the time being.</a:t>
            </a:r>
          </a:p>
          <a:p>
            <a:pPr lvl="1"/>
            <a:r>
              <a:rPr lang="en-US" sz="2400" dirty="0"/>
              <a:t>Only data storage platform is now running at Masdar, all other resources have now been switched off, or in the process of being switched off.</a:t>
            </a:r>
          </a:p>
          <a:p>
            <a:r>
              <a:rPr lang="en-US" sz="2400" dirty="0"/>
              <a:t>SAN HPC Cluster</a:t>
            </a:r>
          </a:p>
          <a:p>
            <a:pPr lvl="1"/>
            <a:r>
              <a:rPr lang="en-US" sz="2400" dirty="0"/>
              <a:t>As ADRIC has now been handed over to ADNOC, we have shutdown access to SAN HPC cluster on 20</a:t>
            </a:r>
            <a:r>
              <a:rPr lang="en-US" sz="2400" baseline="30000" dirty="0"/>
              <a:t>th</a:t>
            </a:r>
            <a:r>
              <a:rPr lang="en-US" sz="2400" dirty="0"/>
              <a:t> June.</a:t>
            </a:r>
          </a:p>
          <a:p>
            <a:pPr lvl="1"/>
            <a:r>
              <a:rPr lang="en-US" sz="2400" dirty="0"/>
              <a:t>Research data has been migrated from that </a:t>
            </a:r>
            <a:r>
              <a:rPr lang="en-US" sz="2400" dirty="0" err="1"/>
              <a:t>datacentre</a:t>
            </a:r>
            <a:endParaRPr lang="en-US" sz="2400" dirty="0"/>
          </a:p>
          <a:p>
            <a:pPr lvl="1"/>
            <a:r>
              <a:rPr lang="en-US" sz="2400" dirty="0"/>
              <a:t>HPC data is still being transferred.</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2</a:t>
            </a:fld>
            <a:endParaRPr lang="en-US"/>
          </a:p>
        </p:txBody>
      </p:sp>
    </p:spTree>
    <p:extLst>
      <p:ext uri="{BB962C8B-B14F-4D97-AF65-F5344CB8AC3E}">
        <p14:creationId xmlns:p14="http://schemas.microsoft.com/office/powerpoint/2010/main" val="537252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AF31104-3D8A-0B44-9CC2-F61A30B4AF0B}"/>
              </a:ext>
            </a:extLst>
          </p:cNvPr>
          <p:cNvSpPr>
            <a:spLocks noGrp="1"/>
          </p:cNvSpPr>
          <p:nvPr>
            <p:ph type="title"/>
          </p:nvPr>
        </p:nvSpPr>
        <p:spPr/>
        <p:txBody>
          <a:bodyPr/>
          <a:lstStyle/>
          <a:p>
            <a:r>
              <a:rPr lang="en-US" dirty="0"/>
              <a:t>Resource Utilization and Training</a:t>
            </a:r>
          </a:p>
        </p:txBody>
      </p:sp>
      <p:sp>
        <p:nvSpPr>
          <p:cNvPr id="4" name="Date Placeholder 3">
            <a:extLst>
              <a:ext uri="{FF2B5EF4-FFF2-40B4-BE49-F238E27FC236}">
                <a16:creationId xmlns:a16="http://schemas.microsoft.com/office/drawing/2014/main" id="{A69D9926-E230-B042-AAAC-E240A106E2A2}"/>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F378F346-C148-3D45-B589-43294848291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1340B75F-FBEC-2A43-82EA-CF34228987A8}"/>
              </a:ext>
            </a:extLst>
          </p:cNvPr>
          <p:cNvSpPr>
            <a:spLocks noGrp="1"/>
          </p:cNvSpPr>
          <p:nvPr>
            <p:ph type="sldNum" sz="quarter" idx="12"/>
          </p:nvPr>
        </p:nvSpPr>
        <p:spPr/>
        <p:txBody>
          <a:bodyPr/>
          <a:lstStyle/>
          <a:p>
            <a:fld id="{1E68DD1B-5CD8-424B-8173-19E182143E0A}" type="slidenum">
              <a:rPr lang="en-US" smtClean="0"/>
              <a:t>3</a:t>
            </a:fld>
            <a:endParaRPr lang="en-US"/>
          </a:p>
        </p:txBody>
      </p:sp>
    </p:spTree>
    <p:extLst>
      <p:ext uri="{BB962C8B-B14F-4D97-AF65-F5344CB8AC3E}">
        <p14:creationId xmlns:p14="http://schemas.microsoft.com/office/powerpoint/2010/main" val="2679952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C2B18CD-314B-E342-B3B4-7614009BEBC5}"/>
              </a:ext>
            </a:extLst>
          </p:cNvPr>
          <p:cNvSpPr>
            <a:spLocks noGrp="1"/>
          </p:cNvSpPr>
          <p:nvPr>
            <p:ph type="title"/>
          </p:nvPr>
        </p:nvSpPr>
        <p:spPr/>
        <p:txBody>
          <a:bodyPr/>
          <a:lstStyle/>
          <a:p>
            <a:r>
              <a:rPr lang="en-US" dirty="0"/>
              <a:t>KU Cluster core distribution</a:t>
            </a:r>
          </a:p>
        </p:txBody>
      </p:sp>
      <p:sp>
        <p:nvSpPr>
          <p:cNvPr id="6" name="Slide Number Placeholder 5">
            <a:extLst>
              <a:ext uri="{FF2B5EF4-FFF2-40B4-BE49-F238E27FC236}">
                <a16:creationId xmlns:a16="http://schemas.microsoft.com/office/drawing/2014/main" id="{FC26E497-6E76-9A43-9B29-13DEE3536AD1}"/>
              </a:ext>
            </a:extLst>
          </p:cNvPr>
          <p:cNvSpPr>
            <a:spLocks noGrp="1"/>
          </p:cNvSpPr>
          <p:nvPr>
            <p:ph type="sldNum" sz="quarter" idx="12"/>
          </p:nvPr>
        </p:nvSpPr>
        <p:spPr/>
        <p:txBody>
          <a:bodyPr/>
          <a:lstStyle/>
          <a:p>
            <a:fld id="{1E68DD1B-5CD8-424B-8173-19E182143E0A}" type="slidenum">
              <a:rPr lang="en-US" smtClean="0"/>
              <a:t>4</a:t>
            </a:fld>
            <a:endParaRPr lang="en-US"/>
          </a:p>
        </p:txBody>
      </p:sp>
      <p:graphicFrame>
        <p:nvGraphicFramePr>
          <p:cNvPr id="10" name="Content Placeholder 9">
            <a:extLst>
              <a:ext uri="{FF2B5EF4-FFF2-40B4-BE49-F238E27FC236}">
                <a16:creationId xmlns:a16="http://schemas.microsoft.com/office/drawing/2014/main" id="{F7222D7C-BAC1-C443-B54C-AF8CEA06189B}"/>
              </a:ext>
            </a:extLst>
          </p:cNvPr>
          <p:cNvGraphicFramePr>
            <a:graphicFrameLocks noGrp="1"/>
          </p:cNvGraphicFramePr>
          <p:nvPr>
            <p:ph idx="1"/>
          </p:nvPr>
        </p:nvGraphicFramePr>
        <p:xfrm>
          <a:off x="760413" y="1503363"/>
          <a:ext cx="8521700" cy="481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81546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5</a:t>
            </a:fld>
            <a:endParaRPr lang="en-US"/>
          </a:p>
        </p:txBody>
      </p:sp>
      <p:pic>
        <p:nvPicPr>
          <p:cNvPr id="7" name="Picture 6" descr="Chart, bar chart&#10;&#10;Description automatically generated">
            <a:extLst>
              <a:ext uri="{FF2B5EF4-FFF2-40B4-BE49-F238E27FC236}">
                <a16:creationId xmlns:a16="http://schemas.microsoft.com/office/drawing/2014/main" id="{B918DE19-42F5-9146-A399-03283203DA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9933"/>
            <a:ext cx="9906000" cy="5098133"/>
          </a:xfrm>
          <a:prstGeom prst="rect">
            <a:avLst/>
          </a:prstGeom>
        </p:spPr>
      </p:pic>
    </p:spTree>
    <p:extLst>
      <p:ext uri="{BB962C8B-B14F-4D97-AF65-F5344CB8AC3E}">
        <p14:creationId xmlns:p14="http://schemas.microsoft.com/office/powerpoint/2010/main" val="263794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6</a:t>
            </a:fld>
            <a:endParaRPr lang="en-US"/>
          </a:p>
        </p:txBody>
      </p:sp>
      <p:pic>
        <p:nvPicPr>
          <p:cNvPr id="3" name="Picture 2" descr="Chart, bar chart&#10;&#10;Description automatically generated">
            <a:extLst>
              <a:ext uri="{FF2B5EF4-FFF2-40B4-BE49-F238E27FC236}">
                <a16:creationId xmlns:a16="http://schemas.microsoft.com/office/drawing/2014/main" id="{4CB53460-733D-1348-A2F0-5704D092D2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40406"/>
            <a:ext cx="9906000" cy="5177188"/>
          </a:xfrm>
          <a:prstGeom prst="rect">
            <a:avLst/>
          </a:prstGeom>
        </p:spPr>
      </p:pic>
    </p:spTree>
    <p:extLst>
      <p:ext uri="{BB962C8B-B14F-4D97-AF65-F5344CB8AC3E}">
        <p14:creationId xmlns:p14="http://schemas.microsoft.com/office/powerpoint/2010/main" val="1999662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7</a:t>
            </a:fld>
            <a:endParaRPr lang="en-US"/>
          </a:p>
        </p:txBody>
      </p:sp>
      <p:pic>
        <p:nvPicPr>
          <p:cNvPr id="4" name="Picture 3" descr="Chart, bar chart&#10;&#10;Description automatically generated">
            <a:extLst>
              <a:ext uri="{FF2B5EF4-FFF2-40B4-BE49-F238E27FC236}">
                <a16:creationId xmlns:a16="http://schemas.microsoft.com/office/drawing/2014/main" id="{AB2090AE-E79F-CC4C-BEB6-AEB759CE2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43570"/>
            <a:ext cx="9906000" cy="5170859"/>
          </a:xfrm>
          <a:prstGeom prst="rect">
            <a:avLst/>
          </a:prstGeom>
        </p:spPr>
      </p:pic>
    </p:spTree>
    <p:extLst>
      <p:ext uri="{BB962C8B-B14F-4D97-AF65-F5344CB8AC3E}">
        <p14:creationId xmlns:p14="http://schemas.microsoft.com/office/powerpoint/2010/main" val="4139098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8</a:t>
            </a:fld>
            <a:endParaRPr lang="en-US"/>
          </a:p>
        </p:txBody>
      </p:sp>
      <p:pic>
        <p:nvPicPr>
          <p:cNvPr id="4" name="Picture 3" descr="Chart, bar chart, histogram&#10;&#10;Description automatically generated">
            <a:extLst>
              <a:ext uri="{FF2B5EF4-FFF2-40B4-BE49-F238E27FC236}">
                <a16:creationId xmlns:a16="http://schemas.microsoft.com/office/drawing/2014/main" id="{2FE22EFF-C6AA-EA40-83D1-A90C76131B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99436"/>
            <a:ext cx="9906000" cy="5259128"/>
          </a:xfrm>
          <a:prstGeom prst="rect">
            <a:avLst/>
          </a:prstGeom>
        </p:spPr>
      </p:pic>
    </p:spTree>
    <p:extLst>
      <p:ext uri="{BB962C8B-B14F-4D97-AF65-F5344CB8AC3E}">
        <p14:creationId xmlns:p14="http://schemas.microsoft.com/office/powerpoint/2010/main" val="345843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381500-920A-9240-8423-D6601A796116}"/>
              </a:ext>
            </a:extLst>
          </p:cNvPr>
          <p:cNvSpPr>
            <a:spLocks noGrp="1"/>
          </p:cNvSpPr>
          <p:nvPr>
            <p:ph type="sldNum" sz="quarter" idx="12"/>
          </p:nvPr>
        </p:nvSpPr>
        <p:spPr/>
        <p:txBody>
          <a:bodyPr/>
          <a:lstStyle/>
          <a:p>
            <a:fld id="{1E68DD1B-5CD8-424B-8173-19E182143E0A}" type="slidenum">
              <a:rPr lang="en-US" smtClean="0"/>
              <a:t>9</a:t>
            </a:fld>
            <a:endParaRPr lang="en-US"/>
          </a:p>
        </p:txBody>
      </p:sp>
      <p:sp>
        <p:nvSpPr>
          <p:cNvPr id="6" name="TextBox 5">
            <a:extLst>
              <a:ext uri="{FF2B5EF4-FFF2-40B4-BE49-F238E27FC236}">
                <a16:creationId xmlns:a16="http://schemas.microsoft.com/office/drawing/2014/main" id="{D095D356-119E-BF46-9F72-A9AC75C905C0}"/>
              </a:ext>
            </a:extLst>
          </p:cNvPr>
          <p:cNvSpPr txBox="1"/>
          <p:nvPr/>
        </p:nvSpPr>
        <p:spPr>
          <a:xfrm>
            <a:off x="763458" y="540341"/>
            <a:ext cx="8705007" cy="715581"/>
          </a:xfrm>
          <a:prstGeom prst="rect">
            <a:avLst/>
          </a:prstGeom>
          <a:noFill/>
        </p:spPr>
        <p:txBody>
          <a:bodyPr wrap="square" lIns="0" tIns="0" rIns="0" bIns="0" rtlCol="0">
            <a:spAutoFit/>
          </a:bodyPr>
          <a:lstStyle/>
          <a:p>
            <a:pPr algn="l"/>
            <a:r>
              <a:rPr lang="en-US" sz="1850" dirty="0"/>
              <a:t>KU HPC  Group Utilization for April 2021.</a:t>
            </a:r>
          </a:p>
          <a:p>
            <a:pPr marL="742950" lvl="1" indent="-285750">
              <a:buFont typeface="Arial" panose="020B0604020202020204" pitchFamily="34" charset="0"/>
              <a:buChar char="•"/>
            </a:pPr>
            <a:r>
              <a:rPr lang="en-US" sz="1400" dirty="0"/>
              <a:t>Groups were created under PI names, some of which have left KU, though the group remains. There is no link directly between HPC accounts and HR data. That is being worked on for the new cluster.</a:t>
            </a:r>
          </a:p>
        </p:txBody>
      </p:sp>
      <p:graphicFrame>
        <p:nvGraphicFramePr>
          <p:cNvPr id="2" name="Object 1">
            <a:extLst>
              <a:ext uri="{FF2B5EF4-FFF2-40B4-BE49-F238E27FC236}">
                <a16:creationId xmlns:a16="http://schemas.microsoft.com/office/drawing/2014/main" id="{C7ABFD4F-E674-7F4C-B546-A5868012358F}"/>
              </a:ext>
            </a:extLst>
          </p:cNvPr>
          <p:cNvGraphicFramePr>
            <a:graphicFrameLocks noChangeAspect="1"/>
          </p:cNvGraphicFramePr>
          <p:nvPr>
            <p:extLst>
              <p:ext uri="{D42A27DB-BD31-4B8C-83A1-F6EECF244321}">
                <p14:modId xmlns:p14="http://schemas.microsoft.com/office/powerpoint/2010/main" val="3730209692"/>
              </p:ext>
            </p:extLst>
          </p:nvPr>
        </p:nvGraphicFramePr>
        <p:xfrm>
          <a:off x="2490952" y="1283628"/>
          <a:ext cx="5967248" cy="5199722"/>
        </p:xfrm>
        <a:graphic>
          <a:graphicData uri="http://schemas.openxmlformats.org/presentationml/2006/ole">
            <mc:AlternateContent xmlns:mc="http://schemas.openxmlformats.org/markup-compatibility/2006">
              <mc:Choice xmlns:v="urn:schemas-microsoft-com:vml" Requires="v">
                <p:oleObj spid="_x0000_s1102" name="Worksheet" r:id="rId4" imgW="7010400" imgH="6108700" progId="Excel.Sheet.12">
                  <p:embed/>
                </p:oleObj>
              </mc:Choice>
              <mc:Fallback>
                <p:oleObj name="Worksheet" r:id="rId4" imgW="7010400" imgH="6108700" progId="Excel.Sheet.12">
                  <p:embed/>
                  <p:pic>
                    <p:nvPicPr>
                      <p:cNvPr id="0" name=""/>
                      <p:cNvPicPr/>
                      <p:nvPr/>
                    </p:nvPicPr>
                    <p:blipFill>
                      <a:blip r:embed="rId5"/>
                      <a:stretch>
                        <a:fillRect/>
                      </a:stretch>
                    </p:blipFill>
                    <p:spPr>
                      <a:xfrm>
                        <a:off x="2490952" y="1283628"/>
                        <a:ext cx="5967248" cy="5199722"/>
                      </a:xfrm>
                      <a:prstGeom prst="rect">
                        <a:avLst/>
                      </a:prstGeom>
                    </p:spPr>
                  </p:pic>
                </p:oleObj>
              </mc:Fallback>
            </mc:AlternateContent>
          </a:graphicData>
        </a:graphic>
      </p:graphicFrame>
    </p:spTree>
    <p:extLst>
      <p:ext uri="{BB962C8B-B14F-4D97-AF65-F5344CB8AC3E}">
        <p14:creationId xmlns:p14="http://schemas.microsoft.com/office/powerpoint/2010/main" val="3904714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C2B18CD-314B-E342-B3B4-7614009BEBC5}"/>
              </a:ext>
            </a:extLst>
          </p:cNvPr>
          <p:cNvSpPr>
            <a:spLocks noGrp="1"/>
          </p:cNvSpPr>
          <p:nvPr>
            <p:ph type="title"/>
          </p:nvPr>
        </p:nvSpPr>
        <p:spPr/>
        <p:txBody>
          <a:bodyPr/>
          <a:lstStyle/>
          <a:p>
            <a:r>
              <a:rPr lang="en-US" dirty="0"/>
              <a:t>PI Cluster core distribution</a:t>
            </a:r>
          </a:p>
        </p:txBody>
      </p:sp>
      <p:sp>
        <p:nvSpPr>
          <p:cNvPr id="6" name="Slide Number Placeholder 5">
            <a:extLst>
              <a:ext uri="{FF2B5EF4-FFF2-40B4-BE49-F238E27FC236}">
                <a16:creationId xmlns:a16="http://schemas.microsoft.com/office/drawing/2014/main" id="{FC26E497-6E76-9A43-9B29-13DEE3536AD1}"/>
              </a:ext>
            </a:extLst>
          </p:cNvPr>
          <p:cNvSpPr>
            <a:spLocks noGrp="1"/>
          </p:cNvSpPr>
          <p:nvPr>
            <p:ph type="sldNum" sz="quarter" idx="12"/>
          </p:nvPr>
        </p:nvSpPr>
        <p:spPr/>
        <p:txBody>
          <a:bodyPr/>
          <a:lstStyle/>
          <a:p>
            <a:fld id="{1E68DD1B-5CD8-424B-8173-19E182143E0A}" type="slidenum">
              <a:rPr lang="en-US" smtClean="0"/>
              <a:t>10</a:t>
            </a:fld>
            <a:endParaRPr lang="en-US"/>
          </a:p>
        </p:txBody>
      </p:sp>
      <p:graphicFrame>
        <p:nvGraphicFramePr>
          <p:cNvPr id="7" name="Content Placeholder 6">
            <a:extLst>
              <a:ext uri="{FF2B5EF4-FFF2-40B4-BE49-F238E27FC236}">
                <a16:creationId xmlns:a16="http://schemas.microsoft.com/office/drawing/2014/main" id="{B50C76DE-7CD8-CE4D-B768-A45CAEDDBC86}"/>
              </a:ext>
            </a:extLst>
          </p:cNvPr>
          <p:cNvGraphicFramePr>
            <a:graphicFrameLocks noGrp="1"/>
          </p:cNvGraphicFramePr>
          <p:nvPr>
            <p:ph idx="1"/>
          </p:nvPr>
        </p:nvGraphicFramePr>
        <p:xfrm>
          <a:off x="760413" y="1503363"/>
          <a:ext cx="8521700" cy="481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14753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381500-920A-9240-8423-D6601A796116}"/>
              </a:ext>
            </a:extLst>
          </p:cNvPr>
          <p:cNvSpPr>
            <a:spLocks noGrp="1"/>
          </p:cNvSpPr>
          <p:nvPr>
            <p:ph type="sldNum" sz="quarter" idx="12"/>
          </p:nvPr>
        </p:nvSpPr>
        <p:spPr/>
        <p:txBody>
          <a:bodyPr/>
          <a:lstStyle/>
          <a:p>
            <a:fld id="{1E68DD1B-5CD8-424B-8173-19E182143E0A}" type="slidenum">
              <a:rPr lang="en-US" smtClean="0"/>
              <a:t>11</a:t>
            </a:fld>
            <a:endParaRPr lang="en-US" dirty="0"/>
          </a:p>
        </p:txBody>
      </p:sp>
      <p:pic>
        <p:nvPicPr>
          <p:cNvPr id="3" name="Picture 2" descr="Chart, bar chart&#10;&#10;Description automatically generated">
            <a:extLst>
              <a:ext uri="{FF2B5EF4-FFF2-40B4-BE49-F238E27FC236}">
                <a16:creationId xmlns:a16="http://schemas.microsoft.com/office/drawing/2014/main" id="{ADB1C8A2-5C5B-2445-B299-2886C90522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8321"/>
            <a:ext cx="9906000" cy="5181358"/>
          </a:xfrm>
          <a:prstGeom prst="rect">
            <a:avLst/>
          </a:prstGeom>
        </p:spPr>
      </p:pic>
    </p:spTree>
    <p:extLst>
      <p:ext uri="{BB962C8B-B14F-4D97-AF65-F5344CB8AC3E}">
        <p14:creationId xmlns:p14="http://schemas.microsoft.com/office/powerpoint/2010/main" val="575675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381500-920A-9240-8423-D6601A796116}"/>
              </a:ext>
            </a:extLst>
          </p:cNvPr>
          <p:cNvSpPr>
            <a:spLocks noGrp="1"/>
          </p:cNvSpPr>
          <p:nvPr>
            <p:ph type="sldNum" sz="quarter" idx="12"/>
          </p:nvPr>
        </p:nvSpPr>
        <p:spPr/>
        <p:txBody>
          <a:bodyPr/>
          <a:lstStyle/>
          <a:p>
            <a:fld id="{1E68DD1B-5CD8-424B-8173-19E182143E0A}" type="slidenum">
              <a:rPr lang="en-US" smtClean="0"/>
              <a:t>12</a:t>
            </a:fld>
            <a:endParaRPr lang="en-US" dirty="0"/>
          </a:p>
        </p:txBody>
      </p:sp>
      <p:pic>
        <p:nvPicPr>
          <p:cNvPr id="5" name="Picture 4" descr="Chart, bar chart&#10;&#10;Description automatically generated">
            <a:extLst>
              <a:ext uri="{FF2B5EF4-FFF2-40B4-BE49-F238E27FC236}">
                <a16:creationId xmlns:a16="http://schemas.microsoft.com/office/drawing/2014/main" id="{EA461DDA-30DB-A446-88AC-0FBB737D52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3158"/>
            <a:ext cx="9906000" cy="5311684"/>
          </a:xfrm>
          <a:prstGeom prst="rect">
            <a:avLst/>
          </a:prstGeom>
        </p:spPr>
      </p:pic>
    </p:spTree>
    <p:extLst>
      <p:ext uri="{BB962C8B-B14F-4D97-AF65-F5344CB8AC3E}">
        <p14:creationId xmlns:p14="http://schemas.microsoft.com/office/powerpoint/2010/main" val="1080538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13</a:t>
            </a:fld>
            <a:endParaRPr lang="en-US"/>
          </a:p>
        </p:txBody>
      </p:sp>
      <p:graphicFrame>
        <p:nvGraphicFramePr>
          <p:cNvPr id="10" name="Object 9">
            <a:extLst>
              <a:ext uri="{FF2B5EF4-FFF2-40B4-BE49-F238E27FC236}">
                <a16:creationId xmlns:a16="http://schemas.microsoft.com/office/drawing/2014/main" id="{5A9764EE-DC33-1C4B-BAAA-4235A24D773A}"/>
              </a:ext>
            </a:extLst>
          </p:cNvPr>
          <p:cNvGraphicFramePr>
            <a:graphicFrameLocks noChangeAspect="1"/>
          </p:cNvGraphicFramePr>
          <p:nvPr>
            <p:extLst>
              <p:ext uri="{D42A27DB-BD31-4B8C-83A1-F6EECF244321}">
                <p14:modId xmlns:p14="http://schemas.microsoft.com/office/powerpoint/2010/main" val="1046823934"/>
              </p:ext>
            </p:extLst>
          </p:nvPr>
        </p:nvGraphicFramePr>
        <p:xfrm>
          <a:off x="449944" y="569441"/>
          <a:ext cx="9252856" cy="6085357"/>
        </p:xfrm>
        <a:graphic>
          <a:graphicData uri="http://schemas.openxmlformats.org/presentationml/2006/ole">
            <mc:AlternateContent xmlns:mc="http://schemas.openxmlformats.org/markup-compatibility/2006">
              <mc:Choice xmlns:v="urn:schemas-microsoft-com:vml" Requires="v">
                <p:oleObj spid="_x0000_s2053" name="Worksheet" r:id="rId4" imgW="11531600" imgH="10566400" progId="Excel.Sheet.12">
                  <p:embed/>
                </p:oleObj>
              </mc:Choice>
              <mc:Fallback>
                <p:oleObj name="Worksheet" r:id="rId4" imgW="11531600" imgH="10566400" progId="Excel.Sheet.12">
                  <p:embed/>
                  <p:pic>
                    <p:nvPicPr>
                      <p:cNvPr id="0" name=""/>
                      <p:cNvPicPr/>
                      <p:nvPr/>
                    </p:nvPicPr>
                    <p:blipFill>
                      <a:blip r:embed="rId5"/>
                      <a:stretch>
                        <a:fillRect/>
                      </a:stretch>
                    </p:blipFill>
                    <p:spPr>
                      <a:xfrm>
                        <a:off x="449944" y="569441"/>
                        <a:ext cx="9252856" cy="6085357"/>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DB2C74D3-EBE6-0241-8DB0-87BF21200B4D}"/>
              </a:ext>
            </a:extLst>
          </p:cNvPr>
          <p:cNvSpPr txBox="1"/>
          <p:nvPr/>
        </p:nvSpPr>
        <p:spPr>
          <a:xfrm flipH="1">
            <a:off x="3512490" y="203201"/>
            <a:ext cx="2881020" cy="307777"/>
          </a:xfrm>
          <a:prstGeom prst="rect">
            <a:avLst/>
          </a:prstGeom>
          <a:noFill/>
        </p:spPr>
        <p:txBody>
          <a:bodyPr wrap="square" lIns="0" tIns="0" rIns="0" bIns="0" rtlCol="0">
            <a:spAutoFit/>
          </a:bodyPr>
          <a:lstStyle/>
          <a:p>
            <a:r>
              <a:rPr lang="en-US" sz="2000" dirty="0"/>
              <a:t>Status of KPI’s</a:t>
            </a:r>
            <a:endParaRPr lang="en-AE" sz="1850" dirty="0"/>
          </a:p>
        </p:txBody>
      </p:sp>
    </p:spTree>
    <p:extLst>
      <p:ext uri="{BB962C8B-B14F-4D97-AF65-F5344CB8AC3E}">
        <p14:creationId xmlns:p14="http://schemas.microsoft.com/office/powerpoint/2010/main" val="1499910277"/>
      </p:ext>
    </p:extLst>
  </p:cSld>
  <p:clrMapOvr>
    <a:masterClrMapping/>
  </p:clrMapOvr>
</p:sld>
</file>

<file path=ppt/theme/theme1.xml><?xml version="1.0" encoding="utf-8"?>
<a:theme xmlns:a="http://schemas.openxmlformats.org/drawingml/2006/main" name="KU Theme">
  <a:themeElements>
    <a:clrScheme name="KU">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03_dureid" id="{E5C0B40D-4810-4141-950B-63592BF28D0C}" vid="{E0DD810D-9114-6044-9274-3619F9170D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13407</TotalTime>
  <Words>377</Words>
  <Application>Microsoft Macintosh PowerPoint</Application>
  <PresentationFormat>A4 Paper (210x297 mm)</PresentationFormat>
  <Paragraphs>60</Paragraphs>
  <Slides>13</Slides>
  <Notes>10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7" baseType="lpstr">
      <vt:lpstr>Arial</vt:lpstr>
      <vt:lpstr>Calibri</vt:lpstr>
      <vt:lpstr>KU Theme</vt:lpstr>
      <vt:lpstr>Microsoft Excel Worksheet</vt:lpstr>
      <vt:lpstr>Research Computing Update</vt:lpstr>
      <vt:lpstr>HPC Resources</vt:lpstr>
      <vt:lpstr>Resource Utilization and Training</vt:lpstr>
      <vt:lpstr>KU Cluster core distribution</vt:lpstr>
      <vt:lpstr>PowerPoint Presentation</vt:lpstr>
      <vt:lpstr>PowerPoint Presentation</vt:lpstr>
      <vt:lpstr>PowerPoint Presentation</vt:lpstr>
      <vt:lpstr>PowerPoint Presentation</vt:lpstr>
      <vt:lpstr>PowerPoint Presentation</vt:lpstr>
      <vt:lpstr>PI Cluster core distribution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Computing Update</dc:title>
  <dc:creator>Dureid El Moghraby</dc:creator>
  <cp:lastModifiedBy>Dureid El Moghraby</cp:lastModifiedBy>
  <cp:revision>34</cp:revision>
  <dcterms:created xsi:type="dcterms:W3CDTF">2020-11-15T07:17:18Z</dcterms:created>
  <dcterms:modified xsi:type="dcterms:W3CDTF">2021-07-11T08:05:05Z</dcterms:modified>
</cp:coreProperties>
</file>