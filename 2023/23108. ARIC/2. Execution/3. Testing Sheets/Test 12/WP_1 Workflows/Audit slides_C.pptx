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93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9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4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4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4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7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E85B-21E9-4143-9BF6-DE6B09EFD558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F44D0-239C-451F-AAF9-283971D9A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1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40305" y="1259748"/>
            <a:ext cx="2353417" cy="1332167"/>
            <a:chOff x="1686295" y="1235034"/>
            <a:chExt cx="2353417" cy="1332167"/>
          </a:xfrm>
        </p:grpSpPr>
        <p:sp>
          <p:nvSpPr>
            <p:cNvPr id="4" name="Rectangle 3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Corresponding author (CA)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7705" y="1551538"/>
              <a:ext cx="234200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 sends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paper and IP </a:t>
              </a:r>
              <a:r>
                <a:rPr lang="en-US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informations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co-director at least 6 weeks before planned submission date</a:t>
              </a:r>
              <a:r>
                <a: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en-US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4544824" y="1259748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44824" y="1259748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69734" y="1259749"/>
            <a:ext cx="174883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44825" y="1649347"/>
            <a:ext cx="234200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 reviews the paper and if acceptable forwards to AHC PM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1977" y="297845"/>
            <a:ext cx="2409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Permissions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3682312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749351" y="1263864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49351" y="1263864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781092" y="1259747"/>
            <a:ext cx="2361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AHC Project Manager (PM)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49352" y="1653463"/>
            <a:ext cx="23420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 reviews the paper and responds to CD</a:t>
            </a:r>
            <a:endParaRPr lang="en-US" dirty="0"/>
          </a:p>
        </p:txBody>
      </p:sp>
      <p:sp>
        <p:nvSpPr>
          <p:cNvPr id="31" name="Right Arrow 30"/>
          <p:cNvSpPr/>
          <p:nvPr/>
        </p:nvSpPr>
        <p:spPr>
          <a:xfrm>
            <a:off x="6886831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2555121" y="2514881"/>
            <a:ext cx="5" cy="7043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536649" y="3210389"/>
            <a:ext cx="300681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5518750" y="2530408"/>
            <a:ext cx="1" cy="7046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6122710" y="2513927"/>
            <a:ext cx="5" cy="7211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104238" y="3226065"/>
            <a:ext cx="28609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8929591" y="2525356"/>
            <a:ext cx="9235" cy="697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865154" y="2855609"/>
            <a:ext cx="2271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provides feedback to CA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6436360" y="2696453"/>
            <a:ext cx="2379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 provides feedback to CD and CD feeds back to CA</a:t>
            </a:r>
            <a:endParaRPr lang="en-US" sz="1400" dirty="0"/>
          </a:p>
        </p:txBody>
      </p:sp>
      <p:sp>
        <p:nvSpPr>
          <p:cNvPr id="52" name="Rectangle 51"/>
          <p:cNvSpPr/>
          <p:nvPr/>
        </p:nvSpPr>
        <p:spPr>
          <a:xfrm>
            <a:off x="5518750" y="2541694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8961646" y="2544354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10294378" y="1495458"/>
            <a:ext cx="447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400" dirty="0"/>
          </a:p>
        </p:txBody>
      </p:sp>
      <p:sp>
        <p:nvSpPr>
          <p:cNvPr id="55" name="Rectangle 54"/>
          <p:cNvSpPr/>
          <p:nvPr/>
        </p:nvSpPr>
        <p:spPr>
          <a:xfrm>
            <a:off x="7020186" y="1410976"/>
            <a:ext cx="447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7744735" y="4298009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7744735" y="4298009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744736" y="4687608"/>
            <a:ext cx="23974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informs CA that paper has been cleared and maintains a final copy for records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8213116" y="4288179"/>
            <a:ext cx="174883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539628" y="4288179"/>
            <a:ext cx="2342007" cy="1270660"/>
            <a:chOff x="1686295" y="1235034"/>
            <a:chExt cx="2342007" cy="1270660"/>
          </a:xfrm>
        </p:grpSpPr>
        <p:sp>
          <p:nvSpPr>
            <p:cNvPr id="63" name="Rectangle 62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Corresponding author (CA)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846373" y="1660269"/>
              <a:ext cx="2181929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 submits paper and updates CD on decision from publisher</a:t>
              </a:r>
              <a:endParaRPr lang="en-US" dirty="0"/>
            </a:p>
          </p:txBody>
        </p:sp>
      </p:grpSp>
      <p:sp>
        <p:nvSpPr>
          <p:cNvPr id="67" name="Right Arrow 66"/>
          <p:cNvSpPr/>
          <p:nvPr/>
        </p:nvSpPr>
        <p:spPr>
          <a:xfrm flipH="1">
            <a:off x="6886831" y="4732334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Arrow 67"/>
          <p:cNvSpPr/>
          <p:nvPr/>
        </p:nvSpPr>
        <p:spPr>
          <a:xfrm flipH="1">
            <a:off x="10086742" y="4761586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0858973" y="1939636"/>
            <a:ext cx="196954" cy="3174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0086742" y="1769082"/>
            <a:ext cx="972063" cy="253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5518749" y="5554017"/>
            <a:ext cx="1" cy="7046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9089148" y="5563432"/>
            <a:ext cx="5" cy="7043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515756" y="6245434"/>
            <a:ext cx="3591864" cy="132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710630" y="5915600"/>
            <a:ext cx="32974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 informs CD on decision from publisher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90895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40305" y="2770497"/>
            <a:ext cx="2342008" cy="1270660"/>
            <a:chOff x="1686295" y="1235034"/>
            <a:chExt cx="2342008" cy="1270660"/>
          </a:xfrm>
        </p:grpSpPr>
        <p:sp>
          <p:nvSpPr>
            <p:cNvPr id="4" name="Rectangle 3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ARIC Lab Engineer (LE)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686296" y="1624633"/>
              <a:ext cx="2342007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 establishes a maintenance plan for ARIC and updates it also based on users' feedback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544824" y="2770497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44824" y="2770497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06732" y="2751199"/>
            <a:ext cx="1996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ARIC Lab Engineer (LE)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13" y="3071597"/>
            <a:ext cx="23420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appropriate, LE identifies if maintenance can be done in house or requires input from external body.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1977" y="476755"/>
            <a:ext cx="1845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Plan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749351" y="2774613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49351" y="2774613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156888" y="2751198"/>
            <a:ext cx="2361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49352" y="3164212"/>
            <a:ext cx="239284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reviews maintenance needs and approves if external maintenance is required</a:t>
            </a:r>
            <a:endParaRPr lang="en-US" dirty="0"/>
          </a:p>
        </p:txBody>
      </p:sp>
      <p:sp>
        <p:nvSpPr>
          <p:cNvPr id="31" name="Right Arrow 30"/>
          <p:cNvSpPr/>
          <p:nvPr/>
        </p:nvSpPr>
        <p:spPr>
          <a:xfrm>
            <a:off x="6886831" y="3202268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0294378" y="3006207"/>
            <a:ext cx="447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400" dirty="0"/>
          </a:p>
        </p:txBody>
      </p:sp>
      <p:sp>
        <p:nvSpPr>
          <p:cNvPr id="55" name="Rectangle 54"/>
          <p:cNvSpPr/>
          <p:nvPr/>
        </p:nvSpPr>
        <p:spPr>
          <a:xfrm>
            <a:off x="6898265" y="2977887"/>
            <a:ext cx="792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7744735" y="5053384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7744735" y="5021202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744736" y="5442983"/>
            <a:ext cx="239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places PR for maintenance with external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upplier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863276" y="5016430"/>
            <a:ext cx="2046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ARIC Lab Engineer (LE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539628" y="759797"/>
            <a:ext cx="2342007" cy="1270660"/>
            <a:chOff x="1686295" y="1235034"/>
            <a:chExt cx="2342007" cy="1270660"/>
          </a:xfrm>
        </p:grpSpPr>
        <p:sp>
          <p:nvSpPr>
            <p:cNvPr id="63" name="Rectangle 62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ARIC Lab Engineer (LE)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771529" y="1758942"/>
              <a:ext cx="218192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 undertakes maintenance</a:t>
              </a:r>
              <a:endParaRPr lang="en-US" dirty="0"/>
            </a:p>
          </p:txBody>
        </p:sp>
      </p:grpSp>
      <p:sp>
        <p:nvSpPr>
          <p:cNvPr id="68" name="Right Arrow 67"/>
          <p:cNvSpPr/>
          <p:nvPr/>
        </p:nvSpPr>
        <p:spPr>
          <a:xfrm flipH="1">
            <a:off x="10086742" y="5516961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0858972" y="3279831"/>
            <a:ext cx="199833" cy="25895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0086742" y="3279831"/>
            <a:ext cx="972063" cy="253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ight Arrow 83"/>
          <p:cNvSpPr/>
          <p:nvPr/>
        </p:nvSpPr>
        <p:spPr>
          <a:xfrm>
            <a:off x="3682312" y="3202268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ight Arrow 84"/>
          <p:cNvSpPr/>
          <p:nvPr/>
        </p:nvSpPr>
        <p:spPr>
          <a:xfrm rot="16200000">
            <a:off x="5303975" y="2201329"/>
            <a:ext cx="711687" cy="4085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5743017" y="2268088"/>
            <a:ext cx="813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In-house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0745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24404" y="1259748"/>
            <a:ext cx="2577230" cy="1295670"/>
            <a:chOff x="1686295" y="1235034"/>
            <a:chExt cx="2365339" cy="1295670"/>
          </a:xfrm>
        </p:grpSpPr>
        <p:sp>
          <p:nvSpPr>
            <p:cNvPr id="4" name="Rectangle 3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Researcher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09627" y="1576597"/>
              <a:ext cx="234200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esearcher reserves the equipment using online service (large equipment) or booking form (small equipment)</a:t>
              </a:r>
              <a:endParaRPr lang="en-US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4544824" y="1259748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44824" y="1259748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780110" y="1259748"/>
            <a:ext cx="2037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ARIC Lab Engineer (LE)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44823" y="1596950"/>
            <a:ext cx="23420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monitors equipment usage on a six monthly basis and completes Excel monitoring sheet.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1977" y="297845"/>
            <a:ext cx="3191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of Equipment Usage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3682312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749351" y="1263864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49351" y="1263864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114056" y="1272216"/>
            <a:ext cx="2361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49352" y="1653463"/>
            <a:ext cx="234200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sends the six monthly Excel monitoring sheet to the CD for review</a:t>
            </a:r>
            <a:endParaRPr lang="en-US" dirty="0"/>
          </a:p>
        </p:txBody>
      </p:sp>
      <p:sp>
        <p:nvSpPr>
          <p:cNvPr id="31" name="Right Arrow 30"/>
          <p:cNvSpPr/>
          <p:nvPr/>
        </p:nvSpPr>
        <p:spPr>
          <a:xfrm>
            <a:off x="6886831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593279" y="4298009"/>
            <a:ext cx="4493464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5590401" y="4298009"/>
            <a:ext cx="4496341" cy="3211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830785" y="4562105"/>
            <a:ext cx="417070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informs SMB if equipment is not being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is under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or </a:t>
            </a:r>
            <a:r>
              <a:rPr lang="en-US" sz="1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requests for one equipment are exceeding the availability, and that CDs give visibility on allocation to external projects / researchers.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041716" y="4298009"/>
            <a:ext cx="174883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ight Arrow 67"/>
          <p:cNvSpPr/>
          <p:nvPr/>
        </p:nvSpPr>
        <p:spPr>
          <a:xfrm flipH="1">
            <a:off x="10086742" y="4761586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0858973" y="1939636"/>
            <a:ext cx="196954" cy="3174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10086742" y="1769082"/>
            <a:ext cx="972063" cy="253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6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84287" y="2318528"/>
            <a:ext cx="2577230" cy="1295670"/>
            <a:chOff x="1686295" y="1235034"/>
            <a:chExt cx="2365339" cy="1295670"/>
          </a:xfrm>
        </p:grpSpPr>
        <p:sp>
          <p:nvSpPr>
            <p:cNvPr id="4" name="Rectangle 3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ARIC Co-Director (CD)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09627" y="1576597"/>
              <a:ext cx="234200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 will contact ARIC researchers at the end of each month to request they back-up data to the ARIC shared drive.</a:t>
              </a:r>
              <a:endParaRPr lang="en-US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4804707" y="2318528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804707" y="2318528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73169" y="2297879"/>
            <a:ext cx="216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ARIC Researcher (AR)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04706" y="2655730"/>
            <a:ext cx="23420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 backs up research data to ARIC shared drive.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54960" y="615480"/>
            <a:ext cx="1460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Back-up</a:t>
            </a:r>
            <a:endParaRPr lang="en-US" dirty="0"/>
          </a:p>
        </p:txBody>
      </p:sp>
      <p:sp>
        <p:nvSpPr>
          <p:cNvPr id="15" name="Right Arrow 14"/>
          <p:cNvSpPr/>
          <p:nvPr/>
        </p:nvSpPr>
        <p:spPr>
          <a:xfrm>
            <a:off x="3942195" y="275029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009234" y="2322644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009234" y="2322644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8373939" y="2330996"/>
            <a:ext cx="2361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04618" y="2660263"/>
            <a:ext cx="23420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ARIC CD will check shared drive every three months to ensure that data is being backed up.</a:t>
            </a:r>
            <a:endParaRPr lang="en-US" dirty="0"/>
          </a:p>
        </p:txBody>
      </p:sp>
      <p:sp>
        <p:nvSpPr>
          <p:cNvPr id="31" name="Right Arrow 30"/>
          <p:cNvSpPr/>
          <p:nvPr/>
        </p:nvSpPr>
        <p:spPr>
          <a:xfrm>
            <a:off x="7146714" y="275029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966837" y="3593304"/>
            <a:ext cx="5" cy="7211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966837" y="4282017"/>
            <a:ext cx="3258260" cy="282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 flipV="1">
            <a:off x="9189474" y="3584136"/>
            <a:ext cx="9235" cy="697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157394" y="3713578"/>
            <a:ext cx="30252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to remind AR to back-up research data on a monthly basis</a:t>
            </a:r>
            <a:endParaRPr lang="en-US" sz="1400" dirty="0"/>
          </a:p>
        </p:txBody>
      </p:sp>
      <p:sp>
        <p:nvSpPr>
          <p:cNvPr id="34" name="Rectangle 33"/>
          <p:cNvSpPr/>
          <p:nvPr/>
        </p:nvSpPr>
        <p:spPr>
          <a:xfrm>
            <a:off x="9221529" y="3603134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5997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340305" y="1259748"/>
            <a:ext cx="2342008" cy="1270660"/>
            <a:chOff x="1686295" y="1235034"/>
            <a:chExt cx="2342008" cy="1270660"/>
          </a:xfrm>
        </p:grpSpPr>
        <p:sp>
          <p:nvSpPr>
            <p:cNvPr id="3" name="Rectangle 2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78992" y="1235034"/>
              <a:ext cx="21566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Lead (PL)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686296" y="1624633"/>
              <a:ext cx="23420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 identifies technology for possible patent application.</a:t>
              </a:r>
              <a:endParaRPr lang="en-US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4544824" y="1259748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44824" y="1259748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169734" y="1259749"/>
            <a:ext cx="174883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Co-Director (CD)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1977" y="297845"/>
            <a:ext cx="1986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Patent Applications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3682312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9351" y="1263864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9351" y="1263864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781092" y="1259747"/>
            <a:ext cx="2361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AHC Project Manager (PM)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886831" y="1691519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744735" y="4298009"/>
            <a:ext cx="2342007" cy="127066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744735" y="4298009"/>
            <a:ext cx="2342007" cy="308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4539628" y="4288179"/>
            <a:ext cx="2342007" cy="1270660"/>
            <a:chOff x="1686295" y="1235034"/>
            <a:chExt cx="2342007" cy="1270660"/>
          </a:xfrm>
        </p:grpSpPr>
        <p:sp>
          <p:nvSpPr>
            <p:cNvPr id="35" name="Rectangle 34"/>
            <p:cNvSpPr/>
            <p:nvPr/>
          </p:nvSpPr>
          <p:spPr>
            <a:xfrm>
              <a:off x="1686295" y="1235034"/>
              <a:ext cx="2342007" cy="1270660"/>
            </a:xfrm>
            <a:prstGeom prst="rect">
              <a:avLst/>
            </a:prstGeom>
            <a:solidFill>
              <a:srgbClr val="00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686295" y="1235034"/>
              <a:ext cx="2342007" cy="30875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ight Arrow 38"/>
          <p:cNvSpPr/>
          <p:nvPr/>
        </p:nvSpPr>
        <p:spPr>
          <a:xfrm flipH="1">
            <a:off x="6886831" y="4732334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flipH="1">
            <a:off x="10086742" y="4761586"/>
            <a:ext cx="862511" cy="4695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0858973" y="1939636"/>
            <a:ext cx="196954" cy="3174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0086742" y="1769082"/>
            <a:ext cx="972063" cy="253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622679" y="1564677"/>
            <a:ext cx="22133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request key written information to PL and prepares a short summary with core details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838450" y="1660971"/>
            <a:ext cx="22133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reviews the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disclosure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responds to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endParaRPr lang="en-US" sz="1400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5729305" y="2545022"/>
            <a:ext cx="5" cy="7211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729305" y="3233735"/>
            <a:ext cx="3258260" cy="282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8951942" y="2535854"/>
            <a:ext cx="9235" cy="697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919862" y="2665296"/>
            <a:ext cx="30252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provides feedback to CD and CD feeds back to P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8983997" y="2554852"/>
            <a:ext cx="4042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10294378" y="1385246"/>
            <a:ext cx="4472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7847234" y="4300792"/>
            <a:ext cx="2156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Lead (PL)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754538" y="4656523"/>
            <a:ext cx="233681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 links with KU Technology Management Office to jointly prepare the patent application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39466" y="4311181"/>
            <a:ext cx="2332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 Technology management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45118" y="4635668"/>
            <a:ext cx="23368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 Technology Management Office submit the patent application for internal and external 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27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8146</TotalTime>
  <Words>484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Wesley Cantwell</dc:creator>
  <cp:lastModifiedBy>Wesley Cantwell</cp:lastModifiedBy>
  <cp:revision>23</cp:revision>
  <dcterms:created xsi:type="dcterms:W3CDTF">2021-04-27T07:10:59Z</dcterms:created>
  <dcterms:modified xsi:type="dcterms:W3CDTF">2021-05-17T08:57:45Z</dcterms:modified>
</cp:coreProperties>
</file>