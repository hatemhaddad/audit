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9" r:id="rId2"/>
    <p:sldMasterId id="2147483735" r:id="rId3"/>
  </p:sldMasterIdLst>
  <p:notesMasterIdLst>
    <p:notesMasterId r:id="rId29"/>
  </p:notesMasterIdLst>
  <p:sldIdLst>
    <p:sldId id="257" r:id="rId4"/>
    <p:sldId id="409" r:id="rId5"/>
    <p:sldId id="410" r:id="rId6"/>
    <p:sldId id="411" r:id="rId7"/>
    <p:sldId id="408" r:id="rId8"/>
    <p:sldId id="398" r:id="rId9"/>
    <p:sldId id="399" r:id="rId10"/>
    <p:sldId id="397" r:id="rId11"/>
    <p:sldId id="323" r:id="rId12"/>
    <p:sldId id="415" r:id="rId13"/>
    <p:sldId id="412" r:id="rId14"/>
    <p:sldId id="413" r:id="rId15"/>
    <p:sldId id="414" r:id="rId16"/>
    <p:sldId id="364" r:id="rId17"/>
    <p:sldId id="405" r:id="rId18"/>
    <p:sldId id="406" r:id="rId19"/>
    <p:sldId id="407" r:id="rId20"/>
    <p:sldId id="388" r:id="rId21"/>
    <p:sldId id="403" r:id="rId22"/>
    <p:sldId id="393" r:id="rId23"/>
    <p:sldId id="404" r:id="rId24"/>
    <p:sldId id="401" r:id="rId25"/>
    <p:sldId id="395" r:id="rId26"/>
    <p:sldId id="400" r:id="rId27"/>
    <p:sldId id="402" r:id="rId2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FDA"/>
    <a:srgbClr val="305496"/>
    <a:srgbClr val="0000B8"/>
    <a:srgbClr val="0047BA"/>
    <a:srgbClr val="7DAFFF"/>
    <a:srgbClr val="5B81E1"/>
    <a:srgbClr val="4D60EF"/>
    <a:srgbClr val="3D87FF"/>
    <a:srgbClr val="BED7FF"/>
    <a:srgbClr val="1A1A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6736A-9088-463C-B787-0EC4C25A687D}" v="4" dt="2020-05-04T09:34:10.399"/>
    <p1510:client id="{1AF48960-E328-4193-83AB-7E9FCFB64666}" v="25" dt="2020-05-04T08:15:58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0.2.107\KU_Staff_Share\KUSTAR%20ADMIN\BUDGET\BUDGETS\2022%20Budget\Consolidation%202022%20budget\Final%20Consolidation\Budget%202020%20and%202021%202022%20-2024%20all%20CC%20Budget%20performance%20-%20Opex%20and%20Capex%20VP%20Feedback%20V.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0.2.107\KU_Staff_Share\KUSTAR%20ADMIN\BUDGET\BUDGETS\2022%20Budget\Consolidation%202022%20budget\Final%20Consolidation\Budget%202020%20and%202021%202022%20-2024%20all%20CC%20Budget%20performance%20-%20Opex%20and%20Capex%20VP%20Feedbac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sz="1400" b="1" i="0" u="none" strike="noStrike" baseline="0">
                <a:effectLst/>
              </a:rPr>
              <a:t>2018 – 2024 Budget by Chapters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CH1 &amp; Ch2 &amp; Ch3'!$A$20</c:f>
              <c:strCache>
                <c:ptCount val="1"/>
                <c:pt idx="0">
                  <c:v>CH1-Manpower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'Pivot CH1 &amp; Ch2 &amp; Ch3'!$B$20:$H$20</c:f>
              <c:numCache>
                <c:formatCode>#,##0</c:formatCode>
                <c:ptCount val="7"/>
                <c:pt idx="0">
                  <c:v>666857437</c:v>
                </c:pt>
                <c:pt idx="1">
                  <c:v>734104574</c:v>
                </c:pt>
                <c:pt idx="2">
                  <c:v>541385100</c:v>
                </c:pt>
                <c:pt idx="3">
                  <c:v>583465683</c:v>
                </c:pt>
                <c:pt idx="4">
                  <c:v>624050000</c:v>
                </c:pt>
                <c:pt idx="5">
                  <c:v>624050000</c:v>
                </c:pt>
                <c:pt idx="6">
                  <c:v>624050000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'Pivot CH1 &amp; Ch2 &amp; Ch3'!$B$19:$H$19</c15:sqref>
                        </c15:formulaRef>
                      </c:ext>
                    </c:extLst>
                    <c:strCache>
                      <c:ptCount val="7"/>
                      <c:pt idx="0">
                        <c:v> 2018 Actual </c:v>
                      </c:pt>
                      <c:pt idx="1">
                        <c:v> 2019 Actual </c:v>
                      </c:pt>
                      <c:pt idx="2">
                        <c:v> 2020 Actual </c:v>
                      </c:pt>
                      <c:pt idx="3">
                        <c:v> 2021 R. Budget</c:v>
                      </c:pt>
                      <c:pt idx="4">
                        <c:v> 2022 Budget</c:v>
                      </c:pt>
                      <c:pt idx="5">
                        <c:v> 2023 Budget</c:v>
                      </c:pt>
                      <c:pt idx="6">
                        <c:v> 2024 Budget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5743-4312-BA7F-72F00BCF4D72}"/>
            </c:ext>
          </c:extLst>
        </c:ser>
        <c:ser>
          <c:idx val="1"/>
          <c:order val="1"/>
          <c:tx>
            <c:strRef>
              <c:f>'Pivot CH1 &amp; Ch2 &amp; Ch3'!$A$21</c:f>
              <c:strCache>
                <c:ptCount val="1"/>
                <c:pt idx="0">
                  <c:v>CH2-Opex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'Pivot CH1 &amp; Ch2 &amp; Ch3'!$B$21:$H$21</c:f>
              <c:numCache>
                <c:formatCode>#,##0</c:formatCode>
                <c:ptCount val="7"/>
                <c:pt idx="0">
                  <c:v>411577453.85999995</c:v>
                </c:pt>
                <c:pt idx="1">
                  <c:v>453454658.98000032</c:v>
                </c:pt>
                <c:pt idx="2">
                  <c:v>436208130.03999996</c:v>
                </c:pt>
                <c:pt idx="3">
                  <c:v>398910380</c:v>
                </c:pt>
                <c:pt idx="4">
                  <c:v>796477206.68028796</c:v>
                </c:pt>
                <c:pt idx="5">
                  <c:v>878458164.12925351</c:v>
                </c:pt>
                <c:pt idx="6">
                  <c:v>918226652.50643361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'Pivot CH1 &amp; Ch2 &amp; Ch3'!$B$19:$H$19</c15:sqref>
                        </c15:formulaRef>
                      </c:ext>
                    </c:extLst>
                    <c:strCache>
                      <c:ptCount val="7"/>
                      <c:pt idx="0">
                        <c:v> 2018 Actual </c:v>
                      </c:pt>
                      <c:pt idx="1">
                        <c:v> 2019 Actual </c:v>
                      </c:pt>
                      <c:pt idx="2">
                        <c:v> 2020 Actual </c:v>
                      </c:pt>
                      <c:pt idx="3">
                        <c:v> 2021 R. Budget</c:v>
                      </c:pt>
                      <c:pt idx="4">
                        <c:v> 2022 Budget</c:v>
                      </c:pt>
                      <c:pt idx="5">
                        <c:v> 2023 Budget</c:v>
                      </c:pt>
                      <c:pt idx="6">
                        <c:v> 2024 Budget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5743-4312-BA7F-72F00BCF4D72}"/>
            </c:ext>
          </c:extLst>
        </c:ser>
        <c:ser>
          <c:idx val="2"/>
          <c:order val="2"/>
          <c:tx>
            <c:strRef>
              <c:f>'Pivot CH1 &amp; Ch2 &amp; Ch3'!$A$22</c:f>
              <c:strCache>
                <c:ptCount val="1"/>
                <c:pt idx="0">
                  <c:v>CH3-Capex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'Pivot CH1 &amp; Ch2 &amp; Ch3'!$B$22:$H$22</c:f>
              <c:numCache>
                <c:formatCode>#,##0</c:formatCode>
                <c:ptCount val="7"/>
                <c:pt idx="0">
                  <c:v>50440079.769999996</c:v>
                </c:pt>
                <c:pt idx="1">
                  <c:v>156951793.55999997</c:v>
                </c:pt>
                <c:pt idx="2">
                  <c:v>84546441.870000005</c:v>
                </c:pt>
                <c:pt idx="3">
                  <c:v>87794769</c:v>
                </c:pt>
                <c:pt idx="4">
                  <c:v>439552696.04329002</c:v>
                </c:pt>
                <c:pt idx="5">
                  <c:v>174465652.5779545</c:v>
                </c:pt>
                <c:pt idx="6">
                  <c:v>82288069.470262185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'Pivot CH1 &amp; Ch2 &amp; Ch3'!$B$19:$H$19</c15:sqref>
                        </c15:formulaRef>
                      </c:ext>
                    </c:extLst>
                    <c:strCache>
                      <c:ptCount val="7"/>
                      <c:pt idx="0">
                        <c:v> 2018 Actual </c:v>
                      </c:pt>
                      <c:pt idx="1">
                        <c:v> 2019 Actual </c:v>
                      </c:pt>
                      <c:pt idx="2">
                        <c:v> 2020 Actual </c:v>
                      </c:pt>
                      <c:pt idx="3">
                        <c:v> 2021 R. Budget</c:v>
                      </c:pt>
                      <c:pt idx="4">
                        <c:v> 2022 Budget</c:v>
                      </c:pt>
                      <c:pt idx="5">
                        <c:v> 2023 Budget</c:v>
                      </c:pt>
                      <c:pt idx="6">
                        <c:v> 2024 Budget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5743-4312-BA7F-72F00BCF4D72}"/>
            </c:ext>
          </c:extLst>
        </c:ser>
        <c:ser>
          <c:idx val="3"/>
          <c:order val="3"/>
          <c:tx>
            <c:strRef>
              <c:f>'Pivot CH1 &amp; Ch2 &amp; Ch3'!$A$23</c:f>
              <c:strCache>
                <c:ptCount val="1"/>
                <c:pt idx="0">
                  <c:v>Grand Total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'Pivot CH1 &amp; Ch2 &amp; Ch3'!$B$23:$H$23</c:f>
              <c:numCache>
                <c:formatCode>#,##0</c:formatCode>
                <c:ptCount val="7"/>
                <c:pt idx="0">
                  <c:v>1128874970.6299999</c:v>
                </c:pt>
                <c:pt idx="1">
                  <c:v>1344511026.5400002</c:v>
                </c:pt>
                <c:pt idx="2">
                  <c:v>1062139671.91</c:v>
                </c:pt>
                <c:pt idx="3">
                  <c:v>1070170832</c:v>
                </c:pt>
                <c:pt idx="4">
                  <c:v>1860079902.723578</c:v>
                </c:pt>
                <c:pt idx="5">
                  <c:v>1676973816.7072079</c:v>
                </c:pt>
                <c:pt idx="6">
                  <c:v>1624564721.9766958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'Pivot CH1 &amp; Ch2 &amp; Ch3'!$B$19:$H$19</c15:sqref>
                        </c15:formulaRef>
                      </c:ext>
                    </c:extLst>
                    <c:strCache>
                      <c:ptCount val="7"/>
                      <c:pt idx="0">
                        <c:v> 2018 Actual </c:v>
                      </c:pt>
                      <c:pt idx="1">
                        <c:v> 2019 Actual </c:v>
                      </c:pt>
                      <c:pt idx="2">
                        <c:v> 2020 Actual </c:v>
                      </c:pt>
                      <c:pt idx="3">
                        <c:v> 2021 R. Budget</c:v>
                      </c:pt>
                      <c:pt idx="4">
                        <c:v> 2022 Budget</c:v>
                      </c:pt>
                      <c:pt idx="5">
                        <c:v> 2023 Budget</c:v>
                      </c:pt>
                      <c:pt idx="6">
                        <c:v> 2024 Budget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3-5743-4312-BA7F-72F00BCF4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26462864"/>
        <c:axId val="1226456208"/>
      </c:barChart>
      <c:catAx>
        <c:axId val="122646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456208"/>
        <c:crosses val="autoZero"/>
        <c:auto val="1"/>
        <c:lblAlgn val="ctr"/>
        <c:lblOffset val="100"/>
        <c:noMultiLvlLbl val="0"/>
      </c:catAx>
      <c:valAx>
        <c:axId val="1226456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46286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2021 Budget Performance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'[Budget 2020 and 2021 2022 -2024 all CC Budget performance - Opex and Capex VP Feedback.xlsx]Pivot CH1 &amp; Ch2 &amp; Ch3'!$A$29</c:f>
              <c:strCache>
                <c:ptCount val="1"/>
                <c:pt idx="0">
                  <c:v>CH1-Manpower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'[Budget 2020 and 2021 2022 -2024 all CC Budget performance - Opex and Capex VP Feedback.xlsx]Pivot CH1 &amp; Ch2 &amp; Ch3'!$B$28:$F$28</c:f>
              <c:strCache>
                <c:ptCount val="5"/>
                <c:pt idx="0">
                  <c:v> 2021 R. Budget</c:v>
                </c:pt>
                <c:pt idx="1">
                  <c:v> 2021 Actual </c:v>
                </c:pt>
                <c:pt idx="2">
                  <c:v> 2021 PR</c:v>
                </c:pt>
                <c:pt idx="3">
                  <c:v> 2021 PO</c:v>
                </c:pt>
                <c:pt idx="4">
                  <c:v> 2021 Fund Available</c:v>
                </c:pt>
              </c:strCache>
            </c:strRef>
          </c:cat>
          <c:val>
            <c:numRef>
              <c:f>'[Budget 2020 and 2021 2022 -2024 all CC Budget performance - Opex and Capex VP Feedback.xlsx]Pivot CH1 &amp; Ch2 &amp; Ch3'!$B$29:$F$29</c:f>
              <c:numCache>
                <c:formatCode>#,##0</c:formatCode>
                <c:ptCount val="5"/>
                <c:pt idx="0">
                  <c:v>583465683</c:v>
                </c:pt>
                <c:pt idx="1">
                  <c:v>312874806.99000001</c:v>
                </c:pt>
                <c:pt idx="2">
                  <c:v>577263.62</c:v>
                </c:pt>
                <c:pt idx="3">
                  <c:v>120262.39999999999</c:v>
                </c:pt>
                <c:pt idx="4">
                  <c:v>269893349.99000001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DC-4817-B8F5-0A16DC8A209B}"/>
            </c:ext>
          </c:extLst>
        </c:ser>
        <c:ser>
          <c:idx val="1"/>
          <c:order val="1"/>
          <c:tx>
            <c:strRef>
              <c:f>'[Budget 2020 and 2021 2022 -2024 all CC Budget performance - Opex and Capex VP Feedback.xlsx]Pivot CH1 &amp; Ch2 &amp; Ch3'!$A$30</c:f>
              <c:strCache>
                <c:ptCount val="1"/>
                <c:pt idx="0">
                  <c:v>CH2-Opex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'[Budget 2020 and 2021 2022 -2024 all CC Budget performance - Opex and Capex VP Feedback.xlsx]Pivot CH1 &amp; Ch2 &amp; Ch3'!$B$28:$F$28</c:f>
              <c:strCache>
                <c:ptCount val="5"/>
                <c:pt idx="0">
                  <c:v> 2021 R. Budget</c:v>
                </c:pt>
                <c:pt idx="1">
                  <c:v> 2021 Actual </c:v>
                </c:pt>
                <c:pt idx="2">
                  <c:v> 2021 PR</c:v>
                </c:pt>
                <c:pt idx="3">
                  <c:v> 2021 PO</c:v>
                </c:pt>
                <c:pt idx="4">
                  <c:v> 2021 Fund Available</c:v>
                </c:pt>
              </c:strCache>
            </c:strRef>
          </c:cat>
          <c:val>
            <c:numRef>
              <c:f>'[Budget 2020 and 2021 2022 -2024 all CC Budget performance - Opex and Capex VP Feedback.xlsx]Pivot CH1 &amp; Ch2 &amp; Ch3'!$B$30:$F$30</c:f>
              <c:numCache>
                <c:formatCode>#,##0</c:formatCode>
                <c:ptCount val="5"/>
                <c:pt idx="0">
                  <c:v>398910380</c:v>
                </c:pt>
                <c:pt idx="1">
                  <c:v>129313632.87000002</c:v>
                </c:pt>
                <c:pt idx="2">
                  <c:v>53383699.160000011</c:v>
                </c:pt>
                <c:pt idx="3">
                  <c:v>31493207.430000003</c:v>
                </c:pt>
                <c:pt idx="4">
                  <c:v>184719840.53999996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DC-4817-B8F5-0A16DC8A209B}"/>
            </c:ext>
          </c:extLst>
        </c:ser>
        <c:ser>
          <c:idx val="2"/>
          <c:order val="2"/>
          <c:tx>
            <c:strRef>
              <c:f>'[Budget 2020 and 2021 2022 -2024 all CC Budget performance - Opex and Capex VP Feedback.xlsx]Pivot CH1 &amp; Ch2 &amp; Ch3'!$A$31</c:f>
              <c:strCache>
                <c:ptCount val="1"/>
                <c:pt idx="0">
                  <c:v>CH3-Capex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'[Budget 2020 and 2021 2022 -2024 all CC Budget performance - Opex and Capex VP Feedback.xlsx]Pivot CH1 &amp; Ch2 &amp; Ch3'!$B$28:$F$28</c:f>
              <c:strCache>
                <c:ptCount val="5"/>
                <c:pt idx="0">
                  <c:v> 2021 R. Budget</c:v>
                </c:pt>
                <c:pt idx="1">
                  <c:v> 2021 Actual </c:v>
                </c:pt>
                <c:pt idx="2">
                  <c:v> 2021 PR</c:v>
                </c:pt>
                <c:pt idx="3">
                  <c:v> 2021 PO</c:v>
                </c:pt>
                <c:pt idx="4">
                  <c:v> 2021 Fund Available</c:v>
                </c:pt>
              </c:strCache>
            </c:strRef>
          </c:cat>
          <c:val>
            <c:numRef>
              <c:f>'[Budget 2020 and 2021 2022 -2024 all CC Budget performance - Opex and Capex VP Feedback.xlsx]Pivot CH1 &amp; Ch2 &amp; Ch3'!$B$31:$F$31</c:f>
              <c:numCache>
                <c:formatCode>#,##0</c:formatCode>
                <c:ptCount val="5"/>
                <c:pt idx="0">
                  <c:v>87794769</c:v>
                </c:pt>
                <c:pt idx="1">
                  <c:v>7558181.5</c:v>
                </c:pt>
                <c:pt idx="2">
                  <c:v>55697762.18</c:v>
                </c:pt>
                <c:pt idx="3">
                  <c:v>12334737.42</c:v>
                </c:pt>
                <c:pt idx="4">
                  <c:v>12204087.9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DC-4817-B8F5-0A16DC8A209B}"/>
            </c:ext>
          </c:extLst>
        </c:ser>
        <c:ser>
          <c:idx val="3"/>
          <c:order val="3"/>
          <c:tx>
            <c:strRef>
              <c:f>'[Budget 2020 and 2021 2022 -2024 all CC Budget performance - Opex and Capex VP Feedback.xlsx]Pivot CH1 &amp; Ch2 &amp; Ch3'!$A$32</c:f>
              <c:strCache>
                <c:ptCount val="1"/>
                <c:pt idx="0">
                  <c:v>Grand Total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'[Budget 2020 and 2021 2022 -2024 all CC Budget performance - Opex and Capex VP Feedback.xlsx]Pivot CH1 &amp; Ch2 &amp; Ch3'!$B$28:$F$28</c:f>
              <c:strCache>
                <c:ptCount val="5"/>
                <c:pt idx="0">
                  <c:v> 2021 R. Budget</c:v>
                </c:pt>
                <c:pt idx="1">
                  <c:v> 2021 Actual </c:v>
                </c:pt>
                <c:pt idx="2">
                  <c:v> 2021 PR</c:v>
                </c:pt>
                <c:pt idx="3">
                  <c:v> 2021 PO</c:v>
                </c:pt>
                <c:pt idx="4">
                  <c:v> 2021 Fund Available</c:v>
                </c:pt>
              </c:strCache>
            </c:strRef>
          </c:cat>
          <c:val>
            <c:numRef>
              <c:f>'[Budget 2020 and 2021 2022 -2024 all CC Budget performance - Opex and Capex VP Feedback.xlsx]Pivot CH1 &amp; Ch2 &amp; Ch3'!$B$32:$F$32</c:f>
              <c:numCache>
                <c:formatCode>#,##0</c:formatCode>
                <c:ptCount val="5"/>
                <c:pt idx="0">
                  <c:v>1070170832</c:v>
                </c:pt>
                <c:pt idx="1">
                  <c:v>449746621.36000001</c:v>
                </c:pt>
                <c:pt idx="2">
                  <c:v>109658724.96000001</c:v>
                </c:pt>
                <c:pt idx="3">
                  <c:v>43948207.25</c:v>
                </c:pt>
                <c:pt idx="4">
                  <c:v>466817278.42999995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DC-4817-B8F5-0A16DC8A2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26457872"/>
        <c:axId val="1226458288"/>
      </c:barChart>
      <c:catAx>
        <c:axId val="1226457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458288"/>
        <c:crosses val="autoZero"/>
        <c:auto val="1"/>
        <c:lblAlgn val="ctr"/>
        <c:lblOffset val="100"/>
        <c:noMultiLvlLbl val="0"/>
      </c:catAx>
      <c:valAx>
        <c:axId val="1226458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64578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4BADF-440A-464B-801A-7AE23B810119}" type="datetimeFigureOut">
              <a:rPr lang="en-US" smtClean="0"/>
              <a:t>8/23/2021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6DA89-2106-4B21-9C3B-C8CA894D5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4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16" y="881632"/>
            <a:ext cx="4778509" cy="1045441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247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17" y="881632"/>
            <a:ext cx="4778507" cy="1045441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98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516" y="881632"/>
            <a:ext cx="4778509" cy="1045441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8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53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94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75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96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4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1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732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44359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595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09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016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596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95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1500" b="1" i="0" u="none" strike="noStrike" kern="120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Thank You</a:t>
            </a:r>
            <a:endParaRPr kumimoji="0" lang="en-US" sz="11500" b="1" i="0" u="none" strike="noStrike" kern="120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12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4773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</a:t>
            </a:r>
            <a:fld id="{EEA042A3-62D8-48B4-BDE9-00E69FEA138A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8525933" y="6278563"/>
            <a:ext cx="2658632" cy="914400"/>
          </a:xfrm>
        </p:spPr>
        <p:txBody>
          <a:bodyPr/>
          <a:lstStyle>
            <a:lvl1pPr algn="r">
              <a:defRPr sz="1100" baseline="0"/>
            </a:lvl1pPr>
          </a:lstStyle>
          <a:p>
            <a:pPr lvl="0"/>
            <a:r>
              <a:rPr lang="en-US" dirty="0"/>
              <a:t>KHALIFA UNIVERSITY</a:t>
            </a:r>
          </a:p>
        </p:txBody>
      </p:sp>
    </p:spTree>
    <p:extLst>
      <p:ext uri="{BB962C8B-B14F-4D97-AF65-F5344CB8AC3E}">
        <p14:creationId xmlns:p14="http://schemas.microsoft.com/office/powerpoint/2010/main" val="211905877"/>
      </p:ext>
    </p:extLst>
  </p:cSld>
  <p:clrMapOvr>
    <a:masterClrMapping/>
  </p:clrMapOvr>
  <p:transition spd="med">
    <p:pull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53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4987990"/>
            <a:ext cx="10363200" cy="610820"/>
          </a:xfrm>
        </p:spPr>
        <p:txBody>
          <a:bodyPr/>
          <a:lstStyle>
            <a:lvl1pPr algn="ctr">
              <a:defRPr lang="en-US" sz="3999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9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1703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613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43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22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4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26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689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11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5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595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37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134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294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95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8907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4781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3465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273050"/>
            <a:ext cx="4011084" cy="1162051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6"/>
            </a:lvl1pPr>
            <a:lvl2pPr>
              <a:defRPr sz="3732"/>
            </a:lvl2pPr>
            <a:lvl3pPr>
              <a:defRPr sz="3199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4" y="1435103"/>
            <a:ext cx="4011084" cy="46910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2253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2"/>
            <a:ext cx="7315200" cy="566739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266"/>
            </a:lvl1pPr>
            <a:lvl2pPr marL="609422" indent="0">
              <a:buNone/>
              <a:defRPr sz="3732"/>
            </a:lvl2pPr>
            <a:lvl3pPr marL="1218845" indent="0">
              <a:buNone/>
              <a:defRPr sz="3199"/>
            </a:lvl3pPr>
            <a:lvl4pPr marL="1828267" indent="0">
              <a:buNone/>
              <a:defRPr sz="2666"/>
            </a:lvl4pPr>
            <a:lvl5pPr marL="2437689" indent="0">
              <a:buNone/>
              <a:defRPr sz="2666"/>
            </a:lvl5pPr>
            <a:lvl6pPr marL="3047111" indent="0">
              <a:buNone/>
              <a:defRPr sz="2666"/>
            </a:lvl6pPr>
            <a:lvl7pPr marL="3656534" indent="0">
              <a:buNone/>
              <a:defRPr sz="2666"/>
            </a:lvl7pPr>
            <a:lvl8pPr marL="4265955" indent="0">
              <a:buNone/>
              <a:defRPr sz="2666"/>
            </a:lvl8pPr>
            <a:lvl9pPr marL="4875378" indent="0">
              <a:buNone/>
              <a:defRPr sz="266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40"/>
            <a:ext cx="7315200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963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5422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9139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892451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bg>
      <p:bgPr>
        <a:gradFill flip="none" rotWithShape="1">
          <a:gsLst>
            <a:gs pos="81000">
              <a:schemeClr val="bg1">
                <a:lumMod val="95000"/>
              </a:schemeClr>
            </a:gs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42"/>
            <a:ext cx="6705600" cy="711081"/>
          </a:xfrm>
        </p:spPr>
        <p:txBody>
          <a:bodyPr>
            <a:noAutofit/>
          </a:bodyPr>
          <a:lstStyle>
            <a:lvl1pPr>
              <a:defRPr sz="359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0000" y="6356354"/>
            <a:ext cx="762001" cy="365125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91440" rIns="0" bIns="91440" numCol="1" anchor="ctr" anchorCtr="1" compatLnSpc="1">
            <a:prstTxWarp prst="textNoShape">
              <a:avLst/>
            </a:prstTxWarp>
          </a:bodyPr>
          <a:lstStyle>
            <a:lvl1pPr algn="r">
              <a:defRPr lang="en-US" sz="1400" kern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69268-9C8B-4EBF-A9EE-DC5DC2D48DC3}" type="slidenum">
              <a:rPr kumimoji="0" lang="es-UY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s-UY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480301" y="362139"/>
            <a:ext cx="4114800" cy="533400"/>
          </a:xfrm>
        </p:spPr>
        <p:txBody>
          <a:bodyPr anchor="ctr">
            <a:noAutofit/>
          </a:bodyPr>
          <a:lstStyle>
            <a:lvl1pPr marL="0" indent="0" algn="r">
              <a:buNone/>
              <a:defRPr sz="1999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Breadcrumb 1 &gt; Breadcrumb 2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117516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eft Clipart Right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69268-9C8B-4EBF-A9EE-DC5DC2D48DC3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84391" y="1066800"/>
            <a:ext cx="4192092" cy="762000"/>
          </a:xfrm>
        </p:spPr>
        <p:txBody>
          <a:bodyPr>
            <a:noAutofit/>
          </a:bodyPr>
          <a:lstStyle>
            <a:lvl1pPr>
              <a:defRPr sz="3999" b="1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/>
          </p:nvPr>
        </p:nvSpPr>
        <p:spPr>
          <a:xfrm>
            <a:off x="684391" y="2057400"/>
            <a:ext cx="4192092" cy="381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6602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Picture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3D880977-7262-4385-A8E0-0086619778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" y="526341"/>
            <a:ext cx="3254429" cy="71200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0237" y="5497789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DD MONTH YEAR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689" y="2760293"/>
            <a:ext cx="2238998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3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937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779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747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224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70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4077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2551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8898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2194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45823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83453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1077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0047B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0047B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4433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3579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4069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8585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1500" b="1" i="0" u="none" strike="noStrike" kern="1200" cap="none" spc="-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Thank</a:t>
            </a:r>
            <a:r>
              <a:rPr kumimoji="0" lang="fi-FI" sz="11500" b="1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fi-FI" sz="11500" b="1" i="0" u="none" strike="noStrike" kern="1200" cap="none" spc="-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</a:t>
            </a:r>
            <a:endParaRPr kumimoji="0" lang="en-US" sz="11500" b="1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12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12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124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75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3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2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9B1FA-81F2-4940-9AF3-5EAFB5D666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8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901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</p:sldLayoutIdLst>
  <p:hf hdr="0" ftr="0" dt="0"/>
  <p:txStyles>
    <p:titleStyle>
      <a:lvl1pPr algn="l" defTabSz="1218845" rtl="0" eaLnBrk="1" latinLnBrk="0" hangingPunct="1">
        <a:spcBef>
          <a:spcPct val="0"/>
        </a:spcBef>
        <a:buNone/>
        <a:defRPr sz="3199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067" indent="-457067" algn="l" defTabSz="1218845" rtl="0" eaLnBrk="1" latinLnBrk="0" hangingPunct="1">
        <a:spcBef>
          <a:spcPct val="20000"/>
        </a:spcBef>
        <a:buFont typeface="Arial" pitchFamily="34" charset="0"/>
        <a:buChar char="•"/>
        <a:defRPr sz="3599" kern="1200">
          <a:solidFill>
            <a:schemeClr val="tx1"/>
          </a:solidFill>
          <a:latin typeface="+mj-lt"/>
          <a:ea typeface="+mn-ea"/>
          <a:cs typeface="+mn-cs"/>
        </a:defRPr>
      </a:lvl1pPr>
      <a:lvl2pPr marL="990311" indent="-380889" algn="l" defTabSz="1218845" rtl="0" eaLnBrk="1" latinLnBrk="0" hangingPunct="1">
        <a:spcBef>
          <a:spcPct val="20000"/>
        </a:spcBef>
        <a:buFont typeface="Arial" pitchFamily="34" charset="0"/>
        <a:buChar char="–"/>
        <a:defRPr sz="3199" kern="1200">
          <a:solidFill>
            <a:schemeClr val="tx1"/>
          </a:solidFill>
          <a:latin typeface="+mj-lt"/>
          <a:ea typeface="+mn-ea"/>
          <a:cs typeface="+mn-cs"/>
        </a:defRPr>
      </a:lvl2pPr>
      <a:lvl3pPr marL="1523555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j-lt"/>
          <a:ea typeface="+mn-ea"/>
          <a:cs typeface="+mn-cs"/>
        </a:defRPr>
      </a:lvl3pPr>
      <a:lvl4pPr marL="2132979" indent="-304712" algn="l" defTabSz="12188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00" indent="-304712" algn="l" defTabSz="12188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822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244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666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089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22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4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67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89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111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534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95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378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850" b="0" i="0" u="none" strike="noStrike" kern="1200" cap="none" spc="0" normalizeH="0" baseline="0" noProof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ku.ac.ae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30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0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0120-6120-4C9B-B8E3-CB56D8E6B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5907"/>
            <a:ext cx="9144000" cy="1714500"/>
          </a:xfrm>
        </p:spPr>
        <p:txBody>
          <a:bodyPr>
            <a:normAutofit fontScale="90000"/>
          </a:bodyPr>
          <a:lstStyle/>
          <a:p>
            <a:r>
              <a:rPr lang="fi-FI" sz="4400" dirty="0" smtClean="0"/>
              <a:t>2022 – 2024  Budget </a:t>
            </a:r>
            <a:r>
              <a:rPr lang="en-US" sz="4400" dirty="0" smtClean="0"/>
              <a:t>Proposal to add more budget for R&amp;D Capex</a:t>
            </a:r>
            <a:br>
              <a:rPr lang="en-US" sz="4400" dirty="0" smtClean="0"/>
            </a:br>
            <a:endParaRPr lang="en-US" sz="3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0F00F70-315A-4BC8-B180-182E13F50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0532" y="4383211"/>
            <a:ext cx="9144000" cy="1247775"/>
          </a:xfrm>
        </p:spPr>
        <p:txBody>
          <a:bodyPr>
            <a:normAutofit/>
          </a:bodyPr>
          <a:lstStyle/>
          <a:p>
            <a:r>
              <a:rPr lang="fi-FI" sz="3200" dirty="0" smtClean="0"/>
              <a:t>Presentation of the Acting President</a:t>
            </a:r>
            <a:endParaRPr lang="fi-FI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50EF1-9BD2-4F18-AEE8-DD1F61C996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 fontScale="62500" lnSpcReduction="20000"/>
          </a:bodyPr>
          <a:lstStyle/>
          <a:p>
            <a:r>
              <a:rPr lang="fi-FI" sz="3800" dirty="0" smtClean="0"/>
              <a:t>23 Aug 2021</a:t>
            </a:r>
            <a:endParaRPr lang="fi-FI" sz="3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11668125" y="203200"/>
            <a:ext cx="523875" cy="24447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7569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679605"/>
          </a:xfrm>
        </p:spPr>
        <p:txBody>
          <a:bodyPr>
            <a:noAutofit/>
          </a:bodyPr>
          <a:lstStyle/>
          <a:p>
            <a:r>
              <a:rPr lang="en-US" sz="2400" dirty="0" smtClean="0"/>
              <a:t>Option A: 2021 – 2024 Budget Proposal </a:t>
            </a:r>
            <a:r>
              <a:rPr lang="en-US" sz="2400" dirty="0"/>
              <a:t>to add more budget for R&amp;D Capex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777" y="5879668"/>
            <a:ext cx="1158759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u="sng" dirty="0" smtClean="0"/>
              <a:t>Opex</a:t>
            </a:r>
            <a:r>
              <a:rPr lang="en-US" sz="1600" dirty="0" smtClean="0"/>
              <a:t> </a:t>
            </a:r>
            <a:r>
              <a:rPr lang="en-US" sz="1600" dirty="0"/>
              <a:t>: </a:t>
            </a:r>
            <a:r>
              <a:rPr lang="en-US" sz="1600" dirty="0" smtClean="0"/>
              <a:t>new </a:t>
            </a:r>
            <a:r>
              <a:rPr lang="en-US" sz="1600" dirty="0"/>
              <a:t>Proposal by ADEK to Gov</a:t>
            </a:r>
            <a:r>
              <a:rPr lang="en-US" sz="1600" dirty="0" smtClean="0"/>
              <a:t>. to </a:t>
            </a:r>
            <a:r>
              <a:rPr lang="en-US" sz="1600" dirty="0"/>
              <a:t>give </a:t>
            </a:r>
            <a:r>
              <a:rPr lang="en-US" sz="1600" dirty="0" smtClean="0"/>
              <a:t>stipend </a:t>
            </a:r>
            <a:r>
              <a:rPr lang="en-US" sz="1600" dirty="0"/>
              <a:t>for </a:t>
            </a:r>
            <a:r>
              <a:rPr lang="en-US" sz="1600" dirty="0" smtClean="0"/>
              <a:t>UG student with GPA 3 and above.</a:t>
            </a:r>
            <a:endParaRPr lang="en-US" sz="1400" dirty="0" smtClean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218880"/>
              </p:ext>
            </p:extLst>
          </p:nvPr>
        </p:nvGraphicFramePr>
        <p:xfrm>
          <a:off x="384175" y="1282700"/>
          <a:ext cx="8636000" cy="433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Worksheet" r:id="rId3" imgW="6981776" imgH="3505133" progId="Excel.Sheet.12">
                  <p:embed/>
                </p:oleObj>
              </mc:Choice>
              <mc:Fallback>
                <p:oleObj name="Worksheet" r:id="rId3" imgW="6981776" imgH="350513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282700"/>
                        <a:ext cx="8636000" cy="433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86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679605"/>
          </a:xfrm>
        </p:spPr>
        <p:txBody>
          <a:bodyPr>
            <a:noAutofit/>
          </a:bodyPr>
          <a:lstStyle/>
          <a:p>
            <a:r>
              <a:rPr lang="en-US" sz="2400" dirty="0" smtClean="0"/>
              <a:t>Option B: 2021 – 2024 Budget Proposal </a:t>
            </a:r>
            <a:r>
              <a:rPr lang="en-US" sz="2400" dirty="0"/>
              <a:t>to add more budget for R&amp;D Capex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777" y="3959429"/>
            <a:ext cx="1158759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u="sng" dirty="0" smtClean="0"/>
              <a:t>Capex</a:t>
            </a:r>
            <a:r>
              <a:rPr lang="en-US" sz="1600" dirty="0" smtClean="0"/>
              <a:t> </a:t>
            </a:r>
            <a:r>
              <a:rPr lang="en-US" sz="1600" dirty="0"/>
              <a:t>: 2021 Capex fund available as of AUG </a:t>
            </a:r>
            <a:r>
              <a:rPr lang="en-US" sz="1600" dirty="0" smtClean="0"/>
              <a:t>AED 14M will </a:t>
            </a:r>
            <a:r>
              <a:rPr lang="en-US" sz="1600" dirty="0"/>
              <a:t>not </a:t>
            </a:r>
            <a:r>
              <a:rPr lang="en-US" sz="1600" dirty="0" smtClean="0"/>
              <a:t>be used </a:t>
            </a:r>
            <a:r>
              <a:rPr lang="en-US" sz="1600" dirty="0"/>
              <a:t>by </a:t>
            </a:r>
            <a:r>
              <a:rPr lang="en-US" sz="1600" dirty="0" smtClean="0"/>
              <a:t>Dept. so </a:t>
            </a:r>
            <a:r>
              <a:rPr lang="en-US" sz="1600" dirty="0"/>
              <a:t>will pay the Shell and core in 2021 and reduce </a:t>
            </a:r>
            <a:r>
              <a:rPr lang="en-US" sz="1600" dirty="0" smtClean="0"/>
              <a:t>the </a:t>
            </a:r>
            <a:r>
              <a:rPr lang="en-US" sz="1600" dirty="0"/>
              <a:t>same amount from </a:t>
            </a:r>
            <a:r>
              <a:rPr lang="en-US" sz="1600" dirty="0" smtClean="0"/>
              <a:t>Facilities </a:t>
            </a:r>
            <a:r>
              <a:rPr lang="en-US" sz="1600" dirty="0"/>
              <a:t>in 2022 and add it to </a:t>
            </a:r>
            <a:r>
              <a:rPr lang="en-US" sz="1600" dirty="0" smtClean="0"/>
              <a:t>R&amp;D.</a:t>
            </a:r>
            <a:endParaRPr lang="en-US" sz="1400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886289"/>
              </p:ext>
            </p:extLst>
          </p:nvPr>
        </p:nvGraphicFramePr>
        <p:xfrm>
          <a:off x="384175" y="1470025"/>
          <a:ext cx="9477375" cy="192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Worksheet" r:id="rId3" imgW="8572365" imgH="1743035" progId="Excel.Sheet.12">
                  <p:embed/>
                </p:oleObj>
              </mc:Choice>
              <mc:Fallback>
                <p:oleObj name="Worksheet" r:id="rId3" imgW="8572365" imgH="1743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470025"/>
                        <a:ext cx="9477375" cy="1927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93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679605"/>
          </a:xfrm>
        </p:spPr>
        <p:txBody>
          <a:bodyPr>
            <a:normAutofit/>
          </a:bodyPr>
          <a:lstStyle/>
          <a:p>
            <a:r>
              <a:rPr lang="en-US" sz="3000" dirty="0" smtClean="0"/>
              <a:t>2021 – 2024 </a:t>
            </a:r>
            <a:r>
              <a:rPr lang="en-US" sz="3000" dirty="0"/>
              <a:t>Budget </a:t>
            </a:r>
            <a:r>
              <a:rPr lang="en-US" sz="3000" dirty="0" smtClean="0"/>
              <a:t>Submitted </a:t>
            </a:r>
            <a:r>
              <a:rPr lang="en-US" sz="3000" dirty="0"/>
              <a:t>to DOF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464526"/>
              </p:ext>
            </p:extLst>
          </p:nvPr>
        </p:nvGraphicFramePr>
        <p:xfrm>
          <a:off x="384175" y="1403350"/>
          <a:ext cx="10266363" cy="21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Worksheet" r:id="rId3" imgW="6314929" imgH="1343065" progId="Excel.Sheet.12">
                  <p:embed/>
                </p:oleObj>
              </mc:Choice>
              <mc:Fallback>
                <p:oleObj name="Worksheet" r:id="rId3" imgW="6314929" imgH="1343065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403350"/>
                        <a:ext cx="10266363" cy="217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371739" y="3654096"/>
            <a:ext cx="11453547" cy="67960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spc="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/>
              <a:t>2021 – 2024 Budget </a:t>
            </a:r>
            <a:r>
              <a:rPr lang="en-US" sz="3000" dirty="0" smtClean="0">
                <a:solidFill>
                  <a:schemeClr val="accent6">
                    <a:lumMod val="25000"/>
                  </a:schemeClr>
                </a:solidFill>
              </a:rPr>
              <a:t>to be Submit </a:t>
            </a:r>
            <a:r>
              <a:rPr lang="en-US" sz="3000" dirty="0" smtClean="0"/>
              <a:t>to DOF </a:t>
            </a:r>
            <a:endParaRPr lang="en-US" sz="30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822467"/>
              </p:ext>
            </p:extLst>
          </p:nvPr>
        </p:nvGraphicFramePr>
        <p:xfrm>
          <a:off x="245629" y="4404809"/>
          <a:ext cx="10266363" cy="217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7" name="Worksheet" r:id="rId5" imgW="6314929" imgH="1343065" progId="Excel.Sheet.12">
                  <p:embed/>
                </p:oleObj>
              </mc:Choice>
              <mc:Fallback>
                <p:oleObj name="Worksheet" r:id="rId5" imgW="6314929" imgH="1343065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629" y="4404809"/>
                        <a:ext cx="10266363" cy="2179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419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795060"/>
          </a:xfrm>
          <a:noFill/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3000" dirty="0" smtClean="0"/>
              <a:t>2021 – 2022 Budget Proposa</a:t>
            </a:r>
            <a:r>
              <a:rPr lang="en-US" sz="3000" dirty="0"/>
              <a:t>l</a:t>
            </a:r>
            <a:r>
              <a:rPr lang="en-US" sz="3000" dirty="0" smtClean="0"/>
              <a:t> </a:t>
            </a:r>
            <a:r>
              <a:rPr lang="en-US" sz="3000" dirty="0"/>
              <a:t>Vs </a:t>
            </a:r>
            <a:r>
              <a:rPr lang="en-US" sz="3000" dirty="0">
                <a:solidFill>
                  <a:schemeClr val="tx1"/>
                </a:solidFill>
              </a:rPr>
              <a:t>to be Submit </a:t>
            </a:r>
            <a:r>
              <a:rPr lang="en-US" sz="3000" dirty="0"/>
              <a:t>to DOF </a:t>
            </a:r>
            <a:r>
              <a:rPr lang="en-US" sz="3000" dirty="0" smtClean="0"/>
              <a:t>with Reduction </a:t>
            </a:r>
            <a:r>
              <a:rPr lang="en-US" sz="3000" dirty="0"/>
              <a:t>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2100306"/>
              </p:ext>
            </p:extLst>
          </p:nvPr>
        </p:nvGraphicFramePr>
        <p:xfrm>
          <a:off x="384175" y="1403350"/>
          <a:ext cx="11352213" cy="258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Worksheet" r:id="rId3" imgW="7553411" imgH="1723972" progId="Excel.Sheet.12">
                  <p:embed/>
                </p:oleObj>
              </mc:Choice>
              <mc:Fallback>
                <p:oleObj name="Worksheet" r:id="rId3" imgW="7553411" imgH="1723972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403350"/>
                        <a:ext cx="11352213" cy="258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3777" y="4073581"/>
            <a:ext cx="11587597" cy="2646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 smtClean="0"/>
              <a:t>Manpower 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 smtClean="0"/>
              <a:t>Stop </a:t>
            </a:r>
            <a:r>
              <a:rPr lang="en-US" sz="1400" dirty="0"/>
              <a:t>the hiring , also might need to terminate employee , will not meet the Medical college requirement and the general growth in KU operation</a:t>
            </a:r>
            <a:r>
              <a:rPr lang="en-US" sz="1400" dirty="0" smtClean="0"/>
              <a:t>.</a:t>
            </a:r>
          </a:p>
          <a:p>
            <a:pPr algn="l"/>
            <a:r>
              <a:rPr lang="en-US" sz="1400" dirty="0" smtClean="0"/>
              <a:t>   </a:t>
            </a:r>
            <a:endParaRPr lang="en-US" sz="1400" dirty="0"/>
          </a:p>
          <a:p>
            <a:pPr algn="l"/>
            <a:r>
              <a:rPr lang="en-US" sz="1600" u="sng" dirty="0" smtClean="0"/>
              <a:t>Opex</a:t>
            </a:r>
            <a:r>
              <a:rPr lang="en-US" sz="1600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Research: reduce </a:t>
            </a:r>
            <a:r>
              <a:rPr lang="en-US" sz="1400" dirty="0"/>
              <a:t>the </a:t>
            </a:r>
            <a:r>
              <a:rPr lang="en-US" sz="1400" dirty="0" smtClean="0"/>
              <a:t>growth in internal research and </a:t>
            </a:r>
            <a:r>
              <a:rPr lang="en-US" sz="1400" dirty="0"/>
              <a:t>might need to terminate </a:t>
            </a:r>
            <a:r>
              <a:rPr lang="en-US" sz="1400" dirty="0" smtClean="0"/>
              <a:t>the projects .</a:t>
            </a:r>
            <a:endParaRPr 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Postgraduate </a:t>
            </a:r>
            <a:r>
              <a:rPr lang="en-US" sz="1400" dirty="0" smtClean="0"/>
              <a:t>and UG : </a:t>
            </a:r>
            <a:r>
              <a:rPr lang="en-US" sz="1400" dirty="0"/>
              <a:t>reduce the growth </a:t>
            </a:r>
            <a:r>
              <a:rPr lang="en-US" sz="1400" dirty="0" smtClean="0"/>
              <a:t>in the </a:t>
            </a:r>
            <a:r>
              <a:rPr lang="en-US" sz="1400" dirty="0"/>
              <a:t>Postgraduate Student </a:t>
            </a:r>
            <a:r>
              <a:rPr lang="en-US" sz="1400" dirty="0" smtClean="0"/>
              <a:t>Intakes </a:t>
            </a:r>
            <a:r>
              <a:rPr lang="en-US" sz="1400" dirty="0"/>
              <a:t>and UG Intakes </a:t>
            </a:r>
            <a:r>
              <a:rPr lang="en-US" sz="1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Medical college </a:t>
            </a:r>
            <a:r>
              <a:rPr lang="en-US" sz="1400" dirty="0" smtClean="0"/>
              <a:t>: reduce the operation requirement and might impact the program, and no growth.</a:t>
            </a:r>
          </a:p>
          <a:p>
            <a:endParaRPr lang="en-US" sz="1400" dirty="0"/>
          </a:p>
          <a:p>
            <a:r>
              <a:rPr lang="en-US" sz="1400" u="sng" dirty="0" smtClean="0"/>
              <a:t>Capex</a:t>
            </a:r>
            <a:r>
              <a:rPr lang="en-US" sz="1400" dirty="0" smtClean="0"/>
              <a:t> 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Research </a:t>
            </a:r>
            <a:r>
              <a:rPr lang="en-US" sz="1400" dirty="0"/>
              <a:t>: reduce the growth </a:t>
            </a:r>
            <a:r>
              <a:rPr lang="en-US" sz="1400" dirty="0" smtClean="0"/>
              <a:t>and work with minimum requirement.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Facilities </a:t>
            </a:r>
            <a:r>
              <a:rPr lang="en-US" sz="1400" dirty="0"/>
              <a:t>: work with minimum </a:t>
            </a:r>
            <a:r>
              <a:rPr lang="en-US" sz="1400" dirty="0" smtClean="0"/>
              <a:t>requirement and </a:t>
            </a:r>
            <a:r>
              <a:rPr lang="en-US" sz="1400" dirty="0"/>
              <a:t>might impact </a:t>
            </a:r>
            <a:r>
              <a:rPr lang="en-US" sz="1400" dirty="0" smtClean="0"/>
              <a:t>some program like </a:t>
            </a:r>
            <a:r>
              <a:rPr lang="en-US" sz="1400" dirty="0"/>
              <a:t>Medical</a:t>
            </a:r>
            <a:r>
              <a:rPr lang="en-US" sz="14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Medical </a:t>
            </a:r>
            <a:r>
              <a:rPr lang="en-US" sz="1400" dirty="0" smtClean="0"/>
              <a:t>college:</a:t>
            </a:r>
            <a:r>
              <a:rPr lang="en-US" sz="1400" dirty="0"/>
              <a:t> reduce the growth and work with minimum </a:t>
            </a:r>
            <a:r>
              <a:rPr lang="en-US" sz="1400" dirty="0" smtClean="0"/>
              <a:t>requirement,</a:t>
            </a:r>
            <a:r>
              <a:rPr lang="en-US" sz="1400" dirty="0"/>
              <a:t> and might impact the </a:t>
            </a:r>
            <a:r>
              <a:rPr lang="en-US" sz="1400" dirty="0" smtClean="0"/>
              <a:t>program.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673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3"/>
            <a:ext cx="11587572" cy="63273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Chapter – 02 (Opex) : 2022 </a:t>
            </a:r>
            <a:r>
              <a:rPr lang="en-US" sz="3000" dirty="0" smtClean="0"/>
              <a:t>Budget </a:t>
            </a:r>
            <a:r>
              <a:rPr lang="en-US" sz="3000" dirty="0" smtClean="0">
                <a:solidFill>
                  <a:schemeClr val="tx1"/>
                </a:solidFill>
              </a:rPr>
              <a:t>(</a:t>
            </a:r>
            <a:r>
              <a:rPr lang="en-US" sz="3000" dirty="0">
                <a:solidFill>
                  <a:schemeClr val="tx1"/>
                </a:solidFill>
              </a:rPr>
              <a:t>to be Submit </a:t>
            </a:r>
            <a:r>
              <a:rPr lang="en-US" sz="3000" dirty="0" smtClean="0">
                <a:solidFill>
                  <a:schemeClr val="tx1"/>
                </a:solidFill>
              </a:rPr>
              <a:t>)</a:t>
            </a:r>
            <a:endParaRPr lang="en-US" sz="3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92999"/>
              </p:ext>
            </p:extLst>
          </p:nvPr>
        </p:nvGraphicFramePr>
        <p:xfrm>
          <a:off x="398463" y="1697038"/>
          <a:ext cx="104775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name="Worksheet" r:id="rId3" imgW="8867704" imgH="3438592" progId="Excel.Sheet.12">
                  <p:embed/>
                </p:oleObj>
              </mc:Choice>
              <mc:Fallback>
                <p:oleObj name="Worksheet" r:id="rId3" imgW="8867704" imgH="343859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8463" y="1697038"/>
                        <a:ext cx="10477500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684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15" y="649764"/>
            <a:ext cx="11517903" cy="56072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Chapter – 03 (Capex) : 2022 </a:t>
            </a:r>
            <a:r>
              <a:rPr lang="en-US" sz="3200" dirty="0" smtClean="0"/>
              <a:t>Budget </a:t>
            </a:r>
            <a:r>
              <a:rPr lang="en-US" sz="3200" dirty="0">
                <a:solidFill>
                  <a:schemeClr val="tx1"/>
                </a:solidFill>
              </a:rPr>
              <a:t>(to be Submit 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665759"/>
              </p:ext>
            </p:extLst>
          </p:nvPr>
        </p:nvGraphicFramePr>
        <p:xfrm>
          <a:off x="322263" y="1827213"/>
          <a:ext cx="11406187" cy="377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Worksheet" r:id="rId3" imgW="9229871" imgH="3057685" progId="Excel.Sheet.12">
                  <p:embed/>
                </p:oleObj>
              </mc:Choice>
              <mc:Fallback>
                <p:oleObj name="Worksheet" r:id="rId3" imgW="9229871" imgH="30576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263" y="1827213"/>
                        <a:ext cx="11406187" cy="3779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829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9031-A8B4-4AF5-ADC2-43CDD2D6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1" y="566639"/>
            <a:ext cx="9991725" cy="553091"/>
          </a:xfrm>
        </p:spPr>
        <p:txBody>
          <a:bodyPr>
            <a:normAutofit/>
          </a:bodyPr>
          <a:lstStyle/>
          <a:p>
            <a:r>
              <a:rPr lang="en-US" sz="3000" b="1" dirty="0"/>
              <a:t>2022 Manpower Budget Proposal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DE3833-1F3C-4BB5-B270-A657FCE8214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096" y="1174157"/>
          <a:ext cx="6603702" cy="2060156"/>
        </p:xfrm>
        <a:graphic>
          <a:graphicData uri="http://schemas.openxmlformats.org/drawingml/2006/table">
            <a:tbl>
              <a:tblPr/>
              <a:tblGrid>
                <a:gridCol w="1466093">
                  <a:extLst>
                    <a:ext uri="{9D8B030D-6E8A-4147-A177-3AD203B41FA5}">
                      <a16:colId xmlns:a16="http://schemas.microsoft.com/office/drawing/2014/main" val="992725196"/>
                    </a:ext>
                  </a:extLst>
                </a:gridCol>
                <a:gridCol w="2460396">
                  <a:extLst>
                    <a:ext uri="{9D8B030D-6E8A-4147-A177-3AD203B41FA5}">
                      <a16:colId xmlns:a16="http://schemas.microsoft.com/office/drawing/2014/main" val="1610209526"/>
                    </a:ext>
                  </a:extLst>
                </a:gridCol>
                <a:gridCol w="1376313">
                  <a:extLst>
                    <a:ext uri="{9D8B030D-6E8A-4147-A177-3AD203B41FA5}">
                      <a16:colId xmlns:a16="http://schemas.microsoft.com/office/drawing/2014/main" val="2865386683"/>
                    </a:ext>
                  </a:extLst>
                </a:gridCol>
                <a:gridCol w="1300900">
                  <a:extLst>
                    <a:ext uri="{9D8B030D-6E8A-4147-A177-3AD203B41FA5}">
                      <a16:colId xmlns:a16="http://schemas.microsoft.com/office/drawing/2014/main" val="622862249"/>
                    </a:ext>
                  </a:extLst>
                </a:gridCol>
              </a:tblGrid>
              <a:tr h="289876"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930037"/>
                  </a:ext>
                </a:extLst>
              </a:tr>
              <a:tr h="2484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KU 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Current Employees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519,842,486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776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373408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Hires 2021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38,335,362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975832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Hires 2022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39,782,098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67283"/>
                  </a:ext>
                </a:extLst>
              </a:tr>
              <a:tr h="27949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597,959,947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868530"/>
                  </a:ext>
                </a:extLst>
              </a:tr>
              <a:tr h="2484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ANKABUT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Current Employees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22,024,007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36560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Hires 2022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1,112,762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308465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23,136,769 </a:t>
                      </a:r>
                    </a:p>
                  </a:txBody>
                  <a:tcPr marL="182880" marR="182880" marT="0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4705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617292-D011-49A6-8915-43C212C3BAD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096" y="3333228"/>
          <a:ext cx="11051808" cy="3033652"/>
        </p:xfrm>
        <a:graphic>
          <a:graphicData uri="http://schemas.openxmlformats.org/drawingml/2006/table">
            <a:tbl>
              <a:tblPr firstRow="1" bandRow="1"/>
              <a:tblGrid>
                <a:gridCol w="1459872">
                  <a:extLst>
                    <a:ext uri="{9D8B030D-6E8A-4147-A177-3AD203B41FA5}">
                      <a16:colId xmlns:a16="http://schemas.microsoft.com/office/drawing/2014/main" val="108580585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4023940332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103908792"/>
                    </a:ext>
                  </a:extLst>
                </a:gridCol>
                <a:gridCol w="5760600">
                  <a:extLst>
                    <a:ext uri="{9D8B030D-6E8A-4147-A177-3AD203B41FA5}">
                      <a16:colId xmlns:a16="http://schemas.microsoft.com/office/drawing/2014/main" val="2956657505"/>
                    </a:ext>
                  </a:extLst>
                </a:gridCol>
              </a:tblGrid>
              <a:tr h="201037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Central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President Temp Budget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CTL Budget, Adjunct Professors Budget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462268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Committee pay / Board Member fee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780,000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13*60,000 AED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272641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Summer Payments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1,500,000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68961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Employee Training costs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2,000,000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10989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Recruitment expenses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4,000,000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Advertising, headhunting, search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556055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Visa Requirements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2,242,090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233429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Relocation expenses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4,307,000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356512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Gratuity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3,091,367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Basic Salaries of current* 2 basics * 8 % (Attrition Rate)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009513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Leave Payout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2,244,543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((Total Basic Salary+ </a:t>
                      </a:r>
                      <a:r>
                        <a:rPr lang="en-US" sz="1050" i="1" kern="120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CoLA</a:t>
                      </a:r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)/30)* 25 Days * 8 % (Attrition Rate)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375908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Travel costs - Repatriation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1,432,000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728681"/>
                  </a:ext>
                </a:extLst>
              </a:tr>
              <a:tr h="2688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22,196,999 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93404"/>
                  </a:ext>
                </a:extLst>
              </a:tr>
              <a:tr h="20574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Promotions /Increments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3,500,000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Promotions - 10% Basic &amp; </a:t>
                      </a:r>
                      <a:r>
                        <a:rPr lang="en-US" sz="900" b="0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CoLA</a:t>
                      </a: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 5% of the total employees as of July 2022, Increments - 10% Basic &amp; </a:t>
                      </a:r>
                      <a:r>
                        <a:rPr lang="en-US" sz="900" b="0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CoLA</a:t>
                      </a: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 10% of the total employees as of July 2021,=6 months*(2022 employee count)*0.1*0.15*(monthly BS &amp; Cola average)</a:t>
                      </a:r>
                    </a:p>
                  </a:txBody>
                  <a:tcPr marR="182880" marT="0" marB="0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83398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Attrition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(22,743,109)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Based on 10.5 % Attrition Rate, with replacement in 5 months after notice</a:t>
                      </a:r>
                    </a:p>
                  </a:txBody>
                  <a:tcPr marR="182880" marT="0" marB="0" anchor="b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682202"/>
                  </a:ext>
                </a:extLst>
              </a:tr>
              <a:tr h="274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(19,243,109)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04878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84C554-741D-43C3-9B01-E426E5FFE9C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096" y="6397215"/>
          <a:ext cx="5830704" cy="266700"/>
        </p:xfrm>
        <a:graphic>
          <a:graphicData uri="http://schemas.openxmlformats.org/drawingml/2006/table">
            <a:tbl>
              <a:tblPr/>
              <a:tblGrid>
                <a:gridCol w="1469016">
                  <a:extLst>
                    <a:ext uri="{9D8B030D-6E8A-4147-A177-3AD203B41FA5}">
                      <a16:colId xmlns:a16="http://schemas.microsoft.com/office/drawing/2014/main" val="2588278295"/>
                    </a:ext>
                  </a:extLst>
                </a:gridCol>
                <a:gridCol w="2448046">
                  <a:extLst>
                    <a:ext uri="{9D8B030D-6E8A-4147-A177-3AD203B41FA5}">
                      <a16:colId xmlns:a16="http://schemas.microsoft.com/office/drawing/2014/main" val="986533179"/>
                    </a:ext>
                  </a:extLst>
                </a:gridCol>
                <a:gridCol w="1366886">
                  <a:extLst>
                    <a:ext uri="{9D8B030D-6E8A-4147-A177-3AD203B41FA5}">
                      <a16:colId xmlns:a16="http://schemas.microsoft.com/office/drawing/2014/main" val="645972793"/>
                    </a:ext>
                  </a:extLst>
                </a:gridCol>
                <a:gridCol w="546756">
                  <a:extLst>
                    <a:ext uri="{9D8B030D-6E8A-4147-A177-3AD203B41FA5}">
                      <a16:colId xmlns:a16="http://schemas.microsoft.com/office/drawing/2014/main" val="17542162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Grand Total: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600" b="1" i="0" u="none" strike="noStrike" dirty="0">
                        <a:solidFill>
                          <a:srgbClr val="37562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624,050,608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 AED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41417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684F3C2-D02A-453A-A8FE-DE955B2EF0B5}"/>
              </a:ext>
            </a:extLst>
          </p:cNvPr>
          <p:cNvSpPr/>
          <p:nvPr/>
        </p:nvSpPr>
        <p:spPr>
          <a:xfrm>
            <a:off x="7278255" y="2840208"/>
            <a:ext cx="20519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Total current 43 in KUST + 23 in KUA (Total positions on chart 71)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951D3-83CF-4503-A136-64E3729D2927}"/>
              </a:ext>
            </a:extLst>
          </p:cNvPr>
          <p:cNvSpPr/>
          <p:nvPr/>
        </p:nvSpPr>
        <p:spPr>
          <a:xfrm>
            <a:off x="7236253" y="1715806"/>
            <a:ext cx="134226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25 Faculty, 44 Staff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0BF33-BBC1-4EE1-A19B-4542BD13B6D9}"/>
              </a:ext>
            </a:extLst>
          </p:cNvPr>
          <p:cNvSpPr/>
          <p:nvPr/>
        </p:nvSpPr>
        <p:spPr>
          <a:xfrm>
            <a:off x="7236253" y="1969722"/>
            <a:ext cx="134226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37 Faculty, 75 Staff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EEBA6E-515B-4963-A7AA-211AD4CD8725}"/>
              </a:ext>
            </a:extLst>
          </p:cNvPr>
          <p:cNvSpPr/>
          <p:nvPr/>
        </p:nvSpPr>
        <p:spPr>
          <a:xfrm>
            <a:off x="7236252" y="1471443"/>
            <a:ext cx="28032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375 Faculty, 359 Staff, 42 </a:t>
            </a:r>
            <a:r>
              <a:rPr lang="en-US" sz="105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OffChart</a:t>
            </a:r>
            <a:endParaRPr lang="en-US" sz="1050" i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6649250-9A50-4069-A7AC-A72161CF73D6}"/>
              </a:ext>
            </a:extLst>
          </p:cNvPr>
          <p:cNvCxnSpPr>
            <a:cxnSpLocks/>
            <a:stCxn id="7" idx="3"/>
            <a:endCxn id="9" idx="3"/>
          </p:cNvCxnSpPr>
          <p:nvPr/>
        </p:nvCxnSpPr>
        <p:spPr>
          <a:xfrm>
            <a:off x="8578516" y="1842764"/>
            <a:ext cx="12700" cy="253916"/>
          </a:xfrm>
          <a:prstGeom prst="curvedConnector3">
            <a:avLst>
              <a:gd name="adj1" fmla="val 3505260"/>
            </a:avLst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F7AA2B1-059F-40A4-A534-E08C9D7F240B}"/>
              </a:ext>
            </a:extLst>
          </p:cNvPr>
          <p:cNvSpPr/>
          <p:nvPr/>
        </p:nvSpPr>
        <p:spPr>
          <a:xfrm>
            <a:off x="9563100" y="1824274"/>
            <a:ext cx="2058804" cy="1811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Hire Date Shift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91B3B-F028-46F9-9B46-411E797990FC}"/>
              </a:ext>
            </a:extLst>
          </p:cNvPr>
          <p:cNvSpPr/>
          <p:nvPr/>
        </p:nvSpPr>
        <p:spPr>
          <a:xfrm>
            <a:off x="9563100" y="2035762"/>
            <a:ext cx="2058804" cy="11520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</a:rPr>
              <a:t>Shifted the hire of 60 Faculty and staff by one quarter, some into 2</a:t>
            </a:r>
            <a:r>
              <a:rPr lang="en-US" sz="1050" baseline="30000" dirty="0">
                <a:solidFill>
                  <a:schemeClr val="tx1"/>
                </a:solidFill>
              </a:rPr>
              <a:t>nd</a:t>
            </a:r>
            <a:r>
              <a:rPr lang="en-US" sz="1050" dirty="0">
                <a:solidFill>
                  <a:schemeClr val="tx1"/>
                </a:solidFill>
              </a:rPr>
              <a:t> quarter of coming year and calculated based on hiring on the  on 25</a:t>
            </a:r>
            <a:r>
              <a:rPr lang="en-US" sz="1050" baseline="30000" dirty="0">
                <a:solidFill>
                  <a:schemeClr val="tx1"/>
                </a:solidFill>
              </a:rPr>
              <a:t>th</a:t>
            </a:r>
            <a:r>
              <a:rPr lang="en-US" sz="1050" dirty="0">
                <a:solidFill>
                  <a:schemeClr val="tx1"/>
                </a:solidFill>
              </a:rPr>
              <a:t> percentile of the grade scale range with total decrease of  </a:t>
            </a:r>
            <a:r>
              <a:rPr lang="en-US" sz="1050" b="1" dirty="0">
                <a:solidFill>
                  <a:schemeClr val="tx1"/>
                </a:solidFill>
              </a:rPr>
              <a:t>19.6 M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D94B74-55D4-41B1-85DF-92F897FB2350}"/>
              </a:ext>
            </a:extLst>
          </p:cNvPr>
          <p:cNvSpPr/>
          <p:nvPr/>
        </p:nvSpPr>
        <p:spPr>
          <a:xfrm>
            <a:off x="10297026" y="3967677"/>
            <a:ext cx="1457826" cy="2043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Attrition Excess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5CE123-830A-4873-8ED8-D5AE040816F1}"/>
              </a:ext>
            </a:extLst>
          </p:cNvPr>
          <p:cNvSpPr/>
          <p:nvPr/>
        </p:nvSpPr>
        <p:spPr>
          <a:xfrm>
            <a:off x="10297025" y="4202379"/>
            <a:ext cx="1457827" cy="12348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</a:rPr>
              <a:t>Increased replacement duration to 5 months and attrition rate based on average of Faculty and Staff 10.5%, total decrease of </a:t>
            </a:r>
            <a:r>
              <a:rPr lang="en-US" sz="1050" b="1" dirty="0">
                <a:solidFill>
                  <a:schemeClr val="tx1"/>
                </a:solidFill>
              </a:rPr>
              <a:t>12.7 M 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3BC80449-9AB0-4235-A36A-D5D6D601C8E8}"/>
              </a:ext>
            </a:extLst>
          </p:cNvPr>
          <p:cNvCxnSpPr>
            <a:stCxn id="25" idx="3"/>
          </p:cNvCxnSpPr>
          <p:nvPr/>
        </p:nvCxnSpPr>
        <p:spPr>
          <a:xfrm flipH="1">
            <a:off x="9649326" y="4877386"/>
            <a:ext cx="2105526" cy="1246688"/>
          </a:xfrm>
          <a:prstGeom prst="curvedConnector3">
            <a:avLst>
              <a:gd name="adj1" fmla="val -10857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64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57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9031-A8B4-4AF5-ADC2-43CDD2D6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171" y="566639"/>
            <a:ext cx="9991725" cy="553091"/>
          </a:xfrm>
        </p:spPr>
        <p:txBody>
          <a:bodyPr>
            <a:normAutofit/>
          </a:bodyPr>
          <a:lstStyle/>
          <a:p>
            <a:r>
              <a:rPr lang="en-US" sz="3000" b="1" dirty="0"/>
              <a:t>2022 Manpower Budget Proposal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DE3833-1F3C-4BB5-B270-A657FCE8214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096" y="1174157"/>
          <a:ext cx="6603702" cy="2060156"/>
        </p:xfrm>
        <a:graphic>
          <a:graphicData uri="http://schemas.openxmlformats.org/drawingml/2006/table">
            <a:tbl>
              <a:tblPr/>
              <a:tblGrid>
                <a:gridCol w="1466093">
                  <a:extLst>
                    <a:ext uri="{9D8B030D-6E8A-4147-A177-3AD203B41FA5}">
                      <a16:colId xmlns:a16="http://schemas.microsoft.com/office/drawing/2014/main" val="992725196"/>
                    </a:ext>
                  </a:extLst>
                </a:gridCol>
                <a:gridCol w="2460396">
                  <a:extLst>
                    <a:ext uri="{9D8B030D-6E8A-4147-A177-3AD203B41FA5}">
                      <a16:colId xmlns:a16="http://schemas.microsoft.com/office/drawing/2014/main" val="1610209526"/>
                    </a:ext>
                  </a:extLst>
                </a:gridCol>
                <a:gridCol w="1376313">
                  <a:extLst>
                    <a:ext uri="{9D8B030D-6E8A-4147-A177-3AD203B41FA5}">
                      <a16:colId xmlns:a16="http://schemas.microsoft.com/office/drawing/2014/main" val="2865386683"/>
                    </a:ext>
                  </a:extLst>
                </a:gridCol>
                <a:gridCol w="1300900">
                  <a:extLst>
                    <a:ext uri="{9D8B030D-6E8A-4147-A177-3AD203B41FA5}">
                      <a16:colId xmlns:a16="http://schemas.microsoft.com/office/drawing/2014/main" val="622862249"/>
                    </a:ext>
                  </a:extLst>
                </a:gridCol>
              </a:tblGrid>
              <a:tr h="289876"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</a:t>
                      </a:r>
                    </a:p>
                  </a:txBody>
                  <a:tcPr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930037"/>
                  </a:ext>
                </a:extLst>
              </a:tr>
              <a:tr h="2484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KU </a:t>
                      </a:r>
                      <a:endParaRPr lang="en-US" sz="105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Current Employees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519,842,486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776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373408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Hires 2021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38,335,362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975832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Hires 2022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39,782,098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67283"/>
                  </a:ext>
                </a:extLst>
              </a:tr>
              <a:tr h="27949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597,959,947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868530"/>
                  </a:ext>
                </a:extLst>
              </a:tr>
              <a:tr h="2484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ANKABUT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Current Employees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22,024,007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36560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Hires 2022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1,112,762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308465"/>
                  </a:ext>
                </a:extLst>
              </a:tr>
              <a:tr h="2484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   23,136,769 </a:t>
                      </a:r>
                    </a:p>
                  </a:txBody>
                  <a:tcPr marL="182880" marR="182880" marT="0" marB="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</a:t>
                      </a:r>
                    </a:p>
                  </a:txBody>
                  <a:tcPr marL="182880"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47055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617292-D011-49A6-8915-43C212C3BAD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096" y="3333228"/>
          <a:ext cx="11051808" cy="3033652"/>
        </p:xfrm>
        <a:graphic>
          <a:graphicData uri="http://schemas.openxmlformats.org/drawingml/2006/table">
            <a:tbl>
              <a:tblPr firstRow="1" bandRow="1"/>
              <a:tblGrid>
                <a:gridCol w="1459872">
                  <a:extLst>
                    <a:ext uri="{9D8B030D-6E8A-4147-A177-3AD203B41FA5}">
                      <a16:colId xmlns:a16="http://schemas.microsoft.com/office/drawing/2014/main" val="108580585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4023940332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103908792"/>
                    </a:ext>
                  </a:extLst>
                </a:gridCol>
                <a:gridCol w="5760600">
                  <a:extLst>
                    <a:ext uri="{9D8B030D-6E8A-4147-A177-3AD203B41FA5}">
                      <a16:colId xmlns:a16="http://schemas.microsoft.com/office/drawing/2014/main" val="2956657505"/>
                    </a:ext>
                  </a:extLst>
                </a:gridCol>
              </a:tblGrid>
              <a:tr h="201037"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Central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President Temp Budget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600,000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CTL Budget, Adjunct Professors Budget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462268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Committee pay / Board Member fee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780,000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13*60,000 AED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272641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Summer Payments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1,500,000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168961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Employee Training costs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2,000,000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10989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Recruitment expenses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4,000,000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Advertising, headhunting, search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556055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Visa Requirements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2,242,090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233429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Relocation expenses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4,307,000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356512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Gratuity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3,091,367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Basic Salaries of current* 2 basics * 8 % (Attrition Rate)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009513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Leave Payout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2,244,543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((Total Basic Salary+ </a:t>
                      </a:r>
                      <a:r>
                        <a:rPr lang="en-US" sz="1050" i="1" kern="1200" dirty="0" err="1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CoLA</a:t>
                      </a:r>
                      <a:r>
                        <a:rPr lang="en-US" sz="1050" i="1" kern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)/30)* 25 Days * 8 % (Attrition Rate)</a:t>
                      </a: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375908"/>
                  </a:ext>
                </a:extLst>
              </a:tr>
              <a:tr h="2010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Travel costs - Repatriation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1,432,000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50" i="1" kern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728681"/>
                  </a:ext>
                </a:extLst>
              </a:tr>
              <a:tr h="2688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22,196,999 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893404"/>
                  </a:ext>
                </a:extLst>
              </a:tr>
              <a:tr h="20574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Promotions /Increments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3,500,000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Promotions - 10% Basic &amp; </a:t>
                      </a:r>
                      <a:r>
                        <a:rPr lang="en-US" sz="900" b="0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CoLA</a:t>
                      </a: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 5% of the total employees as of July 2022, Increments - 10% Basic &amp; </a:t>
                      </a:r>
                      <a:r>
                        <a:rPr lang="en-US" sz="900" b="0" i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CoLA</a:t>
                      </a: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for 10% of the total employees as of July 2021,=6 months*(2022 employee count)*0.1*0.15*(monthly BS &amp; Cola average)</a:t>
                      </a:r>
                    </a:p>
                  </a:txBody>
                  <a:tcPr marR="182880" marT="0" marB="0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883398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100" b="1" i="0" u="none" strike="noStrike" kern="1200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Attrition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(22,743,109)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Based on 10.5 % Attrition Rate, with replacement in 5 months after notice</a:t>
                      </a:r>
                    </a:p>
                  </a:txBody>
                  <a:tcPr marR="182880" marT="0" marB="0" anchor="b">
                    <a:lnL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682202"/>
                  </a:ext>
                </a:extLst>
              </a:tr>
              <a:tr h="2743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2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(19,243,109)</a:t>
                      </a: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endParaRPr lang="en-US" sz="12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R="18288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04878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484C554-741D-43C3-9B01-E426E5FFE9C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096" y="6397215"/>
          <a:ext cx="5830704" cy="266700"/>
        </p:xfrm>
        <a:graphic>
          <a:graphicData uri="http://schemas.openxmlformats.org/drawingml/2006/table">
            <a:tbl>
              <a:tblPr/>
              <a:tblGrid>
                <a:gridCol w="1469016">
                  <a:extLst>
                    <a:ext uri="{9D8B030D-6E8A-4147-A177-3AD203B41FA5}">
                      <a16:colId xmlns:a16="http://schemas.microsoft.com/office/drawing/2014/main" val="2588278295"/>
                    </a:ext>
                  </a:extLst>
                </a:gridCol>
                <a:gridCol w="2448046">
                  <a:extLst>
                    <a:ext uri="{9D8B030D-6E8A-4147-A177-3AD203B41FA5}">
                      <a16:colId xmlns:a16="http://schemas.microsoft.com/office/drawing/2014/main" val="986533179"/>
                    </a:ext>
                  </a:extLst>
                </a:gridCol>
                <a:gridCol w="1366886">
                  <a:extLst>
                    <a:ext uri="{9D8B030D-6E8A-4147-A177-3AD203B41FA5}">
                      <a16:colId xmlns:a16="http://schemas.microsoft.com/office/drawing/2014/main" val="645972793"/>
                    </a:ext>
                  </a:extLst>
                </a:gridCol>
                <a:gridCol w="546756">
                  <a:extLst>
                    <a:ext uri="{9D8B030D-6E8A-4147-A177-3AD203B41FA5}">
                      <a16:colId xmlns:a16="http://schemas.microsoft.com/office/drawing/2014/main" val="1754216209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Grand Total: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600" b="1" i="0" u="none" strike="noStrike" dirty="0">
                        <a:solidFill>
                          <a:srgbClr val="37562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624,050,608 </a:t>
                      </a:r>
                    </a:p>
                  </a:txBody>
                  <a:tcPr marR="18288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375623"/>
                          </a:solidFill>
                          <a:effectLst/>
                          <a:latin typeface="Calibri" panose="020F0502020204030204" pitchFamily="34" charset="0"/>
                        </a:rPr>
                        <a:t> AED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41417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684F3C2-D02A-453A-A8FE-DE955B2EF0B5}"/>
              </a:ext>
            </a:extLst>
          </p:cNvPr>
          <p:cNvSpPr/>
          <p:nvPr/>
        </p:nvSpPr>
        <p:spPr>
          <a:xfrm>
            <a:off x="7278255" y="2840208"/>
            <a:ext cx="20519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Total current 43 in KUST + 23 in KUA (Total positions on chart 71)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B951D3-83CF-4503-A136-64E3729D2927}"/>
              </a:ext>
            </a:extLst>
          </p:cNvPr>
          <p:cNvSpPr/>
          <p:nvPr/>
        </p:nvSpPr>
        <p:spPr>
          <a:xfrm>
            <a:off x="7236253" y="1715806"/>
            <a:ext cx="134226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25 Faculty, 44 Staff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0BF33-BBC1-4EE1-A19B-4542BD13B6D9}"/>
              </a:ext>
            </a:extLst>
          </p:cNvPr>
          <p:cNvSpPr/>
          <p:nvPr/>
        </p:nvSpPr>
        <p:spPr>
          <a:xfrm>
            <a:off x="7236253" y="1969722"/>
            <a:ext cx="134226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37 Faculty, 75 Staff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EEBA6E-515B-4963-A7AA-211AD4CD8725}"/>
              </a:ext>
            </a:extLst>
          </p:cNvPr>
          <p:cNvSpPr/>
          <p:nvPr/>
        </p:nvSpPr>
        <p:spPr>
          <a:xfrm>
            <a:off x="7236252" y="1471443"/>
            <a:ext cx="280329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/>
            <a:r>
              <a:rPr lang="en-US" sz="1050" i="1" dirty="0">
                <a:solidFill>
                  <a:srgbClr val="000000"/>
                </a:solidFill>
                <a:latin typeface="Calibri" panose="020F0502020204030204" pitchFamily="34" charset="0"/>
              </a:rPr>
              <a:t>375 Faculty, 359 Staff, 42 </a:t>
            </a:r>
            <a:r>
              <a:rPr lang="en-US" sz="1050" i="1" dirty="0" err="1">
                <a:solidFill>
                  <a:srgbClr val="000000"/>
                </a:solidFill>
                <a:latin typeface="Calibri" panose="020F0502020204030204" pitchFamily="34" charset="0"/>
              </a:rPr>
              <a:t>OffChart</a:t>
            </a:r>
            <a:endParaRPr lang="en-US" sz="1050" i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6649250-9A50-4069-A7AC-A72161CF73D6}"/>
              </a:ext>
            </a:extLst>
          </p:cNvPr>
          <p:cNvCxnSpPr>
            <a:cxnSpLocks/>
            <a:stCxn id="7" idx="3"/>
            <a:endCxn id="9" idx="3"/>
          </p:cNvCxnSpPr>
          <p:nvPr/>
        </p:nvCxnSpPr>
        <p:spPr>
          <a:xfrm>
            <a:off x="8578516" y="1842764"/>
            <a:ext cx="12700" cy="253916"/>
          </a:xfrm>
          <a:prstGeom prst="curvedConnector3">
            <a:avLst>
              <a:gd name="adj1" fmla="val 3505260"/>
            </a:avLst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F7AA2B1-059F-40A4-A534-E08C9D7F240B}"/>
              </a:ext>
            </a:extLst>
          </p:cNvPr>
          <p:cNvSpPr/>
          <p:nvPr/>
        </p:nvSpPr>
        <p:spPr>
          <a:xfrm>
            <a:off x="9563100" y="1824274"/>
            <a:ext cx="2058804" cy="1811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Hire Date Shift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91B3B-F028-46F9-9B46-411E797990FC}"/>
              </a:ext>
            </a:extLst>
          </p:cNvPr>
          <p:cNvSpPr/>
          <p:nvPr/>
        </p:nvSpPr>
        <p:spPr>
          <a:xfrm>
            <a:off x="9563100" y="2035762"/>
            <a:ext cx="2058804" cy="11520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</a:rPr>
              <a:t>Shifted the hire of 60 Faculty and staff by one quarter, some into 2</a:t>
            </a:r>
            <a:r>
              <a:rPr lang="en-US" sz="1050" baseline="30000" dirty="0">
                <a:solidFill>
                  <a:schemeClr val="tx1"/>
                </a:solidFill>
              </a:rPr>
              <a:t>nd</a:t>
            </a:r>
            <a:r>
              <a:rPr lang="en-US" sz="1050" dirty="0">
                <a:solidFill>
                  <a:schemeClr val="tx1"/>
                </a:solidFill>
              </a:rPr>
              <a:t> quarter of coming year and calculated based on hiring on the  on 25</a:t>
            </a:r>
            <a:r>
              <a:rPr lang="en-US" sz="1050" baseline="30000" dirty="0">
                <a:solidFill>
                  <a:schemeClr val="tx1"/>
                </a:solidFill>
              </a:rPr>
              <a:t>th</a:t>
            </a:r>
            <a:r>
              <a:rPr lang="en-US" sz="1050" dirty="0">
                <a:solidFill>
                  <a:schemeClr val="tx1"/>
                </a:solidFill>
              </a:rPr>
              <a:t> percentile of the grade scale range with total decrease of  </a:t>
            </a:r>
            <a:r>
              <a:rPr lang="en-US" sz="1050" b="1" dirty="0">
                <a:solidFill>
                  <a:schemeClr val="tx1"/>
                </a:solidFill>
              </a:rPr>
              <a:t>19.6 M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D94B74-55D4-41B1-85DF-92F897FB2350}"/>
              </a:ext>
            </a:extLst>
          </p:cNvPr>
          <p:cNvSpPr/>
          <p:nvPr/>
        </p:nvSpPr>
        <p:spPr>
          <a:xfrm>
            <a:off x="10297026" y="3967677"/>
            <a:ext cx="1457826" cy="2043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Attrition Excess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5CE123-830A-4873-8ED8-D5AE040816F1}"/>
              </a:ext>
            </a:extLst>
          </p:cNvPr>
          <p:cNvSpPr/>
          <p:nvPr/>
        </p:nvSpPr>
        <p:spPr>
          <a:xfrm>
            <a:off x="10297025" y="4202379"/>
            <a:ext cx="1457827" cy="12348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tx1"/>
                </a:solidFill>
              </a:rPr>
              <a:t>Increased replacement duration to 5 months and attrition rate based on average of Faculty and Staff 10.5%, total decrease of </a:t>
            </a:r>
            <a:r>
              <a:rPr lang="en-US" sz="1050" b="1" dirty="0">
                <a:solidFill>
                  <a:schemeClr val="tx1"/>
                </a:solidFill>
              </a:rPr>
              <a:t>12.7 M 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3BC80449-9AB0-4235-A36A-D5D6D601C8E8}"/>
              </a:ext>
            </a:extLst>
          </p:cNvPr>
          <p:cNvCxnSpPr>
            <a:stCxn id="25" idx="3"/>
          </p:cNvCxnSpPr>
          <p:nvPr/>
        </p:nvCxnSpPr>
        <p:spPr>
          <a:xfrm flipH="1">
            <a:off x="9649326" y="4877386"/>
            <a:ext cx="2105526" cy="1246688"/>
          </a:xfrm>
          <a:prstGeom prst="curvedConnector3">
            <a:avLst>
              <a:gd name="adj1" fmla="val -10857"/>
            </a:avLst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5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795060"/>
          </a:xfrm>
          <a:noFill/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3000" dirty="0" smtClean="0"/>
              <a:t>2021 – 2022 Budget Proposa</a:t>
            </a:r>
            <a:r>
              <a:rPr lang="en-US" sz="3000" dirty="0"/>
              <a:t>l</a:t>
            </a:r>
            <a:r>
              <a:rPr lang="en-US" sz="3000" dirty="0" smtClean="0"/>
              <a:t> </a:t>
            </a:r>
            <a:r>
              <a:rPr lang="en-US" sz="3000" dirty="0"/>
              <a:t>Vs </a:t>
            </a:r>
            <a:r>
              <a:rPr lang="en-US" sz="3000" dirty="0" smtClean="0"/>
              <a:t>Submitted to DOF with Reduction </a:t>
            </a:r>
            <a:r>
              <a:rPr lang="en-US" sz="3000" dirty="0"/>
              <a:t>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384175" y="1403350"/>
          <a:ext cx="11249025" cy="240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Worksheet" r:id="rId3" imgW="6921426" imgH="1479425" progId="Excel.Sheet.12">
                  <p:embed/>
                </p:oleObj>
              </mc:Choice>
              <mc:Fallback>
                <p:oleObj name="Worksheet" r:id="rId3" imgW="6921426" imgH="1479425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403350"/>
                        <a:ext cx="11249025" cy="2401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3777" y="3955068"/>
            <a:ext cx="11587597" cy="2646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 smtClean="0"/>
              <a:t>Manpower 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 smtClean="0"/>
              <a:t>Stop </a:t>
            </a:r>
            <a:r>
              <a:rPr lang="en-US" sz="1400" dirty="0"/>
              <a:t>the hiring , also might need to terminate employee , will not meet the Medical college requirement and the general growth in KU operation</a:t>
            </a:r>
            <a:r>
              <a:rPr lang="en-US" sz="1400" dirty="0" smtClean="0"/>
              <a:t>.</a:t>
            </a:r>
          </a:p>
          <a:p>
            <a:pPr algn="l"/>
            <a:r>
              <a:rPr lang="en-US" sz="1400" dirty="0" smtClean="0"/>
              <a:t>   </a:t>
            </a:r>
            <a:endParaRPr lang="en-US" sz="1400" dirty="0"/>
          </a:p>
          <a:p>
            <a:pPr algn="l"/>
            <a:r>
              <a:rPr lang="en-US" sz="1600" u="sng" dirty="0" smtClean="0"/>
              <a:t>Opex</a:t>
            </a:r>
            <a:r>
              <a:rPr lang="en-US" sz="1600" dirty="0" smtClean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Research: reduce </a:t>
            </a:r>
            <a:r>
              <a:rPr lang="en-US" sz="1400" dirty="0"/>
              <a:t>the </a:t>
            </a:r>
            <a:r>
              <a:rPr lang="en-US" sz="1400" dirty="0" smtClean="0"/>
              <a:t>growth in internal research and </a:t>
            </a:r>
            <a:r>
              <a:rPr lang="en-US" sz="1400" dirty="0"/>
              <a:t>might need to terminate </a:t>
            </a:r>
            <a:r>
              <a:rPr lang="en-US" sz="1400" dirty="0" smtClean="0"/>
              <a:t>the projects .</a:t>
            </a:r>
            <a:endParaRPr lang="en-US" sz="1400" dirty="0"/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Postgraduate </a:t>
            </a:r>
            <a:r>
              <a:rPr lang="en-US" sz="1400" dirty="0" smtClean="0"/>
              <a:t>and UG : </a:t>
            </a:r>
            <a:r>
              <a:rPr lang="en-US" sz="1400" dirty="0"/>
              <a:t>reduce the growth </a:t>
            </a:r>
            <a:r>
              <a:rPr lang="en-US" sz="1400" dirty="0" smtClean="0"/>
              <a:t>in the </a:t>
            </a:r>
            <a:r>
              <a:rPr lang="en-US" sz="1400" dirty="0"/>
              <a:t>Postgraduate Student </a:t>
            </a:r>
            <a:r>
              <a:rPr lang="en-US" sz="1400" dirty="0" smtClean="0"/>
              <a:t>Intakes </a:t>
            </a:r>
            <a:r>
              <a:rPr lang="en-US" sz="1400" dirty="0"/>
              <a:t>and UG Intakes </a:t>
            </a:r>
            <a:r>
              <a:rPr lang="en-US" sz="1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Medical college </a:t>
            </a:r>
            <a:r>
              <a:rPr lang="en-US" sz="1400" dirty="0" smtClean="0"/>
              <a:t>: reduce the operation requirement and might impact the program, and no growth.</a:t>
            </a:r>
          </a:p>
          <a:p>
            <a:endParaRPr lang="en-US" sz="1400" dirty="0"/>
          </a:p>
          <a:p>
            <a:r>
              <a:rPr lang="en-US" sz="1400" u="sng" dirty="0" smtClean="0"/>
              <a:t>Capex</a:t>
            </a:r>
            <a:r>
              <a:rPr lang="en-US" sz="1400" dirty="0" smtClean="0"/>
              <a:t> 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Research </a:t>
            </a:r>
            <a:r>
              <a:rPr lang="en-US" sz="1400" dirty="0"/>
              <a:t>: reduce the growth </a:t>
            </a:r>
            <a:r>
              <a:rPr lang="en-US" sz="1400" dirty="0" smtClean="0"/>
              <a:t>and work with minimum requirement.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/>
              <a:t>Facilities </a:t>
            </a:r>
            <a:r>
              <a:rPr lang="en-US" sz="1400" dirty="0"/>
              <a:t>: work with minimum </a:t>
            </a:r>
            <a:r>
              <a:rPr lang="en-US" sz="1400" dirty="0" smtClean="0"/>
              <a:t>requirement and </a:t>
            </a:r>
            <a:r>
              <a:rPr lang="en-US" sz="1400" dirty="0"/>
              <a:t>might impact </a:t>
            </a:r>
            <a:r>
              <a:rPr lang="en-US" sz="1400" dirty="0" smtClean="0"/>
              <a:t>some program like </a:t>
            </a:r>
            <a:r>
              <a:rPr lang="en-US" sz="1400" dirty="0"/>
              <a:t>Medical</a:t>
            </a:r>
            <a:r>
              <a:rPr lang="en-US" sz="14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Medical </a:t>
            </a:r>
            <a:r>
              <a:rPr lang="en-US" sz="1400" dirty="0" smtClean="0"/>
              <a:t>college:</a:t>
            </a:r>
            <a:r>
              <a:rPr lang="en-US" sz="1400" dirty="0"/>
              <a:t> reduce the growth and work with minimum </a:t>
            </a:r>
            <a:r>
              <a:rPr lang="en-US" sz="1400" dirty="0" smtClean="0"/>
              <a:t>requirement,</a:t>
            </a:r>
            <a:r>
              <a:rPr lang="en-US" sz="1400" dirty="0"/>
              <a:t> and might impact the </a:t>
            </a:r>
            <a:r>
              <a:rPr lang="en-US" sz="1400" dirty="0" smtClean="0"/>
              <a:t>program.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205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3"/>
            <a:ext cx="11587572" cy="63273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Chapter – 02 (Opex) : 2022 Budget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398463" y="1697037"/>
          <a:ext cx="11164886" cy="4406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Worksheet" r:id="rId3" imgW="7950052" imgH="3136841" progId="Excel.Sheet.12">
                  <p:embed/>
                </p:oleObj>
              </mc:Choice>
              <mc:Fallback>
                <p:oleObj name="Worksheet" r:id="rId3" imgW="7950052" imgH="3136841" progId="Excel.Shee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8463" y="1697037"/>
                        <a:ext cx="11164886" cy="44066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878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15" y="649764"/>
            <a:ext cx="11517903" cy="56072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Chapter – 03 (Capex) : 2022 Budget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322263" y="1827213"/>
          <a:ext cx="11598275" cy="409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Worksheet" r:id="rId3" imgW="7912174" imgH="2793941" progId="Excel.Sheet.12">
                  <p:embed/>
                </p:oleObj>
              </mc:Choice>
              <mc:Fallback>
                <p:oleObj name="Worksheet" r:id="rId3" imgW="7912174" imgH="2793941" progId="Excel.Shee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263" y="1827213"/>
                        <a:ext cx="11598275" cy="409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02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1"/>
            <a:ext cx="9991725" cy="647278"/>
          </a:xfrm>
        </p:spPr>
        <p:txBody>
          <a:bodyPr>
            <a:normAutofit/>
          </a:bodyPr>
          <a:lstStyle/>
          <a:p>
            <a:r>
              <a:rPr lang="en-US" dirty="0" smtClean="0"/>
              <a:t>2021 Budget Performance as of Jun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77" y="1320801"/>
            <a:ext cx="10685889" cy="49414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848618"/>
              </p:ext>
            </p:extLst>
          </p:nvPr>
        </p:nvGraphicFramePr>
        <p:xfrm>
          <a:off x="384175" y="1736725"/>
          <a:ext cx="9489210" cy="202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" name="Worksheet" r:id="rId3" imgW="5189294" imgH="1105050" progId="Excel.Sheet.12">
                  <p:embed/>
                </p:oleObj>
              </mc:Choice>
              <mc:Fallback>
                <p:oleObj name="Worksheet" r:id="rId3" imgW="5189294" imgH="110505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736725"/>
                        <a:ext cx="9489210" cy="202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098" y="3969488"/>
            <a:ext cx="8768316" cy="14234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 smtClean="0"/>
              <a:t>Note :</a:t>
            </a:r>
          </a:p>
          <a:p>
            <a:pPr algn="l"/>
            <a:endParaRPr lang="en-US" sz="1850" dirty="0"/>
          </a:p>
          <a:p>
            <a:pPr marL="342900" indent="-342900">
              <a:buFontTx/>
              <a:buChar char="-"/>
            </a:pPr>
            <a:r>
              <a:rPr lang="en-US" sz="1850" dirty="0" smtClean="0"/>
              <a:t>In CH2 , AED 115M will </a:t>
            </a:r>
            <a:r>
              <a:rPr lang="en-US" sz="1850" dirty="0"/>
              <a:t>be paid as Postgraduate Student Salaries and </a:t>
            </a:r>
            <a:r>
              <a:rPr lang="en-US" sz="1850" dirty="0" smtClean="0"/>
              <a:t>Researcher salary</a:t>
            </a:r>
          </a:p>
          <a:p>
            <a:pPr marL="342900" indent="-342900">
              <a:buFontTx/>
              <a:buChar char="-"/>
            </a:pPr>
            <a:r>
              <a:rPr lang="en-US" sz="1850" dirty="0" smtClean="0"/>
              <a:t>In CH2, AED 13M </a:t>
            </a:r>
            <a:r>
              <a:rPr lang="en-US" sz="1850" dirty="0"/>
              <a:t>will paid as Electricity </a:t>
            </a:r>
            <a:r>
              <a:rPr lang="en-US" sz="1850" dirty="0" smtClean="0"/>
              <a:t>and Water consumption</a:t>
            </a:r>
          </a:p>
        </p:txBody>
      </p:sp>
    </p:spTree>
    <p:extLst>
      <p:ext uri="{BB962C8B-B14F-4D97-AF65-F5344CB8AC3E}">
        <p14:creationId xmlns:p14="http://schemas.microsoft.com/office/powerpoint/2010/main" val="75513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777" y="525740"/>
            <a:ext cx="11453547" cy="679605"/>
          </a:xfrm>
        </p:spPr>
        <p:txBody>
          <a:bodyPr>
            <a:normAutofit/>
          </a:bodyPr>
          <a:lstStyle/>
          <a:p>
            <a:r>
              <a:rPr lang="en-US" sz="3000" dirty="0" smtClean="0"/>
              <a:t>2021 – 2024 Budget Proposa</a:t>
            </a:r>
            <a:r>
              <a:rPr lang="en-US" sz="3000" dirty="0"/>
              <a:t>l</a:t>
            </a:r>
            <a:r>
              <a:rPr lang="en-US" sz="3000" dirty="0" smtClean="0"/>
              <a:t> </a:t>
            </a:r>
            <a:r>
              <a:rPr lang="en-US" sz="3000" dirty="0"/>
              <a:t>Vs Finance Recommendation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384175" y="1403350"/>
          <a:ext cx="10734675" cy="210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Worksheet" r:id="rId3" imgW="6604197" imgH="1295488" progId="Excel.Sheet.12">
                  <p:embed/>
                </p:oleObj>
              </mc:Choice>
              <mc:Fallback>
                <p:oleObj name="Worksheet" r:id="rId3" imgW="6604197" imgH="1295488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175" y="1403350"/>
                        <a:ext cx="10734675" cy="210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3777" y="3705686"/>
            <a:ext cx="11587597" cy="2646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 smtClean="0"/>
              <a:t>Opex</a:t>
            </a:r>
            <a:r>
              <a:rPr lang="en-US" sz="1600" dirty="0" smtClean="0"/>
              <a:t> </a:t>
            </a:r>
          </a:p>
          <a:p>
            <a:pPr algn="l"/>
            <a:endParaRPr lang="en-US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1400" dirty="0" smtClean="0"/>
              <a:t>SVP-Research Office: We </a:t>
            </a:r>
            <a:r>
              <a:rPr lang="en-US" sz="1400" dirty="0"/>
              <a:t>recommend </a:t>
            </a:r>
            <a:r>
              <a:rPr lang="en-US" sz="1400" dirty="0" smtClean="0"/>
              <a:t>the </a:t>
            </a:r>
            <a:r>
              <a:rPr lang="en-US" sz="1400" dirty="0"/>
              <a:t>scientific account </a:t>
            </a:r>
            <a:r>
              <a:rPr lang="en-US" sz="1400" dirty="0" smtClean="0"/>
              <a:t>estimate to be increased 20</a:t>
            </a:r>
            <a:r>
              <a:rPr lang="en-US" sz="1400" dirty="0"/>
              <a:t>% of 2021 budget.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Graduate Studies: We recommend the Postgraduate Student Salaries account estimate </a:t>
            </a:r>
            <a:r>
              <a:rPr lang="en-US" sz="1400" dirty="0" smtClean="0"/>
              <a:t>to be 75</a:t>
            </a:r>
            <a:r>
              <a:rPr lang="en-US" sz="1400" dirty="0"/>
              <a:t>% of the 750 graduates Intakes for 2022.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Academic and Student Services </a:t>
            </a:r>
            <a:r>
              <a:rPr lang="en-US" sz="1400" dirty="0" smtClean="0"/>
              <a:t>Office: We </a:t>
            </a:r>
            <a:r>
              <a:rPr lang="en-US" sz="1400" dirty="0"/>
              <a:t>recommend the </a:t>
            </a:r>
            <a:r>
              <a:rPr lang="en-US" sz="1400" dirty="0" smtClean="0"/>
              <a:t>UG </a:t>
            </a:r>
            <a:r>
              <a:rPr lang="en-US" sz="1400" dirty="0"/>
              <a:t>Student Salaries account estimate </a:t>
            </a:r>
            <a:r>
              <a:rPr lang="en-US" sz="1400" dirty="0" smtClean="0"/>
              <a:t>to be 75</a:t>
            </a:r>
            <a:r>
              <a:rPr lang="en-US" sz="1400" dirty="0"/>
              <a:t>% of the </a:t>
            </a:r>
            <a:r>
              <a:rPr lang="en-US" sz="1400" dirty="0" smtClean="0"/>
              <a:t>800 UG </a:t>
            </a:r>
            <a:r>
              <a:rPr lang="en-US" sz="1400" dirty="0"/>
              <a:t>Intakes for 2022</a:t>
            </a:r>
            <a:r>
              <a:rPr lang="en-US" sz="1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1400" dirty="0"/>
          </a:p>
          <a:p>
            <a:r>
              <a:rPr lang="en-US" sz="1400" u="sng" dirty="0" smtClean="0"/>
              <a:t>Capex</a:t>
            </a:r>
            <a:r>
              <a:rPr lang="en-US" sz="1400" dirty="0" smtClean="0"/>
              <a:t> </a:t>
            </a:r>
          </a:p>
          <a:p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SVP-Research Office </a:t>
            </a:r>
            <a:r>
              <a:rPr lang="en-US" sz="1400" dirty="0" smtClean="0"/>
              <a:t>: The </a:t>
            </a:r>
            <a:r>
              <a:rPr lang="en-US" sz="1400" dirty="0"/>
              <a:t>CAPEX needs to be allocated across multiple years instead of budgeting a single </a:t>
            </a:r>
            <a:r>
              <a:rPr lang="en-US" sz="1400" dirty="0" smtClean="0"/>
              <a:t>year, so from AED 277M to be AED 20M for each years.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Administration, Facilities and EHS </a:t>
            </a:r>
            <a:r>
              <a:rPr lang="en-US" sz="1400" dirty="0" smtClean="0"/>
              <a:t>Office:</a:t>
            </a:r>
            <a:r>
              <a:rPr lang="en-US" sz="1400" dirty="0"/>
              <a:t> The CAPEX needs to be allocated across multiple years instead of budgeting a single year, so from AED </a:t>
            </a:r>
            <a:r>
              <a:rPr lang="en-US" sz="1400" dirty="0" smtClean="0"/>
              <a:t>100M </a:t>
            </a:r>
            <a:r>
              <a:rPr lang="en-US" sz="1400" dirty="0"/>
              <a:t>to be AED </a:t>
            </a:r>
            <a:r>
              <a:rPr lang="en-US" sz="1400" dirty="0" smtClean="0"/>
              <a:t>30M </a:t>
            </a:r>
            <a:r>
              <a:rPr lang="en-US" sz="1400" dirty="0"/>
              <a:t>for each years</a:t>
            </a:r>
            <a:r>
              <a:rPr lang="en-US" sz="1400" dirty="0" smtClean="0"/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9849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3"/>
            <a:ext cx="11587572" cy="63273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Chapter – 02 (Opex) : 2022 – 2024 Budget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398463" y="1697038"/>
          <a:ext cx="10629900" cy="328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Worksheet" r:id="rId3" imgW="9550400" imgH="2952904" progId="Excel.Sheet.12">
                  <p:embed/>
                </p:oleObj>
              </mc:Choice>
              <mc:Fallback>
                <p:oleObj name="Worksheet" r:id="rId3" imgW="9550400" imgH="2952904" progId="Excel.Shee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8463" y="1697038"/>
                        <a:ext cx="10629900" cy="328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787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15" y="649764"/>
            <a:ext cx="11517903" cy="560727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Chapter – 03 (Capex) : 2022 </a:t>
            </a:r>
            <a:r>
              <a:rPr lang="en-US" sz="3200" dirty="0"/>
              <a:t>– 2024 </a:t>
            </a:r>
            <a:r>
              <a:rPr lang="en-US" sz="3200" dirty="0" smtClean="0"/>
              <a:t>Budget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322263" y="1743075"/>
          <a:ext cx="11769725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Worksheet" r:id="rId3" imgW="10331635" imgH="2781256" progId="Excel.Sheet.12">
                  <p:embed/>
                </p:oleObj>
              </mc:Choice>
              <mc:Fallback>
                <p:oleObj name="Worksheet" r:id="rId3" imgW="10331635" imgH="2781256" progId="Excel.Sheet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263" y="1743075"/>
                        <a:ext cx="11769725" cy="3168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48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860" y="623455"/>
            <a:ext cx="9991725" cy="687532"/>
          </a:xfrm>
        </p:spPr>
        <p:txBody>
          <a:bodyPr/>
          <a:lstStyle/>
          <a:p>
            <a:r>
              <a:rPr lang="fi-FI" dirty="0" smtClean="0"/>
              <a:t>2018 – 2024 Budget by Chapters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659678"/>
              </p:ext>
            </p:extLst>
          </p:nvPr>
        </p:nvGraphicFramePr>
        <p:xfrm>
          <a:off x="111124" y="2043113"/>
          <a:ext cx="11976100" cy="119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Worksheet" r:id="rId3" imgW="9610721" imgH="962158" progId="Excel.Sheet.12">
                  <p:embed/>
                </p:oleObj>
              </mc:Choice>
              <mc:Fallback>
                <p:oleObj name="Worksheet" r:id="rId3" imgW="9610721" imgH="96215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124" y="2043113"/>
                        <a:ext cx="11976100" cy="1198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349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75" y="595179"/>
            <a:ext cx="9991725" cy="737234"/>
          </a:xfrm>
        </p:spPr>
        <p:txBody>
          <a:bodyPr/>
          <a:lstStyle/>
          <a:p>
            <a:r>
              <a:rPr lang="en-US" dirty="0" smtClean="0"/>
              <a:t>Facility Area Used by KU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649913"/>
              </p:ext>
            </p:extLst>
          </p:nvPr>
        </p:nvGraphicFramePr>
        <p:xfrm>
          <a:off x="756375" y="1533192"/>
          <a:ext cx="8102788" cy="288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Worksheet" r:id="rId3" imgW="2804397" imgH="998017" progId="Excel.Sheet.12">
                  <p:embed/>
                </p:oleObj>
              </mc:Choice>
              <mc:Fallback>
                <p:oleObj name="Worksheet" r:id="rId3" imgW="2804397" imgH="99801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6375" y="1533192"/>
                        <a:ext cx="8102788" cy="2884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33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375454"/>
              </p:ext>
            </p:extLst>
          </p:nvPr>
        </p:nvGraphicFramePr>
        <p:xfrm>
          <a:off x="1424720" y="534138"/>
          <a:ext cx="9292683" cy="6055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641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3"/>
            <a:ext cx="11587572" cy="632732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Chapter – 02 (Opex) : 2022 – 2024 Budget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397934" y="1697627"/>
          <a:ext cx="11652217" cy="346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Worksheet" r:id="rId3" imgW="10469969" imgH="3116783" progId="Excel.Sheet.12">
                  <p:embed/>
                </p:oleObj>
              </mc:Choice>
              <mc:Fallback>
                <p:oleObj name="Worksheet" r:id="rId3" imgW="10469969" imgH="3116783" progId="Excel.Shee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7934" y="1697627"/>
                        <a:ext cx="11652217" cy="3468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501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14" y="552031"/>
            <a:ext cx="11587572" cy="658858"/>
          </a:xfrm>
        </p:spPr>
        <p:txBody>
          <a:bodyPr>
            <a:noAutofit/>
          </a:bodyPr>
          <a:lstStyle/>
          <a:p>
            <a:r>
              <a:rPr lang="en-US" sz="2900" dirty="0" smtClean="0"/>
              <a:t>Chapter – 02 (Opex) : 2018 – 2020 Actual Vs 2021 - 2022  Budget 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31247"/>
              </p:ext>
            </p:extLst>
          </p:nvPr>
        </p:nvGraphicFramePr>
        <p:xfrm>
          <a:off x="238125" y="1528763"/>
          <a:ext cx="11376025" cy="446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Worksheet" r:id="rId3" imgW="7994638" imgH="3136841" progId="Excel.Sheet.12">
                  <p:embed/>
                </p:oleObj>
              </mc:Choice>
              <mc:Fallback>
                <p:oleObj name="Worksheet" r:id="rId3" imgW="7994638" imgH="31368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125" y="1528763"/>
                        <a:ext cx="11376025" cy="4465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51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856211"/>
              </p:ext>
            </p:extLst>
          </p:nvPr>
        </p:nvGraphicFramePr>
        <p:xfrm>
          <a:off x="1416407" y="447675"/>
          <a:ext cx="9292683" cy="6055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703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2"/>
            <a:ext cx="9991725" cy="702401"/>
          </a:xfrm>
        </p:spPr>
        <p:txBody>
          <a:bodyPr>
            <a:normAutofit/>
          </a:bodyPr>
          <a:lstStyle/>
          <a:p>
            <a:r>
              <a:rPr lang="en-US" dirty="0" smtClean="0"/>
              <a:t>Student Summary 2021-2027 (UG &amp; PG)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687840"/>
              </p:ext>
            </p:extLst>
          </p:nvPr>
        </p:nvGraphicFramePr>
        <p:xfrm>
          <a:off x="648563" y="1647689"/>
          <a:ext cx="9340427" cy="320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Worksheet" r:id="rId3" imgW="5356904" imgH="1836200" progId="Excel.Sheet.12">
                  <p:embed/>
                </p:oleObj>
              </mc:Choice>
              <mc:Fallback>
                <p:oleObj name="Worksheet" r:id="rId3" imgW="5356904" imgH="1836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8563" y="1647689"/>
                        <a:ext cx="9340427" cy="320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33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57" y="560343"/>
            <a:ext cx="11587572" cy="658858"/>
          </a:xfrm>
        </p:spPr>
        <p:txBody>
          <a:bodyPr>
            <a:noAutofit/>
          </a:bodyPr>
          <a:lstStyle/>
          <a:p>
            <a:r>
              <a:rPr lang="en-US" sz="2800" dirty="0" smtClean="0"/>
              <a:t>Chapter – 03 (Capex) : 2018 – 2020 Actual Vs 2021 - 2022  Budget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68DD1B-5CD8-424B-8173-19E182143E0A}" type="slidenum">
              <a:rPr kumimoji="0" lang="en-US" sz="850" b="0" i="0" u="none" strike="noStrike" kern="1200" cap="none" spc="0" normalizeH="0" baseline="0" noProof="0" smtClean="0">
                <a:ln>
                  <a:noFill/>
                </a:ln>
                <a:solidFill>
                  <a:srgbClr val="96969A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96969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258203"/>
              </p:ext>
            </p:extLst>
          </p:nvPr>
        </p:nvGraphicFramePr>
        <p:xfrm>
          <a:off x="333330" y="1751557"/>
          <a:ext cx="11449367" cy="4605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Worksheet" r:id="rId3" imgW="7292473" imgH="2933638" progId="Excel.Sheet.12">
                  <p:embed/>
                </p:oleObj>
              </mc:Choice>
              <mc:Fallback>
                <p:oleObj name="Worksheet" r:id="rId3" imgW="7292473" imgH="29336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30" y="1751557"/>
                        <a:ext cx="11449367" cy="4605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4339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7_Office Theme">
  <a:themeElements>
    <a:clrScheme name="ThemeBM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KU">
    <a:dk1>
      <a:sysClr val="windowText" lastClr="000000"/>
    </a:dk1>
    <a:lt1>
      <a:sysClr val="window" lastClr="FFFFFF"/>
    </a:lt1>
    <a:dk2>
      <a:srgbClr val="0047BA"/>
    </a:dk2>
    <a:lt2>
      <a:srgbClr val="96969A"/>
    </a:lt2>
    <a:accent1>
      <a:srgbClr val="00CE7C"/>
    </a:accent1>
    <a:accent2>
      <a:srgbClr val="E53E51"/>
    </a:accent2>
    <a:accent3>
      <a:srgbClr val="84DADE"/>
    </a:accent3>
    <a:accent4>
      <a:srgbClr val="4C3041"/>
    </a:accent4>
    <a:accent5>
      <a:srgbClr val="F5CE3E"/>
    </a:accent5>
    <a:accent6>
      <a:srgbClr val="D0CFCD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15589</TotalTime>
  <Words>1379</Words>
  <Application>Microsoft Office PowerPoint</Application>
  <PresentationFormat>Widescreen</PresentationFormat>
  <Paragraphs>235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KU Theme</vt:lpstr>
      <vt:lpstr>7_Office Theme</vt:lpstr>
      <vt:lpstr>2_KU Theme</vt:lpstr>
      <vt:lpstr>Worksheet</vt:lpstr>
      <vt:lpstr>Microsoft Excel Worksheet</vt:lpstr>
      <vt:lpstr>2022 – 2024  Budget Proposal to add more budget for R&amp;D Capex </vt:lpstr>
      <vt:lpstr>Option A: 2021 – 2024 Budget Proposal to add more budget for R&amp;D Capex </vt:lpstr>
      <vt:lpstr>Option B: 2021 – 2024 Budget Proposal to add more budget for R&amp;D Capex </vt:lpstr>
      <vt:lpstr>2021 – 2024 Budget Submitted to DOF </vt:lpstr>
      <vt:lpstr>2021 – 2022 Budget Proposal Vs to be Submit to DOF with Reduction Scenario</vt:lpstr>
      <vt:lpstr>Chapter – 02 (Opex) : 2022 Budget (to be Submit )</vt:lpstr>
      <vt:lpstr>Chapter – 03 (Capex) : 2022 Budget (to be Submit )</vt:lpstr>
      <vt:lpstr>2022 Manpower Budget Proposal</vt:lpstr>
      <vt:lpstr>PowerPoint Presentation</vt:lpstr>
      <vt:lpstr>2022 Manpower Budget Proposal</vt:lpstr>
      <vt:lpstr>2021 – 2022 Budget Proposal Vs Submitted to DOF with Reduction Scenario</vt:lpstr>
      <vt:lpstr>Chapter – 02 (Opex) : 2022 Budget</vt:lpstr>
      <vt:lpstr>Chapter – 03 (Capex) : 2022 Budget</vt:lpstr>
      <vt:lpstr>2021 Budget Performance as of Jun</vt:lpstr>
      <vt:lpstr>2021 – 2024 Budget Proposal Vs Finance Recommendation</vt:lpstr>
      <vt:lpstr>Chapter – 02 (Opex) : 2022 – 2024 Budget</vt:lpstr>
      <vt:lpstr>Chapter – 03 (Capex) : 2022 – 2024 Budget</vt:lpstr>
      <vt:lpstr>2018 – 2024 Budget by Chapters</vt:lpstr>
      <vt:lpstr>Facility Area Used by KU</vt:lpstr>
      <vt:lpstr>PowerPoint Presentation</vt:lpstr>
      <vt:lpstr>Chapter – 02 (Opex) : 2022 – 2024 Budget</vt:lpstr>
      <vt:lpstr>Chapter – 02 (Opex) : 2018 – 2020 Actual Vs 2021 - 2022  Budget </vt:lpstr>
      <vt:lpstr>PowerPoint Presentation</vt:lpstr>
      <vt:lpstr>Student Summary 2021-2027 (UG &amp; PG) </vt:lpstr>
      <vt:lpstr>Chapter – 03 (Capex) : 2018 – 2020 Actual Vs 2021 - 2022  Budget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Reports</dc:title>
  <dc:creator>Ashraf Al Najdawi</dc:creator>
  <cp:lastModifiedBy>Abdulla Al Mansoori</cp:lastModifiedBy>
  <cp:revision>458</cp:revision>
  <cp:lastPrinted>2020-07-29T11:07:06Z</cp:lastPrinted>
  <dcterms:created xsi:type="dcterms:W3CDTF">2019-08-05T11:30:47Z</dcterms:created>
  <dcterms:modified xsi:type="dcterms:W3CDTF">2021-08-23T05:47:18Z</dcterms:modified>
</cp:coreProperties>
</file>