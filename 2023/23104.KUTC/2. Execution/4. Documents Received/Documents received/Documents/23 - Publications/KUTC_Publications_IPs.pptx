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3" r:id="rId2"/>
    <p:sldId id="291" r:id="rId3"/>
    <p:sldId id="293" r:id="rId4"/>
    <p:sldId id="297" r:id="rId5"/>
    <p:sldId id="2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DB136-1229-474E-AC4A-60C04F8B27AF}" type="datetimeFigureOut">
              <a:rPr lang="en-US" smtClean="0"/>
              <a:t>3/1/2023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2D54B-46E3-4EB7-BD17-1A0E452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811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49B48-1C08-4775-A344-BB29E8D843B1}" type="datetimeFigureOut">
              <a:rPr lang="en-US" smtClean="0"/>
              <a:t>3/1/2023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A054C-12CD-43B8-B32C-971F1B7E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4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4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3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9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8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9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9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0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984954926"/>
              </p:ext>
            </p:extLst>
          </p:nvPr>
        </p:nvGraphicFramePr>
        <p:xfrm>
          <a:off x="7965650" y="700902"/>
          <a:ext cx="3663840" cy="51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17480" imgH="353520" progId="">
                  <p:embed/>
                </p:oleObj>
              </mc:Choice>
              <mc:Fallback>
                <p:oleObj r:id="rId3" imgW="2517480" imgH="3535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65650" y="700902"/>
                        <a:ext cx="3663840" cy="515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15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ctrTitle"/>
          </p:nvPr>
        </p:nvSpPr>
        <p:spPr>
          <a:xfrm>
            <a:off x="1902142" y="1964227"/>
            <a:ext cx="9120554" cy="667459"/>
          </a:xfrm>
        </p:spPr>
        <p:txBody>
          <a:bodyPr>
            <a:noAutofit/>
          </a:bodyPr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KUTC Publications/IPs</a:t>
            </a:r>
            <a:b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</a:br>
            <a:endParaRPr lang="en-US" sz="30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19474" y="3372675"/>
            <a:ext cx="7523285" cy="835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March 1, 2023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Khalifa University of Science and Technology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" name="그룹 9"/>
          <p:cNvGrpSpPr/>
          <p:nvPr/>
        </p:nvGrpSpPr>
        <p:grpSpPr>
          <a:xfrm>
            <a:off x="4096283" y="4756598"/>
            <a:ext cx="4236971" cy="1242931"/>
            <a:chOff x="245393" y="1276411"/>
            <a:chExt cx="8647750" cy="2032635"/>
          </a:xfrm>
        </p:grpSpPr>
        <p:pic>
          <p:nvPicPr>
            <p:cNvPr id="16" name="Picture 2" descr="khalifa university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393" y="1276412"/>
              <a:ext cx="4498226" cy="2032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íêµ­ê¸°ì´ê³¼íì§ìì°êµ¬ì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686" y="1276412"/>
              <a:ext cx="4188457" cy="203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 descr="íê·¹ê¸°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686" y="1276411"/>
              <a:ext cx="871538" cy="452691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8" descr="uae flag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393" y="1276411"/>
              <a:ext cx="835025" cy="452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082" y="2365251"/>
            <a:ext cx="3136305" cy="856367"/>
          </a:xfrm>
          <a:prstGeom prst="rect">
            <a:avLst/>
          </a:prstGeom>
        </p:spPr>
      </p:pic>
      <p:pic>
        <p:nvPicPr>
          <p:cNvPr id="6146" name="Picture 2" descr="ded-log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31" y="5847735"/>
            <a:ext cx="3206020" cy="76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670" y="5716319"/>
            <a:ext cx="1821426" cy="893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E1D189-EB06-EB27-2FFC-ED370CAFE58F}"/>
              </a:ext>
            </a:extLst>
          </p:cNvPr>
          <p:cNvSpPr txBox="1"/>
          <p:nvPr/>
        </p:nvSpPr>
        <p:spPr>
          <a:xfrm>
            <a:off x="5016479" y="4208288"/>
            <a:ext cx="247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KU Director, Daniel Choi</a:t>
            </a:r>
            <a:endParaRPr lang="en-A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8BDBB-57F2-00AC-9D9D-FC74E2D1A9DB}"/>
              </a:ext>
            </a:extLst>
          </p:cNvPr>
          <p:cNvSpPr txBox="1"/>
          <p:nvPr/>
        </p:nvSpPr>
        <p:spPr>
          <a:xfrm>
            <a:off x="5104451" y="6071347"/>
            <a:ext cx="2715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https://www.ku.ac.ae/kutc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9118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5"/>
          <p:cNvSpPr txBox="1">
            <a:spLocks/>
          </p:cNvSpPr>
          <p:nvPr/>
        </p:nvSpPr>
        <p:spPr>
          <a:xfrm>
            <a:off x="1693809" y="1480507"/>
            <a:ext cx="9120554" cy="667459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1800" b="0" i="0" kern="1200">
                <a:solidFill>
                  <a:srgbClr val="007AA5"/>
                </a:solidFill>
                <a:latin typeface="DINPro-Medium"/>
                <a:ea typeface="ＭＳ Ｐゴシック" charset="-128"/>
                <a:cs typeface="ＭＳ Ｐゴシック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 algn="ctr" defTabSz="673547" eaLnBrk="1" hangingPunct="1"/>
            <a:r>
              <a:rPr lang="en-US" sz="2800" kern="0" dirty="0"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KUTC Joint Workshop (November 26, 2019) @ KU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7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808" y="2294206"/>
            <a:ext cx="3891744" cy="3290423"/>
          </a:xfrm>
          <a:prstGeom prst="rect">
            <a:avLst/>
          </a:prstGeom>
        </p:spPr>
      </p:pic>
      <p:grpSp>
        <p:nvGrpSpPr>
          <p:cNvPr id="32" name="그룹 29"/>
          <p:cNvGrpSpPr/>
          <p:nvPr/>
        </p:nvGrpSpPr>
        <p:grpSpPr>
          <a:xfrm>
            <a:off x="6080556" y="2187039"/>
            <a:ext cx="5842318" cy="725149"/>
            <a:chOff x="363716" y="1562100"/>
            <a:chExt cx="2665234" cy="1000125"/>
          </a:xfrm>
        </p:grpSpPr>
        <p:sp>
          <p:nvSpPr>
            <p:cNvPr id="33" name="모서리가 둥근 직사각형 30"/>
            <p:cNvSpPr/>
            <p:nvPr/>
          </p:nvSpPr>
          <p:spPr>
            <a:xfrm>
              <a:off x="363716" y="1562100"/>
              <a:ext cx="2665234" cy="100012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2427" y="1709905"/>
              <a:ext cx="2158216" cy="636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Thematic Area: Advanced Materials</a:t>
              </a:r>
            </a:p>
          </p:txBody>
        </p:sp>
      </p:grpSp>
      <p:sp>
        <p:nvSpPr>
          <p:cNvPr id="35" name="Pentagon 34"/>
          <p:cNvSpPr/>
          <p:nvPr/>
        </p:nvSpPr>
        <p:spPr>
          <a:xfrm rot="5400000">
            <a:off x="4719091" y="4328243"/>
            <a:ext cx="3620417" cy="672927"/>
          </a:xfrm>
          <a:prstGeom prst="homePlate">
            <a:avLst>
              <a:gd name="adj" fmla="val 34962"/>
            </a:avLst>
          </a:prstGeom>
          <a:solidFill>
            <a:srgbClr val="4F81B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1" name="Pentagon 60"/>
          <p:cNvSpPr/>
          <p:nvPr/>
        </p:nvSpPr>
        <p:spPr>
          <a:xfrm rot="5400000">
            <a:off x="6349181" y="4328243"/>
            <a:ext cx="3620417" cy="672927"/>
          </a:xfrm>
          <a:prstGeom prst="homePlate">
            <a:avLst>
              <a:gd name="adj" fmla="val 34962"/>
            </a:avLst>
          </a:prstGeom>
          <a:solidFill>
            <a:srgbClr val="4F81B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5" name="Pentagon 64"/>
          <p:cNvSpPr/>
          <p:nvPr/>
        </p:nvSpPr>
        <p:spPr>
          <a:xfrm rot="5400000">
            <a:off x="7969110" y="4307761"/>
            <a:ext cx="3620417" cy="672927"/>
          </a:xfrm>
          <a:prstGeom prst="homePlate">
            <a:avLst>
              <a:gd name="adj" fmla="val 34962"/>
            </a:avLst>
          </a:prstGeom>
          <a:solidFill>
            <a:srgbClr val="4F81B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9" name="Pentagon 68"/>
          <p:cNvSpPr/>
          <p:nvPr/>
        </p:nvSpPr>
        <p:spPr>
          <a:xfrm rot="5400000">
            <a:off x="9718820" y="4307761"/>
            <a:ext cx="3620417" cy="672927"/>
          </a:xfrm>
          <a:prstGeom prst="homePlate">
            <a:avLst>
              <a:gd name="adj" fmla="val 34962"/>
            </a:avLst>
          </a:prstGeom>
          <a:solidFill>
            <a:srgbClr val="4F81B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1" name="Flowchart: Alternate Process 70"/>
          <p:cNvSpPr/>
          <p:nvPr/>
        </p:nvSpPr>
        <p:spPr>
          <a:xfrm>
            <a:off x="5902475" y="4482126"/>
            <a:ext cx="1327293" cy="835751"/>
          </a:xfrm>
          <a:prstGeom prst="flowChartAlternateProcess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Energy</a:t>
            </a:r>
          </a:p>
        </p:txBody>
      </p:sp>
      <p:sp>
        <p:nvSpPr>
          <p:cNvPr id="74" name="Flowchart: Alternate Process 73"/>
          <p:cNvSpPr/>
          <p:nvPr/>
        </p:nvSpPr>
        <p:spPr>
          <a:xfrm>
            <a:off x="7449971" y="3571107"/>
            <a:ext cx="1503836" cy="835751"/>
          </a:xfrm>
          <a:prstGeom prst="flowChartAlternateProcess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Oil &amp; Gas</a:t>
            </a:r>
          </a:p>
        </p:txBody>
      </p:sp>
      <p:sp>
        <p:nvSpPr>
          <p:cNvPr id="77" name="Flowchart: Alternate Process 76"/>
          <p:cNvSpPr/>
          <p:nvPr/>
        </p:nvSpPr>
        <p:spPr>
          <a:xfrm>
            <a:off x="10327309" y="3389494"/>
            <a:ext cx="1823305" cy="1383956"/>
          </a:xfrm>
          <a:prstGeom prst="flowChartAlternateProcess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Semiconductor</a:t>
            </a:r>
            <a:r>
              <a:rPr kumimoji="0" lang="en-GB" sz="17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device/</a:t>
            </a:r>
          </a:p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characterization</a:t>
            </a:r>
            <a:endParaRPr kumimoji="0" lang="en-GB" sz="1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47" y="4815734"/>
            <a:ext cx="3186633" cy="1794222"/>
          </a:xfrm>
          <a:prstGeom prst="rect">
            <a:avLst/>
          </a:prstGeom>
        </p:spPr>
      </p:pic>
      <p:sp>
        <p:nvSpPr>
          <p:cNvPr id="17" name="Flowchart: Alternate Process 16"/>
          <p:cNvSpPr/>
          <p:nvPr/>
        </p:nvSpPr>
        <p:spPr>
          <a:xfrm>
            <a:off x="9001715" y="5016449"/>
            <a:ext cx="1503836" cy="835751"/>
          </a:xfrm>
          <a:prstGeom prst="flowChartAlternateProcess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Catalysts/</a:t>
            </a:r>
          </a:p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kern="0" dirty="0">
                <a:solidFill>
                  <a:prstClr val="black"/>
                </a:solidFill>
                <a:latin typeface="Calibri"/>
              </a:rPr>
              <a:t>    Health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34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CDE11F-D364-3057-052D-FBC21D64B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087" y="1657349"/>
            <a:ext cx="3375449" cy="5019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6C797B-0CE6-036B-4CAB-5EFEBED1A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017" y="1476375"/>
            <a:ext cx="3748002" cy="524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4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ctrTitle"/>
          </p:nvPr>
        </p:nvSpPr>
        <p:spPr>
          <a:xfrm>
            <a:off x="533397" y="1607006"/>
            <a:ext cx="11199590" cy="667459"/>
          </a:xfrm>
        </p:spPr>
        <p:txBody>
          <a:bodyPr>
            <a:noAutofit/>
          </a:bodyPr>
          <a:lstStyle/>
          <a:p>
            <a:pPr lvl="0" defTabSz="673547" eaLnBrk="1" hangingPunct="1"/>
            <a:r>
              <a:rPr lang="en-US" sz="28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Joint Papers and IP</a:t>
            </a:r>
            <a:b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</a:br>
            <a:endParaRPr lang="en-US" sz="30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97456" y="6440679"/>
            <a:ext cx="475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3B21C5-DAF9-D9C7-A46C-EA55AAF11EF3}"/>
              </a:ext>
            </a:extLst>
          </p:cNvPr>
          <p:cNvSpPr txBox="1"/>
          <p:nvPr/>
        </p:nvSpPr>
        <p:spPr>
          <a:xfrm>
            <a:off x="578818" y="1777864"/>
            <a:ext cx="111541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Papers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0000FF"/>
                </a:solidFill>
              </a:rPr>
              <a:t>- Joint:</a:t>
            </a:r>
          </a:p>
          <a:p>
            <a:pPr algn="just"/>
            <a:r>
              <a:rPr lang="en-US" sz="1600" dirty="0"/>
              <a:t>      1. </a:t>
            </a:r>
            <a:r>
              <a:rPr lang="en-US" sz="1600" u="sng" dirty="0"/>
              <a:t>(From KUTC Project) </a:t>
            </a:r>
            <a:r>
              <a:rPr lang="en-US" sz="1600" dirty="0"/>
              <a:t>A, Kanagaraj, P. Chaturvedi, </a:t>
            </a:r>
            <a:r>
              <a:rPr lang="en-US" sz="1600" b="1" dirty="0"/>
              <a:t>H. Kim </a:t>
            </a:r>
            <a:r>
              <a:rPr lang="en-US" sz="1600" dirty="0"/>
              <a:t>and D. Choi, “Controllable Synthesis of LiFePO</a:t>
            </a:r>
            <a:r>
              <a:rPr lang="en-US" sz="1600" baseline="-25000" dirty="0"/>
              <a:t>4</a:t>
            </a:r>
            <a:r>
              <a:rPr lang="en-US" sz="1600" dirty="0"/>
              <a:t> </a:t>
            </a:r>
            <a:r>
              <a:rPr lang="en-US" sz="1600" dirty="0" err="1"/>
              <a:t>Microrods</a:t>
            </a:r>
            <a:r>
              <a:rPr lang="en-US" sz="1600" dirty="0"/>
              <a:t> and             </a:t>
            </a:r>
          </a:p>
          <a:p>
            <a:pPr algn="just"/>
            <a:r>
              <a:rPr lang="en-US" sz="1600" dirty="0"/>
              <a:t>          Its Superior Electrochemical Performance”, Materials Letters, 283, 128737, 2020.</a:t>
            </a:r>
          </a:p>
          <a:p>
            <a:pPr algn="just"/>
            <a:r>
              <a:rPr lang="en-US" sz="1600" dirty="0"/>
              <a:t>      2. </a:t>
            </a:r>
            <a:r>
              <a:rPr lang="en-US" sz="1600" u="sng" dirty="0"/>
              <a:t>(From KUTC Project) </a:t>
            </a:r>
            <a:r>
              <a:rPr lang="en-US" sz="1600" dirty="0"/>
              <a:t>Alhammadi. A., </a:t>
            </a:r>
            <a:r>
              <a:rPr lang="en-US" sz="1600" b="1" dirty="0"/>
              <a:t>Yun, H.J</a:t>
            </a:r>
            <a:r>
              <a:rPr lang="en-US" sz="1600" dirty="0"/>
              <a:t>., Choi, “Investigation of LiFePO</a:t>
            </a:r>
            <a:r>
              <a:rPr lang="en-US" sz="1600" baseline="-25000" dirty="0"/>
              <a:t>4</a:t>
            </a:r>
            <a:r>
              <a:rPr lang="en-US" sz="1600" dirty="0"/>
              <a:t>/MWCNT cathode-based half-cell lithium-ion</a:t>
            </a:r>
          </a:p>
          <a:p>
            <a:pPr algn="just"/>
            <a:r>
              <a:rPr lang="en-US" sz="1600" dirty="0"/>
              <a:t>          batteries in subzero temperature environments” Scientific reports. </a:t>
            </a:r>
            <a:r>
              <a:rPr lang="en-US" sz="1600" i="1" dirty="0"/>
              <a:t>(Revision in progress, 2022).</a:t>
            </a:r>
          </a:p>
          <a:p>
            <a:pPr algn="just"/>
            <a:r>
              <a:rPr lang="en-US" sz="1600" i="1" dirty="0"/>
              <a:t>      </a:t>
            </a:r>
            <a:r>
              <a:rPr lang="en-US" sz="1600" dirty="0"/>
              <a:t>3. </a:t>
            </a:r>
            <a:r>
              <a:rPr lang="en-US" sz="1600" u="sng" dirty="0"/>
              <a:t>(From KUTC Project) </a:t>
            </a:r>
            <a:r>
              <a:rPr lang="en-US" sz="1600" dirty="0"/>
              <a:t>P. Chaturvedi, W. Hong, H. Kim and D. Choi, “Fabrication of flexible all solid-state Li-ion battery using thin,    </a:t>
            </a:r>
          </a:p>
          <a:p>
            <a:pPr algn="just"/>
            <a:r>
              <a:rPr lang="en-US" sz="1600" dirty="0"/>
              <a:t>          flexible hybrid solid polymer electrolyte in ambient condition. </a:t>
            </a:r>
            <a:r>
              <a:rPr lang="en-US" sz="1600" i="1" dirty="0"/>
              <a:t>(Manuscript in preparation, 2022)</a:t>
            </a:r>
          </a:p>
          <a:p>
            <a:pPr algn="just"/>
            <a:r>
              <a:rPr lang="en-US" sz="1600" dirty="0"/>
              <a:t>      3. Nitul S Rajput, </a:t>
            </a:r>
            <a:r>
              <a:rPr lang="en-US" sz="1600" b="1" dirty="0" err="1"/>
              <a:t>Hionsuck</a:t>
            </a:r>
            <a:r>
              <a:rPr lang="en-US" sz="1600" b="1" dirty="0"/>
              <a:t> </a:t>
            </a:r>
            <a:r>
              <a:rPr lang="en-US" sz="1600" b="1" dirty="0" err="1"/>
              <a:t>Baik</a:t>
            </a:r>
            <a:r>
              <a:rPr lang="en-US" sz="1600" dirty="0"/>
              <a:t>, Jin-You Lu, </a:t>
            </a:r>
            <a:r>
              <a:rPr lang="en-US" sz="1600" dirty="0" err="1"/>
              <a:t>Srinivasa</a:t>
            </a:r>
            <a:r>
              <a:rPr lang="en-US" sz="1600" dirty="0"/>
              <a:t> Reddy </a:t>
            </a:r>
            <a:r>
              <a:rPr lang="en-US" sz="1600" dirty="0" err="1"/>
              <a:t>Tamalampudi</a:t>
            </a:r>
            <a:r>
              <a:rPr lang="en-US" sz="1600" dirty="0"/>
              <a:t>, Raman </a:t>
            </a:r>
            <a:r>
              <a:rPr lang="en-US" sz="1600" dirty="0" err="1"/>
              <a:t>Sankar</a:t>
            </a:r>
            <a:r>
              <a:rPr lang="en-US" sz="1600" dirty="0"/>
              <a:t>, Amal Al Ghaferi, Matteo Chiesa</a:t>
            </a:r>
          </a:p>
          <a:p>
            <a:pPr algn="just"/>
            <a:r>
              <a:rPr lang="en-US" sz="1600" dirty="0"/>
              <a:t>           “Revealing the Quasi-Periodic Crystallographic Structure of Self-Assembled SnTiS</a:t>
            </a:r>
            <a:r>
              <a:rPr lang="en-US" sz="1600" baseline="-25000" dirty="0"/>
              <a:t>3</a:t>
            </a:r>
            <a:r>
              <a:rPr lang="en-US" sz="1600" dirty="0"/>
              <a:t> Misfit Compound”, The Journal of </a:t>
            </a:r>
          </a:p>
          <a:p>
            <a:pPr algn="just"/>
            <a:r>
              <a:rPr lang="en-US" sz="1600" dirty="0"/>
              <a:t>           Physical Chemistry C, 125, 9956, 2021.</a:t>
            </a:r>
          </a:p>
          <a:p>
            <a:pPr algn="just"/>
            <a:r>
              <a:rPr lang="en-US" sz="1600" dirty="0"/>
              <a:t>      4. I. Taha, N. Rajput, </a:t>
            </a:r>
            <a:r>
              <a:rPr lang="en-US" sz="1600" b="1" dirty="0"/>
              <a:t>H. </a:t>
            </a:r>
            <a:r>
              <a:rPr lang="en-US" sz="1600" b="1" dirty="0" err="1"/>
              <a:t>Baik</a:t>
            </a:r>
            <a:r>
              <a:rPr lang="en-US" sz="1600" dirty="0"/>
              <a:t>, F. </a:t>
            </a:r>
            <a:r>
              <a:rPr lang="en-US" sz="1600" dirty="0" err="1"/>
              <a:t>Ravaux</a:t>
            </a:r>
            <a:r>
              <a:rPr lang="en-US" sz="1600" dirty="0"/>
              <a:t>, B. </a:t>
            </a:r>
            <a:r>
              <a:rPr lang="en-US" sz="1600" dirty="0" err="1"/>
              <a:t>Alshaehhi</a:t>
            </a:r>
            <a:r>
              <a:rPr lang="en-US" sz="1600" dirty="0"/>
              <a:t>, D. Choi, "Investigation on the interaction between </a:t>
            </a:r>
            <a:r>
              <a:rPr lang="en-US" sz="1600" dirty="0" err="1"/>
              <a:t>GaN</a:t>
            </a:r>
            <a:r>
              <a:rPr lang="en-US" sz="1600" dirty="0"/>
              <a:t> surface and H</a:t>
            </a:r>
            <a:r>
              <a:rPr lang="en-US" sz="1600" baseline="-25000" dirty="0"/>
              <a:t>2</a:t>
            </a:r>
            <a:r>
              <a:rPr lang="en-US" sz="1600" dirty="0"/>
              <a:t>O </a:t>
            </a:r>
          </a:p>
          <a:p>
            <a:pPr algn="just"/>
            <a:r>
              <a:rPr lang="en-US" sz="1600" dirty="0"/>
              <a:t>           using a nanometer-scale </a:t>
            </a:r>
            <a:r>
              <a:rPr lang="en-US" sz="1600" dirty="0" err="1"/>
              <a:t>GaN</a:t>
            </a:r>
            <a:r>
              <a:rPr lang="en-US" sz="1600" dirty="0"/>
              <a:t> lamella structure", Journal of Physics D: Applied Physics, 53, 465103,  2020.</a:t>
            </a:r>
          </a:p>
          <a:p>
            <a:pPr algn="just"/>
            <a:r>
              <a:rPr lang="en-US" sz="1600" dirty="0">
                <a:solidFill>
                  <a:srgbClr val="0000FF"/>
                </a:solidFill>
              </a:rPr>
              <a:t>    - KU only:</a:t>
            </a:r>
          </a:p>
          <a:p>
            <a:pPr algn="just"/>
            <a:r>
              <a:rPr lang="en-US" sz="1600" dirty="0"/>
              <a:t>       1. </a:t>
            </a:r>
            <a:r>
              <a:rPr lang="en-US" sz="1600" u="sng" dirty="0"/>
              <a:t>(From KUTC Project)</a:t>
            </a:r>
            <a:r>
              <a:rPr lang="en-US" sz="1600" dirty="0"/>
              <a:t> P. Chaturvedi, A. Kanagaraj, A. Alhammadi, H. </a:t>
            </a:r>
            <a:r>
              <a:rPr lang="en-US" sz="1600" dirty="0" err="1"/>
              <a:t>Alshibli</a:t>
            </a:r>
            <a:r>
              <a:rPr lang="en-US" sz="1600" dirty="0"/>
              <a:t> and D. Choi, “Fabrication of PVDF-HFP </a:t>
            </a:r>
          </a:p>
          <a:p>
            <a:pPr algn="just"/>
            <a:r>
              <a:rPr lang="en-US" sz="1600" dirty="0"/>
              <a:t>           based microporous membranes by the tape-casting method as a separator for flexible Li-ion batteries”, Bulletin of Materials</a:t>
            </a:r>
          </a:p>
          <a:p>
            <a:pPr algn="just"/>
            <a:r>
              <a:rPr lang="en-US" sz="1600" dirty="0"/>
              <a:t>           </a:t>
            </a:r>
            <a:r>
              <a:rPr lang="fr-FR" sz="1600" dirty="0"/>
              <a:t>Science, 44, 2, 161, 2021.</a:t>
            </a:r>
          </a:p>
          <a:p>
            <a:pPr algn="just"/>
            <a:r>
              <a:rPr lang="fr-FR" sz="1600" dirty="0"/>
              <a:t>        2. </a:t>
            </a:r>
            <a:r>
              <a:rPr lang="fr-FR" sz="1600" u="sng" dirty="0"/>
              <a:t>(</a:t>
            </a:r>
            <a:r>
              <a:rPr lang="fr-FR" sz="1600" u="sng" dirty="0" err="1"/>
              <a:t>From</a:t>
            </a:r>
            <a:r>
              <a:rPr lang="fr-FR" sz="1600" u="sng" dirty="0"/>
              <a:t> KUTC Project) </a:t>
            </a:r>
            <a:r>
              <a:rPr lang="fr-FR" sz="1600" dirty="0"/>
              <a:t>P. Chaturvedi and D. Choi, “Fabrication of </a:t>
            </a:r>
            <a:r>
              <a:rPr lang="fr-FR" sz="1600" dirty="0" err="1"/>
              <a:t>characterization</a:t>
            </a:r>
            <a:r>
              <a:rPr lang="fr-FR" sz="1600" dirty="0"/>
              <a:t> of LTO-</a:t>
            </a:r>
            <a:r>
              <a:rPr lang="fr-FR" sz="1600" dirty="0" err="1"/>
              <a:t>based</a:t>
            </a:r>
            <a:r>
              <a:rPr lang="fr-FR" sz="1600" dirty="0"/>
              <a:t> CNT </a:t>
            </a:r>
            <a:r>
              <a:rPr lang="fr-FR" sz="1600" dirty="0" err="1"/>
              <a:t>nanocomposites</a:t>
            </a:r>
            <a:r>
              <a:rPr lang="fr-FR" sz="1600" dirty="0"/>
              <a:t> for </a:t>
            </a:r>
          </a:p>
          <a:p>
            <a:pPr algn="just"/>
            <a:r>
              <a:rPr lang="fr-FR" sz="1600" dirty="0"/>
              <a:t>           Li-ion </a:t>
            </a:r>
            <a:r>
              <a:rPr lang="fr-FR" sz="1600" dirty="0" err="1"/>
              <a:t>battery</a:t>
            </a:r>
            <a:r>
              <a:rPr lang="fr-FR" sz="1600" dirty="0"/>
              <a:t>, </a:t>
            </a:r>
            <a:r>
              <a:rPr lang="fr-FR" sz="1600" dirty="0" err="1"/>
              <a:t>Ionics</a:t>
            </a:r>
            <a:r>
              <a:rPr lang="fr-FR" sz="1600" dirty="0"/>
              <a:t>, 2022 </a:t>
            </a:r>
            <a:r>
              <a:rPr lang="fr-FR" sz="1600" i="1" dirty="0"/>
              <a:t>(In </a:t>
            </a:r>
            <a:r>
              <a:rPr lang="fr-FR" sz="1600" i="1" dirty="0" err="1"/>
              <a:t>review</a:t>
            </a:r>
            <a:r>
              <a:rPr lang="fr-FR" sz="1600" i="1" dirty="0"/>
              <a:t>). </a:t>
            </a:r>
            <a:r>
              <a:rPr lang="en-US" sz="1600" dirty="0"/>
              <a:t>     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96698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ctrTitle"/>
          </p:nvPr>
        </p:nvSpPr>
        <p:spPr>
          <a:xfrm>
            <a:off x="533397" y="1607006"/>
            <a:ext cx="11199590" cy="667459"/>
          </a:xfrm>
        </p:spPr>
        <p:txBody>
          <a:bodyPr>
            <a:noAutofit/>
          </a:bodyPr>
          <a:lstStyle/>
          <a:p>
            <a:pPr lvl="0" defTabSz="673547" eaLnBrk="1" hangingPunct="1"/>
            <a:r>
              <a:rPr lang="en-US" sz="28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Joint Papers and IP</a:t>
            </a:r>
            <a:b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</a:br>
            <a:endParaRPr lang="en-US" sz="30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91140" y="803103"/>
            <a:ext cx="25225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Daniel Choi, 7</a:t>
            </a:r>
            <a:r>
              <a:rPr lang="en-US" sz="1400" baseline="30000" dirty="0"/>
              <a:t>th</a:t>
            </a:r>
            <a:r>
              <a:rPr lang="en-US" sz="1400" dirty="0"/>
              <a:t> November 202</a:t>
            </a:r>
            <a:r>
              <a:rPr lang="en-US" sz="1600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97456" y="6440679"/>
            <a:ext cx="475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3B21C5-DAF9-D9C7-A46C-EA55AAF11EF3}"/>
              </a:ext>
            </a:extLst>
          </p:cNvPr>
          <p:cNvSpPr txBox="1"/>
          <p:nvPr/>
        </p:nvSpPr>
        <p:spPr>
          <a:xfrm>
            <a:off x="578818" y="4204553"/>
            <a:ext cx="1115416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IP</a:t>
            </a:r>
          </a:p>
          <a:p>
            <a:r>
              <a:rPr lang="en-US" sz="1600" dirty="0"/>
              <a:t>     </a:t>
            </a:r>
            <a:r>
              <a:rPr lang="en-US" sz="1600" dirty="0">
                <a:solidFill>
                  <a:srgbClr val="0000FF"/>
                </a:solidFill>
              </a:rPr>
              <a:t>- Joint: </a:t>
            </a:r>
            <a:r>
              <a:rPr lang="en-US" sz="1600" dirty="0"/>
              <a:t>None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- KU only</a:t>
            </a:r>
            <a:r>
              <a:rPr lang="en-US" sz="1600" dirty="0"/>
              <a:t>:  </a:t>
            </a:r>
          </a:p>
          <a:p>
            <a:pPr marL="342900" indent="-342900">
              <a:buAutoNum type="arabicPeriod"/>
            </a:pPr>
            <a:r>
              <a:rPr lang="en-US" sz="1600" u="sng" dirty="0"/>
              <a:t>(From KUTC Project) </a:t>
            </a:r>
            <a:r>
              <a:rPr lang="en-US" sz="1600" dirty="0"/>
              <a:t>P. Chaturvedi, D. Choi “Li-ion battery based on solid electrolyte flexible membrane</a:t>
            </a:r>
            <a:r>
              <a:rPr lang="en-US" sz="1600" i="1" dirty="0"/>
              <a:t>”. US Provisional Patent </a:t>
            </a:r>
          </a:p>
          <a:p>
            <a:r>
              <a:rPr lang="en-US" sz="1600" i="1" dirty="0"/>
              <a:t>        application filed in September 2022, US 63/399,935</a:t>
            </a:r>
          </a:p>
          <a:p>
            <a:pPr marL="342900" indent="-342900">
              <a:buAutoNum type="arabicPeriod"/>
            </a:pPr>
            <a:r>
              <a:rPr lang="en-US" sz="1600" dirty="0"/>
              <a:t>(From KUTC Project) P. Chaturvedi, D. Choi “A method of fabrication of PVDF-HFR based microporous membranes as</a:t>
            </a:r>
          </a:p>
          <a:p>
            <a:r>
              <a:rPr lang="en-US" sz="1600" dirty="0"/>
              <a:t>     separator for Li-ion battery”. (Invention Disclosure in preparation)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0647F-B9F2-4F29-9313-C947F9BEC774}"/>
              </a:ext>
            </a:extLst>
          </p:cNvPr>
          <p:cNvSpPr txBox="1"/>
          <p:nvPr/>
        </p:nvSpPr>
        <p:spPr>
          <a:xfrm>
            <a:off x="533397" y="2160168"/>
            <a:ext cx="1050930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rtl="0">
              <a:spcAft>
                <a:spcPts val="300"/>
              </a:spcAft>
              <a:tabLst>
                <a:tab pos="457200" algn="l"/>
              </a:tabLst>
            </a:pPr>
            <a:r>
              <a:rPr lang="en-AE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3. A. Lokhande, A. </a:t>
            </a:r>
            <a:r>
              <a:rPr lang="en-AE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Shran</a:t>
            </a:r>
            <a:r>
              <a:rPr lang="en-AE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, S. Nair, A. R. </a:t>
            </a:r>
            <a:r>
              <a:rPr lang="en-AE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Shelke</a:t>
            </a:r>
            <a:r>
              <a:rPr lang="en-AE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, V. C. </a:t>
            </a:r>
            <a:r>
              <a:rPr lang="en-AE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Karade</a:t>
            </a:r>
            <a:r>
              <a:rPr lang="en-AE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, J. H. Kim, N. Singh, D. Choi, “Self-supported graphene oxide encapsulated chalcopyrite electrode for high-performance Li-ion capacitor”, </a:t>
            </a:r>
            <a:r>
              <a:rPr lang="en-AE" sz="1600" i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Journal of Energy Storage</a:t>
            </a:r>
            <a:r>
              <a:rPr lang="en-AE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, 2022 (Accepted for publication).</a:t>
            </a:r>
          </a:p>
          <a:p>
            <a:pPr lvl="0" algn="just" rtl="0">
              <a:spcAft>
                <a:spcPts val="300"/>
              </a:spcAft>
              <a:tabLst>
                <a:tab pos="457200" algn="l"/>
              </a:tabLst>
            </a:pPr>
            <a:r>
              <a:rPr lang="en-US" sz="16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4. </a:t>
            </a: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A. Lokhande, D. Choi, “High performance Li-ion capacitor based on novel carbon-coated chalcogenide anode”, Journal of Energy Storage, 50, 104251, 2022. </a:t>
            </a:r>
          </a:p>
          <a:p>
            <a:pPr lvl="0" algn="just" rtl="0">
              <a:spcAft>
                <a:spcPts val="300"/>
              </a:spcAft>
              <a:tabLst>
                <a:tab pos="457200" algn="l"/>
              </a:tabLst>
            </a:pPr>
            <a:r>
              <a:rPr lang="en-US" sz="16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5. </a:t>
            </a: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A. Kanagaraj, P. Chaturvedi, Y. Kim, D. Choi, “Free-standing and flexible sulfur/MWCNT composite electrodes for Li-S batteries”, Materials Letters, 306, 130900, 2021. </a:t>
            </a:r>
          </a:p>
          <a:p>
            <a:pPr lvl="0" algn="just" rtl="0">
              <a:spcAft>
                <a:spcPts val="300"/>
              </a:spcAft>
              <a:tabLst>
                <a:tab pos="457200" algn="l"/>
              </a:tabLst>
            </a:pPr>
            <a:endParaRPr lang="en-AE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lvl="0" algn="just" rtl="0">
              <a:spcAft>
                <a:spcPts val="300"/>
              </a:spcAft>
              <a:tabLst>
                <a:tab pos="457200" algn="l"/>
              </a:tabLst>
            </a:pPr>
            <a:endParaRPr lang="en-AE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65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663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Bold</vt:lpstr>
      <vt:lpstr>Calibri</vt:lpstr>
      <vt:lpstr>Calibri Light</vt:lpstr>
      <vt:lpstr>Wingdings</vt:lpstr>
      <vt:lpstr>Office Theme</vt:lpstr>
      <vt:lpstr>KUTC Publications/IPs </vt:lpstr>
      <vt:lpstr>PowerPoint Presentation</vt:lpstr>
      <vt:lpstr>PowerPoint Presentation</vt:lpstr>
      <vt:lpstr>Joint Papers and IP </vt:lpstr>
      <vt:lpstr>Joint Papers and IP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 Internal Research Fund</dc:title>
  <dc:creator>Blake Andrew Ashwell</dc:creator>
  <cp:lastModifiedBy>Daniel Choi</cp:lastModifiedBy>
  <cp:revision>151</cp:revision>
  <dcterms:created xsi:type="dcterms:W3CDTF">2018-04-12T05:05:10Z</dcterms:created>
  <dcterms:modified xsi:type="dcterms:W3CDTF">2023-03-01T07:18:32Z</dcterms:modified>
</cp:coreProperties>
</file>