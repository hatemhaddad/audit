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13" r:id="rId2"/>
    <p:sldMasterId id="2147483726" r:id="rId3"/>
  </p:sldMasterIdLst>
  <p:notesMasterIdLst>
    <p:notesMasterId r:id="rId31"/>
  </p:notesMasterIdLst>
  <p:sldIdLst>
    <p:sldId id="256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20" r:id="rId18"/>
    <p:sldId id="321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294" r:id="rId30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2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164B9-0AEC-415D-9BC1-9166DB1E3B34}" type="datetimeFigureOut">
              <a:rPr lang="en-US" smtClean="0"/>
              <a:t>7/30/2021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CCA73-836D-4A31-AC9B-8168CC051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81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CCA73-836D-4A31-AC9B-8168CC051A6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17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3613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23141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08935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06282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98179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5645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29424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84893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96211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73892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88807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032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 hidden="1"/>
          <p:cNvSpPr/>
          <p:nvPr/>
        </p:nvSpPr>
        <p:spPr>
          <a:xfrm>
            <a:off x="10410840" y="203040"/>
            <a:ext cx="95724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ku.ac.ae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6" name="Line 2"/>
          <p:cNvSpPr/>
          <p:nvPr/>
        </p:nvSpPr>
        <p:spPr>
          <a:xfrm>
            <a:off x="5181480" y="2752560"/>
            <a:ext cx="1809720" cy="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" name="Picture 6"/>
          <p:cNvPicPr/>
          <p:nvPr/>
        </p:nvPicPr>
        <p:blipFill>
          <a:blip r:embed="rId14"/>
          <a:stretch/>
        </p:blipFill>
        <p:spPr>
          <a:xfrm>
            <a:off x="804960" y="654480"/>
            <a:ext cx="3535560" cy="769680"/>
          </a:xfrm>
          <a:prstGeom prst="rect">
            <a:avLst/>
          </a:prstGeom>
          <a:ln>
            <a:noFill/>
          </a:ln>
        </p:spPr>
      </p:pic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CustomShape 1" hidden="1"/>
          <p:cNvSpPr/>
          <p:nvPr/>
        </p:nvSpPr>
        <p:spPr>
          <a:xfrm>
            <a:off x="10410840" y="203040"/>
            <a:ext cx="95724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ku.ac.ae</a:t>
            </a:r>
            <a:endParaRPr lang="en-US" sz="850" b="0" strike="noStrike" spc="-1">
              <a:latin typeface="Arial"/>
            </a:endParaRPr>
          </a:p>
        </p:txBody>
      </p:sp>
      <p:pic>
        <p:nvPicPr>
          <p:cNvPr id="210" name="Picture 9"/>
          <p:cNvPicPr/>
          <p:nvPr/>
        </p:nvPicPr>
        <p:blipFill>
          <a:blip r:embed="rId14"/>
          <a:stretch/>
        </p:blipFill>
        <p:spPr>
          <a:xfrm>
            <a:off x="4622760" y="891000"/>
            <a:ext cx="2364120" cy="513720"/>
          </a:xfrm>
          <a:prstGeom prst="rect">
            <a:avLst/>
          </a:prstGeom>
          <a:ln>
            <a:noFill/>
          </a:ln>
        </p:spPr>
      </p:pic>
      <p:sp>
        <p:nvSpPr>
          <p:cNvPr id="211" name="CustomShape 2"/>
          <p:cNvSpPr/>
          <p:nvPr/>
        </p:nvSpPr>
        <p:spPr>
          <a:xfrm>
            <a:off x="752400" y="2553840"/>
            <a:ext cx="10644120" cy="1751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500" b="1" strike="noStrike" spc="-100">
                <a:solidFill>
                  <a:srgbClr val="FFFFFF"/>
                </a:solidFill>
                <a:latin typeface="Arial"/>
                <a:ea typeface="DejaVu Sans"/>
              </a:rPr>
              <a:t>Thank You</a:t>
            </a:r>
            <a:endParaRPr lang="en-US" sz="11500" b="0" strike="noStrike" spc="-1">
              <a:latin typeface="Arial"/>
            </a:endParaRPr>
          </a:p>
        </p:txBody>
      </p:sp>
      <p:sp>
        <p:nvSpPr>
          <p:cNvPr id="212" name="CustomShape 3"/>
          <p:cNvSpPr/>
          <p:nvPr/>
        </p:nvSpPr>
        <p:spPr>
          <a:xfrm>
            <a:off x="5181480" y="6146640"/>
            <a:ext cx="183348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DejaVu Sans"/>
              </a:rPr>
              <a:t>ku.ac.ae</a:t>
            </a:r>
            <a:endParaRPr lang="en-US" sz="1250" b="0" strike="noStrike" spc="-1">
              <a:latin typeface="Arial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2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10410840" y="203040"/>
            <a:ext cx="95724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ku.ac.ae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10410840" y="203040"/>
            <a:ext cx="95724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850" b="0" strike="noStrike" spc="-1">
                <a:solidFill>
                  <a:srgbClr val="0047BA"/>
                </a:solidFill>
                <a:latin typeface="Arial"/>
                <a:ea typeface="DejaVu Sans"/>
              </a:rPr>
              <a:t>ku.ac.ae</a:t>
            </a:r>
            <a:endParaRPr lang="en-US" sz="850" b="0" strike="noStrike" spc="-1">
              <a:latin typeface="Arial"/>
            </a:endParaRPr>
          </a:p>
        </p:txBody>
      </p:sp>
      <p:pic>
        <p:nvPicPr>
          <p:cNvPr id="43" name="Picture 6"/>
          <p:cNvPicPr/>
          <p:nvPr/>
        </p:nvPicPr>
        <p:blipFill>
          <a:blip r:embed="rId14"/>
          <a:stretch/>
        </p:blipFill>
        <p:spPr>
          <a:xfrm>
            <a:off x="383760" y="236160"/>
            <a:ext cx="1807200" cy="180720"/>
          </a:xfrm>
          <a:prstGeom prst="rect">
            <a:avLst/>
          </a:prstGeom>
          <a:ln>
            <a:noFill/>
          </a:ln>
        </p:spPr>
      </p:pic>
      <p:sp>
        <p:nvSpPr>
          <p:cNvPr id="44" name="Line 3"/>
          <p:cNvSpPr/>
          <p:nvPr/>
        </p:nvSpPr>
        <p:spPr>
          <a:xfrm>
            <a:off x="383400" y="533160"/>
            <a:ext cx="11465640" cy="0"/>
          </a:xfrm>
          <a:prstGeom prst="line">
            <a:avLst/>
          </a:prstGeom>
          <a:ln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406344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CustomShape 1"/>
          <p:cNvSpPr/>
          <p:nvPr/>
        </p:nvSpPr>
        <p:spPr>
          <a:xfrm>
            <a:off x="824040" y="2004480"/>
            <a:ext cx="8906760" cy="171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60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Almesbar </a:t>
            </a:r>
            <a:r>
              <a:rPr lang="en-US" sz="6000" b="1" strike="noStrike" spc="-1" dirty="0">
                <a:solidFill>
                  <a:srgbClr val="0047BA"/>
                </a:solidFill>
                <a:latin typeface="Arial"/>
                <a:ea typeface="DejaVu Sans"/>
              </a:rPr>
              <a:t>Introductory Session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252" name="CustomShape 2"/>
          <p:cNvSpPr/>
          <p:nvPr/>
        </p:nvSpPr>
        <p:spPr>
          <a:xfrm>
            <a:off x="824040" y="3756960"/>
            <a:ext cx="8906760" cy="1243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3800" b="1" strike="noStrike" spc="-1">
                <a:solidFill>
                  <a:srgbClr val="96969A"/>
                </a:solidFill>
                <a:latin typeface="Arial"/>
                <a:ea typeface="DejaVu Sans"/>
              </a:rPr>
              <a:t>Dr. Sergio Martinez</a:t>
            </a:r>
            <a:endParaRPr lang="en-US" sz="3800" b="0" strike="noStrike" spc="-1">
              <a:latin typeface="Arial"/>
            </a:endParaRPr>
          </a:p>
        </p:txBody>
      </p:sp>
      <p:sp>
        <p:nvSpPr>
          <p:cNvPr id="253" name="CustomShape 3"/>
          <p:cNvSpPr/>
          <p:nvPr/>
        </p:nvSpPr>
        <p:spPr>
          <a:xfrm>
            <a:off x="824040" y="5490360"/>
            <a:ext cx="6725520" cy="30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What is the HPC cluster? </a:t>
            </a: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– </a:t>
            </a:r>
            <a:r>
              <a:rPr kumimoji="0" lang="en-US" sz="32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s</a:t>
            </a:r>
            <a:r>
              <a:rPr kumimoji="0" lang="en-US" sz="3200" b="1" i="0" u="none" strike="noStrike" kern="1200" cap="none" spc="15" normalizeH="0" baseline="0" noProof="0" dirty="0" err="1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pecifications</a:t>
            </a:r>
            <a:endParaRPr kumimoji="0" lang="en-US" sz="3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28BA95-554F-4AC4-9EEF-291BEA73B25E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2400" b="1" i="0" u="none" strike="noStrike" kern="1200" cap="none" spc="-1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Number of nodes</a:t>
            </a: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DejaVu Sans"/>
              </a:rPr>
              <a:t>Cores and memory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DejaVu Sans"/>
              </a:rPr>
              <a:t>Network and storage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DejaVu Sans"/>
              </a:rPr>
              <a:t>Performance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9" name="Table 7"/>
          <p:cNvGraphicFramePr/>
          <p:nvPr>
            <p:extLst/>
          </p:nvPr>
        </p:nvGraphicFramePr>
        <p:xfrm>
          <a:off x="5940706" y="1679040"/>
          <a:ext cx="5882054" cy="4336365"/>
        </p:xfrm>
        <a:graphic>
          <a:graphicData uri="http://schemas.openxmlformats.org/drawingml/2006/table">
            <a:tbl>
              <a:tblPr/>
              <a:tblGrid>
                <a:gridCol w="168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5449">
                  <a:extLst>
                    <a:ext uri="{9D8B030D-6E8A-4147-A177-3AD203B41FA5}">
                      <a16:colId xmlns:a16="http://schemas.microsoft.com/office/drawing/2014/main" val="4219623027"/>
                    </a:ext>
                  </a:extLst>
                </a:gridCol>
              </a:tblGrid>
              <a:tr h="344657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2000" b="1" strike="noStrike" spc="-1" dirty="0" smtClean="0">
                          <a:solidFill>
                            <a:srgbClr val="FFFFFF"/>
                          </a:solidFill>
                          <a:latin typeface="Arial"/>
                        </a:rPr>
                        <a:t>Number</a:t>
                      </a:r>
                      <a:r>
                        <a:rPr lang="en-US" sz="2000" b="1" strike="noStrike" spc="-1" baseline="0" dirty="0" smtClean="0">
                          <a:solidFill>
                            <a:srgbClr val="FFFFFF"/>
                          </a:solidFill>
                          <a:latin typeface="Arial"/>
                        </a:rPr>
                        <a:t> of nodes</a:t>
                      </a:r>
                      <a:endParaRPr lang="en-US" sz="2000" b="0" strike="noStrike" spc="-1" dirty="0">
                        <a:latin typeface="Arial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81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80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88 CPU nodes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53280" marR="5328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800" b="0" strike="noStrike" spc="-1" dirty="0" smtClean="0">
                          <a:latin typeface="+mn-lt"/>
                        </a:rPr>
                        <a:t>2x Intel Xeon Gold 6230R</a:t>
                      </a:r>
                      <a:r>
                        <a:rPr lang="en-US" sz="1800" b="0" strike="noStrike" spc="-1" baseline="0" dirty="0" smtClean="0">
                          <a:latin typeface="+mn-lt"/>
                        </a:rPr>
                        <a:t> </a:t>
                      </a:r>
                      <a:r>
                        <a:rPr lang="en-US" sz="1800" b="0" strike="noStrike" spc="-1" dirty="0" smtClean="0">
                          <a:latin typeface="+mn-lt"/>
                        </a:rPr>
                        <a:t>26-Core 2.1GHz</a:t>
                      </a:r>
                      <a:r>
                        <a:rPr lang="en-US" sz="1800" b="0" strike="noStrike" spc="-1" baseline="0" dirty="0" smtClean="0">
                          <a:latin typeface="+mn-lt"/>
                        </a:rPr>
                        <a:t> </a:t>
                      </a:r>
                      <a:r>
                        <a:rPr lang="en-US" sz="1800" b="0" strike="noStrike" spc="-1" dirty="0" smtClean="0">
                          <a:latin typeface="+mn-lt"/>
                        </a:rPr>
                        <a:t>(Cascade lake)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latin typeface="+mn-lt"/>
                        </a:rPr>
                        <a:t>(Q1‘20)</a:t>
                      </a:r>
                    </a:p>
                  </a:txBody>
                  <a:tcPr marL="53280" marR="53280" anchor="ctr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8111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80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3 GPU</a:t>
                      </a:r>
                      <a:r>
                        <a:rPr lang="en-US" sz="1800" b="0" strike="noStrike" spc="-1" baseline="0" dirty="0" smtClean="0">
                          <a:solidFill>
                            <a:srgbClr val="000000"/>
                          </a:solidFill>
                          <a:latin typeface="Arial"/>
                        </a:rPr>
                        <a:t> nodes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 marL="53280" marR="5328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800" b="0" strike="noStrike" spc="-1" dirty="0" smtClean="0">
                          <a:latin typeface="+mn-lt"/>
                        </a:rPr>
                        <a:t>2x Intel Xeon Gold 6230R</a:t>
                      </a:r>
                      <a:r>
                        <a:rPr lang="en-US" sz="1800" b="0" strike="noStrike" spc="-1" baseline="0" dirty="0" smtClean="0">
                          <a:latin typeface="+mn-lt"/>
                        </a:rPr>
                        <a:t> </a:t>
                      </a:r>
                      <a:r>
                        <a:rPr lang="en-US" sz="1800" b="0" strike="noStrike" spc="-1" dirty="0" smtClean="0">
                          <a:latin typeface="+mn-lt"/>
                        </a:rPr>
                        <a:t>26-Core 2.1GHz(Cascade lake)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latin typeface="+mn-lt"/>
                        </a:rPr>
                        <a:t>(Q1’20)</a:t>
                      </a:r>
                    </a:p>
                  </a:txBody>
                  <a:tcPr marL="53280" marR="53280" anchor="ctr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0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800" b="0" strike="noStrike" spc="-1" dirty="0" smtClean="0">
                          <a:latin typeface="+mn-lt"/>
                        </a:rPr>
                        <a:t>4x NVidia V100</a:t>
                      </a:r>
                      <a:endParaRPr lang="en-US" sz="1800" b="0" strike="noStrike" spc="-1" dirty="0">
                        <a:latin typeface="+mn-lt"/>
                      </a:endParaRPr>
                    </a:p>
                  </a:txBody>
                  <a:tcPr marL="53280" marR="53280" anchor="ctr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463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103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What is the HPC cluster? </a:t>
            </a: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– </a:t>
            </a:r>
            <a:r>
              <a:rPr kumimoji="0" lang="en-US" sz="32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s</a:t>
            </a:r>
            <a:r>
              <a:rPr kumimoji="0" lang="en-US" sz="3200" b="1" i="0" u="none" strike="noStrike" kern="1200" cap="none" spc="15" normalizeH="0" baseline="0" noProof="0" dirty="0" err="1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pecifications</a:t>
            </a:r>
            <a:endParaRPr kumimoji="0" lang="en-US" sz="3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28BA95-554F-4AC4-9EEF-291BEA73B25E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DejaVu Sans"/>
              </a:rPr>
              <a:t>Number of nodes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2400" b="1" i="0" u="none" strike="noStrike" kern="1200" cap="none" spc="-1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Cores and memory</a:t>
            </a:r>
            <a:endParaRPr kumimoji="0" lang="en-US" sz="2400" b="1" i="0" u="none" strike="noStrike" kern="1200" cap="none" spc="-1" normalizeH="0" baseline="0" noProof="0" dirty="0">
              <a:ln>
                <a:noFill/>
              </a:ln>
              <a:solidFill>
                <a:srgbClr val="0047BA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DejaVu Sans"/>
              </a:rPr>
              <a:t>Network and storage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DejaVu Sans"/>
              </a:rPr>
              <a:t>Performance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1" name="Table 7"/>
          <p:cNvGraphicFramePr/>
          <p:nvPr>
            <p:extLst/>
          </p:nvPr>
        </p:nvGraphicFramePr>
        <p:xfrm>
          <a:off x="5883521" y="1679040"/>
          <a:ext cx="5963414" cy="1792800"/>
        </p:xfrm>
        <a:graphic>
          <a:graphicData uri="http://schemas.openxmlformats.org/drawingml/2006/table">
            <a:tbl>
              <a:tblPr/>
              <a:tblGrid>
                <a:gridCol w="2981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1707">
                  <a:extLst>
                    <a:ext uri="{9D8B030D-6E8A-4147-A177-3AD203B41FA5}">
                      <a16:colId xmlns:a16="http://schemas.microsoft.com/office/drawing/2014/main" val="1125498190"/>
                    </a:ext>
                  </a:extLst>
                </a:gridCol>
              </a:tblGrid>
              <a:tr h="358560">
                <a:tc gridSpan="2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2000" b="1" strike="noStrike" spc="-1" dirty="0" smtClean="0">
                          <a:solidFill>
                            <a:srgbClr val="FFFFFF"/>
                          </a:solidFill>
                          <a:latin typeface="Arial"/>
                        </a:rPr>
                        <a:t>Cores per node</a:t>
                      </a:r>
                      <a:endParaRPr lang="en-US" sz="2000" b="0" strike="noStrike" spc="-1" dirty="0">
                        <a:latin typeface="Arial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560">
                <a:tc gridSpan="2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52</a:t>
                      </a:r>
                      <a:endParaRPr lang="en-US" sz="1800" b="0" strike="noStrike" spc="-1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794821"/>
                  </a:ext>
                </a:extLst>
              </a:tr>
              <a:tr h="358560">
                <a:tc gridSpan="2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2000" b="1" strike="noStrike" spc="-1" dirty="0" smtClean="0">
                          <a:solidFill>
                            <a:schemeClr val="bg1"/>
                          </a:solidFill>
                          <a:latin typeface="Arial"/>
                        </a:rPr>
                        <a:t>Memory</a:t>
                      </a:r>
                      <a:r>
                        <a:rPr lang="en-US" sz="2000" b="1" strike="noStrike" spc="-1" baseline="0" dirty="0" smtClean="0">
                          <a:solidFill>
                            <a:schemeClr val="bg1"/>
                          </a:solidFill>
                          <a:latin typeface="Arial"/>
                        </a:rPr>
                        <a:t> per node</a:t>
                      </a:r>
                      <a:endParaRPr lang="en-US" sz="2000" b="1" strike="noStrike" spc="-1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346037"/>
                  </a:ext>
                </a:extLst>
              </a:tr>
              <a:tr h="3585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CPU nodes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384 GB</a:t>
                      </a: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539359"/>
                  </a:ext>
                </a:extLst>
              </a:tr>
              <a:tr h="3585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GPU nodes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640 GB + 128 GB (GPU)</a:t>
                      </a:r>
                      <a:endParaRPr lang="en-US" sz="1800" b="0" strike="noStrike" spc="-1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662149"/>
                  </a:ext>
                </a:extLst>
              </a:tr>
            </a:tbl>
          </a:graphicData>
        </a:graphic>
      </p:graphicFrame>
      <p:graphicFrame>
        <p:nvGraphicFramePr>
          <p:cNvPr id="12" name="Table 7"/>
          <p:cNvGraphicFramePr/>
          <p:nvPr>
            <p:extLst/>
          </p:nvPr>
        </p:nvGraphicFramePr>
        <p:xfrm>
          <a:off x="5883521" y="3786272"/>
          <a:ext cx="5963414" cy="2151360"/>
        </p:xfrm>
        <a:graphic>
          <a:graphicData uri="http://schemas.openxmlformats.org/drawingml/2006/table">
            <a:tbl>
              <a:tblPr/>
              <a:tblGrid>
                <a:gridCol w="5963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56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2000" b="1" strike="noStrike" spc="-1" dirty="0" smtClean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  <a:r>
                        <a:rPr lang="en-US" sz="2000" b="1" strike="noStrike" spc="-1" baseline="0" dirty="0" smtClean="0">
                          <a:solidFill>
                            <a:srgbClr val="FFFFFF"/>
                          </a:solidFill>
                          <a:latin typeface="Arial"/>
                        </a:rPr>
                        <a:t> CPU cores</a:t>
                      </a:r>
                      <a:endParaRPr lang="en-US" sz="2000" b="0" strike="noStrike" spc="-1" dirty="0">
                        <a:latin typeface="Arial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56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4,732</a:t>
                      </a:r>
                      <a:endParaRPr lang="en-US" sz="1800" b="0" strike="noStrike" spc="-1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794821"/>
                  </a:ext>
                </a:extLst>
              </a:tr>
              <a:tr h="35856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2000" b="1" strike="noStrike" spc="-1" dirty="0" smtClean="0">
                          <a:solidFill>
                            <a:schemeClr val="bg1"/>
                          </a:solidFill>
                          <a:latin typeface="Arial"/>
                        </a:rPr>
                        <a:t>Total</a:t>
                      </a:r>
                      <a:r>
                        <a:rPr lang="en-US" sz="2000" b="1" strike="noStrike" spc="-1" baseline="0" dirty="0" smtClean="0">
                          <a:solidFill>
                            <a:schemeClr val="bg1"/>
                          </a:solidFill>
                          <a:latin typeface="Arial"/>
                        </a:rPr>
                        <a:t> GPU cores</a:t>
                      </a:r>
                      <a:endParaRPr lang="en-US" sz="2000" b="1" strike="noStrike" spc="-1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346037"/>
                  </a:ext>
                </a:extLst>
              </a:tr>
              <a:tr h="3585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61,440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539359"/>
                  </a:ext>
                </a:extLst>
              </a:tr>
              <a:tr h="35856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2000" b="1" strike="noStrike" spc="-1" dirty="0" smtClean="0">
                          <a:solidFill>
                            <a:schemeClr val="bg1"/>
                          </a:solidFill>
                          <a:latin typeface="Arial"/>
                        </a:rPr>
                        <a:t>Total memory</a:t>
                      </a:r>
                      <a:endParaRPr lang="en-US" sz="2000" b="1" strike="noStrike" spc="-1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104565"/>
                  </a:ext>
                </a:extLst>
              </a:tr>
              <a:tr h="3585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35.25 TB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203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368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What is the HPC cluster? </a:t>
            </a: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– </a:t>
            </a:r>
            <a:r>
              <a:rPr kumimoji="0" lang="en-US" sz="32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s</a:t>
            </a:r>
            <a:r>
              <a:rPr kumimoji="0" lang="en-US" sz="3200" b="1" i="0" u="none" strike="noStrike" kern="1200" cap="none" spc="15" normalizeH="0" baseline="0" noProof="0" dirty="0" err="1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pecifications</a:t>
            </a:r>
            <a:endParaRPr kumimoji="0" lang="en-US" sz="3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28BA95-554F-4AC4-9EEF-291BEA73B25E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DejaVu Sans"/>
              </a:rPr>
              <a:t>Number of nodes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DejaVu Sans"/>
              </a:rPr>
              <a:t>Cores and memory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2400" b="1" i="0" u="none" strike="noStrike" kern="1200" cap="none" spc="-1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Network and storage</a:t>
            </a:r>
            <a:endParaRPr kumimoji="0" lang="en-US" sz="2400" b="1" i="0" u="none" strike="noStrike" kern="1200" cap="none" spc="-1" normalizeH="0" baseline="0" noProof="0" dirty="0">
              <a:ln>
                <a:noFill/>
              </a:ln>
              <a:solidFill>
                <a:srgbClr val="0047BA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DejaVu Sans"/>
              </a:rPr>
              <a:t>Performance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0" name="Table 7"/>
          <p:cNvGraphicFramePr/>
          <p:nvPr>
            <p:extLst/>
          </p:nvPr>
        </p:nvGraphicFramePr>
        <p:xfrm>
          <a:off x="5989916" y="1679040"/>
          <a:ext cx="5774192" cy="2059080"/>
        </p:xfrm>
        <a:graphic>
          <a:graphicData uri="http://schemas.openxmlformats.org/drawingml/2006/table">
            <a:tbl>
              <a:tblPr/>
              <a:tblGrid>
                <a:gridCol w="2887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7096">
                  <a:extLst>
                    <a:ext uri="{9D8B030D-6E8A-4147-A177-3AD203B41FA5}">
                      <a16:colId xmlns:a16="http://schemas.microsoft.com/office/drawing/2014/main" val="2549511626"/>
                    </a:ext>
                  </a:extLst>
                </a:gridCol>
              </a:tblGrid>
              <a:tr h="358560">
                <a:tc gridSpan="2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2000" b="1" strike="noStrike" spc="-1" dirty="0" smtClean="0">
                          <a:solidFill>
                            <a:srgbClr val="FFFFFF"/>
                          </a:solidFill>
                          <a:latin typeface="Arial"/>
                        </a:rPr>
                        <a:t>Network</a:t>
                      </a:r>
                      <a:r>
                        <a:rPr lang="en-US" sz="2000" b="1" strike="noStrike" spc="-1" baseline="0" dirty="0" smtClean="0">
                          <a:solidFill>
                            <a:srgbClr val="FFFFFF"/>
                          </a:solidFill>
                          <a:latin typeface="Arial"/>
                        </a:rPr>
                        <a:t> interconnection</a:t>
                      </a:r>
                      <a:endParaRPr lang="en-US" sz="2000" b="0" strike="noStrike" spc="-1" dirty="0">
                        <a:latin typeface="Arial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560">
                <a:tc gridSpan="2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600" b="0" strike="noStrike" spc="-1" dirty="0" err="1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Infiniband</a:t>
                      </a:r>
                      <a:r>
                        <a:rPr lang="en-US" sz="16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 EDR (100Gb/s) and </a:t>
                      </a:r>
                      <a:r>
                        <a:rPr lang="en-US" sz="1600" b="0" strike="noStrike" spc="-1" dirty="0" err="1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Infiniband</a:t>
                      </a:r>
                      <a:r>
                        <a:rPr lang="en-US" sz="16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 HDR (200Gb/s)</a:t>
                      </a:r>
                      <a:endParaRPr lang="en-US" sz="1600" b="0" strike="noStrike" spc="-1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794821"/>
                  </a:ext>
                </a:extLst>
              </a:tr>
              <a:tr h="358560">
                <a:tc gridSpan="2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2000" b="1" strike="noStrike" spc="-1" dirty="0" smtClean="0">
                          <a:solidFill>
                            <a:schemeClr val="bg1"/>
                          </a:solidFill>
                          <a:latin typeface="Arial"/>
                        </a:rPr>
                        <a:t>Storage</a:t>
                      </a:r>
                      <a:endParaRPr lang="en-US" sz="2000" b="1" strike="noStrike" spc="-1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346037"/>
                  </a:ext>
                </a:extLst>
              </a:tr>
              <a:tr h="3585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300 TB home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NFSv4 (10Gb/s)</a:t>
                      </a: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539359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947 TB scratch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Parallel file system (</a:t>
                      </a:r>
                      <a:r>
                        <a:rPr lang="en-US" sz="1800" b="0" strike="noStrike" spc="-1" dirty="0" err="1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Lustre</a:t>
                      </a: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(200Gb/s)</a:t>
                      </a: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662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What is the HPC cluster? </a:t>
            </a: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– </a:t>
            </a:r>
            <a:r>
              <a:rPr kumimoji="0" lang="en-US" sz="32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s</a:t>
            </a:r>
            <a:r>
              <a:rPr kumimoji="0" lang="en-US" sz="3200" b="1" i="0" u="none" strike="noStrike" kern="1200" cap="none" spc="15" normalizeH="0" baseline="0" noProof="0" dirty="0" err="1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pecifications</a:t>
            </a:r>
            <a:endParaRPr kumimoji="0" lang="en-US" sz="3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28BA95-554F-4AC4-9EEF-291BEA73B25E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DejaVu Sans"/>
              </a:rPr>
              <a:t>Number of nodes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DejaVu Sans"/>
              </a:rPr>
              <a:t>Cores and memory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DejaVu Sans"/>
              </a:rPr>
              <a:t>Network and storage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2400" b="1" i="0" u="none" strike="noStrike" kern="1200" cap="none" spc="-1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Performance</a:t>
            </a:r>
            <a:endParaRPr kumimoji="0" lang="en-US" sz="2400" b="1" i="0" u="none" strike="noStrike" kern="1200" cap="none" spc="-1" normalizeH="0" baseline="0" noProof="0" dirty="0">
              <a:ln>
                <a:noFill/>
              </a:ln>
              <a:solidFill>
                <a:srgbClr val="0047BA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9" name="Table 7"/>
          <p:cNvGraphicFramePr/>
          <p:nvPr>
            <p:extLst/>
          </p:nvPr>
        </p:nvGraphicFramePr>
        <p:xfrm>
          <a:off x="5961184" y="1679040"/>
          <a:ext cx="5811715" cy="1434240"/>
        </p:xfrm>
        <a:graphic>
          <a:graphicData uri="http://schemas.openxmlformats.org/drawingml/2006/table">
            <a:tbl>
              <a:tblPr/>
              <a:tblGrid>
                <a:gridCol w="5811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56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2000" b="1" strike="noStrike" spc="-1" dirty="0" smtClean="0">
                          <a:solidFill>
                            <a:srgbClr val="FFFFFF"/>
                          </a:solidFill>
                          <a:latin typeface="Arial"/>
                        </a:rPr>
                        <a:t>Theoretical</a:t>
                      </a:r>
                      <a:r>
                        <a:rPr lang="en-US" sz="2000" b="1" strike="noStrike" spc="-1" baseline="0" dirty="0" smtClean="0">
                          <a:solidFill>
                            <a:srgbClr val="FFFFFF"/>
                          </a:solidFill>
                          <a:latin typeface="Arial"/>
                        </a:rPr>
                        <a:t> peak of performance (CPU)</a:t>
                      </a:r>
                      <a:endParaRPr lang="en-US" sz="2000" b="0" strike="noStrike" spc="-1" dirty="0">
                        <a:latin typeface="Arial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56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307.5 TFOPS</a:t>
                      </a:r>
                      <a:endParaRPr lang="en-US" sz="1800" b="0" strike="noStrike" spc="-1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794821"/>
                  </a:ext>
                </a:extLst>
              </a:tr>
              <a:tr h="35856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2000" b="1" strike="noStrike" spc="-1" dirty="0" smtClean="0">
                          <a:solidFill>
                            <a:schemeClr val="bg1"/>
                          </a:solidFill>
                          <a:latin typeface="Arial"/>
                        </a:rPr>
                        <a:t>Achieved peak of performance (CPU)</a:t>
                      </a:r>
                      <a:endParaRPr lang="en-US" sz="2000" b="1" strike="noStrike" spc="-1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346037"/>
                  </a:ext>
                </a:extLst>
              </a:tr>
              <a:tr h="3585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205.0 TFOPS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539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19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Almesbar - </a:t>
            </a:r>
            <a:r>
              <a:rPr lang="en-US" sz="28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Accounts, resource allocation and file sharing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A9CDC68D-A8DA-4B37-8084-08DD33DBF835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6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8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b="1" strike="noStrike" spc="-1" dirty="0" smtClean="0">
                <a:solidFill>
                  <a:schemeClr val="tx2"/>
                </a:solidFill>
                <a:latin typeface="Arial"/>
                <a:ea typeface="DejaVu Sans"/>
              </a:rPr>
              <a:t>User name and access</a:t>
            </a:r>
            <a:endParaRPr lang="en-US" sz="2400" b="1" strike="noStrike" spc="-1" dirty="0">
              <a:solidFill>
                <a:schemeClr val="tx2"/>
              </a:solidFill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HPC Projects</a:t>
            </a:r>
            <a:endParaRPr lang="en-US" sz="1800" b="0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Jobs</a:t>
            </a:r>
            <a:endParaRPr lang="en-US" sz="1800" b="0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solidFill>
                  <a:srgbClr val="000000"/>
                </a:solidFill>
                <a:latin typeface="Arial"/>
              </a:rPr>
              <a:t>Queues</a:t>
            </a:r>
            <a:endParaRPr lang="en-US" sz="1800" b="0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Storage</a:t>
            </a: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solidFill>
                  <a:srgbClr val="000000"/>
                </a:solidFill>
                <a:latin typeface="Arial"/>
              </a:rPr>
              <a:t>License applications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169"/>
              </a:spcBef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7"/>
          <p:cNvSpPr/>
          <p:nvPr/>
        </p:nvSpPr>
        <p:spPr>
          <a:xfrm>
            <a:off x="6078960" y="1733400"/>
            <a:ext cx="6003360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3169"/>
              </a:spcBef>
            </a:pPr>
            <a:r>
              <a:rPr lang="en-US" sz="1600" spc="-1" dirty="0" smtClean="0">
                <a:solidFill>
                  <a:srgbClr val="000000"/>
                </a:solidFill>
                <a:latin typeface="Arial"/>
              </a:rPr>
              <a:t>You will be using your </a:t>
            </a:r>
            <a:r>
              <a:rPr lang="en-US" sz="1600" spc="-1" dirty="0" smtClean="0">
                <a:solidFill>
                  <a:schemeClr val="tx2"/>
                </a:solidFill>
                <a:latin typeface="Arial"/>
              </a:rPr>
              <a:t>KU Employee ID as your user name </a:t>
            </a:r>
            <a:r>
              <a:rPr lang="en-US" sz="1600" spc="-1" dirty="0" smtClean="0">
                <a:solidFill>
                  <a:srgbClr val="000000"/>
                </a:solidFill>
                <a:latin typeface="Arial"/>
              </a:rPr>
              <a:t>for accessing the HPC cluster.</a:t>
            </a:r>
          </a:p>
          <a:p>
            <a:pPr>
              <a:lnSpc>
                <a:spcPct val="100000"/>
              </a:lnSpc>
              <a:spcBef>
                <a:spcPts val="3169"/>
              </a:spcBef>
            </a:pPr>
            <a:r>
              <a:rPr lang="en-US" sz="1600" spc="-1" dirty="0" smtClean="0">
                <a:latin typeface="Arial"/>
              </a:rPr>
              <a:t>You will be using </a:t>
            </a:r>
            <a:r>
              <a:rPr lang="en-US" sz="1600" spc="-1" dirty="0" smtClean="0">
                <a:solidFill>
                  <a:schemeClr val="tx2"/>
                </a:solidFill>
                <a:latin typeface="Arial"/>
              </a:rPr>
              <a:t>SSH keys to identify yourself </a:t>
            </a:r>
            <a:r>
              <a:rPr lang="en-US" sz="1600" spc="-1" dirty="0" smtClean="0">
                <a:latin typeface="Arial"/>
              </a:rPr>
              <a:t>and access the HPC cluster.</a:t>
            </a:r>
          </a:p>
          <a:p>
            <a:pPr>
              <a:lnSpc>
                <a:spcPct val="100000"/>
              </a:lnSpc>
              <a:spcBef>
                <a:spcPts val="3169"/>
              </a:spcBef>
            </a:pPr>
            <a:r>
              <a:rPr lang="en-US" sz="1600" spc="-1" dirty="0" smtClean="0"/>
              <a:t>SSH </a:t>
            </a:r>
            <a:r>
              <a:rPr lang="en-US" sz="1600" spc="-1" dirty="0"/>
              <a:t>keys allow secure, </a:t>
            </a:r>
            <a:r>
              <a:rPr lang="en-US" sz="1600" spc="-1" dirty="0">
                <a:solidFill>
                  <a:schemeClr val="tx2"/>
                </a:solidFill>
              </a:rPr>
              <a:t>password-less access </a:t>
            </a:r>
            <a:r>
              <a:rPr lang="en-US" sz="1600" spc="-1" dirty="0"/>
              <a:t>to remote systems. They are very easy to set up and provide a greater level of security than using a password, while being convenient too</a:t>
            </a:r>
            <a:r>
              <a:rPr lang="en-US" sz="1600" spc="-1" dirty="0" smtClean="0"/>
              <a:t>.</a:t>
            </a:r>
          </a:p>
          <a:p>
            <a:pPr>
              <a:lnSpc>
                <a:spcPct val="100000"/>
              </a:lnSpc>
              <a:spcBef>
                <a:spcPts val="3169"/>
              </a:spcBef>
            </a:pPr>
            <a:r>
              <a:rPr lang="en-US" sz="1600" b="0" strike="noStrike" spc="-1" dirty="0" smtClean="0">
                <a:latin typeface="Arial"/>
              </a:rPr>
              <a:t>We will discuss how to create and use your keys in the coming sections.</a:t>
            </a:r>
            <a:endParaRPr lang="en-US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7944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A9CDC68D-A8DA-4B37-8084-08DD33DBF835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7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8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User name and access</a:t>
            </a:r>
            <a:endParaRPr lang="en-US" sz="1800" b="0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b="1" strike="noStrike" spc="-1" dirty="0" smtClean="0">
                <a:solidFill>
                  <a:schemeClr val="tx2"/>
                </a:solidFill>
                <a:latin typeface="Arial"/>
                <a:ea typeface="DejaVu Sans"/>
              </a:rPr>
              <a:t>HPC Projects</a:t>
            </a:r>
            <a:endParaRPr lang="en-US" sz="2400" b="1" strike="noStrike" spc="-1" dirty="0">
              <a:solidFill>
                <a:schemeClr val="tx2"/>
              </a:solidFill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Jobs</a:t>
            </a:r>
            <a:endParaRPr lang="en-US" sz="1800" b="0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solidFill>
                  <a:srgbClr val="000000"/>
                </a:solidFill>
                <a:latin typeface="Arial"/>
              </a:rPr>
              <a:t>Queues</a:t>
            </a:r>
            <a:endParaRPr lang="en-US" sz="1800" b="0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Storage</a:t>
            </a: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solidFill>
                  <a:srgbClr val="000000"/>
                </a:solidFill>
                <a:latin typeface="Arial"/>
              </a:rPr>
              <a:t>License applications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169"/>
              </a:spcBef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7"/>
          <p:cNvSpPr/>
          <p:nvPr/>
        </p:nvSpPr>
        <p:spPr>
          <a:xfrm>
            <a:off x="6078960" y="1733400"/>
            <a:ext cx="6003360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3169"/>
              </a:spcBef>
            </a:pPr>
            <a:r>
              <a:rPr lang="en-US" sz="1600" spc="-1" dirty="0" smtClean="0">
                <a:solidFill>
                  <a:schemeClr val="tx2"/>
                </a:solidFill>
              </a:rPr>
              <a:t>Resource </a:t>
            </a:r>
            <a:r>
              <a:rPr lang="en-US" sz="1600" spc="-1" dirty="0">
                <a:solidFill>
                  <a:schemeClr val="tx2"/>
                </a:solidFill>
              </a:rPr>
              <a:t>allocation </a:t>
            </a:r>
            <a:r>
              <a:rPr lang="en-US" sz="1600" spc="-1" dirty="0">
                <a:solidFill>
                  <a:srgbClr val="000000"/>
                </a:solidFill>
              </a:rPr>
              <a:t>and file sharing on Almesbar HPC cluster is </a:t>
            </a:r>
            <a:r>
              <a:rPr lang="en-US" sz="1600" spc="-1" dirty="0">
                <a:solidFill>
                  <a:schemeClr val="tx2"/>
                </a:solidFill>
              </a:rPr>
              <a:t>based on HPC projects</a:t>
            </a:r>
            <a:r>
              <a:rPr lang="en-US" sz="1600" spc="-1" dirty="0">
                <a:solidFill>
                  <a:srgbClr val="000000"/>
                </a:solidFill>
              </a:rPr>
              <a:t>. </a:t>
            </a:r>
            <a:endParaRPr lang="en-US" sz="1600" spc="-1" dirty="0" smtClean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3169"/>
              </a:spcBef>
            </a:pPr>
            <a:r>
              <a:rPr lang="en-US" sz="1600" spc="-1" dirty="0" smtClean="0">
                <a:solidFill>
                  <a:srgbClr val="000000"/>
                </a:solidFill>
              </a:rPr>
              <a:t>Every </a:t>
            </a:r>
            <a:r>
              <a:rPr lang="en-US" sz="1600" spc="-1" dirty="0">
                <a:solidFill>
                  <a:srgbClr val="000000"/>
                </a:solidFill>
              </a:rPr>
              <a:t>single user account will be associated with at least one HPC project. </a:t>
            </a:r>
            <a:endParaRPr lang="en-US" sz="1600" spc="-1" dirty="0" smtClean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3169"/>
              </a:spcBef>
            </a:pPr>
            <a:r>
              <a:rPr lang="en-US" sz="1600" spc="-1" dirty="0" smtClean="0">
                <a:solidFill>
                  <a:srgbClr val="000000"/>
                </a:solidFill>
              </a:rPr>
              <a:t>An </a:t>
            </a:r>
            <a:r>
              <a:rPr lang="en-US" sz="1600" spc="-1" dirty="0">
                <a:solidFill>
                  <a:srgbClr val="000000"/>
                </a:solidFill>
              </a:rPr>
              <a:t>HPC project </a:t>
            </a:r>
            <a:r>
              <a:rPr lang="en-US" sz="1600" spc="-1" dirty="0" smtClean="0">
                <a:solidFill>
                  <a:srgbClr val="000000"/>
                </a:solidFill>
              </a:rPr>
              <a:t>will also </a:t>
            </a:r>
            <a:r>
              <a:rPr lang="en-US" sz="1600" spc="-1" dirty="0">
                <a:solidFill>
                  <a:srgbClr val="000000"/>
                </a:solidFill>
              </a:rPr>
              <a:t>be </a:t>
            </a:r>
            <a:r>
              <a:rPr lang="en-US" sz="1600" spc="-1" dirty="0">
                <a:solidFill>
                  <a:schemeClr val="tx2"/>
                </a:solidFill>
              </a:rPr>
              <a:t>a shared space </a:t>
            </a:r>
            <a:r>
              <a:rPr lang="en-US" sz="1600" spc="-1" dirty="0">
                <a:solidFill>
                  <a:srgbClr val="000000"/>
                </a:solidFill>
              </a:rPr>
              <a:t>where project members can share files and submit their jobs. </a:t>
            </a:r>
            <a:endParaRPr lang="en-US" sz="1600" spc="-1" dirty="0" smtClean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3169"/>
              </a:spcBef>
            </a:pPr>
            <a:r>
              <a:rPr lang="en-US" sz="1600" spc="-1" dirty="0" smtClean="0">
                <a:solidFill>
                  <a:srgbClr val="000000"/>
                </a:solidFill>
              </a:rPr>
              <a:t>Ultimately</a:t>
            </a:r>
            <a:r>
              <a:rPr lang="en-US" sz="1600" spc="-1" dirty="0">
                <a:solidFill>
                  <a:srgbClr val="000000"/>
                </a:solidFill>
              </a:rPr>
              <a:t>, </a:t>
            </a:r>
            <a:r>
              <a:rPr lang="en-US" sz="1600" spc="-1" dirty="0">
                <a:solidFill>
                  <a:schemeClr val="tx2"/>
                </a:solidFill>
              </a:rPr>
              <a:t>every job has to be accounted against an HPC project</a:t>
            </a:r>
            <a:r>
              <a:rPr lang="en-US" sz="1600" spc="-1" dirty="0" smtClean="0">
                <a:solidFill>
                  <a:schemeClr val="tx2"/>
                </a:solidFill>
              </a:rPr>
              <a:t>.</a:t>
            </a:r>
          </a:p>
          <a:p>
            <a:pPr>
              <a:lnSpc>
                <a:spcPct val="100000"/>
              </a:lnSpc>
              <a:spcBef>
                <a:spcPts val="3169"/>
              </a:spcBef>
            </a:pPr>
            <a:r>
              <a:rPr lang="en-US" sz="1600" spc="-1" dirty="0" err="1" smtClean="0">
                <a:solidFill>
                  <a:schemeClr val="tx2"/>
                </a:solidFill>
              </a:rPr>
              <a:t>Fairshare</a:t>
            </a:r>
            <a:r>
              <a:rPr lang="en-US" sz="1600" spc="-1" dirty="0" smtClean="0">
                <a:solidFill>
                  <a:schemeClr val="tx2"/>
                </a:solidFill>
              </a:rPr>
              <a:t> </a:t>
            </a:r>
            <a:r>
              <a:rPr lang="en-US" sz="1600" spc="-1" dirty="0" smtClean="0"/>
              <a:t>is applied to the HPC projects at first level</a:t>
            </a:r>
            <a:r>
              <a:rPr lang="en-US" sz="1600" spc="-1" dirty="0" smtClean="0">
                <a:solidFill>
                  <a:schemeClr val="tx2"/>
                </a:solidFill>
              </a:rPr>
              <a:t>.</a:t>
            </a:r>
            <a:r>
              <a:rPr lang="en-US" sz="1600" spc="-1" dirty="0" smtClean="0">
                <a:solidFill>
                  <a:srgbClr val="000000"/>
                </a:solidFill>
              </a:rPr>
              <a:t> </a:t>
            </a:r>
            <a:endParaRPr lang="en-US" sz="1600" spc="-1" dirty="0" smtClean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Almesbar - </a:t>
            </a:r>
            <a:r>
              <a:rPr lang="en-US" sz="28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Accounts, resource allocation and file sharing</a:t>
            </a:r>
            <a:endParaRPr lang="en-US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2403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A9CDC68D-A8DA-4B37-8084-08DD33DBF835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8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8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User name and access</a:t>
            </a:r>
            <a:endParaRPr lang="en-US" sz="1800" b="0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trike="noStrike" spc="-1" dirty="0" smtClean="0">
                <a:latin typeface="Arial"/>
                <a:ea typeface="DejaVu Sans"/>
              </a:rPr>
              <a:t>HPC Projects</a:t>
            </a:r>
            <a:endParaRPr lang="en-US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b="1" strike="noStrike" spc="-1" dirty="0" smtClean="0">
                <a:solidFill>
                  <a:schemeClr val="tx2"/>
                </a:solidFill>
                <a:latin typeface="Arial"/>
                <a:ea typeface="DejaVu Sans"/>
              </a:rPr>
              <a:t>Jobs</a:t>
            </a:r>
            <a:endParaRPr lang="en-US" sz="2400" b="1" strike="noStrike" spc="-1" dirty="0">
              <a:solidFill>
                <a:schemeClr val="tx2"/>
              </a:solidFill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solidFill>
                  <a:srgbClr val="000000"/>
                </a:solidFill>
                <a:latin typeface="Arial"/>
              </a:rPr>
              <a:t>Queues</a:t>
            </a:r>
            <a:endParaRPr lang="en-US" sz="1800" b="0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Storage</a:t>
            </a: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solidFill>
                  <a:srgbClr val="000000"/>
                </a:solidFill>
                <a:latin typeface="Arial"/>
              </a:rPr>
              <a:t>License applications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169"/>
              </a:spcBef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7"/>
          <p:cNvSpPr/>
          <p:nvPr/>
        </p:nvSpPr>
        <p:spPr>
          <a:xfrm>
            <a:off x="6078960" y="1733400"/>
            <a:ext cx="6003360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3169"/>
              </a:spcBef>
            </a:pPr>
            <a:r>
              <a:rPr lang="en-US" sz="1600" spc="-1" dirty="0" smtClean="0">
                <a:solidFill>
                  <a:srgbClr val="000000"/>
                </a:solidFill>
              </a:rPr>
              <a:t>Jobs number:</a:t>
            </a: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>
                <a:solidFill>
                  <a:srgbClr val="000000"/>
                </a:solidFill>
                <a:latin typeface="Arial"/>
                <a:ea typeface="DejaVu Sans"/>
              </a:rPr>
              <a:t>L</a:t>
            </a:r>
            <a:r>
              <a:rPr lang="en-US" spc="-1" dirty="0" smtClean="0">
                <a:solidFill>
                  <a:srgbClr val="000000"/>
                </a:solidFill>
                <a:latin typeface="Arial"/>
                <a:ea typeface="DejaVu Sans"/>
              </a:rPr>
              <a:t>imit of 1000 jobs per user on </a:t>
            </a:r>
            <a:r>
              <a:rPr lang="en-US" b="1" spc="-1" dirty="0" smtClean="0">
                <a:solidFill>
                  <a:schemeClr val="tx2"/>
                </a:solidFill>
                <a:latin typeface="Arial"/>
                <a:ea typeface="DejaVu Sans"/>
              </a:rPr>
              <a:t>prod</a:t>
            </a:r>
            <a:r>
              <a:rPr lang="en-US" spc="-1" dirty="0" smtClean="0">
                <a:solidFill>
                  <a:srgbClr val="000000"/>
                </a:solidFill>
                <a:latin typeface="Arial"/>
                <a:ea typeface="DejaVu Sans"/>
              </a:rPr>
              <a:t> and </a:t>
            </a:r>
            <a:r>
              <a:rPr lang="en-US" b="1" spc="-1" dirty="0" err="1" smtClean="0">
                <a:solidFill>
                  <a:schemeClr val="tx2"/>
                </a:solidFill>
                <a:latin typeface="Arial"/>
                <a:ea typeface="DejaVu Sans"/>
              </a:rPr>
              <a:t>gpu</a:t>
            </a:r>
            <a:r>
              <a:rPr lang="en-US" spc="-1" dirty="0" smtClean="0">
                <a:solidFill>
                  <a:srgbClr val="000000"/>
                </a:solidFill>
                <a:latin typeface="Arial"/>
                <a:ea typeface="DejaVu Sans"/>
              </a:rPr>
              <a:t> queues</a:t>
            </a: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>
                <a:solidFill>
                  <a:srgbClr val="000000"/>
                </a:solidFill>
                <a:latin typeface="Arial"/>
                <a:ea typeface="DejaVu Sans"/>
              </a:rPr>
              <a:t>L</a:t>
            </a:r>
            <a:r>
              <a:rPr lang="en-US" spc="-1" dirty="0" smtClean="0">
                <a:solidFill>
                  <a:srgbClr val="000000"/>
                </a:solidFill>
                <a:latin typeface="Arial"/>
                <a:ea typeface="DejaVu Sans"/>
              </a:rPr>
              <a:t>imit of 1 job per user on </a:t>
            </a:r>
            <a:r>
              <a:rPr lang="en-US" b="1" spc="-1" dirty="0" err="1" smtClean="0">
                <a:solidFill>
                  <a:schemeClr val="tx2"/>
                </a:solidFill>
                <a:latin typeface="Arial"/>
                <a:ea typeface="DejaVu Sans"/>
              </a:rPr>
              <a:t>devel</a:t>
            </a:r>
            <a:r>
              <a:rPr lang="en-US" spc="-1" dirty="0" smtClean="0">
                <a:solidFill>
                  <a:srgbClr val="000000"/>
                </a:solidFill>
                <a:latin typeface="Arial"/>
                <a:ea typeface="DejaVu Sans"/>
              </a:rPr>
              <a:t> queue</a:t>
            </a:r>
            <a:endParaRPr lang="en-US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spcBef>
                <a:spcPts val="3169"/>
              </a:spcBef>
            </a:pPr>
            <a:r>
              <a:rPr lang="en-US" sz="1600" spc="-1" dirty="0" smtClean="0">
                <a:solidFill>
                  <a:srgbClr val="000000"/>
                </a:solidFill>
              </a:rPr>
              <a:t>Jobs size:</a:t>
            </a: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solidFill>
                  <a:srgbClr val="000000"/>
                </a:solidFill>
                <a:latin typeface="Arial"/>
                <a:ea typeface="DejaVu Sans"/>
              </a:rPr>
              <a:t>Wall time limitations on each queue.</a:t>
            </a: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solidFill>
                  <a:srgbClr val="000000"/>
                </a:solidFill>
                <a:latin typeface="Arial"/>
                <a:ea typeface="DejaVu Sans"/>
              </a:rPr>
              <a:t>There is no limit on the number of cores used by a job.</a:t>
            </a:r>
            <a:endParaRPr lang="en-US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  <a:spcBef>
                <a:spcPts val="3169"/>
              </a:spcBef>
            </a:pPr>
            <a:endParaRPr lang="en-US" sz="1600" spc="-1" dirty="0" smtClean="0">
              <a:solidFill>
                <a:srgbClr val="000000"/>
              </a:solidFill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Almesbar - </a:t>
            </a:r>
            <a:r>
              <a:rPr lang="en-US" sz="28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Accounts, resource allocation and file sharing</a:t>
            </a:r>
            <a:endParaRPr lang="en-US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55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A9CDC68D-A8DA-4B37-8084-08DD33DBF835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9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8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User name and access</a:t>
            </a:r>
            <a:endParaRPr lang="en-US" sz="1800" b="0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trike="noStrike" spc="-1" dirty="0" smtClean="0">
                <a:latin typeface="Arial"/>
                <a:ea typeface="DejaVu Sans"/>
              </a:rPr>
              <a:t>HPC Projects</a:t>
            </a:r>
            <a:endParaRPr lang="en-US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trike="noStrike" spc="-1" dirty="0" smtClean="0">
                <a:latin typeface="Arial"/>
                <a:ea typeface="DejaVu Sans"/>
              </a:rPr>
              <a:t>Jobs</a:t>
            </a:r>
            <a:endParaRPr lang="en-US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b="1" spc="-1" dirty="0" smtClean="0">
                <a:solidFill>
                  <a:schemeClr val="tx2"/>
                </a:solidFill>
                <a:latin typeface="Arial"/>
              </a:rPr>
              <a:t>Queues</a:t>
            </a:r>
            <a:endParaRPr lang="en-US" sz="2400" b="1" strike="noStrike" spc="-1" dirty="0">
              <a:solidFill>
                <a:schemeClr val="tx2"/>
              </a:solidFill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Storage</a:t>
            </a: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solidFill>
                  <a:srgbClr val="000000"/>
                </a:solidFill>
                <a:latin typeface="Arial"/>
              </a:rPr>
              <a:t>License applications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169"/>
              </a:spcBef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7"/>
          <p:cNvSpPr/>
          <p:nvPr/>
        </p:nvSpPr>
        <p:spPr>
          <a:xfrm>
            <a:off x="6078960" y="1733400"/>
            <a:ext cx="6003360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3169"/>
              </a:spcBef>
            </a:pPr>
            <a:r>
              <a:rPr lang="en-US" sz="1600" spc="-1" dirty="0" smtClean="0">
                <a:solidFill>
                  <a:srgbClr val="000000"/>
                </a:solidFill>
              </a:rPr>
              <a:t>Access is </a:t>
            </a:r>
            <a:r>
              <a:rPr lang="en-US" sz="1600" spc="-1" dirty="0" smtClean="0">
                <a:solidFill>
                  <a:schemeClr val="tx2"/>
                </a:solidFill>
              </a:rPr>
              <a:t>restricted for train </a:t>
            </a:r>
            <a:r>
              <a:rPr lang="en-US" sz="1600" spc="-1" dirty="0" smtClean="0">
                <a:solidFill>
                  <a:srgbClr val="000000"/>
                </a:solidFill>
              </a:rPr>
              <a:t>queue.</a:t>
            </a:r>
          </a:p>
          <a:p>
            <a:pPr>
              <a:lnSpc>
                <a:spcPct val="100000"/>
              </a:lnSpc>
              <a:spcBef>
                <a:spcPts val="3169"/>
              </a:spcBef>
            </a:pPr>
            <a:r>
              <a:rPr lang="en-US" sz="1600" spc="-1" dirty="0" smtClean="0">
                <a:solidFill>
                  <a:srgbClr val="000000"/>
                </a:solidFill>
              </a:rPr>
              <a:t>Research computing department uses </a:t>
            </a:r>
            <a:r>
              <a:rPr lang="en-US" sz="1600" b="1" spc="-1" dirty="0" smtClean="0">
                <a:solidFill>
                  <a:schemeClr val="tx2"/>
                </a:solidFill>
              </a:rPr>
              <a:t>train</a:t>
            </a:r>
            <a:r>
              <a:rPr lang="en-US" sz="1600" spc="-1" dirty="0" smtClean="0">
                <a:solidFill>
                  <a:srgbClr val="000000"/>
                </a:solidFill>
              </a:rPr>
              <a:t> queue for compiling, installing, maintaining applications as well as for troubleshooting with the HPC users.</a:t>
            </a:r>
          </a:p>
          <a:p>
            <a:pPr>
              <a:lnSpc>
                <a:spcPct val="100000"/>
              </a:lnSpc>
              <a:spcBef>
                <a:spcPts val="3169"/>
              </a:spcBef>
            </a:pPr>
            <a:endParaRPr lang="en-US" sz="1600" spc="-1" dirty="0" smtClean="0">
              <a:solidFill>
                <a:srgbClr val="000000"/>
              </a:solidFill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Almesbar - </a:t>
            </a:r>
            <a:r>
              <a:rPr lang="en-US" sz="28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Accounts, resource allocation and file sharing</a:t>
            </a:r>
            <a:endParaRPr lang="en-US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043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A9CDC68D-A8DA-4B37-8084-08DD33DBF835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10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8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User name and access</a:t>
            </a:r>
            <a:endParaRPr lang="en-US" sz="1800" b="0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trike="noStrike" spc="-1" dirty="0" smtClean="0">
                <a:latin typeface="Arial"/>
                <a:ea typeface="DejaVu Sans"/>
              </a:rPr>
              <a:t>HPC Projects</a:t>
            </a:r>
            <a:endParaRPr lang="en-US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trike="noStrike" spc="-1" dirty="0" smtClean="0">
                <a:latin typeface="Arial"/>
                <a:ea typeface="DejaVu Sans"/>
              </a:rPr>
              <a:t>Jobs</a:t>
            </a:r>
            <a:endParaRPr lang="en-US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latin typeface="Arial"/>
              </a:rPr>
              <a:t>Queues</a:t>
            </a:r>
            <a:endParaRPr lang="en-US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b="1" strike="noStrike" spc="-1" dirty="0" smtClean="0">
                <a:solidFill>
                  <a:schemeClr val="tx2"/>
                </a:solidFill>
                <a:latin typeface="Arial"/>
                <a:ea typeface="DejaVu Sans"/>
              </a:rPr>
              <a:t>Storage</a:t>
            </a: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solidFill>
                  <a:srgbClr val="000000"/>
                </a:solidFill>
                <a:latin typeface="Arial"/>
              </a:rPr>
              <a:t>License applications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169"/>
              </a:spcBef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7"/>
          <p:cNvSpPr/>
          <p:nvPr/>
        </p:nvSpPr>
        <p:spPr>
          <a:xfrm>
            <a:off x="6078960" y="1733400"/>
            <a:ext cx="6003360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3169"/>
              </a:spcBef>
            </a:pPr>
            <a:r>
              <a:rPr lang="en-US" sz="1600" spc="-1" dirty="0" smtClean="0">
                <a:solidFill>
                  <a:srgbClr val="000000"/>
                </a:solidFill>
              </a:rPr>
              <a:t>There will be quotas applied to the different storage places.</a:t>
            </a:r>
          </a:p>
          <a:p>
            <a:pPr>
              <a:lnSpc>
                <a:spcPct val="100000"/>
              </a:lnSpc>
              <a:spcBef>
                <a:spcPts val="3169"/>
              </a:spcBef>
            </a:pPr>
            <a:r>
              <a:rPr lang="en-US" sz="1600" spc="-1" dirty="0" smtClean="0">
                <a:solidFill>
                  <a:srgbClr val="000000"/>
                </a:solidFill>
              </a:rPr>
              <a:t>By default:</a:t>
            </a: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>
                <a:solidFill>
                  <a:srgbClr val="000000"/>
                </a:solidFill>
                <a:latin typeface="Arial"/>
                <a:ea typeface="DejaVu Sans"/>
              </a:rPr>
              <a:t>Home directory </a:t>
            </a:r>
            <a:r>
              <a:rPr lang="en-US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(/home/kunet.ae/username</a:t>
            </a:r>
            <a:r>
              <a:rPr lang="en-US" spc="-1" dirty="0">
                <a:solidFill>
                  <a:srgbClr val="000000"/>
                </a:solidFill>
                <a:latin typeface="Arial"/>
                <a:ea typeface="DejaVu Sans"/>
              </a:rPr>
              <a:t>): 50 GB</a:t>
            </a: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>
                <a:solidFill>
                  <a:srgbClr val="000000"/>
                </a:solidFill>
                <a:latin typeface="Arial"/>
                <a:ea typeface="DejaVu Sans"/>
              </a:rPr>
              <a:t>Project directory (</a:t>
            </a:r>
            <a:r>
              <a:rPr lang="en-US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/l/</a:t>
            </a:r>
            <a:r>
              <a:rPr lang="en-US" spc="-1" dirty="0" err="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proj</a:t>
            </a:r>
            <a:r>
              <a:rPr lang="en-US" spc="-1" dirty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/</a:t>
            </a:r>
            <a:r>
              <a:rPr lang="en-US" spc="-1" dirty="0" err="1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projectname</a:t>
            </a:r>
            <a:r>
              <a:rPr lang="en-US" spc="-1" dirty="0">
                <a:solidFill>
                  <a:srgbClr val="000000"/>
                </a:solidFill>
                <a:latin typeface="Arial"/>
                <a:ea typeface="DejaVu Sans"/>
              </a:rPr>
              <a:t>): </a:t>
            </a:r>
            <a:r>
              <a:rPr lang="en-US" spc="-1" dirty="0" smtClean="0">
                <a:solidFill>
                  <a:srgbClr val="000000"/>
                </a:solidFill>
                <a:latin typeface="Arial"/>
                <a:ea typeface="DejaVu Sans"/>
              </a:rPr>
              <a:t>2 TB</a:t>
            </a:r>
            <a:endParaRPr lang="en-US" spc="-1" dirty="0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Almesbar - </a:t>
            </a:r>
            <a:r>
              <a:rPr lang="en-US" sz="28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Accounts, resource allocation and file sharing</a:t>
            </a:r>
            <a:endParaRPr lang="en-US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666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A9CDC68D-A8DA-4B37-8084-08DD33DBF835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11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8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User name and access</a:t>
            </a:r>
            <a:endParaRPr lang="en-US" sz="1800" b="0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trike="noStrike" spc="-1" dirty="0" smtClean="0">
                <a:latin typeface="Arial"/>
                <a:ea typeface="DejaVu Sans"/>
              </a:rPr>
              <a:t>HPC Projects</a:t>
            </a:r>
            <a:endParaRPr lang="en-US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trike="noStrike" spc="-1" dirty="0" smtClean="0">
                <a:latin typeface="Arial"/>
                <a:ea typeface="DejaVu Sans"/>
              </a:rPr>
              <a:t>Jobs</a:t>
            </a:r>
            <a:endParaRPr lang="en-US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latin typeface="Arial"/>
              </a:rPr>
              <a:t>Queues</a:t>
            </a:r>
            <a:endParaRPr lang="en-US" strike="noStrike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trike="noStrike" spc="-1" dirty="0" smtClean="0">
                <a:latin typeface="Arial"/>
                <a:ea typeface="DejaVu Sans"/>
              </a:rPr>
              <a:t>Storage</a:t>
            </a:r>
          </a:p>
          <a:p>
            <a:pPr marL="182880" indent="-17892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b="1" spc="-1" dirty="0" smtClean="0">
                <a:solidFill>
                  <a:schemeClr val="tx2"/>
                </a:solidFill>
                <a:latin typeface="Arial"/>
              </a:rPr>
              <a:t>License applications</a:t>
            </a:r>
            <a:endParaRPr lang="en-US" sz="2400" b="1" strike="noStrike" spc="-1" dirty="0">
              <a:solidFill>
                <a:schemeClr val="tx2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169"/>
              </a:spcBef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7"/>
          <p:cNvSpPr/>
          <p:nvPr/>
        </p:nvSpPr>
        <p:spPr>
          <a:xfrm>
            <a:off x="6078960" y="1733400"/>
            <a:ext cx="6003360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3169"/>
              </a:spcBef>
            </a:pPr>
            <a:endParaRPr lang="en-US" spc="-1" dirty="0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791061" y="1733400"/>
            <a:ext cx="2015412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HPC applications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92150" y="3005339"/>
            <a:ext cx="2470498" cy="120032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Non licensed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Quantum-Espresso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LAMMPS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Python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080640" y="3005339"/>
            <a:ext cx="1679738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L</a:t>
            </a:r>
            <a:r>
              <a:rPr lang="en-US" b="1" dirty="0" smtClean="0">
                <a:solidFill>
                  <a:schemeClr val="tx2"/>
                </a:solidFill>
              </a:rPr>
              <a:t>icensed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20473" y="5017591"/>
            <a:ext cx="2022348" cy="120032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Paid by KU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Matlab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Intel compilers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Lumerical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9929631" y="5017591"/>
            <a:ext cx="2057426" cy="120032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Paid by 3</a:t>
            </a:r>
            <a:r>
              <a:rPr lang="en-US" b="1" baseline="30000" dirty="0" smtClean="0">
                <a:solidFill>
                  <a:schemeClr val="tx2"/>
                </a:solidFill>
              </a:rPr>
              <a:t>rd</a:t>
            </a:r>
            <a:r>
              <a:rPr lang="en-US" b="1" dirty="0" smtClean="0">
                <a:solidFill>
                  <a:schemeClr val="tx2"/>
                </a:solidFill>
              </a:rPr>
              <a:t> party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Abaqus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QuantumATK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Ansys</a:t>
            </a:r>
            <a:r>
              <a:rPr lang="en-US" dirty="0" smtClean="0"/>
              <a:t> Fluent </a:t>
            </a:r>
            <a:endParaRPr lang="en-US" dirty="0"/>
          </a:p>
        </p:txBody>
      </p:sp>
      <p:cxnSp>
        <p:nvCxnSpPr>
          <p:cNvPr id="4" name="Straight Arrow Connector 3"/>
          <p:cNvCxnSpPr>
            <a:stCxn id="2" idx="2"/>
            <a:endCxn id="10" idx="0"/>
          </p:cNvCxnSpPr>
          <p:nvPr/>
        </p:nvCxnSpPr>
        <p:spPr>
          <a:xfrm flipH="1">
            <a:off x="6927399" y="2379731"/>
            <a:ext cx="1871368" cy="62560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2" idx="2"/>
            <a:endCxn id="11" idx="0"/>
          </p:cNvCxnSpPr>
          <p:nvPr/>
        </p:nvCxnSpPr>
        <p:spPr>
          <a:xfrm>
            <a:off x="8798767" y="2379731"/>
            <a:ext cx="1121742" cy="62560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1" idx="2"/>
            <a:endCxn id="12" idx="0"/>
          </p:cNvCxnSpPr>
          <p:nvPr/>
        </p:nvCxnSpPr>
        <p:spPr>
          <a:xfrm flipH="1">
            <a:off x="8531647" y="3374671"/>
            <a:ext cx="1388862" cy="164292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1" idx="2"/>
            <a:endCxn id="13" idx="0"/>
          </p:cNvCxnSpPr>
          <p:nvPr/>
        </p:nvCxnSpPr>
        <p:spPr>
          <a:xfrm>
            <a:off x="9920509" y="3374671"/>
            <a:ext cx="1037835" cy="164292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Almesbar - </a:t>
            </a:r>
            <a:r>
              <a:rPr lang="en-US" sz="28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Accounts, resource allocation and file sharing</a:t>
            </a:r>
            <a:endParaRPr lang="en-US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623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configuration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DC68D-A8DA-4B37-8084-08DD33DBF835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z="2400" b="1" spc="-1" dirty="0" smtClean="0">
                <a:solidFill>
                  <a:schemeClr val="tx2"/>
                </a:solidFill>
                <a:latin typeface="Arial"/>
              </a:rPr>
              <a:t>Access configuration</a:t>
            </a: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  <a:defRPr/>
            </a:pPr>
            <a:r>
              <a:rPr lang="en-US" spc="-1" dirty="0">
                <a:solidFill>
                  <a:prstClr val="black"/>
                </a:solidFill>
                <a:latin typeface="Arial"/>
              </a:rPr>
              <a:t>Queues (partitions)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Modular environment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Scheduler syntax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TextBox 1"/>
          <p:cNvSpPr txBox="1"/>
          <p:nvPr/>
        </p:nvSpPr>
        <p:spPr>
          <a:xfrm>
            <a:off x="6320860" y="1828800"/>
            <a:ext cx="5756705" cy="92333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SSH </a:t>
            </a:r>
            <a:r>
              <a:rPr lang="en-US" b="1" dirty="0" err="1" smtClean="0">
                <a:solidFill>
                  <a:schemeClr val="tx2"/>
                </a:solidFill>
              </a:rPr>
              <a:t>keygen</a:t>
            </a:r>
            <a:r>
              <a:rPr lang="en-US" b="1" dirty="0" smtClean="0">
                <a:solidFill>
                  <a:schemeClr val="tx2"/>
                </a:solidFill>
              </a:rPr>
              <a:t> command</a:t>
            </a:r>
          </a:p>
          <a:p>
            <a:pPr algn="ctr"/>
            <a:r>
              <a:rPr lang="en-US" dirty="0" err="1">
                <a:latin typeface="Consolas" panose="020B0609020204030204" pitchFamily="49" charset="0"/>
              </a:rPr>
              <a:t>ssh-keygen</a:t>
            </a:r>
            <a:r>
              <a:rPr lang="en-US" dirty="0">
                <a:latin typeface="Consolas" panose="020B0609020204030204" pitchFamily="49" charset="0"/>
              </a:rPr>
              <a:t> -t </a:t>
            </a:r>
            <a:r>
              <a:rPr lang="en-US" dirty="0" err="1">
                <a:latin typeface="Consolas" panose="020B0609020204030204" pitchFamily="49" charset="0"/>
              </a:rPr>
              <a:t>rsa</a:t>
            </a:r>
            <a:r>
              <a:rPr lang="en-US" dirty="0">
                <a:latin typeface="Consolas" panose="020B0609020204030204" pitchFamily="49" charset="0"/>
              </a:rPr>
              <a:t> -b 4096 -f ~/.</a:t>
            </a:r>
            <a:r>
              <a:rPr lang="en-US" dirty="0" err="1">
                <a:latin typeface="Consolas" panose="020B0609020204030204" pitchFamily="49" charset="0"/>
              </a:rPr>
              <a:t>ssh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almesbar</a:t>
            </a:r>
            <a:endParaRPr lang="en-US" b="1" dirty="0" smtClean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Add passphrase for security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632210" y="3173406"/>
            <a:ext cx="3054903" cy="147732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Private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Keep it in your machine.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2"/>
                </a:solidFill>
              </a:rPr>
              <a:t>Do not share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 it on your </a:t>
            </a:r>
            <a:r>
              <a:rPr lang="en-US" dirty="0" err="1" smtClean="0"/>
              <a:t>ssh</a:t>
            </a:r>
            <a:r>
              <a:rPr lang="en-US" dirty="0" smtClean="0"/>
              <a:t> command.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9323232" y="3162835"/>
            <a:ext cx="2591961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Public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Send it to research computing.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will be place on Almesbar.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2"/>
                </a:solidFill>
              </a:rPr>
              <a:t>After confirmation</a:t>
            </a:r>
            <a:r>
              <a:rPr lang="en-US" dirty="0" smtClean="0"/>
              <a:t>, you will be able to access via </a:t>
            </a:r>
            <a:r>
              <a:rPr lang="en-US" dirty="0" err="1" smtClean="0"/>
              <a:t>ssh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577840" y="5832393"/>
            <a:ext cx="6614160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ssh</a:t>
            </a:r>
            <a:r>
              <a:rPr lang="en-US" dirty="0">
                <a:latin typeface="Consolas" panose="020B0609020204030204" pitchFamily="49" charset="0"/>
              </a:rPr>
              <a:t> -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latin typeface="Consolas" panose="020B0609020204030204" pitchFamily="49" charset="0"/>
              </a:rPr>
              <a:t>private_key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username@login.almesbar.ku.ac.ae</a:t>
            </a:r>
          </a:p>
        </p:txBody>
      </p:sp>
      <p:cxnSp>
        <p:nvCxnSpPr>
          <p:cNvPr id="4" name="Straight Arrow Connector 3"/>
          <p:cNvCxnSpPr>
            <a:stCxn id="2" idx="2"/>
            <a:endCxn id="12" idx="0"/>
          </p:cNvCxnSpPr>
          <p:nvPr/>
        </p:nvCxnSpPr>
        <p:spPr>
          <a:xfrm flipH="1">
            <a:off x="7159662" y="2752130"/>
            <a:ext cx="2039551" cy="42127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2" idx="2"/>
            <a:endCxn id="13" idx="0"/>
          </p:cNvCxnSpPr>
          <p:nvPr/>
        </p:nvCxnSpPr>
        <p:spPr>
          <a:xfrm>
            <a:off x="9199213" y="2752130"/>
            <a:ext cx="1420000" cy="41070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2" idx="2"/>
          </p:cNvCxnSpPr>
          <p:nvPr/>
        </p:nvCxnSpPr>
        <p:spPr>
          <a:xfrm>
            <a:off x="7159662" y="4650734"/>
            <a:ext cx="15580" cy="117194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3" idx="2"/>
          </p:cNvCxnSpPr>
          <p:nvPr/>
        </p:nvCxnSpPr>
        <p:spPr>
          <a:xfrm rot="5400000">
            <a:off x="8842955" y="3803447"/>
            <a:ext cx="108547" cy="3443971"/>
          </a:xfrm>
          <a:prstGeom prst="bentConnector2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43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configuration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DC68D-A8DA-4B37-8084-08DD33DBF835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Access configuration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2400" b="1" i="0" u="none" strike="noStrike" kern="1200" cap="none" spc="-1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</a:rPr>
              <a:t>Queues (partitions)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Modular environment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Scheduler syntax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9" name="Table 7"/>
          <p:cNvGraphicFramePr/>
          <p:nvPr>
            <p:extLst/>
          </p:nvPr>
        </p:nvGraphicFramePr>
        <p:xfrm>
          <a:off x="6048568" y="1679040"/>
          <a:ext cx="5627617" cy="2949360"/>
        </p:xfrm>
        <a:graphic>
          <a:graphicData uri="http://schemas.openxmlformats.org/drawingml/2006/table">
            <a:tbl>
              <a:tblPr/>
              <a:tblGrid>
                <a:gridCol w="1837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0238">
                  <a:extLst>
                    <a:ext uri="{9D8B030D-6E8A-4147-A177-3AD203B41FA5}">
                      <a16:colId xmlns:a16="http://schemas.microsoft.com/office/drawing/2014/main" val="2549511626"/>
                    </a:ext>
                  </a:extLst>
                </a:gridCol>
              </a:tblGrid>
              <a:tr h="358560">
                <a:tc gridSpan="2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2000" b="1" strike="noStrike" spc="-1" dirty="0" smtClean="0">
                          <a:solidFill>
                            <a:schemeClr val="bg1"/>
                          </a:solidFill>
                          <a:latin typeface="Arial"/>
                        </a:rPr>
                        <a:t>Production</a:t>
                      </a:r>
                      <a:endParaRPr lang="en-US" sz="2000" b="1" strike="noStrike" spc="-1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346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Name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prod</a:t>
                      </a: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53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Purpose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Production jobs using CPU</a:t>
                      </a:r>
                      <a:r>
                        <a:rPr lang="en-US" sz="1800" b="0" strike="noStrike" spc="-1" baseline="0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 cores.</a:t>
                      </a:r>
                      <a:endParaRPr lang="en-US" sz="1800" b="0" strike="noStrike" spc="-1" dirty="0" smtClean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662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Number of nodes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80</a:t>
                      </a: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99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Limits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Default wall time: 2h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Maximum wall time: 48h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Max</a:t>
                      </a:r>
                      <a:r>
                        <a:rPr lang="en-US" sz="1800" b="0" strike="noStrike" spc="-1" baseline="0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 number of jobs per user: 1000</a:t>
                      </a:r>
                      <a:endParaRPr lang="en-US" sz="1800" b="0" strike="noStrike" spc="-1" dirty="0" smtClean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629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Access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Open</a:t>
                      </a: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905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56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configuration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DC68D-A8DA-4B37-8084-08DD33DBF835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0" name="Table 7"/>
          <p:cNvGraphicFramePr/>
          <p:nvPr>
            <p:extLst/>
          </p:nvPr>
        </p:nvGraphicFramePr>
        <p:xfrm>
          <a:off x="6048568" y="1679040"/>
          <a:ext cx="5627617" cy="3749460"/>
        </p:xfrm>
        <a:graphic>
          <a:graphicData uri="http://schemas.openxmlformats.org/drawingml/2006/table">
            <a:tbl>
              <a:tblPr/>
              <a:tblGrid>
                <a:gridCol w="1837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0238">
                  <a:extLst>
                    <a:ext uri="{9D8B030D-6E8A-4147-A177-3AD203B41FA5}">
                      <a16:colId xmlns:a16="http://schemas.microsoft.com/office/drawing/2014/main" val="2549511626"/>
                    </a:ext>
                  </a:extLst>
                </a:gridCol>
              </a:tblGrid>
              <a:tr h="358560">
                <a:tc gridSpan="2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2000" b="1" strike="noStrike" spc="-1" dirty="0" smtClean="0">
                          <a:solidFill>
                            <a:schemeClr val="bg1"/>
                          </a:solidFill>
                          <a:latin typeface="Arial"/>
                        </a:rPr>
                        <a:t>Development</a:t>
                      </a:r>
                      <a:endParaRPr lang="en-US" sz="2000" b="1" strike="noStrike" spc="-1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346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Name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err="1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devel</a:t>
                      </a:r>
                      <a:endParaRPr lang="en-US" sz="1800" b="0" strike="noStrike" spc="-1" dirty="0" smtClean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53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Purpose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interactive and testing purposes,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i.e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compiling, configuring and testing applications. Running GUI applications.</a:t>
                      </a:r>
                      <a:endParaRPr lang="en-US" sz="1800" b="0" strike="noStrike" spc="-1" dirty="0" smtClean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662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Number of nodes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99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Limits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Default wall time: 1h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Maximum wall time: 8h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Max</a:t>
                      </a:r>
                      <a:r>
                        <a:rPr lang="en-US" sz="1800" b="0" strike="noStrike" spc="-1" baseline="0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 number of jobs per user: 1</a:t>
                      </a:r>
                      <a:endParaRPr lang="en-US" sz="1800" b="0" strike="noStrike" spc="-1" dirty="0" smtClean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629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Access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Open</a:t>
                      </a: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01127"/>
                  </a:ext>
                </a:extLst>
              </a:tr>
            </a:tbl>
          </a:graphicData>
        </a:graphic>
      </p:graphicFrame>
      <p:sp>
        <p:nvSpPr>
          <p:cNvPr id="11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Access configuration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2400" b="1" i="0" u="none" strike="noStrike" kern="1200" cap="none" spc="-1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</a:rPr>
              <a:t>Queues (partitions)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Modular environment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Scheduler syntax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266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configuration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DC68D-A8DA-4B37-8084-08DD33DBF835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0" name="Table 7"/>
          <p:cNvGraphicFramePr/>
          <p:nvPr>
            <p:extLst/>
          </p:nvPr>
        </p:nvGraphicFramePr>
        <p:xfrm>
          <a:off x="6048568" y="1679040"/>
          <a:ext cx="5627617" cy="3574200"/>
        </p:xfrm>
        <a:graphic>
          <a:graphicData uri="http://schemas.openxmlformats.org/drawingml/2006/table">
            <a:tbl>
              <a:tblPr/>
              <a:tblGrid>
                <a:gridCol w="1837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0238">
                  <a:extLst>
                    <a:ext uri="{9D8B030D-6E8A-4147-A177-3AD203B41FA5}">
                      <a16:colId xmlns:a16="http://schemas.microsoft.com/office/drawing/2014/main" val="2549511626"/>
                    </a:ext>
                  </a:extLst>
                </a:gridCol>
              </a:tblGrid>
              <a:tr h="358560">
                <a:tc gridSpan="2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2000" b="1" strike="noStrike" spc="-1" dirty="0" smtClean="0">
                          <a:solidFill>
                            <a:schemeClr val="bg1"/>
                          </a:solidFill>
                          <a:latin typeface="Arial"/>
                        </a:rPr>
                        <a:t>GPU</a:t>
                      </a:r>
                      <a:endParaRPr lang="en-US" sz="2000" b="1" strike="noStrike" spc="-1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346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Name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err="1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gpu</a:t>
                      </a:r>
                      <a:endParaRPr lang="en-US" sz="1800" b="0" strike="noStrike" spc="-1" dirty="0" smtClean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53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Purpose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Production jobs using GPU</a:t>
                      </a:r>
                      <a:r>
                        <a:rPr lang="en-US" sz="1800" b="0" strike="noStrike" spc="-1" baseline="0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 cores.</a:t>
                      </a:r>
                      <a:endParaRPr lang="en-US" sz="1800" b="0" strike="noStrike" spc="-1" dirty="0" smtClean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662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Number of nodes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99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Number of GPUs per node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1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Limits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Default wall time: 2h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Maximum wall time: 48h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Max</a:t>
                      </a:r>
                      <a:r>
                        <a:rPr lang="en-US" sz="1800" b="0" strike="noStrike" spc="-1" baseline="0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 number of jobs per user: 1000</a:t>
                      </a:r>
                      <a:endParaRPr lang="en-US" sz="1800" b="0" strike="noStrike" spc="-1" dirty="0" smtClean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629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Access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Open</a:t>
                      </a: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01127"/>
                  </a:ext>
                </a:extLst>
              </a:tr>
            </a:tbl>
          </a:graphicData>
        </a:graphic>
      </p:graphicFrame>
      <p:sp>
        <p:nvSpPr>
          <p:cNvPr id="9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Access configuration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2400" b="1" i="0" u="none" strike="noStrike" kern="1200" cap="none" spc="-1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</a:rPr>
              <a:t>Queues (partitions)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Modular environment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Scheduler syntax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09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configuration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DC68D-A8DA-4B37-8084-08DD33DBF835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0" name="Table 7"/>
          <p:cNvGraphicFramePr/>
          <p:nvPr>
            <p:extLst/>
          </p:nvPr>
        </p:nvGraphicFramePr>
        <p:xfrm>
          <a:off x="6048568" y="1679040"/>
          <a:ext cx="5627617" cy="3482760"/>
        </p:xfrm>
        <a:graphic>
          <a:graphicData uri="http://schemas.openxmlformats.org/drawingml/2006/table">
            <a:tbl>
              <a:tblPr/>
              <a:tblGrid>
                <a:gridCol w="1837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0238">
                  <a:extLst>
                    <a:ext uri="{9D8B030D-6E8A-4147-A177-3AD203B41FA5}">
                      <a16:colId xmlns:a16="http://schemas.microsoft.com/office/drawing/2014/main" val="2549511626"/>
                    </a:ext>
                  </a:extLst>
                </a:gridCol>
              </a:tblGrid>
              <a:tr h="358560">
                <a:tc gridSpan="2"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2000" b="1" strike="noStrike" spc="-1" dirty="0" smtClean="0">
                          <a:solidFill>
                            <a:schemeClr val="bg1"/>
                          </a:solidFill>
                          <a:latin typeface="Arial"/>
                        </a:rPr>
                        <a:t>Training</a:t>
                      </a:r>
                      <a:endParaRPr lang="en-US" sz="2000" b="1" strike="noStrike" spc="-1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346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Name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train</a:t>
                      </a: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53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Purpose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kern="1200" spc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</a:t>
                      </a:r>
                      <a:r>
                        <a:rPr lang="en-US" sz="1800" b="0" strike="noStrike" kern="1200" spc="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by Research Computing department for </a:t>
                      </a:r>
                      <a:r>
                        <a:rPr lang="en-US" sz="1800" spc="-1" dirty="0" smtClean="0">
                          <a:solidFill>
                            <a:srgbClr val="000000"/>
                          </a:solidFill>
                        </a:rPr>
                        <a:t>compiling, installing, maintaining applications as well as for troubleshooting with the HPC users.</a:t>
                      </a:r>
                      <a:endParaRPr lang="en-US" sz="1800" b="0" strike="noStrike" spc="-1" dirty="0" smtClean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662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Number of nodes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99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Limits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629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Access</a:t>
                      </a:r>
                    </a:p>
                  </a:txBody>
                  <a:tcPr marL="53280" marR="53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spc="-1" dirty="0" smtClean="0">
                          <a:solidFill>
                            <a:sysClr val="windowText" lastClr="000000"/>
                          </a:solidFill>
                          <a:latin typeface="+mn-lt"/>
                        </a:rPr>
                        <a:t>Restricted</a:t>
                      </a:r>
                    </a:p>
                  </a:txBody>
                  <a:tcPr marL="53280" marR="53280">
                    <a:lnL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01127"/>
                  </a:ext>
                </a:extLst>
              </a:tr>
            </a:tbl>
          </a:graphicData>
        </a:graphic>
      </p:graphicFrame>
      <p:sp>
        <p:nvSpPr>
          <p:cNvPr id="9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Access configuration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2400" b="1" i="0" u="none" strike="noStrike" kern="1200" cap="none" spc="-1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</a:rPr>
              <a:t>Queues (partitions)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Modular environment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sz="1800" b="0" i="0" u="none" strike="noStrike" kern="120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Scheduler syntax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3405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configuration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DC68D-A8DA-4B37-8084-08DD33DBF835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7"/>
          <p:cNvSpPr/>
          <p:nvPr/>
        </p:nvSpPr>
        <p:spPr>
          <a:xfrm>
            <a:off x="6078960" y="1733400"/>
            <a:ext cx="6003360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sz="1600" spc="-1" dirty="0" smtClean="0">
                <a:solidFill>
                  <a:srgbClr val="000000"/>
                </a:solidFill>
                <a:latin typeface="Arial"/>
              </a:rPr>
              <a:t>On </a:t>
            </a:r>
            <a:r>
              <a:rPr lang="en-US" sz="1600" spc="-1" dirty="0">
                <a:solidFill>
                  <a:srgbClr val="000000"/>
                </a:solidFill>
                <a:latin typeface="Arial"/>
              </a:rPr>
              <a:t>a complex computer system, on which it is necessary to make available a wide choice of software packages in multiple versions, it can be quite difficult to set up the user environment so as to always find the required executables and libraries. </a:t>
            </a:r>
          </a:p>
          <a:p>
            <a:pPr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sz="1600" spc="-1" dirty="0">
                <a:solidFill>
                  <a:srgbClr val="000000"/>
                </a:solidFill>
                <a:latin typeface="Arial"/>
              </a:rPr>
              <a:t>This is particularly true where different implementations or versions use the same names for files.</a:t>
            </a:r>
          </a:p>
          <a:p>
            <a:pPr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sz="1600" spc="-1" dirty="0">
                <a:solidFill>
                  <a:srgbClr val="000000"/>
                </a:solidFill>
                <a:latin typeface="Arial"/>
              </a:rPr>
              <a:t>Environment modules provide a way to selectively activate and deactivate modifications to the user environment which allow particular packages and versions to be found</a:t>
            </a:r>
            <a:r>
              <a:rPr lang="en-US" sz="1600" spc="-1" dirty="0" smtClean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sz="1600" spc="-1" dirty="0">
                <a:solidFill>
                  <a:srgbClr val="000000"/>
                </a:solidFill>
              </a:rPr>
              <a:t>Our modular environment is hierarchical and it has three levels:</a:t>
            </a:r>
          </a:p>
          <a:p>
            <a:pPr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sz="1600" spc="-1" dirty="0" smtClean="0">
                <a:solidFill>
                  <a:srgbClr val="000000"/>
                </a:solidFill>
                <a:latin typeface="Arial"/>
              </a:rPr>
              <a:t>Core, Compiler and MPI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Access configuration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i="0" u="none" strike="noStrike" kern="1200" cap="none" spc="-1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</a:rPr>
              <a:t>Queues (partitions)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z="2400" b="1" spc="-1" dirty="0" smtClean="0">
                <a:solidFill>
                  <a:schemeClr val="tx2"/>
                </a:solidFill>
                <a:latin typeface="Arial"/>
              </a:rPr>
              <a:t>Modular environment</a:t>
            </a:r>
            <a:endParaRPr kumimoji="0" lang="en-US" sz="2400" b="1" i="0" u="none" strike="noStrike" kern="1200" cap="none" spc="-1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Scheduler syntax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967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configuration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DC68D-A8DA-4B37-8084-08DD33DBF835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7"/>
          <p:cNvSpPr/>
          <p:nvPr/>
        </p:nvSpPr>
        <p:spPr>
          <a:xfrm>
            <a:off x="6078960" y="1733400"/>
            <a:ext cx="6003360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sz="1600" b="1" spc="-1" dirty="0" smtClean="0">
                <a:solidFill>
                  <a:schemeClr val="tx2"/>
                </a:solidFill>
                <a:latin typeface="Arial"/>
              </a:rPr>
              <a:t>Useful commands:</a:t>
            </a:r>
            <a:endParaRPr lang="en-US" sz="1600" b="1" spc="-1" dirty="0">
              <a:solidFill>
                <a:schemeClr val="tx2"/>
              </a:solidFill>
              <a:latin typeface="Arial"/>
            </a:endParaRPr>
          </a:p>
        </p:txBody>
      </p:sp>
      <p:graphicFrame>
        <p:nvGraphicFramePr>
          <p:cNvPr id="9" name="Table 8"/>
          <p:cNvGraphicFramePr/>
          <p:nvPr>
            <p:extLst/>
          </p:nvPr>
        </p:nvGraphicFramePr>
        <p:xfrm>
          <a:off x="5713920" y="2017800"/>
          <a:ext cx="6332040" cy="4457520"/>
        </p:xfrm>
        <a:graphic>
          <a:graphicData uri="http://schemas.openxmlformats.org/drawingml/2006/table">
            <a:tbl>
              <a:tblPr/>
              <a:tblGrid>
                <a:gridCol w="236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solidFill>
                            <a:srgbClr val="FFFFFF"/>
                          </a:solidFill>
                          <a:latin typeface="Liberation Sans;Arial"/>
                        </a:rPr>
                        <a:t>Command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0047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solidFill>
                            <a:srgbClr val="FFFFFF"/>
                          </a:solidFill>
                          <a:latin typeface="Liberation Sans;Arial"/>
                        </a:rPr>
                        <a:t>Example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0047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solidFill>
                            <a:srgbClr val="FFFFFF"/>
                          </a:solidFill>
                          <a:latin typeface="Liberation Sans;Arial"/>
                        </a:rPr>
                        <a:t>Description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0047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latin typeface="Liberation Sans;Arial"/>
                        </a:rPr>
                        <a:t>module avail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latin typeface="Liberation Sans;Arial"/>
                        </a:rPr>
                        <a:t>module avail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 dirty="0">
                          <a:latin typeface="Liberation Sans;Arial"/>
                        </a:rPr>
                        <a:t>Lists </a:t>
                      </a:r>
                      <a:r>
                        <a:rPr lang="en-US" sz="1000" b="0" strike="noStrike" spc="-1" dirty="0" smtClean="0">
                          <a:latin typeface="Liberation Sans;Arial"/>
                        </a:rPr>
                        <a:t>available </a:t>
                      </a:r>
                      <a:r>
                        <a:rPr lang="en-US" sz="1000" b="0" strike="noStrike" spc="-1" dirty="0">
                          <a:latin typeface="Liberation Sans;Arial"/>
                        </a:rPr>
                        <a:t>modules in the system.</a:t>
                      </a:r>
                      <a:endParaRPr lang="en-US" sz="10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 dirty="0">
                          <a:latin typeface="Liberation Sans;Arial"/>
                        </a:rPr>
                        <a:t>(D) means default.</a:t>
                      </a:r>
                      <a:endParaRPr lang="en-US" sz="10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 dirty="0">
                          <a:latin typeface="Liberation Sans;Arial"/>
                        </a:rPr>
                        <a:t>(L) means it is already loaded.</a:t>
                      </a:r>
                      <a:endParaRPr lang="en-US" sz="10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 dirty="0">
                          <a:latin typeface="Liberation Sans;Arial"/>
                        </a:rPr>
                        <a:t>Press Q to exit the list at any moment.</a:t>
                      </a:r>
                      <a:endParaRPr lang="en-US" sz="10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latin typeface="Liberation Sans;Arial"/>
                        </a:rPr>
                        <a:t>module list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latin typeface="Liberation Sans;Arial"/>
                        </a:rPr>
                        <a:t>module list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latin typeface="Liberation Sans;Arial"/>
                        </a:rPr>
                        <a:t>List your currently loaded modules.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latin typeface="Liberation Sans;Arial"/>
                        </a:rPr>
                        <a:t>module load module_name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 dirty="0">
                          <a:latin typeface="Liberation Sans;Arial"/>
                        </a:rPr>
                        <a:t>module load </a:t>
                      </a:r>
                      <a:r>
                        <a:rPr lang="en-US" sz="1000" b="0" strike="noStrike" spc="-1" dirty="0" err="1" smtClean="0">
                          <a:latin typeface="Liberation Sans;Arial"/>
                        </a:rPr>
                        <a:t>matlab</a:t>
                      </a:r>
                      <a:r>
                        <a:rPr lang="en-US" sz="1000" b="0" strike="noStrike" spc="-1" dirty="0" smtClean="0">
                          <a:latin typeface="Liberation Sans;Arial"/>
                        </a:rPr>
                        <a:t>/R2021a</a:t>
                      </a:r>
                      <a:endParaRPr lang="en-US" sz="10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latin typeface="Liberation Sans;Arial"/>
                        </a:rPr>
                        <a:t>Loads the module for Matlab version R2019b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latin typeface="Liberation Sans;Arial"/>
                        </a:rPr>
                        <a:t>module show module_name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 dirty="0">
                          <a:latin typeface="Liberation Sans;Arial"/>
                        </a:rPr>
                        <a:t>module show </a:t>
                      </a:r>
                      <a:r>
                        <a:rPr lang="en-US" sz="1000" b="0" strike="noStrike" spc="-1" dirty="0" err="1" smtClean="0">
                          <a:latin typeface="Liberation Sans;Arial"/>
                        </a:rPr>
                        <a:t>matlab</a:t>
                      </a:r>
                      <a:r>
                        <a:rPr lang="en-US" sz="1000" b="0" strike="noStrike" spc="-1" dirty="0" smtClean="0">
                          <a:latin typeface="Liberation Sans;Arial"/>
                        </a:rPr>
                        <a:t>/R2021a</a:t>
                      </a:r>
                      <a:endParaRPr lang="en-US" sz="10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latin typeface="Liberation Sans;Arial"/>
                        </a:rPr>
                        <a:t>Displays information about one or more module files.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7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 dirty="0">
                          <a:latin typeface="Liberation Sans;Arial"/>
                        </a:rPr>
                        <a:t>module </a:t>
                      </a:r>
                      <a:r>
                        <a:rPr lang="en-US" sz="1000" b="0" strike="noStrike" spc="-1" dirty="0" smtClean="0">
                          <a:latin typeface="Liberation Sans;Arial"/>
                        </a:rPr>
                        <a:t>spider string</a:t>
                      </a:r>
                      <a:endParaRPr lang="en-US" sz="10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 dirty="0">
                          <a:latin typeface="Liberation Sans;Arial"/>
                        </a:rPr>
                        <a:t>module </a:t>
                      </a:r>
                      <a:r>
                        <a:rPr lang="en-US" sz="1000" b="0" strike="noStrike" spc="-1" dirty="0" smtClean="0">
                          <a:latin typeface="Liberation Sans;Arial"/>
                        </a:rPr>
                        <a:t>spider </a:t>
                      </a:r>
                      <a:r>
                        <a:rPr lang="en-US" sz="1000" b="0" strike="noStrike" spc="-1" dirty="0" err="1" smtClean="0">
                          <a:latin typeface="Liberation Sans;Arial"/>
                        </a:rPr>
                        <a:t>wrf</a:t>
                      </a:r>
                      <a:endParaRPr lang="en-US" sz="10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 dirty="0" smtClean="0">
                          <a:latin typeface="Liberation Sans;Arial"/>
                        </a:rPr>
                        <a:t>List all module that contain the "string“</a:t>
                      </a:r>
                      <a:r>
                        <a:rPr lang="en-US" sz="1000" b="0" strike="noStrike" spc="-1" baseline="0" dirty="0" smtClean="0">
                          <a:latin typeface="Liberation Sans;Arial"/>
                        </a:rPr>
                        <a:t> w</a:t>
                      </a:r>
                      <a:r>
                        <a:rPr lang="en-US" sz="1000" b="0" strike="noStrike" spc="-1" dirty="0" smtClean="0">
                          <a:latin typeface="Liberation Sans;Arial"/>
                        </a:rPr>
                        <a:t>ith details on how to load</a:t>
                      </a:r>
                      <a:r>
                        <a:rPr lang="en-US" sz="1000" b="0" strike="noStrike" spc="-1" baseline="0" dirty="0" smtClean="0">
                          <a:latin typeface="Liberation Sans;Arial"/>
                        </a:rPr>
                        <a:t> them.</a:t>
                      </a:r>
                      <a:endParaRPr lang="en-US" sz="10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 dirty="0">
                          <a:latin typeface="Liberation Sans;Arial"/>
                        </a:rPr>
                        <a:t>module swap </a:t>
                      </a:r>
                      <a:r>
                        <a:rPr lang="en-US" sz="1000" b="0" strike="noStrike" spc="-1" dirty="0" err="1">
                          <a:latin typeface="Liberation Sans;Arial"/>
                        </a:rPr>
                        <a:t>old_module</a:t>
                      </a:r>
                      <a:r>
                        <a:rPr lang="en-US" sz="1000" b="0" strike="noStrike" spc="-1" dirty="0">
                          <a:latin typeface="Liberation Sans;Arial"/>
                        </a:rPr>
                        <a:t> </a:t>
                      </a:r>
                      <a:r>
                        <a:rPr lang="en-US" sz="1000" b="0" strike="noStrike" spc="-1" dirty="0" err="1">
                          <a:latin typeface="Liberation Sans;Arial"/>
                        </a:rPr>
                        <a:t>new_module</a:t>
                      </a:r>
                      <a:endParaRPr lang="en-US" sz="10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latin typeface="Liberation Sans;Arial"/>
                        </a:rPr>
                        <a:t>module swap python/2.7.3 python/3.6.0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 dirty="0">
                          <a:latin typeface="Liberation Sans;Arial"/>
                        </a:rPr>
                        <a:t>Switches similar/conflicting modules</a:t>
                      </a:r>
                      <a:endParaRPr lang="en-US" sz="10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D6DCE5"/>
                      </a:solidFill>
                    </a:lnL>
                    <a:lnR w="720">
                      <a:solidFill>
                        <a:srgbClr val="D6DCE5"/>
                      </a:solidFill>
                    </a:lnR>
                    <a:lnT w="720">
                      <a:solidFill>
                        <a:srgbClr val="D6DCE5"/>
                      </a:solidFill>
                    </a:lnT>
                    <a:lnB w="72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Access configuration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i="0" u="none" strike="noStrike" kern="1200" cap="none" spc="-1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</a:rPr>
              <a:t>Queues (partitions)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z="2400" b="1" spc="-1" dirty="0" smtClean="0">
                <a:solidFill>
                  <a:schemeClr val="tx2"/>
                </a:solidFill>
                <a:latin typeface="Arial"/>
              </a:rPr>
              <a:t>Modular environment</a:t>
            </a:r>
            <a:endParaRPr kumimoji="0" lang="en-US" sz="2400" b="1" i="0" u="none" strike="noStrike" kern="1200" cap="none" spc="-1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Scheduler syntax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754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configuration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DC68D-A8DA-4B37-8084-08DD33DBF835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7"/>
          <p:cNvSpPr/>
          <p:nvPr/>
        </p:nvSpPr>
        <p:spPr>
          <a:xfrm>
            <a:off x="6078960" y="1733400"/>
            <a:ext cx="6003360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sz="1600" b="1" spc="-1" dirty="0" smtClean="0">
                <a:solidFill>
                  <a:schemeClr val="tx2"/>
                </a:solidFill>
                <a:latin typeface="Arial"/>
              </a:rPr>
              <a:t>Core level:</a:t>
            </a: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>
                <a:solidFill>
                  <a:srgbClr val="000000"/>
                </a:solidFill>
                <a:latin typeface="Arial"/>
                <a:ea typeface="DejaVu Sans"/>
              </a:rPr>
              <a:t>Modules that are not dependent on Compiler or MPI implementation. </a:t>
            </a: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>
                <a:solidFill>
                  <a:srgbClr val="000000"/>
                </a:solidFill>
                <a:latin typeface="Arial"/>
                <a:ea typeface="DejaVu Sans"/>
              </a:rPr>
              <a:t>Most of the installed applications that don’t require to be compiled seats in this level. </a:t>
            </a:r>
            <a:r>
              <a:rPr lang="en-US" spc="-1" dirty="0">
                <a:solidFill>
                  <a:schemeClr val="tx2"/>
                </a:solidFill>
                <a:latin typeface="Arial"/>
                <a:ea typeface="DejaVu Sans"/>
              </a:rPr>
              <a:t>Also the compilers can be found in this level</a:t>
            </a:r>
            <a:r>
              <a:rPr lang="en-US" spc="-1" dirty="0">
                <a:solidFill>
                  <a:srgbClr val="000000"/>
                </a:solidFill>
                <a:latin typeface="Arial"/>
                <a:ea typeface="DejaVu Sans"/>
              </a:rPr>
              <a:t>.</a:t>
            </a: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>
                <a:solidFill>
                  <a:srgbClr val="000000"/>
                </a:solidFill>
                <a:latin typeface="Arial"/>
                <a:ea typeface="DejaVu Sans"/>
              </a:rPr>
              <a:t>This is the only level that is visible for </a:t>
            </a:r>
            <a:r>
              <a:rPr lang="en-US" spc="-1" dirty="0" smtClean="0">
                <a:solidFill>
                  <a:srgbClr val="000000"/>
                </a:solidFill>
                <a:latin typeface="Consolas" panose="020B0609020204030204" pitchFamily="49" charset="0"/>
                <a:ea typeface="DejaVu Sans"/>
              </a:rPr>
              <a:t>module avail  </a:t>
            </a:r>
            <a:r>
              <a:rPr lang="en-US" spc="-1" dirty="0" smtClean="0">
                <a:solidFill>
                  <a:srgbClr val="000000"/>
                </a:solidFill>
                <a:latin typeface="Arial"/>
                <a:ea typeface="DejaVu Sans"/>
              </a:rPr>
              <a:t>command after </a:t>
            </a:r>
            <a:r>
              <a:rPr lang="en-US" spc="-1" dirty="0">
                <a:solidFill>
                  <a:srgbClr val="000000"/>
                </a:solidFill>
                <a:latin typeface="Arial"/>
                <a:ea typeface="DejaVu Sans"/>
              </a:rPr>
              <a:t>logging in the system</a:t>
            </a:r>
            <a:r>
              <a:rPr lang="en-US" spc="-1" dirty="0" smtClean="0">
                <a:solidFill>
                  <a:srgbClr val="000000"/>
                </a:solidFill>
                <a:latin typeface="Arial"/>
                <a:ea typeface="DejaVu Sans"/>
              </a:rPr>
              <a:t>.</a:t>
            </a: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>
                <a:solidFill>
                  <a:srgbClr val="000000"/>
                </a:solidFill>
              </a:rPr>
              <a:t>Only if user loads a module that is a compiler, for example </a:t>
            </a:r>
            <a:r>
              <a:rPr lang="en-US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gcc</a:t>
            </a:r>
            <a:r>
              <a:rPr lang="en-US" spc="-1" dirty="0">
                <a:solidFill>
                  <a:srgbClr val="000000"/>
                </a:solidFill>
                <a:latin typeface="Consolas" panose="020B0609020204030204" pitchFamily="49" charset="0"/>
              </a:rPr>
              <a:t>/9.3</a:t>
            </a:r>
            <a:r>
              <a:rPr lang="en-US" spc="-1" dirty="0">
                <a:solidFill>
                  <a:srgbClr val="000000"/>
                </a:solidFill>
              </a:rPr>
              <a:t> , the next level in the hierarchy </a:t>
            </a:r>
            <a:r>
              <a:rPr lang="en-US" spc="-1" dirty="0" smtClean="0">
                <a:solidFill>
                  <a:srgbClr val="000000"/>
                </a:solidFill>
              </a:rPr>
              <a:t>(Compiler) </a:t>
            </a:r>
            <a:r>
              <a:rPr lang="en-US" spc="-1" dirty="0">
                <a:solidFill>
                  <a:srgbClr val="000000"/>
                </a:solidFill>
              </a:rPr>
              <a:t>will be available and became visible with module </a:t>
            </a:r>
            <a:r>
              <a:rPr lang="en-US" spc="-1" dirty="0" smtClean="0">
                <a:solidFill>
                  <a:srgbClr val="000000"/>
                </a:solidFill>
              </a:rPr>
              <a:t>avail.</a:t>
            </a:r>
            <a:endParaRPr lang="en-US" spc="-1" dirty="0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Access configuration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i="0" u="none" strike="noStrike" kern="1200" cap="none" spc="-1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</a:rPr>
              <a:t>Queues (partitions)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z="2400" b="1" spc="-1" dirty="0" smtClean="0">
                <a:solidFill>
                  <a:schemeClr val="tx2"/>
                </a:solidFill>
                <a:latin typeface="Arial"/>
              </a:rPr>
              <a:t>Modular environment</a:t>
            </a:r>
            <a:endParaRPr kumimoji="0" lang="en-US" sz="2400" b="1" i="0" u="none" strike="noStrike" kern="1200" cap="none" spc="-1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Scheduler syntax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044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configuration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DC68D-A8DA-4B37-8084-08DD33DBF835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Rectangle 7"/>
          <p:cNvSpPr/>
          <p:nvPr/>
        </p:nvSpPr>
        <p:spPr>
          <a:xfrm>
            <a:off x="5812149" y="2145670"/>
            <a:ext cx="6270171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[username@login-3 ~]$ module avail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-------------------------- /apps/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ku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modulefiles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1100" b="1" spc="-1" dirty="0">
                <a:solidFill>
                  <a:schemeClr val="tx2"/>
                </a:solidFill>
                <a:latin typeface="Consolas" panose="020B0609020204030204" pitchFamily="49" charset="0"/>
              </a:rPr>
              <a:t>Core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--------------------------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abaqus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/2019   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cuda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/11.3       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miniconda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/3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abaqus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/2021    (D)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gcc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/9.3         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molpro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/2021.1.0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ansys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/2021R1  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lumerical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/2021R1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starccm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/16.02.009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ansysem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/2021R1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matlab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/R2020b          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comsol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/56     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matlab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/R2021a    (D)</a:t>
            </a:r>
          </a:p>
        </p:txBody>
      </p:sp>
      <p:sp>
        <p:nvSpPr>
          <p:cNvPr id="17" name="CustomShape 7"/>
          <p:cNvSpPr/>
          <p:nvPr/>
        </p:nvSpPr>
        <p:spPr>
          <a:xfrm>
            <a:off x="6078960" y="1733400"/>
            <a:ext cx="6003360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sz="1600" b="1" spc="-1" dirty="0" smtClean="0">
                <a:solidFill>
                  <a:schemeClr val="tx2"/>
                </a:solidFill>
                <a:latin typeface="Arial"/>
              </a:rPr>
              <a:t>Core level:</a:t>
            </a:r>
          </a:p>
        </p:txBody>
      </p:sp>
      <p:sp>
        <p:nvSpPr>
          <p:cNvPr id="1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Access configuration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i="0" u="none" strike="noStrike" kern="1200" cap="none" spc="-1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</a:rPr>
              <a:t>Queues (partitions)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z="2400" b="1" spc="-1" dirty="0" smtClean="0">
                <a:solidFill>
                  <a:schemeClr val="tx2"/>
                </a:solidFill>
                <a:latin typeface="Arial"/>
              </a:rPr>
              <a:t>Modular environment</a:t>
            </a:r>
            <a:endParaRPr kumimoji="0" lang="en-US" sz="2400" b="1" i="0" u="none" strike="noStrike" kern="1200" cap="none" spc="-1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Scheduler syntax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73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configuration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DC68D-A8DA-4B37-8084-08DD33DBF835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7"/>
          <p:cNvSpPr/>
          <p:nvPr/>
        </p:nvSpPr>
        <p:spPr>
          <a:xfrm>
            <a:off x="6078960" y="1733400"/>
            <a:ext cx="6003360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sz="1600" b="1" spc="-1" dirty="0" smtClean="0">
                <a:solidFill>
                  <a:schemeClr val="tx2"/>
                </a:solidFill>
                <a:latin typeface="Arial"/>
              </a:rPr>
              <a:t>Compiler level:</a:t>
            </a: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solidFill>
                  <a:srgbClr val="000000"/>
                </a:solidFill>
              </a:rPr>
              <a:t>This </a:t>
            </a:r>
            <a:r>
              <a:rPr lang="en-US" spc="-1" dirty="0">
                <a:solidFill>
                  <a:srgbClr val="000000"/>
                </a:solidFill>
              </a:rPr>
              <a:t>level becomes available only if the user loads a compiler module, like </a:t>
            </a:r>
            <a:r>
              <a:rPr lang="en-US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gcc</a:t>
            </a:r>
            <a:r>
              <a:rPr lang="en-US" spc="-1" dirty="0">
                <a:solidFill>
                  <a:srgbClr val="000000"/>
                </a:solidFill>
                <a:latin typeface="Consolas" panose="020B0609020204030204" pitchFamily="49" charset="0"/>
              </a:rPr>
              <a:t>/9.3</a:t>
            </a:r>
            <a:r>
              <a:rPr lang="en-US" spc="-1" dirty="0">
                <a:solidFill>
                  <a:srgbClr val="000000"/>
                </a:solidFill>
              </a:rPr>
              <a:t>  from the Core </a:t>
            </a:r>
            <a:r>
              <a:rPr lang="en-US" spc="-1" dirty="0" smtClean="0">
                <a:solidFill>
                  <a:srgbClr val="000000"/>
                </a:solidFill>
              </a:rPr>
              <a:t>level.</a:t>
            </a: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solidFill>
                  <a:srgbClr val="000000"/>
                </a:solidFill>
              </a:rPr>
              <a:t>Then</a:t>
            </a:r>
            <a:r>
              <a:rPr lang="en-US" spc="-1" dirty="0">
                <a:solidFill>
                  <a:srgbClr val="000000"/>
                </a:solidFill>
              </a:rPr>
              <a:t>, all the applications compiled with that compiler (</a:t>
            </a:r>
            <a:r>
              <a:rPr lang="en-US" spc="-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gcc</a:t>
            </a:r>
            <a:r>
              <a:rPr lang="en-US" spc="-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/9.3</a:t>
            </a:r>
            <a:r>
              <a:rPr lang="en-US" spc="-1" dirty="0" smtClean="0">
                <a:solidFill>
                  <a:srgbClr val="000000"/>
                </a:solidFill>
              </a:rPr>
              <a:t>) </a:t>
            </a:r>
            <a:r>
              <a:rPr lang="en-US" spc="-1" dirty="0">
                <a:solidFill>
                  <a:srgbClr val="000000"/>
                </a:solidFill>
              </a:rPr>
              <a:t>that don’t require MPI to be compiled, will be listed here. </a:t>
            </a:r>
            <a:r>
              <a:rPr lang="en-US" spc="-1" dirty="0">
                <a:solidFill>
                  <a:schemeClr val="tx2"/>
                </a:solidFill>
              </a:rPr>
              <a:t>This include MPI implementations</a:t>
            </a:r>
            <a:r>
              <a:rPr lang="en-US" spc="-1" dirty="0">
                <a:solidFill>
                  <a:srgbClr val="000000"/>
                </a:solidFill>
              </a:rPr>
              <a:t> like </a:t>
            </a:r>
            <a:r>
              <a:rPr lang="en-US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openmpi</a:t>
            </a:r>
            <a:r>
              <a:rPr lang="en-US" spc="-1" dirty="0">
                <a:solidFill>
                  <a:srgbClr val="000000"/>
                </a:solidFill>
              </a:rPr>
              <a:t>  or </a:t>
            </a:r>
            <a:r>
              <a:rPr lang="en-US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mvapich</a:t>
            </a:r>
            <a:r>
              <a:rPr lang="en-US" spc="-1" dirty="0">
                <a:solidFill>
                  <a:srgbClr val="000000"/>
                </a:solidFill>
              </a:rPr>
              <a:t>  for example. </a:t>
            </a:r>
            <a:endParaRPr lang="en-US" spc="-1" dirty="0" smtClean="0">
              <a:solidFill>
                <a:srgbClr val="000000"/>
              </a:solidFill>
            </a:endParaRP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solidFill>
                  <a:srgbClr val="000000"/>
                </a:solidFill>
              </a:rPr>
              <a:t>Only </a:t>
            </a:r>
            <a:r>
              <a:rPr lang="en-US" spc="-1" dirty="0">
                <a:solidFill>
                  <a:srgbClr val="000000"/>
                </a:solidFill>
              </a:rPr>
              <a:t>if user loads a module that is an MPI implementation, for example </a:t>
            </a:r>
            <a:r>
              <a:rPr lang="en-US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openmpi</a:t>
            </a:r>
            <a:r>
              <a:rPr lang="en-US" spc="-1" dirty="0">
                <a:solidFill>
                  <a:srgbClr val="000000"/>
                </a:solidFill>
                <a:latin typeface="Consolas" panose="020B0609020204030204" pitchFamily="49" charset="0"/>
              </a:rPr>
              <a:t>/4.0</a:t>
            </a:r>
            <a:r>
              <a:rPr lang="en-US" spc="-1" dirty="0">
                <a:solidFill>
                  <a:srgbClr val="000000"/>
                </a:solidFill>
              </a:rPr>
              <a:t> , the next level in the hierarchy </a:t>
            </a:r>
            <a:r>
              <a:rPr lang="en-US" spc="-1" dirty="0" smtClean="0">
                <a:solidFill>
                  <a:srgbClr val="000000"/>
                </a:solidFill>
              </a:rPr>
              <a:t>(MPI) will </a:t>
            </a:r>
            <a:r>
              <a:rPr lang="en-US" spc="-1" dirty="0">
                <a:solidFill>
                  <a:srgbClr val="000000"/>
                </a:solidFill>
              </a:rPr>
              <a:t>be available and became visible with </a:t>
            </a:r>
            <a:r>
              <a:rPr lang="en-US" spc="-1" dirty="0">
                <a:solidFill>
                  <a:srgbClr val="000000"/>
                </a:solidFill>
                <a:latin typeface="Consolas" panose="020B0609020204030204" pitchFamily="49" charset="0"/>
              </a:rPr>
              <a:t>module avail </a:t>
            </a:r>
            <a:r>
              <a:rPr lang="en-US" spc="-1" dirty="0" smtClean="0">
                <a:solidFill>
                  <a:srgbClr val="000000"/>
                </a:solidFill>
              </a:rPr>
              <a:t>command.</a:t>
            </a:r>
            <a:endParaRPr lang="en-US" spc="-1" dirty="0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Access configuration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i="0" u="none" strike="noStrike" kern="1200" cap="none" spc="-1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</a:rPr>
              <a:t>Queues (partitions)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z="2400" b="1" spc="-1" dirty="0" smtClean="0">
                <a:solidFill>
                  <a:schemeClr val="tx2"/>
                </a:solidFill>
                <a:latin typeface="Arial"/>
              </a:rPr>
              <a:t>Modular environment</a:t>
            </a:r>
            <a:endParaRPr kumimoji="0" lang="en-US" sz="2400" b="1" i="0" u="none" strike="noStrike" kern="1200" cap="none" spc="-1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Scheduler syntax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9468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configuration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DC68D-A8DA-4B37-8084-08DD33DBF835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7"/>
          <p:cNvSpPr/>
          <p:nvPr/>
        </p:nvSpPr>
        <p:spPr>
          <a:xfrm>
            <a:off x="6078960" y="1733400"/>
            <a:ext cx="6003360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sz="1600" b="1" spc="-1" dirty="0" smtClean="0">
                <a:solidFill>
                  <a:schemeClr val="tx2"/>
                </a:solidFill>
                <a:latin typeface="Arial"/>
              </a:rPr>
              <a:t>Compiler level: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2149" y="2145670"/>
            <a:ext cx="6270171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spc="-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username@login-3 ~]$ </a:t>
            </a:r>
            <a:r>
              <a:rPr lang="en-US" sz="1100" b="1" spc="-1" dirty="0">
                <a:solidFill>
                  <a:schemeClr val="tx2"/>
                </a:solidFill>
                <a:latin typeface="Consolas" panose="020B0609020204030204" pitchFamily="49" charset="0"/>
              </a:rPr>
              <a:t>module load </a:t>
            </a:r>
            <a:r>
              <a:rPr lang="en-US" sz="1100" b="1" spc="-1" dirty="0" err="1">
                <a:solidFill>
                  <a:schemeClr val="tx2"/>
                </a:solidFill>
                <a:latin typeface="Consolas" panose="020B0609020204030204" pitchFamily="49" charset="0"/>
              </a:rPr>
              <a:t>gcc</a:t>
            </a:r>
            <a:r>
              <a:rPr lang="en-US" sz="1100" b="1" spc="-1" dirty="0">
                <a:solidFill>
                  <a:schemeClr val="tx2"/>
                </a:solidFill>
                <a:latin typeface="Consolas" panose="020B0609020204030204" pitchFamily="49" charset="0"/>
              </a:rPr>
              <a:t>/9.3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[username@login-3 ~]$ module avail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-------------------- /apps/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ku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modulefiles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1100" b="1" spc="-1" dirty="0">
                <a:solidFill>
                  <a:schemeClr val="tx2"/>
                </a:solidFill>
                <a:latin typeface="Consolas" panose="020B0609020204030204" pitchFamily="49" charset="0"/>
              </a:rPr>
              <a:t>Compiler/</a:t>
            </a:r>
            <a:r>
              <a:rPr lang="en-US" sz="1100" b="1" spc="-1" dirty="0" err="1">
                <a:solidFill>
                  <a:schemeClr val="tx2"/>
                </a:solidFill>
                <a:latin typeface="Consolas" panose="020B0609020204030204" pitchFamily="49" charset="0"/>
              </a:rPr>
              <a:t>gcc</a:t>
            </a:r>
            <a:r>
              <a:rPr lang="en-US" sz="1100" b="1" spc="-1" dirty="0">
                <a:solidFill>
                  <a:schemeClr val="tx2"/>
                </a:solidFill>
                <a:latin typeface="Consolas" panose="020B0609020204030204" pitchFamily="49" charset="0"/>
              </a:rPr>
              <a:t>/9.3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--------------------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hdf5/1.10.6 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libpng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/1.2.12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ucx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/1.8.0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jasper/1.701.0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openblas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/0.3.7    wannier90/3.1.0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libfabric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/1.10.1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openmpi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/4.0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zlib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/1.2.11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-------------------------- /apps/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ku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modulefiles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/Core --------------------------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abaqus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/2019   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cuda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/11.3       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miniconda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/3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abaqus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/2021    (D)    </a:t>
            </a:r>
            <a:r>
              <a:rPr lang="en-US" sz="1100" b="1" spc="-1" dirty="0" err="1">
                <a:solidFill>
                  <a:schemeClr val="tx2"/>
                </a:solidFill>
                <a:latin typeface="Consolas" panose="020B0609020204030204" pitchFamily="49" charset="0"/>
              </a:rPr>
              <a:t>gcc</a:t>
            </a:r>
            <a:r>
              <a:rPr lang="en-US" sz="1100" b="1" spc="-1" dirty="0">
                <a:solidFill>
                  <a:schemeClr val="tx2"/>
                </a:solidFill>
                <a:latin typeface="Consolas" panose="020B0609020204030204" pitchFamily="49" charset="0"/>
              </a:rPr>
              <a:t>/9.3          (L)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molpro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/2021.1.0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ansys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/2021R1  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lumerical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/2021R1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starccm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/16.02.009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ansysem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/2021R1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matlab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/R2020b          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comsol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/56     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matlab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/R2021a    (D)</a:t>
            </a:r>
            <a:endParaRPr lang="en-US" sz="1100" spc="-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100" spc="-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Access configuration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i="0" u="none" strike="noStrike" kern="1200" cap="none" spc="-1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</a:rPr>
              <a:t>Queues (partitions)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z="2400" b="1" spc="-1" dirty="0" smtClean="0">
                <a:solidFill>
                  <a:schemeClr val="tx2"/>
                </a:solidFill>
                <a:latin typeface="Arial"/>
              </a:rPr>
              <a:t>Modular environment</a:t>
            </a:r>
            <a:endParaRPr kumimoji="0" lang="en-US" sz="2400" b="1" i="0" u="none" strike="noStrike" kern="1200" cap="none" spc="-1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Scheduler syntax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197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configuration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DC68D-A8DA-4B37-8084-08DD33DBF835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7"/>
          <p:cNvSpPr/>
          <p:nvPr/>
        </p:nvSpPr>
        <p:spPr>
          <a:xfrm>
            <a:off x="6078960" y="1733400"/>
            <a:ext cx="6003360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sz="1600" b="1" spc="-1" dirty="0" smtClean="0">
                <a:solidFill>
                  <a:schemeClr val="tx2"/>
                </a:solidFill>
                <a:latin typeface="Arial"/>
              </a:rPr>
              <a:t>MPI level:</a:t>
            </a: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solidFill>
                  <a:srgbClr val="000000"/>
                </a:solidFill>
              </a:rPr>
              <a:t>This </a:t>
            </a:r>
            <a:r>
              <a:rPr lang="en-US" spc="-1" dirty="0">
                <a:solidFill>
                  <a:srgbClr val="000000"/>
                </a:solidFill>
              </a:rPr>
              <a:t>level becomes available only if the user loads an MPI implementation module, like </a:t>
            </a:r>
            <a:r>
              <a:rPr lang="en-US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openmpi</a:t>
            </a:r>
            <a:r>
              <a:rPr lang="en-US" spc="-1" dirty="0">
                <a:solidFill>
                  <a:srgbClr val="000000"/>
                </a:solidFill>
                <a:latin typeface="Consolas" panose="020B0609020204030204" pitchFamily="49" charset="0"/>
              </a:rPr>
              <a:t>/4.0</a:t>
            </a:r>
            <a:r>
              <a:rPr lang="en-US" spc="-1" dirty="0">
                <a:solidFill>
                  <a:srgbClr val="000000"/>
                </a:solidFill>
              </a:rPr>
              <a:t>  from the Compiler </a:t>
            </a:r>
            <a:r>
              <a:rPr lang="en-US" spc="-1" dirty="0" smtClean="0">
                <a:solidFill>
                  <a:srgbClr val="000000"/>
                </a:solidFill>
              </a:rPr>
              <a:t>level</a:t>
            </a:r>
            <a:r>
              <a:rPr lang="en-US" spc="-1" dirty="0">
                <a:solidFill>
                  <a:srgbClr val="000000"/>
                </a:solidFill>
              </a:rPr>
              <a:t>. </a:t>
            </a:r>
            <a:endParaRPr lang="en-US" spc="-1" dirty="0" smtClean="0">
              <a:solidFill>
                <a:srgbClr val="000000"/>
              </a:solidFill>
            </a:endParaRP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solidFill>
                  <a:srgbClr val="000000"/>
                </a:solidFill>
              </a:rPr>
              <a:t>Then</a:t>
            </a:r>
            <a:r>
              <a:rPr lang="en-US" spc="-1" dirty="0">
                <a:solidFill>
                  <a:srgbClr val="000000"/>
                </a:solidFill>
              </a:rPr>
              <a:t>, all the applications and libraries compiled with that compiler/MPI pair ( </a:t>
            </a:r>
            <a:r>
              <a:rPr lang="en-US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gcc</a:t>
            </a:r>
            <a:r>
              <a:rPr lang="en-US" spc="-1" dirty="0">
                <a:solidFill>
                  <a:srgbClr val="000000"/>
                </a:solidFill>
                <a:latin typeface="Consolas" panose="020B0609020204030204" pitchFamily="49" charset="0"/>
              </a:rPr>
              <a:t>/9.3</a:t>
            </a:r>
            <a:r>
              <a:rPr lang="en-US" spc="-1" dirty="0">
                <a:solidFill>
                  <a:srgbClr val="000000"/>
                </a:solidFill>
              </a:rPr>
              <a:t>  and </a:t>
            </a:r>
            <a:r>
              <a:rPr lang="en-US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openmpi</a:t>
            </a:r>
            <a:r>
              <a:rPr lang="en-US" spc="-1" dirty="0">
                <a:solidFill>
                  <a:srgbClr val="000000"/>
                </a:solidFill>
                <a:latin typeface="Consolas" panose="020B0609020204030204" pitchFamily="49" charset="0"/>
              </a:rPr>
              <a:t>/4.0</a:t>
            </a:r>
            <a:r>
              <a:rPr lang="en-US" spc="-1" dirty="0">
                <a:solidFill>
                  <a:srgbClr val="000000"/>
                </a:solidFill>
              </a:rPr>
              <a:t>  will be listed here.</a:t>
            </a:r>
            <a:endParaRPr lang="en-US" spc="-1" dirty="0" smtClean="0">
              <a:solidFill>
                <a:srgbClr val="000000"/>
              </a:solidFill>
            </a:endParaRP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</p:txBody>
      </p:sp>
      <p:sp>
        <p:nvSpPr>
          <p:cNvPr id="1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Access configuration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i="0" u="none" strike="noStrike" kern="1200" cap="none" spc="-1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</a:rPr>
              <a:t>Queues (partitions)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z="2400" b="1" spc="-1" dirty="0" smtClean="0">
                <a:solidFill>
                  <a:schemeClr val="tx2"/>
                </a:solidFill>
                <a:latin typeface="Arial"/>
              </a:rPr>
              <a:t>Modular environment</a:t>
            </a:r>
            <a:endParaRPr kumimoji="0" lang="en-US" sz="2400" b="1" i="0" u="none" strike="noStrike" kern="1200" cap="none" spc="-1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Scheduler syntax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528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configuration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DC68D-A8DA-4B37-8084-08DD33DBF835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7"/>
          <p:cNvSpPr/>
          <p:nvPr/>
        </p:nvSpPr>
        <p:spPr>
          <a:xfrm>
            <a:off x="6078960" y="1733400"/>
            <a:ext cx="6003360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sz="1600" b="1" spc="-1" dirty="0" smtClean="0">
                <a:solidFill>
                  <a:schemeClr val="tx2"/>
                </a:solidFill>
                <a:latin typeface="Arial"/>
              </a:rPr>
              <a:t>MPI level:</a:t>
            </a: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12149" y="2145670"/>
            <a:ext cx="6270171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spc="-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username@login-3 ~]$ </a:t>
            </a:r>
            <a:r>
              <a:rPr lang="en-US" sz="1100" b="1" spc="-1" dirty="0">
                <a:solidFill>
                  <a:schemeClr val="tx2"/>
                </a:solidFill>
                <a:latin typeface="Consolas" panose="020B0609020204030204" pitchFamily="49" charset="0"/>
              </a:rPr>
              <a:t>module load </a:t>
            </a:r>
            <a:r>
              <a:rPr lang="en-US" sz="1100" b="1" spc="-1" dirty="0" err="1">
                <a:solidFill>
                  <a:schemeClr val="tx2"/>
                </a:solidFill>
                <a:latin typeface="Consolas" panose="020B0609020204030204" pitchFamily="49" charset="0"/>
              </a:rPr>
              <a:t>openmpi</a:t>
            </a:r>
            <a:r>
              <a:rPr lang="en-US" sz="1100" b="1" spc="-1" dirty="0">
                <a:solidFill>
                  <a:schemeClr val="tx2"/>
                </a:solidFill>
                <a:latin typeface="Consolas" panose="020B0609020204030204" pitchFamily="49" charset="0"/>
              </a:rPr>
              <a:t>/4.0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[username@login-3 ~]$ module avail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---------------- /apps/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ku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modulefiles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1100" b="1" spc="-1" dirty="0">
                <a:solidFill>
                  <a:schemeClr val="tx2"/>
                </a:solidFill>
                <a:latin typeface="Consolas" panose="020B0609020204030204" pitchFamily="49" charset="0"/>
              </a:rPr>
              <a:t>MPI/</a:t>
            </a:r>
            <a:r>
              <a:rPr lang="en-US" sz="1100" b="1" spc="-1" dirty="0" err="1">
                <a:solidFill>
                  <a:schemeClr val="tx2"/>
                </a:solidFill>
                <a:latin typeface="Consolas" panose="020B0609020204030204" pitchFamily="49" charset="0"/>
              </a:rPr>
              <a:t>gcc</a:t>
            </a:r>
            <a:r>
              <a:rPr lang="en-US" sz="1100" b="1" spc="-1" dirty="0">
                <a:solidFill>
                  <a:schemeClr val="tx2"/>
                </a:solidFill>
                <a:latin typeface="Consolas" panose="020B0609020204030204" pitchFamily="49" charset="0"/>
              </a:rPr>
              <a:t>/9.3/</a:t>
            </a:r>
            <a:r>
              <a:rPr lang="en-US" sz="1100" b="1" spc="-1" dirty="0" err="1">
                <a:solidFill>
                  <a:schemeClr val="tx2"/>
                </a:solidFill>
                <a:latin typeface="Consolas" panose="020B0609020204030204" pitchFamily="49" charset="0"/>
              </a:rPr>
              <a:t>openmpi</a:t>
            </a:r>
            <a:r>
              <a:rPr lang="en-US" sz="1100" b="1" spc="-1" dirty="0">
                <a:solidFill>
                  <a:schemeClr val="tx2"/>
                </a:solidFill>
                <a:latin typeface="Consolas" panose="020B0609020204030204" pitchFamily="49" charset="0"/>
              </a:rPr>
              <a:t>/4.0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-----------------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elpa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/2021.05.001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netcdf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/4.7.3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vasp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/6.2.0-wannier90-3.1.0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fftw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/3.3.8              phdf5/1.10.6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wps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/4.0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lammps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/29Oct2020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pnetcdf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/1.12.1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wrf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/4.0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netcdf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-cxx/4.3.1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qe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/6.7.0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netcdf-fortran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/4.5.2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scalapack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/2.1.0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-------------------- /apps/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ku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modulefiles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/Compiler/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gcc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/9.3 --------------------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hdf5/1.10.6 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libpng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/1.2.12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ucx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/1.8.0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jasper/1.701.0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openblas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/0.3.7    wannier90/3.1.0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libfabric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/1.10.1    </a:t>
            </a:r>
            <a:r>
              <a:rPr lang="en-US" sz="1100" b="1" spc="-1" dirty="0" err="1">
                <a:solidFill>
                  <a:schemeClr val="tx2"/>
                </a:solidFill>
                <a:latin typeface="Consolas" panose="020B0609020204030204" pitchFamily="49" charset="0"/>
              </a:rPr>
              <a:t>openmpi</a:t>
            </a:r>
            <a:r>
              <a:rPr lang="en-US" sz="1100" b="1" spc="-1" dirty="0">
                <a:solidFill>
                  <a:schemeClr val="tx2"/>
                </a:solidFill>
                <a:latin typeface="Consolas" panose="020B0609020204030204" pitchFamily="49" charset="0"/>
              </a:rPr>
              <a:t>/4.0  (L)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zlib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/1.2.11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-------------------------- /apps/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ku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modulefiles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/Core --------------------------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abaqus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/2019   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cuda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/11.3       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miniconda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/3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abaqus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/2021    (D)    </a:t>
            </a:r>
            <a:r>
              <a:rPr lang="en-US" sz="1100" b="1" spc="-1" dirty="0" err="1">
                <a:solidFill>
                  <a:schemeClr val="tx2"/>
                </a:solidFill>
                <a:latin typeface="Consolas" panose="020B0609020204030204" pitchFamily="49" charset="0"/>
              </a:rPr>
              <a:t>gcc</a:t>
            </a:r>
            <a:r>
              <a:rPr lang="en-US" sz="1100" b="1" spc="-1" dirty="0">
                <a:solidFill>
                  <a:schemeClr val="tx2"/>
                </a:solidFill>
                <a:latin typeface="Consolas" panose="020B0609020204030204" pitchFamily="49" charset="0"/>
              </a:rPr>
              <a:t>/9.3          (L)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molpro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/2021.1.0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ansys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/2021R1  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lumerical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/2021R1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starccm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/16.02.009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ansysem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/2021R1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matlab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/R2020b          </a:t>
            </a:r>
          </a:p>
          <a:p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comsol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/56             </a:t>
            </a:r>
            <a:r>
              <a:rPr lang="en-US" sz="11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matlab</a:t>
            </a:r>
            <a:r>
              <a:rPr lang="en-US" sz="1100" spc="-1" dirty="0">
                <a:solidFill>
                  <a:srgbClr val="000000"/>
                </a:solidFill>
                <a:latin typeface="Consolas" panose="020B0609020204030204" pitchFamily="49" charset="0"/>
              </a:rPr>
              <a:t>/R2021a    (D)</a:t>
            </a:r>
          </a:p>
        </p:txBody>
      </p:sp>
      <p:sp>
        <p:nvSpPr>
          <p:cNvPr id="1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Access configuration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i="0" u="none" strike="noStrike" kern="1200" cap="none" spc="-1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</a:rPr>
              <a:t>Queues (partitions)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z="2400" b="1" spc="-1" dirty="0" smtClean="0">
                <a:solidFill>
                  <a:schemeClr val="tx2"/>
                </a:solidFill>
                <a:latin typeface="Arial"/>
              </a:rPr>
              <a:t>Modular environment</a:t>
            </a:r>
            <a:endParaRPr kumimoji="0" lang="en-US" sz="2400" b="1" i="0" u="none" strike="noStrike" kern="1200" cap="none" spc="-1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Scheduler syntax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952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configuration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DC68D-A8DA-4B37-8084-08DD33DBF835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5577840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7"/>
          <p:cNvSpPr/>
          <p:nvPr/>
        </p:nvSpPr>
        <p:spPr>
          <a:xfrm>
            <a:off x="6078960" y="1307700"/>
            <a:ext cx="6003360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sz="1600" b="1" spc="-1" dirty="0" smtClean="0">
                <a:solidFill>
                  <a:schemeClr val="tx2"/>
                </a:solidFill>
                <a:latin typeface="Arial"/>
              </a:rPr>
              <a:t>Job submission contro</a:t>
            </a:r>
            <a:r>
              <a:rPr lang="en-US" sz="1600" b="1" spc="-1" dirty="0">
                <a:solidFill>
                  <a:schemeClr val="tx2"/>
                </a:solidFill>
                <a:latin typeface="Arial"/>
              </a:rPr>
              <a:t>l</a:t>
            </a:r>
            <a:endParaRPr lang="en-US" sz="1600" b="1" spc="-1" dirty="0" smtClean="0">
              <a:solidFill>
                <a:schemeClr val="tx2"/>
              </a:solidFill>
              <a:latin typeface="Arial"/>
            </a:endParaRP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</p:txBody>
      </p:sp>
      <p:graphicFrame>
        <p:nvGraphicFramePr>
          <p:cNvPr id="9" name="Table 8"/>
          <p:cNvGraphicFramePr/>
          <p:nvPr>
            <p:extLst/>
          </p:nvPr>
        </p:nvGraphicFramePr>
        <p:xfrm>
          <a:off x="5958291" y="1743840"/>
          <a:ext cx="5943600" cy="4103460"/>
        </p:xfrm>
        <a:graphic>
          <a:graphicData uri="http://schemas.openxmlformats.org/drawingml/2006/table">
            <a:tbl>
              <a:tblPr/>
              <a:tblGrid>
                <a:gridCol w="1019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5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Command</a:t>
                      </a:r>
                      <a:endParaRPr lang="en-US" sz="13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38160">
                      <a:solidFill>
                        <a:srgbClr val="D6DCE5"/>
                      </a:solidFill>
                    </a:lnB>
                    <a:solidFill>
                      <a:srgbClr val="0047B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38160">
                      <a:solidFill>
                        <a:srgbClr val="D6DCE5"/>
                      </a:solidFill>
                    </a:lnB>
                    <a:solidFill>
                      <a:srgbClr val="0047B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  <a:endParaRPr lang="en-US" sz="13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38160">
                      <a:solidFill>
                        <a:srgbClr val="D6DCE5"/>
                      </a:solidFill>
                    </a:lnB>
                    <a:solidFill>
                      <a:srgbClr val="0047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salloc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3816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salloc</a:t>
                      </a:r>
                      <a:r>
                        <a:rPr lang="en-US" sz="1050" b="0" strike="noStrike" spc="-1" baseline="0" dirty="0" smtClean="0">
                          <a:solidFill>
                            <a:srgbClr val="000000"/>
                          </a:solidFill>
                          <a:latin typeface="Arial"/>
                        </a:rPr>
                        <a:t> -n 1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3816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Obtain</a:t>
                      </a:r>
                      <a:r>
                        <a:rPr lang="en-US" sz="1050" b="0" strike="noStrike" spc="-1" baseline="0" dirty="0" smtClean="0">
                          <a:solidFill>
                            <a:srgbClr val="000000"/>
                          </a:solidFill>
                          <a:latin typeface="Arial"/>
                        </a:rPr>
                        <a:t> a job allocation.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3816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latin typeface="Arial"/>
                        </a:rPr>
                        <a:t>sbatch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latin typeface="Arial"/>
                        </a:rPr>
                        <a:t>sbatch</a:t>
                      </a:r>
                      <a:r>
                        <a:rPr lang="en-US" sz="1050" b="0" strike="noStrike" spc="-1" dirty="0" smtClean="0">
                          <a:latin typeface="Arial"/>
                        </a:rPr>
                        <a:t> my_script.sh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Arial"/>
                        </a:rPr>
                        <a:t>Submit a batch script for later execution.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040763"/>
                  </a:ext>
                </a:extLst>
              </a:tr>
              <a:tr h="289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latin typeface="Arial"/>
                        </a:rPr>
                        <a:t>srun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latin typeface="Arial"/>
                        </a:rPr>
                        <a:t>srun</a:t>
                      </a:r>
                      <a:r>
                        <a:rPr lang="en-US" sz="1050" b="0" strike="noStrike" spc="-1" dirty="0" smtClean="0">
                          <a:latin typeface="Arial"/>
                        </a:rPr>
                        <a:t> -n 1 executable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If run from command line directly, </a:t>
                      </a:r>
                      <a:r>
                        <a:rPr lang="en-US" sz="1050" b="0" strike="noStrike" spc="-1" dirty="0" err="1" smtClean="0">
                          <a:latin typeface="+mn-lt"/>
                        </a:rPr>
                        <a:t>srun</a:t>
                      </a:r>
                      <a:r>
                        <a:rPr lang="en-US" sz="1050" b="0" strike="noStrike" spc="-1" dirty="0" smtClean="0">
                          <a:latin typeface="+mn-lt"/>
                        </a:rPr>
                        <a:t> will first create a resource allocation in which to run the parallel job.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latin typeface="+mn-lt"/>
                        </a:rPr>
                        <a:t>srun</a:t>
                      </a:r>
                      <a:r>
                        <a:rPr lang="en-US" sz="1050" b="0" strike="noStrike" spc="-1" dirty="0" smtClean="0">
                          <a:latin typeface="+mn-lt"/>
                        </a:rPr>
                        <a:t> can be run from within </a:t>
                      </a:r>
                      <a:r>
                        <a:rPr lang="en-US" sz="1050" b="0" strike="noStrike" spc="-1" dirty="0" err="1" smtClean="0">
                          <a:latin typeface="+mn-lt"/>
                        </a:rPr>
                        <a:t>sbatch</a:t>
                      </a:r>
                      <a:r>
                        <a:rPr lang="en-US" sz="1050" b="0" strike="noStrike" spc="-1" dirty="0" smtClean="0">
                          <a:latin typeface="+mn-lt"/>
                        </a:rPr>
                        <a:t> script or </a:t>
                      </a:r>
                      <a:r>
                        <a:rPr lang="en-US" sz="1050" b="0" strike="noStrike" spc="-1" dirty="0" err="1" smtClean="0">
                          <a:latin typeface="+mn-lt"/>
                        </a:rPr>
                        <a:t>salloc</a:t>
                      </a:r>
                      <a:r>
                        <a:rPr lang="en-US" sz="1050" b="0" strike="noStrike" spc="-1" dirty="0" smtClean="0">
                          <a:latin typeface="+mn-lt"/>
                        </a:rPr>
                        <a:t> shell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937698"/>
                  </a:ext>
                </a:extLst>
              </a:tr>
              <a:tr h="4878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sinfo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>
                      <a:solidFill>
                        <a:srgbClr val="D6DCE5"/>
                      </a:solidFill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latin typeface="Arial"/>
                        </a:rPr>
                        <a:t>sinfo</a:t>
                      </a:r>
                      <a:r>
                        <a:rPr lang="en-US" sz="1050" b="0" strike="noStrike" spc="-1" dirty="0" smtClean="0">
                          <a:latin typeface="Arial"/>
                        </a:rPr>
                        <a:t> -p prod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Display</a:t>
                      </a:r>
                      <a:r>
                        <a:rPr lang="en-US" sz="1050" b="0" strike="noStrike" spc="-1" baseline="0" dirty="0" smtClean="0">
                          <a:solidFill>
                            <a:srgbClr val="000000"/>
                          </a:solidFill>
                          <a:latin typeface="Arial"/>
                        </a:rPr>
                        <a:t> partition information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800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3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latin typeface="Arial"/>
                        </a:rPr>
                        <a:t>sinfo</a:t>
                      </a:r>
                      <a:r>
                        <a:rPr lang="en-US" sz="1050" b="0" strike="noStrike" spc="-1" dirty="0" smtClean="0">
                          <a:latin typeface="Arial"/>
                        </a:rPr>
                        <a:t> -N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Display node</a:t>
                      </a:r>
                      <a:r>
                        <a:rPr lang="en-US" sz="1050" b="0" strike="noStrike" spc="-1" baseline="0" dirty="0" smtClean="0">
                          <a:solidFill>
                            <a:srgbClr val="000000"/>
                          </a:solidFill>
                          <a:latin typeface="Arial"/>
                        </a:rPr>
                        <a:t>s information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latin typeface="Arial"/>
                        </a:rPr>
                        <a:t>squeue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latin typeface="Arial"/>
                        </a:rPr>
                        <a:t>squeue</a:t>
                      </a:r>
                      <a:r>
                        <a:rPr lang="en-US" sz="1050" b="0" strike="noStrike" spc="-1" dirty="0" smtClean="0">
                          <a:latin typeface="Arial"/>
                        </a:rPr>
                        <a:t> -p prod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Arial"/>
                        </a:rPr>
                        <a:t>Display information about jobs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496721"/>
                  </a:ext>
                </a:extLst>
              </a:tr>
              <a:tr h="289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solidFill>
                            <a:srgbClr val="000000"/>
                          </a:solidFill>
                          <a:latin typeface="+mn-lt"/>
                        </a:rPr>
                        <a:t>scontrol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latin typeface="+mn-lt"/>
                        </a:rPr>
                        <a:t>scontrol</a:t>
                      </a:r>
                      <a:r>
                        <a:rPr lang="en-US" sz="1050" b="0" strike="noStrike" spc="-1" dirty="0" smtClean="0">
                          <a:latin typeface="+mn-lt"/>
                        </a:rPr>
                        <a:t> show job 3420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Arial"/>
                        </a:rPr>
                        <a:t>Show</a:t>
                      </a:r>
                      <a:r>
                        <a:rPr lang="en-US" sz="1050" b="0" strike="noStrike" spc="-1" baseline="0" dirty="0" smtClean="0">
                          <a:latin typeface="Arial"/>
                        </a:rPr>
                        <a:t> active job details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sacct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latin typeface="+mn-lt"/>
                        </a:rPr>
                        <a:t>sacct</a:t>
                      </a:r>
                      <a:r>
                        <a:rPr lang="en-US" sz="1050" b="0" strike="noStrike" spc="-1" dirty="0" smtClean="0">
                          <a:latin typeface="+mn-lt"/>
                        </a:rPr>
                        <a:t> -j 3420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Show accounting information about active and completed jobs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latin typeface="Arial"/>
                        </a:rPr>
                        <a:t>scancel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6DCE5"/>
                      </a:solidFill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latin typeface="Arial"/>
                        </a:rPr>
                        <a:t>scancel</a:t>
                      </a:r>
                      <a:r>
                        <a:rPr lang="en-US" sz="1050" b="0" strike="noStrike" spc="-1" dirty="0" smtClean="0">
                          <a:latin typeface="Arial"/>
                        </a:rPr>
                        <a:t> </a:t>
                      </a:r>
                      <a:r>
                        <a:rPr lang="en-US" sz="1050" b="0" strike="noStrike" spc="-1" dirty="0" smtClean="0">
                          <a:latin typeface="+mn-lt"/>
                        </a:rPr>
                        <a:t>3420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+mn-lt"/>
                        </a:rPr>
                        <a:t>Send a signal to kill the job</a:t>
                      </a:r>
                      <a:endParaRPr lang="en-US" sz="1050" b="0" strike="noStrike" spc="-1" dirty="0" smtClean="0">
                        <a:latin typeface="+mn-lt"/>
                      </a:endParaRPr>
                    </a:p>
                  </a:txBody>
                  <a:tcPr anchor="ctr"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538826"/>
                  </a:ext>
                </a:extLst>
              </a:tr>
            </a:tbl>
          </a:graphicData>
        </a:graphic>
      </p:graphicFrame>
      <p:sp>
        <p:nvSpPr>
          <p:cNvPr id="10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Access configuration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i="0" u="none" strike="noStrike" kern="1200" cap="none" spc="-1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</a:rPr>
              <a:t>Queues (partitions)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latin typeface="Arial"/>
              </a:rPr>
              <a:t>Modular environment</a:t>
            </a:r>
            <a:endParaRPr kumimoji="0" lang="en-US" i="0" u="none" strike="noStrike" kern="1200" cap="none" spc="-1" normalizeH="0" baseline="0" noProof="0" dirty="0">
              <a:ln>
                <a:noFill/>
              </a:ln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z="2400" b="1" spc="-1" dirty="0" smtClean="0">
                <a:solidFill>
                  <a:schemeClr val="tx2"/>
                </a:solidFill>
                <a:latin typeface="Arial"/>
              </a:rPr>
              <a:t>Scheduler syntax</a:t>
            </a:r>
            <a:endParaRPr kumimoji="0" lang="en-US" sz="2400" b="1" i="0" u="none" strike="noStrike" kern="1200" cap="none" spc="-1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3043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5" normalizeH="0" baseline="0" noProof="0" dirty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Almesbar configuration</a:t>
            </a:r>
            <a:endParaRPr kumimoji="0" lang="en-US" sz="3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15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/>
                <a:ea typeface="DejaVu Sans"/>
              </a:rPr>
              <a:t>Research Computing Department</a:t>
            </a:r>
            <a:endParaRPr kumimoji="0" lang="en-US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DC68D-A8DA-4B37-8084-08DD33DBF835}" type="slidenum">
              <a:rPr kumimoji="0" lang="en-US" sz="850" b="0" i="0" u="none" strike="noStrike" kern="1200" cap="none" spc="-1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/>
                <a:ea typeface="DejaVu San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85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1" name="Line 6"/>
          <p:cNvSpPr/>
          <p:nvPr/>
        </p:nvSpPr>
        <p:spPr>
          <a:xfrm>
            <a:off x="3687494" y="1554480"/>
            <a:ext cx="0" cy="466344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7"/>
          <p:cNvSpPr/>
          <p:nvPr/>
        </p:nvSpPr>
        <p:spPr>
          <a:xfrm>
            <a:off x="7177999" y="991544"/>
            <a:ext cx="2300109" cy="3201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sz="1600" b="1" spc="-1" dirty="0" smtClean="0">
                <a:solidFill>
                  <a:schemeClr val="tx2"/>
                </a:solidFill>
                <a:latin typeface="Arial"/>
              </a:rPr>
              <a:t>Configuring a job</a:t>
            </a: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182880" indent="-178920">
              <a:spcBef>
                <a:spcPts val="1585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</p:txBody>
      </p:sp>
      <p:graphicFrame>
        <p:nvGraphicFramePr>
          <p:cNvPr id="10" name="Table 8"/>
          <p:cNvGraphicFramePr/>
          <p:nvPr>
            <p:extLst/>
          </p:nvPr>
        </p:nvGraphicFramePr>
        <p:xfrm>
          <a:off x="3903784" y="1343160"/>
          <a:ext cx="8022101" cy="5438880"/>
        </p:xfrm>
        <a:graphic>
          <a:graphicData uri="http://schemas.openxmlformats.org/drawingml/2006/table">
            <a:tbl>
              <a:tblPr/>
              <a:tblGrid>
                <a:gridCol w="1788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2284">
                  <a:extLst>
                    <a:ext uri="{9D8B030D-6E8A-4147-A177-3AD203B41FA5}">
                      <a16:colId xmlns:a16="http://schemas.microsoft.com/office/drawing/2014/main" val="2253460062"/>
                    </a:ext>
                  </a:extLst>
                </a:gridCol>
                <a:gridCol w="4390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  <a:endParaRPr lang="en-US" sz="12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38160">
                      <a:solidFill>
                        <a:srgbClr val="D6DCE5"/>
                      </a:solidFill>
                    </a:lnB>
                    <a:solidFill>
                      <a:srgbClr val="0047B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kern="1200" spc="-1" dirty="0" smtClean="0">
                          <a:solidFill>
                            <a:srgbClr val="FFFFFF"/>
                          </a:solidFill>
                          <a:latin typeface="Arial"/>
                          <a:ea typeface="+mn-ea"/>
                          <a:cs typeface="+mn-cs"/>
                        </a:rPr>
                        <a:t>Example</a:t>
                      </a:r>
                      <a:endParaRPr lang="en-US" sz="1200" b="1" strike="noStrike" kern="1200" spc="-1" dirty="0">
                        <a:solidFill>
                          <a:srgbClr val="FFFFFF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3816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  <a:endParaRPr lang="en-US" sz="12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38160">
                      <a:solidFill>
                        <a:srgbClr val="D6DCE5"/>
                      </a:solidFill>
                    </a:lnB>
                    <a:solidFill>
                      <a:srgbClr val="0047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#SBATCH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3816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3816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Scheduler</a:t>
                      </a:r>
                      <a:r>
                        <a:rPr lang="en-US" sz="1050" b="0" strike="noStrike" spc="-1" baseline="0" dirty="0" smtClean="0">
                          <a:solidFill>
                            <a:srgbClr val="000000"/>
                          </a:solidFill>
                          <a:latin typeface="Arial"/>
                        </a:rPr>
                        <a:t> directive to be used on job configuration scripts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3816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--nodes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--nodes=2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Will request tasks be run across 2 nodes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057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</a:t>
                      </a:r>
                      <a:r>
                        <a:rPr lang="en-US" sz="1050" b="0" strike="noStrike" spc="-1" dirty="0" err="1" smtClean="0">
                          <a:latin typeface="+mn-lt"/>
                        </a:rPr>
                        <a:t>ntasks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</a:t>
                      </a:r>
                      <a:r>
                        <a:rPr lang="en-US" sz="1050" b="0" strike="noStrike" spc="-1" dirty="0" err="1" smtClean="0">
                          <a:latin typeface="+mn-lt"/>
                        </a:rPr>
                        <a:t>ntasks</a:t>
                      </a:r>
                      <a:r>
                        <a:rPr lang="en-US" sz="1050" b="0" strike="noStrike" spc="-1" dirty="0" smtClean="0">
                          <a:latin typeface="+mn-lt"/>
                        </a:rPr>
                        <a:t>=2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Will start 2 MPI tasks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4112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</a:t>
                      </a:r>
                      <a:r>
                        <a:rPr lang="en-US" sz="1050" b="0" strike="noStrike" spc="-1" dirty="0" err="1" smtClean="0">
                          <a:latin typeface="+mn-lt"/>
                        </a:rPr>
                        <a:t>ntasks</a:t>
                      </a:r>
                      <a:r>
                        <a:rPr lang="en-US" sz="1050" b="0" strike="noStrike" spc="-1" dirty="0" smtClean="0">
                          <a:latin typeface="+mn-lt"/>
                        </a:rPr>
                        <a:t>-per-node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</a:t>
                      </a:r>
                      <a:r>
                        <a:rPr lang="en-US" sz="1050" b="0" strike="noStrike" spc="-1" dirty="0" err="1" smtClean="0">
                          <a:latin typeface="+mn-lt"/>
                        </a:rPr>
                        <a:t>ntasks</a:t>
                      </a:r>
                      <a:r>
                        <a:rPr lang="en-US" sz="1050" b="0" strike="noStrike" spc="-1" dirty="0" smtClean="0">
                          <a:latin typeface="+mn-lt"/>
                        </a:rPr>
                        <a:t>-per-node=1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Will start 1 task per requested node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0304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</a:t>
                      </a:r>
                      <a:r>
                        <a:rPr lang="en-US" sz="1050" b="0" strike="noStrike" spc="-1" dirty="0" err="1" smtClean="0">
                          <a:latin typeface="+mn-lt"/>
                        </a:rPr>
                        <a:t>cpus</a:t>
                      </a:r>
                      <a:r>
                        <a:rPr lang="en-US" sz="1050" b="0" strike="noStrike" spc="-1" dirty="0" smtClean="0">
                          <a:latin typeface="+mn-lt"/>
                        </a:rPr>
                        <a:t>-per-task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</a:t>
                      </a:r>
                      <a:r>
                        <a:rPr lang="en-US" sz="1050" b="0" strike="noStrike" spc="-1" dirty="0" err="1" smtClean="0">
                          <a:latin typeface="+mn-lt"/>
                        </a:rPr>
                        <a:t>cpus</a:t>
                      </a:r>
                      <a:r>
                        <a:rPr lang="en-US" sz="1050" b="0" strike="noStrike" spc="-1" dirty="0" smtClean="0">
                          <a:latin typeface="+mn-lt"/>
                        </a:rPr>
                        <a:t>-per-task=10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Arial"/>
                        </a:rPr>
                        <a:t>Will request</a:t>
                      </a:r>
                      <a:r>
                        <a:rPr lang="en-US" sz="1050" b="0" strike="noStrike" spc="-1" baseline="0" dirty="0" smtClean="0">
                          <a:latin typeface="Arial"/>
                        </a:rPr>
                        <a:t> 10 cores per task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0569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--account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--account=</a:t>
                      </a:r>
                      <a:r>
                        <a:rPr lang="en-US" sz="1050" b="0" strike="noStrike" spc="-1" dirty="0" err="1" smtClean="0">
                          <a:latin typeface="+mn-lt"/>
                        </a:rPr>
                        <a:t>project_name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The project your core hours will be 'charged' to.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645699"/>
                  </a:ext>
                </a:extLst>
              </a:tr>
              <a:tr h="456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--partition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--partition=prod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Submits job the specified </a:t>
                      </a: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partition. </a:t>
                      </a:r>
                      <a:r>
                        <a:rPr lang="en-US" sz="105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On </a:t>
                      </a: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Almesbar HPC cluster, </a:t>
                      </a:r>
                      <a:r>
                        <a:rPr lang="en-US" sz="105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the default queue is </a:t>
                      </a: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“prod"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--output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--output=</a:t>
                      </a:r>
                      <a:r>
                        <a:rPr lang="en-US" sz="1050" b="0" strike="noStrike" spc="-1" dirty="0" err="1" smtClean="0">
                          <a:latin typeface="+mn-lt"/>
                        </a:rPr>
                        <a:t>file_name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Writes job output to </a:t>
                      </a: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“</a:t>
                      </a:r>
                      <a:r>
                        <a:rPr lang="en-US" sz="1050" b="0" strike="noStrike" spc="-1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file_name</a:t>
                      </a: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”, %j </a:t>
                      </a:r>
                      <a:r>
                        <a:rPr lang="en-US" sz="105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can be used to include the JOBID, e.g. result</a:t>
                      </a: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.%</a:t>
                      </a:r>
                      <a:r>
                        <a:rPr lang="en-US" sz="1050" b="0" strike="noStrike" spc="-1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j.out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--error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--output=</a:t>
                      </a:r>
                      <a:r>
                        <a:rPr lang="en-US" sz="1050" b="0" strike="noStrike" spc="-1" dirty="0" err="1" smtClean="0">
                          <a:latin typeface="+mn-lt"/>
                        </a:rPr>
                        <a:t>file_name</a:t>
                      </a:r>
                      <a:endParaRPr lang="en-US" sz="1050" b="0" strike="noStrike" spc="-1" dirty="0" smtClean="0">
                        <a:latin typeface="+mn-lt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Writes job errors to </a:t>
                      </a: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“</a:t>
                      </a:r>
                      <a:r>
                        <a:rPr lang="en-US" sz="1050" b="0" strike="noStrike" spc="-1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file_name</a:t>
                      </a: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”, %j </a:t>
                      </a:r>
                      <a:r>
                        <a:rPr lang="en-US" sz="105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can be used to include the JOBID, e.g. result</a:t>
                      </a: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.%</a:t>
                      </a:r>
                      <a:r>
                        <a:rPr lang="en-US" sz="1050" b="0" strike="noStrike" spc="-1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j.err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--job-name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--job-name=</a:t>
                      </a:r>
                      <a:r>
                        <a:rPr lang="en-US" sz="1050" b="0" strike="noStrike" spc="-1" dirty="0" err="1" smtClean="0">
                          <a:latin typeface="+mn-lt"/>
                        </a:rPr>
                        <a:t>job_name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Assigns the specified name </a:t>
                      </a: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“</a:t>
                      </a:r>
                      <a:r>
                        <a:rPr lang="en-US" sz="1050" b="0" strike="noStrike" spc="-1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job_name</a:t>
                      </a: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” </a:t>
                      </a:r>
                      <a:r>
                        <a:rPr lang="en-US" sz="105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to the </a:t>
                      </a: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job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--time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--time=DD-HH:MM:SS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Requests wall time </a:t>
                      </a: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limit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--mem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marL="75960" marR="75960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--mem=512MB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marL="75960" marR="75960"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Requests a specific amount of memory for your </a:t>
                      </a: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job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marL="75960" marR="75960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Arial"/>
                        </a:rPr>
                        <a:t>--x11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marL="75960" marR="75960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latin typeface="Arial"/>
                        </a:rPr>
                        <a:t>salloc</a:t>
                      </a:r>
                      <a:r>
                        <a:rPr lang="en-US" sz="1050" b="0" strike="noStrike" spc="-1" dirty="0" smtClean="0">
                          <a:latin typeface="Arial"/>
                        </a:rPr>
                        <a:t> -n 1 --x11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050" b="0" strike="noStrike" spc="-1" dirty="0" smtClean="0">
                          <a:latin typeface="+mn-lt"/>
                        </a:rPr>
                        <a:t>srun -n 1 --x11 xterm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marL="75960" marR="75960"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Arial"/>
                        </a:rPr>
                        <a:t>Enables X11 graphical forwarding in interactive jobs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marL="75960" marR="75960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Arial"/>
                        </a:rPr>
                        <a:t>--</a:t>
                      </a:r>
                      <a:r>
                        <a:rPr lang="en-US" sz="1050" b="0" strike="noStrike" spc="-1" dirty="0" err="1" smtClean="0">
                          <a:latin typeface="Arial"/>
                        </a:rPr>
                        <a:t>pty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marL="75960" marR="75960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err="1" smtClean="0">
                          <a:latin typeface="Arial"/>
                        </a:rPr>
                        <a:t>srun</a:t>
                      </a:r>
                      <a:r>
                        <a:rPr lang="en-US" sz="1050" b="0" strike="noStrike" spc="-1" dirty="0" smtClean="0">
                          <a:latin typeface="Arial"/>
                        </a:rPr>
                        <a:t> -n 1 --</a:t>
                      </a:r>
                      <a:r>
                        <a:rPr lang="en-US" sz="1050" b="0" strike="noStrike" spc="-1" dirty="0" err="1" smtClean="0">
                          <a:latin typeface="Arial"/>
                        </a:rPr>
                        <a:t>pty</a:t>
                      </a:r>
                      <a:r>
                        <a:rPr lang="en-US" sz="1050" b="0" strike="noStrike" spc="-1" dirty="0" smtClean="0">
                          <a:latin typeface="Arial"/>
                        </a:rPr>
                        <a:t> /bin/bash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marL="75960" marR="75960"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+mn-lt"/>
                        </a:rPr>
                        <a:t>Submits an interactive job that will create a terminal when the job starts.</a:t>
                      </a:r>
                      <a:endParaRPr lang="en-US" sz="1050" b="0" strike="noStrike" spc="-1" dirty="0">
                        <a:latin typeface="+mn-lt"/>
                      </a:endParaRPr>
                    </a:p>
                  </a:txBody>
                  <a:tcPr marL="75960" marR="75960">
                    <a:lnL w="12240">
                      <a:solidFill>
                        <a:srgbClr val="D6DCE5"/>
                      </a:solidFill>
                    </a:lnL>
                    <a:lnR w="12240">
                      <a:solidFill>
                        <a:srgbClr val="D6DCE5"/>
                      </a:solidFill>
                    </a:lnR>
                    <a:lnT w="12240">
                      <a:solidFill>
                        <a:srgbClr val="D6DCE5"/>
                      </a:solidFill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--exclusive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marL="75960" marR="75960">
                    <a:lnL w="12240">
                      <a:solidFill>
                        <a:srgbClr val="D6DCE5"/>
                      </a:solidFill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 smtClean="0">
                          <a:latin typeface="Arial"/>
                        </a:rPr>
                        <a:t>--exclusive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marL="75960" marR="75960"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Puts the </a:t>
                      </a:r>
                      <a:r>
                        <a:rPr lang="en-US" sz="1050" b="0" strike="noStrike" spc="-1" dirty="0" smtClean="0">
                          <a:solidFill>
                            <a:srgbClr val="000000"/>
                          </a:solidFill>
                          <a:latin typeface="Arial"/>
                        </a:rPr>
                        <a:t>host/s </a:t>
                      </a:r>
                      <a:r>
                        <a:rPr lang="en-US" sz="105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running your job into exclusive execution mode.</a:t>
                      </a:r>
                      <a:endParaRPr lang="en-US" sz="1050" b="0" strike="noStrike" spc="-1" dirty="0">
                        <a:latin typeface="Arial"/>
                      </a:endParaRPr>
                    </a:p>
                  </a:txBody>
                  <a:tcPr marL="75960" marR="75960">
                    <a:lnL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D6DCE5"/>
                      </a:solidFill>
                    </a:lnR>
                    <a:lnT w="1224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1" name="CustomShape 5"/>
          <p:cNvSpPr/>
          <p:nvPr/>
        </p:nvSpPr>
        <p:spPr>
          <a:xfrm>
            <a:off x="606960" y="1679040"/>
            <a:ext cx="5607000" cy="371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solidFill>
                  <a:prstClr val="black"/>
                </a:solidFill>
                <a:latin typeface="Arial"/>
              </a:rPr>
              <a:t>Access configuration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kumimoji="0" lang="en-US" i="0" u="none" strike="noStrike" kern="1200" cap="none" spc="-1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</a:rPr>
              <a:t>Queues (partitions)</a:t>
            </a: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pc="-1" dirty="0" smtClean="0">
                <a:latin typeface="Arial"/>
              </a:rPr>
              <a:t>Modular environment</a:t>
            </a:r>
            <a:endParaRPr kumimoji="0" lang="en-US" i="0" u="none" strike="noStrike" kern="1200" cap="none" spc="-1" normalizeH="0" baseline="0" noProof="0" dirty="0">
              <a:ln>
                <a:noFill/>
              </a:ln>
              <a:effectLst/>
              <a:uLnTx/>
              <a:uFillTx/>
              <a:latin typeface="Arial"/>
            </a:endParaRPr>
          </a:p>
          <a:p>
            <a:pPr marL="182880" marR="0" lvl="0" indent="-178920" algn="l" defTabSz="914400" rtl="0" eaLnBrk="1" fontAlgn="auto" latinLnBrk="0" hangingPunct="1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47BA"/>
              </a:buClr>
              <a:buSzPct val="65000"/>
              <a:buFont typeface="Wingdings" charset="2"/>
              <a:buChar char=""/>
              <a:tabLst/>
              <a:defRPr/>
            </a:pPr>
            <a:r>
              <a:rPr lang="en-US" sz="2400" b="1" spc="-1" dirty="0" smtClean="0">
                <a:solidFill>
                  <a:schemeClr val="tx2"/>
                </a:solidFill>
                <a:latin typeface="Arial"/>
              </a:rPr>
              <a:t>Scheduler syntax</a:t>
            </a:r>
            <a:endParaRPr kumimoji="0" lang="en-US" sz="2400" b="1" i="0" u="none" strike="noStrike" kern="1200" cap="none" spc="-1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1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507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 Theme</Template>
  <TotalTime>1626</TotalTime>
  <Words>2121</Words>
  <Application>Microsoft Office PowerPoint</Application>
  <PresentationFormat>Widescreen</PresentationFormat>
  <Paragraphs>489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Calibri</vt:lpstr>
      <vt:lpstr>Consolas</vt:lpstr>
      <vt:lpstr>DejaVu Sans</vt:lpstr>
      <vt:lpstr>Liberation Sans;Arial</vt:lpstr>
      <vt:lpstr>Symbol</vt:lpstr>
      <vt:lpstr>Wingdings</vt:lpstr>
      <vt:lpstr>Office Theme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Goes Here</dc:title>
  <dc:subject/>
  <dc:creator>Majed Almansoori</dc:creator>
  <dc:description/>
  <cp:lastModifiedBy>Sergio Martinez</cp:lastModifiedBy>
  <cp:revision>134</cp:revision>
  <dcterms:created xsi:type="dcterms:W3CDTF">2018-04-29T10:48:36Z</dcterms:created>
  <dcterms:modified xsi:type="dcterms:W3CDTF">2021-07-30T07:45:31Z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16.0012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12</vt:i4>
  </property>
</Properties>
</file>