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1" r:id="rId5"/>
    <p:sldId id="375" r:id="rId6"/>
    <p:sldId id="379" r:id="rId7"/>
    <p:sldId id="377" r:id="rId8"/>
    <p:sldId id="376" r:id="rId9"/>
    <p:sldId id="380" r:id="rId10"/>
    <p:sldId id="361" r:id="rId1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14A"/>
    <a:srgbClr val="FFFFFF"/>
    <a:srgbClr val="D0CFCD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3979" autoAdjust="0"/>
  </p:normalViewPr>
  <p:slideViewPr>
    <p:cSldViewPr snapToGrid="0" showGuides="1">
      <p:cViewPr varScale="1">
        <p:scale>
          <a:sx n="69" d="100"/>
          <a:sy n="69" d="100"/>
        </p:scale>
        <p:origin x="5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3514A-9FDF-40F1-8D0D-19B4F14DA5C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3E128-91F0-4EEC-B4EA-738534759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54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2B66FD6-D2A9-4F00-B491-A99A8AA44ED0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feed/update/urn:li:activity:6940954158225076224/?commentUrn=urn:li:comment:(activity:6940954158225076224,6942182113131552768)&amp;dashCommentUrn=urn:li:fsd_comment:(6942182113131552768,urn:li:activity:6940954158225076224)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589" y="1787934"/>
            <a:ext cx="10508975" cy="1266826"/>
          </a:xfrm>
        </p:spPr>
        <p:txBody>
          <a:bodyPr>
            <a:noAutofit/>
          </a:bodyPr>
          <a:lstStyle/>
          <a:p>
            <a:r>
              <a:rPr lang="en-US" sz="4800" dirty="0" smtClean="0"/>
              <a:t>EHS 2022 </a:t>
            </a:r>
            <a:r>
              <a:rPr lang="en-US" sz="4800" dirty="0"/>
              <a:t>Objectives </a:t>
            </a:r>
            <a:r>
              <a:rPr lang="en-US" sz="4800" dirty="0" smtClean="0"/>
              <a:t>- Meeting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9352" y="3655124"/>
            <a:ext cx="8911390" cy="1368447"/>
          </a:xfrm>
        </p:spPr>
        <p:txBody>
          <a:bodyPr>
            <a:normAutofit/>
          </a:bodyPr>
          <a:lstStyle/>
          <a:p>
            <a:r>
              <a:rPr lang="fi-FI" sz="3600" dirty="0" smtClean="0"/>
              <a:t>EHS Department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fi-FI" dirty="0" smtClean="0"/>
              <a:t>20 DECEMBER 2022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538" y="521999"/>
            <a:ext cx="9587664" cy="63182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EHS  </a:t>
            </a:r>
            <a:r>
              <a:rPr lang="en-US" sz="3200" dirty="0"/>
              <a:t>D</a:t>
            </a:r>
            <a:r>
              <a:rPr lang="en-US" sz="3200" dirty="0" smtClean="0"/>
              <a:t>epartmental Objectives-2022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7025" y="238473"/>
            <a:ext cx="4114800" cy="244475"/>
          </a:xfrm>
        </p:spPr>
        <p:txBody>
          <a:bodyPr/>
          <a:lstStyle/>
          <a:p>
            <a:r>
              <a:rPr lang="en-US" dirty="0" smtClean="0"/>
              <a:t>Presentation Title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188" y="1315112"/>
            <a:ext cx="11220179" cy="1108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 smtClean="0"/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16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79110"/>
              </p:ext>
            </p:extLst>
          </p:nvPr>
        </p:nvGraphicFramePr>
        <p:xfrm>
          <a:off x="309228" y="1192875"/>
          <a:ext cx="11688809" cy="3429243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49137">
                  <a:extLst>
                    <a:ext uri="{9D8B030D-6E8A-4147-A177-3AD203B41FA5}">
                      <a16:colId xmlns:a16="http://schemas.microsoft.com/office/drawing/2014/main" val="3984521222"/>
                    </a:ext>
                  </a:extLst>
                </a:gridCol>
                <a:gridCol w="3730508">
                  <a:extLst>
                    <a:ext uri="{9D8B030D-6E8A-4147-A177-3AD203B41FA5}">
                      <a16:colId xmlns:a16="http://schemas.microsoft.com/office/drawing/2014/main" val="2889109409"/>
                    </a:ext>
                  </a:extLst>
                </a:gridCol>
                <a:gridCol w="7509164">
                  <a:extLst>
                    <a:ext uri="{9D8B030D-6E8A-4147-A177-3AD203B41FA5}">
                      <a16:colId xmlns:a16="http://schemas.microsoft.com/office/drawing/2014/main" val="967348717"/>
                    </a:ext>
                  </a:extLst>
                </a:gridCol>
              </a:tblGrid>
              <a:tr h="3507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S/N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Objectives Details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Updates</a:t>
                      </a:r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201788"/>
                  </a:ext>
                </a:extLst>
              </a:tr>
              <a:tr h="14951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Attain one or more new national \ International award and or certification (different than ISO9001)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KU awarded International Safety Award from British Safety Council-2022.</a:t>
                      </a:r>
                    </a:p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-Newspaper clippings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Distinction Trophy received 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Certificate &amp; Plaque also received</a:t>
                      </a:r>
                      <a:endParaRPr lang="en-US" sz="1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KU received </a:t>
                      </a:r>
                      <a:r>
                        <a:rPr lang="en-US" sz="14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RoSPA</a:t>
                      </a:r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Silver award-2022.</a:t>
                      </a:r>
                    </a:p>
                    <a:p>
                      <a:r>
                        <a:rPr lang="en-US" sz="1400" dirty="0" smtClean="0">
                          <a:solidFill>
                            <a:srgbClr val="FF0000"/>
                          </a:solidFill>
                          <a:hlinkClick r:id="rId2"/>
                        </a:rPr>
                        <a:t>Khalifa University on LinkedIn: </a:t>
                      </a:r>
                      <a:r>
                        <a:rPr lang="ar-AE" sz="1400" dirty="0" smtClean="0">
                          <a:solidFill>
                            <a:srgbClr val="FF0000"/>
                          </a:solidFill>
                          <a:hlinkClick r:id="rId2"/>
                        </a:rPr>
                        <a:t>حصلت #جامعة_خليفة على الجائزة الفضية للجمعية الملكية للوقاية من الحوادث | 15 </a:t>
                      </a:r>
                      <a:r>
                        <a:rPr lang="en-US" sz="1400" dirty="0" smtClean="0">
                          <a:solidFill>
                            <a:srgbClr val="FF0000"/>
                          </a:solidFill>
                          <a:hlinkClick r:id="rId2"/>
                        </a:rPr>
                        <a:t>comments</a:t>
                      </a:r>
                      <a:endParaRPr lang="en-US" sz="1400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40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BSC Award</a:t>
                      </a:r>
                      <a:endParaRPr lang="en-US" sz="1400" b="1" i="0" u="sng" strike="noStrike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 Audit ( Nov-22)  - </a:t>
                      </a:r>
                      <a:r>
                        <a:rPr lang="en-US" sz="14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Completed report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received indicating certain recommendations</a:t>
                      </a:r>
                      <a:r>
                        <a:rPr lang="en-US" sz="1400" b="0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Five Star Audit (May</a:t>
                      </a:r>
                      <a:r>
                        <a:rPr lang="en-US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-23)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Sword of Honor Award from British safety Council. (Sept-23)</a:t>
                      </a:r>
                    </a:p>
                    <a:p>
                      <a:endParaRPr lang="en-US" sz="14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596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7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538" y="521999"/>
            <a:ext cx="9587664" cy="63182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EHS  </a:t>
            </a:r>
            <a:r>
              <a:rPr lang="en-US" sz="3200" dirty="0"/>
              <a:t>D</a:t>
            </a:r>
            <a:r>
              <a:rPr lang="en-US" sz="3200" dirty="0" smtClean="0"/>
              <a:t>epartmental Objectives-2022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7025" y="238473"/>
            <a:ext cx="4114800" cy="244475"/>
          </a:xfrm>
        </p:spPr>
        <p:txBody>
          <a:bodyPr/>
          <a:lstStyle/>
          <a:p>
            <a:r>
              <a:rPr lang="en-US" dirty="0" smtClean="0"/>
              <a:t>Presentation Title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188" y="1315112"/>
            <a:ext cx="11220179" cy="1108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 smtClean="0"/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16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27783"/>
              </p:ext>
            </p:extLst>
          </p:nvPr>
        </p:nvGraphicFramePr>
        <p:xfrm>
          <a:off x="309228" y="1192875"/>
          <a:ext cx="11688809" cy="45516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49137">
                  <a:extLst>
                    <a:ext uri="{9D8B030D-6E8A-4147-A177-3AD203B41FA5}">
                      <a16:colId xmlns:a16="http://schemas.microsoft.com/office/drawing/2014/main" val="3984521222"/>
                    </a:ext>
                  </a:extLst>
                </a:gridCol>
                <a:gridCol w="3730508">
                  <a:extLst>
                    <a:ext uri="{9D8B030D-6E8A-4147-A177-3AD203B41FA5}">
                      <a16:colId xmlns:a16="http://schemas.microsoft.com/office/drawing/2014/main" val="2889109409"/>
                    </a:ext>
                  </a:extLst>
                </a:gridCol>
                <a:gridCol w="7509164">
                  <a:extLst>
                    <a:ext uri="{9D8B030D-6E8A-4147-A177-3AD203B41FA5}">
                      <a16:colId xmlns:a16="http://schemas.microsoft.com/office/drawing/2014/main" val="967348717"/>
                    </a:ext>
                  </a:extLst>
                </a:gridCol>
              </a:tblGrid>
              <a:tr h="3507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S/N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Objectives Details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Updates</a:t>
                      </a:r>
                      <a:endParaRPr lang="en-US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201788"/>
                  </a:ext>
                </a:extLst>
              </a:tr>
              <a:tr h="223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 accomplishment EHS training of all KU community .</a:t>
                      </a:r>
                      <a:r>
                        <a:rPr lang="en-US" sz="1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 staff + students= 5590</a:t>
                      </a:r>
                    </a:p>
                    <a:p>
                      <a:r>
                        <a:rPr lang="en-US" sz="18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Attended= 5098 (till Dec 5</a:t>
                      </a:r>
                      <a:r>
                        <a:rPr lang="en-US" sz="1800" b="1" i="0" u="none" strike="noStrike" kern="1200" baseline="300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,2022)</a:t>
                      </a:r>
                    </a:p>
                    <a:p>
                      <a:r>
                        <a:rPr lang="en-US" sz="18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Percentage completed = 91.2%  ( as of Dec 5</a:t>
                      </a:r>
                      <a:r>
                        <a:rPr lang="en-US" sz="1800" b="1" i="0" u="none" strike="noStrike" kern="1200" baseline="300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.2022)</a:t>
                      </a:r>
                    </a:p>
                    <a:p>
                      <a:r>
                        <a:rPr lang="en-US" sz="18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 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673754"/>
                  </a:ext>
                </a:extLst>
              </a:tr>
              <a:tr h="12117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Assure that 100%  (minimum completion of 80% on monthly plan) of all KU portable or movable appliance/Hand-held items/Extension leads are calibrated or PAT testing conducted inline with EHS compliances.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Collected  documents of current PAT test carried out in both campuses. </a:t>
                      </a:r>
                    </a:p>
                    <a:p>
                      <a:r>
                        <a:rPr lang="en-US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Proceeding as per plan.</a:t>
                      </a:r>
                    </a:p>
                    <a:p>
                      <a:r>
                        <a:rPr lang="en-US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Requested to unify frequency of PAT test in both campuses.</a:t>
                      </a:r>
                    </a:p>
                    <a:p>
                      <a:r>
                        <a:rPr lang="en-US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Meeting organized with FM dept. and Imdaad.</a:t>
                      </a:r>
                    </a:p>
                    <a:p>
                      <a:r>
                        <a:rPr lang="en-US" sz="18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 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34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4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538" y="521999"/>
            <a:ext cx="9587664" cy="63182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EHS  </a:t>
            </a:r>
            <a:r>
              <a:rPr lang="en-US" sz="3200" dirty="0"/>
              <a:t>D</a:t>
            </a:r>
            <a:r>
              <a:rPr lang="en-US" sz="3200" dirty="0" smtClean="0"/>
              <a:t>epartmental Objectives-2022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7025" y="238473"/>
            <a:ext cx="4114800" cy="244475"/>
          </a:xfrm>
        </p:spPr>
        <p:txBody>
          <a:bodyPr/>
          <a:lstStyle/>
          <a:p>
            <a:r>
              <a:rPr lang="en-US" dirty="0" smtClean="0"/>
              <a:t>Presentation Title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188" y="1315112"/>
            <a:ext cx="11220179" cy="1108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 smtClean="0"/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16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861797"/>
              </p:ext>
            </p:extLst>
          </p:nvPr>
        </p:nvGraphicFramePr>
        <p:xfrm>
          <a:off x="322409" y="1192874"/>
          <a:ext cx="11314831" cy="499715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34767">
                  <a:extLst>
                    <a:ext uri="{9D8B030D-6E8A-4147-A177-3AD203B41FA5}">
                      <a16:colId xmlns:a16="http://schemas.microsoft.com/office/drawing/2014/main" val="4160905897"/>
                    </a:ext>
                  </a:extLst>
                </a:gridCol>
                <a:gridCol w="5813208">
                  <a:extLst>
                    <a:ext uri="{9D8B030D-6E8A-4147-A177-3AD203B41FA5}">
                      <a16:colId xmlns:a16="http://schemas.microsoft.com/office/drawing/2014/main" val="1919065845"/>
                    </a:ext>
                  </a:extLst>
                </a:gridCol>
                <a:gridCol w="5066856">
                  <a:extLst>
                    <a:ext uri="{9D8B030D-6E8A-4147-A177-3AD203B41FA5}">
                      <a16:colId xmlns:a16="http://schemas.microsoft.com/office/drawing/2014/main" val="3103552932"/>
                    </a:ext>
                  </a:extLst>
                </a:gridCol>
              </a:tblGrid>
              <a:tr h="360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S/N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Objectives Details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Updates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02278"/>
                  </a:ext>
                </a:extLst>
              </a:tr>
              <a:tr h="14019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Achieve 100% compatibility with national standards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SAN Campus &amp; Main campus- Fire Specialist contractor  M/s </a:t>
                      </a:r>
                      <a:r>
                        <a:rPr lang="en-US" sz="12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Sibca</a:t>
                      </a:r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 Imdaad) submitted Documents </a:t>
                      </a:r>
                      <a:r>
                        <a:rPr lang="en-US" sz="12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to Abu Dhabi Civil Defense and waiting for  inspection date for fire prevention certificate. </a:t>
                      </a:r>
                    </a:p>
                    <a:p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 </a:t>
                      </a:r>
                    </a:p>
                    <a:p>
                      <a:r>
                        <a:rPr lang="en-US" sz="12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Main Campus: </a:t>
                      </a:r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Completed</a:t>
                      </a:r>
                    </a:p>
                    <a:p>
                      <a:r>
                        <a:rPr lang="en-US" sz="12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SAN Campus Inspection </a:t>
                      </a:r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– Still pending Civil Defense approval</a:t>
                      </a:r>
                      <a:endParaRPr lang="en-US" sz="1200" b="1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210043"/>
                  </a:ext>
                </a:extLst>
              </a:tr>
              <a:tr h="10714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Increase the recycle of general waste to </a:t>
                      </a:r>
                      <a:r>
                        <a:rPr lang="en-US" sz="12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30% </a:t>
                      </a: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Meeting Held with West Coast contractor.</a:t>
                      </a:r>
                    </a:p>
                    <a:p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Advised them to segregate waste from source for recycling.</a:t>
                      </a:r>
                    </a:p>
                    <a:p>
                      <a:endParaRPr lang="en-US" sz="1200" b="1" i="0" u="none" strike="noStrike" kern="1200" baseline="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Overall Till 30 Nov 2022- </a:t>
                      </a:r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26% (In-progress)</a:t>
                      </a:r>
                      <a:endParaRPr lang="en-US" sz="12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508288"/>
                  </a:ext>
                </a:extLst>
              </a:tr>
              <a:tr h="9742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Establish Energy Management Plan  &amp; Sustainable Practices for every facility in KU.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Actions taken:</a:t>
                      </a:r>
                    </a:p>
                    <a:p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Discussion with FM Maintenance team to prepare Energy Management Plan and sustainable practices Plan.</a:t>
                      </a:r>
                    </a:p>
                    <a:p>
                      <a:r>
                        <a:rPr lang="en-US" sz="12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 </a:t>
                      </a:r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352042"/>
                  </a:ext>
                </a:extLst>
              </a:tr>
              <a:tr h="9742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 kern="1200" dirty="0" smtClean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Target 3% </a:t>
                      </a:r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reduction of Energy consumption from the base year (2019) .</a:t>
                      </a:r>
                    </a:p>
                    <a:p>
                      <a:pPr algn="l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Discussion with FM Maintenance team to analyze savings on initiatives taken.  (</a:t>
                      </a:r>
                      <a:r>
                        <a:rPr lang="en-US" sz="12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As of 30 Nov -2022)</a:t>
                      </a:r>
                    </a:p>
                    <a:p>
                      <a:r>
                        <a:rPr lang="en-US" sz="12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Main</a:t>
                      </a:r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Campus 2.03%</a:t>
                      </a:r>
                    </a:p>
                    <a:p>
                      <a:r>
                        <a:rPr lang="en-US" sz="12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SAN Campus 3.29%</a:t>
                      </a:r>
                    </a:p>
                    <a:p>
                      <a:r>
                        <a:rPr lang="en-US" sz="12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Average: 2.5%</a:t>
                      </a:r>
                    </a:p>
                    <a:p>
                      <a:endParaRPr lang="en-US" sz="1200" b="1" i="0" u="none" strike="noStrike" kern="1200" baseline="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833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26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593" y="385678"/>
            <a:ext cx="9587664" cy="63182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EHS  </a:t>
            </a:r>
            <a:r>
              <a:rPr lang="en-US" sz="2800" dirty="0"/>
              <a:t>D</a:t>
            </a:r>
            <a:r>
              <a:rPr lang="en-US" sz="2800" dirty="0" smtClean="0"/>
              <a:t>epartmental Objectives-2022…. Contd.,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7025" y="238473"/>
            <a:ext cx="4114800" cy="244475"/>
          </a:xfrm>
        </p:spPr>
        <p:txBody>
          <a:bodyPr/>
          <a:lstStyle/>
          <a:p>
            <a:r>
              <a:rPr lang="en-US" dirty="0" smtClean="0"/>
              <a:t>Presentation Title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188" y="1315112"/>
            <a:ext cx="11220179" cy="1108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 smtClean="0"/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16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215734"/>
              </p:ext>
            </p:extLst>
          </p:nvPr>
        </p:nvGraphicFramePr>
        <p:xfrm>
          <a:off x="438536" y="981484"/>
          <a:ext cx="11314831" cy="558557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34767">
                  <a:extLst>
                    <a:ext uri="{9D8B030D-6E8A-4147-A177-3AD203B41FA5}">
                      <a16:colId xmlns:a16="http://schemas.microsoft.com/office/drawing/2014/main" val="4160905897"/>
                    </a:ext>
                  </a:extLst>
                </a:gridCol>
                <a:gridCol w="4269063">
                  <a:extLst>
                    <a:ext uri="{9D8B030D-6E8A-4147-A177-3AD203B41FA5}">
                      <a16:colId xmlns:a16="http://schemas.microsoft.com/office/drawing/2014/main" val="1919065845"/>
                    </a:ext>
                  </a:extLst>
                </a:gridCol>
                <a:gridCol w="6611001">
                  <a:extLst>
                    <a:ext uri="{9D8B030D-6E8A-4147-A177-3AD203B41FA5}">
                      <a16:colId xmlns:a16="http://schemas.microsoft.com/office/drawing/2014/main" val="3103552932"/>
                    </a:ext>
                  </a:extLst>
                </a:gridCol>
              </a:tblGrid>
              <a:tr h="292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S/N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Objectives Details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Updates</a:t>
                      </a:r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02278"/>
                  </a:ext>
                </a:extLst>
              </a:tr>
              <a:tr h="52934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 on-job training plan for EHS staff targeting 30% of the department job responsibilities/resources by Feb 2022.  Establish implementation  to achieve 90% of the set plan.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EHS team  training Needs for 2022 review in progress.</a:t>
                      </a:r>
                    </a:p>
                    <a:p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Will discuss with HR  training plan upon finalization.</a:t>
                      </a:r>
                    </a:p>
                    <a:p>
                      <a:r>
                        <a:rPr lang="en-US" sz="11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Action plan developed &amp; started on- job training.</a:t>
                      </a: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1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95179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544379"/>
              </p:ext>
            </p:extLst>
          </p:nvPr>
        </p:nvGraphicFramePr>
        <p:xfrm>
          <a:off x="5347856" y="1869366"/>
          <a:ext cx="5735781" cy="4663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162786">
                  <a:extLst>
                    <a:ext uri="{9D8B030D-6E8A-4147-A177-3AD203B41FA5}">
                      <a16:colId xmlns:a16="http://schemas.microsoft.com/office/drawing/2014/main" val="501684302"/>
                    </a:ext>
                  </a:extLst>
                </a:gridCol>
                <a:gridCol w="1572995">
                  <a:extLst>
                    <a:ext uri="{9D8B030D-6E8A-4147-A177-3AD203B41FA5}">
                      <a16:colId xmlns:a16="http://schemas.microsoft.com/office/drawing/2014/main" val="2883034185"/>
                    </a:ext>
                  </a:extLst>
                </a:gridCol>
              </a:tblGrid>
              <a:tr h="2108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Major</a:t>
                      </a:r>
                      <a:r>
                        <a:rPr lang="en-US" sz="14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Activities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FF0000"/>
                          </a:solidFill>
                        </a:rPr>
                        <a:t>Backup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041868"/>
                  </a:ext>
                </a:extLst>
              </a:tr>
              <a:tr h="2491790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COVID Al </a:t>
                      </a:r>
                      <a:r>
                        <a:rPr lang="en-US" sz="14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Hosn</a:t>
                      </a: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software, communication, statistics, and process flow (Nadia)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Female Accommodation Inspections (Aisha)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Medical School Lab Hazards (Faris)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EHS online training process flow and Dashboard (Nadia)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Organizing EHS Events, Campaigns (Hend)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Collection of Electricity &amp; water Data (Hend)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Food Safety –  UAE standards, Hazard Identification &amp; Inspection (Sultan)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High field courses- Fire safety level-2 Simulator hands. COSHH, Food  safety (Roberto)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Raising PR, EHS Budget (Roberto)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Identifying Unsafe Acts</a:t>
                      </a:r>
                      <a:r>
                        <a:rPr lang="en-US" sz="14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/Conditions (Navaz/Ahammed)</a:t>
                      </a:r>
                      <a:endParaRPr lang="en-US" sz="1400" b="1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sz="1400" b="1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sz="1400" b="1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 </a:t>
                      </a:r>
                      <a:r>
                        <a:rPr lang="en-US" sz="14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All completed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sz="1400" b="1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Hend</a:t>
                      </a:r>
                      <a:r>
                        <a:rPr lang="en-US" sz="1400" baseline="0" dirty="0" smtClean="0"/>
                        <a:t> &amp; </a:t>
                      </a:r>
                      <a:r>
                        <a:rPr lang="en-US" sz="1400" dirty="0" smtClean="0"/>
                        <a:t>Aisha</a:t>
                      </a:r>
                    </a:p>
                    <a:p>
                      <a:endParaRPr lang="en-US" sz="1400" dirty="0" smtClean="0"/>
                    </a:p>
                    <a:p>
                      <a:r>
                        <a:rPr lang="en-US" sz="1400" dirty="0" smtClean="0"/>
                        <a:t>Nadia &amp; Hend</a:t>
                      </a:r>
                    </a:p>
                    <a:p>
                      <a:r>
                        <a:rPr lang="en-US" sz="1400" dirty="0" smtClean="0"/>
                        <a:t>Roberto &amp; Hend</a:t>
                      </a:r>
                    </a:p>
                    <a:p>
                      <a:r>
                        <a:rPr lang="en-US" sz="1400" dirty="0" smtClean="0"/>
                        <a:t>Aisha , Hend</a:t>
                      </a:r>
                    </a:p>
                    <a:p>
                      <a:r>
                        <a:rPr lang="en-US" sz="1400" dirty="0" smtClean="0"/>
                        <a:t>Aisha, Nadia</a:t>
                      </a:r>
                    </a:p>
                    <a:p>
                      <a:r>
                        <a:rPr lang="en-US" sz="1400" dirty="0" smtClean="0"/>
                        <a:t>Roberto, Nadia</a:t>
                      </a:r>
                    </a:p>
                    <a:p>
                      <a:r>
                        <a:rPr lang="en-US" sz="1400" dirty="0" smtClean="0"/>
                        <a:t>Hend, Nadia, Aisha</a:t>
                      </a:r>
                    </a:p>
                    <a:p>
                      <a:endParaRPr lang="en-US" sz="1400" dirty="0" smtClean="0"/>
                    </a:p>
                    <a:p>
                      <a:r>
                        <a:rPr lang="en-US" sz="1400" dirty="0" smtClean="0"/>
                        <a:t>Nadia, Sultan</a:t>
                      </a:r>
                    </a:p>
                    <a:p>
                      <a:endParaRPr lang="en-US" sz="1400" dirty="0" smtClean="0"/>
                    </a:p>
                    <a:p>
                      <a:r>
                        <a:rPr lang="en-US" sz="1400" dirty="0" smtClean="0"/>
                        <a:t>Hend, Sultan, Aisha</a:t>
                      </a:r>
                    </a:p>
                    <a:p>
                      <a:r>
                        <a:rPr lang="en-US" sz="1400" dirty="0" smtClean="0"/>
                        <a:t>ALL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598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1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593" y="385678"/>
            <a:ext cx="9587664" cy="63182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EHS  </a:t>
            </a:r>
            <a:r>
              <a:rPr lang="en-US" sz="2800" dirty="0"/>
              <a:t>D</a:t>
            </a:r>
            <a:r>
              <a:rPr lang="en-US" sz="2800" dirty="0" smtClean="0"/>
              <a:t>epartmental Objectives-2022…. Contd.,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7025" y="238473"/>
            <a:ext cx="4114800" cy="244475"/>
          </a:xfrm>
        </p:spPr>
        <p:txBody>
          <a:bodyPr/>
          <a:lstStyle/>
          <a:p>
            <a:r>
              <a:rPr lang="en-US" dirty="0" smtClean="0"/>
              <a:t>Presentation Title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188" y="1315112"/>
            <a:ext cx="11220179" cy="1108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 smtClean="0"/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16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617392"/>
              </p:ext>
            </p:extLst>
          </p:nvPr>
        </p:nvGraphicFramePr>
        <p:xfrm>
          <a:off x="605700" y="1315112"/>
          <a:ext cx="11314831" cy="423605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34767">
                  <a:extLst>
                    <a:ext uri="{9D8B030D-6E8A-4147-A177-3AD203B41FA5}">
                      <a16:colId xmlns:a16="http://schemas.microsoft.com/office/drawing/2014/main" val="4160905897"/>
                    </a:ext>
                  </a:extLst>
                </a:gridCol>
                <a:gridCol w="4269063">
                  <a:extLst>
                    <a:ext uri="{9D8B030D-6E8A-4147-A177-3AD203B41FA5}">
                      <a16:colId xmlns:a16="http://schemas.microsoft.com/office/drawing/2014/main" val="1919065845"/>
                    </a:ext>
                  </a:extLst>
                </a:gridCol>
                <a:gridCol w="6611001">
                  <a:extLst>
                    <a:ext uri="{9D8B030D-6E8A-4147-A177-3AD203B41FA5}">
                      <a16:colId xmlns:a16="http://schemas.microsoft.com/office/drawing/2014/main" val="3103552932"/>
                    </a:ext>
                  </a:extLst>
                </a:gridCol>
              </a:tblGrid>
              <a:tr h="2921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S/N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Objectives Details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Updates</a:t>
                      </a:r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02278"/>
                  </a:ext>
                </a:extLst>
              </a:tr>
              <a:tr h="267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Complete full Integrated of Facilities Management CAFM Solution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Waiting for VP Direction </a:t>
                      </a:r>
                      <a:endParaRPr lang="en-US" sz="1400" b="1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770412"/>
                  </a:ext>
                </a:extLst>
              </a:tr>
              <a:tr h="3651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 Integrated Quality Management System and achieve ISO 9001 or more  (ISO standard , APPA and RICS).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Assisting Shahul in implementation</a:t>
                      </a:r>
                      <a:endParaRPr lang="en-US" sz="1400" b="1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Document</a:t>
                      </a:r>
                      <a:r>
                        <a:rPr lang="en-US" sz="14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 under review and finalization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Stage 1 audit is scheduled 26-30 Dec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977950"/>
                  </a:ext>
                </a:extLst>
              </a:tr>
              <a:tr h="14014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Propose 3-5 enhanced in department policy, process &amp; procedures to achieve time reduction, cost saving, customer satisfaction, service quality improvement..</a:t>
                      </a: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Internal EHS meeting organized .</a:t>
                      </a:r>
                    </a:p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Review of existing policies, procedures and processes, not covered by CAFM system to minimize time &amp; cost:</a:t>
                      </a:r>
                    </a:p>
                    <a:p>
                      <a:r>
                        <a:rPr lang="en-US" sz="14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Selection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of EHS Lab Excellence Award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Policies and Manual have been updated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90390"/>
                  </a:ext>
                </a:extLst>
              </a:tr>
              <a:tr h="267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Develop enhanced functional unit level responsible matrix and apply departmental </a:t>
                      </a: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DoA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RACI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matrix </a:t>
                      </a:r>
                    </a:p>
                    <a:p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 :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Completed</a:t>
                      </a:r>
                      <a:endParaRPr lang="en-US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566974"/>
                  </a:ext>
                </a:extLst>
              </a:tr>
              <a:tr h="413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Implement periodical One-to-One staff meeting with the line manager and submit the improvement action plan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Monthly meeting held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and meetings recorded.</a:t>
                      </a:r>
                    </a:p>
                    <a:p>
                      <a:r>
                        <a:rPr lang="en-US" sz="14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Status: </a:t>
                      </a:r>
                      <a:r>
                        <a:rPr lang="en-US" sz="1400" b="1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Completed</a:t>
                      </a:r>
                      <a:endParaRPr lang="en-US" sz="1400" b="1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00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77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26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BCE9BEE86D22418B98990A0B028EF2" ma:contentTypeVersion="2" ma:contentTypeDescription="Create a new document." ma:contentTypeScope="" ma:versionID="aa1616543b3b6cd96cdde1c3d7fb1eed">
  <xsd:schema xmlns:xsd="http://www.w3.org/2001/XMLSchema" xmlns:xs="http://www.w3.org/2001/XMLSchema" xmlns:p="http://schemas.microsoft.com/office/2006/metadata/properties" xmlns:ns1="http://schemas.microsoft.com/sharepoint/v3" xmlns:ns2="557946a8-a765-46f2-8d44-445b86b509b9" targetNamespace="http://schemas.microsoft.com/office/2006/metadata/properties" ma:root="true" ma:fieldsID="2da6048df5bc345cad2b9c31d905ebe2" ns1:_="" ns2:_="">
    <xsd:import namespace="http://schemas.microsoft.com/sharepoint/v3"/>
    <xsd:import namespace="557946a8-a765-46f2-8d44-445b86b509b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7946a8-a765-46f2-8d44-445b86b509b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FD50A8C-CA97-4410-A798-5A85CCD8F1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06B998-7F07-4E38-8400-697D7731F4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57946a8-a765-46f2-8d44-445b86b509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510135-11A2-4CE9-AC9A-F9B5F7E81A9F}">
  <ds:schemaRefs>
    <ds:schemaRef ds:uri="http://schemas.microsoft.com/office/2006/metadata/properties"/>
    <ds:schemaRef ds:uri="http://purl.org/dc/dcmitype/"/>
    <ds:schemaRef ds:uri="http://purl.org/dc/terms/"/>
    <ds:schemaRef ds:uri="557946a8-a765-46f2-8d44-445b86b509b9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8975</TotalTime>
  <Words>829</Words>
  <Application>Microsoft Office PowerPoint</Application>
  <PresentationFormat>Widescreen</PresentationFormat>
  <Paragraphs>163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KU Theme</vt:lpstr>
      <vt:lpstr>EHS 2022 Objectives - Meeting</vt:lpstr>
      <vt:lpstr>EHS  Departmental Objectives-2022</vt:lpstr>
      <vt:lpstr>EHS  Departmental Objectives-2022</vt:lpstr>
      <vt:lpstr>EHS  Departmental Objectives-2022</vt:lpstr>
      <vt:lpstr>EHS  Departmental Objectives-2022…. Contd.,</vt:lpstr>
      <vt:lpstr>EHS  Departmental Objectives-2022…. Contd.,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Fatima Mohsen Abdulla AlFaqeeh</cp:lastModifiedBy>
  <cp:revision>495</cp:revision>
  <cp:lastPrinted>2021-11-08T06:57:26Z</cp:lastPrinted>
  <dcterms:created xsi:type="dcterms:W3CDTF">2018-04-29T10:48:36Z</dcterms:created>
  <dcterms:modified xsi:type="dcterms:W3CDTF">2022-12-20T07:47:08Z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0x010100E7BCE9BEE86D22418B98990A0B028EF2</vt:lpwstr>
  </property>
</Properties>
</file>