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87" r:id="rId2"/>
    <p:sldId id="288" r:id="rId3"/>
    <p:sldId id="28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FFD501"/>
    <a:srgbClr val="F60A0A"/>
    <a:srgbClr val="E2EC14"/>
    <a:srgbClr val="E1A01F"/>
    <a:srgbClr val="FF014A"/>
    <a:srgbClr val="000000"/>
    <a:srgbClr val="FFFFFF"/>
    <a:srgbClr val="D0CFCD"/>
    <a:srgbClr val="0047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58" autoAdjust="0"/>
    <p:restoredTop sz="94613" autoAdjust="0"/>
  </p:normalViewPr>
  <p:slideViewPr>
    <p:cSldViewPr snapToGrid="0" showGuides="1">
      <p:cViewPr varScale="1">
        <p:scale>
          <a:sx n="69" d="100"/>
          <a:sy n="69" d="100"/>
        </p:scale>
        <p:origin x="7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5181600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4" y="654528"/>
            <a:ext cx="3540072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22" y="605643"/>
            <a:ext cx="10335345" cy="579052"/>
          </a:xfrm>
        </p:spPr>
        <p:txBody>
          <a:bodyPr>
            <a:normAutofit/>
          </a:bodyPr>
          <a:lstStyle>
            <a:lvl1pPr>
              <a:defRPr sz="32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1523" y="1431985"/>
            <a:ext cx="10335345" cy="5141342"/>
          </a:xfrm>
        </p:spPr>
        <p:txBody>
          <a:bodyPr>
            <a:normAutofit/>
          </a:bodyPr>
          <a:lstStyle>
            <a:lvl1pPr marL="344488" indent="-344488">
              <a:buSzPct val="110000"/>
              <a:defRPr sz="2800" baseline="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627063" indent="-282575">
              <a:defRPr sz="2800" baseline="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857250" indent="-230188">
              <a:defRPr sz="2400" baseline="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087438" indent="-230188">
              <a:defRPr sz="2400" baseline="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1258888" indent="-230188">
              <a:defRPr sz="2400" baseline="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5225" y="130567"/>
            <a:ext cx="523875" cy="244475"/>
          </a:xfr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4" y="173244"/>
            <a:ext cx="2426683" cy="24818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76525"/>
            <a:ext cx="9144000" cy="1714500"/>
          </a:xfrm>
        </p:spPr>
        <p:txBody>
          <a:bodyPr anchor="b"/>
          <a:lstStyle>
            <a:lvl1pPr algn="ctr">
              <a:defRPr sz="6000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125"/>
            <a:ext cx="91440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8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714750" y="6162674"/>
            <a:ext cx="4772025" cy="314325"/>
          </a:xfrm>
        </p:spPr>
        <p:txBody>
          <a:bodyPr>
            <a:normAutofit/>
          </a:bodyPr>
          <a:lstStyle>
            <a:lvl1pPr marL="0" indent="0" algn="ctr">
              <a:buNone/>
              <a:defRPr sz="1350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23" y="654528"/>
            <a:ext cx="3540072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769036" y="2752725"/>
            <a:ext cx="180975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2675" y="1152524"/>
            <a:ext cx="5191124" cy="5162121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/>
              <a:t>Heading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123950"/>
            <a:ext cx="4419600" cy="5190695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1868400"/>
            <a:ext cx="4680000" cy="4449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608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7500" y="2352674"/>
            <a:ext cx="4680000" cy="39653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360800" y="1868399"/>
            <a:ext cx="4680000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67500" y="1868399"/>
            <a:ext cx="4687888" cy="379501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162675" y="771525"/>
            <a:ext cx="5638800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542925"/>
            <a:ext cx="4181476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2075" y="1866900"/>
            <a:ext cx="4181476" cy="444817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62675" y="771525"/>
            <a:ext cx="5638800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6" y="542925"/>
            <a:ext cx="10544174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1114424"/>
            <a:ext cx="6343651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8625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050" y="2752725"/>
            <a:ext cx="3714750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7200" y="762000"/>
            <a:ext cx="3714750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tx2"/>
                </a:solidFill>
              </a:rPr>
              <a:t>ku.ac.ae</a:t>
            </a:r>
            <a:endParaRPr lang="en-US" sz="850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83665" y="533400"/>
            <a:ext cx="11465435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049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000500"/>
            <a:ext cx="10515600" cy="1584326"/>
          </a:xfrm>
        </p:spPr>
        <p:txBody>
          <a:bodyPr>
            <a:normAutofit/>
          </a:bodyPr>
          <a:lstStyle>
            <a:lvl1pPr marL="0" indent="0" algn="ctr">
              <a:buNone/>
              <a:defRPr sz="3800">
                <a:solidFill>
                  <a:srgbClr val="00000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52513"/>
            <a:ext cx="10515600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6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65" y="236124"/>
            <a:ext cx="1811848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10410824" y="203200"/>
            <a:ext cx="96202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850">
                <a:solidFill>
                  <a:schemeClr val="bg2"/>
                </a:solidFill>
              </a:rPr>
              <a:t>ku.ac.ae</a:t>
            </a:r>
            <a:endParaRPr lang="en-US" sz="85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718" y="593153"/>
            <a:ext cx="3776202" cy="8261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752475" y="2815114"/>
            <a:ext cx="10648950" cy="123110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fi-FI" sz="8000" b="1" spc="-100" baseline="0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US" sz="8000" b="1" spc="-100" baseline="0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5181601" y="6146800"/>
            <a:ext cx="1838324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fi-FI" sz="1250" b="1">
                <a:solidFill>
                  <a:srgbClr val="FFFFFF"/>
                </a:solidFill>
              </a:rPr>
              <a:t>ku.ac.ae</a:t>
            </a:r>
            <a:endParaRPr lang="en-US" sz="125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4" y="542925"/>
            <a:ext cx="9991725" cy="1114425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4" y="1866900"/>
            <a:ext cx="9991725" cy="44481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86725" y="203200"/>
            <a:ext cx="173355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67025" y="203200"/>
            <a:ext cx="4114800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349" y="203200"/>
            <a:ext cx="5238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50">
                <a:solidFill>
                  <a:schemeClr val="bg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50" r:id="rId3"/>
    <p:sldLayoutId id="2147483668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spc="5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5429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2pPr>
      <a:lvl3pPr marL="714375" indent="-171450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76325" indent="-180975" algn="l" defTabSz="914400" rtl="0" eaLnBrk="1" latinLnBrk="0" hangingPunct="1">
        <a:lnSpc>
          <a:spcPct val="100000"/>
        </a:lnSpc>
        <a:spcBef>
          <a:spcPts val="4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E-resources 2022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3" y="1184695"/>
            <a:ext cx="10555595" cy="53886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0" dirty="0" smtClean="0"/>
              <a:t>E-resources agreement 3 year licenses  – 41 databases</a:t>
            </a:r>
          </a:p>
          <a:p>
            <a:pPr marL="0" indent="0">
              <a:buNone/>
            </a:pPr>
            <a:r>
              <a:rPr lang="en-US" b="0" dirty="0" smtClean="0"/>
              <a:t>Databases subscription </a:t>
            </a:r>
            <a:r>
              <a:rPr lang="en-US" b="0" smtClean="0"/>
              <a:t>185 </a:t>
            </a:r>
            <a:endParaRPr lang="en-US" b="0" smtClean="0"/>
          </a:p>
          <a:p>
            <a:pPr marL="0" indent="0">
              <a:buNone/>
            </a:pPr>
            <a:r>
              <a:rPr lang="en-US" b="0" smtClean="0"/>
              <a:t>New </a:t>
            </a:r>
            <a:r>
              <a:rPr lang="en-US" b="0" dirty="0" smtClean="0"/>
              <a:t>databases &amp; initiatives</a:t>
            </a:r>
          </a:p>
          <a:p>
            <a:r>
              <a:rPr lang="en-US" sz="2400" b="0" dirty="0" smtClean="0"/>
              <a:t>Optics </a:t>
            </a:r>
            <a:r>
              <a:rPr lang="en-US" sz="2400" b="0" dirty="0" err="1" smtClean="0"/>
              <a:t>Infobase</a:t>
            </a:r>
            <a:endParaRPr lang="en-US" sz="2400" b="0" dirty="0" smtClean="0"/>
          </a:p>
          <a:p>
            <a:r>
              <a:rPr lang="en-US" sz="2400" b="0" dirty="0" err="1" smtClean="0"/>
              <a:t>Embase</a:t>
            </a:r>
            <a:endParaRPr lang="en-US" sz="2400" b="0" dirty="0" smtClean="0"/>
          </a:p>
          <a:p>
            <a:r>
              <a:rPr lang="en-US" sz="2400" b="0" dirty="0" smtClean="0"/>
              <a:t>Cochrane</a:t>
            </a:r>
          </a:p>
          <a:p>
            <a:r>
              <a:rPr lang="en-US" sz="2400" b="0" dirty="0" smtClean="0"/>
              <a:t>T&amp;F open access publishing</a:t>
            </a:r>
          </a:p>
          <a:p>
            <a:r>
              <a:rPr lang="en-US" sz="2400" b="0" dirty="0" smtClean="0"/>
              <a:t>Frontiers open access publishing </a:t>
            </a:r>
          </a:p>
          <a:p>
            <a:r>
              <a:rPr lang="en-US" sz="2400" b="0" dirty="0" smtClean="0"/>
              <a:t>PURE research analytics </a:t>
            </a:r>
          </a:p>
          <a:p>
            <a:r>
              <a:rPr lang="en-US" sz="2400" b="0" dirty="0" smtClean="0"/>
              <a:t>Replacement of </a:t>
            </a:r>
            <a:r>
              <a:rPr lang="en-US" sz="2400" b="0" dirty="0" err="1" smtClean="0"/>
              <a:t>RFiD</a:t>
            </a:r>
            <a:r>
              <a:rPr lang="en-US" sz="2400" b="0" dirty="0" smtClean="0"/>
              <a:t> security </a:t>
            </a:r>
            <a:r>
              <a:rPr lang="en-US" sz="2400" b="0" dirty="0" smtClean="0"/>
              <a:t>gate</a:t>
            </a:r>
          </a:p>
          <a:p>
            <a:r>
              <a:rPr lang="en-US" sz="2400" b="0" dirty="0" smtClean="0"/>
              <a:t>ALMA integrated system</a:t>
            </a:r>
            <a:endParaRPr lang="en-US" sz="2400" b="0" dirty="0" smtClean="0"/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767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Training sessions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IL classes - 27</a:t>
            </a:r>
          </a:p>
          <a:p>
            <a:r>
              <a:rPr lang="en-US" dirty="0" smtClean="0"/>
              <a:t>One on one training -18</a:t>
            </a:r>
          </a:p>
          <a:p>
            <a:r>
              <a:rPr lang="en-US" dirty="0" smtClean="0"/>
              <a:t>Group sessions – 4</a:t>
            </a:r>
          </a:p>
          <a:p>
            <a:r>
              <a:rPr lang="en-US" dirty="0" smtClean="0"/>
              <a:t>Workshops  -8</a:t>
            </a:r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Total 57 sessions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580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Subscription Budget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Approved – 15,199,430</a:t>
            </a:r>
          </a:p>
          <a:p>
            <a:pPr marL="0" indent="0">
              <a:buNone/>
            </a:pPr>
            <a:r>
              <a:rPr lang="en-US" dirty="0" smtClean="0"/>
              <a:t>Spent – 14,666,383</a:t>
            </a:r>
          </a:p>
          <a:p>
            <a:pPr marL="0" indent="0">
              <a:buNone/>
            </a:pPr>
            <a:r>
              <a:rPr lang="en-US" smtClean="0"/>
              <a:t>Remaining </a:t>
            </a:r>
            <a:r>
              <a:rPr lang="en-US" dirty="0" smtClean="0"/>
              <a:t>– 533,047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55674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2018-04-09 E.potx" id="{AF960482-6B50-417C-AC38-1AFEBFC77BA4}" vid="{1F04D338-456F-4FFC-9561-BAAA645232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KU Theme</Template>
  <TotalTime>2584</TotalTime>
  <Words>77</Words>
  <Application>Microsoft Office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KU Theme</vt:lpstr>
      <vt:lpstr>E-resources 2022</vt:lpstr>
      <vt:lpstr>Training sessions</vt:lpstr>
      <vt:lpstr>Subscription Budget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Goes Here</dc:title>
  <dc:creator>Majed Almansoori</dc:creator>
  <cp:lastModifiedBy>Rani Anand</cp:lastModifiedBy>
  <cp:revision>132</cp:revision>
  <dcterms:created xsi:type="dcterms:W3CDTF">2018-04-29T10:48:36Z</dcterms:created>
  <dcterms:modified xsi:type="dcterms:W3CDTF">2022-10-03T09:53:35Z</dcterms:modified>
</cp:coreProperties>
</file>