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71" r:id="rId2"/>
    <p:sldId id="261" r:id="rId3"/>
    <p:sldId id="292" r:id="rId4"/>
    <p:sldId id="283" r:id="rId5"/>
    <p:sldId id="284" r:id="rId6"/>
    <p:sldId id="297" r:id="rId7"/>
    <p:sldId id="298" r:id="rId8"/>
    <p:sldId id="289" r:id="rId9"/>
    <p:sldId id="286" r:id="rId10"/>
    <p:sldId id="287" r:id="rId11"/>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47BA"/>
    <a:srgbClr val="FF014A"/>
    <a:srgbClr val="FFFFFF"/>
    <a:srgbClr val="D0CF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86211" autoAdjust="0"/>
  </p:normalViewPr>
  <p:slideViewPr>
    <p:cSldViewPr snapToGrid="0" showGuides="1">
      <p:cViewPr varScale="1">
        <p:scale>
          <a:sx n="130" d="100"/>
          <a:sy n="130" d="100"/>
        </p:scale>
        <p:origin x="2760" y="184"/>
      </p:cViewPr>
      <p:guideLst>
        <p:guide orient="horz" pos="2160"/>
        <p:guide pos="312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delmoghraby/midriveapp/research%20documents/Clusters_Statistics/Queues_distributi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delmoghraby/midriveapp/research%20documents/Clusters_Statistics/Queues_distributi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Percentage of Cores per queue</a:t>
            </a:r>
          </a:p>
          <a:p>
            <a:pPr>
              <a:defRPr/>
            </a:pPr>
            <a:r>
              <a:rPr lang="en-US"/>
              <a:t>total number of cores = 2016</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AE"/>
        </a:p>
      </c:txPr>
    </c:title>
    <c:autoTitleDeleted val="0"/>
    <c:plotArea>
      <c:layout/>
      <c:pieChart>
        <c:varyColors val="1"/>
        <c:ser>
          <c:idx val="0"/>
          <c:order val="0"/>
          <c:tx>
            <c:strRef>
              <c:f>MI!$D$2</c:f>
              <c:strCache>
                <c:ptCount val="1"/>
                <c:pt idx="0">
                  <c:v>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EC5C-DA4F-9F1D-8A9447855207}"/>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EC5C-DA4F-9F1D-8A944785520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EC5C-DA4F-9F1D-8A9447855207}"/>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EC5C-DA4F-9F1D-8A9447855207}"/>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EC5C-DA4F-9F1D-8A9447855207}"/>
              </c:ext>
            </c:extLst>
          </c:dPt>
          <c:dLbls>
            <c:dLbl>
              <c:idx val="0"/>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EC5C-DA4F-9F1D-8A9447855207}"/>
                </c:ext>
              </c:extLst>
            </c:dLbl>
            <c:dLbl>
              <c:idx val="1"/>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EC5C-DA4F-9F1D-8A9447855207}"/>
                </c:ext>
              </c:extLst>
            </c:dLbl>
            <c:dLbl>
              <c:idx val="2"/>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3"/>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EC5C-DA4F-9F1D-8A9447855207}"/>
                </c:ext>
              </c:extLst>
            </c:dLbl>
            <c:dLbl>
              <c:idx val="3"/>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4"/>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7-EC5C-DA4F-9F1D-8A9447855207}"/>
                </c:ext>
              </c:extLst>
            </c:dLbl>
            <c:dLbl>
              <c:idx val="4"/>
              <c:layout>
                <c:manualLayout>
                  <c:x val="1.1738810541143761E-2"/>
                  <c:y val="-1.6443985892700186E-2"/>
                </c:manualLayout>
              </c:layout>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5"/>
                      </a:solidFill>
                      <a:latin typeface="+mn-lt"/>
                      <a:ea typeface="+mn-ea"/>
                      <a:cs typeface="+mn-cs"/>
                    </a:defRPr>
                  </a:pPr>
                  <a:endParaRPr lang="en-AE"/>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9-EC5C-DA4F-9F1D-8A9447855207}"/>
                </c:ext>
              </c:extLst>
            </c:dLbl>
            <c:spPr>
              <a:solidFill>
                <a:sysClr val="window" lastClr="FFFFFF"/>
              </a:solidFill>
              <a:ln>
                <a:solidFill>
                  <a:srgbClr val="5B9BD5"/>
                </a:solid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MI!$A$3:$A$7</c:f>
              <c:strCache>
                <c:ptCount val="5"/>
                <c:pt idx="0">
                  <c:v>general</c:v>
                </c:pt>
                <c:pt idx="1">
                  <c:v>long</c:v>
                </c:pt>
                <c:pt idx="2">
                  <c:v>gpu</c:v>
                </c:pt>
                <c:pt idx="3">
                  <c:v>high</c:v>
                </c:pt>
                <c:pt idx="4">
                  <c:v>training</c:v>
                </c:pt>
              </c:strCache>
            </c:strRef>
          </c:cat>
          <c:val>
            <c:numRef>
              <c:f>MI!$D$3:$D$7</c:f>
              <c:numCache>
                <c:formatCode>General</c:formatCode>
                <c:ptCount val="5"/>
                <c:pt idx="0">
                  <c:v>1560</c:v>
                </c:pt>
                <c:pt idx="1">
                  <c:v>168</c:v>
                </c:pt>
                <c:pt idx="2">
                  <c:v>96</c:v>
                </c:pt>
                <c:pt idx="3">
                  <c:v>96</c:v>
                </c:pt>
                <c:pt idx="4">
                  <c:v>96</c:v>
                </c:pt>
              </c:numCache>
            </c:numRef>
          </c:val>
          <c:extLst>
            <c:ext xmlns:c16="http://schemas.microsoft.com/office/drawing/2014/chart" uri="{C3380CC4-5D6E-409C-BE32-E72D297353CC}">
              <c16:uniqueId val="{0000000A-EC5C-DA4F-9F1D-8A9447855207}"/>
            </c:ext>
          </c:extLst>
        </c:ser>
        <c:ser>
          <c:idx val="1"/>
          <c:order val="1"/>
          <c:tx>
            <c:strRef>
              <c:f>MI!$I$2</c:f>
              <c:strCache>
                <c:ptCount val="1"/>
                <c:pt idx="0">
                  <c:v>Perc 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EC5C-DA4F-9F1D-8A9447855207}"/>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EC5C-DA4F-9F1D-8A944785520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EC5C-DA4F-9F1D-8A9447855207}"/>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2-EC5C-DA4F-9F1D-8A9447855207}"/>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4-EC5C-DA4F-9F1D-8A9447855207}"/>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C-EC5C-DA4F-9F1D-8A9447855207}"/>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E-EC5C-DA4F-9F1D-8A9447855207}"/>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0-EC5C-DA4F-9F1D-8A9447855207}"/>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2-EC5C-DA4F-9F1D-8A9447855207}"/>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5"/>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4-EC5C-DA4F-9F1D-8A9447855207}"/>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MI!$A$3:$A$7</c:f>
              <c:strCache>
                <c:ptCount val="5"/>
                <c:pt idx="0">
                  <c:v>general</c:v>
                </c:pt>
                <c:pt idx="1">
                  <c:v>long</c:v>
                </c:pt>
                <c:pt idx="2">
                  <c:v>gpu</c:v>
                </c:pt>
                <c:pt idx="3">
                  <c:v>high</c:v>
                </c:pt>
                <c:pt idx="4">
                  <c:v>training</c:v>
                </c:pt>
              </c:strCache>
            </c:strRef>
          </c:cat>
          <c:val>
            <c:numRef>
              <c:f>MI!$I$3:$I$7</c:f>
              <c:numCache>
                <c:formatCode>General</c:formatCode>
                <c:ptCount val="5"/>
                <c:pt idx="0">
                  <c:v>0.77380952380952384</c:v>
                </c:pt>
                <c:pt idx="1">
                  <c:v>8.3333333333333329E-2</c:v>
                </c:pt>
                <c:pt idx="2">
                  <c:v>4.7619047619047616E-2</c:v>
                </c:pt>
                <c:pt idx="3">
                  <c:v>4.7619047619047616E-2</c:v>
                </c:pt>
                <c:pt idx="4">
                  <c:v>4.7619047619047616E-2</c:v>
                </c:pt>
              </c:numCache>
            </c:numRef>
          </c:val>
          <c:extLst>
            <c:ext xmlns:c16="http://schemas.microsoft.com/office/drawing/2014/chart" uri="{C3380CC4-5D6E-409C-BE32-E72D297353CC}">
              <c16:uniqueId val="{00000015-EC5C-DA4F-9F1D-8A9447855207}"/>
            </c:ext>
          </c:extLst>
        </c:ser>
        <c:dLbls>
          <c:dLblPos val="outEnd"/>
          <c:showLegendKey val="0"/>
          <c:showVal val="0"/>
          <c:showCatName val="1"/>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noFill/>
    </a:ln>
    <a:effectLst/>
  </c:spPr>
  <c:txPr>
    <a:bodyPr/>
    <a:lstStyle/>
    <a:p>
      <a:pPr>
        <a:defRPr/>
      </a:pPr>
      <a:endParaRPr lang="en-A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Percentage of Cores per queue</a:t>
            </a:r>
          </a:p>
          <a:p>
            <a:pPr>
              <a:defRPr/>
            </a:pPr>
            <a:r>
              <a:rPr lang="en-US"/>
              <a:t>total number of cores = 1100</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AE"/>
        </a:p>
      </c:txPr>
    </c:title>
    <c:autoTitleDeleted val="0"/>
    <c:plotArea>
      <c:layout/>
      <c:pieChart>
        <c:varyColors val="1"/>
        <c:ser>
          <c:idx val="0"/>
          <c:order val="0"/>
          <c:tx>
            <c:strRef>
              <c:f>SAN!$D$2</c:f>
              <c:strCache>
                <c:ptCount val="1"/>
                <c:pt idx="0">
                  <c:v>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4374-5A4B-8311-55090FFE2166}"/>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4374-5A4B-8311-55090FFE2166}"/>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4374-5A4B-8311-55090FFE2166}"/>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4374-5A4B-8311-55090FFE2166}"/>
              </c:ext>
            </c:extLst>
          </c:dPt>
          <c:dLbls>
            <c:dLbl>
              <c:idx val="0"/>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4374-5A4B-8311-55090FFE2166}"/>
                </c:ext>
              </c:extLst>
            </c:dLbl>
            <c:dLbl>
              <c:idx val="1"/>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4374-5A4B-8311-55090FFE2166}"/>
                </c:ext>
              </c:extLst>
            </c:dLbl>
            <c:dLbl>
              <c:idx val="2"/>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3"/>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4374-5A4B-8311-55090FFE2166}"/>
                </c:ext>
              </c:extLst>
            </c:dLbl>
            <c:dLbl>
              <c:idx val="3"/>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4"/>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7-4374-5A4B-8311-55090FFE2166}"/>
                </c:ext>
              </c:extLst>
            </c:dLbl>
            <c:spPr>
              <a:solidFill>
                <a:sysClr val="window" lastClr="FFFFFF"/>
              </a:solidFill>
              <a:ln>
                <a:solidFill>
                  <a:srgbClr val="5B9BD5"/>
                </a:solid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SAN!$A$3:$A$6</c:f>
              <c:strCache>
                <c:ptCount val="4"/>
                <c:pt idx="0">
                  <c:v>Q1</c:v>
                </c:pt>
                <c:pt idx="1">
                  <c:v>Q2</c:v>
                </c:pt>
                <c:pt idx="2">
                  <c:v>Q3</c:v>
                </c:pt>
                <c:pt idx="3">
                  <c:v>QGPU</c:v>
                </c:pt>
              </c:strCache>
            </c:strRef>
          </c:cat>
          <c:val>
            <c:numRef>
              <c:f>SAN!$D$3:$D$6</c:f>
              <c:numCache>
                <c:formatCode>General</c:formatCode>
                <c:ptCount val="4"/>
                <c:pt idx="0">
                  <c:v>72</c:v>
                </c:pt>
                <c:pt idx="1">
                  <c:v>276</c:v>
                </c:pt>
                <c:pt idx="2">
                  <c:v>656</c:v>
                </c:pt>
                <c:pt idx="3">
                  <c:v>96</c:v>
                </c:pt>
              </c:numCache>
            </c:numRef>
          </c:val>
          <c:extLst>
            <c:ext xmlns:c16="http://schemas.microsoft.com/office/drawing/2014/chart" uri="{C3380CC4-5D6E-409C-BE32-E72D297353CC}">
              <c16:uniqueId val="{00000008-4374-5A4B-8311-55090FFE2166}"/>
            </c:ext>
          </c:extLst>
        </c:ser>
        <c:ser>
          <c:idx val="1"/>
          <c:order val="1"/>
          <c:tx>
            <c:strRef>
              <c:f>SAN!$I$2</c:f>
              <c:strCache>
                <c:ptCount val="1"/>
                <c:pt idx="0">
                  <c:v>Perc 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A-4374-5A4B-8311-55090FFE2166}"/>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4374-5A4B-8311-55090FFE2166}"/>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4374-5A4B-8311-55090FFE2166}"/>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4374-5A4B-8311-55090FFE2166}"/>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A-4374-5A4B-8311-55090FFE2166}"/>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C-4374-5A4B-8311-55090FFE2166}"/>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E-4374-5A4B-8311-55090FFE2166}"/>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0-4374-5A4B-8311-55090FFE2166}"/>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SAN!$A$3:$A$6</c:f>
              <c:strCache>
                <c:ptCount val="4"/>
                <c:pt idx="0">
                  <c:v>Q1</c:v>
                </c:pt>
                <c:pt idx="1">
                  <c:v>Q2</c:v>
                </c:pt>
                <c:pt idx="2">
                  <c:v>Q3</c:v>
                </c:pt>
                <c:pt idx="3">
                  <c:v>QGPU</c:v>
                </c:pt>
              </c:strCache>
            </c:strRef>
          </c:cat>
          <c:val>
            <c:numRef>
              <c:f>SAN!$I$3:$I$6</c:f>
              <c:numCache>
                <c:formatCode>General</c:formatCode>
                <c:ptCount val="4"/>
                <c:pt idx="0">
                  <c:v>6.545454545454546E-2</c:v>
                </c:pt>
                <c:pt idx="1">
                  <c:v>0.25090909090909091</c:v>
                </c:pt>
                <c:pt idx="2">
                  <c:v>0.59636363636363632</c:v>
                </c:pt>
                <c:pt idx="3">
                  <c:v>8.727272727272728E-2</c:v>
                </c:pt>
              </c:numCache>
            </c:numRef>
          </c:val>
          <c:extLst>
            <c:ext xmlns:c16="http://schemas.microsoft.com/office/drawing/2014/chart" uri="{C3380CC4-5D6E-409C-BE32-E72D297353CC}">
              <c16:uniqueId val="{00000011-4374-5A4B-8311-55090FFE2166}"/>
            </c:ext>
          </c:extLst>
        </c:ser>
        <c:dLbls>
          <c:dLblPos val="outEnd"/>
          <c:showLegendKey val="0"/>
          <c:showVal val="0"/>
          <c:showCatName val="1"/>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noFill/>
    </a:ln>
    <a:effectLst/>
  </c:spPr>
  <c:txPr>
    <a:bodyPr/>
    <a:lstStyle/>
    <a:p>
      <a:pPr>
        <a:defRPr/>
      </a:pPr>
      <a:endParaRPr lang="en-A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66FD6-D2A9-4F00-B491-A99A8AA44ED0}" type="datetimeFigureOut">
              <a:rPr lang="en-US" smtClean="0"/>
              <a:t>4/22/21</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5F57D8-2956-440C-8FE5-2823967F9ED1}" type="slidenum">
              <a:rPr lang="en-US" smtClean="0"/>
              <a:t>‹#›</a:t>
            </a:fld>
            <a:endParaRPr lang="en-US"/>
          </a:p>
        </p:txBody>
      </p:sp>
    </p:spTree>
    <p:extLst>
      <p:ext uri="{BB962C8B-B14F-4D97-AF65-F5344CB8AC3E}">
        <p14:creationId xmlns:p14="http://schemas.microsoft.com/office/powerpoint/2010/main" val="381662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5F57D8-2956-440C-8FE5-2823967F9ED1}" type="slidenum">
              <a:rPr lang="en-US" smtClean="0"/>
              <a:t>1</a:t>
            </a:fld>
            <a:endParaRPr lang="en-US"/>
          </a:p>
        </p:txBody>
      </p:sp>
    </p:spTree>
    <p:extLst>
      <p:ext uri="{BB962C8B-B14F-4D97-AF65-F5344CB8AC3E}">
        <p14:creationId xmlns:p14="http://schemas.microsoft.com/office/powerpoint/2010/main" val="903729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5</a:t>
            </a:fld>
            <a:endParaRPr lang="en-US"/>
          </a:p>
        </p:txBody>
      </p:sp>
    </p:spTree>
    <p:extLst>
      <p:ext uri="{BB962C8B-B14F-4D97-AF65-F5344CB8AC3E}">
        <p14:creationId xmlns:p14="http://schemas.microsoft.com/office/powerpoint/2010/main" val="3965828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6</a:t>
            </a:fld>
            <a:endParaRPr lang="en-US"/>
          </a:p>
        </p:txBody>
      </p:sp>
    </p:spTree>
    <p:extLst>
      <p:ext uri="{BB962C8B-B14F-4D97-AF65-F5344CB8AC3E}">
        <p14:creationId xmlns:p14="http://schemas.microsoft.com/office/powerpoint/2010/main" val="3731217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7</a:t>
            </a:fld>
            <a:endParaRPr lang="en-US"/>
          </a:p>
        </p:txBody>
      </p:sp>
    </p:spTree>
    <p:extLst>
      <p:ext uri="{BB962C8B-B14F-4D97-AF65-F5344CB8AC3E}">
        <p14:creationId xmlns:p14="http://schemas.microsoft.com/office/powerpoint/2010/main" val="1459153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8</a:t>
            </a:fld>
            <a:endParaRPr lang="en-US"/>
          </a:p>
        </p:txBody>
      </p:sp>
    </p:spTree>
    <p:extLst>
      <p:ext uri="{BB962C8B-B14F-4D97-AF65-F5344CB8AC3E}">
        <p14:creationId xmlns:p14="http://schemas.microsoft.com/office/powerpoint/2010/main" val="1536694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10</a:t>
            </a:fld>
            <a:endParaRPr lang="en-US"/>
          </a:p>
        </p:txBody>
      </p:sp>
    </p:spTree>
    <p:extLst>
      <p:ext uri="{BB962C8B-B14F-4D97-AF65-F5344CB8AC3E}">
        <p14:creationId xmlns:p14="http://schemas.microsoft.com/office/powerpoint/2010/main" val="16744043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47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rgbClr val="FFFFFF"/>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rgbClr val="FFFFFF"/>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3918" y="654528"/>
            <a:ext cx="2876309" cy="774496"/>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rgbClr val="FFFFFF"/>
                </a:solidFill>
              </a:defRPr>
            </a:lvl1pPr>
            <a:lvl2pPr algn="ctr">
              <a:defRPr/>
            </a:lvl2pPr>
            <a:lvl3pPr algn="ctr">
              <a:defRPr/>
            </a:lvl3pPr>
            <a:lvl4pPr algn="ctr">
              <a:defRPr/>
            </a:lvl4pPr>
            <a:lvl5pPr algn="ctr">
              <a:defRPr/>
            </a:lvl5pPr>
          </a:lstStyle>
          <a:p>
            <a:pPr lvl="0"/>
            <a:r>
              <a:rPr lang="en-US"/>
              <a:t>Click to 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437342"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6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Neg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chemeClr val="bg2"/>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chemeClr val="bg2"/>
                </a:solidFill>
              </a:defRPr>
            </a:lvl1pPr>
            <a:lvl2pPr algn="ctr">
              <a:defRPr/>
            </a:lvl2pPr>
            <a:lvl3pPr algn="ctr">
              <a:defRPr/>
            </a:lvl3pPr>
            <a:lvl4pPr algn="ctr">
              <a:defRPr/>
            </a:lvl4pPr>
            <a:lvl5pPr algn="ctr">
              <a:defRPr/>
            </a:lvl5pPr>
          </a:lstStyle>
          <a:p>
            <a:pPr lvl="0"/>
            <a:r>
              <a:rPr lang="en-US"/>
              <a:t>Click to 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4210050"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7211BEC-8A05-5048-8010-DA55CE4672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3919" y="654528"/>
            <a:ext cx="2876309" cy="774496"/>
          </a:xfrm>
          <a:prstGeom prst="rect">
            <a:avLst/>
          </a:prstGeom>
        </p:spPr>
      </p:pic>
    </p:spTree>
    <p:extLst>
      <p:ext uri="{BB962C8B-B14F-4D97-AF65-F5344CB8AC3E}">
        <p14:creationId xmlns:p14="http://schemas.microsoft.com/office/powerpoint/2010/main" val="3684787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hoto">
    <p:bg>
      <p:bgPr>
        <a:solidFill>
          <a:srgbClr val="0047B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B21E90-80D8-4070-8157-51F5D9E9B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rgbClr val="FFFFFF"/>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rgbClr val="FFFFFF"/>
                </a:solidFill>
              </a:defRPr>
            </a:lvl1pPr>
            <a:lvl2pPr algn="ctr">
              <a:defRPr/>
            </a:lvl2pPr>
            <a:lvl3pPr algn="ctr">
              <a:defRPr/>
            </a:lvl3pPr>
            <a:lvl4pPr algn="ctr">
              <a:defRPr/>
            </a:lvl4pPr>
            <a:lvl5pPr algn="ctr">
              <a:defRPr/>
            </a:lvl5pPr>
          </a:lstStyle>
          <a:p>
            <a:pPr lvl="0"/>
            <a:r>
              <a:rPr lang="en-US"/>
              <a:t>Click to edit Master text styles</a:t>
            </a:r>
          </a:p>
        </p:txBody>
      </p:sp>
      <p:pic>
        <p:nvPicPr>
          <p:cNvPr id="8" name="Picture 7">
            <a:extLst>
              <a:ext uri="{FF2B5EF4-FFF2-40B4-BE49-F238E27FC236}">
                <a16:creationId xmlns:a16="http://schemas.microsoft.com/office/drawing/2014/main" id="{E14C8DC6-096E-714D-AF28-58697258972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53918" y="654528"/>
            <a:ext cx="2876309" cy="774496"/>
          </a:xfrm>
          <a:prstGeom prst="rect">
            <a:avLst/>
          </a:prstGeom>
        </p:spPr>
      </p:pic>
      <p:cxnSp>
        <p:nvCxnSpPr>
          <p:cNvPr id="9" name="Straight Connector 8">
            <a:extLst>
              <a:ext uri="{FF2B5EF4-FFF2-40B4-BE49-F238E27FC236}">
                <a16:creationId xmlns:a16="http://schemas.microsoft.com/office/drawing/2014/main" id="{41EF1488-91C4-7449-841C-78AF4CE5EB83}"/>
              </a:ext>
            </a:extLst>
          </p:cNvPr>
          <p:cNvCxnSpPr/>
          <p:nvPr userDrawn="1"/>
        </p:nvCxnSpPr>
        <p:spPr>
          <a:xfrm>
            <a:off x="1437342"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840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760974" y="542926"/>
            <a:ext cx="8463393" cy="815095"/>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760974" y="1502876"/>
            <a:ext cx="8520709" cy="481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dirty="0"/>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791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ortrai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B3A0E-D963-4BA4-863C-413B32E51AE7}"/>
              </a:ext>
            </a:extLst>
          </p:cNvPr>
          <p:cNvSpPr>
            <a:spLocks noGrp="1"/>
          </p:cNvSpPr>
          <p:nvPr>
            <p:ph idx="1" hasCustomPrompt="1"/>
          </p:nvPr>
        </p:nvSpPr>
        <p:spPr>
          <a:xfrm>
            <a:off x="5007174" y="669956"/>
            <a:ext cx="4217788" cy="5644689"/>
          </a:xfrm>
        </p:spPr>
        <p:txBody>
          <a:bodyPr/>
          <a:lstStyle>
            <a:lvl1pPr>
              <a:defRPr b="0"/>
            </a:lvl1pPr>
          </a:lstStyle>
          <a:p>
            <a:pPr lvl="0"/>
            <a:r>
              <a:rPr lang="en-US" dirty="0"/>
              <a:t>Heading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sp>
        <p:nvSpPr>
          <p:cNvPr id="11" name="Title 10">
            <a:extLst>
              <a:ext uri="{FF2B5EF4-FFF2-40B4-BE49-F238E27FC236}">
                <a16:creationId xmlns:a16="http://schemas.microsoft.com/office/drawing/2014/main" id="{1C1F0F3F-166A-422E-B49B-E35296BCC605}"/>
              </a:ext>
            </a:extLst>
          </p:cNvPr>
          <p:cNvSpPr>
            <a:spLocks noGrp="1"/>
          </p:cNvSpPr>
          <p:nvPr>
            <p:ph type="title"/>
          </p:nvPr>
        </p:nvSpPr>
        <p:spPr>
          <a:xfrm>
            <a:off x="1106686" y="669956"/>
            <a:ext cx="3590925" cy="5644689"/>
          </a:xfrm>
        </p:spPr>
        <p:txBody>
          <a:bodyPr anchor="t" anchorCtr="0"/>
          <a:lstStyle/>
          <a:p>
            <a:r>
              <a:rPr lang="en-US"/>
              <a:t>Click to edit Master title style</a:t>
            </a:r>
            <a:endParaRPr lang="en-US" dirty="0"/>
          </a:p>
        </p:txBody>
      </p:sp>
      <p:cxnSp>
        <p:nvCxnSpPr>
          <p:cNvPr id="13" name="Straight Connector 12">
            <a:extLst>
              <a:ext uri="{FF2B5EF4-FFF2-40B4-BE49-F238E27FC236}">
                <a16:creationId xmlns:a16="http://schemas.microsoft.com/office/drawing/2014/main" id="{1385506D-9F69-4855-B473-3BFDAF44ED69}"/>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095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105650" y="1868400"/>
            <a:ext cx="3802500" cy="444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417344" y="1868400"/>
            <a:ext cx="3802500" cy="444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AA8462DF-95A9-4839-9F28-1A83BCE28186}"/>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9" name="Picture 8">
            <a:extLst>
              <a:ext uri="{FF2B5EF4-FFF2-40B4-BE49-F238E27FC236}">
                <a16:creationId xmlns:a16="http://schemas.microsoft.com/office/drawing/2014/main" id="{DEDB1926-9526-4026-8069-F153FB78BD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0" name="Straight Connector 9">
            <a:extLst>
              <a:ext uri="{FF2B5EF4-FFF2-40B4-BE49-F238E27FC236}">
                <a16:creationId xmlns:a16="http://schemas.microsoft.com/office/drawing/2014/main" id="{5B93EDA0-B8B5-41ED-80CE-BFDA6DF8FC4B}"/>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45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105650" y="2352675"/>
            <a:ext cx="3802500" cy="3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417344" y="2352675"/>
            <a:ext cx="3802500" cy="3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 Placeholder 2">
            <a:extLst>
              <a:ext uri="{FF2B5EF4-FFF2-40B4-BE49-F238E27FC236}">
                <a16:creationId xmlns:a16="http://schemas.microsoft.com/office/drawing/2014/main" id="{E4673FD0-9E13-4C1A-B859-688309735A0D}"/>
              </a:ext>
            </a:extLst>
          </p:cNvPr>
          <p:cNvSpPr>
            <a:spLocks noGrp="1"/>
          </p:cNvSpPr>
          <p:nvPr>
            <p:ph type="body" idx="13"/>
          </p:nvPr>
        </p:nvSpPr>
        <p:spPr>
          <a:xfrm>
            <a:off x="1105650" y="1868400"/>
            <a:ext cx="3802500" cy="379501"/>
          </a:xfrm>
        </p:spPr>
        <p:txBody>
          <a:bodyPr anchor="b">
            <a:normAutofit/>
          </a:bodyPr>
          <a:lstStyle>
            <a:lvl1pPr marL="0" indent="0">
              <a:buNone/>
              <a:defRPr sz="1625"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9" name="Text Placeholder 4">
            <a:extLst>
              <a:ext uri="{FF2B5EF4-FFF2-40B4-BE49-F238E27FC236}">
                <a16:creationId xmlns:a16="http://schemas.microsoft.com/office/drawing/2014/main" id="{E81F1501-AF73-4AAC-9FF0-0767311D3E75}"/>
              </a:ext>
            </a:extLst>
          </p:cNvPr>
          <p:cNvSpPr>
            <a:spLocks noGrp="1"/>
          </p:cNvSpPr>
          <p:nvPr>
            <p:ph type="body" sz="quarter" idx="3"/>
          </p:nvPr>
        </p:nvSpPr>
        <p:spPr>
          <a:xfrm>
            <a:off x="5417344" y="1868400"/>
            <a:ext cx="3808909" cy="379501"/>
          </a:xfrm>
        </p:spPr>
        <p:txBody>
          <a:bodyPr anchor="b">
            <a:normAutofit/>
          </a:bodyPr>
          <a:lstStyle>
            <a:lvl1pPr marL="0" indent="0">
              <a:buNone/>
              <a:defRPr sz="1625"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10" name="TextBox 9">
            <a:extLst>
              <a:ext uri="{FF2B5EF4-FFF2-40B4-BE49-F238E27FC236}">
                <a16:creationId xmlns:a16="http://schemas.microsoft.com/office/drawing/2014/main" id="{7ADE178B-FD49-4EE2-9A05-5F6BE0A0483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1" name="Picture 10">
            <a:extLst>
              <a:ext uri="{FF2B5EF4-FFF2-40B4-BE49-F238E27FC236}">
                <a16:creationId xmlns:a16="http://schemas.microsoft.com/office/drawing/2014/main" id="{68D110D8-F82F-4692-8B00-F633DEF1AC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2" name="Straight Connector 11">
            <a:extLst>
              <a:ext uri="{FF2B5EF4-FFF2-40B4-BE49-F238E27FC236}">
                <a16:creationId xmlns:a16="http://schemas.microsoft.com/office/drawing/2014/main" id="{6132C51C-6D36-4A71-A1DB-6C92A35CA313}"/>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71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F29153F9-78D4-4D70-B44A-4B9B91D91CB2}"/>
              </a:ext>
            </a:extLst>
          </p:cNvPr>
          <p:cNvSpPr>
            <a:spLocks noGrp="1"/>
          </p:cNvSpPr>
          <p:nvPr>
            <p:ph type="chart" sz="quarter" idx="14"/>
          </p:nvPr>
        </p:nvSpPr>
        <p:spPr>
          <a:xfrm>
            <a:off x="5007173" y="771526"/>
            <a:ext cx="4581525" cy="5534025"/>
          </a:xfrm>
        </p:spPr>
        <p:txBody>
          <a:bodyPr/>
          <a:lstStyle>
            <a:lvl1pPr marL="0" indent="0">
              <a:buNone/>
              <a:defRPr/>
            </a:lvl1pPr>
          </a:lstStyle>
          <a:p>
            <a:r>
              <a:rPr lang="en-US"/>
              <a:t>Click icon to add chart</a:t>
            </a:r>
          </a:p>
        </p:txBody>
      </p:sp>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542926"/>
            <a:ext cx="3397449"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106686" y="1866901"/>
            <a:ext cx="3397449" cy="4448175"/>
          </a:xfrm>
        </p:spPr>
        <p:txBody>
          <a:bodyPr/>
          <a:lstStyle>
            <a:lvl1pPr marL="0" indent="0">
              <a:buNone/>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43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542926"/>
            <a:ext cx="3397449"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106686" y="1866901"/>
            <a:ext cx="3397449" cy="4448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9" name="Picture Placeholder 8">
            <a:extLst>
              <a:ext uri="{FF2B5EF4-FFF2-40B4-BE49-F238E27FC236}">
                <a16:creationId xmlns:a16="http://schemas.microsoft.com/office/drawing/2014/main" id="{A46E416A-BFDB-410E-9AC9-671259E5DAFB}"/>
              </a:ext>
            </a:extLst>
          </p:cNvPr>
          <p:cNvSpPr>
            <a:spLocks noGrp="1"/>
          </p:cNvSpPr>
          <p:nvPr>
            <p:ph type="pic" sz="quarter" idx="13"/>
          </p:nvPr>
        </p:nvSpPr>
        <p:spPr>
          <a:xfrm>
            <a:off x="5007173" y="771526"/>
            <a:ext cx="4581525" cy="5534025"/>
          </a:xfrm>
          <a:solidFill>
            <a:schemeClr val="bg1">
              <a:lumMod val="85000"/>
            </a:schemeClr>
          </a:solidFill>
        </p:spPr>
        <p:txBody>
          <a:bodyPr/>
          <a:lstStyle>
            <a:lvl1pPr marL="0" indent="0">
              <a:buNone/>
              <a:defRPr/>
            </a:lvl1pPr>
          </a:lstStyle>
          <a:p>
            <a:r>
              <a:rPr lang="en-US"/>
              <a:t>Drag picture to placeholder or click icon to add</a:t>
            </a: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598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673299" y="542926"/>
            <a:ext cx="8567141" cy="1114425"/>
          </a:xfrm>
        </p:spPr>
        <p:txBody>
          <a:bodyPr/>
          <a:lstStyle>
            <a:lvl1pPr algn="ctr">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443883"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25041"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562725"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Tree>
    <p:extLst>
      <p:ext uri="{BB962C8B-B14F-4D97-AF65-F5344CB8AC3E}">
        <p14:creationId xmlns:p14="http://schemas.microsoft.com/office/powerpoint/2010/main" val="418849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1114425"/>
            <a:ext cx="5154216" cy="1438275"/>
          </a:xfrm>
        </p:spPr>
        <p:txBody>
          <a:bodyPr anchor="t" anchorCtr="0"/>
          <a:lstStyle>
            <a:lvl1pPr algn="l">
              <a:lnSpc>
                <a:spcPct val="100000"/>
              </a:lnSpc>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b="1">
                <a:solidFill>
                  <a:srgbClr val="000000"/>
                </a:solidFill>
              </a:defRPr>
            </a:lvl1pPr>
          </a:lstStyle>
          <a:p>
            <a:r>
              <a:rPr lang="en-US"/>
              <a:t>Presentation Title Goes Here</a:t>
            </a:r>
            <a:endParaRPr lang="en-US" dirty="0"/>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70C0">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dirty="0">
                <a:solidFill>
                  <a:srgbClr val="000000"/>
                </a:solidFill>
              </a:rPr>
              <a:t>ku.ac.ae</a:t>
            </a:r>
            <a:endParaRPr lang="en-US" sz="691" dirty="0">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443883"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25041"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562725" y="762001"/>
            <a:ext cx="3018234" cy="5553075"/>
          </a:xfrm>
          <a:solidFill>
            <a:schemeClr val="bg1">
              <a:lumMod val="85000"/>
            </a:schemeClr>
          </a:solidFill>
        </p:spPr>
        <p:txBody>
          <a:bodyPr/>
          <a:lstStyle>
            <a:lvl1pPr marL="0" indent="0">
              <a:buNone/>
              <a:defRPr/>
            </a:lvl1pPr>
          </a:lstStyle>
          <a:p>
            <a:r>
              <a:rPr lang="en-US"/>
              <a:t>Drag picture to placeholder or click icon to add</a:t>
            </a:r>
          </a:p>
        </p:txBody>
      </p:sp>
    </p:spTree>
    <p:extLst>
      <p:ext uri="{BB962C8B-B14F-4D97-AF65-F5344CB8AC3E}">
        <p14:creationId xmlns:p14="http://schemas.microsoft.com/office/powerpoint/2010/main" val="606654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rgbClr val="000000"/>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884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chemeClr val="tx2"/>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chemeClr val="tx2"/>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chemeClr val="tx2"/>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tx2"/>
                </a:solidFill>
              </a:rPr>
              <a:t>ku.ac.ae</a:t>
            </a:r>
            <a:endParaRPr lang="en-US" sz="691">
              <a:solidFill>
                <a:schemeClr val="tx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6"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5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94EFBB-C8CA-4201-A903-805856BEB310}"/>
              </a:ext>
            </a:extLst>
          </p:cNvPr>
          <p:cNvSpPr>
            <a:spLocks noGrp="1"/>
          </p:cNvSpPr>
          <p:nvPr>
            <p:ph type="dt" sz="half" idx="10"/>
          </p:nvPr>
        </p:nvSpPr>
        <p:spPr/>
        <p:txBody>
          <a:bodyPr/>
          <a:lstStyle/>
          <a:p>
            <a:r>
              <a:rPr lang="en-US"/>
              <a:t>DD Month 20XX</a:t>
            </a:r>
          </a:p>
        </p:txBody>
      </p:sp>
      <p:sp>
        <p:nvSpPr>
          <p:cNvPr id="3" name="Footer Placeholder 2">
            <a:extLst>
              <a:ext uri="{FF2B5EF4-FFF2-40B4-BE49-F238E27FC236}">
                <a16:creationId xmlns:a16="http://schemas.microsoft.com/office/drawing/2014/main" id="{8551DCEB-2462-4151-B7CC-F3EC0D3A59D6}"/>
              </a:ext>
            </a:extLst>
          </p:cNvPr>
          <p:cNvSpPr>
            <a:spLocks noGrp="1"/>
          </p:cNvSpPr>
          <p:nvPr>
            <p:ph type="ftr" sz="quarter" idx="11"/>
          </p:nvPr>
        </p:nvSpPr>
        <p:spPr/>
        <p:txBody>
          <a:bodyPr/>
          <a:lstStyle/>
          <a:p>
            <a:r>
              <a:rPr lang="en-US"/>
              <a:t>Presentation Title Goes Here</a:t>
            </a:r>
          </a:p>
        </p:txBody>
      </p:sp>
      <p:sp>
        <p:nvSpPr>
          <p:cNvPr id="4" name="Slide Number Placeholder 3">
            <a:extLst>
              <a:ext uri="{FF2B5EF4-FFF2-40B4-BE49-F238E27FC236}">
                <a16:creationId xmlns:a16="http://schemas.microsoft.com/office/drawing/2014/main" id="{B5A57B99-432B-45A8-9216-9BC01B297D0C}"/>
              </a:ext>
            </a:extLst>
          </p:cNvPr>
          <p:cNvSpPr>
            <a:spLocks noGrp="1"/>
          </p:cNvSpPr>
          <p:nvPr>
            <p:ph type="sldNum" sz="quarter" idx="12"/>
          </p:nvPr>
        </p:nvSpPr>
        <p:spPr/>
        <p:txBody>
          <a:bodyPr/>
          <a:lstStyle/>
          <a:p>
            <a:fld id="{1E68DD1B-5CD8-424B-8173-19E182143E0A}" type="slidenum">
              <a:rPr lang="en-US" smtClean="0"/>
              <a:t>‹#›</a:t>
            </a:fld>
            <a:endParaRPr lang="en-US"/>
          </a:p>
        </p:txBody>
      </p:sp>
    </p:spTree>
    <p:extLst>
      <p:ext uri="{BB962C8B-B14F-4D97-AF65-F5344CB8AC3E}">
        <p14:creationId xmlns:p14="http://schemas.microsoft.com/office/powerpoint/2010/main" val="4259154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D0CFC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75878" y="1204914"/>
            <a:ext cx="8543925" cy="2852737"/>
          </a:xfrm>
        </p:spPr>
        <p:txBody>
          <a:bodyPr anchor="b"/>
          <a:lstStyle>
            <a:lvl1pPr algn="ctr">
              <a:lnSpc>
                <a:spcPct val="100000"/>
              </a:lnSpc>
              <a:defRPr sz="4875"/>
            </a:lvl1pPr>
          </a:lstStyle>
          <a:p>
            <a:r>
              <a:rPr lang="en-US"/>
              <a:t>Click to edit Master title style</a:t>
            </a:r>
          </a:p>
        </p:txBody>
      </p:sp>
      <p:sp>
        <p:nvSpPr>
          <p:cNvPr id="3" name="Text Placeholder 2">
            <a:extLst>
              <a:ext uri="{FF2B5EF4-FFF2-40B4-BE49-F238E27FC236}">
                <a16:creationId xmlns:a16="http://schemas.microsoft.com/office/drawing/2014/main" id="{1104C747-8640-4D13-A1FA-90CDB4EBBF1D}"/>
              </a:ext>
            </a:extLst>
          </p:cNvPr>
          <p:cNvSpPr>
            <a:spLocks noGrp="1"/>
          </p:cNvSpPr>
          <p:nvPr>
            <p:ph type="body" idx="1"/>
          </p:nvPr>
        </p:nvSpPr>
        <p:spPr>
          <a:xfrm>
            <a:off x="675878" y="4000500"/>
            <a:ext cx="8543925" cy="1584326"/>
          </a:xfrm>
        </p:spPr>
        <p:txBody>
          <a:bodyPr>
            <a:normAutofit/>
          </a:bodyPr>
          <a:lstStyle>
            <a:lvl1pPr marL="0" indent="0" algn="ctr">
              <a:buNone/>
              <a:defRPr sz="3088">
                <a:solidFill>
                  <a:srgbClr val="000000"/>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2545361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ing Picture Backgroun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75878" y="1052514"/>
            <a:ext cx="8543925" cy="2852737"/>
          </a:xfrm>
        </p:spPr>
        <p:txBody>
          <a:bodyPr anchor="b"/>
          <a:lstStyle>
            <a:lvl1pPr algn="ctr">
              <a:lnSpc>
                <a:spcPct val="100000"/>
              </a:lnSpc>
              <a:defRPr sz="4875">
                <a:solidFill>
                  <a:srgbClr val="FFFFFF"/>
                </a:solidFill>
              </a:defRPr>
            </a:lvl1pPr>
          </a:lstStyle>
          <a:p>
            <a:r>
              <a:rPr lang="en-US"/>
              <a:t>Click to edit Master title style</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3658298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47BA"/>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55917" y="891158"/>
            <a:ext cx="1924556" cy="518220"/>
          </a:xfrm>
          <a:prstGeom prst="rect">
            <a:avLst/>
          </a:prstGeom>
        </p:spPr>
      </p:pic>
      <p:sp>
        <p:nvSpPr>
          <p:cNvPr id="4" name="TextBox 3">
            <a:extLst>
              <a:ext uri="{FF2B5EF4-FFF2-40B4-BE49-F238E27FC236}">
                <a16:creationId xmlns:a16="http://schemas.microsoft.com/office/drawing/2014/main" id="{AFAD5768-C7B0-4ABF-BE83-522BCD1F6FE5}"/>
              </a:ext>
            </a:extLst>
          </p:cNvPr>
          <p:cNvSpPr txBox="1"/>
          <p:nvPr userDrawn="1"/>
        </p:nvSpPr>
        <p:spPr>
          <a:xfrm>
            <a:off x="611386" y="2711687"/>
            <a:ext cx="8652272" cy="1437958"/>
          </a:xfrm>
          <a:prstGeom prst="rect">
            <a:avLst/>
          </a:prstGeom>
          <a:noFill/>
        </p:spPr>
        <p:txBody>
          <a:bodyPr wrap="square" lIns="0" tIns="0" rIns="0" bIns="0" rtlCol="0" anchor="ctr" anchorCtr="0">
            <a:spAutoFit/>
          </a:bodyPr>
          <a:lstStyle/>
          <a:p>
            <a:pPr algn="ctr"/>
            <a:r>
              <a:rPr lang="en-US" sz="9344" b="1" spc="-81" baseline="0" noProof="0" dirty="0">
                <a:solidFill>
                  <a:srgbClr val="FFFFFF"/>
                </a:solidFill>
                <a:latin typeface="+mj-lt"/>
              </a:rPr>
              <a:t>Thank You</a:t>
            </a:r>
          </a:p>
        </p:txBody>
      </p:sp>
      <p:sp>
        <p:nvSpPr>
          <p:cNvPr id="13" name="TextBox 12">
            <a:extLst>
              <a:ext uri="{FF2B5EF4-FFF2-40B4-BE49-F238E27FC236}">
                <a16:creationId xmlns:a16="http://schemas.microsoft.com/office/drawing/2014/main" id="{A94333D0-73BA-48D2-AA6E-3F2C63C9CA8F}"/>
              </a:ext>
            </a:extLst>
          </p:cNvPr>
          <p:cNvSpPr txBox="1"/>
          <p:nvPr userDrawn="1"/>
        </p:nvSpPr>
        <p:spPr>
          <a:xfrm>
            <a:off x="4210051" y="6146801"/>
            <a:ext cx="1493638" cy="244475"/>
          </a:xfrm>
          <a:prstGeom prst="rect">
            <a:avLst/>
          </a:prstGeom>
          <a:noFill/>
        </p:spPr>
        <p:txBody>
          <a:bodyPr wrap="square" lIns="0" tIns="0" rIns="0" bIns="0" rtlCol="0" anchor="ctr" anchorCtr="0">
            <a:noAutofit/>
          </a:bodyPr>
          <a:lstStyle/>
          <a:p>
            <a:pPr algn="ctr"/>
            <a:r>
              <a:rPr lang="en-US" sz="1016" b="1" noProof="0" dirty="0">
                <a:solidFill>
                  <a:srgbClr val="FFFFFF"/>
                </a:solidFill>
              </a:rPr>
              <a:t>ku.ac.ae</a:t>
            </a:r>
          </a:p>
        </p:txBody>
      </p:sp>
    </p:spTree>
    <p:extLst>
      <p:ext uri="{BB962C8B-B14F-4D97-AF65-F5344CB8AC3E}">
        <p14:creationId xmlns:p14="http://schemas.microsoft.com/office/powerpoint/2010/main" val="2419569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564FE-F745-443F-8321-B0EFD169FAC6}"/>
              </a:ext>
            </a:extLst>
          </p:cNvPr>
          <p:cNvSpPr>
            <a:spLocks noGrp="1"/>
          </p:cNvSpPr>
          <p:nvPr>
            <p:ph type="title"/>
          </p:nvPr>
        </p:nvSpPr>
        <p:spPr>
          <a:xfrm>
            <a:off x="922796" y="542925"/>
            <a:ext cx="8286851" cy="824148"/>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911581-2B37-40B3-825A-043921DFB80C}"/>
              </a:ext>
            </a:extLst>
          </p:cNvPr>
          <p:cNvSpPr>
            <a:spLocks noGrp="1"/>
          </p:cNvSpPr>
          <p:nvPr>
            <p:ph type="body" idx="1"/>
          </p:nvPr>
        </p:nvSpPr>
        <p:spPr>
          <a:xfrm>
            <a:off x="902873" y="1530037"/>
            <a:ext cx="8321486" cy="483936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172D0-FD25-45C4-A82E-F4094DCDE0CC}"/>
              </a:ext>
            </a:extLst>
          </p:cNvPr>
          <p:cNvSpPr>
            <a:spLocks noGrp="1"/>
          </p:cNvSpPr>
          <p:nvPr>
            <p:ph type="dt" sz="half" idx="2"/>
          </p:nvPr>
        </p:nvSpPr>
        <p:spPr>
          <a:xfrm>
            <a:off x="6570464" y="203201"/>
            <a:ext cx="1408509" cy="244475"/>
          </a:xfrm>
          <a:prstGeom prst="rect">
            <a:avLst/>
          </a:prstGeom>
        </p:spPr>
        <p:txBody>
          <a:bodyPr vert="horz" lIns="0" tIns="0" rIns="0" bIns="0" rtlCol="0" anchor="ctr"/>
          <a:lstStyle>
            <a:lvl1pPr algn="r">
              <a:defRPr sz="691">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F5B18871-7BC3-4A13-9CC9-B9A1DB22F262}"/>
              </a:ext>
            </a:extLst>
          </p:cNvPr>
          <p:cNvSpPr>
            <a:spLocks noGrp="1"/>
          </p:cNvSpPr>
          <p:nvPr>
            <p:ph type="ftr" sz="quarter" idx="3"/>
          </p:nvPr>
        </p:nvSpPr>
        <p:spPr>
          <a:xfrm>
            <a:off x="2329458" y="203201"/>
            <a:ext cx="3343275" cy="244475"/>
          </a:xfrm>
          <a:prstGeom prst="rect">
            <a:avLst/>
          </a:prstGeom>
        </p:spPr>
        <p:txBody>
          <a:bodyPr vert="horz" lIns="0" tIns="0" rIns="0" bIns="0" rtlCol="0" anchor="ctr"/>
          <a:lstStyle>
            <a:lvl1pPr algn="ctr">
              <a:defRPr sz="691">
                <a:solidFill>
                  <a:srgbClr val="000000"/>
                </a:solidFill>
              </a:defRPr>
            </a:lvl1pPr>
          </a:lstStyle>
          <a:p>
            <a:r>
              <a:rPr lang="en-US" dirty="0"/>
              <a:t>Presentation Title Goes Here</a:t>
            </a:r>
          </a:p>
        </p:txBody>
      </p:sp>
      <p:sp>
        <p:nvSpPr>
          <p:cNvPr id="6" name="Slide Number Placeholder 5">
            <a:extLst>
              <a:ext uri="{FF2B5EF4-FFF2-40B4-BE49-F238E27FC236}">
                <a16:creationId xmlns:a16="http://schemas.microsoft.com/office/drawing/2014/main" id="{A7EA17DA-0D3F-410F-A9AA-3171ED151327}"/>
              </a:ext>
            </a:extLst>
          </p:cNvPr>
          <p:cNvSpPr>
            <a:spLocks noGrp="1"/>
          </p:cNvSpPr>
          <p:nvPr>
            <p:ph type="sldNum" sz="quarter" idx="4"/>
          </p:nvPr>
        </p:nvSpPr>
        <p:spPr>
          <a:xfrm>
            <a:off x="9395222" y="203201"/>
            <a:ext cx="425648" cy="244475"/>
          </a:xfrm>
          <a:prstGeom prst="rect">
            <a:avLst/>
          </a:prstGeom>
        </p:spPr>
        <p:txBody>
          <a:bodyPr vert="horz" lIns="0" tIns="0" rIns="0" bIns="0" rtlCol="0" anchor="ctr"/>
          <a:lstStyle>
            <a:lvl1pPr algn="ctr">
              <a:defRPr sz="691">
                <a:solidFill>
                  <a:srgbClr val="000000"/>
                </a:solidFill>
              </a:defRPr>
            </a:lvl1pPr>
          </a:lstStyle>
          <a:p>
            <a:fld id="{1E68DD1B-5CD8-424B-8173-19E182143E0A}" type="slidenum">
              <a:rPr lang="en-US" smtClean="0"/>
              <a:pPr/>
              <a:t>‹#›</a:t>
            </a:fld>
            <a:endParaRPr lang="en-US"/>
          </a:p>
        </p:txBody>
      </p:sp>
      <p:sp>
        <p:nvSpPr>
          <p:cNvPr id="13" name="TextBox 12">
            <a:extLst>
              <a:ext uri="{FF2B5EF4-FFF2-40B4-BE49-F238E27FC236}">
                <a16:creationId xmlns:a16="http://schemas.microsoft.com/office/drawing/2014/main" id="{AC18493A-1FC9-483C-BC41-405831F9D96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pic>
        <p:nvPicPr>
          <p:cNvPr id="8" name="Picture 7">
            <a:extLst>
              <a:ext uri="{FF2B5EF4-FFF2-40B4-BE49-F238E27FC236}">
                <a16:creationId xmlns:a16="http://schemas.microsoft.com/office/drawing/2014/main" id="{85F31A79-8F5C-4459-9F47-4F4A56020D63}"/>
              </a:ext>
            </a:extLst>
          </p:cNvPr>
          <p:cNvPicPr>
            <a:picLocks noChangeAspect="1"/>
          </p:cNvPicPr>
          <p:nvPr userDrawn="1"/>
        </p:nvPicPr>
        <p:blipFill>
          <a:blip r:embed="rId19"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Tree>
    <p:extLst>
      <p:ext uri="{BB962C8B-B14F-4D97-AF65-F5344CB8AC3E}">
        <p14:creationId xmlns:p14="http://schemas.microsoft.com/office/powerpoint/2010/main" val="1107456480"/>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50" r:id="rId4"/>
    <p:sldLayoutId id="2147483662" r:id="rId5"/>
    <p:sldLayoutId id="2147483652" r:id="rId6"/>
    <p:sldLayoutId id="2147483661" r:id="rId7"/>
    <p:sldLayoutId id="2147483663" r:id="rId8"/>
    <p:sldLayoutId id="2147483660" r:id="rId9"/>
    <p:sldLayoutId id="2147483664" r:id="rId10"/>
    <p:sldLayoutId id="2147483665" r:id="rId11"/>
    <p:sldLayoutId id="2147483654" r:id="rId12"/>
    <p:sldLayoutId id="2147483671" r:id="rId13"/>
    <p:sldLayoutId id="2147483655" r:id="rId14"/>
    <p:sldLayoutId id="2147483651" r:id="rId15"/>
    <p:sldLayoutId id="2147483666" r:id="rId16"/>
    <p:sldLayoutId id="2147483667" r:id="rId17"/>
  </p:sldLayoutIdLst>
  <p:hf hdr="0"/>
  <p:txStyles>
    <p:titleStyle>
      <a:lvl1pPr algn="l" defTabSz="742950" rtl="0" eaLnBrk="1" latinLnBrk="0" hangingPunct="1">
        <a:lnSpc>
          <a:spcPct val="100000"/>
        </a:lnSpc>
        <a:spcBef>
          <a:spcPct val="0"/>
        </a:spcBef>
        <a:buNone/>
        <a:defRPr sz="2925" b="1" kern="1200" spc="41" baseline="0">
          <a:solidFill>
            <a:schemeClr val="tx2"/>
          </a:solidFill>
          <a:latin typeface="+mj-lt"/>
          <a:ea typeface="+mj-ea"/>
          <a:cs typeface="+mj-cs"/>
        </a:defRPr>
      </a:lvl1pPr>
    </p:titleStyle>
    <p:bodyStyle>
      <a:lvl1pPr marL="147042" indent="-147042" algn="l" defTabSz="742950" rtl="0" eaLnBrk="1" latinLnBrk="0" hangingPunct="1">
        <a:lnSpc>
          <a:spcPct val="100000"/>
        </a:lnSpc>
        <a:spcBef>
          <a:spcPts val="325"/>
        </a:spcBef>
        <a:buFont typeface="Arial" panose="020B0604020202020204" pitchFamily="34" charset="0"/>
        <a:buChar char="•"/>
        <a:defRPr sz="1503" b="1" kern="1200">
          <a:solidFill>
            <a:schemeClr val="tx1"/>
          </a:solidFill>
          <a:latin typeface="+mn-lt"/>
          <a:ea typeface="+mn-ea"/>
          <a:cs typeface="+mn-cs"/>
        </a:defRPr>
      </a:lvl1pPr>
      <a:lvl2pPr marL="441127" indent="-147042" algn="l" defTabSz="742950" rtl="0" eaLnBrk="1" latinLnBrk="0" hangingPunct="1">
        <a:lnSpc>
          <a:spcPct val="100000"/>
        </a:lnSpc>
        <a:spcBef>
          <a:spcPts val="325"/>
        </a:spcBef>
        <a:buFont typeface="Arial" panose="020B0604020202020204" pitchFamily="34" charset="0"/>
        <a:buChar char="•"/>
        <a:defRPr sz="1503" kern="1200">
          <a:solidFill>
            <a:schemeClr val="tx1"/>
          </a:solidFill>
          <a:latin typeface="+mn-lt"/>
          <a:ea typeface="+mn-ea"/>
          <a:cs typeface="+mn-cs"/>
        </a:defRPr>
      </a:lvl2pPr>
      <a:lvl3pPr marL="580430" indent="-139303"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3pPr>
      <a:lvl4pPr marL="727472" indent="-147042"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4pPr>
      <a:lvl5pPr marL="874514" indent="-147042"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vmlDrawing" Target="../drawings/vmlDrawing1.vml"/><Relationship Id="rId5" Type="http://schemas.openxmlformats.org/officeDocument/2006/relationships/image" Target="../media/image10.emf"/><Relationship Id="rId4" Type="http://schemas.openxmlformats.org/officeDocument/2006/relationships/package" Target="../embeddings/Microsoft_Excel_Worksheet.xlsx"/></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a:spLocks noGrp="1"/>
          </p:cNvSpPr>
          <p:nvPr>
            <p:ph type="ctrTitle"/>
          </p:nvPr>
        </p:nvSpPr>
        <p:spPr>
          <a:xfrm>
            <a:off x="669535" y="2271472"/>
            <a:ext cx="7240504" cy="1393031"/>
          </a:xfrm>
        </p:spPr>
        <p:txBody>
          <a:bodyPr>
            <a:normAutofit fontScale="90000"/>
          </a:bodyPr>
          <a:lstStyle/>
          <a:p>
            <a:pPr algn="l"/>
            <a:r>
              <a:rPr lang="en-US" noProof="0" dirty="0"/>
              <a:t>Research Computing Update</a:t>
            </a:r>
          </a:p>
        </p:txBody>
      </p:sp>
      <p:sp>
        <p:nvSpPr>
          <p:cNvPr id="3" name="Subtitle 2">
            <a:extLst>
              <a:ext uri="{FF2B5EF4-FFF2-40B4-BE49-F238E27FC236}">
                <a16:creationId xmlns:a16="http://schemas.microsoft.com/office/drawing/2014/main" id="{C0FC7021-FB77-4D35-AE1D-A857D1A422CD}"/>
              </a:ext>
            </a:extLst>
          </p:cNvPr>
          <p:cNvSpPr>
            <a:spLocks noGrp="1"/>
          </p:cNvSpPr>
          <p:nvPr>
            <p:ph type="subTitle" idx="1"/>
          </p:nvPr>
        </p:nvSpPr>
        <p:spPr>
          <a:xfrm>
            <a:off x="669535" y="3695460"/>
            <a:ext cx="7240504" cy="1013817"/>
          </a:xfrm>
        </p:spPr>
        <p:txBody>
          <a:bodyPr/>
          <a:lstStyle/>
          <a:p>
            <a:pPr algn="l"/>
            <a:r>
              <a:rPr lang="en-US" dirty="0"/>
              <a:t>March</a:t>
            </a:r>
            <a:r>
              <a:rPr lang="en-US" noProof="0" dirty="0"/>
              <a:t> 2021</a:t>
            </a:r>
          </a:p>
        </p:txBody>
      </p:sp>
      <p:sp>
        <p:nvSpPr>
          <p:cNvPr id="4" name="Text Placeholder 3">
            <a:extLst>
              <a:ext uri="{FF2B5EF4-FFF2-40B4-BE49-F238E27FC236}">
                <a16:creationId xmlns:a16="http://schemas.microsoft.com/office/drawing/2014/main" id="{4D96F05C-E8E5-40A0-96E2-70DA59031E10}"/>
              </a:ext>
            </a:extLst>
          </p:cNvPr>
          <p:cNvSpPr>
            <a:spLocks noGrp="1"/>
          </p:cNvSpPr>
          <p:nvPr>
            <p:ph type="body" sz="quarter" idx="10"/>
          </p:nvPr>
        </p:nvSpPr>
        <p:spPr>
          <a:xfrm>
            <a:off x="669535" y="5103968"/>
            <a:ext cx="5468259" cy="255389"/>
          </a:xfrm>
        </p:spPr>
        <p:txBody>
          <a:bodyPr/>
          <a:lstStyle/>
          <a:p>
            <a:pPr algn="l"/>
            <a:endParaRPr lang="en-US" noProof="0" dirty="0"/>
          </a:p>
        </p:txBody>
      </p:sp>
    </p:spTree>
    <p:extLst>
      <p:ext uri="{BB962C8B-B14F-4D97-AF65-F5344CB8AC3E}">
        <p14:creationId xmlns:p14="http://schemas.microsoft.com/office/powerpoint/2010/main" val="319863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871952"/>
            <a:ext cx="3397449" cy="609876"/>
          </a:xfrm>
        </p:spPr>
        <p:txBody>
          <a:bodyPr>
            <a:normAutofit/>
          </a:bodyPr>
          <a:lstStyle/>
          <a:p>
            <a:r>
              <a:rPr lang="en-US" noProof="0" dirty="0"/>
              <a:t>HPC Resources</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a:bodyPr>
          <a:lstStyle/>
          <a:p>
            <a:r>
              <a:rPr lang="en-US" sz="2400" dirty="0"/>
              <a:t>New HPC Procurement via ANKABUT</a:t>
            </a:r>
          </a:p>
          <a:p>
            <a:pPr lvl="1"/>
            <a:r>
              <a:rPr lang="en-US" sz="2400" dirty="0"/>
              <a:t>Continued delays to launch due to missing identity management system at KU. Currently being worked on and expect test users early May.</a:t>
            </a:r>
          </a:p>
          <a:p>
            <a:pPr lvl="1"/>
            <a:endParaRPr lang="en-US" sz="2400" dirty="0"/>
          </a:p>
          <a:p>
            <a:r>
              <a:rPr lang="en-US" sz="2400" dirty="0"/>
              <a:t>Masdar </a:t>
            </a:r>
            <a:r>
              <a:rPr lang="en-US" sz="2400" dirty="0" err="1"/>
              <a:t>Datacentre</a:t>
            </a:r>
            <a:r>
              <a:rPr lang="en-US" sz="2400" dirty="0"/>
              <a:t> resources HPC Cluster</a:t>
            </a:r>
          </a:p>
          <a:p>
            <a:pPr lvl="1"/>
            <a:r>
              <a:rPr lang="en-US" sz="2400" dirty="0"/>
              <a:t>Big push to vacate Masdar </a:t>
            </a:r>
            <a:r>
              <a:rPr lang="en-US" sz="2400" dirty="0" err="1"/>
              <a:t>Datacentre</a:t>
            </a:r>
            <a:r>
              <a:rPr lang="en-US" sz="2400" dirty="0"/>
              <a:t>, though no solid date given.</a:t>
            </a:r>
          </a:p>
          <a:p>
            <a:pPr lvl="1"/>
            <a:r>
              <a:rPr lang="en-US" sz="2400" dirty="0"/>
              <a:t>Working with IT/</a:t>
            </a:r>
            <a:r>
              <a:rPr lang="en-US" sz="2400" dirty="0" err="1"/>
              <a:t>Ankabut</a:t>
            </a:r>
            <a:r>
              <a:rPr lang="en-US" sz="2400" dirty="0"/>
              <a:t> to vacate as soon as possible</a:t>
            </a:r>
          </a:p>
          <a:p>
            <a:r>
              <a:rPr lang="en-US" sz="2400" dirty="0"/>
              <a:t>SAN HPC Cluster</a:t>
            </a:r>
          </a:p>
          <a:p>
            <a:pPr lvl="1"/>
            <a:r>
              <a:rPr lang="en-US" sz="2400" dirty="0"/>
              <a:t>Quote for the decommissioning of hardware with ADNOC now, awaiting their decision. No update from ADNOC.</a:t>
            </a:r>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2</a:t>
            </a:fld>
            <a:endParaRPr lang="en-US"/>
          </a:p>
        </p:txBody>
      </p:sp>
    </p:spTree>
    <p:extLst>
      <p:ext uri="{BB962C8B-B14F-4D97-AF65-F5344CB8AC3E}">
        <p14:creationId xmlns:p14="http://schemas.microsoft.com/office/powerpoint/2010/main" val="537252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AF31104-3D8A-0B44-9CC2-F61A30B4AF0B}"/>
              </a:ext>
            </a:extLst>
          </p:cNvPr>
          <p:cNvSpPr>
            <a:spLocks noGrp="1"/>
          </p:cNvSpPr>
          <p:nvPr>
            <p:ph type="title"/>
          </p:nvPr>
        </p:nvSpPr>
        <p:spPr/>
        <p:txBody>
          <a:bodyPr/>
          <a:lstStyle/>
          <a:p>
            <a:r>
              <a:rPr lang="en-US" dirty="0"/>
              <a:t>Resource Utilization</a:t>
            </a:r>
          </a:p>
        </p:txBody>
      </p:sp>
      <p:sp>
        <p:nvSpPr>
          <p:cNvPr id="4" name="Date Placeholder 3">
            <a:extLst>
              <a:ext uri="{FF2B5EF4-FFF2-40B4-BE49-F238E27FC236}">
                <a16:creationId xmlns:a16="http://schemas.microsoft.com/office/drawing/2014/main" id="{A69D9926-E230-B042-AAAC-E240A106E2A2}"/>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F378F346-C148-3D45-B589-43294848291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1340B75F-FBEC-2A43-82EA-CF34228987A8}"/>
              </a:ext>
            </a:extLst>
          </p:cNvPr>
          <p:cNvSpPr>
            <a:spLocks noGrp="1"/>
          </p:cNvSpPr>
          <p:nvPr>
            <p:ph type="sldNum" sz="quarter" idx="12"/>
          </p:nvPr>
        </p:nvSpPr>
        <p:spPr/>
        <p:txBody>
          <a:bodyPr/>
          <a:lstStyle/>
          <a:p>
            <a:fld id="{1E68DD1B-5CD8-424B-8173-19E182143E0A}" type="slidenum">
              <a:rPr lang="en-US" smtClean="0"/>
              <a:t>3</a:t>
            </a:fld>
            <a:endParaRPr lang="en-US"/>
          </a:p>
        </p:txBody>
      </p:sp>
    </p:spTree>
    <p:extLst>
      <p:ext uri="{BB962C8B-B14F-4D97-AF65-F5344CB8AC3E}">
        <p14:creationId xmlns:p14="http://schemas.microsoft.com/office/powerpoint/2010/main" val="2679952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C2B18CD-314B-E342-B3B4-7614009BEBC5}"/>
              </a:ext>
            </a:extLst>
          </p:cNvPr>
          <p:cNvSpPr>
            <a:spLocks noGrp="1"/>
          </p:cNvSpPr>
          <p:nvPr>
            <p:ph type="title"/>
          </p:nvPr>
        </p:nvSpPr>
        <p:spPr/>
        <p:txBody>
          <a:bodyPr/>
          <a:lstStyle/>
          <a:p>
            <a:r>
              <a:rPr lang="en-US" dirty="0"/>
              <a:t>KU Cluster core distribution</a:t>
            </a:r>
          </a:p>
        </p:txBody>
      </p:sp>
      <p:sp>
        <p:nvSpPr>
          <p:cNvPr id="6" name="Slide Number Placeholder 5">
            <a:extLst>
              <a:ext uri="{FF2B5EF4-FFF2-40B4-BE49-F238E27FC236}">
                <a16:creationId xmlns:a16="http://schemas.microsoft.com/office/drawing/2014/main" id="{FC26E497-6E76-9A43-9B29-13DEE3536AD1}"/>
              </a:ext>
            </a:extLst>
          </p:cNvPr>
          <p:cNvSpPr>
            <a:spLocks noGrp="1"/>
          </p:cNvSpPr>
          <p:nvPr>
            <p:ph type="sldNum" sz="quarter" idx="12"/>
          </p:nvPr>
        </p:nvSpPr>
        <p:spPr/>
        <p:txBody>
          <a:bodyPr/>
          <a:lstStyle/>
          <a:p>
            <a:fld id="{1E68DD1B-5CD8-424B-8173-19E182143E0A}" type="slidenum">
              <a:rPr lang="en-US" smtClean="0"/>
              <a:t>4</a:t>
            </a:fld>
            <a:endParaRPr lang="en-US"/>
          </a:p>
        </p:txBody>
      </p:sp>
      <p:graphicFrame>
        <p:nvGraphicFramePr>
          <p:cNvPr id="10" name="Content Placeholder 9">
            <a:extLst>
              <a:ext uri="{FF2B5EF4-FFF2-40B4-BE49-F238E27FC236}">
                <a16:creationId xmlns:a16="http://schemas.microsoft.com/office/drawing/2014/main" id="{F7222D7C-BAC1-C443-B54C-AF8CEA06189B}"/>
              </a:ext>
            </a:extLst>
          </p:cNvPr>
          <p:cNvGraphicFramePr>
            <a:graphicFrameLocks noGrp="1"/>
          </p:cNvGraphicFramePr>
          <p:nvPr>
            <p:ph idx="1"/>
          </p:nvPr>
        </p:nvGraphicFramePr>
        <p:xfrm>
          <a:off x="760413" y="1503363"/>
          <a:ext cx="8521700" cy="481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81546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5</a:t>
            </a:fld>
            <a:endParaRPr lang="en-US"/>
          </a:p>
        </p:txBody>
      </p:sp>
      <p:pic>
        <p:nvPicPr>
          <p:cNvPr id="4" name="Picture 3" descr="Chart, bar chart&#10;&#10;Description automatically generated">
            <a:extLst>
              <a:ext uri="{FF2B5EF4-FFF2-40B4-BE49-F238E27FC236}">
                <a16:creationId xmlns:a16="http://schemas.microsoft.com/office/drawing/2014/main" id="{1B344D68-A966-1B45-88E5-5BE608721B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64755"/>
            <a:ext cx="9906000" cy="5128490"/>
          </a:xfrm>
          <a:prstGeom prst="rect">
            <a:avLst/>
          </a:prstGeom>
        </p:spPr>
      </p:pic>
    </p:spTree>
    <p:extLst>
      <p:ext uri="{BB962C8B-B14F-4D97-AF65-F5344CB8AC3E}">
        <p14:creationId xmlns:p14="http://schemas.microsoft.com/office/powerpoint/2010/main" val="2637941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6</a:t>
            </a:fld>
            <a:endParaRPr lang="en-US"/>
          </a:p>
        </p:txBody>
      </p:sp>
      <p:pic>
        <p:nvPicPr>
          <p:cNvPr id="3" name="Picture 2" descr="Chart, bar chart&#10;&#10;Description automatically generated">
            <a:extLst>
              <a:ext uri="{FF2B5EF4-FFF2-40B4-BE49-F238E27FC236}">
                <a16:creationId xmlns:a16="http://schemas.microsoft.com/office/drawing/2014/main" id="{592FD2C7-0151-CB48-9284-25A2672D38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24791"/>
            <a:ext cx="9906000" cy="5208418"/>
          </a:xfrm>
          <a:prstGeom prst="rect">
            <a:avLst/>
          </a:prstGeom>
        </p:spPr>
      </p:pic>
    </p:spTree>
    <p:extLst>
      <p:ext uri="{BB962C8B-B14F-4D97-AF65-F5344CB8AC3E}">
        <p14:creationId xmlns:p14="http://schemas.microsoft.com/office/powerpoint/2010/main" val="1999662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7</a:t>
            </a:fld>
            <a:endParaRPr lang="en-US"/>
          </a:p>
        </p:txBody>
      </p:sp>
      <p:pic>
        <p:nvPicPr>
          <p:cNvPr id="4" name="Picture 3" descr="Chart, bar chart&#10;&#10;Description automatically generated">
            <a:extLst>
              <a:ext uri="{FF2B5EF4-FFF2-40B4-BE49-F238E27FC236}">
                <a16:creationId xmlns:a16="http://schemas.microsoft.com/office/drawing/2014/main" id="{31CDF76B-328A-174E-A4E1-366747AAAD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35848"/>
            <a:ext cx="9906000" cy="5186303"/>
          </a:xfrm>
          <a:prstGeom prst="rect">
            <a:avLst/>
          </a:prstGeom>
        </p:spPr>
      </p:pic>
    </p:spTree>
    <p:extLst>
      <p:ext uri="{BB962C8B-B14F-4D97-AF65-F5344CB8AC3E}">
        <p14:creationId xmlns:p14="http://schemas.microsoft.com/office/powerpoint/2010/main" val="4139098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381500-920A-9240-8423-D6601A796116}"/>
              </a:ext>
            </a:extLst>
          </p:cNvPr>
          <p:cNvSpPr>
            <a:spLocks noGrp="1"/>
          </p:cNvSpPr>
          <p:nvPr>
            <p:ph type="sldNum" sz="quarter" idx="12"/>
          </p:nvPr>
        </p:nvSpPr>
        <p:spPr/>
        <p:txBody>
          <a:bodyPr/>
          <a:lstStyle/>
          <a:p>
            <a:fld id="{1E68DD1B-5CD8-424B-8173-19E182143E0A}" type="slidenum">
              <a:rPr lang="en-US" smtClean="0"/>
              <a:t>8</a:t>
            </a:fld>
            <a:endParaRPr lang="en-US"/>
          </a:p>
        </p:txBody>
      </p:sp>
      <p:sp>
        <p:nvSpPr>
          <p:cNvPr id="6" name="TextBox 5">
            <a:extLst>
              <a:ext uri="{FF2B5EF4-FFF2-40B4-BE49-F238E27FC236}">
                <a16:creationId xmlns:a16="http://schemas.microsoft.com/office/drawing/2014/main" id="{D095D356-119E-BF46-9F72-A9AC75C905C0}"/>
              </a:ext>
            </a:extLst>
          </p:cNvPr>
          <p:cNvSpPr txBox="1"/>
          <p:nvPr/>
        </p:nvSpPr>
        <p:spPr>
          <a:xfrm>
            <a:off x="763458" y="540341"/>
            <a:ext cx="8705007" cy="715581"/>
          </a:xfrm>
          <a:prstGeom prst="rect">
            <a:avLst/>
          </a:prstGeom>
          <a:noFill/>
        </p:spPr>
        <p:txBody>
          <a:bodyPr wrap="square" lIns="0" tIns="0" rIns="0" bIns="0" rtlCol="0">
            <a:spAutoFit/>
          </a:bodyPr>
          <a:lstStyle/>
          <a:p>
            <a:pPr algn="l"/>
            <a:r>
              <a:rPr lang="en-US" sz="1850" dirty="0"/>
              <a:t>KU HPC  Group Utilization for March 2021.</a:t>
            </a:r>
          </a:p>
          <a:p>
            <a:pPr marL="742950" lvl="1" indent="-285750">
              <a:buFont typeface="Arial" panose="020B0604020202020204" pitchFamily="34" charset="0"/>
              <a:buChar char="•"/>
            </a:pPr>
            <a:r>
              <a:rPr lang="en-US" sz="1400" dirty="0"/>
              <a:t>Groups were created under PI names, some of which have left KU, though the group remains. There is no link directly between HPC accounts and HR data. That is being worked on for the new cluster.</a:t>
            </a:r>
          </a:p>
        </p:txBody>
      </p:sp>
      <p:graphicFrame>
        <p:nvGraphicFramePr>
          <p:cNvPr id="2" name="Object 1">
            <a:extLst>
              <a:ext uri="{FF2B5EF4-FFF2-40B4-BE49-F238E27FC236}">
                <a16:creationId xmlns:a16="http://schemas.microsoft.com/office/drawing/2014/main" id="{5E5FC061-9877-2740-9291-3DE855338E79}"/>
              </a:ext>
            </a:extLst>
          </p:cNvPr>
          <p:cNvGraphicFramePr>
            <a:graphicFrameLocks noChangeAspect="1"/>
          </p:cNvGraphicFramePr>
          <p:nvPr>
            <p:extLst>
              <p:ext uri="{D42A27DB-BD31-4B8C-83A1-F6EECF244321}">
                <p14:modId xmlns:p14="http://schemas.microsoft.com/office/powerpoint/2010/main" val="3595996205"/>
              </p:ext>
            </p:extLst>
          </p:nvPr>
        </p:nvGraphicFramePr>
        <p:xfrm>
          <a:off x="1353421" y="1345980"/>
          <a:ext cx="7102321" cy="5095662"/>
        </p:xfrm>
        <a:graphic>
          <a:graphicData uri="http://schemas.openxmlformats.org/presentationml/2006/ole">
            <mc:AlternateContent xmlns:mc="http://schemas.openxmlformats.org/markup-compatibility/2006">
              <mc:Choice xmlns:v="urn:schemas-microsoft-com:vml" Requires="v">
                <p:oleObj spid="_x0000_s1090" name="Worksheet" r:id="rId4" imgW="9575800" imgH="6870700" progId="Excel.Sheet.12">
                  <p:embed/>
                </p:oleObj>
              </mc:Choice>
              <mc:Fallback>
                <p:oleObj name="Worksheet" r:id="rId4" imgW="9575800" imgH="6870700" progId="Excel.Sheet.12">
                  <p:embed/>
                  <p:pic>
                    <p:nvPicPr>
                      <p:cNvPr id="0" name=""/>
                      <p:cNvPicPr/>
                      <p:nvPr/>
                    </p:nvPicPr>
                    <p:blipFill>
                      <a:blip r:embed="rId5"/>
                      <a:stretch>
                        <a:fillRect/>
                      </a:stretch>
                    </p:blipFill>
                    <p:spPr>
                      <a:xfrm>
                        <a:off x="1353421" y="1345980"/>
                        <a:ext cx="7102321" cy="5095662"/>
                      </a:xfrm>
                      <a:prstGeom prst="rect">
                        <a:avLst/>
                      </a:prstGeom>
                    </p:spPr>
                  </p:pic>
                </p:oleObj>
              </mc:Fallback>
            </mc:AlternateContent>
          </a:graphicData>
        </a:graphic>
      </p:graphicFrame>
    </p:spTree>
    <p:extLst>
      <p:ext uri="{BB962C8B-B14F-4D97-AF65-F5344CB8AC3E}">
        <p14:creationId xmlns:p14="http://schemas.microsoft.com/office/powerpoint/2010/main" val="3904714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C2B18CD-314B-E342-B3B4-7614009BEBC5}"/>
              </a:ext>
            </a:extLst>
          </p:cNvPr>
          <p:cNvSpPr>
            <a:spLocks noGrp="1"/>
          </p:cNvSpPr>
          <p:nvPr>
            <p:ph type="title"/>
          </p:nvPr>
        </p:nvSpPr>
        <p:spPr/>
        <p:txBody>
          <a:bodyPr/>
          <a:lstStyle/>
          <a:p>
            <a:r>
              <a:rPr lang="en-US" dirty="0"/>
              <a:t>PI Cluster core distribution</a:t>
            </a:r>
          </a:p>
        </p:txBody>
      </p:sp>
      <p:sp>
        <p:nvSpPr>
          <p:cNvPr id="6" name="Slide Number Placeholder 5">
            <a:extLst>
              <a:ext uri="{FF2B5EF4-FFF2-40B4-BE49-F238E27FC236}">
                <a16:creationId xmlns:a16="http://schemas.microsoft.com/office/drawing/2014/main" id="{FC26E497-6E76-9A43-9B29-13DEE3536AD1}"/>
              </a:ext>
            </a:extLst>
          </p:cNvPr>
          <p:cNvSpPr>
            <a:spLocks noGrp="1"/>
          </p:cNvSpPr>
          <p:nvPr>
            <p:ph type="sldNum" sz="quarter" idx="12"/>
          </p:nvPr>
        </p:nvSpPr>
        <p:spPr/>
        <p:txBody>
          <a:bodyPr/>
          <a:lstStyle/>
          <a:p>
            <a:fld id="{1E68DD1B-5CD8-424B-8173-19E182143E0A}" type="slidenum">
              <a:rPr lang="en-US" smtClean="0"/>
              <a:t>9</a:t>
            </a:fld>
            <a:endParaRPr lang="en-US"/>
          </a:p>
        </p:txBody>
      </p:sp>
      <p:graphicFrame>
        <p:nvGraphicFramePr>
          <p:cNvPr id="7" name="Content Placeholder 6">
            <a:extLst>
              <a:ext uri="{FF2B5EF4-FFF2-40B4-BE49-F238E27FC236}">
                <a16:creationId xmlns:a16="http://schemas.microsoft.com/office/drawing/2014/main" id="{B50C76DE-7CD8-CE4D-B768-A45CAEDDBC86}"/>
              </a:ext>
            </a:extLst>
          </p:cNvPr>
          <p:cNvGraphicFramePr>
            <a:graphicFrameLocks noGrp="1"/>
          </p:cNvGraphicFramePr>
          <p:nvPr>
            <p:ph idx="1"/>
          </p:nvPr>
        </p:nvGraphicFramePr>
        <p:xfrm>
          <a:off x="760413" y="1503363"/>
          <a:ext cx="8521700" cy="481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14753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381500-920A-9240-8423-D6601A796116}"/>
              </a:ext>
            </a:extLst>
          </p:cNvPr>
          <p:cNvSpPr>
            <a:spLocks noGrp="1"/>
          </p:cNvSpPr>
          <p:nvPr>
            <p:ph type="sldNum" sz="quarter" idx="12"/>
          </p:nvPr>
        </p:nvSpPr>
        <p:spPr/>
        <p:txBody>
          <a:bodyPr/>
          <a:lstStyle/>
          <a:p>
            <a:fld id="{1E68DD1B-5CD8-424B-8173-19E182143E0A}" type="slidenum">
              <a:rPr lang="en-US" smtClean="0"/>
              <a:t>10</a:t>
            </a:fld>
            <a:endParaRPr lang="en-US" dirty="0"/>
          </a:p>
        </p:txBody>
      </p:sp>
      <p:pic>
        <p:nvPicPr>
          <p:cNvPr id="3" name="Picture 2" descr="Chart, bar chart&#10;&#10;Description automatically generated">
            <a:extLst>
              <a:ext uri="{FF2B5EF4-FFF2-40B4-BE49-F238E27FC236}">
                <a16:creationId xmlns:a16="http://schemas.microsoft.com/office/drawing/2014/main" id="{06AC78A6-13CB-E94C-BFB8-46B8E837EC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17512"/>
            <a:ext cx="9906000" cy="5222975"/>
          </a:xfrm>
          <a:prstGeom prst="rect">
            <a:avLst/>
          </a:prstGeom>
        </p:spPr>
      </p:pic>
    </p:spTree>
    <p:extLst>
      <p:ext uri="{BB962C8B-B14F-4D97-AF65-F5344CB8AC3E}">
        <p14:creationId xmlns:p14="http://schemas.microsoft.com/office/powerpoint/2010/main" val="575675746"/>
      </p:ext>
    </p:extLst>
  </p:cSld>
  <p:clrMapOvr>
    <a:masterClrMapping/>
  </p:clrMapOvr>
</p:sld>
</file>

<file path=ppt/theme/theme1.xml><?xml version="1.0" encoding="utf-8"?>
<a:theme xmlns:a="http://schemas.openxmlformats.org/drawingml/2006/main" name="KU Theme">
  <a:themeElements>
    <a:clrScheme name="KU">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50" smtClean="0"/>
        </a:defPPr>
      </a:lstStyle>
    </a:txDef>
  </a:objectDefaults>
  <a:extraClrSchemeLst/>
  <a:extLst>
    <a:ext uri="{05A4C25C-085E-4340-85A3-A5531E510DB2}">
      <thm15:themeFamily xmlns:thm15="http://schemas.microsoft.com/office/thememl/2012/main" name="KU_presentation_template_v03_dureid" id="{E5C0B40D-4810-4141-950B-63592BF28D0C}" vid="{E0DD810D-9114-6044-9274-3619F9170D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210</Words>
  <Application>Microsoft Macintosh PowerPoint</Application>
  <PresentationFormat>A4 Paper (210x297 mm)</PresentationFormat>
  <Paragraphs>41</Paragraphs>
  <Slides>10</Slides>
  <Notes>6</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4" baseType="lpstr">
      <vt:lpstr>Arial</vt:lpstr>
      <vt:lpstr>Calibri</vt:lpstr>
      <vt:lpstr>KU Theme</vt:lpstr>
      <vt:lpstr>Microsoft Excel Worksheet</vt:lpstr>
      <vt:lpstr>Research Computing Update</vt:lpstr>
      <vt:lpstr>HPC Resources</vt:lpstr>
      <vt:lpstr>Resource Utilization</vt:lpstr>
      <vt:lpstr>KU Cluster core distribution</vt:lpstr>
      <vt:lpstr>PowerPoint Presentation</vt:lpstr>
      <vt:lpstr>PowerPoint Presentation</vt:lpstr>
      <vt:lpstr>PowerPoint Presentation</vt:lpstr>
      <vt:lpstr>PowerPoint Presentation</vt:lpstr>
      <vt:lpstr>PI Cluster core distribution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Computing Update</dc:title>
  <dc:creator>Dureid El Moghraby</dc:creator>
  <cp:lastModifiedBy>Dureid El Moghraby</cp:lastModifiedBy>
  <cp:revision>20</cp:revision>
  <dcterms:created xsi:type="dcterms:W3CDTF">2020-11-15T07:17:18Z</dcterms:created>
  <dcterms:modified xsi:type="dcterms:W3CDTF">2021-04-22T07:43:07Z</dcterms:modified>
</cp:coreProperties>
</file>