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71" r:id="rId2"/>
    <p:sldId id="282" r:id="rId3"/>
    <p:sldId id="274" r:id="rId4"/>
    <p:sldId id="283" r:id="rId5"/>
    <p:sldId id="285" r:id="rId6"/>
    <p:sldId id="278" r:id="rId7"/>
    <p:sldId id="280"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0047BA"/>
    <a:srgbClr val="000000"/>
    <a:srgbClr val="FF014A"/>
    <a:srgbClr val="FFFFFF"/>
    <a:srgbClr val="D0CF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3" autoAdjust="0"/>
  </p:normalViewPr>
  <p:slideViewPr>
    <p:cSldViewPr snapToGrid="0" showGuides="1">
      <p:cViewPr varScale="1">
        <p:scale>
          <a:sx n="115" d="100"/>
          <a:sy n="115" d="100"/>
        </p:scale>
        <p:origin x="372"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9A80C4-B073-4F0B-8963-F3D661BDA873}" type="doc">
      <dgm:prSet loTypeId="urn:microsoft.com/office/officeart/2005/8/layout/radial5" loCatId="cycle" qsTypeId="urn:microsoft.com/office/officeart/2005/8/quickstyle/3d2" qsCatId="3D" csTypeId="urn:microsoft.com/office/officeart/2005/8/colors/accent6_4" csCatId="accent6" phldr="1"/>
      <dgm:spPr/>
      <dgm:t>
        <a:bodyPr/>
        <a:lstStyle/>
        <a:p>
          <a:endParaRPr lang="en-US"/>
        </a:p>
      </dgm:t>
    </dgm:pt>
    <dgm:pt modelId="{318A734B-571C-4FC8-BDF3-8FA91A7041BF}">
      <dgm:prSet phldrT="[Text]" custT="1"/>
      <dgm:spPr/>
      <dgm:t>
        <a:bodyPr/>
        <a:lstStyle/>
        <a:p>
          <a:pPr algn="ctr" rtl="0"/>
          <a:r>
            <a:rPr lang="en-US" sz="2800" b="1" dirty="0" smtClean="0">
              <a:solidFill>
                <a:schemeClr val="tx2"/>
              </a:solidFill>
            </a:rPr>
            <a:t>Library </a:t>
          </a:r>
          <a:endParaRPr lang="en-US" sz="2800" b="1" dirty="0">
            <a:solidFill>
              <a:schemeClr val="tx2"/>
            </a:solidFill>
          </a:endParaRPr>
        </a:p>
      </dgm:t>
    </dgm:pt>
    <dgm:pt modelId="{24E5D1BE-D3E0-4175-8CC2-6B70F696B63B}" type="parTrans" cxnId="{A6F3F1C1-405F-40A1-9F5D-68532AFAAA29}">
      <dgm:prSet/>
      <dgm:spPr/>
      <dgm:t>
        <a:bodyPr/>
        <a:lstStyle/>
        <a:p>
          <a:pPr algn="ctr"/>
          <a:endParaRPr lang="en-US"/>
        </a:p>
      </dgm:t>
    </dgm:pt>
    <dgm:pt modelId="{37198C83-1812-4929-AB97-364D8E22042F}" type="sibTrans" cxnId="{A6F3F1C1-405F-40A1-9F5D-68532AFAAA29}">
      <dgm:prSet/>
      <dgm:spPr/>
      <dgm:t>
        <a:bodyPr/>
        <a:lstStyle/>
        <a:p>
          <a:pPr algn="ctr"/>
          <a:endParaRPr lang="en-US"/>
        </a:p>
      </dgm:t>
    </dgm:pt>
    <dgm:pt modelId="{694476EA-052D-4116-8F6E-F0E6D52A73E0}">
      <dgm:prSet phldrT="[Text]"/>
      <dgm:spPr/>
      <dgm:t>
        <a:bodyPr/>
        <a:lstStyle/>
        <a:p>
          <a:pPr algn="ctr"/>
          <a:r>
            <a:rPr lang="en-US" b="0" dirty="0" smtClean="0">
              <a:solidFill>
                <a:schemeClr val="tx2"/>
              </a:solidFill>
            </a:rPr>
            <a:t>Blackboard – EDS integration</a:t>
          </a:r>
          <a:endParaRPr lang="en-US" dirty="0">
            <a:solidFill>
              <a:schemeClr val="tx2"/>
            </a:solidFill>
          </a:endParaRPr>
        </a:p>
      </dgm:t>
    </dgm:pt>
    <dgm:pt modelId="{618D4442-9FBD-404B-8FB0-3327FC56CF4F}" type="parTrans" cxnId="{BE006E0A-8868-4AA8-9339-C59D4D154CCB}">
      <dgm:prSet/>
      <dgm:spPr/>
      <dgm:t>
        <a:bodyPr/>
        <a:lstStyle/>
        <a:p>
          <a:pPr algn="ctr"/>
          <a:endParaRPr lang="en-US"/>
        </a:p>
      </dgm:t>
    </dgm:pt>
    <dgm:pt modelId="{DEBD4E59-B44B-4983-8F5C-16C76229CE17}" type="sibTrans" cxnId="{BE006E0A-8868-4AA8-9339-C59D4D154CCB}">
      <dgm:prSet/>
      <dgm:spPr/>
      <dgm:t>
        <a:bodyPr/>
        <a:lstStyle/>
        <a:p>
          <a:pPr algn="ctr"/>
          <a:endParaRPr lang="en-US"/>
        </a:p>
      </dgm:t>
    </dgm:pt>
    <dgm:pt modelId="{1443E18D-C208-4BE1-959D-991DFE4188A4}">
      <dgm:prSet phldrT="[Text]"/>
      <dgm:spPr/>
      <dgm:t>
        <a:bodyPr/>
        <a:lstStyle/>
        <a:p>
          <a:pPr algn="ctr"/>
          <a:r>
            <a:rPr lang="en-US" b="0" dirty="0" smtClean="0">
              <a:solidFill>
                <a:schemeClr val="tx2"/>
              </a:solidFill>
            </a:rPr>
            <a:t>Intergrade the Alma system with the registrar office system </a:t>
          </a:r>
          <a:endParaRPr lang="en-US" dirty="0">
            <a:solidFill>
              <a:schemeClr val="tx2"/>
            </a:solidFill>
          </a:endParaRPr>
        </a:p>
      </dgm:t>
    </dgm:pt>
    <dgm:pt modelId="{0DA46AF2-B80E-4DC0-881E-A3040AA0A342}" type="parTrans" cxnId="{B0CC9C3E-0D8D-4691-B8C6-211F3DF941A5}">
      <dgm:prSet/>
      <dgm:spPr/>
      <dgm:t>
        <a:bodyPr/>
        <a:lstStyle/>
        <a:p>
          <a:pPr algn="ctr"/>
          <a:endParaRPr lang="en-US"/>
        </a:p>
      </dgm:t>
    </dgm:pt>
    <dgm:pt modelId="{4590A7CA-BDCD-449B-8FAE-F2F2CFF47ABA}" type="sibTrans" cxnId="{B0CC9C3E-0D8D-4691-B8C6-211F3DF941A5}">
      <dgm:prSet/>
      <dgm:spPr/>
      <dgm:t>
        <a:bodyPr/>
        <a:lstStyle/>
        <a:p>
          <a:pPr algn="ctr"/>
          <a:endParaRPr lang="en-US"/>
        </a:p>
      </dgm:t>
    </dgm:pt>
    <dgm:pt modelId="{BACCE9B4-8487-4C6B-83B9-D1217497BEE4}">
      <dgm:prSet phldrT="[Text]"/>
      <dgm:spPr/>
      <dgm:t>
        <a:bodyPr/>
        <a:lstStyle/>
        <a:p>
          <a:pPr algn="ctr"/>
          <a:r>
            <a:rPr lang="en-US" b="0" dirty="0" smtClean="0">
              <a:solidFill>
                <a:schemeClr val="tx2"/>
              </a:solidFill>
            </a:rPr>
            <a:t>Provide the alumni with the library privilege</a:t>
          </a:r>
          <a:endParaRPr lang="en-US" dirty="0">
            <a:solidFill>
              <a:schemeClr val="tx2"/>
            </a:solidFill>
          </a:endParaRPr>
        </a:p>
      </dgm:t>
    </dgm:pt>
    <dgm:pt modelId="{C7FD3428-A2CD-412B-BB36-0F6C6AB66C05}" type="parTrans" cxnId="{DA428918-2E3D-486F-8CDB-4193DC450E3C}">
      <dgm:prSet/>
      <dgm:spPr/>
      <dgm:t>
        <a:bodyPr/>
        <a:lstStyle/>
        <a:p>
          <a:pPr algn="ctr"/>
          <a:endParaRPr lang="en-US"/>
        </a:p>
      </dgm:t>
    </dgm:pt>
    <dgm:pt modelId="{DD1010BB-4D0C-40D1-9017-2F15C68EA624}" type="sibTrans" cxnId="{DA428918-2E3D-486F-8CDB-4193DC450E3C}">
      <dgm:prSet/>
      <dgm:spPr/>
      <dgm:t>
        <a:bodyPr/>
        <a:lstStyle/>
        <a:p>
          <a:pPr algn="ctr"/>
          <a:endParaRPr lang="en-US"/>
        </a:p>
      </dgm:t>
    </dgm:pt>
    <dgm:pt modelId="{EF309059-27FB-412F-8B97-891109E428BB}">
      <dgm:prSet phldrT="[Text]"/>
      <dgm:spPr/>
      <dgm:t>
        <a:bodyPr/>
        <a:lstStyle/>
        <a:p>
          <a:pPr algn="ctr"/>
          <a:r>
            <a:rPr lang="en-US" dirty="0" smtClean="0">
              <a:solidFill>
                <a:schemeClr val="tx2"/>
              </a:solidFill>
            </a:rPr>
            <a:t>Koha Support to the CTL and student success </a:t>
          </a:r>
          <a:endParaRPr lang="en-US" dirty="0">
            <a:solidFill>
              <a:schemeClr val="tx2"/>
            </a:solidFill>
          </a:endParaRPr>
        </a:p>
      </dgm:t>
    </dgm:pt>
    <dgm:pt modelId="{49F12624-C704-449E-AFAA-908423211945}" type="parTrans" cxnId="{01298A8B-643C-488F-B797-BB8B182C0C9B}">
      <dgm:prSet/>
      <dgm:spPr/>
      <dgm:t>
        <a:bodyPr/>
        <a:lstStyle/>
        <a:p>
          <a:pPr algn="ctr"/>
          <a:endParaRPr lang="en-US"/>
        </a:p>
      </dgm:t>
    </dgm:pt>
    <dgm:pt modelId="{01950C50-95F0-4433-BE66-1F01CA471277}" type="sibTrans" cxnId="{01298A8B-643C-488F-B797-BB8B182C0C9B}">
      <dgm:prSet/>
      <dgm:spPr/>
      <dgm:t>
        <a:bodyPr/>
        <a:lstStyle/>
        <a:p>
          <a:pPr algn="ctr"/>
          <a:endParaRPr lang="en-US"/>
        </a:p>
      </dgm:t>
    </dgm:pt>
    <dgm:pt modelId="{7625B039-7C97-476C-9C8F-1F92B40E9D52}">
      <dgm:prSet/>
      <dgm:spPr/>
      <dgm:t>
        <a:bodyPr/>
        <a:lstStyle/>
        <a:p>
          <a:r>
            <a:rPr lang="en-US" dirty="0" smtClean="0">
              <a:solidFill>
                <a:schemeClr val="tx2"/>
              </a:solidFill>
            </a:rPr>
            <a:t>Student  Thesis – </a:t>
          </a:r>
          <a:r>
            <a:rPr lang="en-US" dirty="0" err="1" smtClean="0">
              <a:solidFill>
                <a:schemeClr val="tx2"/>
              </a:solidFill>
            </a:rPr>
            <a:t>Alkazna</a:t>
          </a:r>
          <a:r>
            <a:rPr lang="en-US" dirty="0" smtClean="0">
              <a:solidFill>
                <a:schemeClr val="tx2"/>
              </a:solidFill>
            </a:rPr>
            <a:t> repository</a:t>
          </a:r>
          <a:endParaRPr lang="en-US" dirty="0">
            <a:solidFill>
              <a:schemeClr val="tx2"/>
            </a:solidFill>
          </a:endParaRPr>
        </a:p>
      </dgm:t>
    </dgm:pt>
    <dgm:pt modelId="{DA027ED4-6FE5-40D7-A43D-DFBB4724247C}" type="parTrans" cxnId="{DF5D7120-DC03-489D-9051-3A15618F6994}">
      <dgm:prSet/>
      <dgm:spPr/>
      <dgm:t>
        <a:bodyPr/>
        <a:lstStyle/>
        <a:p>
          <a:endParaRPr lang="en-US"/>
        </a:p>
      </dgm:t>
    </dgm:pt>
    <dgm:pt modelId="{5C555398-C266-4660-8919-FA9F33E667BC}" type="sibTrans" cxnId="{DF5D7120-DC03-489D-9051-3A15618F6994}">
      <dgm:prSet/>
      <dgm:spPr/>
      <dgm:t>
        <a:bodyPr/>
        <a:lstStyle/>
        <a:p>
          <a:endParaRPr lang="en-US"/>
        </a:p>
      </dgm:t>
    </dgm:pt>
    <dgm:pt modelId="{57C06E54-3F8E-4FD3-948A-CD4434A40136}" type="pres">
      <dgm:prSet presAssocID="{8A9A80C4-B073-4F0B-8963-F3D661BDA873}" presName="Name0" presStyleCnt="0">
        <dgm:presLayoutVars>
          <dgm:chMax val="1"/>
          <dgm:dir/>
          <dgm:animLvl val="ctr"/>
          <dgm:resizeHandles val="exact"/>
        </dgm:presLayoutVars>
      </dgm:prSet>
      <dgm:spPr/>
      <dgm:t>
        <a:bodyPr/>
        <a:lstStyle/>
        <a:p>
          <a:endParaRPr lang="en-US"/>
        </a:p>
      </dgm:t>
    </dgm:pt>
    <dgm:pt modelId="{90E6B2AF-7CF1-4B73-BDF2-B308AB4ABEBD}" type="pres">
      <dgm:prSet presAssocID="{318A734B-571C-4FC8-BDF3-8FA91A7041BF}" presName="centerShape" presStyleLbl="node0" presStyleIdx="0" presStyleCnt="1" custScaleX="131123" custScaleY="141275"/>
      <dgm:spPr/>
      <dgm:t>
        <a:bodyPr/>
        <a:lstStyle/>
        <a:p>
          <a:endParaRPr lang="en-US"/>
        </a:p>
      </dgm:t>
    </dgm:pt>
    <dgm:pt modelId="{98115FB7-66EE-402A-BDEC-781604293F0D}" type="pres">
      <dgm:prSet presAssocID="{618D4442-9FBD-404B-8FB0-3327FC56CF4F}" presName="parTrans" presStyleLbl="sibTrans2D1" presStyleIdx="0" presStyleCnt="5" custScaleX="204587"/>
      <dgm:spPr/>
      <dgm:t>
        <a:bodyPr/>
        <a:lstStyle/>
        <a:p>
          <a:endParaRPr lang="en-US"/>
        </a:p>
      </dgm:t>
    </dgm:pt>
    <dgm:pt modelId="{2641DE72-BF18-48E2-B6BF-D84151FDD1D8}" type="pres">
      <dgm:prSet presAssocID="{618D4442-9FBD-404B-8FB0-3327FC56CF4F}" presName="connectorText" presStyleLbl="sibTrans2D1" presStyleIdx="0" presStyleCnt="5"/>
      <dgm:spPr/>
      <dgm:t>
        <a:bodyPr/>
        <a:lstStyle/>
        <a:p>
          <a:endParaRPr lang="en-US"/>
        </a:p>
      </dgm:t>
    </dgm:pt>
    <dgm:pt modelId="{8A88C844-8CF9-48D4-9066-23215AF40714}" type="pres">
      <dgm:prSet presAssocID="{694476EA-052D-4116-8F6E-F0E6D52A73E0}" presName="node" presStyleLbl="node1" presStyleIdx="0" presStyleCnt="5" custRadScaleRad="98897" custRadScaleInc="1326">
        <dgm:presLayoutVars>
          <dgm:bulletEnabled val="1"/>
        </dgm:presLayoutVars>
      </dgm:prSet>
      <dgm:spPr/>
      <dgm:t>
        <a:bodyPr/>
        <a:lstStyle/>
        <a:p>
          <a:endParaRPr lang="en-US"/>
        </a:p>
      </dgm:t>
    </dgm:pt>
    <dgm:pt modelId="{11D38B0C-2612-4122-B3A8-26EA08811E60}" type="pres">
      <dgm:prSet presAssocID="{0DA46AF2-B80E-4DC0-881E-A3040AA0A342}" presName="parTrans" presStyleLbl="sibTrans2D1" presStyleIdx="1" presStyleCnt="5" custScaleX="185094"/>
      <dgm:spPr/>
      <dgm:t>
        <a:bodyPr/>
        <a:lstStyle/>
        <a:p>
          <a:endParaRPr lang="en-US"/>
        </a:p>
      </dgm:t>
    </dgm:pt>
    <dgm:pt modelId="{883DB242-F4A9-49CD-8BA3-9DC4AA49CBA6}" type="pres">
      <dgm:prSet presAssocID="{0DA46AF2-B80E-4DC0-881E-A3040AA0A342}" presName="connectorText" presStyleLbl="sibTrans2D1" presStyleIdx="1" presStyleCnt="5"/>
      <dgm:spPr/>
      <dgm:t>
        <a:bodyPr/>
        <a:lstStyle/>
        <a:p>
          <a:endParaRPr lang="en-US"/>
        </a:p>
      </dgm:t>
    </dgm:pt>
    <dgm:pt modelId="{5A3820F9-D702-47E1-8343-01BF48505C25}" type="pres">
      <dgm:prSet presAssocID="{1443E18D-C208-4BE1-959D-991DFE4188A4}" presName="node" presStyleLbl="node1" presStyleIdx="1" presStyleCnt="5">
        <dgm:presLayoutVars>
          <dgm:bulletEnabled val="1"/>
        </dgm:presLayoutVars>
      </dgm:prSet>
      <dgm:spPr/>
      <dgm:t>
        <a:bodyPr/>
        <a:lstStyle/>
        <a:p>
          <a:endParaRPr lang="en-US"/>
        </a:p>
      </dgm:t>
    </dgm:pt>
    <dgm:pt modelId="{560818DF-3EEC-4541-9437-BC206FCD32C3}" type="pres">
      <dgm:prSet presAssocID="{C7FD3428-A2CD-412B-BB36-0F6C6AB66C05}" presName="parTrans" presStyleLbl="sibTrans2D1" presStyleIdx="2" presStyleCnt="5" custScaleX="234865"/>
      <dgm:spPr/>
      <dgm:t>
        <a:bodyPr/>
        <a:lstStyle/>
        <a:p>
          <a:endParaRPr lang="en-US"/>
        </a:p>
      </dgm:t>
    </dgm:pt>
    <dgm:pt modelId="{47D222E2-C6AA-4851-9B43-4DDC49867A04}" type="pres">
      <dgm:prSet presAssocID="{C7FD3428-A2CD-412B-BB36-0F6C6AB66C05}" presName="connectorText" presStyleLbl="sibTrans2D1" presStyleIdx="2" presStyleCnt="5"/>
      <dgm:spPr/>
      <dgm:t>
        <a:bodyPr/>
        <a:lstStyle/>
        <a:p>
          <a:endParaRPr lang="en-US"/>
        </a:p>
      </dgm:t>
    </dgm:pt>
    <dgm:pt modelId="{E18C572D-7F61-462C-939F-537078C8FA3A}" type="pres">
      <dgm:prSet presAssocID="{BACCE9B4-8487-4C6B-83B9-D1217497BEE4}" presName="node" presStyleLbl="node1" presStyleIdx="2" presStyleCnt="5">
        <dgm:presLayoutVars>
          <dgm:bulletEnabled val="1"/>
        </dgm:presLayoutVars>
      </dgm:prSet>
      <dgm:spPr/>
      <dgm:t>
        <a:bodyPr/>
        <a:lstStyle/>
        <a:p>
          <a:endParaRPr lang="en-US"/>
        </a:p>
      </dgm:t>
    </dgm:pt>
    <dgm:pt modelId="{365BAFC3-6C0D-4402-9ECF-46A73D49929D}" type="pres">
      <dgm:prSet presAssocID="{49F12624-C704-449E-AFAA-908423211945}" presName="parTrans" presStyleLbl="sibTrans2D1" presStyleIdx="3" presStyleCnt="5" custScaleX="200530"/>
      <dgm:spPr/>
      <dgm:t>
        <a:bodyPr/>
        <a:lstStyle/>
        <a:p>
          <a:endParaRPr lang="en-US"/>
        </a:p>
      </dgm:t>
    </dgm:pt>
    <dgm:pt modelId="{C5FBB02C-CF77-49E7-A795-0F8891F33F26}" type="pres">
      <dgm:prSet presAssocID="{49F12624-C704-449E-AFAA-908423211945}" presName="connectorText" presStyleLbl="sibTrans2D1" presStyleIdx="3" presStyleCnt="5"/>
      <dgm:spPr/>
      <dgm:t>
        <a:bodyPr/>
        <a:lstStyle/>
        <a:p>
          <a:endParaRPr lang="en-US"/>
        </a:p>
      </dgm:t>
    </dgm:pt>
    <dgm:pt modelId="{148FF617-DBC2-484F-ABD8-E902B0123549}" type="pres">
      <dgm:prSet presAssocID="{EF309059-27FB-412F-8B97-891109E428BB}" presName="node" presStyleLbl="node1" presStyleIdx="3" presStyleCnt="5">
        <dgm:presLayoutVars>
          <dgm:bulletEnabled val="1"/>
        </dgm:presLayoutVars>
      </dgm:prSet>
      <dgm:spPr/>
      <dgm:t>
        <a:bodyPr/>
        <a:lstStyle/>
        <a:p>
          <a:endParaRPr lang="en-US"/>
        </a:p>
      </dgm:t>
    </dgm:pt>
    <dgm:pt modelId="{C8C3FFDD-1BE5-4270-AF81-A5D9F9F02838}" type="pres">
      <dgm:prSet presAssocID="{DA027ED4-6FE5-40D7-A43D-DFBB4724247C}" presName="parTrans" presStyleLbl="sibTrans2D1" presStyleIdx="4" presStyleCnt="5" custScaleX="202400"/>
      <dgm:spPr/>
      <dgm:t>
        <a:bodyPr/>
        <a:lstStyle/>
        <a:p>
          <a:endParaRPr lang="en-US"/>
        </a:p>
      </dgm:t>
    </dgm:pt>
    <dgm:pt modelId="{D8EBAEAF-4F92-4172-9BD8-9266728C5525}" type="pres">
      <dgm:prSet presAssocID="{DA027ED4-6FE5-40D7-A43D-DFBB4724247C}" presName="connectorText" presStyleLbl="sibTrans2D1" presStyleIdx="4" presStyleCnt="5"/>
      <dgm:spPr/>
      <dgm:t>
        <a:bodyPr/>
        <a:lstStyle/>
        <a:p>
          <a:endParaRPr lang="en-US"/>
        </a:p>
      </dgm:t>
    </dgm:pt>
    <dgm:pt modelId="{6AA213E3-63DF-4355-8AF0-6610ACDE50BF}" type="pres">
      <dgm:prSet presAssocID="{7625B039-7C97-476C-9C8F-1F92B40E9D52}" presName="node" presStyleLbl="node1" presStyleIdx="4" presStyleCnt="5">
        <dgm:presLayoutVars>
          <dgm:bulletEnabled val="1"/>
        </dgm:presLayoutVars>
      </dgm:prSet>
      <dgm:spPr/>
      <dgm:t>
        <a:bodyPr/>
        <a:lstStyle/>
        <a:p>
          <a:endParaRPr lang="en-US"/>
        </a:p>
      </dgm:t>
    </dgm:pt>
  </dgm:ptLst>
  <dgm:cxnLst>
    <dgm:cxn modelId="{A6F3F1C1-405F-40A1-9F5D-68532AFAAA29}" srcId="{8A9A80C4-B073-4F0B-8963-F3D661BDA873}" destId="{318A734B-571C-4FC8-BDF3-8FA91A7041BF}" srcOrd="0" destOrd="0" parTransId="{24E5D1BE-D3E0-4175-8CC2-6B70F696B63B}" sibTransId="{37198C83-1812-4929-AB97-364D8E22042F}"/>
    <dgm:cxn modelId="{4D194A96-9127-4CA6-9ADF-7E53F5518EAF}" type="presOf" srcId="{C7FD3428-A2CD-412B-BB36-0F6C6AB66C05}" destId="{47D222E2-C6AA-4851-9B43-4DDC49867A04}" srcOrd="1" destOrd="0" presId="urn:microsoft.com/office/officeart/2005/8/layout/radial5"/>
    <dgm:cxn modelId="{27E36326-9666-42DE-9FE1-F8ED04E52D40}" type="presOf" srcId="{618D4442-9FBD-404B-8FB0-3327FC56CF4F}" destId="{2641DE72-BF18-48E2-B6BF-D84151FDD1D8}" srcOrd="1" destOrd="0" presId="urn:microsoft.com/office/officeart/2005/8/layout/radial5"/>
    <dgm:cxn modelId="{96933426-43E8-46C9-96B8-5AA0A78DA499}" type="presOf" srcId="{694476EA-052D-4116-8F6E-F0E6D52A73E0}" destId="{8A88C844-8CF9-48D4-9066-23215AF40714}" srcOrd="0" destOrd="0" presId="urn:microsoft.com/office/officeart/2005/8/layout/radial5"/>
    <dgm:cxn modelId="{F1B9506F-4BC0-4570-9721-C554AD7F80A0}" type="presOf" srcId="{8A9A80C4-B073-4F0B-8963-F3D661BDA873}" destId="{57C06E54-3F8E-4FD3-948A-CD4434A40136}" srcOrd="0" destOrd="0" presId="urn:microsoft.com/office/officeart/2005/8/layout/radial5"/>
    <dgm:cxn modelId="{49987E1A-EA69-4C20-8496-75D4A8534BEC}" type="presOf" srcId="{49F12624-C704-449E-AFAA-908423211945}" destId="{C5FBB02C-CF77-49E7-A795-0F8891F33F26}" srcOrd="1" destOrd="0" presId="urn:microsoft.com/office/officeart/2005/8/layout/radial5"/>
    <dgm:cxn modelId="{9E43AE71-5AD3-4C80-8C70-FF5E2BEF1347}" type="presOf" srcId="{BACCE9B4-8487-4C6B-83B9-D1217497BEE4}" destId="{E18C572D-7F61-462C-939F-537078C8FA3A}" srcOrd="0" destOrd="0" presId="urn:microsoft.com/office/officeart/2005/8/layout/radial5"/>
    <dgm:cxn modelId="{76CD0414-B60F-4F69-9718-4622D5342EEE}" type="presOf" srcId="{DA027ED4-6FE5-40D7-A43D-DFBB4724247C}" destId="{C8C3FFDD-1BE5-4270-AF81-A5D9F9F02838}" srcOrd="0" destOrd="0" presId="urn:microsoft.com/office/officeart/2005/8/layout/radial5"/>
    <dgm:cxn modelId="{B0CC9C3E-0D8D-4691-B8C6-211F3DF941A5}" srcId="{318A734B-571C-4FC8-BDF3-8FA91A7041BF}" destId="{1443E18D-C208-4BE1-959D-991DFE4188A4}" srcOrd="1" destOrd="0" parTransId="{0DA46AF2-B80E-4DC0-881E-A3040AA0A342}" sibTransId="{4590A7CA-BDCD-449B-8FAE-F2F2CFF47ABA}"/>
    <dgm:cxn modelId="{01298A8B-643C-488F-B797-BB8B182C0C9B}" srcId="{318A734B-571C-4FC8-BDF3-8FA91A7041BF}" destId="{EF309059-27FB-412F-8B97-891109E428BB}" srcOrd="3" destOrd="0" parTransId="{49F12624-C704-449E-AFAA-908423211945}" sibTransId="{01950C50-95F0-4433-BE66-1F01CA471277}"/>
    <dgm:cxn modelId="{91FE53F4-22DA-48CA-87FF-8F708258C980}" type="presOf" srcId="{618D4442-9FBD-404B-8FB0-3327FC56CF4F}" destId="{98115FB7-66EE-402A-BDEC-781604293F0D}" srcOrd="0" destOrd="0" presId="urn:microsoft.com/office/officeart/2005/8/layout/radial5"/>
    <dgm:cxn modelId="{9A88FAE0-71D2-41BF-ACB8-BFEC9DA951F1}" type="presOf" srcId="{DA027ED4-6FE5-40D7-A43D-DFBB4724247C}" destId="{D8EBAEAF-4F92-4172-9BD8-9266728C5525}" srcOrd="1" destOrd="0" presId="urn:microsoft.com/office/officeart/2005/8/layout/radial5"/>
    <dgm:cxn modelId="{850D4D1E-B102-4E19-A506-019A31C937C0}" type="presOf" srcId="{0DA46AF2-B80E-4DC0-881E-A3040AA0A342}" destId="{11D38B0C-2612-4122-B3A8-26EA08811E60}" srcOrd="0" destOrd="0" presId="urn:microsoft.com/office/officeart/2005/8/layout/radial5"/>
    <dgm:cxn modelId="{DF5D7120-DC03-489D-9051-3A15618F6994}" srcId="{318A734B-571C-4FC8-BDF3-8FA91A7041BF}" destId="{7625B039-7C97-476C-9C8F-1F92B40E9D52}" srcOrd="4" destOrd="0" parTransId="{DA027ED4-6FE5-40D7-A43D-DFBB4724247C}" sibTransId="{5C555398-C266-4660-8919-FA9F33E667BC}"/>
    <dgm:cxn modelId="{DA6BB926-9A5D-42E6-B266-AF832E110133}" type="presOf" srcId="{7625B039-7C97-476C-9C8F-1F92B40E9D52}" destId="{6AA213E3-63DF-4355-8AF0-6610ACDE50BF}" srcOrd="0" destOrd="0" presId="urn:microsoft.com/office/officeart/2005/8/layout/radial5"/>
    <dgm:cxn modelId="{BA5E8953-1EAA-43E3-9456-944EDB0E600C}" type="presOf" srcId="{49F12624-C704-449E-AFAA-908423211945}" destId="{365BAFC3-6C0D-4402-9ECF-46A73D49929D}" srcOrd="0" destOrd="0" presId="urn:microsoft.com/office/officeart/2005/8/layout/radial5"/>
    <dgm:cxn modelId="{7E2064D1-E644-43CC-A4C5-460FDF6335B8}" type="presOf" srcId="{C7FD3428-A2CD-412B-BB36-0F6C6AB66C05}" destId="{560818DF-3EEC-4541-9437-BC206FCD32C3}" srcOrd="0" destOrd="0" presId="urn:microsoft.com/office/officeart/2005/8/layout/radial5"/>
    <dgm:cxn modelId="{BE006E0A-8868-4AA8-9339-C59D4D154CCB}" srcId="{318A734B-571C-4FC8-BDF3-8FA91A7041BF}" destId="{694476EA-052D-4116-8F6E-F0E6D52A73E0}" srcOrd="0" destOrd="0" parTransId="{618D4442-9FBD-404B-8FB0-3327FC56CF4F}" sibTransId="{DEBD4E59-B44B-4983-8F5C-16C76229CE17}"/>
    <dgm:cxn modelId="{DA428918-2E3D-486F-8CDB-4193DC450E3C}" srcId="{318A734B-571C-4FC8-BDF3-8FA91A7041BF}" destId="{BACCE9B4-8487-4C6B-83B9-D1217497BEE4}" srcOrd="2" destOrd="0" parTransId="{C7FD3428-A2CD-412B-BB36-0F6C6AB66C05}" sibTransId="{DD1010BB-4D0C-40D1-9017-2F15C68EA624}"/>
    <dgm:cxn modelId="{03107813-8EA8-42FF-BD40-CD6790AFE050}" type="presOf" srcId="{0DA46AF2-B80E-4DC0-881E-A3040AA0A342}" destId="{883DB242-F4A9-49CD-8BA3-9DC4AA49CBA6}" srcOrd="1" destOrd="0" presId="urn:microsoft.com/office/officeart/2005/8/layout/radial5"/>
    <dgm:cxn modelId="{A21D9A69-D5A4-4C04-B5D2-1D1D609A2D66}" type="presOf" srcId="{1443E18D-C208-4BE1-959D-991DFE4188A4}" destId="{5A3820F9-D702-47E1-8343-01BF48505C25}" srcOrd="0" destOrd="0" presId="urn:microsoft.com/office/officeart/2005/8/layout/radial5"/>
    <dgm:cxn modelId="{4F17D131-0E8B-44A6-8B7F-9A00C166939C}" type="presOf" srcId="{EF309059-27FB-412F-8B97-891109E428BB}" destId="{148FF617-DBC2-484F-ABD8-E902B0123549}" srcOrd="0" destOrd="0" presId="urn:microsoft.com/office/officeart/2005/8/layout/radial5"/>
    <dgm:cxn modelId="{E410FC43-B7B7-4E39-B55A-8EEA048036B1}" type="presOf" srcId="{318A734B-571C-4FC8-BDF3-8FA91A7041BF}" destId="{90E6B2AF-7CF1-4B73-BDF2-B308AB4ABEBD}" srcOrd="0" destOrd="0" presId="urn:microsoft.com/office/officeart/2005/8/layout/radial5"/>
    <dgm:cxn modelId="{8EE68262-1B31-4F7D-B984-D55DB8D85B2D}" type="presParOf" srcId="{57C06E54-3F8E-4FD3-948A-CD4434A40136}" destId="{90E6B2AF-7CF1-4B73-BDF2-B308AB4ABEBD}" srcOrd="0" destOrd="0" presId="urn:microsoft.com/office/officeart/2005/8/layout/radial5"/>
    <dgm:cxn modelId="{166FE38D-DDB8-4A5D-ACFF-ABE7D78073BC}" type="presParOf" srcId="{57C06E54-3F8E-4FD3-948A-CD4434A40136}" destId="{98115FB7-66EE-402A-BDEC-781604293F0D}" srcOrd="1" destOrd="0" presId="urn:microsoft.com/office/officeart/2005/8/layout/radial5"/>
    <dgm:cxn modelId="{A7005DBB-7AEA-4E58-B79C-4A03F40E9290}" type="presParOf" srcId="{98115FB7-66EE-402A-BDEC-781604293F0D}" destId="{2641DE72-BF18-48E2-B6BF-D84151FDD1D8}" srcOrd="0" destOrd="0" presId="urn:microsoft.com/office/officeart/2005/8/layout/radial5"/>
    <dgm:cxn modelId="{D93987E6-E57B-43F8-B7A3-CAE2A9519275}" type="presParOf" srcId="{57C06E54-3F8E-4FD3-948A-CD4434A40136}" destId="{8A88C844-8CF9-48D4-9066-23215AF40714}" srcOrd="2" destOrd="0" presId="urn:microsoft.com/office/officeart/2005/8/layout/radial5"/>
    <dgm:cxn modelId="{ADD8EC74-0B75-4752-8F89-998F8267855C}" type="presParOf" srcId="{57C06E54-3F8E-4FD3-948A-CD4434A40136}" destId="{11D38B0C-2612-4122-B3A8-26EA08811E60}" srcOrd="3" destOrd="0" presId="urn:microsoft.com/office/officeart/2005/8/layout/radial5"/>
    <dgm:cxn modelId="{050501F1-3603-4EA1-92BC-C24B08557198}" type="presParOf" srcId="{11D38B0C-2612-4122-B3A8-26EA08811E60}" destId="{883DB242-F4A9-49CD-8BA3-9DC4AA49CBA6}" srcOrd="0" destOrd="0" presId="urn:microsoft.com/office/officeart/2005/8/layout/radial5"/>
    <dgm:cxn modelId="{CA8CF520-41DA-44BA-9CAE-C0AC9259F27A}" type="presParOf" srcId="{57C06E54-3F8E-4FD3-948A-CD4434A40136}" destId="{5A3820F9-D702-47E1-8343-01BF48505C25}" srcOrd="4" destOrd="0" presId="urn:microsoft.com/office/officeart/2005/8/layout/radial5"/>
    <dgm:cxn modelId="{94E35231-C44F-456C-B798-E85C76DE4AD2}" type="presParOf" srcId="{57C06E54-3F8E-4FD3-948A-CD4434A40136}" destId="{560818DF-3EEC-4541-9437-BC206FCD32C3}" srcOrd="5" destOrd="0" presId="urn:microsoft.com/office/officeart/2005/8/layout/radial5"/>
    <dgm:cxn modelId="{B4316612-5A4D-4FF3-AFF9-BB87D83DE092}" type="presParOf" srcId="{560818DF-3EEC-4541-9437-BC206FCD32C3}" destId="{47D222E2-C6AA-4851-9B43-4DDC49867A04}" srcOrd="0" destOrd="0" presId="urn:microsoft.com/office/officeart/2005/8/layout/radial5"/>
    <dgm:cxn modelId="{3D0C4C65-A9E5-4252-A199-A1E83739959A}" type="presParOf" srcId="{57C06E54-3F8E-4FD3-948A-CD4434A40136}" destId="{E18C572D-7F61-462C-939F-537078C8FA3A}" srcOrd="6" destOrd="0" presId="urn:microsoft.com/office/officeart/2005/8/layout/radial5"/>
    <dgm:cxn modelId="{69206FAA-BFF5-4DAD-8501-7DAB03976A91}" type="presParOf" srcId="{57C06E54-3F8E-4FD3-948A-CD4434A40136}" destId="{365BAFC3-6C0D-4402-9ECF-46A73D49929D}" srcOrd="7" destOrd="0" presId="urn:microsoft.com/office/officeart/2005/8/layout/radial5"/>
    <dgm:cxn modelId="{5FA82F22-198A-4685-A1C5-CF2CE1614178}" type="presParOf" srcId="{365BAFC3-6C0D-4402-9ECF-46A73D49929D}" destId="{C5FBB02C-CF77-49E7-A795-0F8891F33F26}" srcOrd="0" destOrd="0" presId="urn:microsoft.com/office/officeart/2005/8/layout/radial5"/>
    <dgm:cxn modelId="{C391033F-8C40-45F5-9493-BB17CD1A6008}" type="presParOf" srcId="{57C06E54-3F8E-4FD3-948A-CD4434A40136}" destId="{148FF617-DBC2-484F-ABD8-E902B0123549}" srcOrd="8" destOrd="0" presId="urn:microsoft.com/office/officeart/2005/8/layout/radial5"/>
    <dgm:cxn modelId="{B66D52AA-2FD4-4C5F-9561-1BA1BC5A645F}" type="presParOf" srcId="{57C06E54-3F8E-4FD3-948A-CD4434A40136}" destId="{C8C3FFDD-1BE5-4270-AF81-A5D9F9F02838}" srcOrd="9" destOrd="0" presId="urn:microsoft.com/office/officeart/2005/8/layout/radial5"/>
    <dgm:cxn modelId="{40D48E3E-1559-49F2-8344-B2D82116918F}" type="presParOf" srcId="{C8C3FFDD-1BE5-4270-AF81-A5D9F9F02838}" destId="{D8EBAEAF-4F92-4172-9BD8-9266728C5525}" srcOrd="0" destOrd="0" presId="urn:microsoft.com/office/officeart/2005/8/layout/radial5"/>
    <dgm:cxn modelId="{3DC3B8F4-5EAE-493F-92EA-6A29B657361C}" type="presParOf" srcId="{57C06E54-3F8E-4FD3-948A-CD4434A40136}" destId="{6AA213E3-63DF-4355-8AF0-6610ACDE50BF}" srcOrd="10" destOrd="0" presId="urn:microsoft.com/office/officeart/2005/8/layout/radial5"/>
  </dgm:cxnLst>
  <dgm:bg>
    <a:noFill/>
    <a:effectLst>
      <a:outerShdw blurRad="50800" dist="38100" dir="2700000" algn="tl" rotWithShape="0">
        <a:prstClr val="black">
          <a:alpha val="40000"/>
        </a:prstClr>
      </a:outerShdw>
    </a:effect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E6B2AF-7CF1-4B73-BDF2-B308AB4ABEBD}">
      <dsp:nvSpPr>
        <dsp:cNvPr id="0" name=""/>
        <dsp:cNvSpPr/>
      </dsp:nvSpPr>
      <dsp:spPr>
        <a:xfrm>
          <a:off x="2858809" y="1812348"/>
          <a:ext cx="1988278" cy="2142218"/>
        </a:xfrm>
        <a:prstGeom prst="ellipse">
          <a:avLst/>
        </a:prstGeom>
        <a:gradFill rotWithShape="0">
          <a:gsLst>
            <a:gs pos="0">
              <a:schemeClr val="accent6">
                <a:shade val="60000"/>
                <a:hueOff val="0"/>
                <a:satOff val="0"/>
                <a:lumOff val="0"/>
                <a:alphaOff val="0"/>
                <a:satMod val="103000"/>
                <a:lumMod val="102000"/>
                <a:tint val="94000"/>
              </a:schemeClr>
            </a:gs>
            <a:gs pos="50000">
              <a:schemeClr val="accent6">
                <a:shade val="60000"/>
                <a:hueOff val="0"/>
                <a:satOff val="0"/>
                <a:lumOff val="0"/>
                <a:alphaOff val="0"/>
                <a:satMod val="110000"/>
                <a:lumMod val="100000"/>
                <a:shade val="100000"/>
              </a:schemeClr>
            </a:gs>
            <a:gs pos="100000">
              <a:schemeClr val="accent6">
                <a:shade val="6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rtl="0">
            <a:lnSpc>
              <a:spcPct val="90000"/>
            </a:lnSpc>
            <a:spcBef>
              <a:spcPct val="0"/>
            </a:spcBef>
            <a:spcAft>
              <a:spcPct val="35000"/>
            </a:spcAft>
          </a:pPr>
          <a:r>
            <a:rPr lang="en-US" sz="2800" b="1" kern="1200" dirty="0" smtClean="0">
              <a:solidFill>
                <a:schemeClr val="tx2"/>
              </a:solidFill>
            </a:rPr>
            <a:t>Library </a:t>
          </a:r>
          <a:endParaRPr lang="en-US" sz="2800" b="1" kern="1200" dirty="0">
            <a:solidFill>
              <a:schemeClr val="tx2"/>
            </a:solidFill>
          </a:endParaRPr>
        </a:p>
      </dsp:txBody>
      <dsp:txXfrm>
        <a:off x="3149986" y="2126069"/>
        <a:ext cx="1405924" cy="1514776"/>
      </dsp:txXfrm>
    </dsp:sp>
    <dsp:sp modelId="{98115FB7-66EE-402A-BDEC-781604293F0D}">
      <dsp:nvSpPr>
        <dsp:cNvPr id="0" name=""/>
        <dsp:cNvSpPr/>
      </dsp:nvSpPr>
      <dsp:spPr>
        <a:xfrm rot="16228642">
          <a:off x="3717121" y="1424152"/>
          <a:ext cx="291677" cy="515557"/>
        </a:xfrm>
        <a:prstGeom prst="rightArrow">
          <a:avLst>
            <a:gd name="adj1" fmla="val 60000"/>
            <a:gd name="adj2" fmla="val 50000"/>
          </a:avLst>
        </a:prstGeom>
        <a:solidFill>
          <a:schemeClr val="accent6">
            <a:shade val="9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a:off x="3760508" y="1571013"/>
        <a:ext cx="204174" cy="309335"/>
      </dsp:txXfrm>
    </dsp:sp>
    <dsp:sp modelId="{8A88C844-8CF9-48D4-9066-23215AF40714}">
      <dsp:nvSpPr>
        <dsp:cNvPr id="0" name=""/>
        <dsp:cNvSpPr/>
      </dsp:nvSpPr>
      <dsp:spPr>
        <a:xfrm>
          <a:off x="3112257" y="27082"/>
          <a:ext cx="1516346" cy="1516346"/>
        </a:xfrm>
        <a:prstGeom prst="ellipse">
          <a:avLst/>
        </a:prstGeom>
        <a:gradFill rotWithShape="0">
          <a:gsLst>
            <a:gs pos="0">
              <a:schemeClr val="accent6">
                <a:shade val="50000"/>
                <a:hueOff val="0"/>
                <a:satOff val="0"/>
                <a:lumOff val="0"/>
                <a:alphaOff val="0"/>
                <a:satMod val="103000"/>
                <a:lumMod val="102000"/>
                <a:tint val="94000"/>
              </a:schemeClr>
            </a:gs>
            <a:gs pos="50000">
              <a:schemeClr val="accent6">
                <a:shade val="50000"/>
                <a:hueOff val="0"/>
                <a:satOff val="0"/>
                <a:lumOff val="0"/>
                <a:alphaOff val="0"/>
                <a:satMod val="110000"/>
                <a:lumMod val="100000"/>
                <a:shade val="100000"/>
              </a:schemeClr>
            </a:gs>
            <a:gs pos="100000">
              <a:schemeClr val="accent6">
                <a:shade val="5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smtClean="0">
              <a:solidFill>
                <a:schemeClr val="tx2"/>
              </a:solidFill>
            </a:rPr>
            <a:t>Blackboard – EDS integration</a:t>
          </a:r>
          <a:endParaRPr lang="en-US" sz="1400" kern="1200" dirty="0">
            <a:solidFill>
              <a:schemeClr val="tx2"/>
            </a:solidFill>
          </a:endParaRPr>
        </a:p>
      </dsp:txBody>
      <dsp:txXfrm>
        <a:off x="3334321" y="249146"/>
        <a:ext cx="1072218" cy="1072218"/>
      </dsp:txXfrm>
    </dsp:sp>
    <dsp:sp modelId="{11D38B0C-2612-4122-B3A8-26EA08811E60}">
      <dsp:nvSpPr>
        <dsp:cNvPr id="0" name=""/>
        <dsp:cNvSpPr/>
      </dsp:nvSpPr>
      <dsp:spPr>
        <a:xfrm rot="20520000">
          <a:off x="4794144" y="2262057"/>
          <a:ext cx="355828" cy="515557"/>
        </a:xfrm>
        <a:prstGeom prst="rightArrow">
          <a:avLst>
            <a:gd name="adj1" fmla="val 60000"/>
            <a:gd name="adj2" fmla="val 50000"/>
          </a:avLst>
        </a:prstGeom>
        <a:solidFill>
          <a:schemeClr val="accent6">
            <a:shade val="90000"/>
            <a:hueOff val="-1756"/>
            <a:satOff val="147"/>
            <a:lumOff val="5552"/>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a:off x="4796756" y="2381661"/>
        <a:ext cx="249080" cy="309335"/>
      </dsp:txXfrm>
    </dsp:sp>
    <dsp:sp modelId="{5A3820F9-D702-47E1-8343-01BF48505C25}">
      <dsp:nvSpPr>
        <dsp:cNvPr id="0" name=""/>
        <dsp:cNvSpPr/>
      </dsp:nvSpPr>
      <dsp:spPr>
        <a:xfrm>
          <a:off x="5112609" y="1469649"/>
          <a:ext cx="1516346" cy="1516346"/>
        </a:xfrm>
        <a:prstGeom prst="ellipse">
          <a:avLst/>
        </a:prstGeom>
        <a:gradFill rotWithShape="0">
          <a:gsLst>
            <a:gs pos="0">
              <a:schemeClr val="accent6">
                <a:shade val="50000"/>
                <a:hueOff val="-1431"/>
                <a:satOff val="714"/>
                <a:lumOff val="12364"/>
                <a:alphaOff val="0"/>
                <a:satMod val="103000"/>
                <a:lumMod val="102000"/>
                <a:tint val="94000"/>
              </a:schemeClr>
            </a:gs>
            <a:gs pos="50000">
              <a:schemeClr val="accent6">
                <a:shade val="50000"/>
                <a:hueOff val="-1431"/>
                <a:satOff val="714"/>
                <a:lumOff val="12364"/>
                <a:alphaOff val="0"/>
                <a:satMod val="110000"/>
                <a:lumMod val="100000"/>
                <a:shade val="100000"/>
              </a:schemeClr>
            </a:gs>
            <a:gs pos="100000">
              <a:schemeClr val="accent6">
                <a:shade val="50000"/>
                <a:hueOff val="-1431"/>
                <a:satOff val="714"/>
                <a:lumOff val="1236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smtClean="0">
              <a:solidFill>
                <a:schemeClr val="tx2"/>
              </a:solidFill>
            </a:rPr>
            <a:t>Intergrade the Alma system with the registrar office system </a:t>
          </a:r>
          <a:endParaRPr lang="en-US" sz="1400" kern="1200" dirty="0">
            <a:solidFill>
              <a:schemeClr val="tx2"/>
            </a:solidFill>
          </a:endParaRPr>
        </a:p>
      </dsp:txBody>
      <dsp:txXfrm>
        <a:off x="5334673" y="1691713"/>
        <a:ext cx="1072218" cy="1072218"/>
      </dsp:txXfrm>
    </dsp:sp>
    <dsp:sp modelId="{560818DF-3EEC-4541-9437-BC206FCD32C3}">
      <dsp:nvSpPr>
        <dsp:cNvPr id="0" name=""/>
        <dsp:cNvSpPr/>
      </dsp:nvSpPr>
      <dsp:spPr>
        <a:xfrm rot="3240000">
          <a:off x="4357467" y="3595045"/>
          <a:ext cx="399537" cy="515557"/>
        </a:xfrm>
        <a:prstGeom prst="rightArrow">
          <a:avLst>
            <a:gd name="adj1" fmla="val 60000"/>
            <a:gd name="adj2" fmla="val 50000"/>
          </a:avLst>
        </a:prstGeom>
        <a:solidFill>
          <a:schemeClr val="accent6">
            <a:shade val="90000"/>
            <a:hueOff val="-3511"/>
            <a:satOff val="294"/>
            <a:lumOff val="11105"/>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a:off x="4382171" y="3649671"/>
        <a:ext cx="279676" cy="309335"/>
      </dsp:txXfrm>
    </dsp:sp>
    <dsp:sp modelId="{E18C572D-7F61-462C-939F-537078C8FA3A}">
      <dsp:nvSpPr>
        <dsp:cNvPr id="0" name=""/>
        <dsp:cNvSpPr/>
      </dsp:nvSpPr>
      <dsp:spPr>
        <a:xfrm>
          <a:off x="4341865" y="3841756"/>
          <a:ext cx="1516346" cy="1516346"/>
        </a:xfrm>
        <a:prstGeom prst="ellipse">
          <a:avLst/>
        </a:prstGeom>
        <a:gradFill rotWithShape="0">
          <a:gsLst>
            <a:gs pos="0">
              <a:schemeClr val="accent6">
                <a:shade val="50000"/>
                <a:hueOff val="-2862"/>
                <a:satOff val="1427"/>
                <a:lumOff val="24729"/>
                <a:alphaOff val="0"/>
                <a:satMod val="103000"/>
                <a:lumMod val="102000"/>
                <a:tint val="94000"/>
              </a:schemeClr>
            </a:gs>
            <a:gs pos="50000">
              <a:schemeClr val="accent6">
                <a:shade val="50000"/>
                <a:hueOff val="-2862"/>
                <a:satOff val="1427"/>
                <a:lumOff val="24729"/>
                <a:alphaOff val="0"/>
                <a:satMod val="110000"/>
                <a:lumMod val="100000"/>
                <a:shade val="100000"/>
              </a:schemeClr>
            </a:gs>
            <a:gs pos="100000">
              <a:schemeClr val="accent6">
                <a:shade val="50000"/>
                <a:hueOff val="-2862"/>
                <a:satOff val="1427"/>
                <a:lumOff val="24729"/>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smtClean="0">
              <a:solidFill>
                <a:schemeClr val="tx2"/>
              </a:solidFill>
            </a:rPr>
            <a:t>Provide the alumni with the library privilege</a:t>
          </a:r>
          <a:endParaRPr lang="en-US" sz="1400" kern="1200" dirty="0">
            <a:solidFill>
              <a:schemeClr val="tx2"/>
            </a:solidFill>
          </a:endParaRPr>
        </a:p>
      </dsp:txBody>
      <dsp:txXfrm>
        <a:off x="4563929" y="4063820"/>
        <a:ext cx="1072218" cy="1072218"/>
      </dsp:txXfrm>
    </dsp:sp>
    <dsp:sp modelId="{365BAFC3-6C0D-4402-9ECF-46A73D49929D}">
      <dsp:nvSpPr>
        <dsp:cNvPr id="0" name=""/>
        <dsp:cNvSpPr/>
      </dsp:nvSpPr>
      <dsp:spPr>
        <a:xfrm rot="7560000">
          <a:off x="2978097" y="3595045"/>
          <a:ext cx="341128" cy="515557"/>
        </a:xfrm>
        <a:prstGeom prst="rightArrow">
          <a:avLst>
            <a:gd name="adj1" fmla="val 60000"/>
            <a:gd name="adj2" fmla="val 50000"/>
          </a:avLst>
        </a:prstGeom>
        <a:solidFill>
          <a:schemeClr val="accent6">
            <a:shade val="90000"/>
            <a:hueOff val="-3511"/>
            <a:satOff val="294"/>
            <a:lumOff val="11105"/>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10800000">
        <a:off x="3059342" y="3656759"/>
        <a:ext cx="238790" cy="309335"/>
      </dsp:txXfrm>
    </dsp:sp>
    <dsp:sp modelId="{148FF617-DBC2-484F-ABD8-E902B0123549}">
      <dsp:nvSpPr>
        <dsp:cNvPr id="0" name=""/>
        <dsp:cNvSpPr/>
      </dsp:nvSpPr>
      <dsp:spPr>
        <a:xfrm>
          <a:off x="1847685" y="3841756"/>
          <a:ext cx="1516346" cy="1516346"/>
        </a:xfrm>
        <a:prstGeom prst="ellipse">
          <a:avLst/>
        </a:prstGeom>
        <a:gradFill rotWithShape="0">
          <a:gsLst>
            <a:gs pos="0">
              <a:schemeClr val="accent6">
                <a:shade val="50000"/>
                <a:hueOff val="-2862"/>
                <a:satOff val="1427"/>
                <a:lumOff val="24729"/>
                <a:alphaOff val="0"/>
                <a:satMod val="103000"/>
                <a:lumMod val="102000"/>
                <a:tint val="94000"/>
              </a:schemeClr>
            </a:gs>
            <a:gs pos="50000">
              <a:schemeClr val="accent6">
                <a:shade val="50000"/>
                <a:hueOff val="-2862"/>
                <a:satOff val="1427"/>
                <a:lumOff val="24729"/>
                <a:alphaOff val="0"/>
                <a:satMod val="110000"/>
                <a:lumMod val="100000"/>
                <a:shade val="100000"/>
              </a:schemeClr>
            </a:gs>
            <a:gs pos="100000">
              <a:schemeClr val="accent6">
                <a:shade val="50000"/>
                <a:hueOff val="-2862"/>
                <a:satOff val="1427"/>
                <a:lumOff val="24729"/>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tx2"/>
              </a:solidFill>
            </a:rPr>
            <a:t>Koha Support to the CTL and student success </a:t>
          </a:r>
          <a:endParaRPr lang="en-US" sz="1400" kern="1200" dirty="0">
            <a:solidFill>
              <a:schemeClr val="tx2"/>
            </a:solidFill>
          </a:endParaRPr>
        </a:p>
      </dsp:txBody>
      <dsp:txXfrm>
        <a:off x="2069749" y="4063820"/>
        <a:ext cx="1072218" cy="1072218"/>
      </dsp:txXfrm>
    </dsp:sp>
    <dsp:sp modelId="{C8C3FFDD-1BE5-4270-AF81-A5D9F9F02838}">
      <dsp:nvSpPr>
        <dsp:cNvPr id="0" name=""/>
        <dsp:cNvSpPr/>
      </dsp:nvSpPr>
      <dsp:spPr>
        <a:xfrm rot="11880000">
          <a:off x="2539290" y="2262057"/>
          <a:ext cx="389098" cy="515557"/>
        </a:xfrm>
        <a:prstGeom prst="rightArrow">
          <a:avLst>
            <a:gd name="adj1" fmla="val 60000"/>
            <a:gd name="adj2" fmla="val 50000"/>
          </a:avLst>
        </a:prstGeom>
        <a:solidFill>
          <a:schemeClr val="accent6">
            <a:shade val="90000"/>
            <a:hueOff val="-1756"/>
            <a:satOff val="147"/>
            <a:lumOff val="5552"/>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10800000">
        <a:off x="2653162" y="2383204"/>
        <a:ext cx="272369" cy="309335"/>
      </dsp:txXfrm>
    </dsp:sp>
    <dsp:sp modelId="{6AA213E3-63DF-4355-8AF0-6610ACDE50BF}">
      <dsp:nvSpPr>
        <dsp:cNvPr id="0" name=""/>
        <dsp:cNvSpPr/>
      </dsp:nvSpPr>
      <dsp:spPr>
        <a:xfrm>
          <a:off x="1076942" y="1469649"/>
          <a:ext cx="1516346" cy="1516346"/>
        </a:xfrm>
        <a:prstGeom prst="ellipse">
          <a:avLst/>
        </a:prstGeom>
        <a:gradFill rotWithShape="0">
          <a:gsLst>
            <a:gs pos="0">
              <a:schemeClr val="accent6">
                <a:shade val="50000"/>
                <a:hueOff val="-1431"/>
                <a:satOff val="714"/>
                <a:lumOff val="12364"/>
                <a:alphaOff val="0"/>
                <a:satMod val="103000"/>
                <a:lumMod val="102000"/>
                <a:tint val="94000"/>
              </a:schemeClr>
            </a:gs>
            <a:gs pos="50000">
              <a:schemeClr val="accent6">
                <a:shade val="50000"/>
                <a:hueOff val="-1431"/>
                <a:satOff val="714"/>
                <a:lumOff val="12364"/>
                <a:alphaOff val="0"/>
                <a:satMod val="110000"/>
                <a:lumMod val="100000"/>
                <a:shade val="100000"/>
              </a:schemeClr>
            </a:gs>
            <a:gs pos="100000">
              <a:schemeClr val="accent6">
                <a:shade val="50000"/>
                <a:hueOff val="-1431"/>
                <a:satOff val="714"/>
                <a:lumOff val="1236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tx2"/>
              </a:solidFill>
            </a:rPr>
            <a:t>Student  Thesis – </a:t>
          </a:r>
          <a:r>
            <a:rPr lang="en-US" sz="1400" kern="1200" dirty="0" err="1" smtClean="0">
              <a:solidFill>
                <a:schemeClr val="tx2"/>
              </a:solidFill>
            </a:rPr>
            <a:t>Alkazna</a:t>
          </a:r>
          <a:r>
            <a:rPr lang="en-US" sz="1400" kern="1200" dirty="0" smtClean="0">
              <a:solidFill>
                <a:schemeClr val="tx2"/>
              </a:solidFill>
            </a:rPr>
            <a:t> repository</a:t>
          </a:r>
          <a:endParaRPr lang="en-US" sz="1400" kern="1200" dirty="0">
            <a:solidFill>
              <a:schemeClr val="tx2"/>
            </a:solidFill>
          </a:endParaRPr>
        </a:p>
      </dsp:txBody>
      <dsp:txXfrm>
        <a:off x="1299006" y="1691713"/>
        <a:ext cx="1072218" cy="1072218"/>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66FD6-D2A9-4F00-B491-A99A8AA44ED0}" type="datetimeFigureOut">
              <a:rPr lang="en-US" smtClean="0"/>
              <a:t>3/18/2022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F57D8-2956-440C-8FE5-2823967F9ED1}" type="slidenum">
              <a:rPr lang="en-US" smtClean="0"/>
              <a:t>‹#›</a:t>
            </a:fld>
            <a:endParaRPr lang="en-US"/>
          </a:p>
        </p:txBody>
      </p:sp>
    </p:spTree>
    <p:extLst>
      <p:ext uri="{BB962C8B-B14F-4D97-AF65-F5344CB8AC3E}">
        <p14:creationId xmlns:p14="http://schemas.microsoft.com/office/powerpoint/2010/main" val="381662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47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4823" y="654528"/>
            <a:ext cx="3540072" cy="774496"/>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rgbClr val="FFFFFF"/>
                </a:solidFill>
              </a:defRPr>
            </a:lvl1pPr>
            <a:lvl2pPr algn="ctr">
              <a:defRPr/>
            </a:lvl2pPr>
            <a:lvl3pPr algn="ctr">
              <a:defRPr/>
            </a:lvl3pPr>
            <a:lvl4pPr algn="ctr">
              <a:defRPr/>
            </a:lvl4pPr>
            <a:lvl5pPr algn="ctr">
              <a:defRPr/>
            </a:lvl5pPr>
          </a:lstStyle>
          <a:p>
            <a:pPr lvl="0"/>
            <a:r>
              <a:rPr lang="en-US"/>
              <a:t>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769036"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eg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chemeClr val="bg2"/>
                </a:solidFill>
              </a:defRPr>
            </a:lvl1pPr>
            <a:lvl2pPr algn="ctr">
              <a:defRPr/>
            </a:lvl2pPr>
            <a:lvl3pPr algn="ctr">
              <a:defRPr/>
            </a:lvl3pPr>
            <a:lvl4pPr algn="ctr">
              <a:defRPr/>
            </a:lvl4pPr>
            <a:lvl5pPr algn="ctr">
              <a:defRPr/>
            </a:lvl5pPr>
          </a:lstStyle>
          <a:p>
            <a:pPr lvl="0"/>
            <a:r>
              <a:rPr lang="en-US"/>
              <a:t>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5181600"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7211BEC-8A05-5048-8010-DA55CE4672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4824" y="654528"/>
            <a:ext cx="3540072" cy="774496"/>
          </a:xfrm>
          <a:prstGeom prst="rect">
            <a:avLst/>
          </a:prstGeom>
        </p:spPr>
      </p:pic>
    </p:spTree>
    <p:extLst>
      <p:ext uri="{BB962C8B-B14F-4D97-AF65-F5344CB8AC3E}">
        <p14:creationId xmlns:p14="http://schemas.microsoft.com/office/powerpoint/2010/main" val="368478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hoto">
    <p:bg>
      <p:bgPr>
        <a:solidFill>
          <a:srgbClr val="0047B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B21E90-80D8-4070-8157-51F5D9E9B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rgbClr val="FFFFFF"/>
                </a:solidFill>
              </a:defRPr>
            </a:lvl1pPr>
            <a:lvl2pPr algn="ctr">
              <a:defRPr/>
            </a:lvl2pPr>
            <a:lvl3pPr algn="ctr">
              <a:defRPr/>
            </a:lvl3pPr>
            <a:lvl4pPr algn="ctr">
              <a:defRPr/>
            </a:lvl4pPr>
            <a:lvl5pPr algn="ctr">
              <a:defRPr/>
            </a:lvl5pPr>
          </a:lstStyle>
          <a:p>
            <a:pPr lvl="0"/>
            <a:r>
              <a:rPr lang="en-US"/>
              <a:t>Edit Master text styles</a:t>
            </a:r>
          </a:p>
        </p:txBody>
      </p:sp>
      <p:pic>
        <p:nvPicPr>
          <p:cNvPr id="8" name="Picture 7">
            <a:extLst>
              <a:ext uri="{FF2B5EF4-FFF2-40B4-BE49-F238E27FC236}">
                <a16:creationId xmlns:a16="http://schemas.microsoft.com/office/drawing/2014/main" id="{E14C8DC6-096E-714D-AF28-58697258972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4823" y="654528"/>
            <a:ext cx="3540072" cy="774496"/>
          </a:xfrm>
          <a:prstGeom prst="rect">
            <a:avLst/>
          </a:prstGeom>
        </p:spPr>
      </p:pic>
      <p:cxnSp>
        <p:nvCxnSpPr>
          <p:cNvPr id="9" name="Straight Connector 8">
            <a:extLst>
              <a:ext uri="{FF2B5EF4-FFF2-40B4-BE49-F238E27FC236}">
                <a16:creationId xmlns:a16="http://schemas.microsoft.com/office/drawing/2014/main" id="{41EF1488-91C4-7449-841C-78AF4CE5EB83}"/>
              </a:ext>
            </a:extLst>
          </p:cNvPr>
          <p:cNvCxnSpPr/>
          <p:nvPr userDrawn="1"/>
        </p:nvCxnSpPr>
        <p:spPr>
          <a:xfrm>
            <a:off x="1769036"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840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9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6162675" y="1152524"/>
            <a:ext cx="5191124" cy="5162121"/>
          </a:xfrm>
        </p:spPr>
        <p:txBody>
          <a:bodyPr/>
          <a:lstStyle>
            <a:lvl1pPr>
              <a:defRPr b="0"/>
            </a:lvl1pPr>
          </a:lstStyle>
          <a:p>
            <a:pPr lvl="0"/>
            <a:r>
              <a:rPr lang="en-US"/>
              <a:t>Heading 1</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362075" y="1123950"/>
            <a:ext cx="4419600" cy="5190695"/>
          </a:xfrm>
        </p:spPr>
        <p:txBody>
          <a:bodyPr anchor="t" anchorCtr="0"/>
          <a:lstStyle/>
          <a:p>
            <a:r>
              <a:rPr lang="en-US"/>
              <a:t>Click to edit Master title style</a:t>
            </a:r>
          </a:p>
        </p:txBody>
      </p:sp>
      <p:cxnSp>
        <p:nvCxnSpPr>
          <p:cNvPr id="13" name="Straight Connector 12">
            <a:extLst>
              <a:ext uri="{FF2B5EF4-FFF2-40B4-BE49-F238E27FC236}">
                <a16:creationId xmlns:a16="http://schemas.microsoft.com/office/drawing/2014/main" id="{1385506D-9F69-4855-B473-3BFDAF44ED69}"/>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095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360800" y="1868400"/>
            <a:ext cx="4680000" cy="444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6667500" y="1868400"/>
            <a:ext cx="4680000" cy="444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AA8462DF-95A9-4839-9F28-1A83BCE28186}"/>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9" name="Picture 8">
            <a:extLst>
              <a:ext uri="{FF2B5EF4-FFF2-40B4-BE49-F238E27FC236}">
                <a16:creationId xmlns:a16="http://schemas.microsoft.com/office/drawing/2014/main" id="{DEDB1926-9526-4026-8069-F153FB78BD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0" name="Straight Connector 9">
            <a:extLst>
              <a:ext uri="{FF2B5EF4-FFF2-40B4-BE49-F238E27FC236}">
                <a16:creationId xmlns:a16="http://schemas.microsoft.com/office/drawing/2014/main" id="{5B93EDA0-B8B5-41ED-80CE-BFDA6DF8FC4B}"/>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45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360800" y="2352674"/>
            <a:ext cx="4680000" cy="3965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6667500" y="2352674"/>
            <a:ext cx="4680000" cy="3965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 Placeholder 2">
            <a:extLst>
              <a:ext uri="{FF2B5EF4-FFF2-40B4-BE49-F238E27FC236}">
                <a16:creationId xmlns:a16="http://schemas.microsoft.com/office/drawing/2014/main" id="{E4673FD0-9E13-4C1A-B859-688309735A0D}"/>
              </a:ext>
            </a:extLst>
          </p:cNvPr>
          <p:cNvSpPr>
            <a:spLocks noGrp="1"/>
          </p:cNvSpPr>
          <p:nvPr>
            <p:ph type="body" idx="13"/>
          </p:nvPr>
        </p:nvSpPr>
        <p:spPr>
          <a:xfrm>
            <a:off x="1360800" y="1868399"/>
            <a:ext cx="4680000" cy="379501"/>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Text Placeholder 4">
            <a:extLst>
              <a:ext uri="{FF2B5EF4-FFF2-40B4-BE49-F238E27FC236}">
                <a16:creationId xmlns:a16="http://schemas.microsoft.com/office/drawing/2014/main" id="{E81F1501-AF73-4AAC-9FF0-0767311D3E75}"/>
              </a:ext>
            </a:extLst>
          </p:cNvPr>
          <p:cNvSpPr>
            <a:spLocks noGrp="1"/>
          </p:cNvSpPr>
          <p:nvPr>
            <p:ph type="body" sz="quarter" idx="3"/>
          </p:nvPr>
        </p:nvSpPr>
        <p:spPr>
          <a:xfrm>
            <a:off x="6667500" y="1868399"/>
            <a:ext cx="4687888" cy="379501"/>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Box 9">
            <a:extLst>
              <a:ext uri="{FF2B5EF4-FFF2-40B4-BE49-F238E27FC236}">
                <a16:creationId xmlns:a16="http://schemas.microsoft.com/office/drawing/2014/main" id="{7ADE178B-FD49-4EE2-9A05-5F6BE0A0483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11" name="Picture 10">
            <a:extLst>
              <a:ext uri="{FF2B5EF4-FFF2-40B4-BE49-F238E27FC236}">
                <a16:creationId xmlns:a16="http://schemas.microsoft.com/office/drawing/2014/main" id="{68D110D8-F82F-4692-8B00-F633DEF1AC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2" name="Straight Connector 11">
            <a:extLst>
              <a:ext uri="{FF2B5EF4-FFF2-40B4-BE49-F238E27FC236}">
                <a16:creationId xmlns:a16="http://schemas.microsoft.com/office/drawing/2014/main" id="{6132C51C-6D36-4A71-A1DB-6C92A35CA313}"/>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1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6162675" y="771525"/>
            <a:ext cx="5638800"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5" y="542925"/>
            <a:ext cx="4181476"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362075" y="1866900"/>
            <a:ext cx="4181476" cy="4448175"/>
          </a:xfrm>
        </p:spPr>
        <p:txBody>
          <a:bodyPr/>
          <a:lstStyle>
            <a:lvl1pPr marL="0" indent="0">
              <a:buNone/>
              <a:defRPr b="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43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5" y="542925"/>
            <a:ext cx="4181476"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362075" y="1866900"/>
            <a:ext cx="4181476"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6162675" y="771525"/>
            <a:ext cx="5638800" cy="5534025"/>
          </a:xfrm>
          <a:solidFill>
            <a:schemeClr val="bg1">
              <a:lumMod val="85000"/>
            </a:schemeClr>
          </a:solidFill>
        </p:spPr>
        <p:txBody>
          <a:bodyPr/>
          <a:lstStyle>
            <a:lvl1pPr marL="0" indent="0">
              <a:buNone/>
              <a:defRPr/>
            </a:lvl1pPr>
          </a:lstStyle>
          <a:p>
            <a:r>
              <a:rPr lang="en-US"/>
              <a:t>Click icon to add picture</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598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828676" y="542925"/>
            <a:ext cx="10544174" cy="1114425"/>
          </a:xfrm>
        </p:spPr>
        <p:txBody>
          <a:bodyPr/>
          <a:lstStyle>
            <a:lvl1pPr algn="ctr">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4238625"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400050"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8077200" y="2752725"/>
            <a:ext cx="3714750" cy="3562350"/>
          </a:xfrm>
          <a:solidFill>
            <a:schemeClr val="bg1">
              <a:lumMod val="85000"/>
            </a:schemeClr>
          </a:solidFill>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18849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4" y="1114424"/>
            <a:ext cx="6343651" cy="1438275"/>
          </a:xfrm>
        </p:spPr>
        <p:txBody>
          <a:bodyPr anchor="t" anchorCtr="0"/>
          <a:lstStyle>
            <a:lvl1pPr algn="l">
              <a:lnSpc>
                <a:spcPct val="100000"/>
              </a:lnSpc>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4238625"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400050"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8077200" y="762000"/>
            <a:ext cx="3714750" cy="5553075"/>
          </a:xfrm>
          <a:solidFill>
            <a:schemeClr val="bg1">
              <a:lumMod val="85000"/>
            </a:schemeClr>
          </a:solidFill>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606654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884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chemeClr val="tx2"/>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chemeClr val="tx2"/>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chemeClr val="tx2"/>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tx2"/>
                </a:solidFill>
              </a:rPr>
              <a:t>ku.ac.ae</a:t>
            </a:r>
            <a:endParaRPr lang="en-US" sz="850">
              <a:solidFill>
                <a:schemeClr val="tx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7"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5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EFBB-C8CA-4201-A903-805856BEB310}"/>
              </a:ext>
            </a:extLst>
          </p:cNvPr>
          <p:cNvSpPr>
            <a:spLocks noGrp="1"/>
          </p:cNvSpPr>
          <p:nvPr>
            <p:ph type="dt" sz="half" idx="10"/>
          </p:nvPr>
        </p:nvSpPr>
        <p:spPr/>
        <p:txBody>
          <a:bodyPr/>
          <a:lstStyle/>
          <a:p>
            <a:r>
              <a:rPr lang="en-US"/>
              <a:t>DD Month 20XX</a:t>
            </a:r>
          </a:p>
        </p:txBody>
      </p:sp>
      <p:sp>
        <p:nvSpPr>
          <p:cNvPr id="3" name="Footer Placeholder 2">
            <a:extLst>
              <a:ext uri="{FF2B5EF4-FFF2-40B4-BE49-F238E27FC236}">
                <a16:creationId xmlns:a16="http://schemas.microsoft.com/office/drawing/2014/main" id="{8551DCEB-2462-4151-B7CC-F3EC0D3A59D6}"/>
              </a:ext>
            </a:extLst>
          </p:cNvPr>
          <p:cNvSpPr>
            <a:spLocks noGrp="1"/>
          </p:cNvSpPr>
          <p:nvPr>
            <p:ph type="ftr" sz="quarter" idx="11"/>
          </p:nvPr>
        </p:nvSpPr>
        <p:spPr/>
        <p:txBody>
          <a:bodyPr/>
          <a:lstStyle/>
          <a:p>
            <a:r>
              <a:rPr lang="en-US"/>
              <a:t>Presentation Title Goes Here</a:t>
            </a:r>
          </a:p>
        </p:txBody>
      </p:sp>
      <p:sp>
        <p:nvSpPr>
          <p:cNvPr id="4" name="Slide Number Placeholder 3">
            <a:extLst>
              <a:ext uri="{FF2B5EF4-FFF2-40B4-BE49-F238E27FC236}">
                <a16:creationId xmlns:a16="http://schemas.microsoft.com/office/drawing/2014/main" id="{B5A57B99-432B-45A8-9216-9BC01B297D0C}"/>
              </a:ext>
            </a:extLst>
          </p:cNvPr>
          <p:cNvSpPr>
            <a:spLocks noGrp="1"/>
          </p:cNvSpPr>
          <p:nvPr>
            <p:ph type="sldNum" sz="quarter" idx="12"/>
          </p:nvPr>
        </p:nvSpPr>
        <p:spPr/>
        <p:txBody>
          <a:bodyPr/>
          <a:lstStyle/>
          <a:p>
            <a:fld id="{1E68DD1B-5CD8-424B-8173-19E182143E0A}" type="slidenum">
              <a:rPr lang="en-US" smtClean="0"/>
              <a:t>‹#›</a:t>
            </a:fld>
            <a:endParaRPr lang="en-US"/>
          </a:p>
        </p:txBody>
      </p:sp>
    </p:spTree>
    <p:extLst>
      <p:ext uri="{BB962C8B-B14F-4D97-AF65-F5344CB8AC3E}">
        <p14:creationId xmlns:p14="http://schemas.microsoft.com/office/powerpoint/2010/main" val="4259154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831850" y="1204913"/>
            <a:ext cx="10515600" cy="2852737"/>
          </a:xfrm>
        </p:spPr>
        <p:txBody>
          <a:bodyPr anchor="b"/>
          <a:lstStyle>
            <a:lvl1pPr algn="ctr">
              <a:lnSpc>
                <a:spcPct val="100000"/>
              </a:lnSpc>
              <a:defRPr sz="6000"/>
            </a:lvl1pPr>
          </a:lstStyle>
          <a:p>
            <a:r>
              <a:rPr lang="en-US"/>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831850" y="4000500"/>
            <a:ext cx="10515600" cy="1584326"/>
          </a:xfrm>
        </p:spPr>
        <p:txBody>
          <a:bodyPr>
            <a:normAutofit/>
          </a:bodyPr>
          <a:lstStyle>
            <a:lvl1pPr marL="0" indent="0" algn="ctr">
              <a:buNone/>
              <a:defRPr sz="3800">
                <a:solidFill>
                  <a:srgbClr val="00000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Tree>
    <p:extLst>
      <p:ext uri="{BB962C8B-B14F-4D97-AF65-F5344CB8AC3E}">
        <p14:creationId xmlns:p14="http://schemas.microsoft.com/office/powerpoint/2010/main" val="2545361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831850" y="1052513"/>
            <a:ext cx="10515600" cy="2852737"/>
          </a:xfrm>
        </p:spPr>
        <p:txBody>
          <a:bodyPr anchor="b"/>
          <a:lstStyle>
            <a:lvl1pPr algn="ctr">
              <a:lnSpc>
                <a:spcPct val="100000"/>
              </a:lnSpc>
              <a:defRPr sz="6000">
                <a:solidFill>
                  <a:srgbClr val="FFFFFF"/>
                </a:solidFill>
              </a:defRPr>
            </a:lvl1pPr>
          </a:lstStyle>
          <a:p>
            <a:r>
              <a:rPr lang="en-US"/>
              <a:t>Click to edit Master title style</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Tree>
    <p:extLst>
      <p:ext uri="{BB962C8B-B14F-4D97-AF65-F5344CB8AC3E}">
        <p14:creationId xmlns:p14="http://schemas.microsoft.com/office/powerpoint/2010/main" val="3658298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47BA"/>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22667" y="891158"/>
            <a:ext cx="2368684" cy="518220"/>
          </a:xfrm>
          <a:prstGeom prst="rect">
            <a:avLst/>
          </a:prstGeom>
        </p:spPr>
      </p:pic>
      <p:sp>
        <p:nvSpPr>
          <p:cNvPr id="4" name="TextBox 3">
            <a:extLst>
              <a:ext uri="{FF2B5EF4-FFF2-40B4-BE49-F238E27FC236}">
                <a16:creationId xmlns:a16="http://schemas.microsoft.com/office/drawing/2014/main" id="{AFAD5768-C7B0-4ABF-BE83-522BCD1F6FE5}"/>
              </a:ext>
            </a:extLst>
          </p:cNvPr>
          <p:cNvSpPr txBox="1"/>
          <p:nvPr userDrawn="1"/>
        </p:nvSpPr>
        <p:spPr>
          <a:xfrm>
            <a:off x="752475" y="2545809"/>
            <a:ext cx="10648950" cy="1769715"/>
          </a:xfrm>
          <a:prstGeom prst="rect">
            <a:avLst/>
          </a:prstGeom>
          <a:noFill/>
        </p:spPr>
        <p:txBody>
          <a:bodyPr wrap="square" lIns="0" tIns="0" rIns="0" bIns="0" rtlCol="0" anchor="ctr" anchorCtr="0">
            <a:spAutoFit/>
          </a:bodyPr>
          <a:lstStyle/>
          <a:p>
            <a:pPr algn="ctr"/>
            <a:r>
              <a:rPr lang="fi-FI" sz="11500" b="1" spc="-100" baseline="0" dirty="0" err="1">
                <a:solidFill>
                  <a:srgbClr val="FFFFFF"/>
                </a:solidFill>
                <a:latin typeface="+mj-lt"/>
              </a:rPr>
              <a:t>Thank</a:t>
            </a:r>
            <a:r>
              <a:rPr lang="fi-FI" sz="11500" b="1" spc="-100" baseline="0" dirty="0">
                <a:solidFill>
                  <a:srgbClr val="FFFFFF"/>
                </a:solidFill>
                <a:latin typeface="+mj-lt"/>
              </a:rPr>
              <a:t> </a:t>
            </a:r>
            <a:r>
              <a:rPr lang="fi-FI" sz="11500" b="1" spc="-100" baseline="0" dirty="0" err="1">
                <a:solidFill>
                  <a:srgbClr val="FFFFFF"/>
                </a:solidFill>
                <a:latin typeface="+mj-lt"/>
              </a:rPr>
              <a:t>You</a:t>
            </a:r>
            <a:endParaRPr lang="en-US" sz="11500" b="1" spc="-100" baseline="0" dirty="0">
              <a:solidFill>
                <a:srgbClr val="FFFFFF"/>
              </a:solidFill>
              <a:latin typeface="+mj-lt"/>
            </a:endParaRPr>
          </a:p>
        </p:txBody>
      </p:sp>
      <p:sp>
        <p:nvSpPr>
          <p:cNvPr id="13" name="TextBox 12">
            <a:extLst>
              <a:ext uri="{FF2B5EF4-FFF2-40B4-BE49-F238E27FC236}">
                <a16:creationId xmlns:a16="http://schemas.microsoft.com/office/drawing/2014/main" id="{A94333D0-73BA-48D2-AA6E-3F2C63C9CA8F}"/>
              </a:ext>
            </a:extLst>
          </p:cNvPr>
          <p:cNvSpPr txBox="1"/>
          <p:nvPr userDrawn="1"/>
        </p:nvSpPr>
        <p:spPr>
          <a:xfrm>
            <a:off x="5181601" y="6146800"/>
            <a:ext cx="1838324" cy="244475"/>
          </a:xfrm>
          <a:prstGeom prst="rect">
            <a:avLst/>
          </a:prstGeom>
          <a:noFill/>
        </p:spPr>
        <p:txBody>
          <a:bodyPr wrap="square" lIns="0" tIns="0" rIns="0" bIns="0" rtlCol="0" anchor="ctr" anchorCtr="0">
            <a:noAutofit/>
          </a:bodyPr>
          <a:lstStyle/>
          <a:p>
            <a:pPr algn="ctr"/>
            <a:r>
              <a:rPr lang="fi-FI" sz="1250" b="1">
                <a:solidFill>
                  <a:srgbClr val="FFFFFF"/>
                </a:solidFill>
              </a:rPr>
              <a:t>ku.ac.ae</a:t>
            </a:r>
            <a:endParaRPr lang="en-US" sz="1250" b="1">
              <a:solidFill>
                <a:srgbClr val="FFFFFF"/>
              </a:solidFill>
            </a:endParaRPr>
          </a:p>
        </p:txBody>
      </p:sp>
    </p:spTree>
    <p:extLst>
      <p:ext uri="{BB962C8B-B14F-4D97-AF65-F5344CB8AC3E}">
        <p14:creationId xmlns:p14="http://schemas.microsoft.com/office/powerpoint/2010/main" val="241956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564FE-F745-443F-8321-B0EFD169FAC6}"/>
              </a:ext>
            </a:extLst>
          </p:cNvPr>
          <p:cNvSpPr>
            <a:spLocks noGrp="1"/>
          </p:cNvSpPr>
          <p:nvPr>
            <p:ph type="title"/>
          </p:nvPr>
        </p:nvSpPr>
        <p:spPr>
          <a:xfrm>
            <a:off x="1362074" y="542925"/>
            <a:ext cx="9991725" cy="1114425"/>
          </a:xfrm>
          <a:prstGeom prst="rect">
            <a:avLst/>
          </a:prstGeom>
        </p:spPr>
        <p:txBody>
          <a:bodyPr vert="horz" lIns="0" tIns="0" rIns="0" bIns="0" rtlCol="0" anchor="b"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06911581-2B37-40B3-825A-043921DFB80C}"/>
              </a:ext>
            </a:extLst>
          </p:cNvPr>
          <p:cNvSpPr>
            <a:spLocks noGrp="1"/>
          </p:cNvSpPr>
          <p:nvPr>
            <p:ph type="body" idx="1"/>
          </p:nvPr>
        </p:nvSpPr>
        <p:spPr>
          <a:xfrm>
            <a:off x="1362074" y="1866900"/>
            <a:ext cx="9991725" cy="444817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172D0-FD25-45C4-A82E-F4094DCDE0CC}"/>
              </a:ext>
            </a:extLst>
          </p:cNvPr>
          <p:cNvSpPr>
            <a:spLocks noGrp="1"/>
          </p:cNvSpPr>
          <p:nvPr>
            <p:ph type="dt" sz="half" idx="2"/>
          </p:nvPr>
        </p:nvSpPr>
        <p:spPr>
          <a:xfrm>
            <a:off x="8086725" y="203200"/>
            <a:ext cx="1733550" cy="244475"/>
          </a:xfrm>
          <a:prstGeom prst="rect">
            <a:avLst/>
          </a:prstGeom>
        </p:spPr>
        <p:txBody>
          <a:bodyPr vert="horz" lIns="0" tIns="0" rIns="0" bIns="0" rtlCol="0" anchor="ctr"/>
          <a:lstStyle>
            <a:lvl1pPr algn="r">
              <a:defRPr sz="850">
                <a:solidFill>
                  <a:schemeClr val="bg2"/>
                </a:solidFill>
              </a:defRPr>
            </a:lvl1pPr>
          </a:lstStyle>
          <a:p>
            <a:r>
              <a:rPr lang="en-US"/>
              <a:t>DD Month 20XX</a:t>
            </a:r>
          </a:p>
        </p:txBody>
      </p:sp>
      <p:sp>
        <p:nvSpPr>
          <p:cNvPr id="5" name="Footer Placeholder 4">
            <a:extLst>
              <a:ext uri="{FF2B5EF4-FFF2-40B4-BE49-F238E27FC236}">
                <a16:creationId xmlns:a16="http://schemas.microsoft.com/office/drawing/2014/main" id="{F5B18871-7BC3-4A13-9CC9-B9A1DB22F262}"/>
              </a:ext>
            </a:extLst>
          </p:cNvPr>
          <p:cNvSpPr>
            <a:spLocks noGrp="1"/>
          </p:cNvSpPr>
          <p:nvPr>
            <p:ph type="ftr" sz="quarter" idx="3"/>
          </p:nvPr>
        </p:nvSpPr>
        <p:spPr>
          <a:xfrm>
            <a:off x="2867025" y="203200"/>
            <a:ext cx="4114800" cy="244475"/>
          </a:xfrm>
          <a:prstGeom prst="rect">
            <a:avLst/>
          </a:prstGeom>
        </p:spPr>
        <p:txBody>
          <a:bodyPr vert="horz" lIns="0" tIns="0" rIns="0" bIns="0" rtlCol="0" anchor="ctr"/>
          <a:lstStyle>
            <a:lvl1pPr algn="ctr">
              <a:defRPr sz="850">
                <a:solidFill>
                  <a:schemeClr val="bg2"/>
                </a:solidFill>
              </a:defRPr>
            </a:lvl1pPr>
          </a:lstStyle>
          <a:p>
            <a:r>
              <a:rPr lang="en-US"/>
              <a:t>Presentation Title Goes Here</a:t>
            </a:r>
          </a:p>
        </p:txBody>
      </p:sp>
      <p:sp>
        <p:nvSpPr>
          <p:cNvPr id="6" name="Slide Number Placeholder 5">
            <a:extLst>
              <a:ext uri="{FF2B5EF4-FFF2-40B4-BE49-F238E27FC236}">
                <a16:creationId xmlns:a16="http://schemas.microsoft.com/office/drawing/2014/main" id="{A7EA17DA-0D3F-410F-A9AA-3171ED151327}"/>
              </a:ext>
            </a:extLst>
          </p:cNvPr>
          <p:cNvSpPr>
            <a:spLocks noGrp="1"/>
          </p:cNvSpPr>
          <p:nvPr>
            <p:ph type="sldNum" sz="quarter" idx="4"/>
          </p:nvPr>
        </p:nvSpPr>
        <p:spPr>
          <a:xfrm>
            <a:off x="11563349" y="203200"/>
            <a:ext cx="523875" cy="244475"/>
          </a:xfrm>
          <a:prstGeom prst="rect">
            <a:avLst/>
          </a:prstGeom>
        </p:spPr>
        <p:txBody>
          <a:bodyPr vert="horz" lIns="0" tIns="0" rIns="0" bIns="0" rtlCol="0" anchor="ctr"/>
          <a:lstStyle>
            <a:lvl1pPr algn="ctr">
              <a:defRPr sz="850">
                <a:solidFill>
                  <a:schemeClr val="bg2"/>
                </a:solidFill>
              </a:defRPr>
            </a:lvl1pPr>
          </a:lstStyle>
          <a:p>
            <a:fld id="{1E68DD1B-5CD8-424B-8173-19E182143E0A}" type="slidenum">
              <a:rPr lang="en-US" smtClean="0"/>
              <a:pPr/>
              <a:t>‹#›</a:t>
            </a:fld>
            <a:endParaRPr lang="en-US"/>
          </a:p>
        </p:txBody>
      </p:sp>
      <p:sp>
        <p:nvSpPr>
          <p:cNvPr id="13" name="TextBox 12">
            <a:extLst>
              <a:ext uri="{FF2B5EF4-FFF2-40B4-BE49-F238E27FC236}">
                <a16:creationId xmlns:a16="http://schemas.microsoft.com/office/drawing/2014/main" id="{AC18493A-1FC9-483C-BC41-405831F9D965}"/>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Tree>
    <p:extLst>
      <p:ext uri="{BB962C8B-B14F-4D97-AF65-F5344CB8AC3E}">
        <p14:creationId xmlns:p14="http://schemas.microsoft.com/office/powerpoint/2010/main" val="1107456480"/>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50" r:id="rId4"/>
    <p:sldLayoutId id="2147483662" r:id="rId5"/>
    <p:sldLayoutId id="2147483652" r:id="rId6"/>
    <p:sldLayoutId id="2147483661" r:id="rId7"/>
    <p:sldLayoutId id="2147483663" r:id="rId8"/>
    <p:sldLayoutId id="2147483660" r:id="rId9"/>
    <p:sldLayoutId id="2147483664" r:id="rId10"/>
    <p:sldLayoutId id="2147483665" r:id="rId11"/>
    <p:sldLayoutId id="2147483654" r:id="rId12"/>
    <p:sldLayoutId id="2147483671" r:id="rId13"/>
    <p:sldLayoutId id="2147483655" r:id="rId14"/>
    <p:sldLayoutId id="2147483651" r:id="rId15"/>
    <p:sldLayoutId id="2147483666" r:id="rId16"/>
    <p:sldLayoutId id="2147483667" r:id="rId17"/>
  </p:sldLayoutIdLst>
  <p:hf hdr="0"/>
  <p:txStyles>
    <p:titleStyle>
      <a:lvl1pPr algn="l" defTabSz="914400" rtl="0" eaLnBrk="1" latinLnBrk="0" hangingPunct="1">
        <a:lnSpc>
          <a:spcPct val="100000"/>
        </a:lnSpc>
        <a:spcBef>
          <a:spcPct val="0"/>
        </a:spcBef>
        <a:buNone/>
        <a:defRPr sz="3600" b="1" kern="1200" spc="50" baseline="0">
          <a:solidFill>
            <a:schemeClr val="tx2"/>
          </a:solidFill>
          <a:latin typeface="+mj-lt"/>
          <a:ea typeface="+mj-ea"/>
          <a:cs typeface="+mj-cs"/>
        </a:defRPr>
      </a:lvl1pPr>
    </p:titleStyle>
    <p:bodyStyle>
      <a:lvl1pPr marL="180975" indent="-180975" algn="l" defTabSz="914400" rtl="0" eaLnBrk="1" latinLnBrk="0" hangingPunct="1">
        <a:lnSpc>
          <a:spcPct val="100000"/>
        </a:lnSpc>
        <a:spcBef>
          <a:spcPts val="400"/>
        </a:spcBef>
        <a:buFont typeface="Arial" panose="020B0604020202020204" pitchFamily="34" charset="0"/>
        <a:buChar char="•"/>
        <a:defRPr sz="1850" b="1" kern="1200">
          <a:solidFill>
            <a:schemeClr val="tx1"/>
          </a:solidFill>
          <a:latin typeface="+mn-lt"/>
          <a:ea typeface="+mn-ea"/>
          <a:cs typeface="+mn-cs"/>
        </a:defRPr>
      </a:lvl1pPr>
      <a:lvl2pPr marL="542925" indent="-180975" algn="l" defTabSz="914400" rtl="0" eaLnBrk="1" latinLnBrk="0" hangingPunct="1">
        <a:lnSpc>
          <a:spcPct val="100000"/>
        </a:lnSpc>
        <a:spcBef>
          <a:spcPts val="400"/>
        </a:spcBef>
        <a:buFont typeface="Arial" panose="020B0604020202020204" pitchFamily="34" charset="0"/>
        <a:buChar char="•"/>
        <a:defRPr sz="1850" kern="1200">
          <a:solidFill>
            <a:schemeClr val="tx1"/>
          </a:solidFill>
          <a:latin typeface="+mn-lt"/>
          <a:ea typeface="+mn-ea"/>
          <a:cs typeface="+mn-cs"/>
        </a:defRPr>
      </a:lvl2pPr>
      <a:lvl3pPr marL="714375" indent="-171450"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895350" indent="-180975"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4pPr>
      <a:lvl5pPr marL="1076325" indent="-180975"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a:spLocks noGrp="1"/>
          </p:cNvSpPr>
          <p:nvPr>
            <p:ph type="ctrTitle"/>
          </p:nvPr>
        </p:nvSpPr>
        <p:spPr>
          <a:xfrm>
            <a:off x="824043" y="2004350"/>
            <a:ext cx="8911389" cy="1714500"/>
          </a:xfrm>
        </p:spPr>
        <p:txBody>
          <a:bodyPr>
            <a:normAutofit fontScale="90000"/>
          </a:bodyPr>
          <a:lstStyle/>
          <a:p>
            <a:pPr algn="l"/>
            <a:r>
              <a:rPr lang="fi-FI" dirty="0" smtClean="0"/>
              <a:t>Strategic Retreat</a:t>
            </a:r>
            <a:br>
              <a:rPr lang="fi-FI" dirty="0" smtClean="0"/>
            </a:br>
            <a:endParaRPr lang="en-US" dirty="0"/>
          </a:p>
        </p:txBody>
      </p:sp>
      <p:sp>
        <p:nvSpPr>
          <p:cNvPr id="3" name="Subtitle 2">
            <a:extLst>
              <a:ext uri="{FF2B5EF4-FFF2-40B4-BE49-F238E27FC236}">
                <a16:creationId xmlns:a16="http://schemas.microsoft.com/office/drawing/2014/main" id="{C0FC7021-FB77-4D35-AE1D-A857D1A422CD}"/>
              </a:ext>
            </a:extLst>
          </p:cNvPr>
          <p:cNvSpPr>
            <a:spLocks noGrp="1"/>
          </p:cNvSpPr>
          <p:nvPr>
            <p:ph type="subTitle" idx="1"/>
          </p:nvPr>
        </p:nvSpPr>
        <p:spPr>
          <a:xfrm>
            <a:off x="824043" y="3756950"/>
            <a:ext cx="8911390" cy="1247775"/>
          </a:xfrm>
        </p:spPr>
        <p:txBody>
          <a:bodyPr>
            <a:normAutofit/>
          </a:bodyPr>
          <a:lstStyle/>
          <a:p>
            <a:pPr algn="l"/>
            <a:r>
              <a:rPr lang="fi-FI" sz="6000" dirty="0">
                <a:solidFill>
                  <a:schemeClr val="tx2"/>
                </a:solidFill>
                <a:latin typeface="+mj-lt"/>
                <a:ea typeface="+mj-ea"/>
                <a:cs typeface="+mj-cs"/>
              </a:rPr>
              <a:t>Library </a:t>
            </a:r>
            <a:endParaRPr lang="en-US" sz="6000" dirty="0">
              <a:solidFill>
                <a:schemeClr val="tx2"/>
              </a:solidFill>
              <a:latin typeface="+mj-lt"/>
              <a:ea typeface="+mj-ea"/>
              <a:cs typeface="+mj-cs"/>
            </a:endParaRPr>
          </a:p>
        </p:txBody>
      </p:sp>
      <p:sp>
        <p:nvSpPr>
          <p:cNvPr id="4" name="Text Placeholder 3">
            <a:extLst>
              <a:ext uri="{FF2B5EF4-FFF2-40B4-BE49-F238E27FC236}">
                <a16:creationId xmlns:a16="http://schemas.microsoft.com/office/drawing/2014/main" id="{4D96F05C-E8E5-40A0-96E2-70DA59031E10}"/>
              </a:ext>
            </a:extLst>
          </p:cNvPr>
          <p:cNvSpPr>
            <a:spLocks noGrp="1"/>
          </p:cNvSpPr>
          <p:nvPr>
            <p:ph type="body" sz="quarter" idx="10"/>
          </p:nvPr>
        </p:nvSpPr>
        <p:spPr>
          <a:xfrm>
            <a:off x="649476" y="5548688"/>
            <a:ext cx="6730165" cy="314325"/>
          </a:xfrm>
        </p:spPr>
        <p:txBody>
          <a:bodyPr/>
          <a:lstStyle/>
          <a:p>
            <a:pPr algn="l"/>
            <a:r>
              <a:rPr lang="en-US" dirty="0" smtClean="0">
                <a:solidFill>
                  <a:schemeClr val="tx1"/>
                </a:solidFill>
              </a:rPr>
              <a:t>Dr. Abdulla </a:t>
            </a:r>
            <a:r>
              <a:rPr lang="en-US" dirty="0" smtClean="0">
                <a:solidFill>
                  <a:schemeClr val="tx1"/>
                </a:solidFill>
              </a:rPr>
              <a:t> </a:t>
            </a:r>
            <a:r>
              <a:rPr lang="en-US" dirty="0" err="1" smtClean="0">
                <a:solidFill>
                  <a:schemeClr val="tx1"/>
                </a:solidFill>
              </a:rPr>
              <a:t>Alhefeiti</a:t>
            </a:r>
            <a:r>
              <a:rPr lang="en-US" dirty="0" smtClean="0">
                <a:solidFill>
                  <a:schemeClr val="tx1"/>
                </a:solidFill>
              </a:rPr>
              <a:t>    </a:t>
            </a:r>
            <a:r>
              <a:rPr lang="en-US" dirty="0"/>
              <a:t>March </a:t>
            </a:r>
            <a:r>
              <a:rPr lang="en-US" dirty="0" smtClean="0"/>
              <a:t>21, </a:t>
            </a:r>
            <a:r>
              <a:rPr lang="en-US" dirty="0"/>
              <a:t>2022 </a:t>
            </a:r>
            <a:r>
              <a:rPr lang="en-US" dirty="0" smtClean="0">
                <a:solidFill>
                  <a:schemeClr val="tx1"/>
                </a:solidFill>
              </a:rPr>
              <a:t> </a:t>
            </a:r>
            <a:endParaRPr lang="en-US" dirty="0">
              <a:solidFill>
                <a:schemeClr val="tx1"/>
              </a:solidFill>
            </a:endParaRPr>
          </a:p>
          <a:p>
            <a:pPr algn="l"/>
            <a:endParaRPr lang="en-US" dirty="0"/>
          </a:p>
        </p:txBody>
      </p:sp>
    </p:spTree>
    <p:extLst>
      <p:ext uri="{BB962C8B-B14F-4D97-AF65-F5344CB8AC3E}">
        <p14:creationId xmlns:p14="http://schemas.microsoft.com/office/powerpoint/2010/main" val="31986395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2074" y="0"/>
            <a:ext cx="8973417" cy="1114425"/>
          </a:xfrm>
        </p:spPr>
        <p:txBody>
          <a:bodyPr/>
          <a:lstStyle/>
          <a:p>
            <a:r>
              <a:rPr lang="en-US" i="1" dirty="0"/>
              <a:t>Reflections of 2021</a:t>
            </a:r>
            <a:endParaRPr lang="en-US" dirty="0"/>
          </a:p>
        </p:txBody>
      </p:sp>
      <p:sp>
        <p:nvSpPr>
          <p:cNvPr id="3" name="Content Placeholder 2"/>
          <p:cNvSpPr>
            <a:spLocks noGrp="1"/>
          </p:cNvSpPr>
          <p:nvPr>
            <p:ph idx="1"/>
          </p:nvPr>
        </p:nvSpPr>
        <p:spPr>
          <a:xfrm>
            <a:off x="955674" y="1114425"/>
            <a:ext cx="10525125" cy="857827"/>
          </a:xfrm>
        </p:spPr>
        <p:txBody>
          <a:bodyPr>
            <a:normAutofit/>
          </a:bodyPr>
          <a:lstStyle/>
          <a:p>
            <a:endParaRPr lang="en-US" dirty="0" smtClean="0"/>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1E68DD1B-5CD8-424B-8173-19E182143E0A}" type="slidenum">
              <a:rPr lang="en-US" smtClean="0"/>
              <a:t>2</a:t>
            </a:fld>
            <a:endParaRPr lang="en-US"/>
          </a:p>
        </p:txBody>
      </p:sp>
      <p:sp>
        <p:nvSpPr>
          <p:cNvPr id="8" name="Footer Placeholder 4">
            <a:extLst>
              <a:ext uri="{FF2B5EF4-FFF2-40B4-BE49-F238E27FC236}">
                <a16:creationId xmlns:a16="http://schemas.microsoft.com/office/drawing/2014/main" id="{71E16BAB-CF56-4E8D-A7D9-2B8F029E64B6}"/>
              </a:ext>
            </a:extLst>
          </p:cNvPr>
          <p:cNvSpPr>
            <a:spLocks noGrp="1"/>
          </p:cNvSpPr>
          <p:nvPr>
            <p:ph type="ftr" sz="quarter" idx="11"/>
          </p:nvPr>
        </p:nvSpPr>
        <p:spPr>
          <a:xfrm>
            <a:off x="2867025" y="203200"/>
            <a:ext cx="4114800" cy="244475"/>
          </a:xfrm>
        </p:spPr>
        <p:txBody>
          <a:bodyPr/>
          <a:lstStyle/>
          <a:p>
            <a:r>
              <a:rPr lang="en-US" dirty="0" smtClean="0"/>
              <a:t>Retreat – Academic and Student Services</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153270324"/>
              </p:ext>
            </p:extLst>
          </p:nvPr>
        </p:nvGraphicFramePr>
        <p:xfrm>
          <a:off x="955674" y="1114424"/>
          <a:ext cx="10105950" cy="5559146"/>
        </p:xfrm>
        <a:graphic>
          <a:graphicData uri="http://schemas.openxmlformats.org/drawingml/2006/table">
            <a:tbl>
              <a:tblPr firstRow="1" bandRow="1">
                <a:tableStyleId>{00A15C55-8517-42AA-B614-E9B94910E393}</a:tableStyleId>
              </a:tblPr>
              <a:tblGrid>
                <a:gridCol w="2310040">
                  <a:extLst>
                    <a:ext uri="{9D8B030D-6E8A-4147-A177-3AD203B41FA5}">
                      <a16:colId xmlns:a16="http://schemas.microsoft.com/office/drawing/2014/main" val="490435117"/>
                    </a:ext>
                  </a:extLst>
                </a:gridCol>
                <a:gridCol w="7795910">
                  <a:extLst>
                    <a:ext uri="{9D8B030D-6E8A-4147-A177-3AD203B41FA5}">
                      <a16:colId xmlns:a16="http://schemas.microsoft.com/office/drawing/2014/main" val="3394403448"/>
                    </a:ext>
                  </a:extLst>
                </a:gridCol>
              </a:tblGrid>
              <a:tr h="494098">
                <a:tc>
                  <a:txBody>
                    <a:bodyPr/>
                    <a:lstStyle/>
                    <a:p>
                      <a:pPr algn="ctr"/>
                      <a:r>
                        <a:rPr lang="en-US" sz="1300" dirty="0" smtClean="0"/>
                        <a:t>Areas</a:t>
                      </a:r>
                      <a:endParaRPr lang="en-US" sz="1300" dirty="0">
                        <a:solidFill>
                          <a:srgbClr val="0047BA"/>
                        </a:solidFill>
                        <a:latin typeface="+mn-lt"/>
                      </a:endParaRPr>
                    </a:p>
                  </a:txBody>
                  <a:tcPr anchor="ctr">
                    <a:solidFill>
                      <a:schemeClr val="tx2">
                        <a:lumMod val="40000"/>
                        <a:lumOff val="60000"/>
                      </a:schemeClr>
                    </a:solidFill>
                  </a:tcPr>
                </a:tc>
                <a:tc>
                  <a:txBody>
                    <a:bodyPr/>
                    <a:lstStyle/>
                    <a:p>
                      <a:pPr algn="ctr"/>
                      <a:r>
                        <a:rPr lang="en-US" sz="1300" dirty="0" smtClean="0"/>
                        <a:t>Achievements </a:t>
                      </a:r>
                      <a:endParaRPr lang="en-US" sz="1300" dirty="0">
                        <a:solidFill>
                          <a:srgbClr val="0047BA"/>
                        </a:solidFill>
                        <a:latin typeface="+mn-lt"/>
                      </a:endParaRPr>
                    </a:p>
                  </a:txBody>
                  <a:tcPr anchor="ctr"/>
                </a:tc>
                <a:extLst>
                  <a:ext uri="{0D108BD9-81ED-4DB2-BD59-A6C34878D82A}">
                    <a16:rowId xmlns:a16="http://schemas.microsoft.com/office/drawing/2014/main" val="288316968"/>
                  </a:ext>
                </a:extLst>
              </a:tr>
              <a:tr h="9853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effectLst/>
                        </a:rPr>
                        <a:t>Collection </a:t>
                      </a:r>
                      <a:endParaRPr lang="en-US" sz="1200" b="1" kern="1200" dirty="0" smtClean="0">
                        <a:solidFill>
                          <a:srgbClr val="0047BA"/>
                        </a:solidFill>
                        <a:effectLst/>
                        <a:latin typeface="+mn-lt"/>
                        <a:ea typeface="+mn-ea"/>
                        <a:cs typeface="+mn-cs"/>
                      </a:endParaRPr>
                    </a:p>
                  </a:txBody>
                  <a:tcPr anchor="ctr">
                    <a:solidFill>
                      <a:schemeClr val="tx2">
                        <a:lumMod val="40000"/>
                        <a:lumOff val="6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smtClean="0"/>
                        <a:t>over 650,000 eBooks, 23,000 e-journals, 122,456,243 abstracts and over</a:t>
                      </a:r>
                      <a:r>
                        <a:rPr lang="en-US" sz="1200" baseline="0" dirty="0" smtClean="0"/>
                        <a:t> 100,000 print books, and</a:t>
                      </a:r>
                      <a:r>
                        <a:rPr lang="en-US" sz="1200" dirty="0" smtClean="0"/>
                        <a:t> other online resource are available to fulfill the academic department’s needs.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smtClean="0"/>
                        <a:t>Successfully handed over ARZ library and relocating the collections as per the academic programs across two campuses. </a:t>
                      </a:r>
                    </a:p>
                  </a:txBody>
                  <a:tcPr/>
                </a:tc>
                <a:extLst>
                  <a:ext uri="{0D108BD9-81ED-4DB2-BD59-A6C34878D82A}">
                    <a16:rowId xmlns:a16="http://schemas.microsoft.com/office/drawing/2014/main" val="1454595891"/>
                  </a:ext>
                </a:extLst>
              </a:tr>
              <a:tr h="9723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Open access Publications </a:t>
                      </a:r>
                      <a:endParaRPr lang="en-US" sz="1200" b="1" kern="1200" dirty="0" smtClean="0">
                        <a:solidFill>
                          <a:srgbClr val="0047BA"/>
                        </a:solidFill>
                        <a:effectLst/>
                        <a:latin typeface="+mn-lt"/>
                        <a:ea typeface="+mn-ea"/>
                        <a:cs typeface="+mn-cs"/>
                      </a:endParaRPr>
                    </a:p>
                  </a:txBody>
                  <a:tcPr anchor="ctr">
                    <a:solidFill>
                      <a:schemeClr val="tx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Achieved the target by including more databases in the open-access platform and providing the KU authors with the needed training. There was an increase of 87.5% in published OA articles in publishers that are included in the project that the library oversees. Overall published 104 papers on the top Journals</a:t>
                      </a:r>
                    </a:p>
                    <a:p>
                      <a:pPr marL="0" marR="0">
                        <a:spcBef>
                          <a:spcPts val="0"/>
                        </a:spcBef>
                        <a:spcAft>
                          <a:spcPts val="0"/>
                        </a:spcAft>
                      </a:pPr>
                      <a:endParaRPr lang="en-US" sz="1200" dirty="0">
                        <a:solidFill>
                          <a:srgbClr val="0047BA"/>
                        </a:solidFill>
                        <a:latin typeface="+mn-lt"/>
                      </a:endParaRPr>
                    </a:p>
                  </a:txBody>
                  <a:tcPr anchor="ctr"/>
                </a:tc>
                <a:extLst>
                  <a:ext uri="{0D108BD9-81ED-4DB2-BD59-A6C34878D82A}">
                    <a16:rowId xmlns:a16="http://schemas.microsoft.com/office/drawing/2014/main" val="597227484"/>
                  </a:ext>
                </a:extLst>
              </a:tr>
              <a:tr h="9890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Library</a:t>
                      </a:r>
                      <a:r>
                        <a:rPr lang="en-US" sz="1200" baseline="0" dirty="0" smtClean="0"/>
                        <a:t> System </a:t>
                      </a:r>
                      <a:r>
                        <a:rPr lang="en-US" sz="1200" baseline="0" dirty="0" smtClean="0"/>
                        <a:t>- </a:t>
                      </a:r>
                      <a:r>
                        <a:rPr lang="en-US" sz="1200" kern="1200" dirty="0" smtClean="0"/>
                        <a:t>(ILS)</a:t>
                      </a:r>
                      <a:endParaRPr lang="en-US" sz="1200" b="1" kern="1200" dirty="0" smtClean="0">
                        <a:solidFill>
                          <a:schemeClr val="dk1"/>
                        </a:solidFill>
                        <a:latin typeface="Times New Roman" panose="02020603050405020304" pitchFamily="18" charset="0"/>
                        <a:ea typeface="+mn-ea"/>
                        <a:cs typeface="Times New Roman" panose="02020603050405020304" pitchFamily="18" charset="0"/>
                      </a:endParaRPr>
                    </a:p>
                    <a:p>
                      <a:endParaRPr lang="en-US" sz="1200" b="1" dirty="0">
                        <a:solidFill>
                          <a:srgbClr val="0047BA"/>
                        </a:solidFill>
                        <a:latin typeface="+mn-lt"/>
                      </a:endParaRPr>
                    </a:p>
                  </a:txBody>
                  <a:tcPr anchor="ctr">
                    <a:solidFill>
                      <a:schemeClr val="tx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finalized phase one of the library system project, selected Alma system, and signed the supplier's agreement. Currently in the implementation process. The project is due to be completed in June 2022, as planned.</a:t>
                      </a:r>
                    </a:p>
                    <a:p>
                      <a:endParaRPr lang="en-US" sz="1200" dirty="0">
                        <a:solidFill>
                          <a:srgbClr val="0047BA"/>
                        </a:solidFill>
                      </a:endParaRPr>
                    </a:p>
                  </a:txBody>
                  <a:tcPr/>
                </a:tc>
                <a:extLst>
                  <a:ext uri="{0D108BD9-81ED-4DB2-BD59-A6C34878D82A}">
                    <a16:rowId xmlns:a16="http://schemas.microsoft.com/office/drawing/2014/main" val="4050660488"/>
                  </a:ext>
                </a:extLst>
              </a:tr>
              <a:tr h="1059145">
                <a:tc>
                  <a:txBody>
                    <a:bodyPr/>
                    <a:lstStyle/>
                    <a:p>
                      <a:pPr marL="0" algn="l" defTabSz="914400" rtl="0" eaLnBrk="1" latinLnBrk="0" hangingPunct="1"/>
                      <a:r>
                        <a:rPr lang="en-US" sz="1200" kern="1200" dirty="0" smtClean="0"/>
                        <a:t>information &amp; data literacy </a:t>
                      </a:r>
                      <a:endParaRPr lang="en-US" sz="1200" b="1" kern="1200" dirty="0">
                        <a:solidFill>
                          <a:srgbClr val="0047BA"/>
                        </a:solidFill>
                        <a:latin typeface="+mn-lt"/>
                        <a:ea typeface="+mn-ea"/>
                        <a:cs typeface="+mn-cs"/>
                      </a:endParaRPr>
                    </a:p>
                  </a:txBody>
                  <a:tcPr anchor="ctr">
                    <a:solidFill>
                      <a:schemeClr val="tx2">
                        <a:lumMod val="40000"/>
                        <a:lumOff val="60000"/>
                      </a:schemeClr>
                    </a:solidFill>
                  </a:tcPr>
                </a:tc>
                <a:tc>
                  <a:txBody>
                    <a:bodyPr/>
                    <a:lstStyle/>
                    <a:p>
                      <a:r>
                        <a:rPr lang="en-US" sz="1200" dirty="0" smtClean="0"/>
                        <a:t>Able to conduct 127 Virtual training and seminars to support distance learning during the pandemic. Including information literacy classes, workshops, one-to-one group sessions.</a:t>
                      </a:r>
                      <a:r>
                        <a:rPr lang="en-US" sz="1200" baseline="0" dirty="0" smtClean="0"/>
                        <a:t> </a:t>
                      </a:r>
                      <a:endParaRPr lang="en-US" sz="1200" dirty="0">
                        <a:solidFill>
                          <a:srgbClr val="0047BA"/>
                        </a:solidFill>
                      </a:endParaRPr>
                    </a:p>
                  </a:txBody>
                  <a:tcPr/>
                </a:tc>
                <a:extLst>
                  <a:ext uri="{0D108BD9-81ED-4DB2-BD59-A6C34878D82A}">
                    <a16:rowId xmlns:a16="http://schemas.microsoft.com/office/drawing/2014/main" val="4186787048"/>
                  </a:ext>
                </a:extLst>
              </a:tr>
              <a:tr h="1059145">
                <a:tc>
                  <a:txBody>
                    <a:bodyPr/>
                    <a:lstStyle/>
                    <a:p>
                      <a:pPr marL="0" algn="l" defTabSz="914400" rtl="0" eaLnBrk="1" latinLnBrk="0" hangingPunct="1"/>
                      <a:r>
                        <a:rPr lang="en-US" sz="1200" kern="1200" dirty="0" smtClean="0"/>
                        <a:t>Effective communication and partnership with faculty, students and researches </a:t>
                      </a:r>
                      <a:endParaRPr lang="en-US" sz="1200" b="1" kern="1200" dirty="0">
                        <a:solidFill>
                          <a:srgbClr val="0047BA"/>
                        </a:solidFill>
                        <a:latin typeface="+mn-lt"/>
                        <a:ea typeface="+mn-ea"/>
                        <a:cs typeface="+mn-cs"/>
                      </a:endParaRPr>
                    </a:p>
                  </a:txBody>
                  <a:tcPr anchor="ctr">
                    <a:solidFill>
                      <a:schemeClr val="tx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more than 1500 requests through the interlibrary loan- documents delivery services. </a:t>
                      </a:r>
                    </a:p>
                    <a:p>
                      <a:endParaRPr lang="en-US" sz="1200" dirty="0">
                        <a:solidFill>
                          <a:srgbClr val="0047BA"/>
                        </a:solidFill>
                      </a:endParaRPr>
                    </a:p>
                  </a:txBody>
                  <a:tcPr/>
                </a:tc>
                <a:extLst>
                  <a:ext uri="{0D108BD9-81ED-4DB2-BD59-A6C34878D82A}">
                    <a16:rowId xmlns:a16="http://schemas.microsoft.com/office/drawing/2014/main" val="2983681683"/>
                  </a:ext>
                </a:extLst>
              </a:tr>
            </a:tbl>
          </a:graphicData>
        </a:graphic>
      </p:graphicFrame>
    </p:spTree>
    <p:extLst>
      <p:ext uri="{BB962C8B-B14F-4D97-AF65-F5344CB8AC3E}">
        <p14:creationId xmlns:p14="http://schemas.microsoft.com/office/powerpoint/2010/main" val="37556392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2074" y="542926"/>
            <a:ext cx="7370034" cy="626572"/>
          </a:xfrm>
        </p:spPr>
        <p:txBody>
          <a:bodyPr>
            <a:normAutofit/>
          </a:bodyPr>
          <a:lstStyle/>
          <a:p>
            <a:r>
              <a:rPr lang="en-US" i="1" dirty="0"/>
              <a:t>Breaking Departmental Silos </a:t>
            </a:r>
            <a:endParaRPr lang="en-US" dirty="0"/>
          </a:p>
        </p:txBody>
      </p:sp>
      <p:sp>
        <p:nvSpPr>
          <p:cNvPr id="3" name="Content Placeholder 2"/>
          <p:cNvSpPr>
            <a:spLocks noGrp="1"/>
          </p:cNvSpPr>
          <p:nvPr>
            <p:ph idx="1"/>
          </p:nvPr>
        </p:nvSpPr>
        <p:spPr>
          <a:xfrm>
            <a:off x="1362074" y="1866900"/>
            <a:ext cx="9311467" cy="4448175"/>
          </a:xfrm>
        </p:spPr>
        <p:txBody>
          <a:bodyPr>
            <a:normAutofit/>
          </a:bodyPr>
          <a:lstStyle/>
          <a:p>
            <a:pPr marL="0" indent="0">
              <a:buNone/>
            </a:pPr>
            <a:endParaRPr lang="en-US" b="0" dirty="0" smtClean="0"/>
          </a:p>
          <a:p>
            <a:pPr>
              <a:buFont typeface="Wingdings" panose="05000000000000000000" pitchFamily="2" charset="2"/>
              <a:buChar char="ü"/>
            </a:pPr>
            <a:endParaRPr lang="en-US" b="0" dirty="0"/>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1E68DD1B-5CD8-424B-8173-19E182143E0A}" type="slidenum">
              <a:rPr lang="en-US" smtClean="0"/>
              <a:t>3</a:t>
            </a:fld>
            <a:endParaRPr lang="en-US"/>
          </a:p>
        </p:txBody>
      </p:sp>
      <p:sp>
        <p:nvSpPr>
          <p:cNvPr id="8" name="Footer Placeholder 4">
            <a:extLst>
              <a:ext uri="{FF2B5EF4-FFF2-40B4-BE49-F238E27FC236}">
                <a16:creationId xmlns:a16="http://schemas.microsoft.com/office/drawing/2014/main" id="{71E16BAB-CF56-4E8D-A7D9-2B8F029E64B6}"/>
              </a:ext>
            </a:extLst>
          </p:cNvPr>
          <p:cNvSpPr>
            <a:spLocks noGrp="1"/>
          </p:cNvSpPr>
          <p:nvPr>
            <p:ph type="ftr" sz="quarter" idx="11"/>
          </p:nvPr>
        </p:nvSpPr>
        <p:spPr>
          <a:xfrm>
            <a:off x="2867025" y="203200"/>
            <a:ext cx="4114800" cy="244475"/>
          </a:xfrm>
        </p:spPr>
        <p:txBody>
          <a:bodyPr/>
          <a:lstStyle/>
          <a:p>
            <a:r>
              <a:rPr lang="en-US" dirty="0" smtClean="0"/>
              <a:t>Retreat – Academic and Student Services</a:t>
            </a:r>
            <a:endParaRPr lang="en-US" dirty="0"/>
          </a:p>
        </p:txBody>
      </p:sp>
      <p:graphicFrame>
        <p:nvGraphicFramePr>
          <p:cNvPr id="7" name="Content Placeholder 9"/>
          <p:cNvGraphicFramePr>
            <a:graphicFrameLocks/>
          </p:cNvGraphicFramePr>
          <p:nvPr>
            <p:extLst>
              <p:ext uri="{D42A27DB-BD31-4B8C-83A1-F6EECF244321}">
                <p14:modId xmlns:p14="http://schemas.microsoft.com/office/powerpoint/2010/main" val="191595843"/>
              </p:ext>
            </p:extLst>
          </p:nvPr>
        </p:nvGraphicFramePr>
        <p:xfrm>
          <a:off x="1795549" y="1321723"/>
          <a:ext cx="7705898" cy="53617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09676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2074" y="0"/>
            <a:ext cx="8973417" cy="1114425"/>
          </a:xfrm>
        </p:spPr>
        <p:txBody>
          <a:bodyPr/>
          <a:lstStyle/>
          <a:p>
            <a:r>
              <a:rPr lang="en-US" i="1" dirty="0"/>
              <a:t>Commitments of 2022</a:t>
            </a:r>
            <a:endParaRPr lang="en-US" dirty="0"/>
          </a:p>
        </p:txBody>
      </p:sp>
      <p:sp>
        <p:nvSpPr>
          <p:cNvPr id="3" name="Content Placeholder 2"/>
          <p:cNvSpPr>
            <a:spLocks noGrp="1"/>
          </p:cNvSpPr>
          <p:nvPr>
            <p:ph idx="1"/>
          </p:nvPr>
        </p:nvSpPr>
        <p:spPr>
          <a:xfrm>
            <a:off x="955674" y="1114425"/>
            <a:ext cx="10525125" cy="857827"/>
          </a:xfrm>
        </p:spPr>
        <p:txBody>
          <a:bodyPr>
            <a:normAutofit/>
          </a:bodyPr>
          <a:lstStyle/>
          <a:p>
            <a:endParaRPr lang="en-US" dirty="0" smtClean="0"/>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1E68DD1B-5CD8-424B-8173-19E182143E0A}" type="slidenum">
              <a:rPr lang="en-US" smtClean="0"/>
              <a:t>4</a:t>
            </a:fld>
            <a:endParaRPr lang="en-US"/>
          </a:p>
        </p:txBody>
      </p:sp>
      <p:sp>
        <p:nvSpPr>
          <p:cNvPr id="8" name="Footer Placeholder 4">
            <a:extLst>
              <a:ext uri="{FF2B5EF4-FFF2-40B4-BE49-F238E27FC236}">
                <a16:creationId xmlns:a16="http://schemas.microsoft.com/office/drawing/2014/main" id="{71E16BAB-CF56-4E8D-A7D9-2B8F029E64B6}"/>
              </a:ext>
            </a:extLst>
          </p:cNvPr>
          <p:cNvSpPr>
            <a:spLocks noGrp="1"/>
          </p:cNvSpPr>
          <p:nvPr>
            <p:ph type="ftr" sz="quarter" idx="11"/>
          </p:nvPr>
        </p:nvSpPr>
        <p:spPr>
          <a:xfrm>
            <a:off x="2867025" y="203200"/>
            <a:ext cx="4114800" cy="244475"/>
          </a:xfrm>
        </p:spPr>
        <p:txBody>
          <a:bodyPr/>
          <a:lstStyle/>
          <a:p>
            <a:r>
              <a:rPr lang="en-US" dirty="0" smtClean="0"/>
              <a:t>Retreat – Academic and Student Services</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52785198"/>
              </p:ext>
            </p:extLst>
          </p:nvPr>
        </p:nvGraphicFramePr>
        <p:xfrm>
          <a:off x="643811" y="1062329"/>
          <a:ext cx="9759821" cy="5400111"/>
        </p:xfrm>
        <a:graphic>
          <a:graphicData uri="http://schemas.openxmlformats.org/drawingml/2006/table">
            <a:tbl>
              <a:tblPr firstRow="1" bandRow="1">
                <a:tableStyleId>{00A15C55-8517-42AA-B614-E9B94910E393}</a:tableStyleId>
              </a:tblPr>
              <a:tblGrid>
                <a:gridCol w="2230921">
                  <a:extLst>
                    <a:ext uri="{9D8B030D-6E8A-4147-A177-3AD203B41FA5}">
                      <a16:colId xmlns:a16="http://schemas.microsoft.com/office/drawing/2014/main" val="490435117"/>
                    </a:ext>
                  </a:extLst>
                </a:gridCol>
                <a:gridCol w="7528900">
                  <a:extLst>
                    <a:ext uri="{9D8B030D-6E8A-4147-A177-3AD203B41FA5}">
                      <a16:colId xmlns:a16="http://schemas.microsoft.com/office/drawing/2014/main" val="3394403448"/>
                    </a:ext>
                  </a:extLst>
                </a:gridCol>
              </a:tblGrid>
              <a:tr h="402442">
                <a:tc>
                  <a:txBody>
                    <a:bodyPr/>
                    <a:lstStyle/>
                    <a:p>
                      <a:pPr algn="ctr"/>
                      <a:r>
                        <a:rPr lang="en-US" sz="1300" dirty="0" smtClean="0"/>
                        <a:t>Objectives </a:t>
                      </a:r>
                      <a:endParaRPr lang="en-US" sz="1300" dirty="0">
                        <a:solidFill>
                          <a:srgbClr val="0047BA"/>
                        </a:solidFill>
                        <a:latin typeface="+mn-lt"/>
                      </a:endParaRPr>
                    </a:p>
                  </a:txBody>
                  <a:tcPr anchor="ctr">
                    <a:solidFill>
                      <a:schemeClr val="tx2">
                        <a:lumMod val="40000"/>
                        <a:lumOff val="60000"/>
                      </a:schemeClr>
                    </a:solidFill>
                  </a:tcPr>
                </a:tc>
                <a:tc>
                  <a:txBody>
                    <a:bodyPr/>
                    <a:lstStyle/>
                    <a:p>
                      <a:pPr algn="ctr"/>
                      <a:r>
                        <a:rPr lang="en-US" sz="1300" dirty="0" smtClean="0"/>
                        <a:t>KPIs</a:t>
                      </a:r>
                      <a:endParaRPr lang="en-US" sz="1300" dirty="0">
                        <a:solidFill>
                          <a:srgbClr val="0047BA"/>
                        </a:solidFill>
                        <a:latin typeface="+mn-lt"/>
                      </a:endParaRPr>
                    </a:p>
                  </a:txBody>
                  <a:tcPr anchor="ctr"/>
                </a:tc>
                <a:extLst>
                  <a:ext uri="{0D108BD9-81ED-4DB2-BD59-A6C34878D82A}">
                    <a16:rowId xmlns:a16="http://schemas.microsoft.com/office/drawing/2014/main" val="288316968"/>
                  </a:ext>
                </a:extLst>
              </a:tr>
              <a:tr h="812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smtClean="0"/>
                        <a:t>Strengthen the library collection and information resources in various formats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smtClean="0"/>
                        <a:t> </a:t>
                      </a:r>
                      <a:endParaRPr lang="en-US" sz="1000" b="1" kern="1200" dirty="0" smtClean="0">
                        <a:solidFill>
                          <a:schemeClr val="dk1"/>
                        </a:solidFill>
                        <a:latin typeface="Times New Roman" panose="02020603050405020304" pitchFamily="18" charset="0"/>
                        <a:ea typeface="+mn-ea"/>
                        <a:cs typeface="Times New Roman" panose="02020603050405020304" pitchFamily="18" charset="0"/>
                      </a:endParaRPr>
                    </a:p>
                  </a:txBody>
                  <a:tcPr anchor="ctr">
                    <a:solidFill>
                      <a:schemeClr val="tx2">
                        <a:lumMod val="40000"/>
                        <a:lumOff val="60000"/>
                      </a:schemeClr>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kern="1200" dirty="0" smtClean="0"/>
                        <a:t>Increase the number of digital collections of online and print books, reference materials, as well as electronic </a:t>
                      </a:r>
                      <a:r>
                        <a:rPr lang="en-US" sz="1100" kern="1200" dirty="0" smtClean="0"/>
                        <a:t>resources. The </a:t>
                      </a:r>
                      <a:r>
                        <a:rPr lang="en-US" sz="1100" kern="1200" dirty="0" smtClean="0"/>
                        <a:t>new target as follow: E-journal 61,000, EBook 690,000, databases 80. </a:t>
                      </a:r>
                    </a:p>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kern="1200" dirty="0" smtClean="0"/>
                        <a:t>Ensure collections budget is fully utilized at a rate of at least 100% of the budget </a:t>
                      </a:r>
                      <a:r>
                        <a:rPr lang="en-US" sz="1100" kern="1200" dirty="0" smtClean="0"/>
                        <a:t>expenditures. </a:t>
                      </a:r>
                      <a:endParaRPr lang="en-US" sz="1100" kern="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smtClean="0"/>
                    </a:p>
                  </a:txBody>
                  <a:tcPr/>
                </a:tc>
                <a:extLst>
                  <a:ext uri="{0D108BD9-81ED-4DB2-BD59-A6C34878D82A}">
                    <a16:rowId xmlns:a16="http://schemas.microsoft.com/office/drawing/2014/main" val="1454595891"/>
                  </a:ext>
                </a:extLst>
              </a:tr>
              <a:tr h="7919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smtClean="0"/>
                        <a:t>Information &amp; data literacy to support learning and lifelong information skills all students </a:t>
                      </a:r>
                      <a:endParaRPr lang="en-US" sz="1000" b="1" kern="1200" dirty="0" smtClean="0">
                        <a:solidFill>
                          <a:schemeClr val="dk1"/>
                        </a:solidFill>
                        <a:latin typeface="Times New Roman" panose="02020603050405020304" pitchFamily="18" charset="0"/>
                        <a:ea typeface="+mn-ea"/>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smtClean="0"/>
                        <a:t>Continue to support information &amp; data literacy by interacting with program coordinators of Preparatory, Undergraduate, and Graduate programs. The new target is </a:t>
                      </a:r>
                      <a:r>
                        <a:rPr lang="en-US" sz="1100" kern="1200" dirty="0" smtClean="0"/>
                        <a:t>130.</a:t>
                      </a:r>
                      <a:endParaRPr lang="en-US" sz="1100" b="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597227484"/>
                  </a:ext>
                </a:extLst>
              </a:tr>
              <a:tr h="8055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smtClean="0"/>
                        <a:t>Implement an integrated library system (ILS)</a:t>
                      </a:r>
                      <a:endParaRPr lang="en-US" sz="1000" b="1" kern="1200" dirty="0" smtClean="0">
                        <a:solidFill>
                          <a:schemeClr val="dk1"/>
                        </a:solidFill>
                        <a:latin typeface="Times New Roman" panose="02020603050405020304" pitchFamily="18" charset="0"/>
                        <a:ea typeface="+mn-ea"/>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smtClean="0"/>
                        <a:t>finalize the implementation process and deliver the project. 100 %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4050660488"/>
                  </a:ext>
                </a:extLst>
              </a:tr>
              <a:tr h="8626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smtClean="0"/>
                        <a:t>Maintain effective communication and partnership with faculty and students.</a:t>
                      </a:r>
                      <a:r>
                        <a:rPr lang="en-US" sz="1000" kern="1200" baseline="0" dirty="0" smtClean="0"/>
                        <a:t> </a:t>
                      </a:r>
                      <a:endParaRPr lang="en-US" sz="1000" b="1" kern="1200" dirty="0">
                        <a:solidFill>
                          <a:schemeClr val="dk1"/>
                        </a:solidFill>
                        <a:latin typeface="Times New Roman" panose="02020603050405020304" pitchFamily="18" charset="0"/>
                        <a:ea typeface="+mn-ea"/>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smtClean="0"/>
                        <a:t>Continue to support the KU community by fulfilling requests ILL, answering queries, and supporting research‐specific requirements. The new target is 1600. </a:t>
                      </a:r>
                      <a:endParaRPr lang="en-US" sz="1100" b="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4186787048"/>
                  </a:ext>
                </a:extLst>
              </a:tr>
              <a:tr h="8626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smtClean="0"/>
                        <a:t>Provide effective services and resources that foster learning and research in the College of Medicine and Health Sciences</a:t>
                      </a:r>
                      <a:endParaRPr lang="en-US" sz="1000" b="1" kern="1200" dirty="0">
                        <a:solidFill>
                          <a:schemeClr val="dk1"/>
                        </a:solidFill>
                        <a:latin typeface="Times New Roman" panose="02020603050405020304" pitchFamily="18" charset="0"/>
                        <a:ea typeface="+mn-ea"/>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smtClean="0"/>
                        <a:t>continue to expand efforts to connect with medical school and provide more resources and services.  Expand the medical collection by 15 % to support the faculty and student research.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983681683"/>
                  </a:ext>
                </a:extLst>
              </a:tr>
              <a:tr h="8626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smtClean="0"/>
                        <a:t>Extend the gold open access services to promote and support publishing in the Open Access journals</a:t>
                      </a:r>
                      <a:endParaRPr lang="en-US" sz="1000" b="1" kern="1200" dirty="0">
                        <a:solidFill>
                          <a:schemeClr val="dk1"/>
                        </a:solidFill>
                        <a:latin typeface="Times New Roman" panose="02020603050405020304" pitchFamily="18" charset="0"/>
                        <a:ea typeface="+mn-ea"/>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smtClean="0"/>
                        <a:t>Continue to expand the open access services, training, and Open Access publishing for KU researchers. The new target is 130 Publications in Top Journals.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923278741"/>
                  </a:ext>
                </a:extLst>
              </a:tr>
            </a:tbl>
          </a:graphicData>
        </a:graphic>
      </p:graphicFrame>
    </p:spTree>
    <p:extLst>
      <p:ext uri="{BB962C8B-B14F-4D97-AF65-F5344CB8AC3E}">
        <p14:creationId xmlns:p14="http://schemas.microsoft.com/office/powerpoint/2010/main" val="19329196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7695"/>
            <a:ext cx="9875520" cy="1446415"/>
          </a:xfrm>
        </p:spPr>
        <p:txBody>
          <a:bodyPr>
            <a:normAutofit fontScale="90000"/>
          </a:bodyPr>
          <a:lstStyle/>
          <a:p>
            <a:r>
              <a:rPr lang="en-US" dirty="0"/>
              <a:t/>
            </a:r>
            <a:br>
              <a:rPr lang="en-US" dirty="0"/>
            </a:br>
            <a:r>
              <a:rPr lang="en-US" dirty="0" smtClean="0">
                <a:effectLst>
                  <a:outerShdw blurRad="38100" dist="19050" dir="2700000" algn="tl">
                    <a:schemeClr val="dk1">
                      <a:alpha val="40000"/>
                    </a:schemeClr>
                  </a:outerShdw>
                </a:effectLst>
              </a:rPr>
              <a:t> Library KPI’S </a:t>
            </a:r>
            <a:r>
              <a:rPr lang="en-US" dirty="0" smtClean="0">
                <a:effectLst>
                  <a:outerShdw blurRad="38100" dist="19050" dir="2700000" algn="tl">
                    <a:schemeClr val="dk1">
                      <a:alpha val="40000"/>
                    </a:schemeClr>
                  </a:outerShdw>
                </a:effectLst>
              </a:rPr>
              <a:t>figures- </a:t>
            </a:r>
            <a:r>
              <a:rPr lang="en-US" dirty="0" smtClean="0">
                <a:effectLst>
                  <a:outerShdw blurRad="38100" dist="19050" dir="2700000" algn="tl">
                    <a:schemeClr val="dk1">
                      <a:alpha val="40000"/>
                    </a:schemeClr>
                  </a:outerShdw>
                </a:effectLst>
              </a:rPr>
              <a:t>Academic</a:t>
            </a:r>
            <a:r>
              <a:rPr lang="en-US" dirty="0" smtClean="0">
                <a:effectLst>
                  <a:outerShdw blurRad="38100" dist="19050" dir="2700000" algn="tl">
                    <a:schemeClr val="dk1">
                      <a:alpha val="40000"/>
                    </a:schemeClr>
                  </a:outerShdw>
                </a:effectLst>
              </a:rPr>
              <a:t> Year 2021-2022</a:t>
            </a:r>
            <a:endParaRPr lang="en-US" dirty="0"/>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1E68DD1B-5CD8-424B-8173-19E182143E0A}" type="slidenum">
              <a:rPr lang="en-US" smtClean="0"/>
              <a:t>5</a:t>
            </a:fld>
            <a:endParaRPr lang="en-US"/>
          </a:p>
        </p:txBody>
      </p:sp>
      <p:sp>
        <p:nvSpPr>
          <p:cNvPr id="8" name="Footer Placeholder 4">
            <a:extLst>
              <a:ext uri="{FF2B5EF4-FFF2-40B4-BE49-F238E27FC236}">
                <a16:creationId xmlns:a16="http://schemas.microsoft.com/office/drawing/2014/main" id="{71E16BAB-CF56-4E8D-A7D9-2B8F029E64B6}"/>
              </a:ext>
            </a:extLst>
          </p:cNvPr>
          <p:cNvSpPr>
            <a:spLocks noGrp="1"/>
          </p:cNvSpPr>
          <p:nvPr>
            <p:ph type="ftr" sz="quarter" idx="11"/>
          </p:nvPr>
        </p:nvSpPr>
        <p:spPr>
          <a:xfrm>
            <a:off x="2867025" y="203200"/>
            <a:ext cx="4114800" cy="244475"/>
          </a:xfrm>
        </p:spPr>
        <p:txBody>
          <a:bodyPr/>
          <a:lstStyle/>
          <a:p>
            <a:r>
              <a:rPr lang="en-US" dirty="0" smtClean="0"/>
              <a:t>Retreat – Academic and Student Services</a:t>
            </a:r>
            <a:endParaRPr lang="en-US" dirty="0"/>
          </a:p>
        </p:txBody>
      </p:sp>
      <p:pic>
        <p:nvPicPr>
          <p:cNvPr id="9" name="Content Placeholder 8" descr="C:\Users\mabdulla\AppData\Local\Microsoft\Windows\INetCache\Content.MSO\773C31DD.tmp"/>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5345" y="1283970"/>
            <a:ext cx="9933710" cy="5166706"/>
          </a:xfrm>
          <a:prstGeom prst="rect">
            <a:avLst/>
          </a:prstGeom>
          <a:noFill/>
          <a:ln>
            <a:noFill/>
          </a:ln>
        </p:spPr>
      </p:pic>
    </p:spTree>
    <p:extLst>
      <p:ext uri="{BB962C8B-B14F-4D97-AF65-F5344CB8AC3E}">
        <p14:creationId xmlns:p14="http://schemas.microsoft.com/office/powerpoint/2010/main" val="103795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2074" y="0"/>
            <a:ext cx="8973417" cy="1114425"/>
          </a:xfrm>
        </p:spPr>
        <p:txBody>
          <a:bodyPr/>
          <a:lstStyle/>
          <a:p>
            <a:r>
              <a:rPr lang="en-US" i="1" dirty="0" smtClean="0"/>
              <a:t>Strategic Priorities and Initiatives</a:t>
            </a:r>
            <a:endParaRPr lang="en-US" dirty="0"/>
          </a:p>
        </p:txBody>
      </p:sp>
      <p:sp>
        <p:nvSpPr>
          <p:cNvPr id="3" name="Content Placeholder 2"/>
          <p:cNvSpPr>
            <a:spLocks noGrp="1"/>
          </p:cNvSpPr>
          <p:nvPr>
            <p:ph idx="1"/>
          </p:nvPr>
        </p:nvSpPr>
        <p:spPr>
          <a:xfrm>
            <a:off x="955674" y="1114425"/>
            <a:ext cx="10525125" cy="857827"/>
          </a:xfrm>
        </p:spPr>
        <p:txBody>
          <a:bodyPr>
            <a:normAutofit/>
          </a:bodyPr>
          <a:lstStyle/>
          <a:p>
            <a:endParaRPr lang="en-US" dirty="0" smtClean="0"/>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1E68DD1B-5CD8-424B-8173-19E182143E0A}" type="slidenum">
              <a:rPr lang="en-US" smtClean="0"/>
              <a:t>6</a:t>
            </a:fld>
            <a:endParaRPr lang="en-US"/>
          </a:p>
        </p:txBody>
      </p:sp>
      <p:sp>
        <p:nvSpPr>
          <p:cNvPr id="8" name="Footer Placeholder 4">
            <a:extLst>
              <a:ext uri="{FF2B5EF4-FFF2-40B4-BE49-F238E27FC236}">
                <a16:creationId xmlns:a16="http://schemas.microsoft.com/office/drawing/2014/main" id="{71E16BAB-CF56-4E8D-A7D9-2B8F029E64B6}"/>
              </a:ext>
            </a:extLst>
          </p:cNvPr>
          <p:cNvSpPr>
            <a:spLocks noGrp="1"/>
          </p:cNvSpPr>
          <p:nvPr>
            <p:ph type="ftr" sz="quarter" idx="11"/>
          </p:nvPr>
        </p:nvSpPr>
        <p:spPr>
          <a:xfrm>
            <a:off x="2867025" y="203200"/>
            <a:ext cx="4114800" cy="244475"/>
          </a:xfrm>
        </p:spPr>
        <p:txBody>
          <a:bodyPr/>
          <a:lstStyle/>
          <a:p>
            <a:r>
              <a:rPr lang="en-US" dirty="0" smtClean="0"/>
              <a:t>Retreat – Academic and Student Services</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89183889"/>
              </p:ext>
            </p:extLst>
          </p:nvPr>
        </p:nvGraphicFramePr>
        <p:xfrm>
          <a:off x="972992" y="1114425"/>
          <a:ext cx="9894598" cy="5137966"/>
        </p:xfrm>
        <a:graphic>
          <a:graphicData uri="http://schemas.openxmlformats.org/drawingml/2006/table">
            <a:tbl>
              <a:tblPr firstRow="1" bandRow="1">
                <a:tableStyleId>{E8B1032C-EA38-4F05-BA0D-38AFFFC7BED3}</a:tableStyleId>
              </a:tblPr>
              <a:tblGrid>
                <a:gridCol w="2303935">
                  <a:extLst>
                    <a:ext uri="{9D8B030D-6E8A-4147-A177-3AD203B41FA5}">
                      <a16:colId xmlns:a16="http://schemas.microsoft.com/office/drawing/2014/main" val="490435117"/>
                    </a:ext>
                  </a:extLst>
                </a:gridCol>
                <a:gridCol w="7590663">
                  <a:extLst>
                    <a:ext uri="{9D8B030D-6E8A-4147-A177-3AD203B41FA5}">
                      <a16:colId xmlns:a16="http://schemas.microsoft.com/office/drawing/2014/main" val="3394403448"/>
                    </a:ext>
                  </a:extLst>
                </a:gridCol>
              </a:tblGrid>
              <a:tr h="433606">
                <a:tc>
                  <a:txBody>
                    <a:bodyPr/>
                    <a:lstStyle/>
                    <a:p>
                      <a:pPr algn="ctr"/>
                      <a:r>
                        <a:rPr lang="en-US" sz="1300" dirty="0" smtClean="0">
                          <a:latin typeface="+mn-lt"/>
                        </a:rPr>
                        <a:t>Priorities </a:t>
                      </a:r>
                      <a:endParaRPr lang="en-US" sz="13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smtClean="0">
                          <a:latin typeface="+mn-lt"/>
                        </a:rPr>
                        <a:t>Initiatives</a:t>
                      </a:r>
                      <a:endParaRPr lang="en-US" sz="13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316968"/>
                  </a:ext>
                </a:extLst>
              </a:tr>
              <a:tr h="309825">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kern="1200" dirty="0" smtClean="0">
                          <a:solidFill>
                            <a:schemeClr val="tx1"/>
                          </a:solidFill>
                          <a:effectLst/>
                          <a:latin typeface="+mn-lt"/>
                          <a:ea typeface="+mn-ea"/>
                          <a:cs typeface="+mn-cs"/>
                        </a:rPr>
                        <a:t>1. Ranking: Top 100</a:t>
                      </a: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47BA"/>
                      </a:solidFill>
                      <a:prstDash val="solid"/>
                      <a:round/>
                      <a:headEnd type="none" w="med" len="med"/>
                      <a:tailEnd type="none" w="med" len="med"/>
                    </a:lnB>
                    <a:lnTlToBr w="12700" cmpd="sng">
                      <a:noFill/>
                      <a:prstDash val="solid"/>
                    </a:lnTlToBr>
                    <a:lnBlToTr w="12700" cmpd="sng">
                      <a:noFill/>
                      <a:prstDash val="solid"/>
                    </a:lnBlToTr>
                    <a:solidFill>
                      <a:srgbClr val="FDEDEF"/>
                    </a:solidFill>
                  </a:tcPr>
                </a:tc>
                <a:tc>
                  <a:txBody>
                    <a:bodyPr/>
                    <a:lstStyle/>
                    <a:p>
                      <a:pPr marL="0" marR="0">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a) PHD students: increase quality and quality</a:t>
                      </a:r>
                    </a:p>
                  </a:txBody>
                  <a:tcP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solidFill>
                      <a:srgbClr val="FDEDEF"/>
                    </a:solidFill>
                  </a:tcPr>
                </a:tc>
                <a:extLst>
                  <a:ext uri="{0D108BD9-81ED-4DB2-BD59-A6C34878D82A}">
                    <a16:rowId xmlns:a16="http://schemas.microsoft.com/office/drawing/2014/main" val="1454595891"/>
                  </a:ext>
                </a:extLst>
              </a:tr>
              <a:tr h="309825">
                <a:tc vMerge="1">
                  <a:txBody>
                    <a:bodyPr/>
                    <a:lstStyle/>
                    <a:p>
                      <a:endParaRPr lang="en-US"/>
                    </a:p>
                  </a:txBody>
                  <a:tcPr/>
                </a:tc>
                <a:tc>
                  <a:txBody>
                    <a:bodyPr/>
                    <a:lstStyle/>
                    <a:p>
                      <a:pPr marL="0" marR="0">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b) Publications in Top Journals: Gold Open Access </a:t>
                      </a:r>
                      <a:r>
                        <a:rPr lang="en-US" sz="1300" dirty="0" smtClean="0">
                          <a:effectLst/>
                          <a:latin typeface="+mn-lt"/>
                          <a:ea typeface="Calibri" panose="020F0502020204030204" pitchFamily="34" charset="0"/>
                          <a:cs typeface="Arial" panose="020B0604020202020204" pitchFamily="34" charset="0"/>
                        </a:rPr>
                        <a:t>Publishing </a:t>
                      </a:r>
                      <a:r>
                        <a:rPr lang="en-US" sz="1300" baseline="0" dirty="0" smtClean="0">
                          <a:effectLst/>
                          <a:latin typeface="+mn-lt"/>
                          <a:ea typeface="Calibri" panose="020F0502020204030204" pitchFamily="34" charset="0"/>
                          <a:cs typeface="Arial" panose="020B0604020202020204" pitchFamily="34" charset="0"/>
                        </a:rPr>
                        <a:t>          </a:t>
                      </a:r>
                      <a:r>
                        <a:rPr lang="en-US" sz="1600" b="1" baseline="0" dirty="0" smtClean="0">
                          <a:solidFill>
                            <a:schemeClr val="tx2">
                              <a:lumMod val="75000"/>
                            </a:schemeClr>
                          </a:solidFill>
                          <a:effectLst/>
                          <a:latin typeface="+mn-lt"/>
                          <a:ea typeface="Calibri" panose="020F0502020204030204" pitchFamily="34" charset="0"/>
                          <a:cs typeface="Arial" panose="020B0604020202020204" pitchFamily="34" charset="0"/>
                        </a:rPr>
                        <a:t>Library</a:t>
                      </a:r>
                      <a:endParaRPr lang="en-US" sz="1600" b="1" dirty="0" smtClean="0">
                        <a:solidFill>
                          <a:schemeClr val="tx2">
                            <a:lumMod val="75000"/>
                          </a:schemeClr>
                        </a:solidFill>
                        <a:effectLst/>
                        <a:latin typeface="+mn-lt"/>
                        <a:ea typeface="Calibri" panose="020F0502020204030204" pitchFamily="34" charset="0"/>
                        <a:cs typeface="Arial" panose="020B0604020202020204" pitchFamily="34" charset="0"/>
                      </a:endParaRPr>
                    </a:p>
                  </a:txBody>
                  <a:tcP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solidFill>
                      <a:srgbClr val="FDEDEF"/>
                    </a:solidFill>
                  </a:tcPr>
                </a:tc>
                <a:extLst>
                  <a:ext uri="{0D108BD9-81ED-4DB2-BD59-A6C34878D82A}">
                    <a16:rowId xmlns:a16="http://schemas.microsoft.com/office/drawing/2014/main" val="3089921338"/>
                  </a:ext>
                </a:extLst>
              </a:tr>
              <a:tr h="508400">
                <a:tc vMerge="1">
                  <a:txBody>
                    <a:bodyPr/>
                    <a:lstStyle/>
                    <a:p>
                      <a:endParaRPr lang="en-US"/>
                    </a:p>
                  </a:txBody>
                  <a:tcPr/>
                </a:tc>
                <a:tc>
                  <a:txBody>
                    <a:bodyPr/>
                    <a:lstStyle/>
                    <a:p>
                      <a:pPr marL="0" marR="0">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c) Reputation: alumni employers, student exchange, international internships, international competitions and conferences</a:t>
                      </a:r>
                      <a:endParaRPr lang="en-US" sz="1300" dirty="0">
                        <a:effectLst/>
                        <a:latin typeface="+mn-lt"/>
                        <a:ea typeface="Calibri" panose="020F0502020204030204" pitchFamily="34" charset="0"/>
                        <a:cs typeface="Arial" panose="020B0604020202020204" pitchFamily="34" charset="0"/>
                      </a:endParaRPr>
                    </a:p>
                  </a:txBody>
                  <a:tcP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rgbClr val="0047BA"/>
                      </a:solidFill>
                      <a:prstDash val="solid"/>
                      <a:round/>
                      <a:headEnd type="none" w="med" len="med"/>
                      <a:tailEnd type="none" w="med" len="med"/>
                    </a:lnB>
                    <a:lnTlToBr w="12700" cmpd="sng">
                      <a:noFill/>
                      <a:prstDash val="solid"/>
                    </a:lnTlToBr>
                    <a:lnBlToTr w="12700" cmpd="sng">
                      <a:noFill/>
                      <a:prstDash val="solid"/>
                    </a:lnBlToTr>
                    <a:solidFill>
                      <a:srgbClr val="FDEDEF"/>
                    </a:solidFill>
                  </a:tcPr>
                </a:tc>
                <a:extLst>
                  <a:ext uri="{0D108BD9-81ED-4DB2-BD59-A6C34878D82A}">
                    <a16:rowId xmlns:a16="http://schemas.microsoft.com/office/drawing/2014/main" val="1502811736"/>
                  </a:ext>
                </a:extLst>
              </a:tr>
              <a:tr h="309825">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dirty="0" smtClean="0">
                          <a:latin typeface="+mn-lt"/>
                        </a:rPr>
                        <a:t>2.</a:t>
                      </a:r>
                      <a:r>
                        <a:rPr lang="en-US" sz="1300" b="1" kern="1200" dirty="0" smtClean="0">
                          <a:solidFill>
                            <a:schemeClr val="tx1"/>
                          </a:solidFill>
                          <a:effectLst/>
                          <a:latin typeface="+mn-lt"/>
                          <a:ea typeface="+mn-ea"/>
                          <a:cs typeface="+mn-cs"/>
                        </a:rPr>
                        <a:t> Graduate Employment: Target 90%</a:t>
                      </a:r>
                    </a:p>
                  </a:txBody>
                  <a:tcPr anchor="ctr">
                    <a:lnL w="12700" cap="flat" cmpd="sng" algn="ctr">
                      <a:solidFill>
                        <a:srgbClr val="0047BA"/>
                      </a:solidFill>
                      <a:prstDash val="solid"/>
                      <a:round/>
                      <a:headEnd type="none" w="med" len="med"/>
                      <a:tailEnd type="none" w="med" len="med"/>
                    </a:lnL>
                    <a:lnR w="12700" cap="flat" cmpd="sng" algn="ctr">
                      <a:solidFill>
                        <a:srgbClr val="0047BA"/>
                      </a:solidFill>
                      <a:prstDash val="solid"/>
                      <a:round/>
                      <a:headEnd type="none" w="med" len="med"/>
                      <a:tailEnd type="none" w="med" len="med"/>
                    </a:lnR>
                    <a:lnT w="12700" cap="flat" cmpd="sng" algn="ctr">
                      <a:solidFill>
                        <a:srgbClr val="0047BA"/>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E5EEFF"/>
                    </a:solidFill>
                  </a:tcPr>
                </a:tc>
                <a:tc>
                  <a:txBody>
                    <a:bodyPr/>
                    <a:lstStyle/>
                    <a:p>
                      <a:pPr marL="0" marR="0">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a) Holistic Career Guidance</a:t>
                      </a:r>
                    </a:p>
                  </a:txBody>
                  <a:tcPr anchor="ctr">
                    <a:lnL w="12700" cap="flat" cmpd="sng" algn="ctr">
                      <a:solidFill>
                        <a:srgbClr val="0047BA"/>
                      </a:solidFill>
                      <a:prstDash val="solid"/>
                      <a:round/>
                      <a:headEnd type="none" w="med" len="med"/>
                      <a:tailEnd type="none" w="med" len="med"/>
                    </a:lnL>
                    <a:lnR w="12700" cap="flat" cmpd="sng" algn="ctr">
                      <a:solidFill>
                        <a:srgbClr val="0047BA"/>
                      </a:solidFill>
                      <a:prstDash val="solid"/>
                      <a:round/>
                      <a:headEnd type="none" w="med" len="med"/>
                      <a:tailEnd type="none" w="med" len="med"/>
                    </a:lnR>
                    <a:lnT w="12700" cap="flat" cmpd="sng" algn="ctr">
                      <a:solidFill>
                        <a:srgbClr val="0047BA"/>
                      </a:solidFill>
                      <a:prstDash val="solid"/>
                      <a:round/>
                      <a:headEnd type="none" w="med" len="med"/>
                      <a:tailEnd type="none" w="med" len="med"/>
                    </a:lnT>
                    <a:lnB w="12700" cap="flat" cmpd="sng" algn="ctr">
                      <a:solidFill>
                        <a:srgbClr val="0047BA"/>
                      </a:solidFill>
                      <a:prstDash val="solid"/>
                      <a:round/>
                      <a:headEnd type="none" w="med" len="med"/>
                      <a:tailEnd type="none" w="med" len="med"/>
                    </a:lnB>
                    <a:solidFill>
                      <a:srgbClr val="E5EEFF"/>
                    </a:solidFill>
                  </a:tcPr>
                </a:tc>
                <a:extLst>
                  <a:ext uri="{0D108BD9-81ED-4DB2-BD59-A6C34878D82A}">
                    <a16:rowId xmlns:a16="http://schemas.microsoft.com/office/drawing/2014/main" val="597227484"/>
                  </a:ext>
                </a:extLst>
              </a:tr>
              <a:tr h="645406">
                <a:tc vMerge="1">
                  <a:txBody>
                    <a:bodyPr/>
                    <a:lstStyle/>
                    <a:p>
                      <a:endParaRPr lang="en-US"/>
                    </a:p>
                  </a:txBody>
                  <a:tcPr/>
                </a:tc>
                <a:tc>
                  <a:txBody>
                    <a:bodyPr/>
                    <a:lstStyle/>
                    <a:p>
                      <a:pPr marL="0" marR="0" algn="l" defTabSz="914400" rtl="0" eaLnBrk="1" latinLnBrk="0" hangingPunct="1">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b) Experiential Learning: internships, student exchange, undergraduate research experience, field trips, community service, student teaching, part-time jobs, clinical education </a:t>
                      </a:r>
                      <a:r>
                        <a:rPr lang="en-US" sz="1300" baseline="0" dirty="0" smtClean="0">
                          <a:effectLst/>
                          <a:latin typeface="+mn-lt"/>
                          <a:ea typeface="Calibri" panose="020F0502020204030204" pitchFamily="34" charset="0"/>
                          <a:cs typeface="Arial" panose="020B0604020202020204" pitchFamily="34" charset="0"/>
                        </a:rPr>
                        <a:t>          </a:t>
                      </a:r>
                      <a:r>
                        <a:rPr lang="en-US" sz="1600" b="1" kern="1200" baseline="0" dirty="0" smtClean="0">
                          <a:solidFill>
                            <a:schemeClr val="tx2">
                              <a:lumMod val="75000"/>
                            </a:schemeClr>
                          </a:solidFill>
                          <a:effectLst/>
                          <a:latin typeface="+mn-lt"/>
                          <a:ea typeface="Calibri" panose="020F0502020204030204" pitchFamily="34" charset="0"/>
                          <a:cs typeface="Arial" panose="020B0604020202020204" pitchFamily="34" charset="0"/>
                        </a:rPr>
                        <a:t>Library </a:t>
                      </a:r>
                      <a:endParaRPr lang="en-US" sz="1600" b="1" kern="1200" baseline="0" dirty="0" smtClean="0">
                        <a:solidFill>
                          <a:schemeClr val="tx2">
                            <a:lumMod val="75000"/>
                          </a:schemeClr>
                        </a:solidFill>
                        <a:effectLst/>
                        <a:latin typeface="+mn-lt"/>
                        <a:ea typeface="Calibri" panose="020F0502020204030204" pitchFamily="34" charset="0"/>
                        <a:cs typeface="Arial" panose="020B0604020202020204" pitchFamily="34" charset="0"/>
                      </a:endParaRPr>
                    </a:p>
                  </a:txBody>
                  <a:tcPr anchor="ctr">
                    <a:lnL w="12700" cap="flat" cmpd="sng" algn="ctr">
                      <a:solidFill>
                        <a:srgbClr val="0047BA"/>
                      </a:solidFill>
                      <a:prstDash val="solid"/>
                      <a:round/>
                      <a:headEnd type="none" w="med" len="med"/>
                      <a:tailEnd type="none" w="med" len="med"/>
                    </a:lnL>
                    <a:lnR w="12700" cap="flat" cmpd="sng" algn="ctr">
                      <a:solidFill>
                        <a:srgbClr val="0047BA"/>
                      </a:solidFill>
                      <a:prstDash val="solid"/>
                      <a:round/>
                      <a:headEnd type="none" w="med" len="med"/>
                      <a:tailEnd type="none" w="med" len="med"/>
                    </a:lnR>
                    <a:lnT w="12700" cap="flat" cmpd="sng" algn="ctr">
                      <a:solidFill>
                        <a:srgbClr val="0047BA"/>
                      </a:solidFill>
                      <a:prstDash val="solid"/>
                      <a:round/>
                      <a:headEnd type="none" w="med" len="med"/>
                      <a:tailEnd type="none" w="med" len="med"/>
                    </a:lnT>
                    <a:lnB w="12700" cap="flat" cmpd="sng" algn="ctr">
                      <a:solidFill>
                        <a:srgbClr val="0047BA"/>
                      </a:solidFill>
                      <a:prstDash val="solid"/>
                      <a:round/>
                      <a:headEnd type="none" w="med" len="med"/>
                      <a:tailEnd type="none" w="med" len="med"/>
                    </a:lnB>
                    <a:solidFill>
                      <a:srgbClr val="E5EEFF"/>
                    </a:solidFill>
                  </a:tcPr>
                </a:tc>
                <a:extLst>
                  <a:ext uri="{0D108BD9-81ED-4DB2-BD59-A6C34878D82A}">
                    <a16:rowId xmlns:a16="http://schemas.microsoft.com/office/drawing/2014/main" val="1193050997"/>
                  </a:ext>
                </a:extLst>
              </a:tr>
              <a:tr h="645406">
                <a:tc vMerge="1">
                  <a:txBody>
                    <a:bodyPr/>
                    <a:lstStyle/>
                    <a:p>
                      <a:endParaRPr lang="en-US"/>
                    </a:p>
                  </a:txBody>
                  <a:tcPr/>
                </a:tc>
                <a:tc>
                  <a:txBody>
                    <a:bodyPr/>
                    <a:lstStyle/>
                    <a:p>
                      <a:r>
                        <a:rPr lang="en-US" sz="1300" dirty="0" smtClean="0">
                          <a:effectLst/>
                          <a:latin typeface="+mn-lt"/>
                          <a:ea typeface="Calibri" panose="020F0502020204030204" pitchFamily="34" charset="0"/>
                          <a:cs typeface="Arial" panose="020B0604020202020204" pitchFamily="34" charset="0"/>
                        </a:rPr>
                        <a:t>c) Skills for Jobs of the Future: information &amp; data literacy, technological agility, self-management, self-assessment, lifelong Learning, communication, collaboration, intercultural effectiveness *</a:t>
                      </a:r>
                      <a:endParaRPr lang="en-US" sz="1300" dirty="0">
                        <a:latin typeface="+mn-lt"/>
                      </a:endParaRPr>
                    </a:p>
                  </a:txBody>
                  <a:tcPr anchor="ctr">
                    <a:lnL w="12700" cap="flat" cmpd="sng" algn="ctr">
                      <a:solidFill>
                        <a:srgbClr val="0047BA"/>
                      </a:solidFill>
                      <a:prstDash val="solid"/>
                      <a:round/>
                      <a:headEnd type="none" w="med" len="med"/>
                      <a:tailEnd type="none" w="med" len="med"/>
                    </a:lnL>
                    <a:lnR w="12700" cap="flat" cmpd="sng" algn="ctr">
                      <a:solidFill>
                        <a:srgbClr val="0047BA"/>
                      </a:solidFill>
                      <a:prstDash val="solid"/>
                      <a:round/>
                      <a:headEnd type="none" w="med" len="med"/>
                      <a:tailEnd type="none" w="med" len="med"/>
                    </a:lnR>
                    <a:lnT w="12700" cap="flat" cmpd="sng" algn="ctr">
                      <a:solidFill>
                        <a:srgbClr val="0047BA"/>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E5EEFF"/>
                    </a:solidFill>
                  </a:tcPr>
                </a:tc>
                <a:extLst>
                  <a:ext uri="{0D108BD9-81ED-4DB2-BD59-A6C34878D82A}">
                    <a16:rowId xmlns:a16="http://schemas.microsoft.com/office/drawing/2014/main" val="2207448833"/>
                  </a:ext>
                </a:extLst>
              </a:tr>
              <a:tr h="309825">
                <a:tc rowSpan="3">
                  <a:txBody>
                    <a:bodyPr/>
                    <a:lstStyle/>
                    <a:p>
                      <a:r>
                        <a:rPr lang="en-US" sz="1300" b="1" dirty="0" smtClean="0">
                          <a:latin typeface="+mn-lt"/>
                        </a:rPr>
                        <a:t>3. </a:t>
                      </a:r>
                      <a:r>
                        <a:rPr lang="en-US" sz="1300" b="1" kern="1200" dirty="0" smtClean="0">
                          <a:solidFill>
                            <a:schemeClr val="tx1"/>
                          </a:solidFill>
                          <a:effectLst/>
                          <a:latin typeface="+mn-lt"/>
                          <a:ea typeface="+mn-ea"/>
                          <a:cs typeface="+mn-cs"/>
                        </a:rPr>
                        <a:t>Increase &amp; Diversify University Revenue</a:t>
                      </a:r>
                      <a:endParaRPr lang="en-US" sz="1300" b="1" dirty="0">
                        <a:latin typeface="+mn-lt"/>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FFC000"/>
                      </a:solidFill>
                      <a:prstDash val="solid"/>
                      <a:round/>
                      <a:headEnd type="none" w="med" len="med"/>
                      <a:tailEnd type="none" w="med" len="med"/>
                    </a:lnB>
                    <a:solidFill>
                      <a:srgbClr val="EBFFEB"/>
                    </a:solidFill>
                  </a:tcPr>
                </a:tc>
                <a:tc>
                  <a:txBody>
                    <a:bodyPr/>
                    <a:lstStyle/>
                    <a:p>
                      <a:pPr marL="0" marR="0">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a) University Fees: Self-paying and externally sponsored students</a:t>
                      </a: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EBFFEB"/>
                    </a:solidFill>
                  </a:tcPr>
                </a:tc>
                <a:extLst>
                  <a:ext uri="{0D108BD9-81ED-4DB2-BD59-A6C34878D82A}">
                    <a16:rowId xmlns:a16="http://schemas.microsoft.com/office/drawing/2014/main" val="4050660488"/>
                  </a:ext>
                </a:extLst>
              </a:tr>
              <a:tr h="375638">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dirty="0" smtClean="0">
                          <a:effectLst/>
                          <a:latin typeface="+mn-lt"/>
                          <a:ea typeface="Calibri" panose="020F0502020204030204" pitchFamily="34" charset="0"/>
                          <a:cs typeface="Arial" panose="020B0604020202020204" pitchFamily="34" charset="0"/>
                        </a:rPr>
                        <a:t>b) Continuing Education: Coursera courses, training for High School </a:t>
                      </a:r>
                      <a:r>
                        <a:rPr lang="en-US" sz="1300" dirty="0" smtClean="0">
                          <a:effectLst/>
                          <a:latin typeface="+mn-lt"/>
                          <a:ea typeface="Calibri" panose="020F0502020204030204" pitchFamily="34" charset="0"/>
                          <a:cs typeface="Arial" panose="020B0604020202020204" pitchFamily="34" charset="0"/>
                        </a:rPr>
                        <a:t>Teachers           </a:t>
                      </a:r>
                      <a:r>
                        <a:rPr lang="en-US" sz="1600" b="1" kern="1200" baseline="0" dirty="0" smtClean="0">
                          <a:solidFill>
                            <a:schemeClr val="tx2">
                              <a:lumMod val="75000"/>
                            </a:schemeClr>
                          </a:solidFill>
                          <a:effectLst/>
                          <a:latin typeface="+mn-lt"/>
                          <a:ea typeface="Calibri" panose="020F0502020204030204" pitchFamily="34" charset="0"/>
                          <a:cs typeface="Arial" panose="020B0604020202020204" pitchFamily="34" charset="0"/>
                        </a:rPr>
                        <a:t>Library</a:t>
                      </a:r>
                      <a:r>
                        <a:rPr lang="en-US" sz="1400" b="1" kern="1200" baseline="0" dirty="0" smtClean="0">
                          <a:solidFill>
                            <a:schemeClr val="tx2">
                              <a:lumMod val="75000"/>
                            </a:schemeClr>
                          </a:solidFill>
                          <a:effectLst/>
                          <a:latin typeface="+mn-lt"/>
                          <a:ea typeface="Calibri" panose="020F0502020204030204" pitchFamily="34" charset="0"/>
                          <a:cs typeface="Arial" panose="020B0604020202020204" pitchFamily="34" charset="0"/>
                        </a:rPr>
                        <a:t> </a:t>
                      </a: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EBFFEB"/>
                    </a:solidFill>
                  </a:tcPr>
                </a:tc>
                <a:extLst>
                  <a:ext uri="{0D108BD9-81ED-4DB2-BD59-A6C34878D82A}">
                    <a16:rowId xmlns:a16="http://schemas.microsoft.com/office/drawing/2014/main" val="2873168951"/>
                  </a:ext>
                </a:extLst>
              </a:tr>
              <a:tr h="309825">
                <a:tc vMerge="1">
                  <a:txBody>
                    <a:bodyPr/>
                    <a:lstStyle/>
                    <a:p>
                      <a:endParaRPr lang="en-US"/>
                    </a:p>
                  </a:txBody>
                  <a:tcPr/>
                </a:tc>
                <a:tc>
                  <a:txBody>
                    <a:bodyPr/>
                    <a:lstStyle/>
                    <a:p>
                      <a:pPr marL="0" marR="0">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c) Industry-funded Outreach programs</a:t>
                      </a:r>
                      <a:endParaRPr lang="en-US" sz="1300" dirty="0">
                        <a:effectLst/>
                        <a:latin typeface="+mn-lt"/>
                        <a:ea typeface="Calibri" panose="020F0502020204030204" pitchFamily="34" charset="0"/>
                        <a:cs typeface="Arial" panose="020B0604020202020204" pitchFamily="34"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FFC000"/>
                      </a:solidFill>
                      <a:prstDash val="solid"/>
                      <a:round/>
                      <a:headEnd type="none" w="med" len="med"/>
                      <a:tailEnd type="none" w="med" len="med"/>
                    </a:lnB>
                    <a:solidFill>
                      <a:srgbClr val="EBFFEB"/>
                    </a:solidFill>
                  </a:tcPr>
                </a:tc>
                <a:extLst>
                  <a:ext uri="{0D108BD9-81ED-4DB2-BD59-A6C34878D82A}">
                    <a16:rowId xmlns:a16="http://schemas.microsoft.com/office/drawing/2014/main" val="1816479281"/>
                  </a:ext>
                </a:extLst>
              </a:tr>
              <a:tr h="309825">
                <a:tc rowSpan="3">
                  <a:txBody>
                    <a:bodyPr/>
                    <a:lstStyle/>
                    <a:p>
                      <a:r>
                        <a:rPr lang="en-US" sz="1300" b="1" dirty="0" smtClean="0">
                          <a:latin typeface="+mn-lt"/>
                        </a:rPr>
                        <a:t>4. </a:t>
                      </a:r>
                      <a:r>
                        <a:rPr lang="en-US" sz="1300" b="1" kern="1200" dirty="0" smtClean="0">
                          <a:solidFill>
                            <a:schemeClr val="tx1"/>
                          </a:solidFill>
                          <a:effectLst/>
                          <a:latin typeface="+mn-lt"/>
                          <a:ea typeface="+mn-ea"/>
                          <a:cs typeface="+mn-cs"/>
                        </a:rPr>
                        <a:t>Process Efficiency &amp; Customer Satisfaction</a:t>
                      </a:r>
                      <a:endParaRPr lang="en-US" sz="1300" b="1" dirty="0">
                        <a:latin typeface="+mn-lt"/>
                      </a:endParaRPr>
                    </a:p>
                  </a:txBody>
                  <a:tcPr anchor="ctr">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solidFill>
                      <a:schemeClr val="accent5">
                        <a:lumMod val="20000"/>
                        <a:lumOff val="80000"/>
                      </a:schemeClr>
                    </a:solidFill>
                  </a:tcPr>
                </a:tc>
                <a:tc>
                  <a:txBody>
                    <a:bodyPr/>
                    <a:lstStyle/>
                    <a:p>
                      <a:pPr marL="0" marR="0">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a) Enhance cross-departmental </a:t>
                      </a:r>
                      <a:r>
                        <a:rPr lang="en-US" sz="1300" dirty="0" smtClean="0">
                          <a:effectLst/>
                          <a:latin typeface="+mn-lt"/>
                          <a:ea typeface="Calibri" panose="020F0502020204030204" pitchFamily="34" charset="0"/>
                          <a:cs typeface="Arial" panose="020B0604020202020204" pitchFamily="34" charset="0"/>
                        </a:rPr>
                        <a:t>workflows   </a:t>
                      </a:r>
                      <a:r>
                        <a:rPr lang="en-US" sz="1300" baseline="0" dirty="0" smtClean="0">
                          <a:effectLst/>
                          <a:latin typeface="+mn-lt"/>
                          <a:ea typeface="Calibri" panose="020F0502020204030204" pitchFamily="34" charset="0"/>
                          <a:cs typeface="Arial" panose="020B0604020202020204" pitchFamily="34" charset="0"/>
                        </a:rPr>
                        <a:t>        </a:t>
                      </a:r>
                      <a:r>
                        <a:rPr lang="en-US" sz="1600" b="1" kern="1200" baseline="0" dirty="0" smtClean="0">
                          <a:solidFill>
                            <a:schemeClr val="tx2">
                              <a:lumMod val="75000"/>
                            </a:schemeClr>
                          </a:solidFill>
                          <a:effectLst/>
                          <a:latin typeface="+mn-lt"/>
                          <a:ea typeface="Calibri" panose="020F0502020204030204" pitchFamily="34" charset="0"/>
                          <a:cs typeface="Arial" panose="020B0604020202020204" pitchFamily="34" charset="0"/>
                        </a:rPr>
                        <a:t>Library</a:t>
                      </a:r>
                      <a:endParaRPr lang="en-US" sz="1600" b="1" kern="1200" baseline="0" dirty="0" smtClean="0">
                        <a:solidFill>
                          <a:schemeClr val="tx2">
                            <a:lumMod val="75000"/>
                          </a:schemeClr>
                        </a:solidFill>
                        <a:effectLst/>
                        <a:latin typeface="+mn-lt"/>
                        <a:ea typeface="Calibri" panose="020F0502020204030204" pitchFamily="34" charset="0"/>
                        <a:cs typeface="Arial" panose="020B0604020202020204" pitchFamily="34" charset="0"/>
                      </a:endParaRPr>
                    </a:p>
                  </a:txBody>
                  <a:tcPr>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86787048"/>
                  </a:ext>
                </a:extLst>
              </a:tr>
              <a:tr h="309825">
                <a:tc vMerge="1">
                  <a:txBody>
                    <a:bodyPr/>
                    <a:lstStyle/>
                    <a:p>
                      <a:endParaRPr lang="en-US"/>
                    </a:p>
                  </a:txBody>
                  <a:tcPr/>
                </a:tc>
                <a:tc>
                  <a:txBody>
                    <a:bodyPr/>
                    <a:lstStyle/>
                    <a:p>
                      <a:pPr marL="0" marR="0">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b) Utilize Data to make Informed Decisions</a:t>
                      </a:r>
                    </a:p>
                  </a:txBody>
                  <a:tcPr>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101881992"/>
                  </a:ext>
                </a:extLst>
              </a:tr>
              <a:tr h="309825">
                <a:tc vMerge="1">
                  <a:txBody>
                    <a:bodyPr/>
                    <a:lstStyle/>
                    <a:p>
                      <a:endParaRPr lang="en-US"/>
                    </a:p>
                  </a:txBody>
                  <a:tcPr/>
                </a:tc>
                <a:tc>
                  <a:txBody>
                    <a:bodyPr/>
                    <a:lstStyle/>
                    <a:p>
                      <a:pPr marL="0" marR="0">
                        <a:spcBef>
                          <a:spcPts val="0"/>
                        </a:spcBef>
                        <a:spcAft>
                          <a:spcPts val="0"/>
                        </a:spcAft>
                      </a:pPr>
                      <a:r>
                        <a:rPr lang="en-US" sz="1300" dirty="0" smtClean="0">
                          <a:effectLst/>
                          <a:latin typeface="+mn-lt"/>
                          <a:ea typeface="Calibri" panose="020F0502020204030204" pitchFamily="34" charset="0"/>
                          <a:cs typeface="Arial" panose="020B0604020202020204" pitchFamily="34" charset="0"/>
                        </a:rPr>
                        <a:t>c) Analyze Survey results and continuous</a:t>
                      </a:r>
                      <a:r>
                        <a:rPr lang="en-US" sz="1300" baseline="0" dirty="0" smtClean="0">
                          <a:effectLst/>
                          <a:latin typeface="+mn-lt"/>
                          <a:ea typeface="Calibri" panose="020F0502020204030204" pitchFamily="34" charset="0"/>
                          <a:cs typeface="Arial" panose="020B0604020202020204" pitchFamily="34" charset="0"/>
                        </a:rPr>
                        <a:t> </a:t>
                      </a:r>
                      <a:r>
                        <a:rPr lang="en-US" sz="1300" dirty="0" smtClean="0">
                          <a:effectLst/>
                          <a:latin typeface="+mn-lt"/>
                          <a:ea typeface="Calibri" panose="020F0502020204030204" pitchFamily="34" charset="0"/>
                          <a:cs typeface="Arial" panose="020B0604020202020204" pitchFamily="34" charset="0"/>
                        </a:rPr>
                        <a:t>improvement</a:t>
                      </a:r>
                      <a:endParaRPr lang="en-US" sz="1300" dirty="0">
                        <a:effectLst/>
                        <a:latin typeface="+mn-lt"/>
                        <a:ea typeface="Calibri" panose="020F0502020204030204" pitchFamily="34" charset="0"/>
                        <a:cs typeface="Arial" panose="020B0604020202020204" pitchFamily="34" charset="0"/>
                      </a:endParaRPr>
                    </a:p>
                  </a:txBody>
                  <a:tcPr>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791425202"/>
                  </a:ext>
                </a:extLst>
              </a:tr>
            </a:tbl>
          </a:graphicData>
        </a:graphic>
      </p:graphicFrame>
      <p:sp>
        <p:nvSpPr>
          <p:cNvPr id="5" name="Right Arrow 4"/>
          <p:cNvSpPr/>
          <p:nvPr/>
        </p:nvSpPr>
        <p:spPr>
          <a:xfrm>
            <a:off x="7916313" y="1886035"/>
            <a:ext cx="396413" cy="250335"/>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8953500" y="3318105"/>
            <a:ext cx="414944" cy="28130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6496378" y="5357264"/>
            <a:ext cx="415587" cy="262140"/>
          </a:xfrm>
          <a:prstGeom prst="rect">
            <a:avLst/>
          </a:prstGeom>
        </p:spPr>
      </p:pic>
      <p:pic>
        <p:nvPicPr>
          <p:cNvPr id="11" name="Picture 10"/>
          <p:cNvPicPr>
            <a:picLocks noChangeAspect="1"/>
          </p:cNvPicPr>
          <p:nvPr/>
        </p:nvPicPr>
        <p:blipFill>
          <a:blip r:embed="rId2"/>
          <a:stretch>
            <a:fillRect/>
          </a:stretch>
        </p:blipFill>
        <p:spPr>
          <a:xfrm>
            <a:off x="9089950" y="4626165"/>
            <a:ext cx="452393" cy="285356"/>
          </a:xfrm>
          <a:prstGeom prst="rect">
            <a:avLst/>
          </a:prstGeom>
        </p:spPr>
      </p:pic>
    </p:spTree>
    <p:extLst>
      <p:ext uri="{BB962C8B-B14F-4D97-AF65-F5344CB8AC3E}">
        <p14:creationId xmlns:p14="http://schemas.microsoft.com/office/powerpoint/2010/main" val="16256059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866" y="203200"/>
            <a:ext cx="10514734" cy="4039466"/>
          </a:xfrm>
        </p:spPr>
        <p:txBody>
          <a:bodyPr>
            <a:noAutofit/>
          </a:bodyPr>
          <a:lstStyle/>
          <a:p>
            <a:r>
              <a:rPr lang="en-US" sz="8000" dirty="0" smtClean="0"/>
              <a:t>Any Questions </a:t>
            </a:r>
            <a:endParaRPr lang="en-US" sz="8000" dirty="0"/>
          </a:p>
        </p:txBody>
      </p:sp>
      <p:sp>
        <p:nvSpPr>
          <p:cNvPr id="6" name="Slide Number Placeholder 5"/>
          <p:cNvSpPr>
            <a:spLocks noGrp="1"/>
          </p:cNvSpPr>
          <p:nvPr>
            <p:ph type="sldNum" sz="quarter" idx="12"/>
          </p:nvPr>
        </p:nvSpPr>
        <p:spPr/>
        <p:txBody>
          <a:bodyPr/>
          <a:lstStyle/>
          <a:p>
            <a:fld id="{1E68DD1B-5CD8-424B-8173-19E182143E0A}" type="slidenum">
              <a:rPr lang="en-US" smtClean="0"/>
              <a:t>7</a:t>
            </a:fld>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smtClean="0"/>
              <a:t>Strategic Retreat – Academic and Student Services</a:t>
            </a:r>
            <a:endParaRPr lang="en-US"/>
          </a:p>
        </p:txBody>
      </p:sp>
    </p:spTree>
    <p:extLst>
      <p:ext uri="{BB962C8B-B14F-4D97-AF65-F5344CB8AC3E}">
        <p14:creationId xmlns:p14="http://schemas.microsoft.com/office/powerpoint/2010/main" val="29257548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285847"/>
      </p:ext>
    </p:extLst>
  </p:cSld>
  <p:clrMapOvr>
    <a:masterClrMapping/>
  </p:clrMapOvr>
  <p:timing>
    <p:tnLst>
      <p:par>
        <p:cTn id="1" dur="indefinite" restart="never" nodeType="tmRoot"/>
      </p:par>
    </p:tnLst>
  </p:timing>
</p:sld>
</file>

<file path=ppt/theme/theme1.xml><?xml version="1.0" encoding="utf-8"?>
<a:theme xmlns:a="http://schemas.openxmlformats.org/drawingml/2006/main" name="KU Theme">
  <a:themeElements>
    <a:clrScheme name="KU">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2018-04-09 E.potx" id="{AF960482-6B50-417C-AC38-1AFEBFC77BA4}" vid="{1F04D338-456F-4FFC-9561-BAAA645232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KU Theme</Template>
  <TotalTime>364</TotalTime>
  <Words>745</Words>
  <Application>Microsoft Office PowerPoint</Application>
  <PresentationFormat>Widescreen</PresentationFormat>
  <Paragraphs>74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KU Theme</vt:lpstr>
      <vt:lpstr>Strategic Retreat </vt:lpstr>
      <vt:lpstr>Reflections of 2021</vt:lpstr>
      <vt:lpstr>Breaking Departmental Silos </vt:lpstr>
      <vt:lpstr>Commitments of 2022</vt:lpstr>
      <vt:lpstr>  Library KPI’S figures- Academic Year 2021-2022</vt:lpstr>
      <vt:lpstr>Strategic Priorities and Initiatives</vt:lpstr>
      <vt:lpstr>Any Questions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Goes Here</dc:title>
  <dc:creator>Majed Almansoori</dc:creator>
  <cp:lastModifiedBy>Abdulla Al Hefeiti</cp:lastModifiedBy>
  <cp:revision>41</cp:revision>
  <dcterms:created xsi:type="dcterms:W3CDTF">2018-04-29T10:48:36Z</dcterms:created>
  <dcterms:modified xsi:type="dcterms:W3CDTF">2022-03-18T03:55:56Z</dcterms:modified>
</cp:coreProperties>
</file>