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df" ContentType="application/pd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1" r:id="rId2"/>
    <p:sldId id="261" r:id="rId3"/>
    <p:sldId id="291" r:id="rId4"/>
    <p:sldId id="299" r:id="rId5"/>
    <p:sldId id="292" r:id="rId6"/>
    <p:sldId id="283" r:id="rId7"/>
    <p:sldId id="284" r:id="rId8"/>
    <p:sldId id="297" r:id="rId9"/>
    <p:sldId id="298" r:id="rId10"/>
    <p:sldId id="289" r:id="rId11"/>
    <p:sldId id="286" r:id="rId12"/>
    <p:sldId id="287" r:id="rId13"/>
    <p:sldId id="293" r:id="rId14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47BA"/>
    <a:srgbClr val="FF014A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69" autoAdjust="0"/>
    <p:restoredTop sz="86323" autoAdjust="0"/>
  </p:normalViewPr>
  <p:slideViewPr>
    <p:cSldViewPr snapToGrid="0" showGuides="1">
      <p:cViewPr>
        <p:scale>
          <a:sx n="153" d="100"/>
          <a:sy n="153" d="100"/>
        </p:scale>
        <p:origin x="888" y="-63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2016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MI!$D$2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C5C-DA4F-9F1D-8A9447855207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EC5C-DA4F-9F1D-8A9447855207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EC5C-DA4F-9F1D-8A9447855207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EC5C-DA4F-9F1D-8A9447855207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EC5C-DA4F-9F1D-8A9447855207}"/>
                </c:ext>
              </c:extLst>
            </c:dLbl>
            <c:dLbl>
              <c:idx val="4"/>
              <c:layout>
                <c:manualLayout>
                  <c:x val="1.1738810541143761E-2"/>
                  <c:y val="-1.6443985892700186E-2"/>
                </c:manualLayout>
              </c:layout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9-EC5C-DA4F-9F1D-8A9447855207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MI!$D$3:$D$7</c:f>
              <c:numCache>
                <c:formatCode>General</c:formatCode>
                <c:ptCount val="5"/>
                <c:pt idx="0">
                  <c:v>1560</c:v>
                </c:pt>
                <c:pt idx="1">
                  <c:v>168</c:v>
                </c:pt>
                <c:pt idx="2">
                  <c:v>96</c:v>
                </c:pt>
                <c:pt idx="3">
                  <c:v>96</c:v>
                </c:pt>
                <c:pt idx="4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5C-DA4F-9F1D-8A9447855207}"/>
            </c:ext>
          </c:extLst>
        </c:ser>
        <c:ser>
          <c:idx val="1"/>
          <c:order val="1"/>
          <c:tx>
            <c:strRef>
              <c:f>MI!$I$2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EC5C-DA4F-9F1D-8A944785520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EC5C-DA4F-9F1D-8A944785520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EC5C-DA4F-9F1D-8A944785520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EC5C-DA4F-9F1D-8A944785520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2-EC5C-DA4F-9F1D-8A944785520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EC5C-DA4F-9F1D-8A9447855207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MI!$I$3:$I$7</c:f>
              <c:numCache>
                <c:formatCode>General</c:formatCode>
                <c:ptCount val="5"/>
                <c:pt idx="0">
                  <c:v>0.77380952380952384</c:v>
                </c:pt>
                <c:pt idx="1">
                  <c:v>8.3333333333333329E-2</c:v>
                </c:pt>
                <c:pt idx="2">
                  <c:v>4.7619047619047616E-2</c:v>
                </c:pt>
                <c:pt idx="3">
                  <c:v>4.7619047619047616E-2</c:v>
                </c:pt>
                <c:pt idx="4">
                  <c:v>4.7619047619047616E-2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EC5C-DA4F-9F1D-8A9447855207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1100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SAN!$D$2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374-5A4B-8311-55090FFE2166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4374-5A4B-8311-55090FFE2166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4374-5A4B-8311-55090FFE2166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4374-5A4B-8311-55090FFE2166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4374-5A4B-8311-55090FFE2166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SAN!$D$3:$D$6</c:f>
              <c:numCache>
                <c:formatCode>General</c:formatCode>
                <c:ptCount val="4"/>
                <c:pt idx="0">
                  <c:v>72</c:v>
                </c:pt>
                <c:pt idx="1">
                  <c:v>276</c:v>
                </c:pt>
                <c:pt idx="2">
                  <c:v>656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74-5A4B-8311-55090FFE2166}"/>
            </c:ext>
          </c:extLst>
        </c:ser>
        <c:ser>
          <c:idx val="1"/>
          <c:order val="1"/>
          <c:tx>
            <c:strRef>
              <c:f>SAN!$I$2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4374-5A4B-8311-55090FFE216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4374-5A4B-8311-55090FFE216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4374-5A4B-8311-55090FFE216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4374-5A4B-8311-55090FFE216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4374-5A4B-8311-55090FFE2166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SAN!$I$3:$I$6</c:f>
              <c:numCache>
                <c:formatCode>General</c:formatCode>
                <c:ptCount val="4"/>
                <c:pt idx="0">
                  <c:v>6.545454545454546E-2</c:v>
                </c:pt>
                <c:pt idx="1">
                  <c:v>0.25090909090909091</c:v>
                </c:pt>
                <c:pt idx="2">
                  <c:v>0.59636363636363632</c:v>
                </c:pt>
                <c:pt idx="3">
                  <c:v>8.727272727272728E-2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374-5A4B-8311-55090FFE2166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d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11/15/20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29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653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28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17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53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94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4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chemeClr val="bg2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4210050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9" y="654528"/>
            <a:ext cx="2876309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74" y="542926"/>
            <a:ext cx="8463393" cy="8150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74" y="1502876"/>
            <a:ext cx="8520709" cy="481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07174" y="669956"/>
            <a:ext cx="4217788" cy="564468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Heading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669956"/>
            <a:ext cx="3590925" cy="5644689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05650" y="1868400"/>
            <a:ext cx="3802500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7344" y="1868400"/>
            <a:ext cx="3808909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7173" y="771526"/>
            <a:ext cx="4581525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7173" y="771526"/>
            <a:ext cx="4581525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299" y="542926"/>
            <a:ext cx="8567141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1114425"/>
            <a:ext cx="5154216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 dirty="0">
                <a:solidFill>
                  <a:srgbClr val="000000"/>
                </a:solidFill>
              </a:rPr>
              <a:t>ku.ac.ae</a:t>
            </a:r>
            <a:endParaRPr lang="en-US" sz="691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762001"/>
            <a:ext cx="3018234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tx2"/>
                </a:solidFill>
              </a:rPr>
              <a:t>ku.ac.ae</a:t>
            </a:r>
            <a:endParaRPr lang="en-US" sz="691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6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2049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000500"/>
            <a:ext cx="8543925" cy="1584326"/>
          </a:xfrm>
        </p:spPr>
        <p:txBody>
          <a:bodyPr>
            <a:normAutofit/>
          </a:bodyPr>
          <a:lstStyle>
            <a:lvl1pPr marL="0" indent="0" algn="ctr">
              <a:buNone/>
              <a:defRPr sz="3088">
                <a:solidFill>
                  <a:srgbClr val="000000"/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0525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917" y="891158"/>
            <a:ext cx="1924556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611386" y="2711687"/>
            <a:ext cx="8652272" cy="14379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9344" b="1" spc="-81" baseline="0" noProof="0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4210051" y="6146801"/>
            <a:ext cx="1493638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016" b="1" noProof="0" dirty="0">
                <a:solidFill>
                  <a:srgbClr val="FFFFFF"/>
                </a:solidFill>
              </a:rPr>
              <a:t>ku.ac.ae</a:t>
            </a: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96" y="542925"/>
            <a:ext cx="8286851" cy="82414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873" y="1530037"/>
            <a:ext cx="8321486" cy="4839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0464" y="203201"/>
            <a:ext cx="1408509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9458" y="203201"/>
            <a:ext cx="33432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5222" y="203201"/>
            <a:ext cx="425648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742950" rtl="0" eaLnBrk="1" latinLnBrk="0" hangingPunct="1">
        <a:lnSpc>
          <a:spcPct val="100000"/>
        </a:lnSpc>
        <a:spcBef>
          <a:spcPct val="0"/>
        </a:spcBef>
        <a:buNone/>
        <a:defRPr sz="2925" b="1" kern="1200" spc="41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704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41127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580430" indent="-139303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72747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874514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teamup.com/ksquu2jki56nesnr6n" TargetMode="Externa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pdf"/><Relationship Id="rId4" Type="http://schemas.openxmlformats.org/officeDocument/2006/relationships/package" Target="../embeddings/Microsoft_Excel_Worksheet.xlsx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35" y="2271472"/>
            <a:ext cx="7240504" cy="1393031"/>
          </a:xfrm>
        </p:spPr>
        <p:txBody>
          <a:bodyPr>
            <a:normAutofit fontScale="90000"/>
          </a:bodyPr>
          <a:lstStyle/>
          <a:p>
            <a:pPr algn="l"/>
            <a:r>
              <a:rPr lang="en-US" noProof="0" dirty="0"/>
              <a:t>Research Computing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535" y="3695460"/>
            <a:ext cx="7240504" cy="1013817"/>
          </a:xfrm>
        </p:spPr>
        <p:txBody>
          <a:bodyPr/>
          <a:lstStyle/>
          <a:p>
            <a:pPr algn="l"/>
            <a:r>
              <a:rPr lang="en-US" dirty="0"/>
              <a:t>October</a:t>
            </a:r>
            <a:r>
              <a:rPr lang="en-US" noProof="0" dirty="0"/>
              <a:t> 2020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9535" y="5103968"/>
            <a:ext cx="5468259" cy="255389"/>
          </a:xfrm>
        </p:spPr>
        <p:txBody>
          <a:bodyPr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HPC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388577" cy="5104562"/>
          </a:xfrm>
        </p:spPr>
        <p:txBody>
          <a:bodyPr>
            <a:normAutofit/>
          </a:bodyPr>
          <a:lstStyle/>
          <a:p>
            <a:r>
              <a:rPr lang="en-US" sz="2400" dirty="0"/>
              <a:t>New HPC Procurement via ANKABUT</a:t>
            </a:r>
          </a:p>
          <a:p>
            <a:pPr lvl="1"/>
            <a:r>
              <a:rPr lang="en-US" sz="2400" dirty="0"/>
              <a:t>Technical evaluation completed, and in commercial stage.</a:t>
            </a:r>
          </a:p>
          <a:p>
            <a:pPr lvl="1"/>
            <a:r>
              <a:rPr lang="en-US" sz="2400" dirty="0"/>
              <a:t>Process progressing, with procurement re-floating the RPF.</a:t>
            </a:r>
          </a:p>
          <a:p>
            <a:pPr lvl="1"/>
            <a:r>
              <a:rPr lang="en-US" sz="2400" dirty="0"/>
              <a:t>Funds have been made available, and expect PO to be issued shortly.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52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848604" cy="5104562"/>
          </a:xfrm>
        </p:spPr>
        <p:txBody>
          <a:bodyPr>
            <a:normAutofit lnSpcReduction="10000"/>
          </a:bodyPr>
          <a:lstStyle/>
          <a:p>
            <a:r>
              <a:rPr lang="en-US" sz="2400" b="0" dirty="0"/>
              <a:t>“Research Computing intro session”, “Introduction to Linux”, and “Introduction to HPC” courses are all well attended and well received. </a:t>
            </a:r>
          </a:p>
          <a:p>
            <a:pPr lvl="1"/>
            <a:r>
              <a:rPr lang="en-US" sz="2400" dirty="0"/>
              <a:t>Training calendar is available at </a:t>
            </a:r>
            <a:r>
              <a:rPr lang="en-US" sz="2400" dirty="0">
                <a:hlinkClick r:id="rId2"/>
              </a:rPr>
              <a:t>https://teamup.com/ksquu2jki56nesnr6n</a:t>
            </a:r>
            <a:endParaRPr lang="en-US" sz="2400" dirty="0"/>
          </a:p>
          <a:p>
            <a:r>
              <a:rPr lang="en-US" sz="2400" b="0" dirty="0"/>
              <a:t> Due to course being online, places are limited to 5 per session.</a:t>
            </a:r>
          </a:p>
          <a:p>
            <a:r>
              <a:rPr lang="en-US" sz="2400" b="0" dirty="0"/>
              <a:t>All three courses are delivered on a weekly basis.</a:t>
            </a:r>
          </a:p>
          <a:p>
            <a:r>
              <a:rPr lang="en-US" sz="2400" b="0" dirty="0"/>
              <a:t>Currently no courses regularly scheduled as demand has dropped.</a:t>
            </a:r>
          </a:p>
          <a:p>
            <a:pPr lvl="1"/>
            <a:r>
              <a:rPr lang="en-US" sz="2400" dirty="0"/>
              <a:t>“Research Computing intro session”, is mandatory for new accounts on HPC and is delivered when required.</a:t>
            </a:r>
            <a:endParaRPr lang="en-US" sz="2400" b="0" dirty="0"/>
          </a:p>
          <a:p>
            <a:r>
              <a:rPr lang="en-US" sz="2400" b="0" dirty="0"/>
              <a:t>Developed and delivered two specific Python based courses to a small group of students, as part of a larger AI course being delivered by faculty.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44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A9B73E80-FFAA-C141-892F-6D4D57917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6" y="709448"/>
            <a:ext cx="9783524" cy="5591017"/>
          </a:xfrm>
          <a:prstGeom prst="rect">
            <a:avLst/>
          </a:prstGeom>
          <a:noFill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5222" y="203201"/>
            <a:ext cx="425648" cy="24447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E68DD1B-5CD8-424B-8173-19E182143E0A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89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AF31104-3D8A-0B44-9CC2-F61A30B4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Utilization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9926-E230-B042-AAAC-E240A106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8F346-C148-3D45-B589-43294848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0B75F-FBEC-2A43-82EA-CF342289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52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7222D7C-BAC1-C443-B54C-AF8CEA0618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81546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9676F3BE-CBC1-1143-9D83-038055862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0796"/>
            <a:ext cx="9906000" cy="533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41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" name="Picture 3" descr="Chart, bar chart, histogram&#10;&#10;Description automatically generated">
            <a:extLst>
              <a:ext uri="{FF2B5EF4-FFF2-40B4-BE49-F238E27FC236}">
                <a16:creationId xmlns:a16="http://schemas.microsoft.com/office/drawing/2014/main" id="{B4BAA059-94FD-C440-B22A-68CE83C62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2716"/>
            <a:ext cx="9906000" cy="537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62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585B36D3-6996-374C-A4D8-A23481FFF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4376"/>
            <a:ext cx="9906000" cy="538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98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5D356-119E-BF46-9F72-A9AC75C905C0}"/>
              </a:ext>
            </a:extLst>
          </p:cNvPr>
          <p:cNvSpPr txBox="1"/>
          <p:nvPr/>
        </p:nvSpPr>
        <p:spPr>
          <a:xfrm>
            <a:off x="753626" y="894303"/>
            <a:ext cx="6089301" cy="7155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50" dirty="0"/>
              <a:t>KU HPC  Group Utilization for October 2020.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Note that do not yet keep track of applications used automatically. This is a work in progress, and will be added to future reports.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DC5D05D-AFA7-CE42-8C01-3127830395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865282"/>
              </p:ext>
            </p:extLst>
          </p:nvPr>
        </p:nvGraphicFramePr>
        <p:xfrm>
          <a:off x="2207174" y="1719501"/>
          <a:ext cx="4459287" cy="440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" name="Worksheet" r:id="rId4" imgW="6959600" imgH="6870700" progId="Excel.Sheet.12">
                  <p:embed/>
                </p:oleObj>
              </mc:Choice>
              <mc:Fallback>
                <p:oleObj name="Worksheet" r:id="rId4" imgW="6959600" imgH="6870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07174" y="1719501"/>
                        <a:ext cx="4459287" cy="440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4714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50C76DE-7CD8-CE4D-B768-A45CAEDDBC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4753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B44FC9A6-5869-9C40-9392-C99FAF228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3516"/>
            <a:ext cx="9906000" cy="543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75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BEA82-C916-2648-85B5-7D2A6E2AB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13</a:t>
            </a:fld>
            <a:endParaRPr lang="en-US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360D301-D239-C94C-AB00-01065A9D51DF}"/>
              </a:ext>
            </a:extLst>
          </p:cNvPr>
          <p:cNvSpPr txBox="1">
            <a:spLocks/>
          </p:cNvSpPr>
          <p:nvPr/>
        </p:nvSpPr>
        <p:spPr>
          <a:xfrm>
            <a:off x="469571" y="447676"/>
            <a:ext cx="8463393" cy="815095"/>
          </a:xfrm>
          <a:prstGeom prst="rect">
            <a:avLst/>
          </a:prstGeom>
        </p:spPr>
        <p:txBody>
          <a:bodyPr/>
          <a:lstStyle>
            <a:lvl1pPr algn="l" defTabSz="74295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925" b="1" kern="1200" spc="41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Status of KPI’s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F2169C8-2F50-DF40-A17A-2305D96896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089817"/>
              </p:ext>
            </p:extLst>
          </p:nvPr>
        </p:nvGraphicFramePr>
        <p:xfrm>
          <a:off x="554038" y="984250"/>
          <a:ext cx="8666162" cy="579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Worksheet" r:id="rId3" imgW="11531600" imgH="7708900" progId="Excel.Sheet.12">
                  <p:embed/>
                </p:oleObj>
              </mc:Choice>
              <mc:Fallback>
                <p:oleObj name="Worksheet" r:id="rId3" imgW="11531600" imgH="7708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4038" y="984250"/>
                        <a:ext cx="8666162" cy="5792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5051738"/>
      </p:ext>
    </p:extLst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03_dureid" id="{E5C0B40D-4810-4141-950B-63592BF28D0C}" vid="{E0DD810D-9114-6044-9274-3619F9170D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305</Words>
  <Application>Microsoft Macintosh PowerPoint</Application>
  <PresentationFormat>A4 Paper (210x297 mm)</PresentationFormat>
  <Paragraphs>55</Paragraphs>
  <Slides>13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KU Theme</vt:lpstr>
      <vt:lpstr>Microsoft Excel Worksheet</vt:lpstr>
      <vt:lpstr>Research Computing Update</vt:lpstr>
      <vt:lpstr>HPC Resources</vt:lpstr>
      <vt:lpstr>Training</vt:lpstr>
      <vt:lpstr>PowerPoint Presentation</vt:lpstr>
      <vt:lpstr>Resource Utilization</vt:lpstr>
      <vt:lpstr>KU Cluster core distribution</vt:lpstr>
      <vt:lpstr>PowerPoint Presentation</vt:lpstr>
      <vt:lpstr>PowerPoint Presentation</vt:lpstr>
      <vt:lpstr>PowerPoint Presentation</vt:lpstr>
      <vt:lpstr>PowerPoint Presentation</vt:lpstr>
      <vt:lpstr>PI Cluster core distribution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Computing Update</dc:title>
  <dc:creator>Dureid El Moghraby</dc:creator>
  <cp:lastModifiedBy>Dureid El Moghraby</cp:lastModifiedBy>
  <cp:revision>3</cp:revision>
  <dcterms:created xsi:type="dcterms:W3CDTF">2020-11-15T07:17:18Z</dcterms:created>
  <dcterms:modified xsi:type="dcterms:W3CDTF">2020-11-15T10:28:40Z</dcterms:modified>
</cp:coreProperties>
</file>