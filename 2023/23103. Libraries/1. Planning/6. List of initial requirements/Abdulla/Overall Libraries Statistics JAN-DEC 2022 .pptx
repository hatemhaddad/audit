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1.xml" ContentType="application/vnd.openxmlformats-officedocument.drawingml.chartshapes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275" r:id="rId3"/>
    <p:sldId id="261" r:id="rId4"/>
    <p:sldId id="281" r:id="rId5"/>
    <p:sldId id="273" r:id="rId6"/>
    <p:sldId id="276" r:id="rId7"/>
    <p:sldId id="277" r:id="rId8"/>
    <p:sldId id="280" r:id="rId9"/>
    <p:sldId id="278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Headcounts\KU%20Libraries%20-%20Headcount%202022%20-updat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bdulla\Desktop\Statistics%20for%20Dr.%20Abdulla%202022%20-%20updated%2023-JAN-2023\Document%20Delivery\ILL%202022%20-%20Graphs%20-updated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bdulla\Desktop\Public%20Services\Statistical%20Reports\Statistics%20for%20Dr.%20Abdulla\2022\Document%20Delivery\ILL%20202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bdulla\Desktop\Statistics%20for%20Dr.%20Abdulla%202022%20-%20updated%2023-JAN-2023\Document%20Delivery\ILL%202022%20-%20Graphs%20-updated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shops%20&amp;%20events\IL%20&amp;%20Workshops%202022%20-%20update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Open%20Access\Open%20Access%202022%20updated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abdulla\Desktop\Statistics%20for%20Dr.%20Abdulla%202022%20-%20updated%2023-JAN-2023\Holdings\Library%20Holdings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bdulla\Desktop\Public%20Services\Statistical%20Reports\Statistics%20for%20Dr.%20Abdulla\2022\Open%20Access\Open%20Access%202022.xlsx" TargetMode="Externa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1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Medical%20Stats\Mecial%20Library%20Statistics%202022%20-%20updated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'Headcount 2022'!$K$4</c:f>
              <c:strCache>
                <c:ptCount val="1"/>
                <c:pt idx="0">
                  <c:v>Main Library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'Headcount 2022'!$J$5:$J$16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'Headcount 2022'!$K$5:$K$16</c:f>
              <c:numCache>
                <c:formatCode>General</c:formatCode>
                <c:ptCount val="12"/>
                <c:pt idx="0">
                  <c:v>2546</c:v>
                </c:pt>
                <c:pt idx="1">
                  <c:v>10456</c:v>
                </c:pt>
                <c:pt idx="2">
                  <c:v>11741</c:v>
                </c:pt>
                <c:pt idx="3">
                  <c:v>6713</c:v>
                </c:pt>
                <c:pt idx="4">
                  <c:v>6148</c:v>
                </c:pt>
                <c:pt idx="5">
                  <c:v>5044</c:v>
                </c:pt>
                <c:pt idx="6">
                  <c:v>3116</c:v>
                </c:pt>
                <c:pt idx="7">
                  <c:v>3953</c:v>
                </c:pt>
                <c:pt idx="8">
                  <c:v>11003</c:v>
                </c:pt>
                <c:pt idx="9">
                  <c:v>13706</c:v>
                </c:pt>
                <c:pt idx="10">
                  <c:v>14510</c:v>
                </c:pt>
                <c:pt idx="11">
                  <c:v>6588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62-4B77-98DC-8A11D54168AB}"/>
            </c:ext>
          </c:extLst>
        </c:ser>
        <c:ser>
          <c:idx val="1"/>
          <c:order val="1"/>
          <c:tx>
            <c:strRef>
              <c:f>'Headcount 2022'!$L$4</c:f>
              <c:strCache>
                <c:ptCount val="1"/>
                <c:pt idx="0">
                  <c:v>SAN Library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dLbl>
              <c:idx val="0"/>
              <c:layout>
                <c:manualLayout>
                  <c:x val="9.679353960570217E-3"/>
                  <c:y val="-4.57190334996334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872842214264047E-2"/>
                      <c:h val="4.592476915038016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F17D-4572-B9E1-579D2337B3A6}"/>
                </c:ext>
              </c:extLst>
            </c:dLbl>
            <c:dLbl>
              <c:idx val="1"/>
              <c:layout>
                <c:manualLayout>
                  <c:x val="1.2905748825166123E-2"/>
                  <c:y val="-1.14297583749079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7D-4572-B9E1-579D2337B3A6}"/>
                </c:ext>
              </c:extLst>
            </c:dLbl>
            <c:dLbl>
              <c:idx val="2"/>
              <c:layout>
                <c:manualLayout>
                  <c:x val="1.3981227893929988E-2"/>
                  <c:y val="-6.857855024944856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17D-4572-B9E1-579D2337B3A6}"/>
                </c:ext>
              </c:extLst>
            </c:dLbl>
            <c:dLbl>
              <c:idx val="3"/>
              <c:layout>
                <c:manualLayout>
                  <c:x val="1.3981227893929948E-2"/>
                  <c:y val="-4.57190334996318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7D-4572-B9E1-579D2337B3A6}"/>
                </c:ext>
              </c:extLst>
            </c:dLbl>
            <c:dLbl>
              <c:idx val="4"/>
              <c:layout>
                <c:manualLayout>
                  <c:x val="2.0434144648208682E-2"/>
                  <c:y val="-1.25726442143013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5578802934211758E-2"/>
                      <c:h val="3.6780962450453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17D-4572-B9E1-579D2337B3A6}"/>
                </c:ext>
              </c:extLst>
            </c:dLbl>
            <c:dLbl>
              <c:idx val="5"/>
              <c:layout>
                <c:manualLayout>
                  <c:x val="1.2905748825166142E-2"/>
                  <c:y val="-6.857855024944772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4401195695610969E-2"/>
                      <c:h val="4.592476915038016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17D-4572-B9E1-579D2337B3A6}"/>
                </c:ext>
              </c:extLst>
            </c:dLbl>
            <c:dLbl>
              <c:idx val="6"/>
              <c:layout>
                <c:manualLayout>
                  <c:x val="1.0754833029334073E-2"/>
                  <c:y val="-1.828752340175528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797363145500201E-2"/>
                      <c:h val="3.90669141254353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F17D-4572-B9E1-579D2337B3A6}"/>
                </c:ext>
              </c:extLst>
            </c:dLbl>
            <c:dLbl>
              <c:idx val="7"/>
              <c:layout>
                <c:manualLayout>
                  <c:x val="1.398127023562553E-2"/>
                  <c:y val="-4.57190334996326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3325716626847116E-2"/>
                      <c:h val="4.592476915038016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F17D-4572-B9E1-579D2337B3A6}"/>
                </c:ext>
              </c:extLst>
            </c:dLbl>
            <c:dLbl>
              <c:idx val="8"/>
              <c:layout>
                <c:manualLayout>
                  <c:x val="1.7207665100221523E-2"/>
                  <c:y val="-1.60016617248712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17D-4572-B9E1-579D2337B3A6}"/>
                </c:ext>
              </c:extLst>
            </c:dLbl>
            <c:dLbl>
              <c:idx val="9"/>
              <c:layout>
                <c:manualLayout>
                  <c:x val="1.3981227893929988E-2"/>
                  <c:y val="-1.371571004988954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772976107173945E-2"/>
                      <c:h val="5.0496672500343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F17D-4572-B9E1-579D2337B3A6}"/>
                </c:ext>
              </c:extLst>
            </c:dLbl>
            <c:dLbl>
              <c:idx val="10"/>
              <c:layout>
                <c:manualLayout>
                  <c:x val="1.3981227893929988E-2"/>
                  <c:y val="-1.60016617248712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17D-4572-B9E1-579D2337B3A6}"/>
                </c:ext>
              </c:extLst>
            </c:dLbl>
            <c:dLbl>
              <c:idx val="11"/>
              <c:layout>
                <c:manualLayout>
                  <c:x val="1.7207665100221523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17D-4572-B9E1-579D2337B3A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'Headcount 2022'!$J$5:$J$16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'Headcount 2022'!$L$5:$L$16</c:f>
              <c:numCache>
                <c:formatCode>General</c:formatCode>
                <c:ptCount val="12"/>
                <c:pt idx="0">
                  <c:v>832</c:v>
                </c:pt>
                <c:pt idx="1">
                  <c:v>4817</c:v>
                </c:pt>
                <c:pt idx="2">
                  <c:v>4775</c:v>
                </c:pt>
                <c:pt idx="3">
                  <c:v>2545</c:v>
                </c:pt>
                <c:pt idx="4">
                  <c:v>1606</c:v>
                </c:pt>
                <c:pt idx="5">
                  <c:v>906</c:v>
                </c:pt>
                <c:pt idx="6">
                  <c:v>413</c:v>
                </c:pt>
                <c:pt idx="7">
                  <c:v>633</c:v>
                </c:pt>
                <c:pt idx="8">
                  <c:v>3216</c:v>
                </c:pt>
                <c:pt idx="9">
                  <c:v>4801</c:v>
                </c:pt>
                <c:pt idx="10">
                  <c:v>4655</c:v>
                </c:pt>
                <c:pt idx="11">
                  <c:v>1921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62-4B77-98DC-8A11D54168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979916751"/>
        <c:axId val="1979919663"/>
        <c:axId val="0"/>
      </c:bar3DChart>
      <c:catAx>
        <c:axId val="1979916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9919663"/>
        <c:crosses val="autoZero"/>
        <c:auto val="1"/>
        <c:lblAlgn val="ctr"/>
        <c:lblOffset val="100"/>
        <c:noMultiLvlLbl val="0"/>
      </c:catAx>
      <c:valAx>
        <c:axId val="1979919663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9799167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1663381288957128E-2"/>
          <c:y val="4.6296296296296294E-2"/>
          <c:w val="0.95833661871104281"/>
          <c:h val="0.69998869932925056"/>
        </c:manualLayout>
      </c:layout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8726-45F6-B180-320BD8F1113D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3-8726-45F6-B180-320BD8F1113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Graphs!$E$14:$P$14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Graphs!$E$15:$P$15</c:f>
              <c:numCache>
                <c:formatCode>General</c:formatCode>
                <c:ptCount val="12"/>
                <c:pt idx="0">
                  <c:v>128</c:v>
                </c:pt>
                <c:pt idx="1">
                  <c:v>221</c:v>
                </c:pt>
                <c:pt idx="2">
                  <c:v>261</c:v>
                </c:pt>
                <c:pt idx="3">
                  <c:v>167</c:v>
                </c:pt>
                <c:pt idx="4">
                  <c:v>107</c:v>
                </c:pt>
                <c:pt idx="5">
                  <c:v>154</c:v>
                </c:pt>
                <c:pt idx="6">
                  <c:v>107</c:v>
                </c:pt>
                <c:pt idx="7">
                  <c:v>122</c:v>
                </c:pt>
                <c:pt idx="8">
                  <c:v>157</c:v>
                </c:pt>
                <c:pt idx="9">
                  <c:v>192</c:v>
                </c:pt>
                <c:pt idx="10">
                  <c:v>163</c:v>
                </c:pt>
                <c:pt idx="11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26-45F6-B180-320BD8F1113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012714959"/>
        <c:axId val="885996623"/>
      </c:barChart>
      <c:catAx>
        <c:axId val="2012714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5996623"/>
        <c:crosses val="autoZero"/>
        <c:auto val="1"/>
        <c:lblAlgn val="ctr"/>
        <c:lblOffset val="100"/>
        <c:noMultiLvlLbl val="0"/>
      </c:catAx>
      <c:valAx>
        <c:axId val="88599662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1271495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075910147172734"/>
          <c:y val="6.1026352288488211E-2"/>
          <c:w val="0.49031758326878389"/>
          <c:h val="0.87794729542302363"/>
        </c:manualLayout>
      </c:layout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/>
            </a:sp3d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D7F4-4F25-A827-0C9A55629373}"/>
              </c:ext>
            </c:extLst>
          </c:dPt>
          <c:dPt>
            <c:idx val="1"/>
            <c:bubble3D val="0"/>
            <c:spPr>
              <a:solidFill>
                <a:srgbClr val="00B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3-D7F4-4F25-A827-0C9A55629373}"/>
              </c:ext>
            </c:extLst>
          </c:dPt>
          <c:dLbls>
            <c:dLbl>
              <c:idx val="0"/>
              <c:layout>
                <c:manualLayout>
                  <c:x val="-0.20711482939632547"/>
                  <c:y val="-0.18770268299795867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7F4-4F25-A827-0C9A55629373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Graphs!$F$20:$F$21</c:f>
              <c:strCache>
                <c:ptCount val="2"/>
                <c:pt idx="0">
                  <c:v>Spring</c:v>
                </c:pt>
                <c:pt idx="1">
                  <c:v>Fall</c:v>
                </c:pt>
              </c:strCache>
            </c:strRef>
          </c:cat>
          <c:val>
            <c:numRef>
              <c:f>Graphs!$G$20:$G$21</c:f>
              <c:numCache>
                <c:formatCode>General</c:formatCode>
                <c:ptCount val="2"/>
                <c:pt idx="0">
                  <c:v>1255</c:v>
                </c:pt>
                <c:pt idx="1">
                  <c:v>609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7F4-4F25-A827-0C9A55629373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Sheet1!$E$2</c:f>
              <c:strCache>
                <c:ptCount val="1"/>
                <c:pt idx="0">
                  <c:v>Information Literacy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B229-413E-A844-398B7272B47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3-B229-413E-A844-398B7272B47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mtClean="0"/>
                      <a:t>33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229-413E-A844-398B7272B47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 smtClean="0"/>
                      <a:t>58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229-413E-A844-398B7272B47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Sheet1!$D$3:$D$4</c:f>
              <c:strCache>
                <c:ptCount val="2"/>
                <c:pt idx="0">
                  <c:v>Spring</c:v>
                </c:pt>
                <c:pt idx="1">
                  <c:v>Fall</c:v>
                </c:pt>
              </c:strCache>
            </c:strRef>
          </c:cat>
          <c:val>
            <c:numRef>
              <c:f>Sheet1!$E$3:$E$4</c:f>
              <c:numCache>
                <c:formatCode>General</c:formatCode>
                <c:ptCount val="2"/>
                <c:pt idx="0">
                  <c:v>34</c:v>
                </c:pt>
                <c:pt idx="1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229-413E-A844-398B7272B476}"/>
            </c:ext>
          </c:extLst>
        </c:ser>
        <c:ser>
          <c:idx val="1"/>
          <c:order val="1"/>
          <c:tx>
            <c:strRef>
              <c:f>Sheet1!$F$2</c:f>
              <c:strCache>
                <c:ptCount val="1"/>
                <c:pt idx="0">
                  <c:v>Workshops/Events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mtClean="0"/>
                      <a:t>37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7D2-4F34-83CB-2B5AC13CFD4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mtClean="0"/>
                      <a:t>27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7D2-4F34-83CB-2B5AC13CFD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Sheet1!$D$3:$D$4</c:f>
              <c:strCache>
                <c:ptCount val="2"/>
                <c:pt idx="0">
                  <c:v>Spring</c:v>
                </c:pt>
                <c:pt idx="1">
                  <c:v>Fall</c:v>
                </c:pt>
              </c:strCache>
            </c:strRef>
          </c:cat>
          <c:val>
            <c:numRef>
              <c:f>Sheet1!$F$3:$F$4</c:f>
              <c:numCache>
                <c:formatCode>General</c:formatCode>
                <c:ptCount val="2"/>
                <c:pt idx="0">
                  <c:v>40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229-413E-A844-398B7272B4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50351343"/>
        <c:axId val="50354671"/>
      </c:barChart>
      <c:catAx>
        <c:axId val="5035134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cap="none" spc="0" normalizeH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354671"/>
        <c:crosses val="autoZero"/>
        <c:auto val="1"/>
        <c:lblAlgn val="ctr"/>
        <c:lblOffset val="100"/>
        <c:noMultiLvlLbl val="0"/>
      </c:catAx>
      <c:valAx>
        <c:axId val="50354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0351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OA!$B$11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OA!$C$10:$G$10</c:f>
              <c:strCache>
                <c:ptCount val="5"/>
                <c:pt idx="0">
                  <c:v>ACS</c:v>
                </c:pt>
                <c:pt idx="1">
                  <c:v>IEEE</c:v>
                </c:pt>
                <c:pt idx="2">
                  <c:v>Wiley</c:v>
                </c:pt>
                <c:pt idx="3">
                  <c:v>Plos</c:v>
                </c:pt>
                <c:pt idx="4">
                  <c:v>Total</c:v>
                </c:pt>
              </c:strCache>
            </c:strRef>
          </c:cat>
          <c:val>
            <c:numRef>
              <c:f>OA!$C$11:$G$11</c:f>
              <c:numCache>
                <c:formatCode>General</c:formatCode>
                <c:ptCount val="5"/>
                <c:pt idx="0">
                  <c:v>9</c:v>
                </c:pt>
                <c:pt idx="1">
                  <c:v>38</c:v>
                </c:pt>
                <c:pt idx="2">
                  <c:v>9</c:v>
                </c:pt>
                <c:pt idx="4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4D-4A73-AE55-94AE2754EAD8}"/>
            </c:ext>
          </c:extLst>
        </c:ser>
        <c:ser>
          <c:idx val="1"/>
          <c:order val="1"/>
          <c:tx>
            <c:strRef>
              <c:f>OA!$B$12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bg1">
                <a:lumMod val="75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OA!$C$10:$G$10</c:f>
              <c:strCache>
                <c:ptCount val="5"/>
                <c:pt idx="0">
                  <c:v>ACS</c:v>
                </c:pt>
                <c:pt idx="1">
                  <c:v>IEEE</c:v>
                </c:pt>
                <c:pt idx="2">
                  <c:v>Wiley</c:v>
                </c:pt>
                <c:pt idx="3">
                  <c:v>Plos</c:v>
                </c:pt>
                <c:pt idx="4">
                  <c:v>Total</c:v>
                </c:pt>
              </c:strCache>
            </c:strRef>
          </c:cat>
          <c:val>
            <c:numRef>
              <c:f>OA!$C$12:$G$12</c:f>
              <c:numCache>
                <c:formatCode>General</c:formatCode>
                <c:ptCount val="5"/>
                <c:pt idx="0">
                  <c:v>26</c:v>
                </c:pt>
                <c:pt idx="1">
                  <c:v>59</c:v>
                </c:pt>
                <c:pt idx="2">
                  <c:v>20</c:v>
                </c:pt>
                <c:pt idx="4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4D-4A73-AE55-94AE2754EAD8}"/>
            </c:ext>
          </c:extLst>
        </c:ser>
        <c:ser>
          <c:idx val="2"/>
          <c:order val="2"/>
          <c:tx>
            <c:strRef>
              <c:f>OA!$B$13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00B050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OA!$C$10:$G$10</c:f>
              <c:strCache>
                <c:ptCount val="5"/>
                <c:pt idx="0">
                  <c:v>ACS</c:v>
                </c:pt>
                <c:pt idx="1">
                  <c:v>IEEE</c:v>
                </c:pt>
                <c:pt idx="2">
                  <c:v>Wiley</c:v>
                </c:pt>
                <c:pt idx="3">
                  <c:v>Plos</c:v>
                </c:pt>
                <c:pt idx="4">
                  <c:v>Total</c:v>
                </c:pt>
              </c:strCache>
            </c:strRef>
          </c:cat>
          <c:val>
            <c:numRef>
              <c:f>OA!$C$13:$G$13</c:f>
              <c:numCache>
                <c:formatCode>General</c:formatCode>
                <c:ptCount val="5"/>
                <c:pt idx="0">
                  <c:v>32</c:v>
                </c:pt>
                <c:pt idx="1">
                  <c:v>72</c:v>
                </c:pt>
                <c:pt idx="2">
                  <c:v>17</c:v>
                </c:pt>
                <c:pt idx="3">
                  <c:v>1</c:v>
                </c:pt>
                <c:pt idx="4">
                  <c:v>122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4D-4A73-AE55-94AE2754EAD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47795071"/>
        <c:axId val="993574063"/>
      </c:barChart>
      <c:catAx>
        <c:axId val="447795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3574063"/>
        <c:crosses val="autoZero"/>
        <c:auto val="1"/>
        <c:lblAlgn val="ctr"/>
        <c:lblOffset val="100"/>
        <c:noMultiLvlLbl val="0"/>
      </c:catAx>
      <c:valAx>
        <c:axId val="99357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47795071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dk1">
                <a:lumMod val="35000"/>
                <a:lumOff val="6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/>
            </a:sp3d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9736-4F3D-AF9E-F52B58367713}"/>
              </c:ext>
            </c:extLst>
          </c:dPt>
          <c:dPt>
            <c:idx val="1"/>
            <c:bubble3D val="0"/>
            <c:spPr>
              <a:solidFill>
                <a:srgbClr val="00B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3-9736-4F3D-AF9E-F52B5836771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5-9736-4F3D-AF9E-F52B58367713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7-9736-4F3D-AF9E-F52B58367713}"/>
              </c:ext>
            </c:extLst>
          </c:dPt>
          <c:dLbls>
            <c:dLbl>
              <c:idx val="0"/>
              <c:layout/>
              <c:tx>
                <c:rich>
                  <a:bodyPr/>
                  <a:lstStyle/>
                  <a:p>
                    <a:fld id="{9578C2DA-1215-445F-B7D6-928F97FA2CC3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 </a:t>
                    </a:r>
                  </a:p>
                  <a:p>
                    <a:fld id="{CF26C77A-373A-43BF-BDAA-BEF04F8C491C}" type="VALUE">
                      <a:rPr lang="en-US" baseline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736-4F3D-AF9E-F52B58367713}"/>
                </c:ext>
              </c:extLst>
            </c:dLbl>
            <c:dLbl>
              <c:idx val="1"/>
              <c:layout>
                <c:manualLayout>
                  <c:x val="1.7625984648503741E-3"/>
                  <c:y val="-0.29833577943706824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400" b="1" i="0" u="none" strike="noStrike" kern="120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2449C57-AFCF-43E1-A389-08328908101D}" type="CATEGORYNAME">
                      <a:rPr lang="en-US" sz="1400"/>
                      <a:pPr>
                        <a:defRPr sz="14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[CATEGORY NAME]</a:t>
                    </a:fld>
                    <a:r>
                      <a:rPr lang="en-US" sz="1400" baseline="0"/>
                      <a:t> </a:t>
                    </a:r>
                  </a:p>
                  <a:p>
                    <a:pPr>
                      <a:defRPr sz="1400" b="1" i="0" u="none" strike="noStrike" kern="120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A5705A7-DB59-4241-8CC1-B218FABFBD5D}" type="VALUE">
                      <a:rPr lang="en-US" sz="1400" baseline="0"/>
                      <a:pPr>
                        <a:defRPr sz="14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[VALUE]</a:t>
                    </a:fld>
                    <a:endParaRPr lang="en-US"/>
                  </a:p>
                </c:rich>
              </c:tx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11971143126459916"/>
                      <c:h val="0.11520164795782127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736-4F3D-AF9E-F52B58367713}"/>
                </c:ext>
              </c:extLst>
            </c:dLbl>
            <c:dLbl>
              <c:idx val="2"/>
              <c:layout>
                <c:manualLayout>
                  <c:x val="-2.5663161432242104E-2"/>
                  <c:y val="4.1536246840309914E-3"/>
                </c:manualLayout>
              </c:layout>
              <c:tx>
                <c:rich>
                  <a:bodyPr/>
                  <a:lstStyle/>
                  <a:p>
                    <a:fld id="{02610A31-FED2-4BB9-AF30-D48C94DC8BC8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 </a:t>
                    </a:r>
                  </a:p>
                  <a:p>
                    <a:fld id="{32C96518-F375-4DED-9F39-8E080A4EB2FF}" type="VALUE">
                      <a:rPr lang="en-US" baseline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9736-4F3D-AF9E-F52B58367713}"/>
                </c:ext>
              </c:extLst>
            </c:dLbl>
            <c:dLbl>
              <c:idx val="3"/>
              <c:layout>
                <c:manualLayout>
                  <c:x val="2.9368763315382761E-2"/>
                  <c:y val="0.1377696151753465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400" b="1" i="0" u="none" strike="noStrike" kern="120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172AF10-4F91-441B-BB53-7F07E6317D19}" type="CATEGORYNAME">
                      <a:rPr lang="en-US"/>
                      <a:pPr>
                        <a:defRPr sz="14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[CATEGORY NAME]</a:t>
                    </a:fld>
                    <a:r>
                      <a:rPr lang="en-US" baseline="0"/>
                      <a:t> </a:t>
                    </a:r>
                  </a:p>
                  <a:p>
                    <a:pPr>
                      <a:defRPr sz="1400" b="1" i="0" u="none" strike="noStrike" kern="120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9C66EF9-5ED2-49DE-8CDC-3C5466EE44BA}" type="VALUE">
                      <a:rPr lang="en-US" baseline="0"/>
                      <a:pPr>
                        <a:defRPr sz="14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[VALUE]</a:t>
                    </a:fld>
                    <a:endParaRPr lang="en-US"/>
                  </a:p>
                </c:rich>
              </c:tx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247130781712729"/>
                      <c:h val="0.1013050348243523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9736-4F3D-AF9E-F52B58367713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Sheet1!$E$4:$E$7</c:f>
              <c:strCache>
                <c:ptCount val="4"/>
                <c:pt idx="0">
                  <c:v>Print Books</c:v>
                </c:pt>
                <c:pt idx="1">
                  <c:v>E-books</c:v>
                </c:pt>
                <c:pt idx="2">
                  <c:v>E-databases</c:v>
                </c:pt>
                <c:pt idx="3">
                  <c:v>E-Journals</c:v>
                </c:pt>
              </c:strCache>
            </c:strRef>
          </c:cat>
          <c:val>
            <c:numRef>
              <c:f>Sheet1!$F$4:$F$7</c:f>
              <c:numCache>
                <c:formatCode>#,##0</c:formatCode>
                <c:ptCount val="4"/>
                <c:pt idx="0">
                  <c:v>90000</c:v>
                </c:pt>
                <c:pt idx="1">
                  <c:v>651521</c:v>
                </c:pt>
                <c:pt idx="2" formatCode="General">
                  <c:v>79</c:v>
                </c:pt>
                <c:pt idx="3">
                  <c:v>59192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736-4F3D-AF9E-F52B5836771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4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2-98CE-4C71-BEB4-6A1F4CC58778}"/>
              </c:ext>
            </c:extLst>
          </c:dPt>
          <c:dPt>
            <c:idx val="1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11EA-4C33-B002-8F17EB514028}"/>
              </c:ext>
            </c:extLst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lang="en-US" smtClean="0"/>
                      <a:t>13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1EA-4C33-B002-8F17EB5140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'Trial Databases'!$E$4:$F$4</c:f>
              <c:strCache>
                <c:ptCount val="2"/>
                <c:pt idx="0">
                  <c:v>News E-Resources</c:v>
                </c:pt>
                <c:pt idx="1">
                  <c:v>Trials</c:v>
                </c:pt>
              </c:strCache>
            </c:strRef>
          </c:cat>
          <c:val>
            <c:numRef>
              <c:f>'Trial Databases'!$E$5:$F$5</c:f>
              <c:numCache>
                <c:formatCode>General</c:formatCode>
                <c:ptCount val="2"/>
                <c:pt idx="0">
                  <c:v>4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1EA-4C33-B002-8F17EB51402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445940143"/>
        <c:axId val="445940975"/>
      </c:barChart>
      <c:catAx>
        <c:axId val="445940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ysClr val="windowText" lastClr="000000"/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5940975"/>
        <c:crosses val="autoZero"/>
        <c:auto val="1"/>
        <c:lblAlgn val="ctr"/>
        <c:lblOffset val="100"/>
        <c:noMultiLvlLbl val="0"/>
      </c:catAx>
      <c:valAx>
        <c:axId val="44594097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459401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/>
            </a:sp3d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C8BB-489A-86DE-2C7203EE9C0F}"/>
              </c:ext>
            </c:extLst>
          </c:dPt>
          <c:dPt>
            <c:idx val="1"/>
            <c:bubble3D val="0"/>
            <c:spPr>
              <a:solidFill>
                <a:srgbClr val="00B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3-C8BB-489A-86DE-2C7203EE9C0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5-C8BB-489A-86DE-2C7203EE9C0F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Sheet1!$C$13:$C$15</c:f>
              <c:strCache>
                <c:ptCount val="3"/>
                <c:pt idx="0">
                  <c:v>Spring</c:v>
                </c:pt>
                <c:pt idx="1">
                  <c:v>Summer</c:v>
                </c:pt>
                <c:pt idx="2">
                  <c:v>Fall</c:v>
                </c:pt>
              </c:strCache>
            </c:strRef>
          </c:cat>
          <c:val>
            <c:numRef>
              <c:f>Sheet1!$D$13:$D$15</c:f>
              <c:numCache>
                <c:formatCode>General</c:formatCode>
                <c:ptCount val="3"/>
                <c:pt idx="0">
                  <c:v>64</c:v>
                </c:pt>
                <c:pt idx="1">
                  <c:v>35</c:v>
                </c:pt>
                <c:pt idx="2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8BB-489A-86DE-2C7203EE9C0F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C334C8-DFB0-4EAE-9274-D37CBAA75010}" type="doc">
      <dgm:prSet loTypeId="urn:microsoft.com/office/officeart/2005/8/layout/vList2" loCatId="list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EF73616-3269-4C72-8CBE-612853CCE86E}">
      <dgm:prSet/>
      <dgm:spPr/>
      <dgm:t>
        <a:bodyPr/>
        <a:lstStyle/>
        <a:p>
          <a:pPr algn="ctr" rtl="0"/>
          <a:r>
            <a:rPr lang="en-US" dirty="0" smtClean="0"/>
            <a:t>Articles (1513)</a:t>
          </a:r>
          <a:endParaRPr lang="en-US" dirty="0"/>
        </a:p>
      </dgm:t>
    </dgm:pt>
    <dgm:pt modelId="{2DEFCAF7-D6C8-4A57-85AA-DF027DDBFF02}" type="parTrans" cxnId="{34C32492-9D3E-4709-8437-6B3BC6A8C3B3}">
      <dgm:prSet/>
      <dgm:spPr/>
      <dgm:t>
        <a:bodyPr/>
        <a:lstStyle/>
        <a:p>
          <a:pPr algn="ctr"/>
          <a:endParaRPr lang="en-US"/>
        </a:p>
      </dgm:t>
    </dgm:pt>
    <dgm:pt modelId="{08E3E756-8F33-4DC0-A680-DE85F3B2F408}" type="sibTrans" cxnId="{34C32492-9D3E-4709-8437-6B3BC6A8C3B3}">
      <dgm:prSet/>
      <dgm:spPr/>
      <dgm:t>
        <a:bodyPr/>
        <a:lstStyle/>
        <a:p>
          <a:pPr algn="ctr"/>
          <a:endParaRPr lang="en-US"/>
        </a:p>
      </dgm:t>
    </dgm:pt>
    <dgm:pt modelId="{04542D50-AF90-4963-AC12-C08261158E9C}">
      <dgm:prSet/>
      <dgm:spPr/>
      <dgm:t>
        <a:bodyPr/>
        <a:lstStyle/>
        <a:p>
          <a:pPr algn="ctr" rtl="0"/>
          <a:r>
            <a:rPr lang="en-US" dirty="0" smtClean="0"/>
            <a:t>Book Chapters (228)</a:t>
          </a:r>
          <a:endParaRPr lang="en-US" dirty="0"/>
        </a:p>
      </dgm:t>
    </dgm:pt>
    <dgm:pt modelId="{FBECD337-FD12-4A28-91B5-99B9AC35AF03}" type="parTrans" cxnId="{117E1ED4-ED7D-489A-AF6C-E657FC544578}">
      <dgm:prSet/>
      <dgm:spPr/>
      <dgm:t>
        <a:bodyPr/>
        <a:lstStyle/>
        <a:p>
          <a:pPr algn="ctr"/>
          <a:endParaRPr lang="en-US"/>
        </a:p>
      </dgm:t>
    </dgm:pt>
    <dgm:pt modelId="{ECD24D87-2817-4F5B-B1AC-7879C7FCE2BD}" type="sibTrans" cxnId="{117E1ED4-ED7D-489A-AF6C-E657FC544578}">
      <dgm:prSet/>
      <dgm:spPr/>
      <dgm:t>
        <a:bodyPr/>
        <a:lstStyle/>
        <a:p>
          <a:pPr algn="ctr"/>
          <a:endParaRPr lang="en-US"/>
        </a:p>
      </dgm:t>
    </dgm:pt>
    <dgm:pt modelId="{E30D5684-D97E-43E9-897B-5497E543DF91}">
      <dgm:prSet/>
      <dgm:spPr/>
      <dgm:t>
        <a:bodyPr/>
        <a:lstStyle/>
        <a:p>
          <a:pPr algn="ctr" rtl="0"/>
          <a:r>
            <a:rPr lang="en-US" dirty="0" err="1" smtClean="0"/>
            <a:t>Ebooks</a:t>
          </a:r>
          <a:r>
            <a:rPr lang="en-US" dirty="0" smtClean="0"/>
            <a:t> (47)</a:t>
          </a:r>
          <a:endParaRPr lang="en-US" dirty="0"/>
        </a:p>
      </dgm:t>
    </dgm:pt>
    <dgm:pt modelId="{0BCEA176-7ADD-44C1-93F9-8820B1BAFF3C}" type="parTrans" cxnId="{24683045-42AE-4DD8-B13B-820D70DBB3CD}">
      <dgm:prSet/>
      <dgm:spPr/>
      <dgm:t>
        <a:bodyPr/>
        <a:lstStyle/>
        <a:p>
          <a:pPr algn="ctr"/>
          <a:endParaRPr lang="en-US"/>
        </a:p>
      </dgm:t>
    </dgm:pt>
    <dgm:pt modelId="{3EB977D9-FE41-483A-B3C7-A1717D3C58BF}" type="sibTrans" cxnId="{24683045-42AE-4DD8-B13B-820D70DBB3CD}">
      <dgm:prSet/>
      <dgm:spPr/>
      <dgm:t>
        <a:bodyPr/>
        <a:lstStyle/>
        <a:p>
          <a:pPr algn="ctr"/>
          <a:endParaRPr lang="en-US"/>
        </a:p>
      </dgm:t>
    </dgm:pt>
    <dgm:pt modelId="{FBE4042F-9599-4AAE-A236-CC57CF4A46B0}">
      <dgm:prSet/>
      <dgm:spPr/>
      <dgm:t>
        <a:bodyPr/>
        <a:lstStyle/>
        <a:p>
          <a:pPr algn="ctr" rtl="0"/>
          <a:r>
            <a:rPr lang="en-US" dirty="0" smtClean="0"/>
            <a:t>Standards (32)</a:t>
          </a:r>
          <a:endParaRPr lang="en-US" dirty="0"/>
        </a:p>
      </dgm:t>
    </dgm:pt>
    <dgm:pt modelId="{89C419AB-E4EA-48F8-807D-726FB1F794CC}" type="parTrans" cxnId="{E49BA42E-4DA1-4E38-A946-844B1A774914}">
      <dgm:prSet/>
      <dgm:spPr/>
      <dgm:t>
        <a:bodyPr/>
        <a:lstStyle/>
        <a:p>
          <a:pPr algn="ctr"/>
          <a:endParaRPr lang="en-US"/>
        </a:p>
      </dgm:t>
    </dgm:pt>
    <dgm:pt modelId="{EBEE7977-A503-4F32-9A3B-55C9BF7B2BA2}" type="sibTrans" cxnId="{E49BA42E-4DA1-4E38-A946-844B1A774914}">
      <dgm:prSet/>
      <dgm:spPr/>
      <dgm:t>
        <a:bodyPr/>
        <a:lstStyle/>
        <a:p>
          <a:pPr algn="ctr"/>
          <a:endParaRPr lang="en-US"/>
        </a:p>
      </dgm:t>
    </dgm:pt>
    <dgm:pt modelId="{12C971F1-9D8F-43BF-97D7-402BA2C11401}">
      <dgm:prSet/>
      <dgm:spPr/>
      <dgm:t>
        <a:bodyPr/>
        <a:lstStyle/>
        <a:p>
          <a:pPr algn="ctr" rtl="0"/>
          <a:r>
            <a:rPr lang="en-US" dirty="0" smtClean="0"/>
            <a:t>Theses (6)</a:t>
          </a:r>
          <a:endParaRPr lang="en-US" dirty="0"/>
        </a:p>
      </dgm:t>
    </dgm:pt>
    <dgm:pt modelId="{A5BCA51B-8D8A-418C-82DC-BBB0419F0DFD}" type="parTrans" cxnId="{946BFB6D-422B-499F-909E-07BF24C05D82}">
      <dgm:prSet/>
      <dgm:spPr/>
      <dgm:t>
        <a:bodyPr/>
        <a:lstStyle/>
        <a:p>
          <a:pPr algn="ctr"/>
          <a:endParaRPr lang="en-US"/>
        </a:p>
      </dgm:t>
    </dgm:pt>
    <dgm:pt modelId="{6D978C8D-A81D-41A1-A7ED-194CDB6E9661}" type="sibTrans" cxnId="{946BFB6D-422B-499F-909E-07BF24C05D82}">
      <dgm:prSet/>
      <dgm:spPr/>
      <dgm:t>
        <a:bodyPr/>
        <a:lstStyle/>
        <a:p>
          <a:pPr algn="ctr"/>
          <a:endParaRPr lang="en-US"/>
        </a:p>
      </dgm:t>
    </dgm:pt>
    <dgm:pt modelId="{EC8B0F03-0CFC-487C-AACF-12CDBF8EE86C}">
      <dgm:prSet/>
      <dgm:spPr/>
      <dgm:t>
        <a:bodyPr/>
        <a:lstStyle/>
        <a:p>
          <a:pPr algn="ctr" rtl="0"/>
          <a:r>
            <a:rPr lang="en-US" dirty="0" smtClean="0"/>
            <a:t>Books (38)</a:t>
          </a:r>
          <a:endParaRPr lang="en-US" dirty="0"/>
        </a:p>
      </dgm:t>
    </dgm:pt>
    <dgm:pt modelId="{3E367171-957B-43A7-ACA1-63549286360A}" type="parTrans" cxnId="{1648755E-2CF9-45BA-B839-D112A24AF051}">
      <dgm:prSet/>
      <dgm:spPr/>
      <dgm:t>
        <a:bodyPr/>
        <a:lstStyle/>
        <a:p>
          <a:pPr algn="ctr"/>
          <a:endParaRPr lang="en-US"/>
        </a:p>
      </dgm:t>
    </dgm:pt>
    <dgm:pt modelId="{EB2684E5-64BE-4D74-92B5-F3269F8168E7}" type="sibTrans" cxnId="{1648755E-2CF9-45BA-B839-D112A24AF051}">
      <dgm:prSet/>
      <dgm:spPr/>
      <dgm:t>
        <a:bodyPr/>
        <a:lstStyle/>
        <a:p>
          <a:pPr algn="ctr"/>
          <a:endParaRPr lang="en-US"/>
        </a:p>
      </dgm:t>
    </dgm:pt>
    <dgm:pt modelId="{1D1F45DA-2872-4599-AD67-31CF6B428226}" type="pres">
      <dgm:prSet presAssocID="{01C334C8-DFB0-4EAE-9274-D37CBAA7501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97055F4-0FA6-4434-8A93-D092087D0E91}" type="pres">
      <dgm:prSet presAssocID="{3EF73616-3269-4C72-8CBE-612853CCE86E}" presName="parentText" presStyleLbl="node1" presStyleIdx="0" presStyleCnt="6" custLinFactNeighborX="1475" custLinFactNeighborY="1446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1721EE-0A45-4DD4-80C2-D781BFE75430}" type="pres">
      <dgm:prSet presAssocID="{08E3E756-8F33-4DC0-A680-DE85F3B2F408}" presName="spacer" presStyleCnt="0"/>
      <dgm:spPr/>
      <dgm:t>
        <a:bodyPr/>
        <a:lstStyle/>
        <a:p>
          <a:endParaRPr lang="en-US"/>
        </a:p>
      </dgm:t>
    </dgm:pt>
    <dgm:pt modelId="{39BD1896-8D1E-4BB1-9681-A86AA646B3F8}" type="pres">
      <dgm:prSet presAssocID="{EC8B0F03-0CFC-487C-AACF-12CDBF8EE86C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090E02-E253-4DFD-AFB0-C88E6EAF49BB}" type="pres">
      <dgm:prSet presAssocID="{EB2684E5-64BE-4D74-92B5-F3269F8168E7}" presName="spacer" presStyleCnt="0"/>
      <dgm:spPr/>
      <dgm:t>
        <a:bodyPr/>
        <a:lstStyle/>
        <a:p>
          <a:endParaRPr lang="en-US"/>
        </a:p>
      </dgm:t>
    </dgm:pt>
    <dgm:pt modelId="{F2274ADD-E5AF-4524-AB42-8EE672A69F99}" type="pres">
      <dgm:prSet presAssocID="{04542D50-AF90-4963-AC12-C08261158E9C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458536-79D3-41FB-9147-B44B18734DB3}" type="pres">
      <dgm:prSet presAssocID="{ECD24D87-2817-4F5B-B1AC-7879C7FCE2BD}" presName="spacer" presStyleCnt="0"/>
      <dgm:spPr/>
      <dgm:t>
        <a:bodyPr/>
        <a:lstStyle/>
        <a:p>
          <a:endParaRPr lang="en-US"/>
        </a:p>
      </dgm:t>
    </dgm:pt>
    <dgm:pt modelId="{244C757B-C4F4-442D-B5E8-B2D806B962A6}" type="pres">
      <dgm:prSet presAssocID="{E30D5684-D97E-43E9-897B-5497E543DF91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B663FF-0158-4E79-B1F7-66F73119B0B7}" type="pres">
      <dgm:prSet presAssocID="{3EB977D9-FE41-483A-B3C7-A1717D3C58BF}" presName="spacer" presStyleCnt="0"/>
      <dgm:spPr/>
      <dgm:t>
        <a:bodyPr/>
        <a:lstStyle/>
        <a:p>
          <a:endParaRPr lang="en-US"/>
        </a:p>
      </dgm:t>
    </dgm:pt>
    <dgm:pt modelId="{28A2BC8D-4B37-40D1-87AF-B5AE703CAE00}" type="pres">
      <dgm:prSet presAssocID="{FBE4042F-9599-4AAE-A236-CC57CF4A46B0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55CD77-B33B-41B8-951A-073F87CEF6B0}" type="pres">
      <dgm:prSet presAssocID="{EBEE7977-A503-4F32-9A3B-55C9BF7B2BA2}" presName="spacer" presStyleCnt="0"/>
      <dgm:spPr/>
      <dgm:t>
        <a:bodyPr/>
        <a:lstStyle/>
        <a:p>
          <a:endParaRPr lang="en-US"/>
        </a:p>
      </dgm:t>
    </dgm:pt>
    <dgm:pt modelId="{394EB56F-02E2-4C8E-B482-6642970F2B1B}" type="pres">
      <dgm:prSet presAssocID="{12C971F1-9D8F-43BF-97D7-402BA2C11401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58B9ADE-24E5-41C0-9BF4-6DD7D5326878}" type="presOf" srcId="{E30D5684-D97E-43E9-897B-5497E543DF91}" destId="{244C757B-C4F4-442D-B5E8-B2D806B962A6}" srcOrd="0" destOrd="0" presId="urn:microsoft.com/office/officeart/2005/8/layout/vList2"/>
    <dgm:cxn modelId="{87134169-1CEB-4B81-83B2-07AB15ECE2F4}" type="presOf" srcId="{FBE4042F-9599-4AAE-A236-CC57CF4A46B0}" destId="{28A2BC8D-4B37-40D1-87AF-B5AE703CAE00}" srcOrd="0" destOrd="0" presId="urn:microsoft.com/office/officeart/2005/8/layout/vList2"/>
    <dgm:cxn modelId="{117E1ED4-ED7D-489A-AF6C-E657FC544578}" srcId="{01C334C8-DFB0-4EAE-9274-D37CBAA75010}" destId="{04542D50-AF90-4963-AC12-C08261158E9C}" srcOrd="2" destOrd="0" parTransId="{FBECD337-FD12-4A28-91B5-99B9AC35AF03}" sibTransId="{ECD24D87-2817-4F5B-B1AC-7879C7FCE2BD}"/>
    <dgm:cxn modelId="{34C32492-9D3E-4709-8437-6B3BC6A8C3B3}" srcId="{01C334C8-DFB0-4EAE-9274-D37CBAA75010}" destId="{3EF73616-3269-4C72-8CBE-612853CCE86E}" srcOrd="0" destOrd="0" parTransId="{2DEFCAF7-D6C8-4A57-85AA-DF027DDBFF02}" sibTransId="{08E3E756-8F33-4DC0-A680-DE85F3B2F408}"/>
    <dgm:cxn modelId="{946BFB6D-422B-499F-909E-07BF24C05D82}" srcId="{01C334C8-DFB0-4EAE-9274-D37CBAA75010}" destId="{12C971F1-9D8F-43BF-97D7-402BA2C11401}" srcOrd="5" destOrd="0" parTransId="{A5BCA51B-8D8A-418C-82DC-BBB0419F0DFD}" sibTransId="{6D978C8D-A81D-41A1-A7ED-194CDB6E9661}"/>
    <dgm:cxn modelId="{1648755E-2CF9-45BA-B839-D112A24AF051}" srcId="{01C334C8-DFB0-4EAE-9274-D37CBAA75010}" destId="{EC8B0F03-0CFC-487C-AACF-12CDBF8EE86C}" srcOrd="1" destOrd="0" parTransId="{3E367171-957B-43A7-ACA1-63549286360A}" sibTransId="{EB2684E5-64BE-4D74-92B5-F3269F8168E7}"/>
    <dgm:cxn modelId="{24683045-42AE-4DD8-B13B-820D70DBB3CD}" srcId="{01C334C8-DFB0-4EAE-9274-D37CBAA75010}" destId="{E30D5684-D97E-43E9-897B-5497E543DF91}" srcOrd="3" destOrd="0" parTransId="{0BCEA176-7ADD-44C1-93F9-8820B1BAFF3C}" sibTransId="{3EB977D9-FE41-483A-B3C7-A1717D3C58BF}"/>
    <dgm:cxn modelId="{B8F1DBE8-B1C7-4089-AD3D-F7F38CEE29C3}" type="presOf" srcId="{01C334C8-DFB0-4EAE-9274-D37CBAA75010}" destId="{1D1F45DA-2872-4599-AD67-31CF6B428226}" srcOrd="0" destOrd="0" presId="urn:microsoft.com/office/officeart/2005/8/layout/vList2"/>
    <dgm:cxn modelId="{402CAFE7-FCD9-4660-AB4B-266FCF5E8FC1}" type="presOf" srcId="{3EF73616-3269-4C72-8CBE-612853CCE86E}" destId="{797055F4-0FA6-4434-8A93-D092087D0E91}" srcOrd="0" destOrd="0" presId="urn:microsoft.com/office/officeart/2005/8/layout/vList2"/>
    <dgm:cxn modelId="{E49BA42E-4DA1-4E38-A946-844B1A774914}" srcId="{01C334C8-DFB0-4EAE-9274-D37CBAA75010}" destId="{FBE4042F-9599-4AAE-A236-CC57CF4A46B0}" srcOrd="4" destOrd="0" parTransId="{89C419AB-E4EA-48F8-807D-726FB1F794CC}" sibTransId="{EBEE7977-A503-4F32-9A3B-55C9BF7B2BA2}"/>
    <dgm:cxn modelId="{B8CDE032-8A62-4FFE-8652-E1D72CDDC2C7}" type="presOf" srcId="{12C971F1-9D8F-43BF-97D7-402BA2C11401}" destId="{394EB56F-02E2-4C8E-B482-6642970F2B1B}" srcOrd="0" destOrd="0" presId="urn:microsoft.com/office/officeart/2005/8/layout/vList2"/>
    <dgm:cxn modelId="{A2A60DA9-7F9B-46F6-892B-DBEC193FC947}" type="presOf" srcId="{EC8B0F03-0CFC-487C-AACF-12CDBF8EE86C}" destId="{39BD1896-8D1E-4BB1-9681-A86AA646B3F8}" srcOrd="0" destOrd="0" presId="urn:microsoft.com/office/officeart/2005/8/layout/vList2"/>
    <dgm:cxn modelId="{43B34AD3-733D-43BD-9709-2AA6FB128AC4}" type="presOf" srcId="{04542D50-AF90-4963-AC12-C08261158E9C}" destId="{F2274ADD-E5AF-4524-AB42-8EE672A69F99}" srcOrd="0" destOrd="0" presId="urn:microsoft.com/office/officeart/2005/8/layout/vList2"/>
    <dgm:cxn modelId="{C14AAD33-4178-4ADF-8649-93DA2C4BFC16}" type="presParOf" srcId="{1D1F45DA-2872-4599-AD67-31CF6B428226}" destId="{797055F4-0FA6-4434-8A93-D092087D0E91}" srcOrd="0" destOrd="0" presId="urn:microsoft.com/office/officeart/2005/8/layout/vList2"/>
    <dgm:cxn modelId="{87EC955D-2AE5-4528-85C5-399F136D2FE7}" type="presParOf" srcId="{1D1F45DA-2872-4599-AD67-31CF6B428226}" destId="{A41721EE-0A45-4DD4-80C2-D781BFE75430}" srcOrd="1" destOrd="0" presId="urn:microsoft.com/office/officeart/2005/8/layout/vList2"/>
    <dgm:cxn modelId="{9A7393C8-D5E9-48E1-8DA8-7C56A9B7E91C}" type="presParOf" srcId="{1D1F45DA-2872-4599-AD67-31CF6B428226}" destId="{39BD1896-8D1E-4BB1-9681-A86AA646B3F8}" srcOrd="2" destOrd="0" presId="urn:microsoft.com/office/officeart/2005/8/layout/vList2"/>
    <dgm:cxn modelId="{93D6A988-4D30-4FEF-84AA-C08BACF59C03}" type="presParOf" srcId="{1D1F45DA-2872-4599-AD67-31CF6B428226}" destId="{BA090E02-E253-4DFD-AFB0-C88E6EAF49BB}" srcOrd="3" destOrd="0" presId="urn:microsoft.com/office/officeart/2005/8/layout/vList2"/>
    <dgm:cxn modelId="{4AB6570A-1721-4C05-B0EC-DE3C52CF07DA}" type="presParOf" srcId="{1D1F45DA-2872-4599-AD67-31CF6B428226}" destId="{F2274ADD-E5AF-4524-AB42-8EE672A69F99}" srcOrd="4" destOrd="0" presId="urn:microsoft.com/office/officeart/2005/8/layout/vList2"/>
    <dgm:cxn modelId="{8FEE4992-6516-4BCB-8166-D8294A6523D9}" type="presParOf" srcId="{1D1F45DA-2872-4599-AD67-31CF6B428226}" destId="{0E458536-79D3-41FB-9147-B44B18734DB3}" srcOrd="5" destOrd="0" presId="urn:microsoft.com/office/officeart/2005/8/layout/vList2"/>
    <dgm:cxn modelId="{01B7435A-D1A0-4A0F-9903-BF67E53C0B82}" type="presParOf" srcId="{1D1F45DA-2872-4599-AD67-31CF6B428226}" destId="{244C757B-C4F4-442D-B5E8-B2D806B962A6}" srcOrd="6" destOrd="0" presId="urn:microsoft.com/office/officeart/2005/8/layout/vList2"/>
    <dgm:cxn modelId="{3202566D-E49C-4A2C-8F3D-E6695E2F7A9D}" type="presParOf" srcId="{1D1F45DA-2872-4599-AD67-31CF6B428226}" destId="{9FB663FF-0158-4E79-B1F7-66F73119B0B7}" srcOrd="7" destOrd="0" presId="urn:microsoft.com/office/officeart/2005/8/layout/vList2"/>
    <dgm:cxn modelId="{07CFC349-785F-4396-9825-C805CFA48080}" type="presParOf" srcId="{1D1F45DA-2872-4599-AD67-31CF6B428226}" destId="{28A2BC8D-4B37-40D1-87AF-B5AE703CAE00}" srcOrd="8" destOrd="0" presId="urn:microsoft.com/office/officeart/2005/8/layout/vList2"/>
    <dgm:cxn modelId="{649606C0-A1CC-4696-9FF9-4C62575A1C5C}" type="presParOf" srcId="{1D1F45DA-2872-4599-AD67-31CF6B428226}" destId="{5555CD77-B33B-41B8-951A-073F87CEF6B0}" srcOrd="9" destOrd="0" presId="urn:microsoft.com/office/officeart/2005/8/layout/vList2"/>
    <dgm:cxn modelId="{7CBC3365-B173-486B-9533-213A42057CAD}" type="presParOf" srcId="{1D1F45DA-2872-4599-AD67-31CF6B428226}" destId="{394EB56F-02E2-4C8E-B482-6642970F2B1B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7055F4-0FA6-4434-8A93-D092087D0E91}">
      <dsp:nvSpPr>
        <dsp:cNvPr id="0" name=""/>
        <dsp:cNvSpPr/>
      </dsp:nvSpPr>
      <dsp:spPr>
        <a:xfrm>
          <a:off x="0" y="79043"/>
          <a:ext cx="3250899" cy="6715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Articles (1513)</a:t>
          </a:r>
          <a:endParaRPr lang="en-US" sz="2800" kern="1200" dirty="0"/>
        </a:p>
      </dsp:txBody>
      <dsp:txXfrm>
        <a:off x="32784" y="111827"/>
        <a:ext cx="3185331" cy="606012"/>
      </dsp:txXfrm>
    </dsp:sp>
    <dsp:sp modelId="{39BD1896-8D1E-4BB1-9681-A86AA646B3F8}">
      <dsp:nvSpPr>
        <dsp:cNvPr id="0" name=""/>
        <dsp:cNvSpPr/>
      </dsp:nvSpPr>
      <dsp:spPr>
        <a:xfrm>
          <a:off x="0" y="819598"/>
          <a:ext cx="3250899" cy="671580"/>
        </a:xfrm>
        <a:prstGeom prst="roundRect">
          <a:avLst/>
        </a:prstGeom>
        <a:gradFill rotWithShape="0">
          <a:gsLst>
            <a:gs pos="0">
              <a:schemeClr val="accent5">
                <a:hueOff val="-1470669"/>
                <a:satOff val="-2046"/>
                <a:lumOff val="-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470669"/>
                <a:satOff val="-2046"/>
                <a:lumOff val="-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470669"/>
                <a:satOff val="-2046"/>
                <a:lumOff val="-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Books (38)</a:t>
          </a:r>
          <a:endParaRPr lang="en-US" sz="2800" kern="1200" dirty="0"/>
        </a:p>
      </dsp:txBody>
      <dsp:txXfrm>
        <a:off x="32784" y="852382"/>
        <a:ext cx="3185331" cy="606012"/>
      </dsp:txXfrm>
    </dsp:sp>
    <dsp:sp modelId="{F2274ADD-E5AF-4524-AB42-8EE672A69F99}">
      <dsp:nvSpPr>
        <dsp:cNvPr id="0" name=""/>
        <dsp:cNvSpPr/>
      </dsp:nvSpPr>
      <dsp:spPr>
        <a:xfrm>
          <a:off x="0" y="1571818"/>
          <a:ext cx="3250899" cy="671580"/>
        </a:xfrm>
        <a:prstGeom prst="roundRect">
          <a:avLst/>
        </a:prstGeom>
        <a:gradFill rotWithShape="0">
          <a:gsLst>
            <a:gs pos="0">
              <a:schemeClr val="accent5">
                <a:hueOff val="-2941338"/>
                <a:satOff val="-4091"/>
                <a:lumOff val="-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941338"/>
                <a:satOff val="-4091"/>
                <a:lumOff val="-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941338"/>
                <a:satOff val="-4091"/>
                <a:lumOff val="-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Book Chapters (228)</a:t>
          </a:r>
          <a:endParaRPr lang="en-US" sz="2800" kern="1200" dirty="0"/>
        </a:p>
      </dsp:txBody>
      <dsp:txXfrm>
        <a:off x="32784" y="1604602"/>
        <a:ext cx="3185331" cy="606012"/>
      </dsp:txXfrm>
    </dsp:sp>
    <dsp:sp modelId="{244C757B-C4F4-442D-B5E8-B2D806B962A6}">
      <dsp:nvSpPr>
        <dsp:cNvPr id="0" name=""/>
        <dsp:cNvSpPr/>
      </dsp:nvSpPr>
      <dsp:spPr>
        <a:xfrm>
          <a:off x="0" y="2324038"/>
          <a:ext cx="3250899" cy="671580"/>
        </a:xfrm>
        <a:prstGeom prst="roundRect">
          <a:avLst/>
        </a:prstGeom>
        <a:gradFill rotWithShape="0">
          <a:gsLst>
            <a:gs pos="0">
              <a:schemeClr val="accent5">
                <a:hueOff val="-4412007"/>
                <a:satOff val="-6137"/>
                <a:lumOff val="-2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412007"/>
                <a:satOff val="-6137"/>
                <a:lumOff val="-2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412007"/>
                <a:satOff val="-6137"/>
                <a:lumOff val="-2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err="1" smtClean="0"/>
            <a:t>Ebooks</a:t>
          </a:r>
          <a:r>
            <a:rPr lang="en-US" sz="2800" kern="1200" dirty="0" smtClean="0"/>
            <a:t> (47)</a:t>
          </a:r>
          <a:endParaRPr lang="en-US" sz="2800" kern="1200" dirty="0"/>
        </a:p>
      </dsp:txBody>
      <dsp:txXfrm>
        <a:off x="32784" y="2356822"/>
        <a:ext cx="3185331" cy="606012"/>
      </dsp:txXfrm>
    </dsp:sp>
    <dsp:sp modelId="{28A2BC8D-4B37-40D1-87AF-B5AE703CAE00}">
      <dsp:nvSpPr>
        <dsp:cNvPr id="0" name=""/>
        <dsp:cNvSpPr/>
      </dsp:nvSpPr>
      <dsp:spPr>
        <a:xfrm>
          <a:off x="0" y="3076258"/>
          <a:ext cx="3250899" cy="671580"/>
        </a:xfrm>
        <a:prstGeom prst="roundRect">
          <a:avLst/>
        </a:prstGeom>
        <a:gradFill rotWithShape="0">
          <a:gsLst>
            <a:gs pos="0">
              <a:schemeClr val="accent5">
                <a:hueOff val="-5882676"/>
                <a:satOff val="-8182"/>
                <a:lumOff val="-313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882676"/>
                <a:satOff val="-8182"/>
                <a:lumOff val="-313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882676"/>
                <a:satOff val="-8182"/>
                <a:lumOff val="-313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Standards (32)</a:t>
          </a:r>
          <a:endParaRPr lang="en-US" sz="2800" kern="1200" dirty="0"/>
        </a:p>
      </dsp:txBody>
      <dsp:txXfrm>
        <a:off x="32784" y="3109042"/>
        <a:ext cx="3185331" cy="606012"/>
      </dsp:txXfrm>
    </dsp:sp>
    <dsp:sp modelId="{394EB56F-02E2-4C8E-B482-6642970F2B1B}">
      <dsp:nvSpPr>
        <dsp:cNvPr id="0" name=""/>
        <dsp:cNvSpPr/>
      </dsp:nvSpPr>
      <dsp:spPr>
        <a:xfrm>
          <a:off x="0" y="3828478"/>
          <a:ext cx="3250899" cy="671580"/>
        </a:xfrm>
        <a:prstGeom prst="roundRect">
          <a:avLst/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Theses (6)</a:t>
          </a:r>
          <a:endParaRPr lang="en-US" sz="2800" kern="1200" dirty="0"/>
        </a:p>
      </dsp:txBody>
      <dsp:txXfrm>
        <a:off x="32784" y="3861262"/>
        <a:ext cx="3185331" cy="6060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0.5902</cdr:x>
      <cdr:y>0.16483</cdr:y>
    </cdr:from>
    <cdr:to>
      <cdr:x>0.88949</cdr:x>
      <cdr:y>0.88499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6104369" y="859107"/>
          <a:ext cx="3095512" cy="3753533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1">
          <a:schemeClr val="accent6"/>
        </a:lnRef>
        <a:fillRef xmlns:a="http://schemas.openxmlformats.org/drawingml/2006/main" idx="2">
          <a:schemeClr val="accent6"/>
        </a:fillRef>
        <a:effectRef xmlns:a="http://schemas.openxmlformats.org/drawingml/2006/main" idx="1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lvl="0" algn="ctr" rtl="0"/>
          <a:r>
            <a: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Optics InfoBase</a:t>
          </a:r>
          <a:endParaRPr 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 xmlns:a="http://schemas.openxmlformats.org/drawingml/2006/main">
          <a:pPr lvl="0" algn="ctr"/>
          <a:r>
            <a: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Al-</a:t>
          </a:r>
          <a:r>
            <a:rPr lang="en-US" sz="16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Manhal</a:t>
          </a:r>
          <a:endParaRPr 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 xmlns:a="http://schemas.openxmlformats.org/drawingml/2006/main">
          <a:pPr lvl="0" algn="ctr"/>
          <a:r>
            <a: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E-</a:t>
          </a:r>
          <a:r>
            <a:rPr lang="en-US" sz="16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Marafa</a:t>
          </a:r>
          <a:endParaRPr 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 xmlns:a="http://schemas.openxmlformats.org/drawingml/2006/main">
          <a:pPr lvl="0" algn="ctr"/>
          <a:r>
            <a: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Taylor &amp; Francis e-books</a:t>
          </a:r>
          <a:endParaRPr 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 xmlns:a="http://schemas.openxmlformats.org/drawingml/2006/main">
          <a:pPr lvl="0" algn="ctr"/>
          <a:r>
            <a: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Sage online</a:t>
          </a:r>
          <a:endParaRPr 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 xmlns:a="http://schemas.openxmlformats.org/drawingml/2006/main">
          <a:pPr lvl="0" algn="ctr"/>
          <a:r>
            <a: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Cell press journals</a:t>
          </a:r>
          <a:endParaRPr 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 xmlns:a="http://schemas.openxmlformats.org/drawingml/2006/main">
          <a:pPr lvl="0" algn="ctr"/>
          <a:r>
            <a:rPr lang="en-US" sz="16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Chemtitles</a:t>
          </a:r>
          <a:endParaRPr 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 xmlns:a="http://schemas.openxmlformats.org/drawingml/2006/main">
          <a:pPr lvl="0" algn="ctr"/>
          <a:r>
            <a: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Cochrane library</a:t>
          </a:r>
          <a:endParaRPr 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 xmlns:a="http://schemas.openxmlformats.org/drawingml/2006/main">
          <a:pPr lvl="0" algn="ctr"/>
          <a:r>
            <a: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Gale Reference Works and Collections</a:t>
          </a:r>
          <a:endParaRPr 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 xmlns:a="http://schemas.openxmlformats.org/drawingml/2006/main">
          <a:pPr lvl="0" algn="ctr"/>
          <a:r>
            <a: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Routledge Encyclopedia of Philosophy</a:t>
          </a:r>
          <a:endParaRPr 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 xmlns:a="http://schemas.openxmlformats.org/drawingml/2006/main">
          <a:pPr lvl="0" algn="ctr"/>
          <a:r>
            <a: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Inform Journals  </a:t>
          </a:r>
          <a:endParaRPr 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 xmlns:a="http://schemas.openxmlformats.org/drawingml/2006/main">
          <a:pPr lvl="0" algn="ctr"/>
          <a:r>
            <a: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Gale Business insights</a:t>
          </a:r>
          <a:endParaRPr 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 xmlns:a="http://schemas.openxmlformats.org/drawingml/2006/main">
          <a:pPr lvl="0" algn="ctr"/>
          <a:r>
            <a:rPr lang="en-US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EMBASE</a:t>
          </a:r>
          <a:endParaRPr 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cdr:txBody>
    </cdr:sp>
  </cdr:relSizeAnchor>
  <cdr:relSizeAnchor xmlns:cdr="http://schemas.openxmlformats.org/drawingml/2006/chartDrawing">
    <cdr:from>
      <cdr:x>0.12429</cdr:x>
      <cdr:y>0.57992</cdr:y>
    </cdr:from>
    <cdr:to>
      <cdr:x>0.38412</cdr:x>
      <cdr:y>0.88766</cdr:y>
    </cdr:to>
    <cdr:sp macro="" textlink="">
      <cdr:nvSpPr>
        <cdr:cNvPr id="6" name="TextBox 5"/>
        <cdr:cNvSpPr txBox="1"/>
      </cdr:nvSpPr>
      <cdr:spPr>
        <a:xfrm xmlns:a="http://schemas.openxmlformats.org/drawingml/2006/main">
          <a:off x="1239383" y="2586849"/>
          <a:ext cx="2591072" cy="1372769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1">
          <a:schemeClr val="accent1"/>
        </a:lnRef>
        <a:fillRef xmlns:a="http://schemas.openxmlformats.org/drawingml/2006/main" idx="2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>
            <a:lnSpc>
              <a:spcPct val="150000"/>
            </a:lnSpc>
          </a:pPr>
          <a:r>
            <a:rPr lang="en-US" sz="16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Optics InfoBase</a:t>
          </a:r>
        </a:p>
        <a:p xmlns:a="http://schemas.openxmlformats.org/drawingml/2006/main">
          <a:pPr algn="ctr">
            <a:lnSpc>
              <a:spcPct val="150000"/>
            </a:lnSpc>
          </a:pPr>
          <a:r>
            <a:rPr lang="en-US" sz="16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EMBASE </a:t>
          </a:r>
        </a:p>
        <a:p xmlns:a="http://schemas.openxmlformats.org/drawingml/2006/main">
          <a:pPr algn="ctr">
            <a:lnSpc>
              <a:spcPct val="150000"/>
            </a:lnSpc>
          </a:pPr>
          <a:r>
            <a:rPr lang="en-US" sz="16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Cochrane</a:t>
          </a:r>
        </a:p>
        <a:p xmlns:a="http://schemas.openxmlformats.org/drawingml/2006/main">
          <a:pPr algn="ctr">
            <a:lnSpc>
              <a:spcPct val="150000"/>
            </a:lnSpc>
          </a:pPr>
          <a:r>
            <a:rPr lang="en-US" sz="16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PURE</a:t>
          </a:r>
        </a:p>
        <a:p xmlns:a="http://schemas.openxmlformats.org/drawingml/2006/main">
          <a:pPr algn="ctr">
            <a:lnSpc>
              <a:spcPct val="150000"/>
            </a:lnSpc>
          </a:pPr>
          <a:endParaRPr lang="en-US" sz="1600" b="1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26100-4EAD-4E58-970B-EEEEA8260F72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7629D-59A7-4B11-8264-72BDCDA23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62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0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35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97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1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647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53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7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093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13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43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85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2">
    <p:bg>
      <p:bgPr>
        <a:solidFill>
          <a:srgbClr val="0057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527050"/>
            <a:ext cx="325437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768475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uora yhdysviiva 7">
            <a:extLst>
              <a:ext uri="{FF2B5EF4-FFF2-40B4-BE49-F238E27FC236}">
                <a16:creationId xmlns:a16="http://schemas.microsoft.com/office/drawing/2014/main" id="{7719C45D-29AC-47C4-96CB-A06616449D77}"/>
              </a:ext>
            </a:extLst>
          </p:cNvPr>
          <p:cNvCxnSpPr/>
          <p:nvPr userDrawn="1"/>
        </p:nvCxnSpPr>
        <p:spPr>
          <a:xfrm>
            <a:off x="1341438" y="2760663"/>
            <a:ext cx="2239962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0236" y="2676525"/>
            <a:ext cx="9317764" cy="1714500"/>
          </a:xfrm>
        </p:spPr>
        <p:txBody>
          <a:bodyPr anchor="b"/>
          <a:lstStyle>
            <a:lvl1pPr algn="l">
              <a:defRPr sz="4773" spc="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236" y="4429125"/>
            <a:ext cx="9317764" cy="894905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3023">
                <a:solidFill>
                  <a:srgbClr val="FFFFFF"/>
                </a:solidFill>
              </a:defRPr>
            </a:lvl1pPr>
            <a:lvl2pPr marL="363734" indent="0" algn="ctr">
              <a:buNone/>
              <a:defRPr sz="1591"/>
            </a:lvl2pPr>
            <a:lvl3pPr marL="727468" indent="0" algn="ctr">
              <a:buNone/>
              <a:defRPr sz="1432"/>
            </a:lvl3pPr>
            <a:lvl4pPr marL="1091202" indent="0" algn="ctr">
              <a:buNone/>
              <a:defRPr sz="1273"/>
            </a:lvl4pPr>
            <a:lvl5pPr marL="1454937" indent="0" algn="ctr">
              <a:buNone/>
              <a:defRPr sz="1273"/>
            </a:lvl5pPr>
            <a:lvl6pPr marL="1818671" indent="0" algn="ctr">
              <a:buNone/>
              <a:defRPr sz="1273"/>
            </a:lvl6pPr>
            <a:lvl7pPr marL="2182405" indent="0" algn="ctr">
              <a:buNone/>
              <a:defRPr sz="1273"/>
            </a:lvl7pPr>
            <a:lvl8pPr marL="2546139" indent="0" algn="ctr">
              <a:buNone/>
              <a:defRPr sz="1273"/>
            </a:lvl8pPr>
            <a:lvl9pPr marL="2909873" indent="0" algn="ctr">
              <a:buNone/>
              <a:defRPr sz="127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50237" y="5497790"/>
            <a:ext cx="5435926" cy="314325"/>
          </a:xfrm>
        </p:spPr>
        <p:txBody>
          <a:bodyPr>
            <a:normAutofit/>
          </a:bodyPr>
          <a:lstStyle>
            <a:lvl1pPr marL="0" indent="0" algn="l">
              <a:buNone/>
              <a:defRPr sz="1074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840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4AEE5-052D-48E3-BC1D-C6E2F39E88DB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87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4250" y="1039813"/>
            <a:ext cx="7412038" cy="139541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i-FI" sz="4355" dirty="0">
                <a:latin typeface="Arial" panose="020B0604020202020204" pitchFamily="34" charset="0"/>
                <a:cs typeface="Arial" panose="020B0604020202020204" pitchFamily="34" charset="0"/>
              </a:rPr>
              <a:t>Khalifa University Libraries</a:t>
            </a:r>
            <a:endParaRPr lang="en-US" sz="244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4250" y="3292475"/>
            <a:ext cx="7412038" cy="1147763"/>
          </a:xfrm>
        </p:spPr>
        <p:txBody>
          <a:bodyPr rtlCol="0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fi-FI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(headings)"/>
              </a:rPr>
              <a:t>Library Statistical Report 2022</a:t>
            </a:r>
            <a:endParaRPr lang="fi-FI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(headings)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077" name="Rectangle 6"/>
          <p:cNvSpPr>
            <a:spLocks noChangeArrowheads="1"/>
          </p:cNvSpPr>
          <p:nvPr/>
        </p:nvSpPr>
        <p:spPr bwMode="auto">
          <a:xfrm>
            <a:off x="3002107" y="3902076"/>
            <a:ext cx="6096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January 13, 2023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Revised, 08 February 2023</a:t>
            </a:r>
            <a:endParaRPr lang="en-US" altLang="en-US" sz="1800" b="1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4769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588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Headcount</a:t>
            </a: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/>
            </a:r>
            <a:br>
              <a:rPr lang="en-US" sz="4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</a:b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6283088"/>
              </p:ext>
            </p:extLst>
          </p:nvPr>
        </p:nvGraphicFramePr>
        <p:xfrm>
          <a:off x="152400" y="1302327"/>
          <a:ext cx="11808691" cy="55556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1756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43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Document Delivery Services</a:t>
            </a:r>
            <a:b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</a:br>
            <a:r>
              <a:rPr lang="en-US" sz="28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(Request Type Distribution)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115513215"/>
              </p:ext>
            </p:extLst>
          </p:nvPr>
        </p:nvGraphicFramePr>
        <p:xfrm>
          <a:off x="4501181" y="1910080"/>
          <a:ext cx="3250899" cy="4567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939710" y="1644074"/>
            <a:ext cx="1856511" cy="462251"/>
          </a:xfrm>
          <a:prstGeom prst="roundRect">
            <a:avLst/>
          </a:prstGeom>
          <a:noFill/>
          <a:ln>
            <a:noFill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1,864 Requests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272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43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Document Delivery Services</a:t>
            </a:r>
            <a:b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</a:br>
            <a:r>
              <a:rPr lang="en-US" sz="28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(Monthly Distribution)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9694352"/>
              </p:ext>
            </p:extLst>
          </p:nvPr>
        </p:nvGraphicFramePr>
        <p:xfrm>
          <a:off x="-132080" y="2032000"/>
          <a:ext cx="1204976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848270" y="2032000"/>
            <a:ext cx="1856511" cy="462251"/>
          </a:xfrm>
          <a:prstGeom prst="roundRect">
            <a:avLst/>
          </a:prstGeom>
          <a:noFill/>
          <a:ln>
            <a:noFill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1,864 Requests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964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303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Document Delivery Services</a:t>
            </a:r>
            <a:b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</a:br>
            <a:r>
              <a:rPr lang="en-US" sz="28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(Semester Distribution)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9848270" y="3371273"/>
            <a:ext cx="1856511" cy="462251"/>
          </a:xfrm>
          <a:prstGeom prst="roundRect">
            <a:avLst/>
          </a:prstGeom>
          <a:noFill/>
          <a:ln>
            <a:noFill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1,864 Requests</a:t>
            </a:r>
            <a:endParaRPr lang="en-US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6548119"/>
              </p:ext>
            </p:extLst>
          </p:nvPr>
        </p:nvGraphicFramePr>
        <p:xfrm>
          <a:off x="1879600" y="2068945"/>
          <a:ext cx="8432800" cy="3804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5167740"/>
              </p:ext>
            </p:extLst>
          </p:nvPr>
        </p:nvGraphicFramePr>
        <p:xfrm>
          <a:off x="2140525" y="1776267"/>
          <a:ext cx="8737600" cy="45883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43055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43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Workshops &amp; Information Literacy Sessions</a:t>
            </a: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/>
            </a:r>
            <a:br>
              <a:rPr lang="en-US" sz="4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</a:b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8303607"/>
              </p:ext>
            </p:extLst>
          </p:nvPr>
        </p:nvGraphicFramePr>
        <p:xfrm>
          <a:off x="628072" y="1487055"/>
          <a:ext cx="10725727" cy="4784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174480" y="1487055"/>
            <a:ext cx="183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91 IL</a:t>
            </a:r>
          </a:p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64 Workshops</a:t>
            </a:r>
          </a:p>
        </p:txBody>
      </p:sp>
    </p:spTree>
    <p:extLst>
      <p:ext uri="{BB962C8B-B14F-4D97-AF65-F5344CB8AC3E}">
        <p14:creationId xmlns:p14="http://schemas.microsoft.com/office/powerpoint/2010/main" val="1960944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4361"/>
            <a:ext cx="10515600" cy="1325563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Open Access with Publishers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38996" y="1530647"/>
            <a:ext cx="284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 Processed Articles</a:t>
            </a:r>
            <a:endParaRPr lang="en-US" b="1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7804410"/>
              </p:ext>
            </p:extLst>
          </p:nvPr>
        </p:nvGraphicFramePr>
        <p:xfrm>
          <a:off x="688571" y="2072699"/>
          <a:ext cx="10814858" cy="46669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16322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38200" y="374361"/>
            <a:ext cx="10515600" cy="946439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Library Holdings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2790589"/>
              </p:ext>
            </p:extLst>
          </p:nvPr>
        </p:nvGraphicFramePr>
        <p:xfrm>
          <a:off x="2477192" y="1547552"/>
          <a:ext cx="8312727" cy="5066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65070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8925472"/>
              </p:ext>
            </p:extLst>
          </p:nvPr>
        </p:nvGraphicFramePr>
        <p:xfrm>
          <a:off x="1010920" y="1330960"/>
          <a:ext cx="1034288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838200" y="374361"/>
            <a:ext cx="10515600" cy="1325563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New Subscriptions &amp; Trials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3204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8619"/>
            <a:ext cx="10515600" cy="1441306"/>
          </a:xfrm>
          <a:effectLst>
            <a:outerShdw blurRad="50800" dist="50800" dir="5400000" algn="ctr" rotWithShape="0">
              <a:schemeClr val="bg1"/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Medical Library Statistics</a:t>
            </a:r>
            <a:b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</a:br>
            <a:r>
              <a:rPr lang="en-US" sz="36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Document Delivery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302240" y="2245360"/>
            <a:ext cx="188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Requests 120</a:t>
            </a: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6740953"/>
              </p:ext>
            </p:extLst>
          </p:nvPr>
        </p:nvGraphicFramePr>
        <p:xfrm>
          <a:off x="2220423" y="2123439"/>
          <a:ext cx="7939577" cy="444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81332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1829</TotalTime>
  <Words>157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(headings)</vt:lpstr>
      <vt:lpstr>Calibri</vt:lpstr>
      <vt:lpstr>Calibri Light</vt:lpstr>
      <vt:lpstr>Tw Cen MT</vt:lpstr>
      <vt:lpstr>Office Theme</vt:lpstr>
      <vt:lpstr>Khalifa University Libraries</vt:lpstr>
      <vt:lpstr>Headcount </vt:lpstr>
      <vt:lpstr>Document Delivery Services (Request Type Distribution)</vt:lpstr>
      <vt:lpstr>Document Delivery Services (Monthly Distribution)</vt:lpstr>
      <vt:lpstr>Document Delivery Services (Semester Distribution)</vt:lpstr>
      <vt:lpstr>Workshops &amp; Information Literacy Sessions </vt:lpstr>
      <vt:lpstr>Open Access with Publishers</vt:lpstr>
      <vt:lpstr>PowerPoint Presentation</vt:lpstr>
      <vt:lpstr>PowerPoint Presentation</vt:lpstr>
      <vt:lpstr>Medical Library Statistics Document Delivery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Khalifa University Libraries</dc:title>
  <dc:creator>Muna Ahmad Abdulla</dc:creator>
  <cp:lastModifiedBy>Muna Ahmad Abdulla</cp:lastModifiedBy>
  <cp:revision>148</cp:revision>
  <dcterms:created xsi:type="dcterms:W3CDTF">2022-01-12T12:36:27Z</dcterms:created>
  <dcterms:modified xsi:type="dcterms:W3CDTF">2023-02-08T06:07:10Z</dcterms:modified>
</cp:coreProperties>
</file>