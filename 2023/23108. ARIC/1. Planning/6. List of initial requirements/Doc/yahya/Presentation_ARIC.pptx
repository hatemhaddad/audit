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86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D1370-0B2C-4D36-88ED-8A4630121F36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3E5FA-A93E-44DF-B978-9ABEE81C5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73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2488AF-BDF9-FB4C-B99F-5A8F8776AE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414141"/>
                </a:solidFill>
                <a:effectLst/>
                <a:uLnTx/>
                <a:uFillTx/>
                <a:latin typeface="Gill Sans Light" charset="0"/>
                <a:ea typeface="ヒラギノ角ゴ ProN W3" charset="-128"/>
                <a:cs typeface="+mn-cs"/>
                <a:sym typeface="Gill Sans Light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14141"/>
              </a:solidFill>
              <a:effectLst/>
              <a:uLnTx/>
              <a:uFillTx/>
              <a:latin typeface="Gill Sans Light" charset="0"/>
              <a:ea typeface="ヒラギノ角ゴ ProN W3" charset="-128"/>
              <a:cs typeface="+mn-cs"/>
              <a:sym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4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A3E71-C790-480D-8174-A672F1527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DA6D1-EF64-4661-87C6-9BBC1E81F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10EC-2B96-453D-BE87-BFC51AC9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B5AFD-43AD-4762-A7E7-2F8118D85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AD0B7-05A5-4179-9B7C-31FEF82E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6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1FAF-98AC-4E4F-A0F1-062AECA9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251E7-4BCD-4745-AB02-F5EF5209E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BBD0-E12E-4CF0-AF62-34BB4231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045E7-E262-413F-AC61-A60CD5E7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1D789-F76D-49F4-9A6E-E70D99BB4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8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4592E-C772-4FFD-A549-F2E8A62EA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1BF88-11EB-4A62-92A5-8C26DC6D0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6421C-6735-4CE2-8017-DE7268F2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008D8-39FD-43D8-BD60-FEAC9984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72804-C44B-415D-BF03-5271A400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70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BDCF-FE33-488B-B3EB-E2594D1E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E1173-4CE4-40AB-9649-0AD53CA343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544A1-92BB-4130-836A-D7BC10595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E0965-4251-497A-A74A-2BCB1A12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62223-1733-4498-84C2-938A6D35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487E2-0CB5-4D3E-BD8D-C6BC1FED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57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488D-6AAF-41D4-988E-4C7A17AD9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AA3C9-297A-478D-9D6A-33651BAE1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4DD28-BB40-4D36-B068-DC1B64A11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57D90-4DFA-466C-BCED-28E3EA1E6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0D524-5644-4E93-9A1E-7CA02B107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6CEBD4-4B2A-4ED5-9571-8C992574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626B8A-7EE5-4CA0-9E99-5774E90C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0DA66F-0A54-47FB-8260-0BE12BDC8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8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B876-6059-48C5-923E-AB4452A4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4FF81-7854-42E9-A7B4-905A8D47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8559B-88B4-426C-AFDC-B2A9BF14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2EC6D-C789-499A-9204-839019E7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52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B56CC-A6D1-40BF-8D92-82B1A3220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0B59F-8BDA-4E79-8182-B6B78F1E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46107-1B4C-466D-9D6A-AB918C2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6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5DD51-088B-466E-B882-64120CCA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F50AD-E142-4A41-9420-06AC135C1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039C4-0453-461B-BC64-319513A5E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E0EC1-0A0A-4D45-9E83-F95368E42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9D282-E418-4216-B6FD-AF6E8BDF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C100C-790A-4413-9CAA-6FA3C85B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43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539D-B5D2-4B9E-9964-C0440AB2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FFEDE-1E78-40DF-85EA-82F7E5185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B2AEF-E1EE-442A-AEBA-D4186F59F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2FE1C-B588-4FFD-8D6B-4B8B74375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F37F2-97C5-4170-BC67-1DEEC1FE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EAFCA-67E4-4BB4-8697-D0359AE9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74E2-EE59-4CAD-9E6D-52A5BA62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05955A-BCE2-493C-95CE-EAD42E512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3B4D6-0113-460F-8815-3344646F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8F3C7-5DA9-45C4-9856-E4723426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5D1A6-5B89-4986-85C7-5F1AAE8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46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B2834-1AC0-4090-A253-CE4ED0282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65C5E-C4E4-48D1-A25B-B2B3E3078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AA0DD-322A-4004-8C5B-476767FF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7D215-CA1E-44D6-AECE-56009A4A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390ED-8931-4577-B32C-4F4131CE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42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B728F-3940-4E71-BD49-553736FFB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9BE2E-1A32-4C59-ACBC-3AF7173FD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E4BF-9D37-45B3-AA80-16327ADCCE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F102-B423-4445-B1CD-F931EF186C8C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AFF0-0960-44B8-A5E0-0674636CE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8D5AD-F2F6-4234-B688-A76423401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A032B-3372-4E63-BDDC-B5D85C0F9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61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908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A4F82C3-65D9-457C-8314-F0C0E36C3A5B}"/>
              </a:ext>
            </a:extLst>
          </p:cNvPr>
          <p:cNvGrpSpPr/>
          <p:nvPr/>
        </p:nvGrpSpPr>
        <p:grpSpPr>
          <a:xfrm>
            <a:off x="646248" y="93649"/>
            <a:ext cx="11197990" cy="926257"/>
            <a:chOff x="775498" y="112379"/>
            <a:chExt cx="13437588" cy="111150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5501A2-9778-4148-8591-B4D43B5E9106}"/>
                </a:ext>
              </a:extLst>
            </p:cNvPr>
            <p:cNvSpPr/>
            <p:nvPr/>
          </p:nvSpPr>
          <p:spPr>
            <a:xfrm>
              <a:off x="775498" y="506605"/>
              <a:ext cx="9390520" cy="2723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76197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875" b="1">
                  <a:solidFill>
                    <a:prstClr val="black">
                      <a:lumMod val="50000"/>
                    </a:prstClr>
                  </a:solidFill>
                  <a:latin typeface="Arial"/>
                  <a:ea typeface="ヒラギノ角ゴ ProN W3" charset="-128"/>
                  <a:cs typeface="Arial" panose="020B0604020202020204" pitchFamily="34" charset="0"/>
                  <a:sym typeface="Gill Sans Light" charset="0"/>
                </a:rPr>
                <a:t>ARIC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B21A850-EB25-4D77-8B04-193F67F11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735" y="768215"/>
              <a:ext cx="9911016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18" descr="Khalifa | KET4F-Gas">
              <a:extLst>
                <a:ext uri="{FF2B5EF4-FFF2-40B4-BE49-F238E27FC236}">
                  <a16:creationId xmlns:a16="http://schemas.microsoft.com/office/drawing/2014/main" id="{A06A5318-71DB-41A9-A06F-9C555F8DDA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289754" y="436385"/>
              <a:ext cx="1923332" cy="652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0BB5001-59E8-4C59-9710-E909A856B2E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442" r="4393"/>
            <a:stretch/>
          </p:blipFill>
          <p:spPr>
            <a:xfrm>
              <a:off x="10926565" y="112379"/>
              <a:ext cx="1172623" cy="1111508"/>
            </a:xfrm>
            <a:prstGeom prst="rect">
              <a:avLst/>
            </a:prstGeom>
          </p:spPr>
        </p:pic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4762B286-8829-4D48-8439-8595195FED55}"/>
              </a:ext>
            </a:extLst>
          </p:cNvPr>
          <p:cNvSpPr txBox="1">
            <a:spLocks/>
          </p:cNvSpPr>
          <p:nvPr/>
        </p:nvSpPr>
        <p:spPr>
          <a:xfrm>
            <a:off x="883767" y="844263"/>
            <a:ext cx="9991725" cy="672193"/>
          </a:xfrm>
          <a:prstGeom prst="rect">
            <a:avLst/>
          </a:prstGeom>
        </p:spPr>
        <p:txBody>
          <a:bodyPr>
            <a:noAutofit/>
          </a:bodyPr>
          <a:lstStyle>
            <a:lvl1pPr algn="l" defTabSz="109728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320" b="1" kern="1200" spc="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en-US" sz="4500" dirty="0">
                <a:latin typeface="Century" panose="02040604050505020304" pitchFamily="18" charset="0"/>
              </a:rPr>
              <a:t>ARIC 2023 Executive Budget 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88EADE9A-5963-449D-99CE-42CC2B6B2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3349" y="203201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850" kern="1200">
                <a:solidFill>
                  <a:schemeClr val="bg2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1pPr>
            <a:lvl2pPr marL="400886" algn="ctr" rtl="0" fontAlgn="base">
              <a:spcBef>
                <a:spcPct val="0"/>
              </a:spcBef>
              <a:spcAft>
                <a:spcPct val="0"/>
              </a:spcAft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2pPr>
            <a:lvl3pPr marL="801770" algn="ctr" rtl="0" fontAlgn="base">
              <a:spcBef>
                <a:spcPct val="0"/>
              </a:spcBef>
              <a:spcAft>
                <a:spcPct val="0"/>
              </a:spcAft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3pPr>
            <a:lvl4pPr marL="1202655" algn="ctr" rtl="0" fontAlgn="base">
              <a:spcBef>
                <a:spcPct val="0"/>
              </a:spcBef>
              <a:spcAft>
                <a:spcPct val="0"/>
              </a:spcAft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4pPr>
            <a:lvl5pPr marL="1603539" algn="ctr" rtl="0" fontAlgn="base">
              <a:spcBef>
                <a:spcPct val="0"/>
              </a:spcBef>
              <a:spcAft>
                <a:spcPct val="0"/>
              </a:spcAft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5pPr>
            <a:lvl6pPr marL="2004424" algn="l" defTabSz="801770" rtl="0" eaLnBrk="1" latinLnBrk="0" hangingPunct="1"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6pPr>
            <a:lvl7pPr marL="2405309" algn="l" defTabSz="801770" rtl="0" eaLnBrk="1" latinLnBrk="0" hangingPunct="1"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7pPr>
            <a:lvl8pPr marL="2806194" algn="l" defTabSz="801770" rtl="0" eaLnBrk="1" latinLnBrk="0" hangingPunct="1"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8pPr>
            <a:lvl9pPr marL="3207078" algn="l" defTabSz="801770" rtl="0" eaLnBrk="1" latinLnBrk="0" hangingPunct="1">
              <a:defRPr sz="3690" kern="1200">
                <a:solidFill>
                  <a:srgbClr val="414141"/>
                </a:solidFill>
                <a:latin typeface="Gill Sans Light" charset="0"/>
                <a:ea typeface="ヒラギノ角ゴ ProN W3" charset="-128"/>
                <a:cs typeface="+mn-cs"/>
                <a:sym typeface="Gill Sans Light" charset="0"/>
              </a:defRPr>
            </a:lvl9pPr>
          </a:lstStyle>
          <a:p>
            <a:pPr algn="l" defTabSz="914363" fontAlgn="auto">
              <a:spcBef>
                <a:spcPts val="0"/>
              </a:spcBef>
              <a:spcAft>
                <a:spcPts val="0"/>
              </a:spcAft>
              <a:defRPr/>
            </a:pPr>
            <a:fld id="{1E68DD1B-5CD8-424B-8173-19E182143E0A}" type="slidenum">
              <a:rPr lang="en-US" smtClean="0"/>
              <a:pPr algn="l" defTabSz="914363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US" sz="1400" b="1">
              <a:solidFill>
                <a:prstClr val="white"/>
              </a:solidFill>
              <a:latin typeface="Century" panose="02040604050505020304" pitchFamily="18" charset="0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FC4AD0-FAEF-4854-9C64-EF0E91ACCFFA}"/>
              </a:ext>
            </a:extLst>
          </p:cNvPr>
          <p:cNvSpPr txBox="1"/>
          <p:nvPr/>
        </p:nvSpPr>
        <p:spPr>
          <a:xfrm>
            <a:off x="9825319" y="206189"/>
            <a:ext cx="65" cy="2846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63">
              <a:defRPr/>
            </a:pPr>
            <a:endParaRPr lang="en-US" sz="18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1417D7-3A46-47EB-BBCF-C2EDDF859DEF}"/>
              </a:ext>
            </a:extLst>
          </p:cNvPr>
          <p:cNvSpPr txBox="1"/>
          <p:nvPr/>
        </p:nvSpPr>
        <p:spPr>
          <a:xfrm>
            <a:off x="9592236" y="295836"/>
            <a:ext cx="65" cy="2846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363">
              <a:defRPr/>
            </a:pPr>
            <a:endParaRPr lang="en-US" sz="185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EF48CB2-B8EF-9A7F-7C0F-C248839BD3FC}"/>
              </a:ext>
            </a:extLst>
          </p:cNvPr>
          <p:cNvGraphicFramePr>
            <a:graphicFrameLocks noGrp="1"/>
          </p:cNvGraphicFramePr>
          <p:nvPr/>
        </p:nvGraphicFramePr>
        <p:xfrm>
          <a:off x="1954657" y="1783394"/>
          <a:ext cx="8128000" cy="32912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121071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09009062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r>
                        <a:rPr lang="en-US" sz="1300" b="1" dirty="0"/>
                        <a:t>Cost Item</a:t>
                      </a:r>
                      <a:endParaRPr lang="en-GB" sz="1300" b="1" dirty="0"/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Budget (AED)</a:t>
                      </a:r>
                      <a:endParaRPr lang="en-GB" sz="1300" b="1"/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919902535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300"/>
                        <a:t>Personnel</a:t>
                      </a:r>
                      <a:endParaRPr lang="en-GB" sz="1300"/>
                    </a:p>
                  </a:txBody>
                  <a:tcPr marL="76200" marR="76200" marT="38100" marB="38100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746101" rtl="0" eaLnBrk="1" fontAlgn="b" latinLnBrk="0" hangingPunct="1"/>
                      <a:r>
                        <a:rPr lang="en-GB" sz="13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3,042,500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313749"/>
                  </a:ext>
                </a:extLst>
              </a:tr>
              <a:tr h="1092200">
                <a:tc>
                  <a:txBody>
                    <a:bodyPr/>
                    <a:lstStyle/>
                    <a:p>
                      <a:pPr marL="0" marR="0" lvl="0" indent="0" algn="l" defTabSz="746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OEPX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Materials and Consumables – Thermoplastics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Items and electronics - Exoskeleton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Tooling and Electronics - Robotics</a:t>
                      </a:r>
                      <a:br>
                        <a:rPr lang="en-US" sz="1300" dirty="0"/>
                      </a:br>
                      <a:r>
                        <a:rPr lang="en-US" sz="1300" dirty="0"/>
                        <a:t>Software upgrades for 3D metal printer</a:t>
                      </a:r>
                    </a:p>
                  </a:txBody>
                  <a:tcPr marL="76200" marR="76200" marT="38100" marB="38100">
                    <a:solidFill>
                      <a:srgbClr val="FF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683,658*</a:t>
                      </a:r>
                    </a:p>
                  </a:txBody>
                  <a:tcPr marL="76200" marR="76200" marT="38100" marB="38100" anchor="ctr">
                    <a:solidFill>
                      <a:srgbClr val="FF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70762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300"/>
                        <a:t>Travel expenses </a:t>
                      </a:r>
                      <a:endParaRPr lang="en-GB" sz="1300"/>
                    </a:p>
                  </a:txBody>
                  <a:tcPr marL="76200" marR="76200" marT="38100" marB="3810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20,000</a:t>
                      </a:r>
                      <a:endParaRPr lang="en-GB" sz="1300"/>
                    </a:p>
                  </a:txBody>
                  <a:tcPr marL="76200" marR="76200" marT="38100" marB="3810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646268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300"/>
                        <a:t>CAPEX (for 3D printers)</a:t>
                      </a:r>
                      <a:endParaRPr lang="en-GB" sz="1300"/>
                    </a:p>
                  </a:txBody>
                  <a:tcPr marL="76200" marR="76200" marT="38100" marB="3810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/>
                        <a:t>50,000</a:t>
                      </a:r>
                      <a:endParaRPr lang="en-GB" sz="1300"/>
                    </a:p>
                  </a:txBody>
                  <a:tcPr marL="76200" marR="76200" marT="38100" marB="3810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3682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300" b="1"/>
                        <a:t>Total</a:t>
                      </a:r>
                      <a:endParaRPr lang="en-GB" sz="1300" b="1"/>
                    </a:p>
                  </a:txBody>
                  <a:tcPr marL="76200" marR="76200" marT="38100" marB="3810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610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3,796,158</a:t>
                      </a:r>
                    </a:p>
                  </a:txBody>
                  <a:tcPr marL="76200" marR="76200" marT="38100" marB="38100" anchor="ctr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25423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sz="1300"/>
                        <a:t>Deficit</a:t>
                      </a:r>
                      <a:endParaRPr lang="en-GB" sz="1300"/>
                    </a:p>
                  </a:txBody>
                  <a:tcPr marL="76200" marR="76200" marT="38100" marB="38100"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703,842**</a:t>
                      </a:r>
                      <a:endParaRPr lang="en-GB" sz="1300" dirty="0"/>
                    </a:p>
                  </a:txBody>
                  <a:tcPr marL="76200" marR="76200" marT="38100" marB="38100" anchor="ctr"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631973"/>
                  </a:ext>
                </a:extLst>
              </a:tr>
              <a:tr h="344813">
                <a:tc>
                  <a:txBody>
                    <a:bodyPr/>
                    <a:lstStyle/>
                    <a:p>
                      <a:r>
                        <a:rPr lang="en-US" sz="1300" b="1"/>
                        <a:t>Total with deficit</a:t>
                      </a:r>
                      <a:endParaRPr lang="en-GB" sz="1300" b="1"/>
                    </a:p>
                  </a:txBody>
                  <a:tcPr marL="76200" marR="76200" marT="38100" marB="38100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/>
                        <a:t>4,500,000</a:t>
                      </a:r>
                      <a:endParaRPr lang="en-GB" sz="1300" b="1" dirty="0"/>
                    </a:p>
                  </a:txBody>
                  <a:tcPr marL="76200" marR="76200" marT="38100" marB="38100" anchor="ctr"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89155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4F00E0C-1387-4935-8F19-A30233572A8E}"/>
              </a:ext>
            </a:extLst>
          </p:cNvPr>
          <p:cNvSpPr/>
          <p:nvPr/>
        </p:nvSpPr>
        <p:spPr>
          <a:xfrm>
            <a:off x="239247" y="5228900"/>
            <a:ext cx="11952753" cy="861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667" dirty="0"/>
              <a:t>*</a:t>
            </a:r>
            <a:r>
              <a:rPr lang="en-US" sz="1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addition to the OPEX for the projects detailed in section 2, 157,658 AED of OPEX is dedicated for ARIC central for general equipment repair and upgrade.</a:t>
            </a:r>
          </a:p>
          <a:p>
            <a:pPr algn="l"/>
            <a:r>
              <a:rPr lang="en-US" sz="16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 The department of finance confirmed by email on 9th Feb 2023 that the actual net deficit until 31 Dec 2022 is 1,021,588.06  AED</a:t>
            </a:r>
          </a:p>
        </p:txBody>
      </p:sp>
    </p:spTree>
    <p:extLst>
      <p:ext uri="{BB962C8B-B14F-4D97-AF65-F5344CB8AC3E}">
        <p14:creationId xmlns:p14="http://schemas.microsoft.com/office/powerpoint/2010/main" val="416159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Widescreen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Century</vt:lpstr>
      <vt:lpstr>Gill Sans Light</vt:lpstr>
      <vt:lpstr>Times New Roman</vt:lpstr>
      <vt:lpstr>ヒラギノ角ゴ ProN W3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Yahya Zweiri</dc:creator>
  <cp:lastModifiedBy>Yahya Zweiri</cp:lastModifiedBy>
  <cp:revision>1</cp:revision>
  <dcterms:created xsi:type="dcterms:W3CDTF">2023-05-23T10:32:07Z</dcterms:created>
  <dcterms:modified xsi:type="dcterms:W3CDTF">2023-05-23T10:32:33Z</dcterms:modified>
</cp:coreProperties>
</file>